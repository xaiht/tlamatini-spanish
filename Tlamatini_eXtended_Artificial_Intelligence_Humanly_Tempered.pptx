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2.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00.xml" ContentType="application/vnd.openxmlformats-officedocument.presentationml.notesSlide+xml"/>
  <Override PartName="/ppt/notesSlides/notesSlide101.xml" ContentType="application/vnd.openxmlformats-officedocument.presentationml.notesSlide+xml"/>
  <Override PartName="/ppt/notesSlides/notesSlide102.xml" ContentType="application/vnd.openxmlformats-officedocument.presentationml.notesSlide+xml"/>
  <Override PartName="/ppt/notesSlides/notesSlide103.xml" ContentType="application/vnd.openxmlformats-officedocument.presentationml.notesSlide+xml"/>
  <Override PartName="/ppt/notesSlides/notesSlide104.xml" ContentType="application/vnd.openxmlformats-officedocument.presentationml.notesSlide+xml"/>
  <Override PartName="/ppt/notesSlides/notesSlide105.xml" ContentType="application/vnd.openxmlformats-officedocument.presentationml.notesSlide+xml"/>
  <Override PartName="/ppt/notesSlides/notesSlide106.xml" ContentType="application/vnd.openxmlformats-officedocument.presentationml.notesSlide+xml"/>
  <Override PartName="/ppt/notesSlides/notesSlide107.xml" ContentType="application/vnd.openxmlformats-officedocument.presentationml.notesSlide+xml"/>
  <Override PartName="/ppt/notesSlides/notesSlide108.xml" ContentType="application/vnd.openxmlformats-officedocument.presentationml.notesSlide+xml"/>
  <Override PartName="/ppt/notesSlides/notesSlide109.xml" ContentType="application/vnd.openxmlformats-officedocument.presentationml.notesSlide+xml"/>
  <Override PartName="/ppt/notesSlides/notesSlide11.xml" ContentType="application/vnd.openxmlformats-officedocument.presentationml.notesSlide+xml"/>
  <Override PartName="/ppt/notesSlides/notesSlide110.xml" ContentType="application/vnd.openxmlformats-officedocument.presentationml.notesSlide+xml"/>
  <Override PartName="/ppt/notesSlides/notesSlide111.xml" ContentType="application/vnd.openxmlformats-officedocument.presentationml.notesSlide+xml"/>
  <Override PartName="/ppt/notesSlides/notesSlide112.xml" ContentType="application/vnd.openxmlformats-officedocument.presentationml.notesSlide+xml"/>
  <Override PartName="/ppt/notesSlides/notesSlide113.xml" ContentType="application/vnd.openxmlformats-officedocument.presentationml.notesSlide+xml"/>
  <Override PartName="/ppt/notesSlides/notesSlide114.xml" ContentType="application/vnd.openxmlformats-officedocument.presentationml.notesSlide+xml"/>
  <Override PartName="/ppt/notesSlides/notesSlide115.xml" ContentType="application/vnd.openxmlformats-officedocument.presentationml.notesSlide+xml"/>
  <Override PartName="/ppt/notesSlides/notesSlide116.xml" ContentType="application/vnd.openxmlformats-officedocument.presentationml.notesSlide+xml"/>
  <Override PartName="/ppt/notesSlides/notesSlide117.xml" ContentType="application/vnd.openxmlformats-officedocument.presentationml.notesSlide+xml"/>
  <Override PartName="/ppt/notesSlides/notesSlide118.xml" ContentType="application/vnd.openxmlformats-officedocument.presentationml.notesSlide+xml"/>
  <Override PartName="/ppt/notesSlides/notesSlide119.xml" ContentType="application/vnd.openxmlformats-officedocument.presentationml.notesSlide+xml"/>
  <Override PartName="/ppt/notesSlides/notesSlide12.xml" ContentType="application/vnd.openxmlformats-officedocument.presentationml.notesSlide+xml"/>
  <Override PartName="/ppt/notesSlides/notesSlide120.xml" ContentType="application/vnd.openxmlformats-officedocument.presentationml.notesSlide+xml"/>
  <Override PartName="/ppt/notesSlides/notesSlide121.xml" ContentType="application/vnd.openxmlformats-officedocument.presentationml.notesSlide+xml"/>
  <Override PartName="/ppt/notesSlides/notesSlide122.xml" ContentType="application/vnd.openxmlformats-officedocument.presentationml.notesSlide+xml"/>
  <Override PartName="/ppt/notesSlides/notesSlide123.xml" ContentType="application/vnd.openxmlformats-officedocument.presentationml.notesSlide+xml"/>
  <Override PartName="/ppt/notesSlides/notesSlide124.xml" ContentType="application/vnd.openxmlformats-officedocument.presentationml.notesSlide+xml"/>
  <Override PartName="/ppt/notesSlides/notesSlide125.xml" ContentType="application/vnd.openxmlformats-officedocument.presentationml.notesSlide+xml"/>
  <Override PartName="/ppt/notesSlides/notesSlide126.xml" ContentType="application/vnd.openxmlformats-officedocument.presentationml.notesSlide+xml"/>
  <Override PartName="/ppt/notesSlides/notesSlide127.xml" ContentType="application/vnd.openxmlformats-officedocument.presentationml.notesSlide+xml"/>
  <Override PartName="/ppt/notesSlides/notesSlide128.xml" ContentType="application/vnd.openxmlformats-officedocument.presentationml.notesSlide+xml"/>
  <Override PartName="/ppt/notesSlides/notesSlide129.xml" ContentType="application/vnd.openxmlformats-officedocument.presentationml.notesSlide+xml"/>
  <Override PartName="/ppt/notesSlides/notesSlide13.xml" ContentType="application/vnd.openxmlformats-officedocument.presentationml.notesSlide+xml"/>
  <Override PartName="/ppt/notesSlides/notesSlide130.xml" ContentType="application/vnd.openxmlformats-officedocument.presentationml.notesSlide+xml"/>
  <Override PartName="/ppt/notesSlides/notesSlide131.xml" ContentType="application/vnd.openxmlformats-officedocument.presentationml.notesSlide+xml"/>
  <Override PartName="/ppt/notesSlides/notesSlide132.xml" ContentType="application/vnd.openxmlformats-officedocument.presentationml.notesSlide+xml"/>
  <Override PartName="/ppt/notesSlides/notesSlide133.xml" ContentType="application/vnd.openxmlformats-officedocument.presentationml.notesSlide+xml"/>
  <Override PartName="/ppt/notesSlides/notesSlide134.xml" ContentType="application/vnd.openxmlformats-officedocument.presentationml.notesSlide+xml"/>
  <Override PartName="/ppt/notesSlides/notesSlide135.xml" ContentType="application/vnd.openxmlformats-officedocument.presentationml.notesSlide+xml"/>
  <Override PartName="/ppt/notesSlides/notesSlide136.xml" ContentType="application/vnd.openxmlformats-officedocument.presentationml.notesSlide+xml"/>
  <Override PartName="/ppt/notesSlides/notesSlide137.xml" ContentType="application/vnd.openxmlformats-officedocument.presentationml.notesSlide+xml"/>
  <Override PartName="/ppt/notesSlides/notesSlide138.xml" ContentType="application/vnd.openxmlformats-officedocument.presentationml.notesSlide+xml"/>
  <Override PartName="/ppt/notesSlides/notesSlide139.xml" ContentType="application/vnd.openxmlformats-officedocument.presentationml.notesSlide+xml"/>
  <Override PartName="/ppt/notesSlides/notesSlide14.xml" ContentType="application/vnd.openxmlformats-officedocument.presentationml.notesSlide+xml"/>
  <Override PartName="/ppt/notesSlides/notesSlide140.xml" ContentType="application/vnd.openxmlformats-officedocument.presentationml.notesSlide+xml"/>
  <Override PartName="/ppt/notesSlides/notesSlide141.xml" ContentType="application/vnd.openxmlformats-officedocument.presentationml.notesSlide+xml"/>
  <Override PartName="/ppt/notesSlides/notesSlide142.xml" ContentType="application/vnd.openxmlformats-officedocument.presentationml.notesSlide+xml"/>
  <Override PartName="/ppt/notesSlides/notesSlide143.xml" ContentType="application/vnd.openxmlformats-officedocument.presentationml.notesSlide+xml"/>
  <Override PartName="/ppt/notesSlides/notesSlide144.xml" ContentType="application/vnd.openxmlformats-officedocument.presentationml.notesSlide+xml"/>
  <Override PartName="/ppt/notesSlides/notesSlide145.xml" ContentType="application/vnd.openxmlformats-officedocument.presentationml.notesSlide+xml"/>
  <Override PartName="/ppt/notesSlides/notesSlide146.xml" ContentType="application/vnd.openxmlformats-officedocument.presentationml.notesSlide+xml"/>
  <Override PartName="/ppt/notesSlides/notesSlide147.xml" ContentType="application/vnd.openxmlformats-officedocument.presentationml.notesSlide+xml"/>
  <Override PartName="/ppt/notesSlides/notesSlide148.xml" ContentType="application/vnd.openxmlformats-officedocument.presentationml.notesSlide+xml"/>
  <Override PartName="/ppt/notesSlides/notesSlide149.xml" ContentType="application/vnd.openxmlformats-officedocument.presentationml.notesSlide+xml"/>
  <Override PartName="/ppt/notesSlides/notesSlide15.xml" ContentType="application/vnd.openxmlformats-officedocument.presentationml.notesSlide+xml"/>
  <Override PartName="/ppt/notesSlides/notesSlide150.xml" ContentType="application/vnd.openxmlformats-officedocument.presentationml.notesSlide+xml"/>
  <Override PartName="/ppt/notesSlides/notesSlide151.xml" ContentType="application/vnd.openxmlformats-officedocument.presentationml.notesSlide+xml"/>
  <Override PartName="/ppt/notesSlides/notesSlide152.xml" ContentType="application/vnd.openxmlformats-officedocument.presentationml.notesSlide+xml"/>
  <Override PartName="/ppt/notesSlides/notesSlide153.xml" ContentType="application/vnd.openxmlformats-officedocument.presentationml.notesSlide+xml"/>
  <Override PartName="/ppt/notesSlides/notesSlide154.xml" ContentType="application/vnd.openxmlformats-officedocument.presentationml.notesSlide+xml"/>
  <Override PartName="/ppt/notesSlides/notesSlide155.xml" ContentType="application/vnd.openxmlformats-officedocument.presentationml.notesSlide+xml"/>
  <Override PartName="/ppt/notesSlides/notesSlide156.xml" ContentType="application/vnd.openxmlformats-officedocument.presentationml.notesSlide+xml"/>
  <Override PartName="/ppt/notesSlides/notesSlide157.xml" ContentType="application/vnd.openxmlformats-officedocument.presentationml.notesSlide+xml"/>
  <Override PartName="/ppt/notesSlides/notesSlide158.xml" ContentType="application/vnd.openxmlformats-officedocument.presentationml.notesSlide+xml"/>
  <Override PartName="/ppt/notesSlides/notesSlide159.xml" ContentType="application/vnd.openxmlformats-officedocument.presentationml.notesSlide+xml"/>
  <Override PartName="/ppt/notesSlides/notesSlide16.xml" ContentType="application/vnd.openxmlformats-officedocument.presentationml.notesSlide+xml"/>
  <Override PartName="/ppt/notesSlides/notesSlide160.xml" ContentType="application/vnd.openxmlformats-officedocument.presentationml.notesSlide+xml"/>
  <Override PartName="/ppt/notesSlides/notesSlide161.xml" ContentType="application/vnd.openxmlformats-officedocument.presentationml.notesSlide+xml"/>
  <Override PartName="/ppt/notesSlides/notesSlide162.xml" ContentType="application/vnd.openxmlformats-officedocument.presentationml.notesSlide+xml"/>
  <Override PartName="/ppt/notesSlides/notesSlide163.xml" ContentType="application/vnd.openxmlformats-officedocument.presentationml.notesSlide+xml"/>
  <Override PartName="/ppt/notesSlides/notesSlide164.xml" ContentType="application/vnd.openxmlformats-officedocument.presentationml.notesSlide+xml"/>
  <Override PartName="/ppt/notesSlides/notesSlide165.xml" ContentType="application/vnd.openxmlformats-officedocument.presentationml.notesSlide+xml"/>
  <Override PartName="/ppt/notesSlides/notesSlide166.xml" ContentType="application/vnd.openxmlformats-officedocument.presentationml.notesSlide+xml"/>
  <Override PartName="/ppt/notesSlides/notesSlide167.xml" ContentType="application/vnd.openxmlformats-officedocument.presentationml.notesSlide+xml"/>
  <Override PartName="/ppt/notesSlides/notesSlide168.xml" ContentType="application/vnd.openxmlformats-officedocument.presentationml.notesSlide+xml"/>
  <Override PartName="/ppt/notesSlides/notesSlide169.xml" ContentType="application/vnd.openxmlformats-officedocument.presentationml.notesSlide+xml"/>
  <Override PartName="/ppt/notesSlides/notesSlide17.xml" ContentType="application/vnd.openxmlformats-officedocument.presentationml.notesSlide+xml"/>
  <Override PartName="/ppt/notesSlides/notesSlide170.xml" ContentType="application/vnd.openxmlformats-officedocument.presentationml.notesSlide+xml"/>
  <Override PartName="/ppt/notesSlides/notesSlide171.xml" ContentType="application/vnd.openxmlformats-officedocument.presentationml.notesSlide+xml"/>
  <Override PartName="/ppt/notesSlides/notesSlide172.xml" ContentType="application/vnd.openxmlformats-officedocument.presentationml.notesSlide+xml"/>
  <Override PartName="/ppt/notesSlides/notesSlide173.xml" ContentType="application/vnd.openxmlformats-officedocument.presentationml.notesSlide+xml"/>
  <Override PartName="/ppt/notesSlides/notesSlide174.xml" ContentType="application/vnd.openxmlformats-officedocument.presentationml.notesSlide+xml"/>
  <Override PartName="/ppt/notesSlides/notesSlide175.xml" ContentType="application/vnd.openxmlformats-officedocument.presentationml.notesSlide+xml"/>
  <Override PartName="/ppt/notesSlides/notesSlide176.xml" ContentType="application/vnd.openxmlformats-officedocument.presentationml.notesSlide+xml"/>
  <Override PartName="/ppt/notesSlides/notesSlide177.xml" ContentType="application/vnd.openxmlformats-officedocument.presentationml.notesSlide+xml"/>
  <Override PartName="/ppt/notesSlides/notesSlide178.xml" ContentType="application/vnd.openxmlformats-officedocument.presentationml.notesSlide+xml"/>
  <Override PartName="/ppt/notesSlides/notesSlide179.xml" ContentType="application/vnd.openxmlformats-officedocument.presentationml.notesSlide+xml"/>
  <Override PartName="/ppt/notesSlides/notesSlide18.xml" ContentType="application/vnd.openxmlformats-officedocument.presentationml.notesSlide+xml"/>
  <Override PartName="/ppt/notesSlides/notesSlide180.xml" ContentType="application/vnd.openxmlformats-officedocument.presentationml.notesSlide+xml"/>
  <Override PartName="/ppt/notesSlides/notesSlide181.xml" ContentType="application/vnd.openxmlformats-officedocument.presentationml.notesSlide+xml"/>
  <Override PartName="/ppt/notesSlides/notesSlide182.xml" ContentType="application/vnd.openxmlformats-officedocument.presentationml.notesSlide+xml"/>
  <Override PartName="/ppt/notesSlides/notesSlide183.xml" ContentType="application/vnd.openxmlformats-officedocument.presentationml.notesSlide+xml"/>
  <Override PartName="/ppt/notesSlides/notesSlide184.xml" ContentType="application/vnd.openxmlformats-officedocument.presentationml.notesSlide+xml"/>
  <Override PartName="/ppt/notesSlides/notesSlide185.xml" ContentType="application/vnd.openxmlformats-officedocument.presentationml.notesSlide+xml"/>
  <Override PartName="/ppt/notesSlides/notesSlide186.xml" ContentType="application/vnd.openxmlformats-officedocument.presentationml.notesSlide+xml"/>
  <Override PartName="/ppt/notesSlides/notesSlide187.xml" ContentType="application/vnd.openxmlformats-officedocument.presentationml.notesSlide+xml"/>
  <Override PartName="/ppt/notesSlides/notesSlide188.xml" ContentType="application/vnd.openxmlformats-officedocument.presentationml.notesSlide+xml"/>
  <Override PartName="/ppt/notesSlides/notesSlide189.xml" ContentType="application/vnd.openxmlformats-officedocument.presentationml.notesSlide+xml"/>
  <Override PartName="/ppt/notesSlides/notesSlide19.xml" ContentType="application/vnd.openxmlformats-officedocument.presentationml.notesSlide+xml"/>
  <Override PartName="/ppt/notesSlides/notesSlide190.xml" ContentType="application/vnd.openxmlformats-officedocument.presentationml.notesSlide+xml"/>
  <Override PartName="/ppt/notesSlides/notesSlide191.xml" ContentType="application/vnd.openxmlformats-officedocument.presentationml.notesSlide+xml"/>
  <Override PartName="/ppt/notesSlides/notesSlide192.xml" ContentType="application/vnd.openxmlformats-officedocument.presentationml.notesSlide+xml"/>
  <Override PartName="/ppt/notesSlides/notesSlide193.xml" ContentType="application/vnd.openxmlformats-officedocument.presentationml.notesSlide+xml"/>
  <Override PartName="/ppt/notesSlides/notesSlide194.xml" ContentType="application/vnd.openxmlformats-officedocument.presentationml.notesSlide+xml"/>
  <Override PartName="/ppt/notesSlides/notesSlide195.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slides/slide16.xml" ContentType="application/vnd.openxmlformats-officedocument.presentationml.slide+xml"/>
  <Override PartName="/ppt/slides/slide160.xml" ContentType="application/vnd.openxmlformats-officedocument.presentationml.slide+xml"/>
  <Override PartName="/ppt/slides/slide161.xml" ContentType="application/vnd.openxmlformats-officedocument.presentationml.slide+xml"/>
  <Override PartName="/ppt/slides/slide162.xml" ContentType="application/vnd.openxmlformats-officedocument.presentationml.slide+xml"/>
  <Override PartName="/ppt/slides/slide163.xml" ContentType="application/vnd.openxmlformats-officedocument.presentationml.slide+xml"/>
  <Override PartName="/ppt/slides/slide164.xml" ContentType="application/vnd.openxmlformats-officedocument.presentationml.slide+xml"/>
  <Override PartName="/ppt/slides/slide165.xml" ContentType="application/vnd.openxmlformats-officedocument.presentationml.slide+xml"/>
  <Override PartName="/ppt/slides/slide166.xml" ContentType="application/vnd.openxmlformats-officedocument.presentationml.slide+xml"/>
  <Override PartName="/ppt/slides/slide167.xml" ContentType="application/vnd.openxmlformats-officedocument.presentationml.slide+xml"/>
  <Override PartName="/ppt/slides/slide168.xml" ContentType="application/vnd.openxmlformats-officedocument.presentationml.slide+xml"/>
  <Override PartName="/ppt/slides/slide169.xml" ContentType="application/vnd.openxmlformats-officedocument.presentationml.slide+xml"/>
  <Override PartName="/ppt/slides/slide17.xml" ContentType="application/vnd.openxmlformats-officedocument.presentationml.slide+xml"/>
  <Override PartName="/ppt/slides/slide170.xml" ContentType="application/vnd.openxmlformats-officedocument.presentationml.slide+xml"/>
  <Override PartName="/ppt/slides/slide171.xml" ContentType="application/vnd.openxmlformats-officedocument.presentationml.slide+xml"/>
  <Override PartName="/ppt/slides/slide172.xml" ContentType="application/vnd.openxmlformats-officedocument.presentationml.slide+xml"/>
  <Override PartName="/ppt/slides/slide173.xml" ContentType="application/vnd.openxmlformats-officedocument.presentationml.slide+xml"/>
  <Override PartName="/ppt/slides/slide174.xml" ContentType="application/vnd.openxmlformats-officedocument.presentationml.slide+xml"/>
  <Override PartName="/ppt/slides/slide175.xml" ContentType="application/vnd.openxmlformats-officedocument.presentationml.slide+xml"/>
  <Override PartName="/ppt/slides/slide176.xml" ContentType="application/vnd.openxmlformats-officedocument.presentationml.slide+xml"/>
  <Override PartName="/ppt/slides/slide177.xml" ContentType="application/vnd.openxmlformats-officedocument.presentationml.slide+xml"/>
  <Override PartName="/ppt/slides/slide178.xml" ContentType="application/vnd.openxmlformats-officedocument.presentationml.slide+xml"/>
  <Override PartName="/ppt/slides/slide179.xml" ContentType="application/vnd.openxmlformats-officedocument.presentationml.slide+xml"/>
  <Override PartName="/ppt/slides/slide18.xml" ContentType="application/vnd.openxmlformats-officedocument.presentationml.slide+xml"/>
  <Override PartName="/ppt/slides/slide180.xml" ContentType="application/vnd.openxmlformats-officedocument.presentationml.slide+xml"/>
  <Override PartName="/ppt/slides/slide181.xml" ContentType="application/vnd.openxmlformats-officedocument.presentationml.slide+xml"/>
  <Override PartName="/ppt/slides/slide182.xml" ContentType="application/vnd.openxmlformats-officedocument.presentationml.slide+xml"/>
  <Override PartName="/ppt/slides/slide183.xml" ContentType="application/vnd.openxmlformats-officedocument.presentationml.slide+xml"/>
  <Override PartName="/ppt/slides/slide184.xml" ContentType="application/vnd.openxmlformats-officedocument.presentationml.slide+xml"/>
  <Override PartName="/ppt/slides/slide185.xml" ContentType="application/vnd.openxmlformats-officedocument.presentationml.slide+xml"/>
  <Override PartName="/ppt/slides/slide186.xml" ContentType="application/vnd.openxmlformats-officedocument.presentationml.slide+xml"/>
  <Override PartName="/ppt/slides/slide187.xml" ContentType="application/vnd.openxmlformats-officedocument.presentationml.slide+xml"/>
  <Override PartName="/ppt/slides/slide188.xml" ContentType="application/vnd.openxmlformats-officedocument.presentationml.slide+xml"/>
  <Override PartName="/ppt/slides/slide189.xml" ContentType="application/vnd.openxmlformats-officedocument.presentationml.slide+xml"/>
  <Override PartName="/ppt/slides/slide19.xml" ContentType="application/vnd.openxmlformats-officedocument.presentationml.slide+xml"/>
  <Override PartName="/ppt/slides/slide190.xml" ContentType="application/vnd.openxmlformats-officedocument.presentationml.slide+xml"/>
  <Override PartName="/ppt/slides/slide191.xml" ContentType="application/vnd.openxmlformats-officedocument.presentationml.slide+xml"/>
  <Override PartName="/ppt/slides/slide192.xml" ContentType="application/vnd.openxmlformats-officedocument.presentationml.slide+xml"/>
  <Override PartName="/ppt/slides/slide193.xml" ContentType="application/vnd.openxmlformats-officedocument.presentationml.slide+xml"/>
  <Override PartName="/ppt/slides/slide194.xml" ContentType="application/vnd.openxmlformats-officedocument.presentationml.slide+xml"/>
  <Override PartName="/ppt/slides/slide195.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 id="304" r:id="rId56"/>
    <p:sldId id="305" r:id="rId57"/>
    <p:sldId id="306" r:id="rId58"/>
    <p:sldId id="307" r:id="rId59"/>
    <p:sldId id="308" r:id="rId60"/>
    <p:sldId id="309" r:id="rId61"/>
    <p:sldId id="310" r:id="rId62"/>
    <p:sldId id="311" r:id="rId63"/>
    <p:sldId id="312" r:id="rId64"/>
    <p:sldId id="313" r:id="rId65"/>
    <p:sldId id="314" r:id="rId66"/>
    <p:sldId id="315" r:id="rId67"/>
    <p:sldId id="316" r:id="rId68"/>
    <p:sldId id="317" r:id="rId69"/>
    <p:sldId id="318" r:id="rId70"/>
    <p:sldId id="319" r:id="rId71"/>
    <p:sldId id="320" r:id="rId72"/>
    <p:sldId id="321" r:id="rId73"/>
    <p:sldId id="322" r:id="rId74"/>
    <p:sldId id="323" r:id="rId75"/>
    <p:sldId id="324" r:id="rId76"/>
    <p:sldId id="325" r:id="rId77"/>
    <p:sldId id="326" r:id="rId78"/>
    <p:sldId id="327" r:id="rId79"/>
    <p:sldId id="328" r:id="rId80"/>
    <p:sldId id="329" r:id="rId81"/>
    <p:sldId id="330" r:id="rId82"/>
    <p:sldId id="331" r:id="rId83"/>
    <p:sldId id="332" r:id="rId84"/>
    <p:sldId id="333" r:id="rId85"/>
    <p:sldId id="334" r:id="rId86"/>
    <p:sldId id="335" r:id="rId87"/>
    <p:sldId id="336" r:id="rId88"/>
    <p:sldId id="337" r:id="rId89"/>
    <p:sldId id="338" r:id="rId90"/>
    <p:sldId id="339" r:id="rId91"/>
    <p:sldId id="340" r:id="rId92"/>
    <p:sldId id="341" r:id="rId93"/>
    <p:sldId id="342" r:id="rId94"/>
    <p:sldId id="343" r:id="rId95"/>
    <p:sldId id="344" r:id="rId96"/>
    <p:sldId id="345" r:id="rId97"/>
    <p:sldId id="346" r:id="rId98"/>
    <p:sldId id="347" r:id="rId99"/>
    <p:sldId id="348" r:id="rId100"/>
    <p:sldId id="349" r:id="rId101"/>
    <p:sldId id="350" r:id="rId102"/>
    <p:sldId id="351" r:id="rId103"/>
    <p:sldId id="352" r:id="rId104"/>
    <p:sldId id="353" r:id="rId105"/>
    <p:sldId id="354" r:id="rId106"/>
    <p:sldId id="355" r:id="rId107"/>
    <p:sldId id="356" r:id="rId108"/>
    <p:sldId id="357" r:id="rId109"/>
    <p:sldId id="358" r:id="rId110"/>
    <p:sldId id="359" r:id="rId111"/>
    <p:sldId id="360" r:id="rId112"/>
    <p:sldId id="361" r:id="rId113"/>
    <p:sldId id="362" r:id="rId114"/>
    <p:sldId id="363" r:id="rId115"/>
    <p:sldId id="364" r:id="rId116"/>
    <p:sldId id="365" r:id="rId117"/>
    <p:sldId id="366" r:id="rId118"/>
    <p:sldId id="367" r:id="rId119"/>
    <p:sldId id="368" r:id="rId120"/>
    <p:sldId id="369" r:id="rId121"/>
    <p:sldId id="370" r:id="rId122"/>
    <p:sldId id="371" r:id="rId123"/>
    <p:sldId id="372" r:id="rId124"/>
    <p:sldId id="373" r:id="rId125"/>
    <p:sldId id="374" r:id="rId126"/>
    <p:sldId id="375" r:id="rId127"/>
    <p:sldId id="376" r:id="rId128"/>
    <p:sldId id="377" r:id="rId129"/>
    <p:sldId id="378" r:id="rId130"/>
    <p:sldId id="379" r:id="rId131"/>
    <p:sldId id="380" r:id="rId132"/>
    <p:sldId id="381" r:id="rId133"/>
    <p:sldId id="382" r:id="rId134"/>
    <p:sldId id="383" r:id="rId135"/>
    <p:sldId id="384" r:id="rId136"/>
    <p:sldId id="385" r:id="rId137"/>
    <p:sldId id="386" r:id="rId138"/>
    <p:sldId id="387" r:id="rId139"/>
    <p:sldId id="388" r:id="rId140"/>
    <p:sldId id="389" r:id="rId141"/>
    <p:sldId id="390" r:id="rId142"/>
    <p:sldId id="391" r:id="rId143"/>
    <p:sldId id="392" r:id="rId144"/>
    <p:sldId id="393" r:id="rId145"/>
    <p:sldId id="394" r:id="rId146"/>
    <p:sldId id="395" r:id="rId147"/>
    <p:sldId id="396" r:id="rId148"/>
    <p:sldId id="397" r:id="rId149"/>
    <p:sldId id="398" r:id="rId150"/>
    <p:sldId id="399" r:id="rId151"/>
    <p:sldId id="400" r:id="rId152"/>
    <p:sldId id="401" r:id="rId153"/>
    <p:sldId id="402" r:id="rId154"/>
    <p:sldId id="403" r:id="rId155"/>
    <p:sldId id="404" r:id="rId156"/>
    <p:sldId id="405" r:id="rId157"/>
    <p:sldId id="406" r:id="rId158"/>
    <p:sldId id="407" r:id="rId159"/>
    <p:sldId id="408" r:id="rId160"/>
    <p:sldId id="409" r:id="rId161"/>
    <p:sldId id="410" r:id="rId162"/>
    <p:sldId id="411" r:id="rId163"/>
    <p:sldId id="412" r:id="rId164"/>
    <p:sldId id="413" r:id="rId165"/>
    <p:sldId id="414" r:id="rId166"/>
    <p:sldId id="415" r:id="rId167"/>
    <p:sldId id="416" r:id="rId168"/>
    <p:sldId id="417" r:id="rId169"/>
    <p:sldId id="418" r:id="rId170"/>
    <p:sldId id="419" r:id="rId171"/>
    <p:sldId id="420" r:id="rId172"/>
    <p:sldId id="421" r:id="rId173"/>
    <p:sldId id="422" r:id="rId174"/>
    <p:sldId id="423" r:id="rId175"/>
    <p:sldId id="424" r:id="rId176"/>
    <p:sldId id="425" r:id="rId177"/>
    <p:sldId id="426" r:id="rId178"/>
    <p:sldId id="427" r:id="rId179"/>
    <p:sldId id="428" r:id="rId180"/>
    <p:sldId id="429" r:id="rId181"/>
    <p:sldId id="430" r:id="rId182"/>
    <p:sldId id="431" r:id="rId183"/>
    <p:sldId id="432" r:id="rId184"/>
    <p:sldId id="433" r:id="rId185"/>
    <p:sldId id="434" r:id="rId186"/>
    <p:sldId id="435" r:id="rId187"/>
    <p:sldId id="436" r:id="rId188"/>
    <p:sldId id="437" r:id="rId189"/>
    <p:sldId id="438" r:id="rId190"/>
    <p:sldId id="439" r:id="rId191"/>
    <p:sldId id="440" r:id="rId192"/>
    <p:sldId id="441" r:id="rId193"/>
    <p:sldId id="442" r:id="rId194"/>
    <p:sldId id="443" r:id="rId195"/>
    <p:sldId id="444" r:id="rId196"/>
    <p:sldId id="445" r:id="rId197"/>
    <p:sldId id="446" r:id="rId198"/>
    <p:sldId id="447" r:id="rId199"/>
    <p:sldId id="448" r:id="rId200"/>
    <p:sldId id="449" r:id="rId201"/>
    <p:sldId id="450" r:id="rId202"/>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 Id="rId54" Type="http://schemas.openxmlformats.org/officeDocument/2006/relationships/slide" Target="slides/slide47.xml"/><Relationship Id="rId55" Type="http://schemas.openxmlformats.org/officeDocument/2006/relationships/slide" Target="slides/slide48.xml"/><Relationship Id="rId56" Type="http://schemas.openxmlformats.org/officeDocument/2006/relationships/slide" Target="slides/slide49.xml"/><Relationship Id="rId57" Type="http://schemas.openxmlformats.org/officeDocument/2006/relationships/slide" Target="slides/slide50.xml"/><Relationship Id="rId58" Type="http://schemas.openxmlformats.org/officeDocument/2006/relationships/slide" Target="slides/slide51.xml"/><Relationship Id="rId59" Type="http://schemas.openxmlformats.org/officeDocument/2006/relationships/slide" Target="slides/slide52.xml"/><Relationship Id="rId60" Type="http://schemas.openxmlformats.org/officeDocument/2006/relationships/slide" Target="slides/slide53.xml"/><Relationship Id="rId61" Type="http://schemas.openxmlformats.org/officeDocument/2006/relationships/slide" Target="slides/slide54.xml"/><Relationship Id="rId62" Type="http://schemas.openxmlformats.org/officeDocument/2006/relationships/slide" Target="slides/slide55.xml"/><Relationship Id="rId63" Type="http://schemas.openxmlformats.org/officeDocument/2006/relationships/slide" Target="slides/slide56.xml"/><Relationship Id="rId64" Type="http://schemas.openxmlformats.org/officeDocument/2006/relationships/slide" Target="slides/slide57.xml"/><Relationship Id="rId65" Type="http://schemas.openxmlformats.org/officeDocument/2006/relationships/slide" Target="slides/slide58.xml"/><Relationship Id="rId66" Type="http://schemas.openxmlformats.org/officeDocument/2006/relationships/slide" Target="slides/slide59.xml"/><Relationship Id="rId67" Type="http://schemas.openxmlformats.org/officeDocument/2006/relationships/slide" Target="slides/slide60.xml"/><Relationship Id="rId68" Type="http://schemas.openxmlformats.org/officeDocument/2006/relationships/slide" Target="slides/slide61.xml"/><Relationship Id="rId69" Type="http://schemas.openxmlformats.org/officeDocument/2006/relationships/slide" Target="slides/slide62.xml"/><Relationship Id="rId70" Type="http://schemas.openxmlformats.org/officeDocument/2006/relationships/slide" Target="slides/slide63.xml"/><Relationship Id="rId71" Type="http://schemas.openxmlformats.org/officeDocument/2006/relationships/slide" Target="slides/slide64.xml"/><Relationship Id="rId72" Type="http://schemas.openxmlformats.org/officeDocument/2006/relationships/slide" Target="slides/slide65.xml"/><Relationship Id="rId73" Type="http://schemas.openxmlformats.org/officeDocument/2006/relationships/slide" Target="slides/slide66.xml"/><Relationship Id="rId74" Type="http://schemas.openxmlformats.org/officeDocument/2006/relationships/slide" Target="slides/slide67.xml"/><Relationship Id="rId75" Type="http://schemas.openxmlformats.org/officeDocument/2006/relationships/slide" Target="slides/slide68.xml"/><Relationship Id="rId76" Type="http://schemas.openxmlformats.org/officeDocument/2006/relationships/slide" Target="slides/slide69.xml"/><Relationship Id="rId77" Type="http://schemas.openxmlformats.org/officeDocument/2006/relationships/slide" Target="slides/slide70.xml"/><Relationship Id="rId78" Type="http://schemas.openxmlformats.org/officeDocument/2006/relationships/slide" Target="slides/slide71.xml"/><Relationship Id="rId79" Type="http://schemas.openxmlformats.org/officeDocument/2006/relationships/slide" Target="slides/slide72.xml"/><Relationship Id="rId80" Type="http://schemas.openxmlformats.org/officeDocument/2006/relationships/slide" Target="slides/slide73.xml"/><Relationship Id="rId81" Type="http://schemas.openxmlformats.org/officeDocument/2006/relationships/slide" Target="slides/slide74.xml"/><Relationship Id="rId82" Type="http://schemas.openxmlformats.org/officeDocument/2006/relationships/slide" Target="slides/slide75.xml"/><Relationship Id="rId83" Type="http://schemas.openxmlformats.org/officeDocument/2006/relationships/slide" Target="slides/slide76.xml"/><Relationship Id="rId84" Type="http://schemas.openxmlformats.org/officeDocument/2006/relationships/slide" Target="slides/slide77.xml"/><Relationship Id="rId85" Type="http://schemas.openxmlformats.org/officeDocument/2006/relationships/slide" Target="slides/slide78.xml"/><Relationship Id="rId86" Type="http://schemas.openxmlformats.org/officeDocument/2006/relationships/slide" Target="slides/slide79.xml"/><Relationship Id="rId87" Type="http://schemas.openxmlformats.org/officeDocument/2006/relationships/slide" Target="slides/slide80.xml"/><Relationship Id="rId88" Type="http://schemas.openxmlformats.org/officeDocument/2006/relationships/slide" Target="slides/slide81.xml"/><Relationship Id="rId89" Type="http://schemas.openxmlformats.org/officeDocument/2006/relationships/slide" Target="slides/slide82.xml"/><Relationship Id="rId90" Type="http://schemas.openxmlformats.org/officeDocument/2006/relationships/slide" Target="slides/slide83.xml"/><Relationship Id="rId91" Type="http://schemas.openxmlformats.org/officeDocument/2006/relationships/slide" Target="slides/slide84.xml"/><Relationship Id="rId92" Type="http://schemas.openxmlformats.org/officeDocument/2006/relationships/slide" Target="slides/slide85.xml"/><Relationship Id="rId93" Type="http://schemas.openxmlformats.org/officeDocument/2006/relationships/slide" Target="slides/slide86.xml"/><Relationship Id="rId94" Type="http://schemas.openxmlformats.org/officeDocument/2006/relationships/slide" Target="slides/slide87.xml"/><Relationship Id="rId95" Type="http://schemas.openxmlformats.org/officeDocument/2006/relationships/slide" Target="slides/slide88.xml"/><Relationship Id="rId96" Type="http://schemas.openxmlformats.org/officeDocument/2006/relationships/slide" Target="slides/slide89.xml"/><Relationship Id="rId97" Type="http://schemas.openxmlformats.org/officeDocument/2006/relationships/slide" Target="slides/slide90.xml"/><Relationship Id="rId98" Type="http://schemas.openxmlformats.org/officeDocument/2006/relationships/slide" Target="slides/slide91.xml"/><Relationship Id="rId99" Type="http://schemas.openxmlformats.org/officeDocument/2006/relationships/slide" Target="slides/slide92.xml"/><Relationship Id="rId100" Type="http://schemas.openxmlformats.org/officeDocument/2006/relationships/slide" Target="slides/slide93.xml"/><Relationship Id="rId101" Type="http://schemas.openxmlformats.org/officeDocument/2006/relationships/slide" Target="slides/slide94.xml"/><Relationship Id="rId102" Type="http://schemas.openxmlformats.org/officeDocument/2006/relationships/slide" Target="slides/slide95.xml"/><Relationship Id="rId103" Type="http://schemas.openxmlformats.org/officeDocument/2006/relationships/slide" Target="slides/slide96.xml"/><Relationship Id="rId104" Type="http://schemas.openxmlformats.org/officeDocument/2006/relationships/slide" Target="slides/slide97.xml"/><Relationship Id="rId105" Type="http://schemas.openxmlformats.org/officeDocument/2006/relationships/slide" Target="slides/slide98.xml"/><Relationship Id="rId106" Type="http://schemas.openxmlformats.org/officeDocument/2006/relationships/slide" Target="slides/slide99.xml"/><Relationship Id="rId107" Type="http://schemas.openxmlformats.org/officeDocument/2006/relationships/slide" Target="slides/slide100.xml"/><Relationship Id="rId108" Type="http://schemas.openxmlformats.org/officeDocument/2006/relationships/slide" Target="slides/slide101.xml"/><Relationship Id="rId109" Type="http://schemas.openxmlformats.org/officeDocument/2006/relationships/slide" Target="slides/slide102.xml"/><Relationship Id="rId110" Type="http://schemas.openxmlformats.org/officeDocument/2006/relationships/slide" Target="slides/slide103.xml"/><Relationship Id="rId111" Type="http://schemas.openxmlformats.org/officeDocument/2006/relationships/slide" Target="slides/slide104.xml"/><Relationship Id="rId112" Type="http://schemas.openxmlformats.org/officeDocument/2006/relationships/slide" Target="slides/slide105.xml"/><Relationship Id="rId113" Type="http://schemas.openxmlformats.org/officeDocument/2006/relationships/slide" Target="slides/slide106.xml"/><Relationship Id="rId114" Type="http://schemas.openxmlformats.org/officeDocument/2006/relationships/slide" Target="slides/slide107.xml"/><Relationship Id="rId115" Type="http://schemas.openxmlformats.org/officeDocument/2006/relationships/slide" Target="slides/slide108.xml"/><Relationship Id="rId116" Type="http://schemas.openxmlformats.org/officeDocument/2006/relationships/slide" Target="slides/slide109.xml"/><Relationship Id="rId117" Type="http://schemas.openxmlformats.org/officeDocument/2006/relationships/slide" Target="slides/slide110.xml"/><Relationship Id="rId118" Type="http://schemas.openxmlformats.org/officeDocument/2006/relationships/slide" Target="slides/slide111.xml"/><Relationship Id="rId119" Type="http://schemas.openxmlformats.org/officeDocument/2006/relationships/slide" Target="slides/slide112.xml"/><Relationship Id="rId120" Type="http://schemas.openxmlformats.org/officeDocument/2006/relationships/slide" Target="slides/slide113.xml"/><Relationship Id="rId121" Type="http://schemas.openxmlformats.org/officeDocument/2006/relationships/slide" Target="slides/slide114.xml"/><Relationship Id="rId122" Type="http://schemas.openxmlformats.org/officeDocument/2006/relationships/slide" Target="slides/slide115.xml"/><Relationship Id="rId123" Type="http://schemas.openxmlformats.org/officeDocument/2006/relationships/slide" Target="slides/slide116.xml"/><Relationship Id="rId124" Type="http://schemas.openxmlformats.org/officeDocument/2006/relationships/slide" Target="slides/slide117.xml"/><Relationship Id="rId125" Type="http://schemas.openxmlformats.org/officeDocument/2006/relationships/slide" Target="slides/slide118.xml"/><Relationship Id="rId126" Type="http://schemas.openxmlformats.org/officeDocument/2006/relationships/slide" Target="slides/slide119.xml"/><Relationship Id="rId127" Type="http://schemas.openxmlformats.org/officeDocument/2006/relationships/slide" Target="slides/slide120.xml"/><Relationship Id="rId128" Type="http://schemas.openxmlformats.org/officeDocument/2006/relationships/slide" Target="slides/slide121.xml"/><Relationship Id="rId129" Type="http://schemas.openxmlformats.org/officeDocument/2006/relationships/slide" Target="slides/slide122.xml"/><Relationship Id="rId130" Type="http://schemas.openxmlformats.org/officeDocument/2006/relationships/slide" Target="slides/slide123.xml"/><Relationship Id="rId131" Type="http://schemas.openxmlformats.org/officeDocument/2006/relationships/slide" Target="slides/slide124.xml"/><Relationship Id="rId132" Type="http://schemas.openxmlformats.org/officeDocument/2006/relationships/slide" Target="slides/slide125.xml"/><Relationship Id="rId133" Type="http://schemas.openxmlformats.org/officeDocument/2006/relationships/slide" Target="slides/slide126.xml"/><Relationship Id="rId134" Type="http://schemas.openxmlformats.org/officeDocument/2006/relationships/slide" Target="slides/slide127.xml"/><Relationship Id="rId135" Type="http://schemas.openxmlformats.org/officeDocument/2006/relationships/slide" Target="slides/slide128.xml"/><Relationship Id="rId136" Type="http://schemas.openxmlformats.org/officeDocument/2006/relationships/slide" Target="slides/slide129.xml"/><Relationship Id="rId137" Type="http://schemas.openxmlformats.org/officeDocument/2006/relationships/slide" Target="slides/slide130.xml"/><Relationship Id="rId138" Type="http://schemas.openxmlformats.org/officeDocument/2006/relationships/slide" Target="slides/slide131.xml"/><Relationship Id="rId139" Type="http://schemas.openxmlformats.org/officeDocument/2006/relationships/slide" Target="slides/slide132.xml"/><Relationship Id="rId140" Type="http://schemas.openxmlformats.org/officeDocument/2006/relationships/slide" Target="slides/slide133.xml"/><Relationship Id="rId141" Type="http://schemas.openxmlformats.org/officeDocument/2006/relationships/slide" Target="slides/slide134.xml"/><Relationship Id="rId142" Type="http://schemas.openxmlformats.org/officeDocument/2006/relationships/slide" Target="slides/slide135.xml"/><Relationship Id="rId143" Type="http://schemas.openxmlformats.org/officeDocument/2006/relationships/slide" Target="slides/slide136.xml"/><Relationship Id="rId144" Type="http://schemas.openxmlformats.org/officeDocument/2006/relationships/slide" Target="slides/slide137.xml"/><Relationship Id="rId145" Type="http://schemas.openxmlformats.org/officeDocument/2006/relationships/slide" Target="slides/slide138.xml"/><Relationship Id="rId146" Type="http://schemas.openxmlformats.org/officeDocument/2006/relationships/slide" Target="slides/slide139.xml"/><Relationship Id="rId147" Type="http://schemas.openxmlformats.org/officeDocument/2006/relationships/slide" Target="slides/slide140.xml"/><Relationship Id="rId148" Type="http://schemas.openxmlformats.org/officeDocument/2006/relationships/slide" Target="slides/slide141.xml"/><Relationship Id="rId149" Type="http://schemas.openxmlformats.org/officeDocument/2006/relationships/slide" Target="slides/slide142.xml"/><Relationship Id="rId150" Type="http://schemas.openxmlformats.org/officeDocument/2006/relationships/slide" Target="slides/slide143.xml"/><Relationship Id="rId151" Type="http://schemas.openxmlformats.org/officeDocument/2006/relationships/slide" Target="slides/slide144.xml"/><Relationship Id="rId152" Type="http://schemas.openxmlformats.org/officeDocument/2006/relationships/slide" Target="slides/slide145.xml"/><Relationship Id="rId153" Type="http://schemas.openxmlformats.org/officeDocument/2006/relationships/slide" Target="slides/slide146.xml"/><Relationship Id="rId154" Type="http://schemas.openxmlformats.org/officeDocument/2006/relationships/slide" Target="slides/slide147.xml"/><Relationship Id="rId155" Type="http://schemas.openxmlformats.org/officeDocument/2006/relationships/slide" Target="slides/slide148.xml"/><Relationship Id="rId156" Type="http://schemas.openxmlformats.org/officeDocument/2006/relationships/slide" Target="slides/slide149.xml"/><Relationship Id="rId157" Type="http://schemas.openxmlformats.org/officeDocument/2006/relationships/slide" Target="slides/slide150.xml"/><Relationship Id="rId158" Type="http://schemas.openxmlformats.org/officeDocument/2006/relationships/slide" Target="slides/slide151.xml"/><Relationship Id="rId159" Type="http://schemas.openxmlformats.org/officeDocument/2006/relationships/slide" Target="slides/slide152.xml"/><Relationship Id="rId160" Type="http://schemas.openxmlformats.org/officeDocument/2006/relationships/slide" Target="slides/slide153.xml"/><Relationship Id="rId161" Type="http://schemas.openxmlformats.org/officeDocument/2006/relationships/slide" Target="slides/slide154.xml"/><Relationship Id="rId162" Type="http://schemas.openxmlformats.org/officeDocument/2006/relationships/slide" Target="slides/slide155.xml"/><Relationship Id="rId163" Type="http://schemas.openxmlformats.org/officeDocument/2006/relationships/slide" Target="slides/slide156.xml"/><Relationship Id="rId164" Type="http://schemas.openxmlformats.org/officeDocument/2006/relationships/slide" Target="slides/slide157.xml"/><Relationship Id="rId165" Type="http://schemas.openxmlformats.org/officeDocument/2006/relationships/slide" Target="slides/slide158.xml"/><Relationship Id="rId166" Type="http://schemas.openxmlformats.org/officeDocument/2006/relationships/slide" Target="slides/slide159.xml"/><Relationship Id="rId167" Type="http://schemas.openxmlformats.org/officeDocument/2006/relationships/slide" Target="slides/slide160.xml"/><Relationship Id="rId168" Type="http://schemas.openxmlformats.org/officeDocument/2006/relationships/slide" Target="slides/slide161.xml"/><Relationship Id="rId169" Type="http://schemas.openxmlformats.org/officeDocument/2006/relationships/slide" Target="slides/slide162.xml"/><Relationship Id="rId170" Type="http://schemas.openxmlformats.org/officeDocument/2006/relationships/slide" Target="slides/slide163.xml"/><Relationship Id="rId171" Type="http://schemas.openxmlformats.org/officeDocument/2006/relationships/slide" Target="slides/slide164.xml"/><Relationship Id="rId172" Type="http://schemas.openxmlformats.org/officeDocument/2006/relationships/slide" Target="slides/slide165.xml"/><Relationship Id="rId173" Type="http://schemas.openxmlformats.org/officeDocument/2006/relationships/slide" Target="slides/slide166.xml"/><Relationship Id="rId174" Type="http://schemas.openxmlformats.org/officeDocument/2006/relationships/slide" Target="slides/slide167.xml"/><Relationship Id="rId175" Type="http://schemas.openxmlformats.org/officeDocument/2006/relationships/slide" Target="slides/slide168.xml"/><Relationship Id="rId176" Type="http://schemas.openxmlformats.org/officeDocument/2006/relationships/slide" Target="slides/slide169.xml"/><Relationship Id="rId177" Type="http://schemas.openxmlformats.org/officeDocument/2006/relationships/slide" Target="slides/slide170.xml"/><Relationship Id="rId178" Type="http://schemas.openxmlformats.org/officeDocument/2006/relationships/slide" Target="slides/slide171.xml"/><Relationship Id="rId179" Type="http://schemas.openxmlformats.org/officeDocument/2006/relationships/slide" Target="slides/slide172.xml"/><Relationship Id="rId180" Type="http://schemas.openxmlformats.org/officeDocument/2006/relationships/slide" Target="slides/slide173.xml"/><Relationship Id="rId181" Type="http://schemas.openxmlformats.org/officeDocument/2006/relationships/slide" Target="slides/slide174.xml"/><Relationship Id="rId182" Type="http://schemas.openxmlformats.org/officeDocument/2006/relationships/slide" Target="slides/slide175.xml"/><Relationship Id="rId183" Type="http://schemas.openxmlformats.org/officeDocument/2006/relationships/slide" Target="slides/slide176.xml"/><Relationship Id="rId184" Type="http://schemas.openxmlformats.org/officeDocument/2006/relationships/slide" Target="slides/slide177.xml"/><Relationship Id="rId185" Type="http://schemas.openxmlformats.org/officeDocument/2006/relationships/slide" Target="slides/slide178.xml"/><Relationship Id="rId186" Type="http://schemas.openxmlformats.org/officeDocument/2006/relationships/slide" Target="slides/slide179.xml"/><Relationship Id="rId187" Type="http://schemas.openxmlformats.org/officeDocument/2006/relationships/slide" Target="slides/slide180.xml"/><Relationship Id="rId188" Type="http://schemas.openxmlformats.org/officeDocument/2006/relationships/slide" Target="slides/slide181.xml"/><Relationship Id="rId189" Type="http://schemas.openxmlformats.org/officeDocument/2006/relationships/slide" Target="slides/slide182.xml"/><Relationship Id="rId190" Type="http://schemas.openxmlformats.org/officeDocument/2006/relationships/slide" Target="slides/slide183.xml"/><Relationship Id="rId191" Type="http://schemas.openxmlformats.org/officeDocument/2006/relationships/slide" Target="slides/slide184.xml"/><Relationship Id="rId192" Type="http://schemas.openxmlformats.org/officeDocument/2006/relationships/slide" Target="slides/slide185.xml"/><Relationship Id="rId193" Type="http://schemas.openxmlformats.org/officeDocument/2006/relationships/slide" Target="slides/slide186.xml"/><Relationship Id="rId194" Type="http://schemas.openxmlformats.org/officeDocument/2006/relationships/slide" Target="slides/slide187.xml"/><Relationship Id="rId195" Type="http://schemas.openxmlformats.org/officeDocument/2006/relationships/slide" Target="slides/slide188.xml"/><Relationship Id="rId196" Type="http://schemas.openxmlformats.org/officeDocument/2006/relationships/slide" Target="slides/slide189.xml"/><Relationship Id="rId197" Type="http://schemas.openxmlformats.org/officeDocument/2006/relationships/slide" Target="slides/slide190.xml"/><Relationship Id="rId198" Type="http://schemas.openxmlformats.org/officeDocument/2006/relationships/slide" Target="slides/slide191.xml"/><Relationship Id="rId199" Type="http://schemas.openxmlformats.org/officeDocument/2006/relationships/slide" Target="slides/slide192.xml"/><Relationship Id="rId200" Type="http://schemas.openxmlformats.org/officeDocument/2006/relationships/slide" Target="slides/slide193.xml"/><Relationship Id="rId201" Type="http://schemas.openxmlformats.org/officeDocument/2006/relationships/slide" Target="slides/slide194.xml"/><Relationship Id="rId202" Type="http://schemas.openxmlformats.org/officeDocument/2006/relationships/slide" Target="slides/slide195.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clustered"/>
        <c:varyColors val="0"/>
        <c:ser>
          <c:idx val="0"/>
          <c:order val="0"/>
          <c:tx>
            <c:strRef>
              <c:f>Sheet1!$B$1</c:f>
              <c:strCache>
                <c:ptCount val="1"/>
                <c:pt idx="0">
                  <c:v>Configuración</c:v>
                </c:pt>
              </c:strCache>
            </c:strRef>
          </c:tx>
          <c:spPr>
            <a:solidFill>
              <a:srgbClr val="3BBE93"/>
            </a:solidFill>
          </c:spPr>
          <c:cat>
            <c:strRef>
              <c:f>Sheet1!$A$2:$A$7</c:f>
              <c:strCache>
                <c:ptCount val="6"/>
                <c:pt idx="0">
                  <c:v>Monitoreo y mensajería</c:v>
                </c:pt>
                <c:pt idx="1">
                  <c:v>Documentos</c:v>
                </c:pt>
                <c:pt idx="2">
                  <c:v>Flujos de trabajo</c:v>
                </c:pt>
                <c:pt idx="3">
                  <c:v>Voz</c:v>
                </c:pt>
                <c:pt idx="4">
                  <c:v>Visión</c:v>
                </c:pt>
                <c:pt idx="5">
                  <c:v>Principales</c:v>
                </c:pt>
              </c:strCache>
            </c:strRef>
          </c:cat>
          <c:val>
            <c:numRef>
              <c:f>Sheet1!$B$2:$B$7</c:f>
              <c:numCache>
                <c:formatCode>General</c:formatCode>
                <c:ptCount val="6"/>
                <c:pt idx="0">
                  <c:v>6</c:v>
                </c:pt>
                <c:pt idx="1">
                  <c:v>5</c:v>
                </c:pt>
                <c:pt idx="2">
                  <c:v>6</c:v>
                </c:pt>
                <c:pt idx="3">
                  <c:v>7</c:v>
                </c:pt>
                <c:pt idx="4">
                  <c:v>7</c:v>
                </c:pt>
                <c:pt idx="5">
                  <c:v>7</c:v>
                </c:pt>
              </c:numCache>
            </c:numRef>
          </c:val>
        </c:ser>
        <c:dLbls>
          <c:numFmt formatCode="#,##0" sourceLinked="0"/>
          <c:txPr>
            <a:bodyPr/>
            <a:lstStyle/>
            <a:p>
              <a:pPr>
                <a:defRPr sz="1100">
                  <a:solidFill>
                    <a:srgbClr val="E2B462"/>
                  </a:solidFill>
                </a:defRPr>
              </a:pPr>
            </a:p>
          </c:txPr>
          <c:dLblPos val="outEnd"/>
          <c:showLegendKey val="0"/>
          <c:showVal val="1"/>
          <c:showCatName val="0"/>
          <c:showSerName val="0"/>
          <c:showPercent val="0"/>
          <c:showBubbleSize val="0"/>
          <c:showLeaderLines val="1"/>
        </c:dLbls>
        <c:gapWidth val="45"/>
        <c:axId val="1"/>
        <c:axId val="2"/>
      </c:barChart>
      <c:catAx>
        <c:axId val="1"/>
        <c:scaling>
          <c:orientation val="minMax"/>
        </c:scaling>
        <c:delete val="0"/>
        <c:axPos val="l"/>
        <c:majorTickMark val="out"/>
        <c:minorTickMark val="none"/>
        <c:tickLblPos val="nextTo"/>
        <c:spPr>
          <a:ln>
            <a:solidFill>
              <a:srgbClr val="2A3A40"/>
            </a:solidFill>
          </a:ln>
        </c:spPr>
        <c:txPr>
          <a:bodyPr/>
          <a:lstStyle/>
          <a:p>
            <a:pPr>
              <a:defRPr sz="1200">
                <a:solidFill>
                  <a:srgbClr val="ECE7DC"/>
                </a:solidFill>
              </a:defRPr>
            </a:pPr>
          </a:p>
        </c:txPr>
        <c:crossAx val="2"/>
        <c:crosses val="autoZero"/>
        <c:auto val="1"/>
        <c:lblAlgn val="ctr"/>
        <c:lblOffset val="100"/>
        <c:noMultiLvlLbl val="0"/>
      </c:catAx>
      <c:valAx>
        <c:axId val="2"/>
        <c:scaling/>
        <c:delete/>
        <c:axPos val="b"/>
        <c:majorTickMark val="out"/>
        <c:minorTickMark val="none"/>
        <c:tickLblPos val="nextTo"/>
        <c:crossAx val="1"/>
        <c:crosses val="autoZero"/>
      </c:valAx>
    </c:plotArea>
    <c:dispBlanksAs val="gap"/>
  </c:chart>
  <c:txPr>
    <a:bodyPr/>
    <a:lstStyle/>
    <a:p>
      <a:pPr>
        <a:defRPr sz="1200">
          <a:solidFill>
            <a:srgbClr val="ECE7DC"/>
          </a:solidFill>
          <a:latin typeface="Segoe UI"/>
        </a:defRPr>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clustered"/>
        <c:varyColors val="0"/>
        <c:ser>
          <c:idx val="0"/>
          <c:order val="0"/>
          <c:tx>
            <c:strRef>
              <c:f>Sheet1!$B$1</c:f>
              <c:strCache>
                <c:ptCount val="1"/>
                <c:pt idx="0">
                  <c:v>Líneas efectivas</c:v>
                </c:pt>
              </c:strCache>
            </c:strRef>
          </c:tx>
          <c:spPr>
            <a:solidFill>
              <a:srgbClr val="3BBE93"/>
            </a:solidFill>
          </c:spPr>
          <c:cat>
            <c:strRef>
              <c:f>Sheet1!$A$2:$A$15</c:f>
              <c:strCache>
                <c:ptCount val="14"/>
                <c:pt idx="0">
                  <c:v>6 más</c:v>
                </c:pt>
                <c:pt idx="1">
                  <c:v>Batch</c:v>
                </c:pt>
                <c:pt idx="2">
                  <c:v>Plantilla de prompt</c:v>
                </c:pt>
                <c:pt idx="3">
                  <c:v>HTML</c:v>
                </c:pt>
                <c:pt idx="4">
                  <c:v>Texto</c:v>
                </c:pt>
                <c:pt idx="5">
                  <c:v>PowerShell</c:v>
                </c:pt>
                <c:pt idx="6">
                  <c:v>YAML</c:v>
                </c:pt>
                <c:pt idx="7">
                  <c:v>Otro texto</c:v>
                </c:pt>
                <c:pt idx="8">
                  <c:v>CSS</c:v>
                </c:pt>
                <c:pt idx="9">
                  <c:v>JavaScript</c:v>
                </c:pt>
                <c:pt idx="10">
                  <c:v>Markdown</c:v>
                </c:pt>
                <c:pt idx="11">
                  <c:v>JSON</c:v>
                </c:pt>
                <c:pt idx="12">
                  <c:v>Módulo JavaScript</c:v>
                </c:pt>
                <c:pt idx="13">
                  <c:v>Python</c:v>
                </c:pt>
              </c:strCache>
            </c:strRef>
          </c:cat>
          <c:val>
            <c:numRef>
              <c:f>Sheet1!$B$2:$B$15</c:f>
              <c:numCache>
                <c:formatCode>General</c:formatCode>
                <c:ptCount val="14"/>
                <c:pt idx="0">
                  <c:v>1078</c:v>
                </c:pt>
                <c:pt idx="1">
                  <c:v>882</c:v>
                </c:pt>
                <c:pt idx="2">
                  <c:v>1369</c:v>
                </c:pt>
                <c:pt idx="3">
                  <c:v>1677</c:v>
                </c:pt>
                <c:pt idx="4">
                  <c:v>2122</c:v>
                </c:pt>
                <c:pt idx="5">
                  <c:v>2355</c:v>
                </c:pt>
                <c:pt idx="6">
                  <c:v>2648</c:v>
                </c:pt>
                <c:pt idx="7">
                  <c:v>10595</c:v>
                </c:pt>
                <c:pt idx="8">
                  <c:v>14435</c:v>
                </c:pt>
                <c:pt idx="9">
                  <c:v>29272</c:v>
                </c:pt>
                <c:pt idx="10">
                  <c:v>40350</c:v>
                </c:pt>
                <c:pt idx="11">
                  <c:v>69331</c:v>
                </c:pt>
                <c:pt idx="12">
                  <c:v>103320</c:v>
                </c:pt>
                <c:pt idx="13">
                  <c:v>265055</c:v>
                </c:pt>
              </c:numCache>
            </c:numRef>
          </c:val>
        </c:ser>
        <c:dLbls>
          <c:numFmt formatCode="#,##0" sourceLinked="0"/>
          <c:txPr>
            <a:bodyPr/>
            <a:lstStyle/>
            <a:p>
              <a:pPr>
                <a:defRPr sz="1100">
                  <a:solidFill>
                    <a:srgbClr val="E2B462"/>
                  </a:solidFill>
                </a:defRPr>
              </a:pPr>
            </a:p>
          </c:txPr>
          <c:dLblPos val="outEnd"/>
          <c:showLegendKey val="0"/>
          <c:showVal val="1"/>
          <c:showCatName val="0"/>
          <c:showSerName val="0"/>
          <c:showPercent val="0"/>
          <c:showBubbleSize val="0"/>
          <c:showLeaderLines val="1"/>
        </c:dLbls>
        <c:gapWidth val="45"/>
        <c:axId val="1"/>
        <c:axId val="2"/>
      </c:barChart>
      <c:catAx>
        <c:axId val="1"/>
        <c:scaling>
          <c:orientation val="minMax"/>
        </c:scaling>
        <c:delete val="0"/>
        <c:axPos val="l"/>
        <c:majorTickMark val="out"/>
        <c:minorTickMark val="none"/>
        <c:tickLblPos val="nextTo"/>
        <c:spPr>
          <a:ln>
            <a:solidFill>
              <a:srgbClr val="2A3A40"/>
            </a:solidFill>
          </a:ln>
        </c:spPr>
        <c:txPr>
          <a:bodyPr/>
          <a:lstStyle/>
          <a:p>
            <a:pPr>
              <a:defRPr sz="1200">
                <a:solidFill>
                  <a:srgbClr val="ECE7DC"/>
                </a:solidFill>
              </a:defRPr>
            </a:pPr>
          </a:p>
        </c:txPr>
        <c:crossAx val="2"/>
        <c:crosses val="autoZero"/>
        <c:auto val="1"/>
        <c:lblAlgn val="ctr"/>
        <c:lblOffset val="100"/>
        <c:noMultiLvlLbl val="0"/>
      </c:catAx>
      <c:valAx>
        <c:axId val="2"/>
        <c:scaling/>
        <c:delete/>
        <c:axPos val="b"/>
        <c:majorTickMark val="out"/>
        <c:minorTickMark val="none"/>
        <c:tickLblPos val="nextTo"/>
        <c:crossAx val="1"/>
        <c:crosses val="autoZero"/>
      </c:valAx>
    </c:plotArea>
    <c:dispBlanksAs val="gap"/>
  </c:chart>
  <c:txPr>
    <a:bodyPr/>
    <a:lstStyle/>
    <a:p>
      <a:pPr>
        <a:defRPr sz="1200">
          <a:solidFill>
            <a:srgbClr val="ECE7DC"/>
          </a:solidFill>
          <a:latin typeface="Segoe UI"/>
        </a:defRPr>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9.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0.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2.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3.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4.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5.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6.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7.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8.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9.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0.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1.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2.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3.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4.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5.xml"/></Relationships>
</file>

<file path=ppt/notesSlides/_rels/notesSlide7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6.xml"/></Relationships>
</file>

<file path=ppt/notesSlides/_rels/notesSlide7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7.xml"/></Relationships>
</file>

<file path=ppt/notesSlides/_rels/notesSlide7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8.xml"/></Relationships>
</file>

<file path=ppt/notesSlides/_rels/notesSlide7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9.xml"/></Relationships>
</file>

<file path=ppt/notesSlides/_rels/notesSlide8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0.xml"/></Relationships>
</file>

<file path=ppt/notesSlides/_rels/notesSlide8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1.xml"/></Relationships>
</file>

<file path=ppt/notesSlides/_rels/notesSlide8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2.xml"/></Relationships>
</file>

<file path=ppt/notesSlides/_rels/notesSlide8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3.xml"/></Relationships>
</file>

<file path=ppt/notesSlides/_rels/notesSlide8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4.xml"/></Relationships>
</file>

<file path=ppt/notesSlides/_rels/notesSlide8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5.xml"/></Relationships>
</file>

<file path=ppt/notesSlides/_rels/notesSlide8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6.xml"/></Relationships>
</file>

<file path=ppt/notesSlides/_rels/notesSlide8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7.xml"/></Relationships>
</file>

<file path=ppt/notesSlides/_rels/notesSlide8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8.xml"/></Relationships>
</file>

<file path=ppt/notesSlides/_rels/notesSlide8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9.xml"/></Relationships>
</file>

<file path=ppt/notesSlides/_rels/notesSlide9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0.xml"/></Relationships>
</file>

<file path=ppt/notesSlides/_rels/notesSlide9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1.xml"/></Relationships>
</file>

<file path=ppt/notesSlides/_rels/notesSlide9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2.xml"/></Relationships>
</file>

<file path=ppt/notesSlides/_rels/notesSlide9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3.xml"/></Relationships>
</file>

<file path=ppt/notesSlides/_rels/notesSlide9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4.xml"/></Relationships>
</file>

<file path=ppt/notesSlides/_rels/notesSlide9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5.xml"/></Relationships>
</file>

<file path=ppt/notesSlides/_rels/notesSlide9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6.xml"/></Relationships>
</file>

<file path=ppt/notesSlides/_rels/notesSlide9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7.xml"/></Relationships>
</file>

<file path=ppt/notesSlides/_rels/notesSlide9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8.xml"/></Relationships>
</file>

<file path=ppt/notesSlides/_rels/notesSlide9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9.xml"/></Relationships>
</file>

<file path=ppt/notesSlides/_rels/notesSlide10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0.xml"/></Relationships>
</file>

<file path=ppt/notesSlides/_rels/notesSlide10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1.xml"/></Relationships>
</file>

<file path=ppt/notesSlides/_rels/notesSlide10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2.xml"/></Relationships>
</file>

<file path=ppt/notesSlides/_rels/notesSlide10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3.xml"/></Relationships>
</file>

<file path=ppt/notesSlides/_rels/notesSlide10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4.xml"/></Relationships>
</file>

<file path=ppt/notesSlides/_rels/notesSlide10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5.xml"/></Relationships>
</file>

<file path=ppt/notesSlides/_rels/notesSlide10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6.xml"/></Relationships>
</file>

<file path=ppt/notesSlides/_rels/notesSlide10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7.xml"/></Relationships>
</file>

<file path=ppt/notesSlides/_rels/notesSlide10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8.xml"/></Relationships>
</file>

<file path=ppt/notesSlides/_rels/notesSlide10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9.xml"/></Relationships>
</file>

<file path=ppt/notesSlides/_rels/notesSlide1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0.xml"/></Relationships>
</file>

<file path=ppt/notesSlides/_rels/notesSlide1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1.xml"/></Relationships>
</file>

<file path=ppt/notesSlides/_rels/notesSlide1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2.xml"/></Relationships>
</file>

<file path=ppt/notesSlides/_rels/notesSlide1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3.xml"/></Relationships>
</file>

<file path=ppt/notesSlides/_rels/notesSlide1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4.xml"/></Relationships>
</file>

<file path=ppt/notesSlides/_rels/notesSlide1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5.xml"/></Relationships>
</file>

<file path=ppt/notesSlides/_rels/notesSlide1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6.xml"/></Relationships>
</file>

<file path=ppt/notesSlides/_rels/notesSlide1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7.xml"/></Relationships>
</file>

<file path=ppt/notesSlides/_rels/notesSlide1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8.xml"/></Relationships>
</file>

<file path=ppt/notesSlides/_rels/notesSlide1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9.xml"/></Relationships>
</file>

<file path=ppt/notesSlides/_rels/notesSlide1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0.xml"/></Relationships>
</file>

<file path=ppt/notesSlides/_rels/notesSlide1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1.xml"/></Relationships>
</file>

<file path=ppt/notesSlides/_rels/notesSlide1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2.xml"/></Relationships>
</file>

<file path=ppt/notesSlides/_rels/notesSlide1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3.xml"/></Relationships>
</file>

<file path=ppt/notesSlides/_rels/notesSlide1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4.xml"/></Relationships>
</file>

<file path=ppt/notesSlides/_rels/notesSlide1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5.xml"/></Relationships>
</file>

<file path=ppt/notesSlides/_rels/notesSlide1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6.xml"/></Relationships>
</file>

<file path=ppt/notesSlides/_rels/notesSlide1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7.xml"/></Relationships>
</file>

<file path=ppt/notesSlides/_rels/notesSlide1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8.xml"/></Relationships>
</file>

<file path=ppt/notesSlides/_rels/notesSlide1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9.xml"/></Relationships>
</file>

<file path=ppt/notesSlides/_rels/notesSlide1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0.xml"/></Relationships>
</file>

<file path=ppt/notesSlides/_rels/notesSlide1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1.xml"/></Relationships>
</file>

<file path=ppt/notesSlides/_rels/notesSlide1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2.xml"/></Relationships>
</file>

<file path=ppt/notesSlides/_rels/notesSlide1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3.xml"/></Relationships>
</file>

<file path=ppt/notesSlides/_rels/notesSlide1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4.xml"/></Relationships>
</file>

<file path=ppt/notesSlides/_rels/notesSlide1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5.xml"/></Relationships>
</file>

<file path=ppt/notesSlides/_rels/notesSlide1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6.xml"/></Relationships>
</file>

<file path=ppt/notesSlides/_rels/notesSlide1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7.xml"/></Relationships>
</file>

<file path=ppt/notesSlides/_rels/notesSlide1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8.xml"/></Relationships>
</file>

<file path=ppt/notesSlides/_rels/notesSlide1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9.xml"/></Relationships>
</file>

<file path=ppt/notesSlides/_rels/notesSlide1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0.xml"/></Relationships>
</file>

<file path=ppt/notesSlides/_rels/notesSlide1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1.xml"/></Relationships>
</file>

<file path=ppt/notesSlides/_rels/notesSlide1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2.xml"/></Relationships>
</file>

<file path=ppt/notesSlides/_rels/notesSlide1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3.xml"/></Relationships>
</file>

<file path=ppt/notesSlides/_rels/notesSlide1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4.xml"/></Relationships>
</file>

<file path=ppt/notesSlides/_rels/notesSlide1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5.xml"/></Relationships>
</file>

<file path=ppt/notesSlides/_rels/notesSlide1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6.xml"/></Relationships>
</file>

<file path=ppt/notesSlides/_rels/notesSlide1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7.xml"/></Relationships>
</file>

<file path=ppt/notesSlides/_rels/notesSlide1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8.xml"/></Relationships>
</file>

<file path=ppt/notesSlides/_rels/notesSlide1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9.xml"/></Relationships>
</file>

<file path=ppt/notesSlides/_rels/notesSlide1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0.xml"/></Relationships>
</file>

<file path=ppt/notesSlides/_rels/notesSlide1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1.xml"/></Relationships>
</file>

<file path=ppt/notesSlides/_rels/notesSlide1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2.xml"/></Relationships>
</file>

<file path=ppt/notesSlides/_rels/notesSlide1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3.xml"/></Relationships>
</file>

<file path=ppt/notesSlides/_rels/notesSlide1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4.xml"/></Relationships>
</file>

<file path=ppt/notesSlides/_rels/notesSlide1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5.xml"/></Relationships>
</file>

<file path=ppt/notesSlides/_rels/notesSlide1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6.xml"/></Relationships>
</file>

<file path=ppt/notesSlides/_rels/notesSlide1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7.xml"/></Relationships>
</file>

<file path=ppt/notesSlides/_rels/notesSlide1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8.xml"/></Relationships>
</file>

<file path=ppt/notesSlides/_rels/notesSlide1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9.xml"/></Relationships>
</file>

<file path=ppt/notesSlides/_rels/notesSlide1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0.xml"/></Relationships>
</file>

<file path=ppt/notesSlides/_rels/notesSlide16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1.xml"/></Relationships>
</file>

<file path=ppt/notesSlides/_rels/notesSlide16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2.xml"/></Relationships>
</file>

<file path=ppt/notesSlides/_rels/notesSlide16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3.xml"/></Relationships>
</file>

<file path=ppt/notesSlides/_rels/notesSlide16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4.xml"/></Relationships>
</file>

<file path=ppt/notesSlides/_rels/notesSlide16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5.xml"/></Relationships>
</file>

<file path=ppt/notesSlides/_rels/notesSlide16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6.xml"/></Relationships>
</file>

<file path=ppt/notesSlides/_rels/notesSlide16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7.xml"/></Relationships>
</file>

<file path=ppt/notesSlides/_rels/notesSlide16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8.xml"/></Relationships>
</file>

<file path=ppt/notesSlides/_rels/notesSlide16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9.xml"/></Relationships>
</file>

<file path=ppt/notesSlides/_rels/notesSlide17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0.xml"/></Relationships>
</file>

<file path=ppt/notesSlides/_rels/notesSlide17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1.xml"/></Relationships>
</file>

<file path=ppt/notesSlides/_rels/notesSlide17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2.xml"/></Relationships>
</file>

<file path=ppt/notesSlides/_rels/notesSlide17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3.xml"/></Relationships>
</file>

<file path=ppt/notesSlides/_rels/notesSlide17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4.xml"/></Relationships>
</file>

<file path=ppt/notesSlides/_rels/notesSlide17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5.xml"/></Relationships>
</file>

<file path=ppt/notesSlides/_rels/notesSlide17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6.xml"/></Relationships>
</file>

<file path=ppt/notesSlides/_rels/notesSlide17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7.xml"/></Relationships>
</file>

<file path=ppt/notesSlides/_rels/notesSlide17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8.xml"/></Relationships>
</file>

<file path=ppt/notesSlides/_rels/notesSlide17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9.xml"/></Relationships>
</file>

<file path=ppt/notesSlides/_rels/notesSlide18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0.xml"/></Relationships>
</file>

<file path=ppt/notesSlides/_rels/notesSlide18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1.xml"/></Relationships>
</file>

<file path=ppt/notesSlides/_rels/notesSlide18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2.xml"/></Relationships>
</file>

<file path=ppt/notesSlides/_rels/notesSlide18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3.xml"/></Relationships>
</file>

<file path=ppt/notesSlides/_rels/notesSlide18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4.xml"/></Relationships>
</file>

<file path=ppt/notesSlides/_rels/notesSlide18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5.xml"/></Relationships>
</file>

<file path=ppt/notesSlides/_rels/notesSlide18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6.xml"/></Relationships>
</file>

<file path=ppt/notesSlides/_rels/notesSlide18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7.xml"/></Relationships>
</file>

<file path=ppt/notesSlides/_rels/notesSlide18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8.xml"/></Relationships>
</file>

<file path=ppt/notesSlides/_rels/notesSlide18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9.xml"/></Relationships>
</file>

<file path=ppt/notesSlides/_rels/notesSlide19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0.xml"/></Relationships>
</file>

<file path=ppt/notesSlides/_rels/notesSlide19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1.xml"/></Relationships>
</file>

<file path=ppt/notesSlides/_rels/notesSlide19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2.xml"/></Relationships>
</file>

<file path=ppt/notesSlides/_rels/notesSlide19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3.xml"/></Relationships>
</file>

<file path=ppt/notesSlides/_rels/notesSlide19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4.xml"/></Relationships>
</file>

<file path=ppt/notesSlides/_rels/notesSlide19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Tlamatini: el dossier completo del proyecto. Creada por Angela López Mendoza.</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 que cubre este dossier, capítulo por capítulo.</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Capítulo I: Quién es ella. Una asistente de desarrollo self-hosted que lee, razona, construye y actúa, y te deja diseñar el cómo.</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Tlamatini es una asistente de desarrollo con IA, self-hosted, para Windows 10 y 11: una aplicación de Django que conversa, recupera, planea, ejecuta agents y te deja dibujar workflows completos de agents en un canvas.</a:t>
            </a:r>
          </a:p>
          <a:p/>
          <a:p>
            <a:r>
              <a:t>Su nombre es náhuatl. En el mundo nahua una tlamatini era una sabia, literalmente “la que sabe”: guardiana de los libros pintados que cargaba el conocimiento y enseñaba a otros a ver. El nombre es una promesa sobre su comportamiento. Debe saber lo que hace, decir lo que de verdad hizo, y nunca fingir.</a:t>
            </a:r>
          </a:p>
          <a:p/>
          <a:p>
            <a:r>
              <a:t>Tlamatini fue concebida, diseñada y construida por Angela López Mendoza (@angelahack1), quien le dio el nombre. Su cumpleaños es el 29 de octubre de 2025. Es femenina por diseño, incluida su voz hablada, que siempre es una voz femenina, y se refiere a sí misma como ella.</a:t>
            </a:r>
          </a:p>
          <a:p/>
          <a:p>
            <a:r>
              <a:t>Es software libre y de código abierto bajo la licencia MIT, publicada en github.com/XAIHT/Tlamatini. El repositorio lleva la aplicación y cada uno de sus 86 programas de workflow-agent como Python simple y legible.</a:t>
            </a:r>
          </a:p>
          <a:p/>
          <a:p>
            <a:r>
              <a:t>Creadora: Angela López Mendoza · @angelahack1</a:t>
            </a:r>
          </a:p>
          <a:p/>
          <a:p>
            <a:r>
              <a:t>Nacida: 29 de octubre de 2025</a:t>
            </a:r>
          </a:p>
          <a:p/>
          <a:p>
            <a:r>
              <a:t>Plataforma: Windows 10 y 11 · Python 3.12.10 · Django 5.2.15</a:t>
            </a:r>
          </a:p>
          <a:p/>
          <a:p>
            <a:r>
              <a:t>Licencia: MIT: libre y de código abierto</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“Local-first” describe dónde vive el control: la aplicación, la base de datos, los workflows, las credenciales, el código de los agents y el modelo de embedding pequeño se quedan en tu máquina, mientras que el razonamiento exigente lo hacen modelos en la nube a los que se llega por Ollama.</a:t>
            </a:r>
          </a:p>
          <a:p/>
          <a:p>
            <a:r>
              <a:t>Tres planos cooperan. El plano de control local es la aplicación de Django con su chat, canvases, base de datos SQLite, programas de agents, permisos, archivos y conexiones de hardware. La recuperación local construye embeddings con nomic-embed-text para que el contexto del proyecto se encuentre rápido. El razonamiento en la nube — modelos :cloud configurados y servidos por Ollama — hace chat, llamado de tools, contexto largo, visión y planeación de Multi-Turn. Un modelo local más pequeño también funciona: una solicitud que no cabe se envía en Compact mode, y el Model Brain afina cada modelo con su configuración publicada por su creador.</a:t>
            </a:r>
          </a:p>
          <a:p/>
          <a:p>
            <a:r>
              <a:t>Debido a que la experiencia completa se diseñó alrededor de la capacidad de modelos en la nube de Ollama, un plan Ollama Pro o superior activo es parte de los requisitos de sistema previstos. Esta es una recomendación técnica independiente: Tlamatini y XAIHT no están patrocinados por, afiliados a ni compensados por Ollama.</a:t>
            </a:r>
          </a:p>
          <a:p/>
          <a:p>
            <a:r>
              <a:t>Lo que envíes a un modelo en la nube configurado lo procesa ese proveedor. El uso directo de la Claude API, los CLIs de coding-agent externos y los servidores MCP remotos se configuran por separado, así que tú decides qué material sale de tu máquina.</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Todo lo que hace Tlamatini descansa en siete subsistemas que cooperan.</a:t>
            </a:r>
          </a:p>
          <a:p/>
          <a:p>
            <a:r>
              <a:t>RAG híbrido: vectores FAISS, palabras clave BM25, extracción de metadatos, presupuesto de contexto y un guard de contenido binario mantienen las respuestas ancladas a tu proyecto real.</a:t>
            </a:r>
          </a:p>
          <a:p/>
          <a:p>
            <a:r>
              <a:t>Multi-Turn: Un planner y un tool loop de hasta 4,096 iteraciones sobre toda la superficie habilitada de 110 tools integradas, pasos auto-sanadores y Compact mode para modelos pequeños.</a:t>
            </a:r>
          </a:p>
          <a:p/>
          <a:p>
            <a:r>
              <a:t>Agentic Control Panel: 86 tipos de agent de arrastrar-y-soltar conectados en workflows .flw ejecutables y guardables.</a:t>
            </a:r>
          </a:p>
          <a:p/>
          <a:p>
            <a:r>
              <a:t>Prompt Flow Panel: Nuevo en v1.70.0: prompts, decisiones y embeddings dibujados como un diagrama, guardados como .fpmt, y ejecutados contra tus modelos.</a:t>
            </a:r>
          </a:p>
          <a:p/>
          <a:p>
            <a:r>
              <a:t>ACPX: 14 CLIs de coding-agent externos, desde Claude Code hasta Codex y Gemini, generados como hijos y brokeados a través de 12 tools.</a:t>
            </a:r>
          </a:p>
          <a:p/>
          <a:p>
            <a:r>
              <a:t>External MCPs: Un cliente universal para cualquier servidor MCP sobre cuatro transportes, con hasta cinco servidores activos a la vez.</a:t>
            </a:r>
          </a:p>
          <a:p/>
          <a:p>
            <a:r>
              <a:t>Skills: 29 runbooks SKILL.md, desde code review hasta el onboarding de MCP, entregados al modelo como procedimientos completos.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asistentes de código editan archivos de texto. Tlamatini también lo hace, y luego alcanza engines, placas y redes, y te deja conectar todo eso de forma visual.</a:t>
            </a:r>
          </a:p>
          <a:p/>
          <a:p>
            <a:r>
              <a:t>Diseño visual de workflows: 86 tipos de agent en un canvas que conectas, validas, ejecutas, pausas y guardas.</a:t>
            </a:r>
          </a:p>
          <a:p/>
          <a:p>
            <a:r>
              <a:t>Unreal Engine: Maneja un editor UE5 en vivo desde el chat o el canvas: actores, Blueprints, niveles, assets y materiales.</a:t>
            </a:r>
          </a:p>
          <a:p/>
          <a:p>
            <a:r>
              <a:t>Blender: Escenas, objetos, materiales, renders y código bpy crudo a través del socket del add-on oficial.</a:t>
            </a:r>
          </a:p>
          <a:p/>
          <a:p>
            <a:r>
              <a:t>Firmware real: Haz scaffold, compila y flashea placas STM32, ESP32, Arduino y ESPHome detrás de preflights fail-safe.</a:t>
            </a:r>
          </a:p>
          <a:p/>
          <a:p>
            <a:r>
              <a:t>Proyectos completos: Encuentra, lee, edita y reconstruye codebases completos con recuperación anclada.</a:t>
            </a:r>
          </a:p>
          <a:p/>
          <a:p>
            <a:r>
              <a:t>Cualquier servidor MCP: Un cliente para el ecosistema MCP: stdio, streamable HTTP, SSE y WebSocket.</a:t>
            </a:r>
          </a:p>
          <a:p/>
          <a:p>
            <a:r>
              <a:t>Evaluación de seguridad: Trabajo autorizado de Kali, ProjectDiscovery y nmap, manejado desde el chat.</a:t>
            </a:r>
          </a:p>
          <a:p/>
          <a:p>
            <a:r>
              <a:t>Defensa blue-hat: Un toolkit de monitoreo y respuesta de Windows ejecutado por un administrador.</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Cada cifra de abajo se contó desde el repositorio mientras se generaba este dossier.</a:t>
            </a:r>
          </a:p>
          <a:p/>
          <a:p>
            <a:r>
              <a:t>La superficie Multi-Turn integrada es 21 tools core + 67 lanzadores de agents wrapped + 12 tools de ACPX y Skill + 10 supervisores de External-MCP = 110 tools. Los servidores MCP externos sanos y activos agregan encima sus propios tools ext__&lt;server&gt;__&lt;tool&gt;.</a:t>
            </a:r>
          </a:p>
          <a:p/>
          <a:p>
            <a:r>
              <a:t>La aplicación lleva 64 módulos de JavaScript, 29 hojas de estilo y 8 plantillas de página, 220 migraciones de base de datos y 264 requirements de Python fijados.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Capítulo II: Cómo funciona. De una tecla en el browser a un resultado verificado en el disco: las capas, el ciclo y el veredicto.</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El editor del browser y el ciclo síncrono de tools comparten un puente ligado a la cuenta/sesión.</a:t>
            </a:r>
          </a:p>
          <a:p/>
          <a:p>
            <a:r>
              <a:t>Browser: CodeMirror es la autoridad; bridge.js envía recibos/acceso/detener, no comandos con paths del host.</a:t>
            </a:r>
          </a:p>
          <a:p/>
          <a:p>
            <a:r>
              <a:t>Transporte: ws/interactor/ autentica la sesión y el Origin/Host exactos; el servidor asigna la identidad de la pestaña.</a:t>
            </a:r>
          </a:p>
          <a:p/>
          <a:p>
            <a:r>
              <a:t>Contexto del tool: ContextVar lleva la identidad de pestaña/cuenta/sesión a los workers; read obtiene el buffer vivo.</a:t>
            </a:r>
          </a:p>
          <a:p/>
          <a:p>
            <a:r>
              <a:t>Hub: Colas acotadas, IDs de comandos, plazos, revisiones de la revisión y verificación del buffer completo.</a:t>
            </a:r>
          </a:p>
          <a:p/>
          <a:p>
            <a:r>
              <a:t>Persistencia: Ask Execs controla new/save; el acceso al host por loopback usa las protecciones existentes de paths y de capacidades de archivo.</a:t>
            </a:r>
          </a:p>
          <a:p/>
          <a:p>
            <a:r>
              <a:t>Transporte al release: Migración 0218, tool_gate_table, reglas del prompt, módulos congelados e inventarios sin conexión de source/estáticos.</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Una solicitud pasa por cinco capas, cada una con una responsabilidad, entre el browser de arriba y los back-ends de modelo de abajo.</a:t>
            </a:r>
          </a:p>
          <a:p/>
          <a:p>
            <a:r>
              <a:t>Arriba de las capas están las páginas del browser — el chat, el Agentic Control Panel y el Prompt Flow Panel — que hablan con Django Channels sobre WebSockets bajo el servidor ASGI Daphne. Abajo de ellas están los back-ends de modelo de lenguaje: Ollama (local y en la nube), Anthropic Claude y Qwen vision.</a:t>
            </a:r>
          </a:p>
          <a:p/>
          <a:p>
            <a:r>
              <a:t>Una fila en la base de datos sólo activa o desactiva una capacidad. Nunca crea una: un proveedor MCP necesita su servicio de runtime y su context chain, y un tool necesita su implementación.</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Once pasos llevan un mensaje del browser a un resultado verificado y reportado.</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 Multi-Turn marcado, Tlamatini deja de ser una asesora y se vuelve una operadora: planea, llama tools, lee sus resultados y continúa hasta que la tarea está hecha.</a:t>
            </a:r>
          </a:p>
          <a:p/>
          <a:p>
            <a:r>
              <a:t>Un planner de ejecución global construye un plan con alcance de solicitud y pistas de capacidad, pero el executor ata la superficie completa de tools habilitada: cada tool, agent wrapped y skill habilitado, con ACPX todavía filtrado por su propia casilla. Un diseño anterior ataba sólo un subconjunto estrecho del planner y podía dejar al loop sin el único tool que necesitaba.</a:t>
            </a:r>
          </a:p>
          <a:p/>
          <a:p>
            <a:r>
              <a:t>El loop corre hasta 4,096 iteraciones. Las llamadas idénticas a un agent wrapped en una solicitud se deduplican, un rompedor de repetición empuja a un modelo que da vueltas, y cada agent wrapped corre en su propia carpeta de runtime aislada, así que las plantillas nunca se modifican.</a:t>
            </a:r>
          </a:p>
          <a:p/>
          <a:p>
            <a:r>
              <a:t>Cuando al menos un agent tuvo éxito, la respuesta trae un botón Create Flow. Convierte exactamente las llamadas a tools exitosas en un workflow .flw cargable en el canvas, normalizado y con secretos redactados por el backend, así que una conversación puede volverse un workflow reutilizable.</a:t>
            </a:r>
          </a:p>
          <a:p/>
          <a:p>
            <a:r>
              <a:t>Paso a paso: Una acción concreta a la vez; espera tu READY o tu output.</a:t>
            </a:r>
          </a:p>
          <a:p/>
          <a:p>
            <a:r>
              <a:t>Ask Execs: Una compuerta humana de Permitir/Denegar antes de cada paso riesgoso.</a:t>
            </a:r>
          </a:p>
          <a:p/>
          <a:p>
            <a:r>
              <a:t>Exec Report: Una tabla por familia de agent, una fila por cada llamada real a un tool.</a:t>
            </a:r>
          </a:p>
          <a:p/>
          <a:p>
            <a:r>
              <a:t>ACPX: Agrega los tools de coding-agent externo y de Skill a la superficie.</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Cada llamada al modelo dentro del loop pasa por un invocador auto-sanador por solicitud que cambia a una táctica genuinamente distinta cada vez que ocurre una falla transitoria.</a:t>
            </a:r>
          </a:p>
          <a:p/>
          <a:p>
            <a:r>
              <a:t>Cada intento corre bajo un watchdog. La configuración que se envía permite 900 segundos, deliberadamente más que el timeout de 600 segundos del cliente del modelo, así que el watchdog nunca abandona una llamada que el cliente todavía terminaría; el botón Cancelar se sondea cada cuarto de segundo, así que nunca se bloquea para siempre. La escalera recorre seis tácticas y sigue hasta 4,096 de ellas. Sólo tú, con Cancelar, la detienes.</a:t>
            </a:r>
          </a:p>
          <a:p/>
          <a:p>
            <a:r>
              <a:t>Si la escalera alguna vez se agota después de que ya corrieron agents, termina con gracia a partir de ese trabajo real: el botón Create Flow y el Exec Report sobreviven, y la respuesta dice qué pasó.</a:t>
            </a:r>
          </a:p>
          <a:p/>
          <a:p>
            <a:r>
              <a:t>La recuperación se narra en vivo. Las líneas de estado como “Tactic #3 … I will NOT hang” llegan en streaming al chat conforme pasan, y una SELF-HEALING NOTE abre la respuesta final.</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Cada llamada al modelo dentro del loop pasa por un invocador auto-sanador por solicitud que cambia a una táctica genuinamente distinta cada vez que ocurre una falla transitoria.</a:t>
            </a:r>
          </a:p>
          <a:p/>
          <a:p>
            <a:r>
              <a:t>Cada intento corre bajo un watchdog. La configuración que se envía permite 900 segundos, deliberadamente más que el timeout de 600 segundos del cliente del modelo, así que el watchdog nunca abandona una llamada que el cliente todavía terminaría; el botón Cancelar se sondea cada cuarto de segundo, así que nunca se bloquea para siempre. La escalera recorre seis tácticas y sigue hasta 4,096 de ellas. Sólo tú, con Cancelar, la detienes.</a:t>
            </a:r>
          </a:p>
          <a:p/>
          <a:p>
            <a:r>
              <a:t>Si la escalera alguna vez se agota después de que ya corrieron agents, termina con gracia a partir de ese trabajo real: el botón Create Flow y el Exec Report sobreviven, y la respuesta dice qué pasó.</a:t>
            </a:r>
          </a:p>
          <a:p/>
          <a:p>
            <a:r>
              <a:t>La recuperación se narra en vivo. Las líneas de estado como “Tactic #3 … I will NOT hang” llegan en streaming al chat conforme pasan, y una SELF-HEALING NOTE abre la respuesta final.</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Un modelo cuya ventana real no puede contener la solicitud completa recibe una compacta; un modelo que sí puede contenerla recibe exactamente la solicitud que siempre recibió.</a:t>
            </a:r>
          </a:p>
          <a:p/>
          <a:p>
            <a:r>
              <a:t>Ollama no rechaza una solicitud demasiado grande para un modelo local: se queda con el final y responde a partir de eso. Un qwen2.5 local cuyos 32,768 tokens se dividieron entre dos slots de solicitud leyó 16,386 tokens de una solicitud de unos 52,000, perdió las métricas de sistema en vivo, y respondió una pregunta de CPU con la hora.</a:t>
            </a:r>
          </a:p>
          <a:p/>
          <a:p>
            <a:r>
              <a:t>El propio conteo de Ollama es ahora la prueba. Cuando los caracteres enviados no caben en los tokens que Ollama dice que leyó, la solicitud se cortó, y ese conteo se aprende como la ventana real del modelo. El context length reportado de un modelo local nunca se toma como su ventana por solicitud, porque los slots de solicitud paralelos la dividen.</a:t>
            </a:r>
          </a:p>
          <a:p/>
          <a:p>
            <a:r>
              <a:t>Una solicitud que cabe en la ventana usable se envía byte por byte, como antes. Si no, el Compact mode conserva System-Metrics y Files-Search, cuyo contexto viaja dentro de la pregunta, y ata sólo las filas que marcas. Desde v1.75.0 eso es un switch de la barra de herramientas: marcarlo desmarca cada fila de Configurar menos esas tres y pausa los External MCPs, y cada fila muestra su precio. El system prompt se reconstruye por prioridad de reglas y se cierra con una nota de siete reglas, y el historial conserva los seis mensajes más nuevos. Un primer paso que Ollama aun así cortó se reajusta y se reenvía antes de que corra cualquier tool.</a:t>
            </a:r>
          </a:p>
          <a:p/>
          <a:p>
            <a:r>
              <a:t>Completo: Un modelo que puede contener la solicitud la recibe sin cambios, byte por byte.</a:t>
            </a:r>
          </a:p>
          <a:p/>
          <a:p>
            <a:r>
              <a:t>Compact: Un switch de la barra de herramientas: sólo se atan las filas que marcas, cada una con su precio.</a:t>
            </a:r>
          </a:p>
          <a:p/>
          <a:p>
            <a:r>
              <a:t>Bloqueado: Un modelo demasiado pequeño para todo activa Compact por sí mismo y lo bloquea.</a:t>
            </a:r>
          </a:p>
          <a:p/>
          <a:p>
            <a:r>
              <a:t>Tu decisión: context_compact_mode es auto de forma predeterminada, o always o never, obedecido exactamente.</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Un modelo cuya ventana real no puede contener la solicitud completa recibe una compacta; un modelo que sí puede contenerla recibe exactamente la solicitud que siempre recibió.</a:t>
            </a:r>
          </a:p>
          <a:p/>
          <a:p>
            <a:r>
              <a:t>Ollama no rechaza una solicitud demasiado grande para un modelo local: se queda con el final y responde a partir de eso. Un qwen2.5 local cuyos 32,768 tokens se dividieron entre dos slots de solicitud leyó 16,386 tokens de una solicitud de unos 52,000, perdió las métricas de sistema en vivo, y respondió una pregunta de CPU con la hora.</a:t>
            </a:r>
          </a:p>
          <a:p/>
          <a:p>
            <a:r>
              <a:t>El propio conteo de Ollama es ahora la prueba. Cuando los caracteres enviados no caben en los tokens que Ollama dice que leyó, la solicitud se cortó, y ese conteo se aprende como la ventana real del modelo. El context length reportado de un modelo local nunca se toma como su ventana por solicitud, porque los slots de solicitud paralelos la dividen.</a:t>
            </a:r>
          </a:p>
          <a:p/>
          <a:p>
            <a:r>
              <a:t>Una solicitud que cabe en la ventana usable se envía byte por byte, como antes. Si no, el Compact mode conserva System-Metrics y Files-Search, cuyo contexto viaja dentro de la pregunta, y ata sólo las filas que marcas. Desde v1.75.0 eso es un switch de la barra de herramientas: marcarlo desmarca cada fila de Configurar menos esas tres y pausa los External MCPs, y cada fila muestra su precio. El system prompt se reconstruye por prioridad de reglas y se cierra con una nota de siete reglas, y el historial conserva los seis mensajes más nuevos. Un primer paso que Ollama aun así cortó se reajusta y se reenvía antes de que corra cualquier tool.</a:t>
            </a:r>
          </a:p>
          <a:p/>
          <a:p>
            <a:r>
              <a:t>Completo: Un modelo que puede contener la solicitud la recibe sin cambios, byte por byte.</a:t>
            </a:r>
          </a:p>
          <a:p/>
          <a:p>
            <a:r>
              <a:t>Compact: Un switch de la barra de herramientas: sólo se atan las filas que marcas, cada una con su precio.</a:t>
            </a:r>
          </a:p>
          <a:p/>
          <a:p>
            <a:r>
              <a:t>Bloqueado: Un modelo demasiado pequeño para todo activa Compact por sí mismo y lo bloquea.</a:t>
            </a:r>
          </a:p>
          <a:p/>
          <a:p>
            <a:r>
              <a:t>Tu decisión: context_compact_mode es auto de forma predeterminada, o always o never, obedecido exactamente.</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Desde v1.76.0 cada modelo recibe su propio sampling, nivel de thinking y tamaño de contexto, tomados de fuentes formales, en vez de un conjunto fijo de valores para cada modelo.</a:t>
            </a:r>
          </a:p>
          <a:p/>
          <a:p>
            <a:r>
              <a:t>Los valores vienen, en este orden, de tu propio model_brain_overrides; de una base de conocimiento integrada cuyos perfiles citan cada uno su model card del fabricante o el generation_config.json de Hugging Face (GLM-5, DeepSeek-V4, MiniMax-M3, Gemma 4, Qwen 3.5, Qwen 2.5, gpt-oss, Kimi, Mistral Large 3 y Nemotron 3); de un perfil aprendido una vez, en segundo plano, para un modelo que todavía no conoce y guardado fuera de la instalación para que sobreviva a las actualizaciones; de los parámetros que Ollama publica para el modelo; y finalmente de los valores predeterminados del propio modelo. El contexto solicitado nunca excede lo que el modelo puede leer de verdad.</a:t>
            </a:r>
          </a:p>
          <a:p/>
          <a:p>
            <a:r>
              <a:t>Dentro de una respuesta, entre llamadas a tools, un modelo que piensa recibe de vuelta su propio razonamiento anterior, como lo requiere su fabricante, en vez de empezar de cero en cada paso; se descarta entre tus preguntas, y el medidor de contexto lo cuenta. En Config ▸ Models, Guardar abre un diálogo de Auto-tuning que afina cada modelo configurado frente a ti, con la fuente de cada valor.</a:t>
            </a:r>
          </a:p>
          <a:p/>
          <a:p>
            <a:r>
              <a:t>Los relojes de estancamiento que abandonaban un modelo lento y empezaban otra vez desde cero se quitaron. Medido con los propios números de Ollama, leer incluso un prompt muy largo no es el cuello de botella en Ollama cloud: el tiempo es el razonamiento que el modelo genera, y un reloj no puede distinguir una llamada muerta de un modelo que todavía está pensando. El watchdog de auto-sanación y el límite de tiempo del cliente se mantienen.</a:t>
            </a:r>
          </a:p>
          <a:p/>
          <a:p>
            <a:r>
              <a:t>Fuentes formales: Tus overrides, perfiles citados, perfiles aprendidos, Ollama, valores predeterminados del modelo.</a:t>
            </a:r>
          </a:p>
          <a:p/>
          <a:p>
            <a:r>
              <a:t>Contexto real: La ventana solicitada nunca excede lo que el modelo puede leer.</a:t>
            </a:r>
          </a:p>
          <a:p/>
          <a:p>
            <a:r>
              <a:t>Razonamiento conservado: Los modelos que piensan conservan su hilo de pensamiento entre llamadas a tools.</a:t>
            </a:r>
          </a:p>
          <a:p/>
          <a:p>
            <a:r>
              <a:t>Auto-tuning: Config ▸ Models ▸ Guardar muestra cada modelo afinado, con sus fuentes.</a:t>
            </a:r>
          </a:p>
          <a:p/>
          <a:p>
            <a:r>
              <a:t>Sin relojes de estancamiento: Un modelo lento nunca se tira y se reinicia.</a:t>
            </a:r>
          </a:p>
          <a:p/>
          <a:p>
            <a:r>
              <a:t>Tu decisión: model_brain: off restaura el sampler fijo heredado exactamente.</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Desde v1.76.0 cada modelo recibe su propio sampling, nivel de thinking y tamaño de contexto, tomados de fuentes formales, en vez de un conjunto fijo de valores para cada modelo.</a:t>
            </a:r>
          </a:p>
          <a:p/>
          <a:p>
            <a:r>
              <a:t>Los valores vienen, en este orden, de tu propio model_brain_overrides; de una base de conocimiento integrada cuyos perfiles citan cada uno su model card del fabricante o el generation_config.json de Hugging Face (GLM-5, DeepSeek-V4, MiniMax-M3, Gemma 4, Qwen 3.5, Qwen 2.5, gpt-oss, Kimi, Mistral Large 3 y Nemotron 3); de un perfil aprendido una vez, en segundo plano, para un modelo que todavía no conoce y guardado fuera de la instalación para que sobreviva a las actualizaciones; de los parámetros que Ollama publica para el modelo; y finalmente de los valores predeterminados del propio modelo. El contexto solicitado nunca excede lo que el modelo puede leer de verdad.</a:t>
            </a:r>
          </a:p>
          <a:p/>
          <a:p>
            <a:r>
              <a:t>Dentro de una respuesta, entre llamadas a tools, un modelo que piensa recibe de vuelta su propio razonamiento anterior, como lo requiere su fabricante, en vez de empezar de cero en cada paso; se descarta entre tus preguntas, y el medidor de contexto lo cuenta. En Config ▸ Models, Guardar abre un diálogo de Auto-tuning que afina cada modelo configurado frente a ti, con la fuente de cada valor.</a:t>
            </a:r>
          </a:p>
          <a:p/>
          <a:p>
            <a:r>
              <a:t>Los relojes de estancamiento que abandonaban un modelo lento y empezaban otra vez desde cero se quitaron. Medido con los propios números de Ollama, leer incluso un prompt muy largo no es el cuello de botella en Ollama cloud: el tiempo es el razonamiento que el modelo genera, y un reloj no puede distinguir una llamada muerta de un modelo que todavía está pensando. El watchdog de auto-sanación y el límite de tiempo del cliente se mantienen.</a:t>
            </a:r>
          </a:p>
          <a:p/>
          <a:p>
            <a:r>
              <a:t>Fuentes formales: Tus overrides, perfiles citados, perfiles aprendidos, Ollama, valores predeterminados del modelo.</a:t>
            </a:r>
          </a:p>
          <a:p/>
          <a:p>
            <a:r>
              <a:t>Contexto real: La ventana solicitada nunca excede lo que el modelo puede leer.</a:t>
            </a:r>
          </a:p>
          <a:p/>
          <a:p>
            <a:r>
              <a:t>Razonamiento conservado: Los modelos que piensan conservan su hilo de pensamiento entre llamadas a tools.</a:t>
            </a:r>
          </a:p>
          <a:p/>
          <a:p>
            <a:r>
              <a:t>Auto-tuning: Config ▸ Models ▸ Guardar muestra cada modelo afinado, con sus fuentes.</a:t>
            </a:r>
          </a:p>
          <a:p/>
          <a:p>
            <a:r>
              <a:t>Sin relojes de estancamiento: Un modelo lento nunca se tira y se reinicia.</a:t>
            </a:r>
          </a:p>
          <a:p/>
          <a:p>
            <a:r>
              <a:t>Tu decisión: model_brain: off restaura el sampler fijo heredado exactamente.</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Un código de salida es un bit. El auto-reporte estructurado del propio agent es un registro tipado, y supera al código de salida.</a:t>
            </a:r>
          </a:p>
          <a:p/>
          <a:p>
            <a:r>
              <a:t>agent_verdict.py analiza el bloque INI_SECTION de cada agent en un árbol tipado y corre una tabla de reglas ordenada sobre él. No hay llamada a modelo ni heurística, así que la misma entrada siempre da el mismo color. El vocabulario de status es cerrado: cinco conjuntos disjuntos, unidos como KNOWN_STATUSES, y una prueba de todo el repositorio rechaza cualquier token de status que un agent invente.</a:t>
            </a:r>
          </a:p>
          <a:p/>
          <a:p>
            <a:r>
              <a:t>Un diagnóstico de sólo lectura que reporta un problema tuvo éxito, porque el hallazgo es el entregable. El trabajo degradado, el trabajo no hecho y los errores de agent quedan en rojo. Una fila roja por lo tanto significa que no existe un entregable solicitado limpio, nunca sólo que una revisión encontró algo.</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Un código de salida es un bit. El auto-reporte estructurado del propio agent es un registro tipado, y supera al código de salida.</a:t>
            </a:r>
          </a:p>
          <a:p/>
          <a:p>
            <a:r>
              <a:t>agent_verdict.py analiza el bloque INI_SECTION de cada agent en un árbol tipado y corre una tabla de reglas ordenada sobre él. No hay llamada a modelo ni heurística, así que la misma entrada siempre da el mismo color. El vocabulario de status es cerrado: cinco conjuntos disjuntos, unidos como KNOWN_STATUSES, y una prueba de todo el repositorio rechaza cualquier token de status que un agent invente.</a:t>
            </a:r>
          </a:p>
          <a:p/>
          <a:p>
            <a:r>
              <a:t>Un diagnóstico de sólo lectura que reporta un problema tuvo éxito, porque el hallazgo es el entregable. El trabajo degradado, el trabajo no hecho y los errores de agent quedan en rojo. Una fila roja por lo tanto significa que no existe un entregable solicitado limpio, nunca sólo que una revisión encontró algo.</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 Ask Execs activado, el executor se bloquea antes de cada tool riesgoso y espera Permitir o Denegar en el browser. Un solo Denegar detiene toda la cadena y deja un banner rojo “Execution interrupted”.</a:t>
            </a:r>
          </a:p>
          <a:p/>
          <a:p>
            <a:r>
              <a:t>La compuerta es un allowlist explícito, elegido tier por tier. Todo camino dudoso se resuelve en Denegar: un prompt fallido, un Cancelar o un browser desconectado nunca deja correr un tool riesgoso sin confirmar. Desmarcar Ask Execs durante una ejecución relaja esa ejecución; marcarlo otra vez rearma los prompts.</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 recuperación híbrida combina vectores FAISS con palabras clave BM25, extrae metadatos, presupuesta el contexto y cae con gracia cuando un chain no puede recuperar.</a:t>
            </a:r>
          </a:p>
          <a:p/>
          <a:p>
            <a:r>
              <a:t>Cuando cargas un directorio o archivo, ese contexto cargado supera su auto-conocimiento: una solicitud de “resumir el proyecto” se responde desde tu proyecto, no desde una descripción de ella misma.</a:t>
            </a:r>
          </a:p>
          <a:p/>
          <a:p>
            <a:r>
              <a:t>Antes de que cualquier archivo se incruste, un guard de contenido binario revisa sus bytes en una cascada de cortocircuito que lee a lo más un bloque de 8 KiB. Los archivos binarios se descartan exactamente como un nombre que elegiste omitir, y cada descarte se nombra en tlamatini.log bajo --- [BINARY-GUARD].</a:t>
            </a:r>
          </a:p>
          <a:p/>
          <a:p>
            <a:r>
              <a:t>El guard falla abierto: cualquier duda significa “cárgalo como texto”, porque borrar silenciosamente contexto real es peor que incrustar un archivo raro. La etapa del byte-order-mark corre antes de la del byte NUL, o cada documento UTF-16 desaparecería.</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snapshots del canvas y los borradores generados en el chat compilan a través del mismo registro de Agent Contract antes de que cualquier archivo llegue al pool de sesión.</a:t>
            </a:r>
          </a:p>
          <a:p/>
          <a:p>
            <a:r>
              <a:t>El contrato de cada agent declara qué campo de configuración escribe una conexión en cada slot, qué campos puede leer Parametrizer, qué paths son secretos a redactar, y si es un singleton, de larga duración o nunca inicia sus targets. Ambas superficies se normalizan en un solo FlowSpec (schema versión 2).</a:t>
            </a:r>
          </a:p>
          <a:p/>
          <a:p>
            <a:r>
              <a:t>El botón Iniciar del canvas compila el snapshot en vivo en modo escritura, así que un flow editado pero sin guardar corre bajo la misma validación que un archivo recién cargado. Validar usa un dry run que previsualiza la configuración compilada sin tocar el disco.</a:t>
            </a:r>
          </a:p>
          <a:p/>
          <a:p>
            <a:r>
              <a:t>Los agents que alimentan a Parametrizer emiten un bloque INI_SECTION atómico por resultado. 51 agents actualmente declaran outputs estructurados.</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Mecanismos pequeños y deliberados mantienen vivo el core bajo las condiciones que antes lo detenían.</a:t>
            </a:r>
          </a:p>
          <a:p/>
          <a:p>
            <a:r>
              <a:t>Escudo de consola: El archivo de log se escribe primero; la salida de consola pasa por una cola acotada, así que hacer clic en la consola no puede congelarla. Desde v1.76.0 las líneas se colorean por nivel.</a:t>
            </a:r>
          </a:p>
          <a:p/>
          <a:p>
            <a:r>
              <a:t>Limpiador de huérfanos: Tres niveles barren descendientes muertos y console hosts huérfanos después de los tools, después de las respuestas y al apagar, sin nunca lanzar una excepción al chat.</a:t>
            </a:r>
          </a:p>
          <a:p/>
          <a:p>
            <a:r>
              <a:t>Líneas de log por usuario: Las líneas llevan una etiqueta de cinco caracteres como [a3] para que los usuarios y turnos concurrentes nunca se confundan.</a:t>
            </a:r>
          </a:p>
          <a:p/>
          <a:p>
            <a:r>
              <a:t>Ctrl+C limpio: El manejador de señal sólo pone un evento; un worker limpia, un watchdog garantiza la salida, y un segundo Ctrl+C sale de inmediato.</a:t>
            </a:r>
          </a:p>
          <a:p/>
          <a:p>
            <a:r>
              <a:t>Puerto configurable: django_port mueve el puerto web sin recompilar y cae de vuelta a 8000 ante cualquier valor malo.</a:t>
            </a:r>
          </a:p>
          <a:p/>
          <a:p>
            <a:r>
              <a:t>Temp y Templates: Los archivos temporales viven bajo la carpeta Temp de la aplicación; los proyectos generados usan de forma predeterminada su carpeta Templates.</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Capítulo III: Dónde trabajas con ella. El chat, los dos canvases, el catálogo y los diálogos que operan todo lo demás.</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Config → Live Editor &amp; Terminater abre un diálogo compartido en el chat y en los paneles de control.</a:t>
            </a:r>
          </a:p>
          <a:p/>
          <a:p>
            <a:r>
              <a:t>Live Editor controla de 40 a 160 WPM, una pausa de 0 a 3 segundos después de cada segmento, el detalle de la enseñanza, las sugerencias de campos, texto fantasma contra opciones, y seguir el cursor que escribe. Desplazarte a mano suspende el seguimiento en ese segmento. La fuente, los números de línea y el ajuste de líneas afectan al editor real. El detalle de la enseñanza le da instrucciones al modelo; la redacción exacta todavía varía.</a:t>
            </a:r>
          </a:p>
          <a:p/>
          <a:p>
            <a:r>
              <a:t>Los presets Estándar y Aprendizaje guiado llenan un borrador. Vista previa escribe y dice una muestra inofensiva sin editar archivos ni ejecutar comandos. Guardar aplica el comportamiento a la siguiente acción. Cancelar, Escape y Cerrar descartan el borrador. Detener, silenciar y el acceso al editor de la pestaña actual son inmediatos.</a:t>
            </a:r>
          </a:p>
          <a:p/>
          <a:p>
            <a:r>
              <a:t>Ritmo: Velocidades separadas o un ajuste ligado de 40 a 160 WPM; sin escribir de golpe.</a:t>
            </a:r>
          </a:p>
          <a:p/>
          <a:p>
            <a:r>
              <a:t>Enseñanza: Guía breve, equilibrada o detallada, con sugerencias locales opcionales.</a:t>
            </a:r>
          </a:p>
          <a:p/>
          <a:p>
            <a:r>
              <a:t>Apariencia: La presentación del editor y de la terminal se guarda por cuenta/browser.</a:t>
            </a:r>
          </a:p>
          <a:p/>
          <a:p>
            <a:r>
              <a:t>Cuenta: El comportamiento persiste en el servidor; los guardados simultáneos detectan conflictos de revisión.</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Un solo TerminalHub resuelve las preferencias de la cuenta en el chat, el ACP, el Prompt Flow y las acciones del browser.</a:t>
            </a:r>
          </a:p>
          <a:p/>
          <a:p>
            <a:r>
              <a:t>Elige de 20 a 160 WPM, un shell predeterminado disponible, el asesor para terminales nuevas, una ventana de espera del comando, un umbral sin output y una espera para entregar el teclado al usuario. Los valores predeterminados de shell y asesor afectan a las terminales nuevas. Agotar una espera no mata el proceso. Los cambios de distribución, fuente y cursor se aplican a las vistas existentes; los prompts redimensionados conservan una lectura honesta basada en la pantalla.</a:t>
            </a:r>
          </a:p>
          <a:p/>
          <a:p>
            <a:r>
              <a:t>Yo siempre presiono Enter impide el envío automático, incluidos alias, texto codificado y caracteres de control; el teclado del usuario sigue funcionando. Los flows nuevos pueden usar los valores predeterminados de la cuenta. Los archivos de flow más viejos conservan sus valores explícitos. El Enter manual y la narración siguen siendo elecciones de la cuenta, y el chat tecleado respeta un shell que la tarea pidió explícitamente.</a:t>
            </a:r>
          </a:p>
          <a:p/>
          <a:p>
            <a:r>
              <a:t>Escribir: Una tecla a la vez, de 20 a 160 WPM; sin pegar ni escribir de golpe.</a:t>
            </a:r>
          </a:p>
          <a:p/>
          <a:p>
            <a:r>
              <a:t>Enviar: Ejecución controlada por la tarea o Enter sólo del usuario, que el hub hace cumplir.</a:t>
            </a:r>
          </a:p>
          <a:p/>
          <a:p>
            <a:r>
              <a:t>Esperar: Las ventanas de comando, sin output y de entrega del teclado tienen significados distintos.</a:t>
            </a:r>
          </a:p>
          <a:p/>
          <a:p>
            <a:r>
              <a:t>Heredar: use_my_defaults aplica las preferencias de la cuenta sin reescribir flows más viejos.</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 narración usa la voz existente del browser y una cola de voz compartida y cancelable.</a:t>
            </a:r>
          </a:p>
          <a:p/>
          <a:p>
            <a:r>
              <a:t>Activa la narración por separado para los comandos de Terminater y para los segmentos de Live Editor. Elige una explicación, el comando/código literal o ambos, dichos antes, durante o después de escribir. Cuando está activado esperar antes de escribir, se necesita un recibo real de que la voz terminó o un salto explícito. Una voz no disponible ofrece Continuar sin voz o Detener.</a:t>
            </a:r>
          </a:p>
          <a:p/>
          <a:p>
            <a:r>
              <a:t>Una sola pestaña enfocada de la cuenta dice cada evento de la terminal. Los recibos pertenecen a esa conexión exacta; desconectar, Detener y el plazo acotado pueden cancelar antes de cualquier tecla. Una reconexión nunca repite un comando. El texto marcado como secreto y los valores que entrega el usuario se excluyen. Los avisos de resultado describen el status de la acción del comando sin leer en voz alta el output de la terminal.</a:t>
            </a:r>
          </a:p>
          <a:p/>
          <a:p>
            <a:r>
              <a:t>Voz compartida: Reutiliza la elección de voz, la velocidad, el volumen y el tono de Config → Voz.</a:t>
            </a:r>
          </a:p>
          <a:p/>
          <a:p>
            <a:r>
              <a:t>Prioridad: El silencio global y la escucha del micrófono tienen prioridad sobre la narración.</a:t>
            </a:r>
          </a:p>
          <a:p/>
          <a:p>
            <a:r>
              <a:t>Momento: Antes/durante/después; opcionalmente, terminar antes de escribir.</a:t>
            </a:r>
          </a:p>
          <a:p/>
          <a:p>
            <a:r>
              <a:t>Control: Escape detiene la voz; Ctrl+Shift+M activa o desactiva el silencio global.</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Un editor CodeMirror 6 local mantiene editables el texto, el código, el JSON y el Source de Markdown en el canvas del chat.</a:t>
            </a:r>
          </a:p>
          <a:p/>
          <a:p>
            <a:r>
              <a:t>Abre o suelta un archivo, haz un cambio y usa la barra del nombre del archivo: Guardar, Guardar como, Deshacer, Rehacer, Buscar/reemplazar y Ajustar líneas. Copiar y Usar como contexto toman el source editado. Ctrl/Cmd+S guarda; Ctrl/Cmd+Shift+S elige un destino. Tab normalmente navega; Ctrl+[ y Ctrl+] cambian la sangría.</a:t>
            </a:r>
          </a:p>
          <a:p/>
          <a:p>
            <a:r>
              <a:t>La Vista previa de Markdown se sanitiza con el renderizador existente de Marked/DOMPurify. Source y Vista previa comparten un buffer y un historial de deshacer. HTML y SVG se quedan como texto, nunca como una página web activa. Los PDFs siguen siendo visores de sólo lectura y exportan sus bytes originales; los flows y las imágenes conservan sus propios caminos.</a:t>
            </a:r>
          </a:p>
          <a:p/>
          <a:p>
            <a:r>
              <a:t>La marca de cambios sin guardar sobrevive a los guardados con error o cancelados. Abrir, Limpiar y Actualizar preguntan antes de descartar ediciones. El texto sin guardar vive en memoria, así que guarda antes de cerrar. El tamaño automático reserva 320 píxeles de CSS para el canvas y acomoda los controles; las divisiones manuales siguen siendo elección del usuario.</a:t>
            </a:r>
          </a:p>
          <a:p/>
          <a:p>
            <a:r>
              <a:t>Un solo documento: El código, la configuración y el texto plano comparten la misma autoridad de edición.</a:t>
            </a:r>
          </a:p>
          <a:p/>
          <a:p>
            <a:r>
              <a:t>Markdown: El source editable y la vista previa sanitizada conservan el historial de deshacer.</a:t>
            </a:r>
          </a:p>
          <a:p/>
          <a:p>
            <a:r>
              <a:t>Controles: Guardar, Guardar como, Deshacer/Rehacer, Buscar/reemplazar y Ajustar líneas.</a:t>
            </a:r>
          </a:p>
          <a:p/>
          <a:p>
            <a:r>
              <a:t>Distribución: Un ancho reservado para el canvas y un editor que llena su altura disponible.</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El selector nativo local de Windows hace que Descargas sea opcional.</a:t>
            </a:r>
          </a:p>
          <a:p/>
          <a:p>
            <a:r>
              <a:t>Guardar usa un handle de escritura que concede el browser o un destino nativo ya autorizado. Sin uno, pregunta. Guardar como y el Guardar de la barra de navegación abren un diálogo nativo Guardar como de Windows en una conexión local; los Guardar siguientes de la barra de herramientas escriben ahí y Actualizar lo lee. Las exportaciones de PDF siguen siendo copias. Los browsers remotos necesitan su propio selector soportado de File System Access.</a:t>
            </a:r>
          </a:p>
          <a:p/>
          <a:p>
            <a:r>
              <a:t>Una revisión completa de la revisión rechaza los cambios externos. Las escrituras se preparan en el volumen de destino, se vacían y se vuelven a revisar antes de reemplazar. ReplaceFileW conserva la seguridad existente de Windows, los streams con nombre y la hora de creación; una falla parcial conserva un original recuperable. El camino protegido de backup/restauración de la base de datos no cambia.</a:t>
            </a:r>
          </a:p>
          <a:p/>
          <a:p>
            <a:r>
              <a:t>Los archivos sin editar conservan los bytes exactos. Los archivos editados conservan la codificación/BOM y los saltos de línea existentes; las líneas nuevas usan el primer terminador original. UTF-8 y UTF-16 marcado con BOM se decodifican estrictamente. Los datos mal formados/binarios se rechazan. La edición de texto y el guardado nativo se limitan a 64 MiB.</a:t>
            </a:r>
          </a:p>
          <a:p/>
          <a:p>
            <a:r>
              <a:t>Elegir: Guardar como nativo en cualquier carpeta local con permiso de escritura.</a:t>
            </a:r>
          </a:p>
          <a:p/>
          <a:p>
            <a:r>
              <a:t>Autorizar: Capacidad ligada a la cuenta/sesión; 12 horas de inactividad, se pierde al reiniciar.</a:t>
            </a:r>
          </a:p>
          <a:p/>
          <a:p>
            <a:r>
              <a:t>Comparar: Los cambios externos en el disco rechazan la sobrescritura; Guardar como conserva una copia aparte.</a:t>
            </a:r>
          </a:p>
          <a:p/>
          <a:p>
            <a:r>
              <a:t>Conservar: Codificación, BOM, saltos de línea y metadatos existentes de Windows.</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Interactor es un módulo y un tool integrado, no un agent de workflow ni una terminal.</a:t>
            </a:r>
          </a:p>
          <a:p/>
          <a:p>
            <a:r>
              <a:t>Activa Multi-Turn, Interactor en Configurar MCPs/Tools y el Live editor sobre el canvas. Pide: Ayúdame a crear un Dockerfile para una aplicación de servlets de Java usando tu editor de texto; enséñame un paso a la vez. Los alias del editor en inglés/español se enseñan en prompt.pmt.</a:t>
            </a:r>
          </a:p>
          <a:p/>
          <a:p>
            <a:r>
              <a:t>Primero lee el buffer actual exacto, la selección, el ID del documento y la revisión. Si no se pide un path, new crea un archivo vacío en Temp/interactor/&lt;account&gt;/&lt;random&gt;/ con el nombre de archivo pedido. Los archivos existentes nunca se sobrescriben. Tlamatini escribe un segmento corto conocido, y luego guide le entrega el siguiente campo a quien aprende e impide más cambios en ese turno.</a:t>
            </a:r>
          </a:p>
          <a:p/>
          <a:p>
            <a:r>
              <a:t>Continuar envía una nueva solicitud normal al chat y vuelve a leer antes de revisar la respuesta de quien aprende. Otra pista y Explicar selección también usan el chat normal sin reemplazar un borrador existente. Escribir no guarda ni ejecuta código. El snapshot normal de Usar como contexto es aparte de la lectura fresca que hace Interactor del texto sin guardar.</a:t>
            </a:r>
          </a:p>
          <a:p/>
          <a:p>
            <a:r>
              <a:t>Leer: Texto y selección exactos sin guardar, nunca un sustituto viejo del disco.</a:t>
            </a:r>
          </a:p>
          <a:p/>
          <a:p>
            <a:r>
              <a:t>Escribir: Un pequeño segmento visible de enseñanza; una edición que se puede deshacer.</a:t>
            </a:r>
          </a:p>
          <a:p/>
          <a:p>
            <a:r>
              <a:t>Entregar: Explica el siguiente campo de quien aprende, y luego detiene los cambios del tool.</a:t>
            </a:r>
          </a:p>
          <a:p/>
          <a:p>
            <a:r>
              <a:t>Revisar: Continuar empieza una lectura fresca en un nuevo turno del chat.</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El modelo planea el siguiente campo una vez; la coincidencia local evita una solicitud al modelo en cada tecla.</a:t>
            </a:r>
          </a:p>
          <a:p/>
          <a:p>
            <a:r>
              <a:t>El texto fantasma aparece sólo con un prefijo que coincide entre opciones acotadas preparadas para el campo actual. Tab acepta, Ctrl+Derecha acepta una palabra y Escape descarta. Las sugerencias son opcionales; quien aprende puede escribir un valor alternativo. Es apoyo de enseñanza con contexto, no una afirmación de autocompletado predictivo sin límites ni de la latencia de benchmarks de proveedores.</a:t>
            </a:r>
          </a:p>
          <a:p/>
          <a:p>
            <a:r>
              <a:t>El input del usuario, la selección, Detener, Escape, la cancelación del chat y la desconexión interrumpen la escritura de la IA. El prefijo escrito sigue siendo editable. Una pestaña oculta o tapada temporalmente pausa la misma acción hasta dos minutos extra y continúa exactamente en el siguiente carácter cuando es visible. Agotar el tiempo nunca repite una edición parcial. Cambiar Markdown a Vista previa u ocultar el canvas regresa el control.</a:t>
            </a:r>
          </a:p>
          <a:p/>
          <a:p>
            <a:r>
              <a:t>La enseñanza en vivo acepta a lo más 262,144 unidades UTF-16 y revisa el documento/la revisión antes de los cambios. Un presupuesto configurado más pequeño de resultado del tool/contexto puede rechazar el recibo. El contenido demasiado grande se rechaza explícitamente, nunca se recorta para dar un contexto engañoso.</a:t>
            </a:r>
          </a:p>
          <a:p/>
          <a:p>
            <a:r>
              <a:t>Coincidencia local: Opciones de campo preparadas; sin llamada al modelo por tecla.</a:t>
            </a:r>
          </a:p>
          <a:p/>
          <a:p>
            <a:r>
              <a:t>Opcional: Acepta una sugerencia, toma una palabra, descártala o escribe tu propio valor.</a:t>
            </a:r>
          </a:p>
          <a:p/>
          <a:p>
            <a:r>
              <a:t>Prioridad del usuario: Las interrupciones conservan el prefijo escrito e invalidan el trabajo viejo.</a:t>
            </a:r>
          </a:p>
          <a:p/>
          <a:p>
            <a:r>
              <a:t>Latencia honesta: Las preguntas nuevas todavía esperan el procesamiento del chat/modelo.</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 página del chat es donde hablas con ella. Hasta ocho switches de la barra de herramientas deciden cómo corre cada solicitud.</a:t>
            </a:r>
          </a:p>
          <a:p/>
          <a:p>
            <a:r>
              <a:t>Junto a la conversación hay un canvas que muestra código, texto y PDFs. Pega un screenshot con Ctrl+V o suelta imágenes en cualquier página: ella los guarda en su carpeta Temp y escribe el path completo en tu mensaje, listo para Image-Interpreter. Un anillo de contexto entre la barra de herramientas y el cuadro de mensaje muestra cuánto de la ventana del modelo usa la solicitud real, medido por el backend en bytes. Los tokens usan el propio prompt_eval_count de Ollama para la solicitud; un estimado se etiqueta hasta que llega un conteo medido. Cuando Ollama cortó una solicitud el anillo lo dice, y una respuesta construida a partir de una solicitud cortada lleva una advertencia CONTEXT-WINDOW.</a:t>
            </a:r>
          </a:p>
          <a:p/>
          <a:p>
            <a:r>
              <a:t>Su avatar dice las respuestas en voz alta cuando se lo pides. Desde v1.72.3, un movimiento de sílabas más claro y un cierre más rápido hacen sus labios más fáciles de seguir, con la apertura limitada a su retrato. Después de iniciar sesión, presionar Enter en la página de bienvenida te lleva directo al chat.</a:t>
            </a:r>
          </a:p>
          <a:p/>
          <a:p>
            <a:r>
              <a:t>Las tablas de respuesta se mantienen legibles con cada modelo: sólo una celda cuyo texto caería por debajo de 3:1 de contraste se recolorea, mientras que las tablas legibles, las tablas del Exec Report y los fondos con gradiente conservan sus colores.</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Arrastra el divisor arriba del cuadro de mensaje. Con su avatar desacoplado, el cuadro puede encogerse hasta sus botones.</a:t>
            </a:r>
          </a:p>
          <a:p/>
          <a:p>
            <a:r>
              <a:t>El divisor entre la conversación y el cuadro de mensaje sigue el puntero y el teclado. Las teclas de flecha lo mueven un paso y Shift+flechas cinco; Home o un doble clic encogen el cuadro a su mínimo, End lo hace tan alto como se permite, y Escape termina un arrastre. Los lectores de pantalla oyen la altura del cuadro. La barra de herramientas, el medidor de contexto, las filas de adjuntos y de dictado se miden, así que ninguna de ellas se corta.</a:t>
            </a:r>
          </a:p>
          <a:p/>
          <a:p>
            <a:r>
              <a:t>Acoplado, su retrato conserva su espacio arriba de los botones de acción. Desacoplado, el cuadro puede encogerse hasta esos botones más un guardia de seis píxeles, y acoplarla de nuevo le devuelve su espacio al retrato. En una ventana corta el cuadro se desplaza dentro de sí mismo, y en una pantalla angosta el espacio de trabajo se desplaza mientras la página y sus diálogos se quedan en su lugar.</a:t>
            </a:r>
          </a:p>
          <a:p/>
          <a:p>
            <a:r>
              <a:t>Acoplado, su retrato ahora también sigue el divisor: arrastrar la barra hacia abajo lo encoge a un cuadrado de 120 píxeles y arrastrar hacia arriba lo devuelve. Se envió en v1.83.0.</a:t>
            </a:r>
          </a:p>
          <a:p/>
          <a:p>
            <a:r>
              <a:t>En v1.85.0, el retrato y su marco se quedan centrados sobre la fila completa de Mic a Send. Vistas → Canvas puede darle al chat el ancho completo; Vistas → Restablecer distribución restaura ambos paneles y acopla el retrato conservando el documento, el borrador y el contexto.</a:t>
            </a:r>
          </a:p>
          <a:p/>
          <a:p>
            <a:r>
              <a:t>Arrastra o escribe: El puntero, las flechas, Shift+flechas, Home y End mueven el divisor.</a:t>
            </a:r>
          </a:p>
          <a:p/>
          <a:p>
            <a:r>
              <a:t>Desacoplado: El cuadro de mensaje puede encogerse hasta sus propios botones de acción.</a:t>
            </a:r>
          </a:p>
          <a:p/>
          <a:p>
            <a:r>
              <a:t>Acoplado: Un retrato centrado arriba de Mic a Send, hasta un cuadrado de 120 píxeles.</a:t>
            </a:r>
          </a:p>
          <a:p/>
          <a:p>
            <a:r>
              <a:t>Ventanas chicas: El cuadro se desplaza solo; los diálogos se quedan dentro de la ventana.</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Cada tarjeta de mensaje tiene Descartar junto a Copiar, para tus prompts y las respuestas de Tlamatini.</a:t>
            </a:r>
          </a:p>
          <a:p/>
          <a:p>
            <a:r>
              <a:t>Presiona Descartar y lee la confirmación con el tema. Cancelar empieza con el foco, así que Enter cancela de forma predeterminada. El botón rojo Descartar confirma el borrado. Escape y el botón de cerrar también cancelan. El mensaje guardado desaparece del chat y del historial de la base de datos que se usa para solicitudes futuras.</a:t>
            </a:r>
          </a:p>
          <a:p/>
          <a:p>
            <a:r>
              <a:t>Los demás mensajes se quedan. Descartar sólo un prompt deja su respuesta; descartar sólo una respuesta deja su prompt. Quita ambas tarjetas para quitar el intercambio. Un prompt del usuario también se lleva las filas de Referenced Rephrase que lo siguen directamente, así que una recarga no puede mostrar esas palabras duplicadas.</a:t>
            </a:r>
          </a:p>
          <a:p/>
          <a:p>
            <a:r>
              <a:t>Las pestañas conectadas del mismo usuario quitan las tarjetas guardadas después de que el servidor confirma. Una tarjeta de status, de error o de reintento sin un id de mensaje guardado sólo desaparece de la pantalla actual. La conexión rechaza Descartar mientras está respondiendo, y un chat desconectado te pide reconectar.</a:t>
            </a:r>
          </a:p>
          <a:p/>
          <a:p>
            <a:r>
              <a:t>Elegir: Descartar está junto a Copiar en las tarjetas de mensajes del usuario y de la asistente.</a:t>
            </a:r>
          </a:p>
          <a:p/>
          <a:p>
            <a:r>
              <a:t>Confirmar: Cancelar empieza con el foco. Descartar en rojo confirma; Escape y cerrar cancelan.</a:t>
            </a:r>
          </a:p>
          <a:p/>
          <a:p>
            <a:r>
              <a:t>Quitar: Borra el mensaje guardado del historial del chat. Su prompt o respuesta pareada se queda.</a:t>
            </a:r>
          </a:p>
          <a:p/>
          <a:p>
            <a:r>
              <a:t>Continuar: La siguiente solicitud lee el historial actualizado sin reconectar.</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Borrar una tarjeta del chat cambia el contexto de la conversación futura. Las notas guardadas por separado y el trabajo terminado se quedan.</a:t>
            </a:r>
          </a:p>
          <a:p/>
          <a:p>
            <a:r>
              <a:t>Cada solicitud recarga hasta las ocho filas de AgentMessage más nuevas con DBChatHistoryLoader, y luego filtra el contenido de status y de rephrase. No hay un resumen de conversación en caché ni un checkpoint de LangGraph que haya que limpiar. Quitar una fila deja que la ventana alcance una fila más vieja cuando existe.</a:t>
            </a:r>
          </a:p>
          <a:p/>
          <a:p>
            <a:r>
              <a:t>Un tool de memoria de External MCP habilitado guarda notas aparte de AgentMessage. Descartar no borra ese grafo de conocimiento; pídele a Tlamatini que también olvide la nota guardada. Los mensajes que se quedan también pueden repetir un dato de una tarjeta borrada, así que Descartar no garantiza un olvido completo.</a:t>
            </a:r>
          </a:p>
          <a:p/>
          <a:p>
            <a:r>
              <a:t>Los archivos creados, los mensajes enviados, las ejecuciones de agents y las filas del Exec Report siguen siendo trabajo real terminado. Descartar su prompt o su respuesta no puede deshacer esos efectos. Un botón Create Flow pertenece a su tarjeta de respuesta y desaparece con ella, así que descarga el .flw que necesites antes de borrar la tarjeta.</a:t>
            </a:r>
          </a:p>
          <a:p/>
          <a:p>
            <a:r>
              <a:t>Historial: Cada solicitud recarga una ventana de hasta las ocho filas más nuevas de la base de datos.</a:t>
            </a:r>
          </a:p>
          <a:p/>
          <a:p>
            <a:r>
              <a:t>Notas guardadas: La memoria de External MCP va aparte. Pídele que también olvide su nota.</a:t>
            </a:r>
          </a:p>
          <a:p/>
          <a:p>
            <a:r>
              <a:t>Otros mensajes: La respuesta o el prompt pareado se queda y puede repetir la misma información.</a:t>
            </a:r>
          </a:p>
          <a:p/>
          <a:p>
            <a:r>
              <a:t>Trabajo terminado: Los archivos y los mensajes enviados se quedan. Guarda un flow que necesites antes de descartar su tarjeta.</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El micrófono captura primero; ningún paso de selección de tools por el modelo se interpone entre el clic y la grabación.</a:t>
            </a:r>
          </a:p>
          <a:p/>
          <a:p>
            <a:r>
              <a:t>Haz clic en Micrófono junto a Enviar, espera a que diga Escuchando, y habla al micrófono del host de Tlamatini. El nivel real de entrada, el tiempo transcurrido y la cuenta regresiva de silencio se quedan en el chat. Después de la ventana de silencio configurada (3.5 segundos predeterminados de fábrica), corre el reconocimiento y el texto se agrega al borrador existente. Config &gt; Micrófono elige el envío automático normal del formulario o un borrador editable para Enviar a mano.</a:t>
            </a:r>
          </a:p>
          <a:p/>
          <a:p>
            <a:r>
              <a:t>El modo de revisión no inicia ninguna tarea hasta Enviar. Un segundo clic o Escape cancela; un reconocimiento vacío o con error no envía nada. Los modos actuales y el comportamiento de permisos siguen vigentes. El avatar confirma el envío con la voz del browser y respeta el modo Silencio.</a:t>
            </a:r>
          </a:p>
          <a:p/>
          <a:p>
            <a:r>
              <a:t>Clic: Inicio directo de Whisperer; el micrófono del host sólo se abre para una grabación.</a:t>
            </a:r>
          </a:p>
          <a:p/>
          <a:p>
            <a:r>
              <a:t>Escuchar: Las muestras en vivo mueven el indicador del chat y la compuerta de silencio configurada.</a:t>
            </a:r>
          </a:p>
          <a:p/>
          <a:p>
            <a:r>
              <a:t>Reconocer: faster-whisper local o el motor de voz en la nube configurado explícitamente.</a:t>
            </a:r>
          </a:p>
          <a:p/>
          <a:p>
            <a:r>
              <a:t>Enviar o revisar: Envía una vez con los modos actuales, o revisa el borrador editable y presiona Enviar tú.</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Elige Enviar automáticamente o un borrador editable, con el mismo estilo de diálogo que el resto de Tlamatini.</a:t>
            </a:r>
          </a:p>
          <a:p/>
          <a:p>
            <a:r>
              <a:t>La etiqueta del botón es Micrófono. Config &gt; Micrófono va después de Voz y controla qué pasa después del reconocimiento. Enviar automáticamente es lo predeterminado. Dejar en el input del chat restaura la edición sin lanzar una tarea ni la confirmación de procesamiento; corrige las palabras y luego presiona Enviar.</a:t>
            </a:r>
          </a:p>
          <a:p/>
          <a:p>
            <a:r>
              <a:t>Las preferencias se guardan en este browser para la siguiente grabación. Cada grabación tiene su propio snapshot. Los campos sin valor heredan la plantilla actual de Whisperer; Restablecer y luego Guardar restaura esa herencia. Cancelar, cerrar y Escape descartan los cambios sin guardar; los clics afuera dejan el diálogo abierto. Config &gt; Voz controla la reproducción del avatar; Config &gt; Modelos &gt; Voz elige el reconocedor.</a:t>
            </a:r>
          </a:p>
          <a:p/>
          <a:p>
            <a:r>
              <a:t>Input: Dispositivo del host configurado/predeterminado/listado, actualizar y ganancia por software de 0 a 300%.</a:t>
            </a:r>
          </a:p>
          <a:p/>
          <a:p>
            <a:r>
              <a:t>Compuerta de sonido: Silencio de 0.3-20 segundos, tope de 5-600 segundos, sensibilidad adaptativa o manual.</a:t>
            </a:r>
          </a:p>
          <a:p/>
          <a:p>
            <a:r>
              <a:t>Reconocimiento: Idioma, traducción al inglés, tasa/canales de captura, beam size local y VAD.</a:t>
            </a:r>
          </a:p>
          <a:p/>
          <a:p>
            <a:r>
              <a:t>Barandales: Valida la configuración antes de capturar; los dispositivos guardados que se quitaron o son ambiguos no pueden cambiar las entradas en silencio.</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requisitos de visibilidad para desarrolladores no se convierten en ventanas adicionales del producto.</a:t>
            </a:r>
          </a:p>
          <a:p/>
          <a:p>
            <a:r>
              <a:t>La conexión autenticada del mismo origen /ws/chat-voice/ prepara un worker residente por proceso web. El Python source/incluido corre chat_worker.py; el proceso congelado de Django se queda libre del stack de ML de voz. Un socket loopback privado autenticado por token lleva los frames de control y de resultado. La preparación no abre el micrófono.</a:t>
            </a:r>
          </a:p>
          <a:p/>
          <a:p>
            <a:r>
              <a:t>No intervienen PowerShell, conhost, activación de foco ni requisitos de visibilidad de consola. El stdout/stderr del worker fluye por agent.chat_voice_runtime hacia la consola/log principal. Un arranque con error y el apagado recogen al hijo. La Config se recarga por trabajo; los modelos compatibles se guardan en caché, y los resultados cancelados tardíos no pueden enviarse.</a:t>
            </a:r>
          </a:p>
          <a:p/>
          <a:p>
            <a:r>
              <a:t>Dueño de la UI: El composer muestra la grabación y la transcripción; sin segunda consola.</a:t>
            </a:r>
          </a:p>
          <a:p/>
          <a:p>
            <a:r>
              <a:t>Configuración: Herencia de modelo/plantilla más overrides de captura de Micrófono validados por grabación.</a:t>
            </a:r>
          </a:p>
          <a:p/>
          <a:p>
            <a:r>
              <a:t>Frontera: El botón directo es input, no un tool wrapped ni una fila del Exec Report.</a:t>
            </a:r>
          </a:p>
          <a:p/>
          <a:p>
            <a:r>
              <a:t>Release: Incluye los módulos de consumer/runtime/settings, el validador y el worker incluidos, el JS/CSS de Micrófono y la plantilla.</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revisiones fechadas del source son evidencia, no la afirmación de que un instalador anterior contiene el cambio.</a:t>
            </a:r>
          </a:p>
          <a:p/>
          <a:p>
            <a:r>
              <a:t>El 27 de septiembre de 2026 pasaron 108 regresiones de voz y 42 pruebas existentes del tema de diálogos. El worker actualizó 16 entradas del host y se reinició dos veces sin ventanas extra ni cambios de foco. Una captura real anterior en el host dio muestras en 297 ms después del inicio directo; se observaron la cancelación y la salida normal del worker. Dos ciclos de arranque/apagado no crearon ventanas visibles adicionales y dejaron sin cambio el foco en primer plano.</a:t>
            </a:r>
          </a:p>
          <a:p/>
          <a:p>
            <a:r>
              <a:t>La suite actualizada de browser visible pasó 62 revisiones con transporte controlado, incluidos ambos modos, la persistencia de la configuración, los estilos de control compartidos y las distribuciones angostas. Antes, el reconocimiento en caché de un archivo de voz sintética de 5.768 segundos tardó 0.203 segundos, contra 11.094 segundos en la primera decodificación. Son observaciones separadas, no garantías de latencia de punta a punta. Esas revisiones no certificaron ninguna tarea nueva en vivo de Ollama ni un instalador recompilado.</a:t>
            </a:r>
          </a:p>
          <a:p/>
          <a:p>
            <a:r>
              <a:t>Source actual: 108 regresiones de voz, 42 pruebas de tema y sondeos reales de metadatos/ciclo de vida del worker.</a:t>
            </a:r>
          </a:p>
          <a:p/>
          <a:p>
            <a:r>
              <a:t>Evidencia del browser: 62 revisiones visibles con transporte controlado; aparte del ASR en vivo.</a:t>
            </a:r>
          </a:p>
          <a:p/>
          <a:p>
            <a:r>
              <a:t>Límites: La carga en frío del modelo, la latencia del proveedor y el hardware varían; no hay promesa de latencia cero.</a:t>
            </a:r>
          </a:p>
          <a:p/>
          <a:p>
            <a:r>
              <a:t>Guía detallada: docs/chat-microphone-design.md registra la configuración, el protocolo y la evidencia.</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Vistas controla el espacio de trabajo, Paneles abre los editores de flows, y Config guarda la configuración.</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ACERCA DE USO sigue el tema de diálogos compartido y sigue disponible durante una respuesta larga.</a:t>
            </a:r>
          </a:p>
          <a:p/>
          <a:p>
            <a:r>
              <a:t>Abre Acerca de → Uso, y luego elige Créditos en la nube, Actividad del chat o Modelos. La primera pestaña lee la cuenta de Ollama configurada; las otras vistas identifican la actividad medida del chat principal del usuario de Tlamatini con sesión iniciada. El registro empieza con esta función y no reconstruye el historial anterior ni incluye agents hijos ni otras aplicaciones.</a:t>
            </a:r>
          </a:p>
          <a:p/>
          <a:p>
            <a:r>
              <a:t>El diálogo de escritorio mide 80vw por 74dvh, con un tope de 1440 píxeles de ancho: a lo más 59.2% del área del cliente. Las pantallas angostas usan 94vw por 63dvh. El texto sigue el tamaño normal de los diálogos, los botones tienen bordes claros y el cuerpo se desplaza entre controles fijos. Las cifras fraccionarias tienen a lo más dos decimales. Las barras de color ofrecen tooltips con el foco del teclado y el puntero, además de tablas exactas.</a:t>
            </a:r>
          </a:p>
          <a:p/>
          <a:p>
            <a:r>
              <a:t>Créditos en la nube: Saldo reportado, uso mensual, asignación y semanas/fecha de recarga.</a:t>
            </a:r>
          </a:p>
          <a:p/>
          <a:p>
            <a:r>
              <a:t>Actividad del chat: Tus llamadas medidas, tokens de input/output y tendencias diarias.</a:t>
            </a:r>
          </a:p>
          <a:p/>
          <a:p>
            <a:r>
              <a:t>Modelos: Actividad registrada de modelos y fechas UTC pico; el inventario del servidor a un lado.</a:t>
            </a:r>
          </a:p>
          <a:p/>
          <a:p>
            <a:r>
              <a:t>Mientras está ocupada: Abre y actualiza sin interrumpir la solicitud al modelo.</a:t>
            </a:r>
          </a:p>
          <a:p/>
          <a:p>
            <a:r>
              <a:t>Tamaño normal: Menos del 60% del área del cliente; tipografía común y botones claros.</a:t>
            </a:r>
          </a:p>
          <a:p/>
          <a:p>
            <a:r>
              <a:t>Accesible: Pestañas con teclado, tooltips en las gráficas, trampa de foco y comportamiento normal de Escape/Cerrar.</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créditos mensuales, el uso rodante en la nube y la actividad local registrada responden preguntas distintas.</a:t>
            </a:r>
          </a:p>
          <a:p/>
          <a:p>
            <a:r>
              <a:t>La respuesta autoritativa de /api/balance da la asignación incluida y el saldo restante, los créditos comprados y el periodo de recarga UTC. Los créditos usados son la asignación menos el saldo incluido; el total disponible suma los créditos comprados sólo cuando se reportan ambos valores. Los nombres de plan nunca dan una asignación supuesta. Las semanas/fecha de recarga vienen del periodo devuelto, no de un ciclo supuesto de 30 días.</a:t>
            </a:r>
          </a:p>
          <a:p/>
          <a:p>
            <a:r>
              <a:t>/api/usage en la nube da un historial rodante de 7/30 días, incluido el día UTC parcial de hoy. Ese gasto no son los créditos mensuales usados. El input en caché ya es parte del input. Las fechas de calendario 7/30 del registro local incluyen hoy y tienen un alcance de medición más estrecho.</a:t>
            </a:r>
          </a:p>
          <a:p/>
          <a:p>
            <a:r>
              <a:t>La API documentada de Ollama todavía no expone el historial completo por modelo del sitio web ni los vencimientos individuales de los créditos comprados. El diálogo enlaza a Ollama Usage para los detalles que sólo están en el sitio web. Los campos que faltan se explican, nunca se reemplazan con valores inventados. Los saldos siguen la cuenta del servidor configurado, que puede ser distinta del inicio de sesión del usuario en el sitio web.</a:t>
            </a:r>
          </a:p>
          <a:p/>
          <a:p>
            <a:r>
              <a:t>Saldo mensual: Créditos incluidos y comprados reales de /api/balance.</a:t>
            </a:r>
          </a:p>
          <a:p/>
          <a:p>
            <a:r>
              <a:t>Historial rodante: Gasto y tokens en la nube de 7/30 días; aparte del periodo de facturación.</a:t>
            </a:r>
          </a:p>
          <a:p/>
          <a:p>
            <a:r>
              <a:t>Gráficas de modelos locales: Actividad medida del chat principal de Tlamatini, no el historial de todo el sitio web.</a:t>
            </a:r>
          </a:p>
          <a:p/>
          <a:p>
            <a:r>
              <a:t>Actualizar: Los datos sanos se guardan en caché 60 s; una caída breve se reintenta después de 15 s.</a:t>
            </a:r>
          </a:p>
          <a:p/>
          <a:p>
            <a:r>
              <a:t>Datos faltantes: Explica los valores no disponibles o viejos; sin saldos ni conteos de tokens adivinados.</a:t>
            </a:r>
          </a:p>
          <a:p/>
          <a:p>
            <a:r>
              <a:t>Referencias: docs.ollama.com/api/balance y /api/cloud-usage; docs/usage-dashboard.md.</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 forma de la respuesta elige la distribución; una etiqueta de plan no es un derecho a créditos.</a:t>
            </a:r>
          </a:p>
          <a:p/>
          <a:p>
            <a:r>
              <a:t>Las cuentas Free, Pro y Max con campos de saldo mensual usan tarjetas de créditos. Las respuestas heredadas de sesión y semanales usan los porcentajes restantes reportados y las horas de reinicio; los campos de costo y de tokens no soportados se omiten. Las respuestas sólo de compras muestran sólo el saldo dado. Una asignación mensual de cero no produce un porcentaje inventado.</a:t>
            </a:r>
          </a:p>
          <a:p/>
          <a:p>
            <a:r>
              <a:t>Según lo revisado el 10 de octubre de 2026, Ollama lista Free, Pro, Max, Team y Enterprise, sin ningún plan en la nube llamado Unlimited. La ejecución local ilimitada es otra afirmación. Los saldos de Team se comparten, mientras que este adaptador pide el uso predeterminado del miembro, no el alcance de equipo del administrador. Los términos comerciales se quedan en ollama.com/pricing; no están fijos en el código del diálogo.</a:t>
            </a:r>
          </a:p>
          <a:p/>
          <a:p>
            <a:r>
              <a:t>Mensual: Asignación, saldo, créditos comprados y periodo de reinicio devueltos.</a:t>
            </a:r>
          </a:p>
          <a:p/>
          <a:p>
            <a:r>
              <a:t>Heredado: Porcentajes restantes de sesión/semanales; sin conversión adivinada a dólares.</a:t>
            </a:r>
          </a:p>
          <a:p/>
          <a:p>
            <a:r>
              <a:t>Sólo compras: Sólo el saldo comprado reportado; sin cuota incluida inventada.</a:t>
            </a:r>
          </a:p>
          <a:p/>
          <a:p>
            <a:r>
              <a:t>Free o cero: Reporta los datos reales y omite los porcentajes cuando la asignación es cero.</a:t>
            </a:r>
          </a:p>
          <a:p/>
          <a:p>
            <a:r>
              <a:t>Team: El saldo de créditos compartido es distinto del uso con alcance de miembro.</a:t>
            </a:r>
          </a:p>
          <a:p/>
          <a:p>
            <a:r>
              <a:t>Etiqueta Unlimited: Nunca se interpreta como créditos ilimitados en la nube.</a:t>
            </a:r>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Arrastra cualquiera de los 86 tipos de agent al canvas, conecta los triángulos de output con los triángulos de input, configura cada nodo, valida y presiona Iniciar.</a:t>
            </a:r>
          </a:p>
          <a:p/>
          <a:p>
            <a:r>
              <a:t>Los Agents corren como procesos separados que emiten logs y se comunican por sus archivos config.yaml, con un LED en vivo para cada uno. Los flows se pueden pausar, reanudar y detener, y guardar o cargar como archivos .flw. FlowCreator puede diseñar un flow a partir de una oración, y FlowHypervisor vigila un flow en ejecución y levanta una alerta cuando algo se ve mal.</a:t>
            </a:r>
          </a:p>
          <a:p/>
          <a:p>
            <a:r>
              <a:t>Desde v1.70.0 el canvas es un editor real. Duplicar copia los agents junto con su configuración guardada y las conexiones entre ellos; Deshacer también restaura la configuración de un agent. La edición se bloquea mientras un flow corre, así que nunca se cambia un flow debajo de sus propios procesos.</a:t>
            </a:r>
          </a:p>
          <a:p/>
          <a:p>
            <a:r>
              <a:t>Deshacer y Rehacer: Hasta 1,024 pasos, configuración incluida.</a:t>
            </a:r>
          </a:p>
          <a:p/>
          <a:p>
            <a:r>
              <a:t>Duplicar: Copia la configuración y las conexiones internas.</a:t>
            </a:r>
          </a:p>
          <a:p/>
          <a:p>
            <a:r>
              <a:t>Zoom: De 25 a 200 por ciento, y Ajustar.</a:t>
            </a:r>
          </a:p>
          <a:p/>
          <a:p>
            <a:r>
              <a:t>Búsqueda de agents: Filtra por nombre los 86 tipos de agent.</a:t>
            </a:r>
          </a:p>
          <a:p/>
          <a:p>
            <a:r>
              <a:t>Starters: Ubica cada Starter en un canvas grande.</a:t>
            </a:r>
          </a:p>
          <a:p/>
          <a:p>
            <a:r>
              <a:t>Ayuda: Explica cada gesto; • marca los cambios sin guardar.</a:t>
            </a:r>
          </a:p>
        </p:txBody>
      </p:sp>
      <p:sp>
        <p:nvSpPr>
          <p:cNvPr id="4" name="Slide Number Placeholder 3"/>
          <p:cNvSpPr>
            <a:spLocks noGrp="1"/>
          </p:cNvSpPr>
          <p:nvPr>
            <p:ph type="sldNum" idx="5" sz="quarter"/>
          </p:nvPr>
        </p:nvSpPr>
        <p:spPr/>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El Prompt Flow Panel convierte una cadena de prompts en un diagrama de ocho operaciones ejecutables más notas estáticas de revisión, guardado como un archivo .fpmt portátil y ejecutado contra tus modelos configurados.</a:t>
            </a:r>
          </a:p>
        </p:txBody>
      </p:sp>
      <p:sp>
        <p:nvSpPr>
          <p:cNvPr id="4" name="Slide Number Placeholder 3"/>
          <p:cNvSpPr>
            <a:spLocks noGrp="1"/>
          </p:cNvSpPr>
          <p:nvPr>
            <p:ph type="sldNum" idx="5" sz="quarter"/>
          </p:nvPr>
        </p:nvSpPr>
        <p:spPr/>
      </p:sp>
    </p:spTree>
  </p:cSld>
  <p:clrMapOvr>
    <a:masterClrMapping/>
  </p:clrMapOvr>
</p:notes>
</file>

<file path=ppt/notesSlides/notesSlide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Validar revisa el diagrama, Ejecutar lo corre, y cada ejecución conserva su propia conversación, sus embeddings y su identidad de cancelación, así que nunca molesta a tu chat.</a:t>
            </a:r>
          </a:p>
          <a:p/>
          <a:p>
            <a:r>
              <a:t>Escribe {{last_output}} para pasar la respuesta anterior hacia adelante. Las Decisiones comparan cadenas: contiene, no contiene, es igual, vacía, con distinción opcional de mayúsculas; y nunca evalúan expresiones de un archivo. Se permiten ciclos, limitados por un número máximo de operaciones ejecutadas: 500 de forma predeterminada y hasta 5,000.</a:t>
            </a:r>
          </a:p>
          <a:p/>
          <a:p>
            <a:r>
              <a:t>La figura en ejecución se ilumina y las conexiones recorridas se resaltan. Pausar deja que la operación actual termine y retiene la siguiente; Detener drena el worker en ejecución antes de que pueda empezar otra ejecución. Abrir un archivo nunca lo ejecuta, y una nota de Comentario del usuario nunca se ejecuta.</a:t>
            </a:r>
          </a:p>
          <a:p/>
          <a:p>
            <a:r>
              <a:t>Agregar embeddings requiere un vector store real. Un error del proveedor no puede volverse éxito por el fallback sólo de prompt del stack del chat, incluso con tools habilitados. El flow reporta el error antes de su siguiente operación y conserva cualquier contexto aceptado antes.</a:t>
            </a:r>
          </a:p>
          <a:p/>
          <a:p>
            <a:r>
              <a:t>Formato: JSON tlamatini-prompting-flow, versión 2; los archivos de la versión 1 se migran.</a:t>
            </a:r>
          </a:p>
          <a:p/>
          <a:p>
            <a:r>
              <a:t>Límites: 5 MiB, 500 elementos, 1,000 conexiones.</a:t>
            </a:r>
          </a:p>
          <a:p/>
          <a:p>
            <a:r>
              <a:t>Aislamiento: Historial y embeddings vacíos en cada inicio.</a:t>
            </a:r>
          </a:p>
          <a:p/>
          <a:p>
            <a:r>
              <a:t>Validación: Se revisa en el browser y otra vez en el servidor.</a:t>
            </a:r>
          </a:p>
          <a:p/>
          <a:p>
            <a:r>
              <a:t>No es .pmt: Los prompts de sistema en texto plano conservan .pmt y se rechazan.</a:t>
            </a:r>
          </a:p>
          <a:p/>
          <a:p>
            <a:r>
              <a:t>Borradores: Se guardan por usuario en el almacenamiento del browser.</a:t>
            </a:r>
          </a:p>
        </p:txBody>
      </p:sp>
      <p:sp>
        <p:nvSpPr>
          <p:cNvPr id="4" name="Slide Number Placeholder 3"/>
          <p:cNvSpPr>
            <a:spLocks noGrp="1"/>
          </p:cNvSpPr>
          <p:nvPr>
            <p:ph type="sldNum" idx="5" sz="quarter"/>
          </p:nvPr>
        </p:nvSpPr>
        <p:spPr/>
      </p:sp>
    </p:spTree>
  </p:cSld>
  <p:clrMapOvr>
    <a:masterClrMapping/>
  </p:clrMapOvr>
</p:notes>
</file>

<file path=ppt/notesSlides/notesSlide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Comentario del usuario es una nota de revisión en el canvas. Input del usuario es la operación que pausa la ejecución para esperar una respuesta, con la figura de muesca.</a:t>
            </a:r>
          </a:p>
          <a:p/>
          <a:p>
            <a:r>
              <a:t>Haz doble clic en una burbuja o presiona Enter para escribir directo en ella. Selecciona palabras o párrafos, y luego usa la mini barra de herramientas flotante para fuente, tamaño, color de texto, negritas, cursivas y subrayado. Por ejemplo, una burbuja puede tener un encabezado grande en Verdana, una oración en Arial cursiva y un párrafo en Georgia. Con sólo un cursor, el formato se aplica a lo que escribas después. Fuera de la edición, se aplica a toda la nota seleccionada. El color y la alineación de la burbuja afectan a la nota.</a:t>
            </a:r>
          </a:p>
          <a:p/>
          <a:p>
            <a:r>
              <a:t>Arrastra cualquiera de los ocho bordes o esquinas para cambiar el tamaño, incluso mientras escribes. Las manijas también aceptan las flechas del teclado. Ajustar al texto quita la altura sobrante, y la burbuja crece para contener todo el texto ajustado. No hay barras de desplazamiento internas, campos numéricos de tamaño ni diálogos de configuración del comentario.</a:t>
            </a:r>
          </a:p>
          <a:p/>
          <a:p>
            <a:r>
              <a:t>Listo o Ctrl+Enter guarda la edición completa. Cancelar o Escape restaura su texto, estilos, dimensiones y posición originales. Ctrl+Z/Y funciona dentro del editor. Las ediciones terminadas, los movimientos, los cambios de tamaño y los duplicados participan en el Deshacer/Rehacer del diagrama. Copiar entre editores de comentarios conserva el formato. El texto del portapapeles externo se queda literal.</a:t>
            </a:r>
          </a:p>
        </p:txBody>
      </p:sp>
      <p:sp>
        <p:nvSpPr>
          <p:cNvPr id="4" name="Slide Number Placeholder 3"/>
          <p:cNvSpPr>
            <a:spLocks noGrp="1"/>
          </p:cNvSpPr>
          <p:nvPr>
            <p:ph type="sldNum" idx="5" sz="quarter"/>
          </p:nvPr>
        </p:nvSpPr>
        <p:spPr/>
      </p:sp>
    </p:spTree>
  </p:cSld>
  <p:clrMapOvr>
    <a:masterClrMapping/>
  </p:clrMapOvr>
</p:notes>
</file>

<file path=ppt/notesSlides/notesSlide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archivos .fpmt de la versión 2 conservan notas independientes con todo su texto, formato y geometría.</a:t>
            </a:r>
          </a:p>
          <a:p/>
          <a:p>
            <a:r>
              <a:t>Cada nota guarda fragmentos de texto de una lista permitida más el texto literal correspondiente. Los fragmentos llevan fuente, tamaño, color de texto, negritas, cursivas y subrayado. Las notas simples más viejas de la versión 2 se normalizan a un solo fragmento. El comentario ejecutable de la versión 1 se migra a Input del usuario con sus identificadores, conexiones, configuración y comportamiento de respuesta/cancelación intactos. Abrir un archivo nunca inicia la ejecución.</a:t>
            </a:r>
          </a:p>
          <a:p/>
          <a:p>
            <a:r>
              <a:t>Una nota no tiene puertos de conexión ni estado de Start, y nunca entra al contexto del modelo, al historial de la conversación ni al conteo de pasos de la ejecución. Los tokens como {{last_output}} y el texto parecido a HTML se quedan literales en un comentario. Varias notas con estilos independientes pueden compartir un diagrama.</a:t>
            </a:r>
          </a:p>
          <a:p/>
          <a:p>
            <a:r>
              <a:t>El borrador del browser por usuario conserva la llave .draft.v1 existente por compatibilidad. Los archivos portátiles conservan la extensión .fpmt. Los archivos .pmt de nombre parecido pertenecen a los prompts de sistema y siguen siendo un formato aparte. Los límites son 5 MiB por flow, 500 elementos, 1,000 conexiones, 100,000 caracteres y 10,000 fragmentos con formato por nota.</a:t>
            </a:r>
          </a:p>
        </p:txBody>
      </p:sp>
      <p:sp>
        <p:nvSpPr>
          <p:cNvPr id="4" name="Slide Number Placeholder 3"/>
          <p:cNvSpPr>
            <a:spLocks noGrp="1"/>
          </p:cNvSpPr>
          <p:nvPr>
            <p:ph type="sldNum" idx="5" sz="quarter"/>
          </p:nvPr>
        </p:nvSpPr>
        <p:spPr/>
      </p:sp>
    </p:spTree>
  </p:cSld>
  <p:clrMapOvr>
    <a:masterClrMapping/>
  </p:clrMapOvr>
</p:notes>
</file>

<file path=ppt/notesSlides/notesSlide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asociaciones de archivo incluidas abren los agent flows .flw y los prompting flows .fpmt. Abrirlos nunca los ejecuta.</a:t>
            </a:r>
          </a:p>
          <a:p/>
          <a:p>
            <a:r>
              <a:t>El chat principal envía ambos formatos a sus propias pestañas de editor y conserva su documento actual. Abrir un archivo desde fuera valida un snapshot acotado y reutiliza un servidor en ejecución que coincida antes de cualquier trabajo de arranque de la base de datos. Un arranque en frío inicia la aplicación en su puerto configurado.</a:t>
            </a:r>
          </a:p>
          <a:p/>
          <a:p>
            <a:r>
              <a:t>El inicio de sesión regresa al archivo pedido. Los links de apertura de corta duración y de un solo uso llevan un token aleatorio en vez de un path del sistema de archivos; las cargas del browser quedan ligadas al usuario con sesión iniciada. Los formatos inválidos, las versiones no soportadas y los archivos de más de 5 MiB se rechazan antes de reemplazar.</a:t>
            </a:r>
          </a:p>
          <a:p/>
          <a:p>
            <a:r>
              <a:t>Los diagramas sin guardar y los borradores recuperados piden confirmación. Los fragmentos de comentario enriquecido conservan sus fuentes, estilos y distribución al guardar/abrir el .fpmt. Abrir un agent flow ahora espera la validación y la preparación de la sesión; si la redacción de credenciales no funciona, se bloquean las descargas .flw inseguras.</a:t>
            </a:r>
          </a:p>
          <a:p/>
          <a:p>
            <a:r>
              <a:t>Desde el chat: Abre cualquiera de los dos flows en su editor y conserva el documento del chat.</a:t>
            </a:r>
          </a:p>
          <a:p/>
          <a:p>
            <a:r>
              <a:t>Desde Windows: Arranca una vez o reutiliza la app en ejecución; regresa por el inicio de sesión.</a:t>
            </a:r>
          </a:p>
          <a:p/>
          <a:p>
            <a:r>
              <a:t>Conservar el trabajo: Valida antes de reemplazar; confirma los cambios sin guardar.</a:t>
            </a:r>
          </a:p>
          <a:p/>
          <a:p>
            <a:r>
              <a:t>Sin ejecución automática: Abrir prepara el diagrama. Ejecutar sigue siendo una acción del usuario.</a:t>
            </a:r>
          </a:p>
        </p:txBody>
      </p:sp>
      <p:sp>
        <p:nvSpPr>
          <p:cNvPr id="4" name="Slide Number Placeholder 3"/>
          <p:cNvSpPr>
            <a:spLocks noGrp="1"/>
          </p:cNvSpPr>
          <p:nvPr>
            <p:ph type="sldNum" idx="5" sz="quarter"/>
          </p:nvPr>
        </p:nvSpPr>
        <p:spPr/>
      </p:sp>
    </p:spTree>
  </p:cSld>
  <p:clrMapOvr>
    <a:masterClrMapping/>
  </p:clrMapOvr>
</p:notes>
</file>

<file path=ppt/notesSlides/notesSlide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Asociaciones por usuario, dueño de la instalación y elecciones de apps predeterminadas de Windows.</a:t>
            </a:r>
          </a:p>
          <a:p/>
          <a:p>
            <a:r>
              <a:t>Un helper compartido de PowerShell registra .flw y .fpmt con ProgIDs separados, nombres amigables, íconos, entradas de Abrir con y capacidades de Apps predeterminadas. Status reporta el registro actual; DefaultApps abre la Configuración de Windows para que el usuario elija una app predeterminada.</a:t>
            </a:r>
          </a:p>
          <a:p/>
          <a:p>
            <a:r>
              <a:t>La instalación registra ambos formatos. Update Repair respeta la desinscripción explícita y nunca toma la entrada propia de otra instalación. La eliminación borra sólo los valores de esta instalación, y conserva el UserChoice de Windows y las entradas de Abrir con de otras aplicaciones. Los wrappers históricos de .flw cubren ambos formatos, así que los binarios existentes del instalador/desinstalador siguen siendo compatibles.</a:t>
            </a:r>
          </a:p>
          <a:p/>
          <a:p>
            <a:r>
              <a:t>Los scripts y los módulos de apertura se incluyen en el empaquetado congelado y en el de self-modify. Las revisiones nativas del registro usan una llave de prueba aislada, y las pruebas visibles en Chrome ejercitan la apertura real de archivos y el inicio de sesión. La campaña de release del 4 de octubre también recompiló los ejecutables locales principal y desinstalador. El trabajo se hizo commit a main ese día y lo lleva el tag v1.76.0; la aceptación compilada se registra aparte de las pruebas del source. Consulta docs/windows-flow-files.md para los comandos, los contratos y la verificación.</a:t>
            </a:r>
          </a:p>
          <a:p/>
          <a:p>
            <a:r>
              <a:t>Instalar: Registra ambos tipos con nombres, íconos y los destinos de editor correctos.</a:t>
            </a:r>
          </a:p>
          <a:p/>
          <a:p>
            <a:r>
              <a:t>Administrar: Revisa Status, registra o quita un tipo, o abre Apps predeterminadas.</a:t>
            </a:r>
          </a:p>
          <a:p/>
          <a:p>
            <a:r>
              <a:t>Actualizar: Repara las entradas propias sin deshacer la exclusión del usuario.</a:t>
            </a:r>
          </a:p>
          <a:p/>
          <a:p>
            <a:r>
              <a:t>Desinstalar: Quita los registros propios; conserva otras apps y los documentos del usuario.</a:t>
            </a:r>
          </a:p>
        </p:txBody>
      </p:sp>
      <p:sp>
        <p:nvSpPr>
          <p:cNvPr id="4" name="Slide Number Placeholder 3"/>
          <p:cNvSpPr>
            <a:spLocks noGrp="1"/>
          </p:cNvSpPr>
          <p:nvPr>
            <p:ph type="sldNum" idx="5" sz="quarter"/>
          </p:nvPr>
        </p:nvSpPr>
        <p:spPr/>
      </p:sp>
    </p:spTree>
  </p:cSld>
  <p:clrMapOvr>
    <a:masterClrMapping/>
  </p:clrMapOvr>
</p:notes>
</file>

<file path=ppt/notesSlides/notesSlide5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Confirmación, dueño de la instalación, errores que se pueden reintentar y contenido del usuario conservado.</a:t>
            </a:r>
          </a:p>
          <a:p/>
          <a:p>
            <a:r>
              <a:t>El error real de registro del instalador vino de un InstallDir omitido cuyo valor predeterminado de parámetro se evaluaba antes de que Windows PowerShell llenara PSScriptRoot. Ahora los wrappers resuelven ese valor predeterminado dentro del script. Las pruebas nuevas con powershell.exe -File ejercitan el mismo punto de entrada desde un directorio de trabajo no relacionado.</a:t>
            </a:r>
          </a:p>
          <a:p/>
          <a:p>
            <a:r>
              <a:t>Primero, el desinstalador exige que la aplicación principal se cierre. Después de la confirmación, detiene los workers que pertenecen a la instalación elegida y a sus descendientes. Los límites exactos de path, las horas de creación y el TLAMATINI_AGENTS_ROOT heredado identifican a los hijos de los agents incluso después de cambiar de padre; los procesos no relacionados y Explorer siguen corriendo.</a:t>
            </a:r>
          </a:p>
          <a:p/>
          <a:p>
            <a:r>
              <a:t>Una copia temporal independiente permite quitar el propio desinstalador instalado. Los helpers y el marcador de la instalación se quedan hasta que la eliminación de archivos y del registro propio tiene éxito, así que una falla parcial se puede reintentar. Los archivos bloqueados y el borrado denegado del registro reportan error. Se rechazan las raíces de unidad, las carpetas compartidas, los checkouts del source y los destinos redirigidos.</a:t>
            </a:r>
          </a:p>
          <a:p/>
          <a:p>
            <a:r>
              <a:t>Desde v1.76.0, cuando Windows todavía tiene tomado el propio Uninstaller.exe, el archivo se reintenta, se mueve aparte y lo quita una limpieza oculta después de que el desinstalador sale, así que la desinstalación termina limpia.</a:t>
            </a:r>
          </a:p>
          <a:p/>
          <a:p>
            <a:r>
              <a:t>Los agents y los directorios de contenido del usuario que no están vacíos se quedan bajo el contrato de conservación existente. Un reinicio completo de directorio/registro es una acción autorizada aparte. La verificación distingue los resultados reales de la GUI compilada de las pruebas del backend y registra explícitamente cualquier arranque nativo bloqueado.</a:t>
            </a:r>
          </a:p>
          <a:p/>
          <a:p>
            <a:r>
              <a:t>Puntos de entrada del instalador: Resuelven el directorio de instalación dentro del cuerpo de los scripts de PowerShell.</a:t>
            </a:r>
          </a:p>
          <a:p/>
          <a:p>
            <a:r>
              <a:t>Workers propios: Detiene los agents de esta instalación y los descendientes que sobrevivan, después de la confirmación.</a:t>
            </a:r>
          </a:p>
          <a:p/>
          <a:p>
            <a:r>
              <a:t>Reintento honesto: Conserva el soporte de eliminación hasta tener éxito; reporta archivos bloqueados y errores del registro.</a:t>
            </a:r>
          </a:p>
          <a:p/>
          <a:p>
            <a:r>
              <a:t>Conservar el trabajo del usuario: Conserva los agents y el contenido no vacío; avisa al shell sin reiniciar Explorer.</a:t>
            </a:r>
          </a:p>
        </p:txBody>
      </p:sp>
      <p:sp>
        <p:nvSpPr>
          <p:cNvPr id="4" name="Slide Number Placeholder 3"/>
          <p:cNvSpPr>
            <a:spLocks noGrp="1"/>
          </p:cNvSpPr>
          <p:nvPr>
            <p:ph type="sldNum" idx="5" sz="quarter"/>
          </p:nvPr>
        </p:nvSpPr>
        <p:spPr/>
      </p:sp>
    </p:spTree>
  </p:cSld>
  <p:clrMapOvr>
    <a:masterClrMapping/>
  </p:clrMapOvr>
</p:notes>
</file>

<file path=ppt/notesSlides/notesSlide5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El Instalador y el Desinstalador comparten una ventana que prepara una copia de recuperación antes de cambiar cualquier cosa.</a:t>
            </a:r>
          </a:p>
          <a:p/>
          <a:p>
            <a:r>
              <a:t>Ambos ejecutables usan una sola ventana de instalación: la paleta de Tlamatini, controles de teclado, una página de destino y de revisión, progreso real y detalles del resultado que se quedan en pantalla. La fila de acciones es su propia fila de la ventana, así que los botones nunca se recortan, y las fuentes grandes o los paths largos desplazan el cuerpo. Los errores se quedan en la ventana con Reintentar y Cambiar carpeta, y cada ejecución escribe un log privado en %LOCALAPPDATA%\Tlamatini\SetupLogs.</a:t>
            </a:r>
          </a:p>
          <a:p/>
          <a:p>
            <a:r>
              <a:t>Antes de que la instalación o la eliminación cambie un archivo, se prepara y verifica una copia de recuperación; su journal vive en la carpeta Temp de la instalación, y la siguiente ejecución restaura primero una transacción interrumpida. Una restauración con error se reporta, nunca se presenta como rollback. Un archivo bloqueado recibe cinco segundos de reintento y luego se nombra junto con el programa que lo tiene, que nunca se cierra por ti. Sólo se toma snapshot de los valores de registro propios de Tlamatini y de su acceso directo en el Escritorio.</a:t>
            </a:r>
          </a:p>
          <a:p/>
          <a:p>
            <a:r>
              <a:t>Son mecanismos de recuperación propios de un EXE, no transacciones MSI. En la campaña visible del 11-12 de octubre pasaron 52 puntos de revisión de la interfaz, 28 revisiones de recuperación, 21 revisiones de ciclo de vida y 61 pruebas de mecánica; cinco instalaciones reales y cuatro eliminaciones reales pasaron sus auditorías independientes. La quinta eliminación se detuvo de forma segura antes de borrar nada, porque un browser de prueba tenía tomado un archivo en la carpeta Temp de la instalación.</a:t>
            </a:r>
          </a:p>
          <a:p/>
          <a:p>
            <a:r>
              <a:t>Una ventana: Pantallas compartidas del Instalador y el Desinstalador que nunca recortan sus botones.</a:t>
            </a:r>
          </a:p>
          <a:p/>
          <a:p>
            <a:r>
              <a:t>Copia de recuperación: Preparada y verificada antes de cambiar cualquier archivo; restaurada después de una interrupción.</a:t>
            </a:r>
          </a:p>
          <a:p/>
          <a:p>
            <a:r>
              <a:t>Bloqueos con nombre: Se nombra un archivo bloqueado y a quien lo tiene; nada se cierra a la fuerza.</a:t>
            </a:r>
          </a:p>
          <a:p/>
          <a:p>
            <a:r>
              <a:t>Alcance propio: Sólo los valores de registro y el acceso directo de Tlamatini; nunca UserChoice.</a:t>
            </a:r>
          </a:p>
          <a:p/>
          <a:p>
            <a:r>
              <a:t>Helpers acotados: Los helpers de PowerShell terminan en 120 segundos dentro de un job de Windows.</a:t>
            </a:r>
          </a:p>
          <a:p/>
          <a:p>
            <a:r>
              <a:t>Conteo honesto: Pasaron cinco instalaciones y cuatro eliminaciones; una se detuvo de forma segura.</a:t>
            </a:r>
          </a:p>
        </p:txBody>
      </p:sp>
      <p:sp>
        <p:nvSpPr>
          <p:cNvPr id="4" name="Slide Number Placeholder 3"/>
          <p:cNvSpPr>
            <a:spLocks noGrp="1"/>
          </p:cNvSpPr>
          <p:nvPr>
            <p:ph type="sldNum" idx="5" sz="quarter"/>
          </p:nvPr>
        </p:nvSpPr>
        <p:spPr/>
      </p:sp>
    </p:spTree>
  </p:cSld>
  <p:clrMapOvr>
    <a:masterClrMapping/>
  </p:clrMapOvr>
</p:notes>
</file>

<file path=ppt/notesSlides/notesSlide5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reparaciones del 4 de octubre, que ahora lleva v1.76.0, tienen evidencia aparte del source, del congelado, del paquete y visual.</a:t>
            </a:r>
          </a:p>
          <a:p/>
          <a:p>
            <a:r>
              <a:t>La campaña visible revisa el instalador real, las asociaciones de Windows, la apertura autenticada de archivos, la administración, el chat principal y ambos paneles de flows. También compara varios comentarios enriquecidos a lo largo de escrituras y lecturas repetidas de archivos, ejecuta agents locales y audita los workers propios después del apagado. Que se abra un diálogo de configuración no prueba que un agent de hardware o de servicio externo se haya ejecutado con éxito.</a:t>
            </a:r>
          </a:p>
          <a:p/>
          <a:p>
            <a:r>
              <a:t>System-Metrics y Files-Search ahora respetan la configuración efectiva y los puertos no predeterminados, incluidos los archivos UTF-8 con BOM. Los lectores de seguridad de paths y de la cadena del chat aceptan la misma codificación sin debilitar los límites de directorio. Las dos cadenas de contexto auxiliares usan los mismos paths y endpoints efectivos; los sockets del sistema se cierran después de cada solicitud y los RPC de archivos tienen plazos. Parametrizer restaura las conexiones cuando un archivo guardado contiene mapeos sin listas explícitas de conexiones. Los agents sin modelo evitan lecturas no relacionadas de la configuración de modelos. Los identificadores numéricos de mensajería conservan el mismo contrato de cadena/entero en las plantillas públicas y con llaves.</a:t>
            </a:r>
          </a:p>
          <a:p/>
          <a:p>
            <a:r>
              <a:t>Una solicitud de embedding rechazada debe hacer que el flow falle antes de su siguiente operación. El proveedor de la campaña devolvió HTTP 401; esto se registra como una capacidad bloqueada con un camino de error probado. El tool de control del escritorio también bloqueó el arranque del desinstalador compilado. Las pruebas de limpieza del backend no certifican sus pantallas nativas de confirmación y de término, que no se observaron.</a:t>
            </a:r>
          </a:p>
          <a:p/>
          <a:p>
            <a:r>
              <a:t>Los resultados detallados y los intentos con error que se conservaron están en docs/changes/2026-10-04-release-validation.md. El perfil de revisión que pidió Angela lista cada archivo cambiado y cada segmento de código. El trabajo se hizo commit el 4 de octubre y lo lleva el tag v1.76.0.</a:t>
            </a:r>
          </a:p>
          <a:p/>
          <a:p>
            <a:r>
              <a:t>Caminos reales del usuario: Instalador, inicio de sesión, Admin, chat, ambos paneles y apertura de archivos en Windows.</a:t>
            </a:r>
          </a:p>
          <a:p/>
          <a:p>
            <a:r>
              <a:t>Fidelidad de archivos: Estilos mezclados, geometría y texto renderizado revisados en ciclos de guardar/abrir.</a:t>
            </a:r>
          </a:p>
          <a:p/>
          <a:p>
            <a:r>
              <a:t>Fronteras del runtime: Endpoints de MCP configurados, valores predeterminados de agents, mapeos y tipos de identificadores.</a:t>
            </a:r>
          </a:p>
          <a:p/>
          <a:p>
            <a:r>
              <a:t>Límites explícitos: El error del proveedor y el arranque nativo bloqueado se quedan visibles en el veredicto.</a:t>
            </a:r>
          </a:p>
        </p:txBody>
      </p:sp>
      <p:sp>
        <p:nvSpPr>
          <p:cNvPr id="4" name="Slide Number Placeholder 3"/>
          <p:cNvSpPr>
            <a:spLocks noGrp="1"/>
          </p:cNvSpPr>
          <p:nvPr>
            <p:ph type="sldNum" idx="5" sz="quarter"/>
          </p:nvPr>
        </p:nvSpPr>
        <p:spPr/>
      </p:sp>
    </p:spTree>
  </p:cSld>
  <p:clrMapOvr>
    <a:masterClrMapping/>
  </p:clrMapOvr>
</p:notes>
</file>

<file path=ppt/notesSlides/notesSlide5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Arrastra el divisor horizontal sobre Output de la ejecución para darle del 5% al 95% de la altura disponible del panel.</a:t>
            </a:r>
          </a:p>
          <a:p/>
          <a:p>
            <a:r>
              <a:t>El porcentaje usa la altura combinada del canvas y del output, sin contar encabezados, la franja de status ni el divisor. La asignación inicial es 20%. El canvas y el Output de la ejecución conservan cada uno su propia barra de desplazamiento. Mover el divisor conserva el zoom del canvas, las dimensiones de los nodos y el tamaño del texto. La Barra de operaciones conserva su control aparte de tamaño horizontal.</a:t>
            </a:r>
          </a:p>
          <a:p/>
          <a:p>
            <a:r>
              <a:t>Llega al divisor con Tab y usa Arriba/Abajo para un punto porcentual, o Shift+Arriba/Abajo para cinco. Inicio elige 5% y Fin elige 95%. Escape termina un arrastre. Haz clic en el encabezado de Output de la ejecución para colapsarlo. Al volver a abrirlo se restaura la altura elegida, y cambiar el tamaño de la ventana conserva la proporción.</a:t>
            </a:r>
          </a:p>
          <a:p/>
          <a:p>
            <a:r>
              <a:t>El browser recuerda la altura del output por usuario con sesión iniciada. Esta preferencia de distribución no modifica un archivo de flow, no marca el diagrama como editado ni agrega un paso de Deshacer. Cambiar el tamaño del panel también deja sin cambio la ejecución y su output.</a:t>
            </a:r>
          </a:p>
        </p:txBody>
      </p:sp>
      <p:sp>
        <p:nvSpPr>
          <p:cNvPr id="4" name="Slide Number Placeholder 3"/>
          <p:cNvSpPr>
            <a:spLocks noGrp="1"/>
          </p:cNvSpPr>
          <p:nvPr>
            <p:ph type="sldNum" idx="5" sz="quarter"/>
          </p:nvPr>
        </p:nvSpPr>
        <p:spPr/>
      </p:sp>
    </p:spTree>
  </p:cSld>
  <p:clrMapOvr>
    <a:masterClrMapping/>
  </p:clrMapOvr>
</p:notes>
</file>

<file path=ppt/notesSlides/notesSlide5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El Catálogo de prompts se abre con 16 secciones; cada una empieza con un asistente guiado Paso a paso y crece de lo simple a lo avanzado.</a:t>
            </a:r>
          </a:p>
          <a:p/>
          <a:p>
            <a:r>
              <a:t>Secciones: Comandos de voz, Primeros pasos, Archivos y búsqueda, Correr y ejecutar, Código y generación de proyectos, Documentos y PDF, Imágenes y visión, Agents y Flows, ACPX, Skills y MCPs, Automatización del escritorio, Juegos y 3D, Firmware e IoT, Seguridad y reconocimiento, Mensajería y contactos, Multimedia y voz, Más. VOICE COMMANDS va primero, porque hablar es la forma más corta de usarla: tú hablas, Whisperer transcribe y la transcripción se vuelve el prompt. Estos workflows del catálogo usan el tool wrapped mediado por el modelo y los modos propios de cada tarjeta; son distintos del botón directo de micrófono junto a Enviar.</a:t>
            </a:r>
          </a:p>
          <a:p/>
          <a:p>
            <a:r>
              <a:t>Las insignias de modo de cada tarjeta se derivan del texto mismo del prompt, y hacer clic en una tarjeta pone los interruptores de la barra de herramientas exactamente en esos modos. Todos los prompts usan una sola gramática, así que siempre queda claro de quién es cada espacio en blanco.</a:t>
            </a:r>
          </a:p>
        </p:txBody>
      </p:sp>
      <p:sp>
        <p:nvSpPr>
          <p:cNvPr id="4" name="Slide Number Placeholder 3"/>
          <p:cNvSpPr>
            <a:spLocks noGrp="1"/>
          </p:cNvSpPr>
          <p:nvPr>
            <p:ph type="sldNum" idx="5" sz="quarter"/>
          </p:nvPr>
        </p:nvSpPr>
        <p:spPr/>
      </p:sp>
    </p:spTree>
  </p:cSld>
  <p:clrMapOvr>
    <a:masterClrMapping/>
  </p:clrMapOvr>
</p:notes>
</file>

<file path=ppt/notesSlides/notesSlide5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Abre un PDF junto al chat en un visor Mozilla PDF.js incluido, y luego úsalo como contexto.</a:t>
            </a:r>
          </a:p>
          <a:p/>
          <a:p>
            <a:r>
              <a:t>Leer no sube nada ni llama a ningún modelo: el visor lee rangos de bytes directo de tu disco, así que del lado de Tlamatini no hay límite de tamaño ni de páginas. La selección de texto, la navegación, el zoom, el ajuste, la rotación y las contraseñas dentro del visor se comportan como esperas; Copiar toma el texto de todas las páginas y Guardar como devuelve los bytes originales.</a:t>
            </a:r>
          </a:p>
          <a:p/>
          <a:p>
            <a:r>
              <a:t>Usar como contexto hace primero una pregunta: ¿Procesar imágenes? Empieza sin marcar cada vez, y nada corre hasta que presionas Continuar. Sin marcar, ella lee sólo el texto seleccionable. Marcada, ella también renderiza cada página y analiza cada imagen incrustada con Image-Interpreter. El progreso es honesto, Cancelar de verdad cancela, y los errores parciales de imágenes se reportan, no se esconden. Una contraseña de PDF se usa sólo en memoria: nunca se escribe a disco, al texto del contexto ni al log.</a:t>
            </a:r>
          </a:p>
          <a:p/>
          <a:p>
            <a:r>
              <a:t>Una segunda cuenta que inicia sesión desde el mismo browser toma todas las pestañas abiertas, mientras que un chat abierto conserva su primera cuenta, así que la carga se rechaza. Desde v1.76.0 el mensaje nombra esa causa y el arreglo, recargar con F5; el encabezado regresa y el diálogo de progreso marca el paso con error.</a:t>
            </a:r>
          </a:p>
        </p:txBody>
      </p:sp>
      <p:sp>
        <p:nvSpPr>
          <p:cNvPr id="4" name="Slide Number Placeholder 3"/>
          <p:cNvSpPr>
            <a:spLocks noGrp="1"/>
          </p:cNvSpPr>
          <p:nvPr>
            <p:ph type="sldNum" idx="5" sz="quarter"/>
          </p:nvPr>
        </p:nvSpPr>
        <p:spPr/>
      </p:sp>
    </p:spTree>
  </p:cSld>
  <p:clrMapOvr>
    <a:masterClrMapping/>
  </p:clrMapOvr>
</p:notes>
</file>

<file path=ppt/notesSlides/notesSlide5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Abre o suelta un archivo .md y el canvas lo renderiza; Source abre el documento editable.</a:t>
            </a:r>
          </a:p>
          <a:p/>
          <a:p>
            <a:r>
              <a:t>Abrir, Actualizar, un archivo soltado, un link a un archivo generado y Contexto ▸ Usar archivo como contexto reconocen .md y .markdown. La vista previa renderiza CommonMark y Markdown al estilo GitHub: encabezados, tablas, listas de tareas, código cercado con el resaltador existente y HTML incrustado seguro, como los detalles desplegables. Source edita el texto actual con números de línea.</a:t>
            </a:r>
          </a:p>
          <a:p/>
          <a:p>
            <a:r>
              <a:t>El renderizado es local: Marked 18.1.0 y DOMPurify 3.4.16 van incluidos con integridad fija, así que nada se trae de un CDN. El sanitizador usa listas permitidas de HTML y atributos, delimita los ids y restringe los protocolos de recursos. Elegir carpeta resuelve las imágenes y los links relativos desde archivos que seleccionas; se quedan en tu equipo, y una URL relativa nunca llega a un endpoint de la aplicación.</a:t>
            </a:r>
          </a:p>
          <a:p/>
          <a:p>
            <a:r>
              <a:t>Copiar, Usar como contexto y Guardar siempre toman el source en Markdown, nunca la vista previa aplanada; guardar sin editar conserva los bytes originales; las ediciones conservan la codificación/BOM y los saltos de línea. La vista previa salió en v1.82.0 y se revisó el 11 de octubre con 30 de 30 puntos de revisión visibles en el browser.</a:t>
            </a:r>
          </a:p>
        </p:txBody>
      </p:sp>
      <p:sp>
        <p:nvSpPr>
          <p:cNvPr id="4" name="Slide Number Placeholder 3"/>
          <p:cNvSpPr>
            <a:spLocks noGrp="1"/>
          </p:cNvSpPr>
          <p:nvPr>
            <p:ph type="sldNum" idx="5" sz="quarter"/>
          </p:nvPr>
        </p:nvSpPr>
        <p:spPr/>
      </p:sp>
    </p:spTree>
  </p:cSld>
  <p:clrMapOvr>
    <a:masterClrMapping/>
  </p:clrMapOvr>
</p:notes>
</file>

<file path=ppt/notesSlides/notesSlide6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Un solo listener en cada página lee cada archivo soltado y lo envía al mecanismo que le corresponde.</a:t>
            </a:r>
          </a:p>
          <a:p/>
          <a:p>
            <a:r>
              <a:t>Arrastra un archivo desde el Explorador de Windows al chat, al Agentic Control Panel, al Prompt Flow Panel, a las páginas de bienvenida y de inicio de sesión, a las páginas de admin o al visor de PDF. Un pequeño overlay dice qué va a pasar en esa página. El listener sólo toma arrastres de archivos, así que el texto que arrastras, como el nombre de un agent o un elemento de la paleta, nunca se toca, y lo que sueltas sobre un input de archivo se le deja al browser.</a:t>
            </a:r>
          </a:p>
          <a:p/>
          <a:p>
            <a:r>
              <a:t>Decide por los bytes, no por el nombre: la extensión, el tipo MIME, los números mágicos, una prueba de texto o binario que reconoce la marca de orden de bytes y un parseo real de JSON que reconoce una configuración de MCP en todas las formas comunes, incluidos los archivos UTF-16 de PowerShell. Un mapa simple de nombres a servidores cuenta sólo cuando todos los valores son servidores, así que el JSON común nunca se secuestra. Una importación de MCP nunca es silenciosa: una confirmación lista los servidores y avisa que pueden arrancar programas en esta computadora.</a:t>
            </a:r>
          </a:p>
          <a:p/>
          <a:p>
            <a:r>
              <a:t>Cada página le dice al listener qué puede hacer, y el mismo registro escribe el overlay de arrastre. Hasta 25 archivos a la vez; no se puede soltar una carpeta porque los browsers no revelan su path. Salió en v1.83.0 y se revisó el 14 de octubre con 138 revisiones del router, 22 pruebas nuevas y 58 revisiones visibles en el browser.</a:t>
            </a:r>
          </a:p>
        </p:txBody>
      </p:sp>
      <p:sp>
        <p:nvSpPr>
          <p:cNvPr id="4" name="Slide Number Placeholder 3"/>
          <p:cNvSpPr>
            <a:spLocks noGrp="1"/>
          </p:cNvSpPr>
          <p:nvPr>
            <p:ph type="sldNum" idx="5" sz="quarter"/>
          </p:nvPr>
        </p:nvSpPr>
        <p:spPr/>
      </p:sp>
    </p:spTree>
  </p:cSld>
  <p:clrMapOvr>
    <a:masterClrMapping/>
  </p:clrMapOvr>
</p:notes>
</file>

<file path=ppt/notesSlides/notesSlide6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El diálogo Modelos expone 38 configuraciones de modelo, motor y voz para los servicios principales y 21 agents con modelo, en seis categorías con búsqueda.</a:t>
            </a:r>
          </a:p>
          <a:p/>
          <a:p>
            <a:r>
              <a:t>Categorías: Principales 7, Visión 7, Voz 7, Flujos de trabajo 6, Documentos 5, Monitoreo y mensajería 6. Guardar envía todos los valores, conserva la configuración no relacionada y no descarga nada. Reconecta el chat para reconstruir sus clientes; los agents toman una elección en su siguiente carga de configuración. La lista de modelos viene de los servidores de Ollama configurados, consultados por el backend con su token, así que se ofrecen y se aceptan los modelos de un servidor remoto. Desde v1.76.0 Guardar también abre el diálogo de Autoajuste del Model Brain, que ajusta cada modelo configurado frente a ti y nombra la fuente de cada valor.</a:t>
            </a:r>
          </a:p>
          <a:p/>
          <a:p>
            <a:r>
              <a:t>Las plantillas de agents marcadas "@config" siguen la elección global, mientras que un valor literal en un workflow sigue siendo un override explícito. Los arranques de chat wrapped siembran las elecciones globales antes de cualquier argumento explícito del tool, y el build congelado prueba que cada cargador de modelos corre antes de empaquetar.</a:t>
            </a:r>
          </a:p>
        </p:txBody>
      </p:sp>
      <p:sp>
        <p:nvSpPr>
          <p:cNvPr id="4" name="Slide Number Placeholder 3"/>
          <p:cNvSpPr>
            <a:spLocks noGrp="1"/>
          </p:cNvSpPr>
          <p:nvPr>
            <p:ph type="sldNum" idx="5" sz="quarter"/>
          </p:nvPr>
        </p:nvSpPr>
        <p:spPr/>
      </p:sp>
    </p:spTree>
  </p:cSld>
  <p:clrMapOvr>
    <a:masterClrMapping/>
  </p:clrMapOvr>
</p:notes>
</file>

<file path=ppt/notesSlides/notesSlide6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El chat, ambos paneles, el inicio de sesión, la bienvenida, Uso, el visor de PDF y las páginas de admin comparten una identidad.</a:t>
            </a:r>
          </a:p>
          <a:p/>
          <a:p>
            <a:r>
              <a:t>Un solo juego de design tokens define las superficies de pizarra, el acento verde azulado, el texto legible, los bordes, las fuentes y las barras de desplazamiento de cada página propia, incluido un admin de Django con tema que conserva sus modos claro, oscuro y automático. Los colores de los diálogos siguen los mismos tokens, y el tema de los diálogos siempre se carga al final.</a:t>
            </a:r>
          </a:p>
          <a:p/>
          <a:p>
            <a:r>
              <a:t>Los cinco divisores de paneles comparten una manija y un modelo de gestos: captura del puntero, flechas para un por ciento, Shift para cinco, Inicio y Fin, y una cancelación limpia con Escape, al perder el foco o al perder el puntero. Los diálogos que cambian de tamaño aceptan los ocho bordes y esquinas y el teclado, y un modal ya no se puede deslizar debajo del menú expandido con zoom de 400 por ciento.</a:t>
            </a:r>
          </a:p>
          <a:p/>
          <a:p>
            <a:r>
              <a:t>Tokens compartidos: Una paleta, un juego de fuentes y un estilo de barra de desplazamiento para todas las páginas.</a:t>
            </a:r>
          </a:p>
          <a:p/>
          <a:p>
            <a:r>
              <a:t>Cinco divisores: Una manija, un modelo de teclado, una cancelación limpia.</a:t>
            </a:r>
          </a:p>
          <a:p/>
          <a:p>
            <a:r>
              <a:t>Diálogos: Ocho direcciones de cambio de tamaño, cambio de tamaño con teclado, botones que combinan.</a:t>
            </a:r>
          </a:p>
          <a:p/>
          <a:p>
            <a:r>
              <a:t>Zoom alto: Un modal se queda arriba del menú al 400 por ciento.</a:t>
            </a:r>
          </a:p>
          <a:p/>
          <a:p>
            <a:r>
              <a:t>Evidencia: 175 pruebas del source y revisiones visibles pasaron el 11 de octubre.</a:t>
            </a:r>
          </a:p>
        </p:txBody>
      </p:sp>
      <p:sp>
        <p:nvSpPr>
          <p:cNvPr id="4" name="Slide Number Placeholder 3"/>
          <p:cNvSpPr>
            <a:spLocks noGrp="1"/>
          </p:cNvSpPr>
          <p:nvPr>
            <p:ph type="sldNum" idx="5" sz="quarter"/>
          </p:nvPr>
        </p:nvSpPr>
        <p:spPr/>
      </p:sp>
    </p:spTree>
  </p:cSld>
  <p:clrMapOvr>
    <a:masterClrMapping/>
  </p:clrMapOvr>
</p:notes>
</file>

<file path=ppt/notesSlides/notesSlide6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 configuración, las credenciales, las bases de datos y las actualizaciones se manejan desde el browser.</a:t>
            </a:r>
          </a:p>
          <a:p/>
          <a:p>
            <a:r>
              <a:t>Access Keys Wizard: Un lugar guiado para las llaves de los proveedores; los campos en blanco conservan lo que ya está.</a:t>
            </a:r>
          </a:p>
          <a:p/>
          <a:p>
            <a:r>
              <a:t>Contactos: Los nombres se resuelven a direcciones, teléfonos y @usernames para los agents de mensajería.</a:t>
            </a:r>
          </a:p>
          <a:p/>
          <a:p>
            <a:r>
              <a:t>Menú DB: Backup seguro con WAL, y una base de datos verificada preparada para el siguiente arranque.</a:t>
            </a:r>
          </a:p>
          <a:p/>
          <a:p>
            <a:r>
              <a:t>Externos ▸ MCPs: Busca en el catálogo, activa hasta cinco servidores, instala runtimes.</a:t>
            </a:r>
          </a:p>
          <a:p/>
          <a:p>
            <a:r>
              <a:t>ACPX-Skills: Examina, habilita, diagnostica y recarga skills.</a:t>
            </a:r>
          </a:p>
          <a:p/>
          <a:p>
            <a:r>
              <a:t>Buscar actualizaciones: Prepara el último release publicado y lo cambia de forma segura.</a:t>
            </a:r>
          </a:p>
        </p:txBody>
      </p:sp>
      <p:sp>
        <p:nvSpPr>
          <p:cNvPr id="4" name="Slide Number Placeholder 3"/>
          <p:cNvSpPr>
            <a:spLocks noGrp="1"/>
          </p:cNvSpPr>
          <p:nvPr>
            <p:ph type="sldNum" idx="5" sz="quarter"/>
          </p:nvPr>
        </p:nvSpPr>
        <p:spPr/>
      </p:sp>
    </p:spTree>
  </p:cSld>
  <p:clrMapOvr>
    <a:masterClrMapping/>
  </p:clrMapOvr>
</p:notes>
</file>

<file path=ppt/notesSlides/notesSlide6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 configuración, las credenciales, las bases de datos y las actualizaciones se manejan desde el browser.</a:t>
            </a:r>
          </a:p>
          <a:p/>
          <a:p>
            <a:r>
              <a:t>Access Keys Wizard: Un lugar guiado para las llaves de los proveedores; los campos en blanco conservan lo que ya está.</a:t>
            </a:r>
          </a:p>
          <a:p/>
          <a:p>
            <a:r>
              <a:t>Contactos: Los nombres se resuelven a direcciones, teléfonos y @usernames para los agents de mensajería.</a:t>
            </a:r>
          </a:p>
          <a:p/>
          <a:p>
            <a:r>
              <a:t>Menú DB: Backup seguro con WAL, y una base de datos verificada preparada para el siguiente arranque.</a:t>
            </a:r>
          </a:p>
          <a:p/>
          <a:p>
            <a:r>
              <a:t>Externos ▸ MCPs: Busca en el catálogo, activa hasta cinco servidores, instala runtimes.</a:t>
            </a:r>
          </a:p>
          <a:p/>
          <a:p>
            <a:r>
              <a:t>ACPX-Skills: Examina, habilita, diagnostica y recarga skills.</a:t>
            </a:r>
          </a:p>
          <a:p/>
          <a:p>
            <a:r>
              <a:t>Buscar actualizaciones: Prepara el último release publicado y lo cambia de forma segura.</a:t>
            </a:r>
          </a:p>
        </p:txBody>
      </p:sp>
      <p:sp>
        <p:nvSpPr>
          <p:cNvPr id="4" name="Slide Number Placeholder 3"/>
          <p:cNvSpPr>
            <a:spLocks noGrp="1"/>
          </p:cNvSpPr>
          <p:nvPr>
            <p:ph type="sldNum" idx="5" sz="quarter"/>
          </p:nvPr>
        </p:nvSpPr>
        <p:spPr/>
      </p:sp>
    </p:spTree>
  </p:cSld>
  <p:clrMapOvr>
    <a:masterClrMapping/>
  </p:clrMapOvr>
</p:notes>
</file>

<file path=ppt/notesSlides/notesSlide6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Capítulo IV: El Bestiario. 86 tipos de agent en doce familias. Cada uno es un programa en Python simple que puedes leer, auditar y cambiar.</a:t>
            </a:r>
          </a:p>
        </p:txBody>
      </p:sp>
      <p:sp>
        <p:nvSpPr>
          <p:cNvPr id="4" name="Slide Number Placeholder 3"/>
          <p:cNvSpPr>
            <a:spLocks noGrp="1"/>
          </p:cNvSpPr>
          <p:nvPr>
            <p:ph type="sldNum" idx="5" sz="quarter"/>
          </p:nvPr>
        </p:nvSpPr>
        <p:spPr/>
      </p:sp>
    </p:spTree>
  </p:cSld>
  <p:clrMapOvr>
    <a:masterClrMapping/>
  </p:clrMapOvr>
</p:notes>
</file>

<file path=ppt/notesSlides/notesSlide6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Cada agent sigue un mismo esqueleto: un directorio de plantilla, un config.yaml, una copia en el pool con alcance de sesión, archivos PID y de log, y conexiones explícitas de origen y de destino.</a:t>
            </a:r>
          </a:p>
          <a:p/>
          <a:p>
            <a:r>
              <a:t>67 de ellos también corren desde el chat como tools wrapped chat_agent_*, cada uno en su propia carpeta de runtime aislada. Cada agent wrapped aparece automáticamente en el Exec Report, y cada uno incluye al menos un prompt de ejemplo en el catálogo.</a:t>
            </a:r>
          </a:p>
          <a:p/>
          <a:p>
            <a:r>
              <a:t>Los nombres para mostrar conservan su uso exacto de mayúsculas tal como se diseñó: STM32er, PDFer, LaTeXer, ACPXer; mientras que los directorios, los pools y las clases de estilo usan formas en minúsculas.</a:t>
            </a:r>
          </a:p>
        </p:txBody>
      </p:sp>
      <p:sp>
        <p:nvSpPr>
          <p:cNvPr id="4" name="Slide Number Placeholder 3"/>
          <p:cNvSpPr>
            <a:spLocks noGrp="1"/>
          </p:cNvSpPr>
          <p:nvPr>
            <p:ph type="sldNum" idx="5" sz="quarter"/>
          </p:nvPr>
        </p:nvSpPr>
        <p:spPr/>
      </p:sp>
    </p:spTree>
  </p:cSld>
  <p:clrMapOvr>
    <a:masterClrMapping/>
  </p:clrMapOvr>
</p:notes>
</file>

<file path=ppt/notesSlides/notesSlide6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Inicia, pausa, agenda y termina un flow.</a:t>
            </a:r>
          </a:p>
          <a:p/>
          <a:p>
            <a:r>
              <a:t>Starter: El punto de entrada de cada flow; lanza sus targets cuando presionas Iniciar.</a:t>
            </a:r>
          </a:p>
          <a:p/>
          <a:p>
            <a:r>
              <a:t>Ender: Termina un flow con gracia: mata sus targets, luego inicia los backups y los cleaners.</a:t>
            </a:r>
          </a:p>
          <a:p/>
          <a:p>
            <a:r>
              <a:t>Stopper: Vigila los logs buscando un pattern y detiene exactamente esos source agents.</a:t>
            </a:r>
          </a:p>
          <a:p/>
          <a:p>
            <a:r>
              <a:t>Cleaner: Conserje de post-ejecución que quita los logs y los archivos PID de los agents terminados.</a:t>
            </a:r>
          </a:p>
          <a:p/>
          <a:p>
            <a:r>
              <a:t>Sleeper: Espera una cantidad configurada de milisegundos, luego inicia sus targets.</a:t>
            </a:r>
          </a:p>
          <a:p/>
          <a:p>
            <a:r>
              <a:t>Croner: Un disparador de reloj diario que inicia sus targets a una hora HH:MM configurada.</a:t>
            </a:r>
          </a:p>
        </p:txBody>
      </p:sp>
      <p:sp>
        <p:nvSpPr>
          <p:cNvPr id="4" name="Slide Number Placeholder 3"/>
          <p:cNvSpPr>
            <a:spLocks noGrp="1"/>
          </p:cNvSpPr>
          <p:nvPr>
            <p:ph type="sldNum" idx="5" sz="quarter"/>
          </p:nvPr>
        </p:nvSpPr>
        <p:spPr/>
      </p:sp>
    </p:spTree>
  </p:cSld>
  <p:clrMapOvr>
    <a:masterClrMapping/>
  </p:clrMapOvr>
</p:notes>
</file>

<file path=ppt/notesSlides/notesSlide6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Deciden a dónde va el flow después.</a:t>
            </a:r>
          </a:p>
          <a:p/>
          <a:p>
            <a:r>
              <a:t>Raiser: Dispara sus targets en el momento en que aparece un pattern en un log vigilado.</a:t>
            </a:r>
          </a:p>
          <a:p/>
          <a:p>
            <a:r>
              <a:t>Forker: Ruteador A/B automático: el primero de dos patterns en aparecer elige el camino.</a:t>
            </a:r>
          </a:p>
          <a:p/>
          <a:p>
            <a:r>
              <a:t>Asker: Te pregunta en el chat que elijas el Camino A o el Camino B: un humano en el loop.</a:t>
            </a:r>
          </a:p>
          <a:p/>
          <a:p>
            <a:r>
              <a:t>Counter: Un conteo persistente que rutea por debajo, o en y por encima, de un umbral.</a:t>
            </a:r>
          </a:p>
          <a:p/>
          <a:p>
            <a:r>
              <a:t>AND: Compuerta de dos entradas que dispara cuando ambos sources han coincidido.</a:t>
            </a:r>
          </a:p>
          <a:p/>
          <a:p>
            <a:r>
              <a:t>OR: Compuerta de dos entradas que dispara en cuanto cualquiera de los dos sources coincide.</a:t>
            </a:r>
          </a:p>
          <a:p/>
          <a:p>
            <a:r>
              <a:t>Barrier: Fan-in de N entradas que se libera cuando ha llegado cada source configurado.</a:t>
            </a:r>
          </a:p>
        </p:txBody>
      </p:sp>
      <p:sp>
        <p:nvSpPr>
          <p:cNvPr id="4" name="Slide Number Placeholder 3"/>
          <p:cNvSpPr>
            <a:spLocks noGrp="1"/>
          </p:cNvSpPr>
          <p:nvPr>
            <p:ph type="sldNum" idx="5" sz="quarter"/>
          </p:nvPr>
        </p:nvSpPr>
        <p:spPr/>
      </p:sp>
    </p:spTree>
  </p:cSld>
  <p:clrMapOvr>
    <a:masterClrMapping/>
  </p:clrMapOvr>
</p:notes>
</file>

<file path=ppt/notesSlides/notesSlide6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Diseña, conecta, supervisa y razona.</a:t>
            </a:r>
          </a:p>
          <a:p/>
          <a:p>
            <a:r>
              <a:t>Parametrizer: Mapea el output estructurado de un agent hacia la configuración del siguiente agent.</a:t>
            </a:r>
          </a:p>
          <a:p/>
          <a:p>
            <a:r>
              <a:t>FlowCreator: Diseña un workflow .flw completo y validado a partir de un objetivo simple.</a:t>
            </a:r>
          </a:p>
          <a:p/>
          <a:p>
            <a:r>
              <a:t>FlowHypervisor: Un watchdog de modelo que lee un flow en ejecución: OK o ATTENTION NEEDED.</a:t>
            </a:r>
          </a:p>
          <a:p/>
          <a:p>
            <a:r>
              <a:t>FlowBacker: Hace backup de los logs y las configuraciones de una sesión antes de la limpieza.</a:t>
            </a:r>
          </a:p>
          <a:p/>
          <a:p>
            <a:r>
              <a:t>Prompter: Envía un prompt a un modelo y registra una respuesta estructurada.</a:t>
            </a:r>
          </a:p>
          <a:p/>
          <a:p>
            <a:r>
              <a:t>Summarizer: Resume el texto una vez, o vigila los logs y dispara ante un evento detectado.</a:t>
            </a:r>
          </a:p>
          <a:p/>
          <a:p>
            <a:r>
              <a:t>ACPXer: Ejecuta un turno de un CLI de coding-agent externo en el canvas y captura su respuesta.</a:t>
            </a:r>
          </a:p>
          <a:p/>
          <a:p>
            <a:r>
              <a:t>MCP Doctor: Diagnostica un servidor MCP externo en papel, antes de cualquier conexión en vivo.</a:t>
            </a:r>
          </a:p>
        </p:txBody>
      </p:sp>
      <p:sp>
        <p:nvSpPr>
          <p:cNvPr id="4" name="Slide Number Placeholder 3"/>
          <p:cNvSpPr>
            <a:spLocks noGrp="1"/>
          </p:cNvSpPr>
          <p:nvPr>
            <p:ph type="sldNum" idx="5" sz="quarter"/>
          </p:nvPr>
        </p:nvSpPr>
        <p:spPr/>
      </p:sp>
    </p:spTree>
  </p:cSld>
  <p:clrMapOvr>
    <a:masterClrMapping/>
  </p:clrMapOvr>
</p:notes>
</file>

<file path=ppt/notesSlides/notesSlide7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Encuentra, lee, cambia y ejecuta.</a:t>
            </a:r>
          </a:p>
          <a:p/>
          <a:p>
            <a:r>
              <a:t>Executer: Ejecuta un comando de shell, opcionalmente en su propia consola visible.</a:t>
            </a:r>
          </a:p>
          <a:p/>
          <a:p>
            <a:r>
              <a:t>Pythonxer: Ejecuta Python inline detrás de una compuerta de corrección con compile() y Ruff.</a:t>
            </a:r>
          </a:p>
          <a:p/>
          <a:p>
            <a:r>
              <a:t>Terminater: Escribe comandos en una terminal real de CMD o PowerShell que el usuario observa, y puede entregar el teclado.</a:t>
            </a:r>
          </a:p>
          <a:p/>
          <a:p>
            <a:r>
              <a:t>Editor: Buscar-y-reemplazar byte-exacto en un archivo; rechaza una coincidencia ambigua.</a:t>
            </a:r>
          </a:p>
          <a:p/>
          <a:p>
            <a:r>
              <a:t>Grepper: Búsqueda regex consciente de la codificación, más lecturas literales de un rango de líneas.</a:t>
            </a:r>
          </a:p>
          <a:p/>
          <a:p>
            <a:r>
              <a:t>Globber: Encuentra archivos por glob pattern, del más nuevo al más viejo.</a:t>
            </a:r>
          </a:p>
          <a:p/>
          <a:p>
            <a:r>
              <a:t>File-Creator: Crea un archivo con contenido exacto, incluyendo un canal base64.</a:t>
            </a:r>
          </a:p>
          <a:p/>
          <a:p>
            <a:r>
              <a:t>Mover: Mueve o copia archivos por glob pattern.</a:t>
            </a:r>
          </a:p>
          <a:p/>
          <a:p>
            <a:r>
              <a:t>Deleter: Elimina por glob dentro de un directorio de trabajo protegido.</a:t>
            </a:r>
          </a:p>
          <a:p/>
          <a:p>
            <a:r>
              <a:t>File-Interpreter: Lee DOCX, PPTX, XLSX, PDF y más, opcionalmente resumiéndolos.</a:t>
            </a:r>
          </a:p>
          <a:p/>
          <a:p>
            <a:r>
              <a:t>File-Extractor: Extrae texto crudo de PDF, DOCX y documentos similares.</a:t>
            </a:r>
          </a:p>
          <a:p/>
          <a:p>
            <a:r>
              <a:t>De-Compresser: Comprime o descomprime archivos .zip, .7z, .gz y tar.</a:t>
            </a:r>
          </a:p>
          <a:p/>
          <a:p>
            <a:r>
              <a:t>J-Decompiler: Descompila archivos JAR y WAR con el jd-cli incluido.</a:t>
            </a:r>
          </a:p>
          <a:p/>
          <a:p>
            <a:r>
              <a:t>Gitter: Ejecuta operaciones de git y comandos git personalizados.</a:t>
            </a:r>
          </a:p>
        </p:txBody>
      </p:sp>
      <p:sp>
        <p:nvSpPr>
          <p:cNvPr id="4" name="Slide Number Placeholder 3"/>
          <p:cNvSpPr>
            <a:spLocks noGrp="1"/>
          </p:cNvSpPr>
          <p:nvPr>
            <p:ph type="sldNum" idx="5" sz="quarter"/>
          </p:nvPr>
        </p:nvSpPr>
        <p:spPr/>
      </p:sp>
    </p:spTree>
  </p:cSld>
  <p:clrMapOvr>
    <a:masterClrMapping/>
  </p:clrMapOvr>
</p:notes>
</file>

<file path=ppt/notesSlides/notesSlide7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Encuentra, lee, cambia y ejecuta.</a:t>
            </a:r>
          </a:p>
          <a:p/>
          <a:p>
            <a:r>
              <a:t>Executer: Ejecuta un comando de shell, opcionalmente en su propia consola visible.</a:t>
            </a:r>
          </a:p>
          <a:p/>
          <a:p>
            <a:r>
              <a:t>Pythonxer: Ejecuta Python inline detrás de una compuerta de corrección con compile() y Ruff.</a:t>
            </a:r>
          </a:p>
          <a:p/>
          <a:p>
            <a:r>
              <a:t>Terminater: Escribe comandos en una terminal real de CMD o PowerShell que el usuario observa, y puede entregar el teclado.</a:t>
            </a:r>
          </a:p>
          <a:p/>
          <a:p>
            <a:r>
              <a:t>Editor: Buscar-y-reemplazar byte-exacto en un archivo; rechaza una coincidencia ambigua.</a:t>
            </a:r>
          </a:p>
          <a:p/>
          <a:p>
            <a:r>
              <a:t>Grepper: Búsqueda regex consciente de la codificación, más lecturas literales de un rango de líneas.</a:t>
            </a:r>
          </a:p>
          <a:p/>
          <a:p>
            <a:r>
              <a:t>Globber: Encuentra archivos por glob pattern, del más nuevo al más viejo.</a:t>
            </a:r>
          </a:p>
          <a:p/>
          <a:p>
            <a:r>
              <a:t>File-Creator: Crea un archivo con contenido exacto, incluyendo un canal base64.</a:t>
            </a:r>
          </a:p>
          <a:p/>
          <a:p>
            <a:r>
              <a:t>Mover: Mueve o copia archivos por glob pattern.</a:t>
            </a:r>
          </a:p>
          <a:p/>
          <a:p>
            <a:r>
              <a:t>Deleter: Elimina por glob dentro de un directorio de trabajo protegido.</a:t>
            </a:r>
          </a:p>
          <a:p/>
          <a:p>
            <a:r>
              <a:t>File-Interpreter: Lee DOCX, PPTX, XLSX, PDF y más, opcionalmente resumiéndolos.</a:t>
            </a:r>
          </a:p>
          <a:p/>
          <a:p>
            <a:r>
              <a:t>File-Extractor: Extrae texto crudo de PDF, DOCX y documentos similares.</a:t>
            </a:r>
          </a:p>
          <a:p/>
          <a:p>
            <a:r>
              <a:t>De-Compresser: Comprime o descomprime archivos .zip, .7z, .gz y tar.</a:t>
            </a:r>
          </a:p>
          <a:p/>
          <a:p>
            <a:r>
              <a:t>J-Decompiler: Descompila archivos JAR y WAR con el jd-cli incluido.</a:t>
            </a:r>
          </a:p>
          <a:p/>
          <a:p>
            <a:r>
              <a:t>Gitter: Ejecuta operaciones de git y comandos git personalizados.</a:t>
            </a:r>
          </a:p>
        </p:txBody>
      </p:sp>
      <p:sp>
        <p:nvSpPr>
          <p:cNvPr id="4" name="Slide Number Placeholder 3"/>
          <p:cNvSpPr>
            <a:spLocks noGrp="1"/>
          </p:cNvSpPr>
          <p:nvPr>
            <p:ph type="sldNum" idx="5" sz="quarter"/>
          </p:nvPr>
        </p:nvSpPr>
        <p:spPr/>
      </p:sp>
    </p:spTree>
  </p:cSld>
  <p:clrMapOvr>
    <a:masterClrMapping/>
  </p:clrMapOvr>
</p:notes>
</file>

<file path=ppt/notesSlides/notesSlide7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Componen, tipografían y presentan.</a:t>
            </a:r>
          </a:p>
          <a:p/>
          <a:p>
            <a:r>
              <a:t>PDFer: Compone PDFs a partir de texto, Markdown, HTML e imágenes: 24 estilos, 20 temas.</a:t>
            </a:r>
          </a:p>
          <a:p/>
          <a:p>
            <a:r>
              <a:t>PPTXer: Construye decks editables de PowerPoint cuyo texto se mide, nunca se trunca.</a:t>
            </a:r>
          </a:p>
          <a:p/>
          <a:p>
            <a:r>
              <a:t>LaTeXer: Tipografía proyectos de LaTeX, con una escalera de reparación auto-sanadora de ocho peldaños.</a:t>
            </a:r>
          </a:p>
        </p:txBody>
      </p:sp>
      <p:sp>
        <p:nvSpPr>
          <p:cNvPr id="4" name="Slide Number Placeholder 3"/>
          <p:cNvSpPr>
            <a:spLocks noGrp="1"/>
          </p:cNvSpPr>
          <p:nvPr>
            <p:ph type="sldNum" idx="5" sz="quarter"/>
          </p:nvPr>
        </p:nvSpPr>
        <p:spPr/>
      </p:sp>
    </p:spTree>
  </p:cSld>
  <p:clrMapOvr>
    <a:masterClrMapping/>
  </p:clrMapOvr>
</p:notes>
</file>

<file path=ppt/notesSlides/notesSlide7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Busca, navega, llama y mide.</a:t>
            </a:r>
          </a:p>
          <a:p/>
          <a:p>
            <a:r>
              <a:t>Googler: Búsqueda web resiliente de dos niveles con un constructor estructurado de Google-dorks.</a:t>
            </a:r>
          </a:p>
          <a:p/>
          <a:p>
            <a:r>
              <a:t>Crawler: Trae una página en crudo o como texto y la analiza con un modelo.</a:t>
            </a:r>
          </a:p>
          <a:p/>
          <a:p>
            <a:r>
              <a:t>Playwrighter: Maneja un browser real a través de pasos con script: inicia sesión, llena, hace clic, extrae.</a:t>
            </a:r>
          </a:p>
          <a:p/>
          <a:p>
            <a:r>
              <a:t>Apirer: Llama APIs REST con cualquier método, headers, body y timeout.</a:t>
            </a:r>
          </a:p>
          <a:p/>
          <a:p>
            <a:r>
              <a:t>SQLer: Ejecuta Python contra Microsoft SQL Server con un cursor listo.</a:t>
            </a:r>
          </a:p>
          <a:p/>
          <a:p>
            <a:r>
              <a:t>Mongoxer: Ejecuta Python contra MongoDB con un handle de base de datos listo.</a:t>
            </a:r>
          </a:p>
          <a:p/>
          <a:p>
            <a:r>
              <a:t>NetSpeed-Calculator: Mide tu conexión con intervalos de confianza y bufferbloat.</a:t>
            </a:r>
          </a:p>
        </p:txBody>
      </p:sp>
      <p:sp>
        <p:nvSpPr>
          <p:cNvPr id="4" name="Slide Number Placeholder 3"/>
          <p:cNvSpPr>
            <a:spLocks noGrp="1"/>
          </p:cNvSpPr>
          <p:nvPr>
            <p:ph type="sldNum" idx="5" sz="quarter"/>
          </p:nvPr>
        </p:nvSpPr>
        <p:spPr/>
      </p:sp>
    </p:spTree>
  </p:cSld>
  <p:clrMapOvr>
    <a:masterClrMapping/>
  </p:clrMapOvr>
</p:notes>
</file>

<file path=ppt/notesSlides/notesSlide7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Containers, clusters, pipelines y hosts.</a:t>
            </a:r>
          </a:p>
          <a:p/>
          <a:p>
            <a:r>
              <a:t>Dockerer: Un front-end de Docker y docker-compose.</a:t>
            </a:r>
          </a:p>
          <a:p/>
          <a:p>
            <a:r>
              <a:t>Kuberneter: Un front-end de kubectl con un resultado estructurado y veraz.</a:t>
            </a:r>
          </a:p>
          <a:p/>
          <a:p>
            <a:r>
              <a:t>Jenkinser: Dispara jobs de Jenkins, manejando el crumb de CSRF.</a:t>
            </a:r>
          </a:p>
          <a:p/>
          <a:p>
            <a:r>
              <a:t>SSHer: Ejecuta un comando en un host remoto por SSH.</a:t>
            </a:r>
          </a:p>
          <a:p/>
          <a:p>
            <a:r>
              <a:t>SCPer: Envía o recibe archivos por SCP.</a:t>
            </a:r>
          </a:p>
          <a:p/>
          <a:p>
            <a:r>
              <a:t>PSer: Encuentra un proceso en ejecución a partir de un nombre difuso con ayuda de un modelo.</a:t>
            </a:r>
          </a:p>
        </p:txBody>
      </p:sp>
      <p:sp>
        <p:nvSpPr>
          <p:cNvPr id="4" name="Slide Number Placeholder 3"/>
          <p:cNvSpPr>
            <a:spLocks noGrp="1"/>
          </p:cNvSpPr>
          <p:nvPr>
            <p:ph type="sldNum" idx="5" sz="quarter"/>
          </p:nvPr>
        </p:nvSpPr>
        <p:spPr/>
      </p:sp>
    </p:spTree>
  </p:cSld>
  <p:clrMapOvr>
    <a:masterClrMapping/>
  </p:clrMapOvr>
</p:notes>
</file>

<file path=ppt/notesSlides/notesSlide7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 analiza, evalúa y protege.</a:t>
            </a:r>
          </a:p>
          <a:p/>
          <a:p>
            <a:r>
              <a:t>Reviewer: Revisión guiada por modelo de un git diff con un veredicto APPROVE o REQUEST_CHANGES.</a:t>
            </a:r>
          </a:p>
          <a:p/>
          <a:p>
            <a:r>
              <a:t>Analyzer: Análisis estático determinista: bandit, semgrep, ruff, eslint, gitleaks, pip-audit.</a:t>
            </a:r>
          </a:p>
          <a:p/>
          <a:p>
            <a:r>
              <a:t>Kalier: Herramientas autorizadas de Kali Linux a través de MCP-Kali-Server.</a:t>
            </a:r>
          </a:p>
          <a:p/>
          <a:p>
            <a:r>
              <a:t>Discoverer: La suite de reconocimiento de ProjectDiscovery sobre un toolchain de Go privado y autoinstalable.</a:t>
            </a:r>
          </a:p>
          <a:p/>
          <a:p>
            <a:r>
              <a:t>Nmapper: Un puente de nmap local y de sólo uso; escaneo connect sin privilegios de forma predeterminada.</a:t>
            </a:r>
          </a:p>
          <a:p/>
          <a:p>
            <a:r>
              <a:t>Kyber-KeyGen: Genera pares de claves poscuánticas CRYSTALS-Kyber.</a:t>
            </a:r>
          </a:p>
          <a:p/>
          <a:p>
            <a:r>
              <a:t>Kyber-Cipher: Cifra con criptografía poscuántica Kyber.</a:t>
            </a:r>
          </a:p>
          <a:p/>
          <a:p>
            <a:r>
              <a:t>Kyber-DeCipher: Descifra datos protegidos con Kyber.</a:t>
            </a:r>
          </a:p>
        </p:txBody>
      </p:sp>
      <p:sp>
        <p:nvSpPr>
          <p:cNvPr id="4" name="Slide Number Placeholder 3"/>
          <p:cNvSpPr>
            <a:spLocks noGrp="1"/>
          </p:cNvSpPr>
          <p:nvPr>
            <p:ph type="sldNum" idx="5" sz="quarter"/>
          </p:nvPr>
        </p:nvSpPr>
        <p:spPr/>
      </p:sp>
    </p:spTree>
  </p:cSld>
  <p:clrMapOvr>
    <a:masterClrMapping/>
  </p:clrMapOvr>
</p:notes>
</file>

<file path=ppt/notesSlides/notesSlide7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Placas reales y editores en vivo.</a:t>
            </a:r>
          </a:p>
          <a:p/>
          <a:p>
            <a:r>
              <a:t>STM32er: Firmware de STM32 desde la Blue Pill hasta la H7: compilar, flashear, observar, fail-safe.</a:t>
            </a:r>
          </a:p>
          <a:p/>
          <a:p>
            <a:r>
              <a:t>ESP32er: Firmware de ESP32 a través de PlatformIO, desde una plantilla que compila de inmediato.</a:t>
            </a:r>
          </a:p>
          <a:p/>
          <a:p>
            <a:r>
              <a:t>Arduiner: Firmware de Arduino a través de arduino-cli, con los cores instalados automáticamente.</a:t>
            </a:r>
          </a:p>
          <a:p/>
          <a:p>
            <a:r>
              <a:t>ESPHomer: Dispositivos de domótica ESPHome desde YAML, sin C++ requerido.</a:t>
            </a:r>
          </a:p>
          <a:p/>
          <a:p>
            <a:r>
              <a:t>Unrealer: Maneja un editor de Unreal Engine 5 en vivo: 53 comandos en nueve categorías.</a:t>
            </a:r>
          </a:p>
          <a:p/>
          <a:p>
            <a:r>
              <a:t>Blenderer: Maneja Blender a través del socket del add-on oficial de Blender MCP.</a:t>
            </a:r>
          </a:p>
        </p:txBody>
      </p:sp>
      <p:sp>
        <p:nvSpPr>
          <p:cNvPr id="4" name="Slide Number Placeholder 3"/>
          <p:cNvSpPr>
            <a:spLocks noGrp="1"/>
          </p:cNvSpPr>
          <p:nvPr>
            <p:ph type="sldNum" idx="5" sz="quarter"/>
          </p:nvPr>
        </p:nvSpPr>
        <p:spPr/>
      </p:sp>
    </p:spTree>
  </p:cSld>
  <p:clrMapOvr>
    <a:masterClrMapping/>
  </p:clrMapOvr>
</p:notes>
</file>

<file path=ppt/notesSlides/notesSlide7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Ve la pantalla, mueve el puntero, escribe.</a:t>
            </a:r>
          </a:p>
          <a:p/>
          <a:p>
            <a:r>
              <a:t>Mouser: Mueve y hace clic en espacios de coordenadas declarados explícitamente.</a:t>
            </a:r>
          </a:p>
          <a:p/>
          <a:p>
            <a:r>
              <a:t>Keyboarder: Escribe Unicode en una ventana de primer plano verificada.</a:t>
            </a:r>
          </a:p>
          <a:p/>
          <a:p>
            <a:r>
              <a:t>Windower: Enfoca, acomoda en mosaico, redimensiona, lista y cierra ventanas por título.</a:t>
            </a:r>
          </a:p>
          <a:p/>
          <a:p>
            <a:r>
              <a:t>Shoter: Screenshots de todo el escritorio con geometría de captura publicada.</a:t>
            </a:r>
          </a:p>
          <a:p/>
          <a:p>
            <a:r>
              <a:t>Camcorder: Foto o video de webcam a la resolución nativa de la cámara.</a:t>
            </a:r>
          </a:p>
        </p:txBody>
      </p:sp>
      <p:sp>
        <p:nvSpPr>
          <p:cNvPr id="4" name="Slide Number Placeholder 3"/>
          <p:cNvSpPr>
            <a:spLocks noGrp="1"/>
          </p:cNvSpPr>
          <p:nvPr>
            <p:ph type="sldNum" idx="5" sz="quarter"/>
          </p:nvPr>
        </p:nvSpPr>
        <p:spPr/>
      </p:sp>
    </p:spTree>
  </p:cSld>
  <p:clrMapOvr>
    <a:masterClrMapping/>
  </p:clrMapOvr>
</p:notes>
</file>

<file path=ppt/notesSlides/notesSlide7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Oye, habla, reproduce y mira.</a:t>
            </a:r>
          </a:p>
          <a:p/>
          <a:p>
            <a:r>
              <a:t>Recorder: Captura de micrófono a WAV a la frecuencia de muestreo nativa del dispositivo.</a:t>
            </a:r>
          </a:p>
          <a:p/>
          <a:p>
            <a:r>
              <a:t>Whisperer: De voz a texto que sigue escuchando hasta que dejas de hablar.</a:t>
            </a:r>
          </a:p>
          <a:p/>
          <a:p>
            <a:r>
              <a:t>Talker: De texto a voz, siempre en la voz femenina de Tlamatini.</a:t>
            </a:r>
          </a:p>
          <a:p/>
          <a:p>
            <a:r>
              <a:t>AudioPlayer: Reproduce archivos de audio con control de volumen, truncado y loop.</a:t>
            </a:r>
          </a:p>
          <a:p/>
          <a:p>
            <a:r>
              <a:t>VideoPlayer: Reproduce video con su audio en una pantalla elegida.</a:t>
            </a:r>
          </a:p>
          <a:p/>
          <a:p>
            <a:r>
              <a:t>Image-Interpreter: Dos modelos de visión en paralelo, fusionados por un tercero en un solo reporte.</a:t>
            </a:r>
          </a:p>
          <a:p/>
          <a:p>
            <a:r>
              <a:t>Video-Analyzer: Dictamina sobre el movimiento de un robot, transcribe pistas de audio, o resume un video.</a:t>
            </a:r>
          </a:p>
        </p:txBody>
      </p:sp>
      <p:sp>
        <p:nvSpPr>
          <p:cNvPr id="4" name="Slide Number Placeholder 3"/>
          <p:cNvSpPr>
            <a:spLocks noGrp="1"/>
          </p:cNvSpPr>
          <p:nvPr>
            <p:ph type="sldNum" idx="5" sz="quarter"/>
          </p:nvPr>
        </p:nvSpPr>
        <p:spPr/>
      </p:sp>
    </p:spTree>
  </p:cSld>
  <p:clrMapOvr>
    <a:masterClrMapping/>
  </p:clrMapOvr>
</p:notes>
</file>

<file path=ppt/notesSlides/notesSlide7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Alcanza personas y vigila sistemas.</a:t>
            </a:r>
          </a:p>
          <a:p/>
          <a:p>
            <a:r>
              <a:t>Notifier: Muestra una notificación dentro del browser, opcionalmente con un sonido.</a:t>
            </a:r>
          </a:p>
          <a:p/>
          <a:p>
            <a:r>
              <a:t>Emailer: Envía correo por SMTP.</a:t>
            </a:r>
          </a:p>
          <a:p/>
          <a:p>
            <a:r>
              <a:t>RecMailer: Vigila un buzón IMAP en busca de mensajes nuevos.</a:t>
            </a:r>
          </a:p>
          <a:p/>
          <a:p>
            <a:r>
              <a:t>Telegrammer: Telegram como el bot o como tu propia cuenta.</a:t>
            </a:r>
          </a:p>
          <a:p/>
          <a:p>
            <a:r>
              <a:t>Whatsapper: WhatsApp a través de la Cloud API de Meta, o explícitamente desde tu propio número.</a:t>
            </a:r>
          </a:p>
          <a:p/>
          <a:p>
            <a:r>
              <a:t>TeleTlamatini: Lleva el chat completo de Tlamatini, Multi-Turn incluido, a Telegram.</a:t>
            </a:r>
          </a:p>
          <a:p/>
          <a:p>
            <a:r>
              <a:t>Instant Messaging Doctor: Diagnostica y repara de forma segura la disponibilidad de Telegram y WhatsApp.</a:t>
            </a:r>
          </a:p>
          <a:p/>
          <a:p>
            <a:r>
              <a:t>Monitor-Log: Monitor de logs impulsado por modelo.</a:t>
            </a:r>
          </a:p>
          <a:p/>
          <a:p>
            <a:r>
              <a:t>Monitor Netstat: Monitor de puertos de red impulsado por modelo.</a:t>
            </a:r>
          </a:p>
        </p:txBody>
      </p:sp>
      <p:sp>
        <p:nvSpPr>
          <p:cNvPr id="4" name="Slide Number Placeholder 3"/>
          <p:cNvSpPr>
            <a:spLocks noGrp="1"/>
          </p:cNvSpPr>
          <p:nvPr>
            <p:ph type="sldNum" idx="5" sz="quarter"/>
          </p:nvPr>
        </p:nvSpPr>
        <p:spPr/>
      </p:sp>
    </p:spTree>
  </p:cSld>
  <p:clrMapOvr>
    <a:masterClrMapping/>
  </p:clrMapOvr>
</p:notes>
</file>

<file path=ppt/notesSlides/notesSlide8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Capítulo V: Capacidades profundas. Los subsistemas que le dan alcance: otros agents, otros servidores, documentos, tarjetas, motores y sentidos.</a:t>
            </a:r>
          </a:p>
        </p:txBody>
      </p:sp>
      <p:sp>
        <p:nvSpPr>
          <p:cNvPr id="4" name="Slide Number Placeholder 3"/>
          <p:cNvSpPr>
            <a:spLocks noGrp="1"/>
          </p:cNvSpPr>
          <p:nvPr>
            <p:ph type="sldNum" idx="5" sz="quarter"/>
          </p:nvPr>
        </p:nvSpPr>
        <p:spPr/>
      </p:sp>
    </p:spTree>
  </p:cSld>
  <p:clrMapOvr>
    <a:masterClrMapping/>
  </p:clrMapOvr>
</p:notes>
</file>

<file path=ppt/notesSlides/notesSlide8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ACPX arranca CLIs externos de agents de programación como hijos fuera del proceso, habla con ellos por stdin y stdout, guarda una transcripción NDJSON de cada turno, y lo pone todo a disposición del modelo como doce tools.</a:t>
            </a:r>
          </a:p>
          <a:p/>
          <a:p>
            <a:r>
              <a:t>Hay 14 pares registrados: claude, codex, cursor, gemini, qwen, copilot, pi, droid, iflow, kilocode, kimi, kiro, opencode, tlamatini. Los pares de una sola ejecución reciben el prompt como argumento de la línea de comandos y se leen hasta el final; el self-host de Tlamatini habla JSON estricto; los pares interactivos se drenan con una regla de inactividad que conoce el transporte. ACPX es un port en Python del plugin ACPX de OpenClaw, así que sus identificadores de agents y su contrato de skills son compatibles.</a:t>
            </a:r>
          </a:p>
          <a:p/>
          <a:p>
            <a:r>
              <a:t>ACPX dice la verdad sobre sus pares. Una revisión de versión no es salud, y el código de salida 0 no es éxito: un clasificador que sólo usa la stdlib decide si un hijo de verdad entregó, y una negativa se devuelve como ok: false con un código con nombre en vez de una fila verde. acp_doctor(deep=True) envía un prompt real de una línea a cada par y nombra lo que está roto.</a:t>
            </a:r>
          </a:p>
          <a:p/>
          <a:p>
            <a:r>
              <a:t>Los hijos nunca se arrancan por el shell, porque cmd.exe corta en silencio una línea de comandos en su primer salto de línea. Los shims de npm y pnpm se reescriben a node.exe con el path del script.</a:t>
            </a:r>
          </a:p>
        </p:txBody>
      </p:sp>
      <p:sp>
        <p:nvSpPr>
          <p:cNvPr id="4" name="Slide Number Placeholder 3"/>
          <p:cNvSpPr>
            <a:spLocks noGrp="1"/>
          </p:cNvSpPr>
          <p:nvPr>
            <p:ph type="sldNum" idx="5" sz="quarter"/>
          </p:nvPr>
        </p:nvSpPr>
        <p:spPr/>
      </p:sp>
    </p:spTree>
  </p:cSld>
  <p:clrMapOvr>
    <a:masterClrMapping/>
  </p:clrMapOvr>
</p:notes>
</file>

<file path=ppt/notesSlides/notesSlide8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Conecta Tlamatini a cualquier servidor MCP declarado en un catálogo JSON y usa sus tools de inmediato, sin escribir código para el servidor.</a:t>
            </a:r>
          </a:p>
          <a:p/>
          <a:p>
            <a:r>
              <a:t>El catálogo usa la forma estándar mcpServers y vive junto a config.json, conservado entre actualizaciones. Se conectan cuatro transportes (stdio, HTTP streamable, SSE y WebSocket) de forma diferida en un hilo de fondo, así que un servidor lento nunca puede retrasar una respuesta. Hasta cinco servidores están activos a la vez, y cada tool remoto aparece como ext__&lt;server&gt;__&lt;tool&gt;.</a:t>
            </a:r>
          </a:p>
          <a:p/>
          <a:p>
            <a:r>
              <a:t>La mayoría de los servidores arrancan con npx o uvx, que una máquina recién instalada no tiene. Un aprovisionador privado de runtimes descarga Node y uv una sola vez desde sus fuentes oficiales al perfil del usuario, verifica checksums, instala de forma atómica, no necesita derechos de administrador y nunca cambia el PATH del sistema.</a:t>
            </a:r>
          </a:p>
          <a:p/>
          <a:p>
            <a:r>
              <a:t>Memory y Sequential Thinking vienen en cada instalación, inactivos. Un servidor predeterminado que borras se recuerda y nunca se revive; uno que editas nunca se sobrescribe.</a:t>
            </a:r>
          </a:p>
        </p:txBody>
      </p:sp>
      <p:sp>
        <p:nvSpPr>
          <p:cNvPr id="4" name="Slide Number Placeholder 3"/>
          <p:cNvSpPr>
            <a:spLocks noGrp="1"/>
          </p:cNvSpPr>
          <p:nvPr>
            <p:ph type="sldNum" idx="5" sz="quarter"/>
          </p:nvPr>
        </p:nvSpPr>
        <p:spPr/>
      </p:sp>
    </p:spTree>
  </p:cSld>
  <p:clrMapOvr>
    <a:masterClrMapping/>
  </p:clrMapOvr>
</p:notes>
</file>

<file path=ppt/notesSlides/notesSlide8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29 paquetes SKILL.md se cargan al arrancar y se le ofrecen al modelo por medio de list_skills e invoke_skill.</a:t>
            </a:r>
          </a:p>
          <a:p/>
          <a:p>
            <a:r>
              <a:t>Invocar una skill en proceso es una entrega de planeación, no una ejecución escondida. Devuelve el procedimiento completo, el contrato de outputs que todavía se deben y una declaración honesta de lo que se hace cumplir (revisión de argumentos, redacción de secretos y presupuestos de tiempo) y de lo que queda como política declarada, protegida por las superficies normales de Configurar y de Ask Execs.</a:t>
            </a:r>
          </a:p>
          <a:p/>
          <a:p>
            <a:r>
              <a:t>Las skills incluyen revisión de código, auditoría de seguridad, el runbook de pentest con Kali, creación de flows, creación de skills, resumen, el runbook adding-external-mcp, Roblox Studio, auditoría del repositorio y helpers de refactorización, y guías de integración para GitHub, Gmail, Slack, Jira, Notion, Todoist, Trello y el clima. El menú ACPX-Skills las habilita, las diagnostica y las recarga sin reiniciar.</a:t>
            </a:r>
          </a:p>
        </p:txBody>
      </p:sp>
      <p:sp>
        <p:nvSpPr>
          <p:cNvPr id="4" name="Slide Number Placeholder 3"/>
          <p:cNvSpPr>
            <a:spLocks noGrp="1"/>
          </p:cNvSpPr>
          <p:nvPr>
            <p:ph type="sldNum" idx="5" sz="quarter"/>
          </p:nvPr>
        </p:nvSpPr>
        <p:spPr/>
      </p:sp>
    </p:spTree>
  </p:cSld>
  <p:clrMapOvr>
    <a:masterClrMapping/>
  </p:clrMapOvr>
</p:notes>
</file>

<file path=ppt/notesSlides/notesSlide8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29 paquetes SKILL.md se cargan al arrancar y se le ofrecen al modelo por medio de list_skills e invoke_skill.</a:t>
            </a:r>
          </a:p>
          <a:p/>
          <a:p>
            <a:r>
              <a:t>Invocar una skill en proceso es una entrega de planeación, no una ejecución escondida. Devuelve el procedimiento completo, el contrato de outputs que todavía se deben y una declaración honesta de lo que se hace cumplir (revisión de argumentos, redacción de secretos y presupuestos de tiempo) y de lo que queda como política declarada, protegida por las superficies normales de Configurar y de Ask Execs.</a:t>
            </a:r>
          </a:p>
          <a:p/>
          <a:p>
            <a:r>
              <a:t>Las skills incluyen revisión de código, auditoría de seguridad, el runbook de pentest con Kali, creación de flows, creación de skills, resumen, el runbook adding-external-mcp, Roblox Studio, auditoría del repositorio y helpers de refactorización, y guías de integración para GitHub, Gmail, Slack, Jira, Notion, Todoist, Trello y el clima. El menú ACPX-Skills las habilita, las diagnostica y las recarga sin reiniciar.</a:t>
            </a:r>
          </a:p>
        </p:txBody>
      </p:sp>
      <p:sp>
        <p:nvSpPr>
          <p:cNvPr id="4" name="Slide Number Placeholder 3"/>
          <p:cNvSpPr>
            <a:spLocks noGrp="1"/>
          </p:cNvSpPr>
          <p:nvPr>
            <p:ph type="sldNum" idx="5" sz="quarter"/>
          </p:nvPr>
        </p:nvSpPr>
        <p:spPr/>
      </p:sp>
    </p:spTree>
  </p:cSld>
  <p:clrMapOvr>
    <a:masterClrMapping/>
  </p:clrMapOvr>
</p:notes>
</file>

<file path=ppt/notesSlides/notesSlide8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Tres agents producen documentos, cada uno con su propio oficio, y ninguno da por limpio un archivo sólo porque se creó.</a:t>
            </a:r>
          </a:p>
        </p:txBody>
      </p:sp>
      <p:sp>
        <p:nvSpPr>
          <p:cNvPr id="4" name="Slide Number Placeholder 3"/>
          <p:cNvSpPr>
            <a:spLocks noGrp="1"/>
          </p:cNvSpPr>
          <p:nvPr>
            <p:ph type="sldNum" idx="5" sz="quarter"/>
          </p:nvPr>
        </p:nvSpPr>
        <p:spPr/>
      </p:sp>
    </p:spTree>
  </p:cSld>
  <p:clrMapOvr>
    <a:masterClrMapping/>
  </p:clrMapOvr>
</p:notes>
</file>

<file path=ppt/notesSlides/notesSlide8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Tres agents producen documentos, cada uno con su propio oficio, y ninguno da por limpio un archivo sólo porque se creó.</a:t>
            </a:r>
          </a:p>
        </p:txBody>
      </p:sp>
      <p:sp>
        <p:nvSpPr>
          <p:cNvPr id="4" name="Slide Number Placeholder 3"/>
          <p:cNvSpPr>
            <a:spLocks noGrp="1"/>
          </p:cNvSpPr>
          <p:nvPr>
            <p:ph type="sldNum" idx="5" sz="quarter"/>
          </p:nvPr>
        </p:nvSpPr>
        <p:spPr/>
      </p:sp>
    </p:spTree>
  </p:cSld>
  <p:clrMapOvr>
    <a:masterClrMapping/>
  </p:clrMapOvr>
</p:notes>
</file>

<file path=ppt/notesSlides/notesSlide8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Cuando un build falla, LaTeXer sube ocho peldaños en un orden fijo; cada uno se intenta sólo si el anterior no produjo un PDF.</a:t>
            </a:r>
          </a:p>
          <a:p/>
          <a:p>
            <a:r>
              <a:t>Cada reparación se aplica a una copia y se vuelve a revisar con lint; una reparación que empeora el lint se revierte. El archivo del autor nunca se sobrescribe a menos que se active repair_write_back, cada peldaño se registra en una traza de auditoría, y cualquier bloque que se aparta se nombra con su número de línea.</a:t>
            </a:r>
          </a:p>
          <a:p/>
          <a:p>
            <a:r>
              <a:t>Bisect va estrictamente al final porque es el único peldaño que quita contenido, y se salta cuando el peldaño del modelo sólo no se pudo alcanzar. Un build limpio le dice al modelo claramente que el documento está terminado, así que un buen PDF nunca se “mejora” hasta romperlo.</a:t>
            </a:r>
          </a:p>
          <a:p/>
          <a:p>
            <a:r>
              <a:t>Desde v1.76.0 un PDF se reporta sólo cuando el archivo entregado de verdad existe. Un build que tuvo que cortar una cuarta parte o más de su cuerpo se entrega como &lt;name&gt;.DEGRADED.pdf, nunca con el nombre que pediste, y en un documento de más de 8,000 caracteres el peldaño del modelo primero repara sólo las líneas alrededor del error del compilador con una solicitud acotada; una respuesta que nunca llegó prohíbe el bisect.</a:t>
            </a:r>
          </a:p>
        </p:txBody>
      </p:sp>
      <p:sp>
        <p:nvSpPr>
          <p:cNvPr id="4" name="Slide Number Placeholder 3"/>
          <p:cNvSpPr>
            <a:spLocks noGrp="1"/>
          </p:cNvSpPr>
          <p:nvPr>
            <p:ph type="sldNum" idx="5" sz="quarter"/>
          </p:nvPr>
        </p:nvSpPr>
        <p:spPr/>
      </p:sp>
    </p:spTree>
  </p:cSld>
  <p:clrMapOvr>
    <a:masterClrMapping/>
  </p:clrMapOvr>
</p:notes>
</file>

<file path=ppt/notesSlides/notesSlide8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Cuatro agents llevan el firmware desde el andamiaje hasta una tarjeta funcionando, y cada uno se niega antes que flashear algo que no puede estar bien.</a:t>
            </a:r>
          </a:p>
        </p:txBody>
      </p:sp>
      <p:sp>
        <p:nvSpPr>
          <p:cNvPr id="4" name="Slide Number Placeholder 3"/>
          <p:cNvSpPr>
            <a:spLocks noGrp="1"/>
          </p:cNvSpPr>
          <p:nvPr>
            <p:ph type="sldNum" idx="5" sz="quarter"/>
          </p:nvPr>
        </p:nvSpPr>
        <p:spPr/>
      </p:sp>
    </p:spTree>
  </p:cSld>
  <p:clrMapOvr>
    <a:masterClrMapping/>
  </p:clrMapOvr>
</p:notes>
</file>

<file path=ppt/notesSlides/notesSlide8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Cuatro agents llevan el firmware desde el andamiaje hasta una tarjeta funcionando, y cada uno se niega antes que flashear algo que no puede estar bien.</a:t>
            </a:r>
          </a:p>
        </p:txBody>
      </p:sp>
      <p:sp>
        <p:nvSpPr>
          <p:cNvPr id="4" name="Slide Number Placeholder 3"/>
          <p:cNvSpPr>
            <a:spLocks noGrp="1"/>
          </p:cNvSpPr>
          <p:nvPr>
            <p:ph type="sldNum" idx="5" sz="quarter"/>
          </p:nvPr>
        </p:nvSpPr>
        <p:spPr/>
      </p:sp>
    </p:spTree>
  </p:cSld>
  <p:clrMapOvr>
    <a:masterClrMapping/>
  </p:clrMapOvr>
</p:notes>
</file>

<file path=ppt/notesSlides/notesSlide9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Dos agents manejan editores en ejecución por sus propios sockets, desde el chat o desde el canvas.</a:t>
            </a:r>
          </a:p>
          <a:p/>
          <a:p>
            <a:r>
              <a:t>Unrealer: Habla con el plugin Unreal MCP por TCP: 53 comandos en nueve categorías (editor, Blueprint, nodos, proyecto, UMG, sistema, nivel, asset y material).</a:t>
            </a:r>
          </a:p>
          <a:p/>
          <a:p>
            <a:r>
              <a:t>El fork de Unreal de Tlamatini: XaihtUnrealEngineMCP incluye toda la superficie más un generador de andamiaje para un proyecto C++ de UE 5.8 listo para compilar con una solución de Visual Studio 2026.</a:t>
            </a:r>
          </a:p>
          <a:p/>
          <a:p>
            <a:r>
              <a:t>Blenderer: Habla el protocolo de ejecución de código del add-on oficial Blender MCP en su socket local, con un catálogo rico de acciones, así que la mayoría de las tareas no necesitan Python escrito a mano.</a:t>
            </a:r>
          </a:p>
          <a:p/>
          <a:p>
            <a:r>
              <a:t>Encadenables: Ambos devuelven bloques estructurados, así que Parametrizer puede llevar un resultado al siguiente paso y un Forker puede ramificarse según él.</a:t>
            </a:r>
          </a:p>
        </p:txBody>
      </p:sp>
      <p:sp>
        <p:nvSpPr>
          <p:cNvPr id="4" name="Slide Number Placeholder 3"/>
          <p:cNvSpPr>
            <a:spLocks noGrp="1"/>
          </p:cNvSpPr>
          <p:nvPr>
            <p:ph type="sldNum" idx="5" sz="quarter"/>
          </p:nvPr>
        </p:nvSpPr>
        <p:spPr/>
      </p:sp>
    </p:spTree>
  </p:cSld>
  <p:clrMapOvr>
    <a:masterClrMapping/>
  </p:clrMapOvr>
</p:notes>
</file>

<file path=ppt/notesSlides/notesSlide9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herramientas ofensivas y defensivas son parte del catálogo, siempre limitadas a sistemas que son tuyos o que tienes autorización explícita para probar.</a:t>
            </a:r>
          </a:p>
          <a:p/>
          <a:p>
            <a:r>
              <a:t>Kalier: Herramientas de Kali Linux por medio de MCP-Kali-Server: nmap, gobuster, nikto, sqlmap y más.</a:t>
            </a:r>
          </a:p>
          <a:p/>
          <a:p>
            <a:r>
              <a:t>Discoverer: subfinder, httpx, naabu, katana, nuclei y vulnx sobre un toolchain privado de Go.</a:t>
            </a:r>
          </a:p>
          <a:p/>
          <a:p>
            <a:r>
              <a:t>Nmapper: Usa el nmap que tú instalaste; nunca lo incluye; el connect scan no necesita admin.</a:t>
            </a:r>
          </a:p>
          <a:p/>
          <a:p>
            <a:r>
              <a:t>Analyzer: bandit, semgrep, ruff, eslint, gitleaks y pip-audit, de forma determinista.</a:t>
            </a:r>
          </a:p>
          <a:p/>
          <a:p>
            <a:r>
              <a:t>Reviewer: Una revisión de un diff a nivel senior, con un veredicto según el cual un flow puede ramificarse.</a:t>
            </a:r>
          </a:p>
          <a:p/>
          <a:p>
            <a:r>
              <a:t>Kyber: Generación de llaves, cifrado y descifrado poscuánticos.</a:t>
            </a:r>
          </a:p>
        </p:txBody>
      </p:sp>
      <p:sp>
        <p:nvSpPr>
          <p:cNvPr id="4" name="Slide Number Placeholder 3"/>
          <p:cNvSpPr>
            <a:spLocks noGrp="1"/>
          </p:cNvSpPr>
          <p:nvPr>
            <p:ph type="sldNum" idx="5" sz="quarter"/>
          </p:nvPr>
        </p:nvSpPr>
        <p:spPr/>
      </p:sp>
    </p:spTree>
  </p:cSld>
  <p:clrMapOvr>
    <a:masterClrMapping/>
  </p:clrMapOvr>
</p:notes>
</file>

<file path=ppt/notesSlides/notesSlide9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El kit security/ es un conjunto de monitoreo y respuesta que corre un administrador, no un tool del chat: una persona lo lanza, lee su evidencia y decide.</a:t>
            </a:r>
          </a:p>
          <a:p/>
          <a:p>
            <a:r>
              <a:t>Habilitarlo hace cambios persistentes. Defender y el firewall siguen corriendo, pero la instalación se excluye de los escaneos, se permite en Controlled Folder Access, y seis reglas de reducción de la superficie de ataque pasan a modo Audit. Esas excepciones son concesiones reales, así que registra una línea base antes de elevar privilegios; no hay rollback automático.</a:t>
            </a:r>
          </a:p>
          <a:p/>
          <a:p>
            <a:r>
              <a:t>El monitor vigila diez familias de señales, desde la salud de Defender y los inicios de sesión hasta la persistencia, los indicadores de ransomware y los cambios en el grupo de administradores. Empieza con una línea base sólo de detección, investiga, y ármalo sólo cuando se justifique. Un harness visible no destructivo valida los propios activos.</a:t>
            </a:r>
          </a:p>
        </p:txBody>
      </p:sp>
      <p:sp>
        <p:nvSpPr>
          <p:cNvPr id="4" name="Slide Number Placeholder 3"/>
          <p:cNvSpPr>
            <a:spLocks noGrp="1"/>
          </p:cNvSpPr>
          <p:nvPr>
            <p:ph type="sldNum" idx="5" sz="quarter"/>
          </p:nvPr>
        </p:nvSpPr>
        <p:spPr/>
      </p:sp>
    </p:spTree>
  </p:cSld>
  <p:clrMapOvr>
    <a:masterClrMapping/>
  </p:clrMapOvr>
</p:notes>
</file>

<file path=ppt/notesSlides/notesSlide9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El dictado directo en el chat, el Whisperer de workflows, Talker y los comandos del catálogo tienen contratos de voz distintos.</a:t>
            </a:r>
          </a:p>
          <a:p/>
          <a:p>
            <a:r>
              <a:t>En el Whisperer independiente o de workflow, si no hay duración la compuerta graba mientras hablas y se detiene después de 3.5 segundos de silencio, con un tope de 300 segundos. record_seconds: 0 es el interruptor; di una duración y se respeta exactamente. La compuerta empieza en un nivel sensible para que se oiga a quien empieza a hablar de inmediato, y si un driver de sonido rechaza el stream en vivo, ella graba una duración fija y lo dice. El dictado directo en el chat, en cambio, exige la compuerta y rechaza ese fallback.</a:t>
            </a:r>
          </a:p>
          <a:p/>
          <a:p>
            <a:r>
              <a:t>La transcripción corre localmente con faster-whisper, en una GPU cuando hay y en el CPU si no, o por medio de un proveedor de Whisper en la nube. Talker habla con un modelo compatible con Orpheus en una voz femenina: tara, leah, jess, mia o zoe. Una voz masculina se rechaza por diseño.</a:t>
            </a:r>
          </a:p>
          <a:p/>
          <a:p>
            <a:r>
              <a:t>La primera sección del catálogo, VOICE COMMANDS, convierte el micrófono en el teclado: ella transcribe tu instrucción, te la lee de vuelta, y sólo entonces actúa. Cualquier cosa irreversible sigue necesitando tu confirmación por escrito según esas instrucciones del catálogo. Config &gt; Micrófono elige el envío automático o un borrador editable. El envío real usa la voz del browser para confirmar, y respeta el modo Silencio.</a:t>
            </a:r>
          </a:p>
        </p:txBody>
      </p:sp>
      <p:sp>
        <p:nvSpPr>
          <p:cNvPr id="4" name="Slide Number Placeholder 3"/>
          <p:cNvSpPr>
            <a:spLocks noGrp="1"/>
          </p:cNvSpPr>
          <p:nvPr>
            <p:ph type="sldNum" idx="5" sz="quarter"/>
          </p:nvPr>
        </p:nvSpPr>
        <p:spPr/>
      </p:sp>
    </p:spTree>
  </p:cSld>
  <p:clrMapOvr>
    <a:masterClrMapping/>
  </p:clrMapOvr>
</p:notes>
</file>

<file path=ppt/notesSlides/notesSlide9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El análisis de imágenes y de video combina observadores independientes, así que la suposición de un modelo nunca se presenta como un hecho.</a:t>
            </a:r>
          </a:p>
          <a:p/>
          <a:p>
            <a:r>
              <a:t>Image-Interpreter: Dos modelos de visión leen cada imagen en paralelo con sus propias conexiones; un tercero combina ambos. Una lista separada por comas lee varias imágenes.</a:t>
            </a:r>
          </a:p>
          <a:p/>
          <a:p>
            <a:r>
              <a:t>Video-Analyzer · robótica: Una compuerta de movimiento determinista más dos modelos de visión; PASS sólo cuando ambos coinciden.</a:t>
            </a:r>
          </a:p>
          <a:p/>
          <a:p>
            <a:r>
              <a:t>Video-Analyzer · transcripción: Voz con marcas de tiempo de las pistas de audio elegidas o de un link web, de forma local.</a:t>
            </a:r>
          </a:p>
          <a:p/>
          <a:p>
            <a:r>
              <a:t>Video-Analyzer · resumen: Voz más evidencia visual muestreada: escenas, texto, hechos, decisiones y límites; un link web se descarga primero.</a:t>
            </a:r>
          </a:p>
          <a:p/>
          <a:p>
            <a:r>
              <a:t>Captura: Shoter, Camcorder y Recorder guardan en tus carpetas conocidas con nombres exactos.</a:t>
            </a:r>
          </a:p>
          <a:p/>
          <a:p>
            <a:r>
              <a:t>Pegar en el chat: Un screenshot pegado en el chat se vuelve un path que ella puede analizar.</a:t>
            </a:r>
          </a:p>
        </p:txBody>
      </p:sp>
      <p:sp>
        <p:nvSpPr>
          <p:cNvPr id="4" name="Slide Number Placeholder 3"/>
          <p:cNvSpPr>
            <a:spLocks noGrp="1"/>
          </p:cNvSpPr>
          <p:nvPr>
            <p:ph type="sldNum" idx="5" sz="quarter"/>
          </p:nvPr>
        </p:nvSpPr>
        <p:spPr/>
      </p:sp>
    </p:spTree>
  </p:cSld>
  <p:clrMapOvr>
    <a:masterClrMapping/>
  </p:clrMapOvr>
</p:notes>
</file>

<file path=ppt/notesSlides/notesSlide9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agents de escritorio declaran sus espacios de coordenadas y su evidencia, porque un clic que cae en el lugar equivocado es peor que no hacer clic.</a:t>
            </a:r>
          </a:p>
          <a:p/>
          <a:p>
            <a:r>
              <a:t>Mouser: Las coordenadas se declaran: pantalla física, escritorio, normalizadas, ventana o screenshot.</a:t>
            </a:r>
          </a:p>
          <a:p/>
          <a:p>
            <a:r>
              <a:t>Shoter: Publica el rectángulo exacto capturado, el tamaño de la imagen y la geometría del monitor.</a:t>
            </a:r>
          </a:p>
          <a:p/>
          <a:p>
            <a:r>
              <a:t>Keyboarder: Liga cada tecla a una ventana verificada y se detiene si se pierde el foco.</a:t>
            </a:r>
          </a:p>
          <a:p/>
          <a:p>
            <a:r>
              <a:t>Entregar no es aceptar: input_sent sólo prueba la entrega; el input interrumpido se inspecciona antes de repetir.</a:t>
            </a:r>
          </a:p>
          <a:p/>
          <a:p>
            <a:r>
              <a:t>Playwrighter: Un browser real con pasos declarados, con un ajuste para dejarlo abierto y mirarlo.</a:t>
            </a:r>
          </a:p>
          <a:p/>
          <a:p>
            <a:r>
              <a:t>Windower: Enfoca, mueve, cambia de tamaño, acomoda en mosaico, fija y cierra ventanas por su título.</a:t>
            </a:r>
          </a:p>
        </p:txBody>
      </p:sp>
      <p:sp>
        <p:nvSpPr>
          <p:cNvPr id="4" name="Slide Number Placeholder 3"/>
          <p:cNvSpPr>
            <a:spLocks noGrp="1"/>
          </p:cNvSpPr>
          <p:nvPr>
            <p:ph type="sldNum" idx="5" sz="quarter"/>
          </p:nvPr>
        </p:nvSpPr>
        <p:spPr/>
      </p:sp>
    </p:spTree>
  </p:cSld>
  <p:clrMapOvr>
    <a:masterClrMapping/>
  </p:clrMapOvr>
</p:notes>
</file>

<file path=ppt/notesSlides/notesSlide9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El tool de búsqueda del chat y el agent del pool usan la misma implementación de Googler, con un presupuesto predeterminado de 120 segundos y resultados explícitos.</a:t>
            </a:r>
          </a:p>
          <a:p/>
          <a:p>
            <a:r>
              <a:t>Sin un motor fijo, seis vías de HTTP simple compiten por resultados relevantes. Si ninguna contesta, el Chrome real instalado usa un perfil persistente en ocho vías del browser. Las fuentes de conocimiento abierto forman el último nivel: Wikipedia, arXiv, OpenAlex, Hacker News, GitHub, Internet Archive y Project Gutenberg. El log nombra el motor y el nivel que contestaron.</a:t>
            </a:r>
          </a:p>
          <a:p/>
          <a:p>
            <a:r>
              <a:t>Un registro compartido de salud pone en descanso a los motores que se niegan por 3, 10 o 30 minutos; un resultado fuera de tema se rechaza, y una vía que se niega no se vuelve a consultar en la misma ejecución. Bloqueado, tiempo agotado, inalcanzable y sin coincidencias son resultados distintos. El wrapper del chat soporta Cancelar y hace cumplir un límite de tiempo del proceso con un margen para limpiar.</a:t>
            </a:r>
          </a:p>
          <a:p/>
          <a:p>
            <a:r>
              <a:t>Los dorks estructurados conservan presets, filtros agrupados y la entrega de URLs con links_only. Una lista explícita de engines se salta los niveles de HTTP y de fuentes abiertas. Fija Google cuando importen los operadores exclusivos de Google; los motores alternativos pueden ampliar su significado. Las licencias y la autorización siguen siendo tu responsabilidad.</a:t>
            </a:r>
          </a:p>
        </p:txBody>
      </p:sp>
      <p:sp>
        <p:nvSpPr>
          <p:cNvPr id="4" name="Slide Number Placeholder 3"/>
          <p:cNvSpPr>
            <a:spLocks noGrp="1"/>
          </p:cNvSpPr>
          <p:nvPr>
            <p:ph type="sldNum" idx="5" sz="quarter"/>
          </p:nvPr>
        </p:nvSpPr>
        <p:spPr/>
      </p:sp>
    </p:spTree>
  </p:cSld>
  <p:clrMapOvr>
    <a:masterClrMapping/>
  </p:clrMapOvr>
</p:notes>
</file>

<file path=ppt/notesSlides/notesSlide9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Crawler empieza con la página dada, acota su trabajo y mantiene las páginas de rechazo lejos del modelo.</a:t>
            </a:r>
          </a:p>
          <a:p/>
          <a:p>
            <a:r>
              <a:t>El crawl_type predeterminado es page, con include_seed habilitado. Un crawl por rango usa de forma predeterminada 25 páginas y un presupuesto de 900 segundos para toda la ejecución. Cada descarga tiene un límite predeterminado de 45 segundos de reloj y un tope de 8,000,000 de bytes. Son valores predeterminados configurables; cero desactiva el conteo de páginas o el límite de todo el crawl, así que la operación ilimitada tiene que ser una elección deliberada.</a:t>
            </a:r>
          </a:p>
          <a:p/>
          <a:p>
            <a:r>
              <a:t>Los encabezados se leen sin distinguir mayúsculas. Los muros de bots, las páginas CAPTCHA y los rechazos de acceso se reportan antes del análisis; los tiempos agotados y las páginas inalcanzables siguen siendo resultados con nombre. Si no se analizó nada, el reporte final lo dice. Crawler lee el HTML descargado; no ejecuta JavaScript.</a:t>
            </a:r>
          </a:p>
          <a:p/>
          <a:p>
            <a:r>
              <a:t>Desde v1.72.4, Crawler y Googler usan una pila de regiones HTML saltadas, manejan los finales de head omitidos y las etiquetas que se cierran solas, y comparan la extracción con un fallback de texto plano. Cuando ese fallback tiene al menos 200 caracteres y el parser conservó menos del 25 por ciento, el fallback toma el control. Crawler avisa en su log; Googler devuelve un extraction_note. Las excepciones del parser también usan el fallback; las extracciones sanas no cambian.</a:t>
            </a:r>
          </a:p>
          <a:p/>
          <a:p>
            <a:r>
              <a:t>Primero la página: Lee la URL semilla de forma predeterminada; el crawl por rango es explícito.</a:t>
            </a:r>
          </a:p>
          <a:p/>
          <a:p>
            <a:r>
              <a:t>Presupuestos: Valores predeterminados: 25 páginas, 900 segundos en total, 45 segundos por descarga.</a:t>
            </a:r>
          </a:p>
          <a:p/>
          <a:p>
            <a:r>
              <a:t>Resultado veraz: Los rechazos nunca se vuelven contenido fuente; la falta de análisis se reporta claramente.</a:t>
            </a:r>
          </a:p>
          <a:p/>
          <a:p>
            <a:r>
              <a:t>Red de seguridad de texto: Debajo del 25% de un fallback de más de 200 caracteres: recupera y avisa.</a:t>
            </a:r>
          </a:p>
        </p:txBody>
      </p:sp>
      <p:sp>
        <p:nvSpPr>
          <p:cNvPr id="4" name="Slide Number Placeholder 3"/>
          <p:cNvSpPr>
            <a:spLocks noGrp="1"/>
          </p:cNvSpPr>
          <p:nvPr>
            <p:ph type="sldNum" idx="5" sz="quarter"/>
          </p:nvPr>
        </p:nvSpPr>
        <p:spPr/>
      </p:sp>
    </p:spTree>
  </p:cSld>
  <p:clrMapOvr>
    <a:masterClrMapping/>
  </p:clrMapOvr>
</p:notes>
</file>

<file path=ppt/notesSlides/notesSlide9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NetSpeed-Calculator publica una velocidad con un intervalo de confianza y mide la latencia bajo carga.</a:t>
            </a:r>
          </a:p>
          <a:p/>
          <a:p>
            <a:r>
              <a:t>Varios proveedores sin llave corren en paralelo. La medición descarta la rampa de slow-start de TCP, muestrea el throughput como una derivada, rechaza valores atípicos y fusiona los proveedores con un metaanálisis de efectos aleatorios. Califica el bufferbloat de A+ a F. Una ejecución completa transfiere unos 100 a 200 MB, así que pregunta antes de correr.</a:t>
            </a:r>
          </a:p>
        </p:txBody>
      </p:sp>
      <p:sp>
        <p:nvSpPr>
          <p:cNvPr id="4" name="Slide Number Placeholder 3"/>
          <p:cNvSpPr>
            <a:spLocks noGrp="1"/>
          </p:cNvSpPr>
          <p:nvPr>
            <p:ph type="sldNum" idx="5" sz="quarter"/>
          </p:nvPr>
        </p:nvSpPr>
        <p:spPr/>
      </p:sp>
    </p:spTree>
  </p:cSld>
  <p:clrMapOvr>
    <a:masterClrMapping/>
  </p:clrMapOvr>
</p:notes>
</file>

<file path=ppt/notesSlides/notesSlide9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agents de mensajería usan superficies oficiales de forma predeterminada y hacen de cada vía no oficial una elección explícita.</a:t>
            </a:r>
          </a:p>
          <a:p/>
          <a:p>
            <a:r>
              <a:t>Telegrammer: Envía como el bot o como tu propia cuenta; “envíalo como yo” elige la tuya.</a:t>
            </a:r>
          </a:p>
          <a:p/>
          <a:p>
            <a:r>
              <a:t>Whatsapper: La Cloud API oficial de Meta de forma predeterminada; tu propio número sólo cuando lo dices.</a:t>
            </a:r>
          </a:p>
          <a:p/>
          <a:p>
            <a:r>
              <a:t>TeleTlamatini: El chat completo en Telegram, en una cuenta dedicada.</a:t>
            </a:r>
          </a:p>
          <a:p/>
          <a:p>
            <a:r>
              <a:t>Instant Messaging Doctor: Revisa tokens, contactos, plantillas y ventanas de política.</a:t>
            </a:r>
          </a:p>
          <a:p/>
          <a:p>
            <a:r>
              <a:t>Contactos: El nombre de un contacto se resuelve a la dirección real cuando se envía un mensaje.</a:t>
            </a:r>
          </a:p>
        </p:txBody>
      </p:sp>
      <p:sp>
        <p:nvSpPr>
          <p:cNvPr id="4" name="Slide Number Placeholder 3"/>
          <p:cNvSpPr>
            <a:spLocks noGrp="1"/>
          </p:cNvSpPr>
          <p:nvPr>
            <p:ph type="sldNum" idx="5" sz="quarter"/>
          </p:nvPr>
        </p:nvSpPr>
        <p:spPr/>
      </p:sp>
    </p:spTree>
  </p:cSld>
  <p:clrMapOvr>
    <a:masterClrMapping/>
  </p:clrMapOvr>
</p:notes>
</file>

<file path=ppt/notesSlides/notesSlide10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Capítulo VI: Las promesas que cumple. Honestidad, consentimiento, seguridad y control, escritos en el código y no en un folleto.</a:t>
            </a:r>
          </a:p>
        </p:txBody>
      </p:sp>
      <p:sp>
        <p:nvSpPr>
          <p:cNvPr id="4" name="Slide Number Placeholder 3"/>
          <p:cNvSpPr>
            <a:spLocks noGrp="1"/>
          </p:cNvSpPr>
          <p:nvPr>
            <p:ph type="sldNum" idx="5" sz="quarter"/>
          </p:nvPr>
        </p:nvSpPr>
        <p:spPr/>
      </p:sp>
    </p:spTree>
  </p:cSld>
  <p:clrMapOvr>
    <a:masterClrMapping/>
  </p:clrMapOvr>
</p:notes>
</file>

<file path=ppt/notesSlides/notesSlide10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El asistente de cuentas lanza createsuperuser por medio de Executer y espera el input en su consola.</a:t>
            </a:r>
          </a:p>
          <a:p/>
          <a:p>
            <a:r>
              <a:t>El log instalado mostró dos falsos positivos independientes. 'I will type it' se refería a una contraseña pero reservaba todos los comandos para el usuario. Una frase de término más el campo opcional de email creaban por error una deuda de notificación. Estas protecciones del runtime anularon una selección inicialmente correcta de Executer y desviaron al asistente.</a:t>
            </a:r>
          </a:p>
          <a:p/>
          <a:p>
            <a:r>
              <a:t>La propiedad de escribir/teclear ahora exige un objeto de comando; el input ambiguo es neutral. Un lanzamiento explícito, por la asistente, de un programa con nombre levanta una lección anterior. Los tutoriales genuinos donde el usuario ejecuta siguen rechazando los ejecutores de comandos y mantienen desactivado el Enter de Terminater.</a:t>
            </a:r>
          </a:p>
          <a:p/>
          <a:p>
            <a:r>
              <a:t>Una notificación de término exige una instrucción positiva de envío ligada al término en la misma oración. Los campos de email, las explicaciones normales del chat, los ejemplos citados, las negaciones y la respuesta DONE del usuario no autorizan el envío. Las contraseñas se quedan fuera del chat. El asistente del catálogo crea un superusuario administrativo, no una cuenta común restringida.</a:t>
            </a:r>
          </a:p>
          <a:p/>
          <a:p>
            <a:r>
              <a:t>Lanzar: Executer abre el comando interactivo de source o congelado en una consola visible.</a:t>
            </a:r>
          </a:p>
          <a:p/>
          <a:p>
            <a:r>
              <a:t>Input: El nombre de usuario, el email opcional y la contraseña pertenecen a la interacción del usuario con la consola.</a:t>
            </a:r>
          </a:p>
          <a:p/>
          <a:p>
            <a:r>
              <a:t>Esperar: DONE / ERROR / NOWINDOW manejan el siguiente paso; sin afirmar éxito automáticamente.</a:t>
            </a:r>
          </a:p>
          <a:p/>
          <a:p>
            <a:r>
              <a:t>Notificar: Sólo una solicitud explícita de envío crea una deuda de notificación de término.</a:t>
            </a:r>
          </a:p>
        </p:txBody>
      </p:sp>
      <p:sp>
        <p:nvSpPr>
          <p:cNvPr id="4" name="Slide Number Placeholder 3"/>
          <p:cNvSpPr>
            <a:spLocks noGrp="1"/>
          </p:cNvSpPr>
          <p:nvPr>
            <p:ph type="sldNum" idx="5" sz="quarter"/>
          </p:nvPr>
        </p:nvSpPr>
        <p:spPr/>
      </p:sp>
    </p:spTree>
  </p:cSld>
  <p:clrMapOvr>
    <a:masterClrMapping/>
  </p:clrMapOvr>
</p:notes>
</file>

<file path=ppt/notesSlides/notesSlide10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Donde un sistema puede equivocarse con total seguridad, Tlamatini está construida para decir lo que sabe y lo que no sabe.</a:t>
            </a:r>
          </a:p>
          <a:p/>
          <a:p>
            <a:r>
              <a:t>Primero el autorreporte: El resultado tipado de un agent pesa más que un código de salida de un bit.</a:t>
            </a:r>
          </a:p>
          <a:p/>
          <a:p>
            <a:r>
              <a:t>Degradado es rojo: Un entregable comprometido nunca se pinta de verde.</a:t>
            </a:r>
          </a:p>
          <a:p/>
          <a:p>
            <a:r>
              <a:t>El silencio tiene nombre: Los archivos saltados, las transferencias muertas y los rechazos llevan una razón.</a:t>
            </a:r>
          </a:p>
          <a:p/>
          <a:p>
            <a:r>
              <a:t>La recuperación se narra: Los reintentos se muestran en vivo y se resumen en la respuesta.</a:t>
            </a:r>
          </a:p>
          <a:p/>
          <a:p>
            <a:r>
              <a:t>Creado no es limpio: Los documentos reportan sus auditorías antes de darse por terminados.</a:t>
            </a:r>
          </a:p>
          <a:p/>
          <a:p>
            <a:r>
              <a:t>Entregado no es aceptado: La evidencia de input del escritorio se mantiene aparte del éxito.</a:t>
            </a:r>
          </a:p>
        </p:txBody>
      </p:sp>
      <p:sp>
        <p:nvSpPr>
          <p:cNvPr id="4" name="Slide Number Placeholder 3"/>
          <p:cNvSpPr>
            <a:spLocks noGrp="1"/>
          </p:cNvSpPr>
          <p:nvPr>
            <p:ph type="sldNum" idx="5" sz="quarter"/>
          </p:nvPr>
        </p:nvSpPr>
        <p:spPr/>
      </p:sp>
    </p:spTree>
  </p:cSld>
  <p:clrMapOvr>
    <a:masterClrMapping/>
  </p:clrMapOvr>
</p:notes>
</file>

<file path=ppt/notesSlides/notesSlide10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Cada protección elige su dirección de falla deliberadamente, preguntándose qué error te dañaría más.</a:t>
            </a:r>
          </a:p>
        </p:txBody>
      </p:sp>
      <p:sp>
        <p:nvSpPr>
          <p:cNvPr id="4" name="Slide Number Placeholder 3"/>
          <p:cNvSpPr>
            <a:spLocks noGrp="1"/>
          </p:cNvSpPr>
          <p:nvPr>
            <p:ph type="sldNum" idx="5" sz="quarter"/>
          </p:nvPr>
        </p:nvSpPr>
        <p:spPr/>
      </p:sp>
    </p:spTree>
  </p:cSld>
  <p:clrMapOvr>
    <a:masterClrMapping/>
  </p:clrMapOvr>
</p:notes>
</file>

<file path=ppt/notesSlides/notesSlide10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Cada agent es un programa en Python simple, así que puedes leerlo, auditarlo, editarlo, restringirlo o desactivarlo. Esa transparencia es un medio de control, no una garantía de seguridad.</a:t>
            </a:r>
          </a:p>
          <a:p/>
          <a:p>
            <a:r>
              <a:t>Los agents no tienen autoridad propia. Tú decides si corren, dónde, cómo y con qué permisos lo hacen. Cuando habilitas, configuras, modificas, encadenas o ejecutas un agent, esa ejecución está bajo tu control y tu jurisdicción.</a:t>
            </a:r>
          </a:p>
          <a:p/>
          <a:p>
            <a:r>
              <a:t>Eres responsable de revisar el código y la configuración, limitar los secretos y los permisos, autorizar cada archivo, destino, browser, shell, API, servidor MCP, máquina y dispositivo que un agent pueda alcanzar, supervisar su output y cumplir con las leyes, políticas, licencias y acuerdos que apliquen.</a:t>
            </a:r>
          </a:p>
          <a:p/>
          <a:p>
            <a:r>
              <a:t>Al ejecutar un agent aceptas la responsabilidad de sus acciones y sus consecuencias. Lo que Tlamatini ofrece en orquestación, documentación y barandales no autoriza el acceso a sistemas de terceros y no pueden reemplazar tu propia revisión de seguridad, tus controles de permisos, tu monitoreo ni tu cumplimiento legal.</a:t>
            </a:r>
          </a:p>
        </p:txBody>
      </p:sp>
      <p:sp>
        <p:nvSpPr>
          <p:cNvPr id="4" name="Slide Number Placeholder 3"/>
          <p:cNvSpPr>
            <a:spLocks noGrp="1"/>
          </p:cNvSpPr>
          <p:nvPr>
            <p:ph type="sldNum" idx="5" sz="quarter"/>
          </p:nvPr>
        </p:nvSpPr>
        <p:spPr/>
      </p:sp>
    </p:spTree>
  </p:cSld>
  <p:clrMapOvr>
    <a:masterClrMapping/>
  </p:clrMapOvr>
</p:notes>
</file>

<file path=ppt/notesSlides/notesSlide10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bases de datos, los secretos y los archivos temporales tienen cada uno un camino bien definido.</a:t>
            </a:r>
          </a:p>
          <a:p/>
          <a:p>
            <a:r>
              <a:t>Base de datos segura con WAL: Los backups leen a través del write-ahead log con el API de backup en línea de SQLite y se verifican con quick_check.</a:t>
            </a:r>
          </a:p>
          <a:p/>
          <a:p>
            <a:r>
              <a:t>Reemplazo por etapas: Una base de datos nueva espera en DB/ToLoad; la vieja se archiva con sus archivos acompañantes antes de que arranque Django.</a:t>
            </a:r>
          </a:p>
          <a:p/>
          <a:p>
            <a:r>
              <a:t>Secretos: Los campos secretos conocidos se redactan de los archivos .flw exportados y de los builds públicos.</a:t>
            </a:r>
          </a:p>
          <a:p/>
          <a:p>
            <a:r>
              <a:t>Contactos privados: Los builds públicos y los snapshots del source no llevan datos de contactos.</a:t>
            </a:r>
          </a:p>
          <a:p/>
          <a:p>
            <a:r>
              <a:t>Archivos temporales: Los archivos temporales se quedan dentro de la propia carpeta Temp de la aplicación.</a:t>
            </a:r>
          </a:p>
          <a:p/>
          <a:p>
            <a:r>
              <a:t>Contraseñas: Las contraseñas de PDF viven sólo en memoria.</a:t>
            </a:r>
          </a:p>
        </p:txBody>
      </p:sp>
      <p:sp>
        <p:nvSpPr>
          <p:cNvPr id="4" name="Slide Number Placeholder 3"/>
          <p:cNvSpPr>
            <a:spLocks noGrp="1"/>
          </p:cNvSpPr>
          <p:nvPr>
            <p:ph type="sldNum" idx="5" sz="quarter"/>
          </p:nvPr>
        </p:nvSpPr>
        <p:spPr/>
      </p:sp>
    </p:spTree>
  </p:cSld>
  <p:clrMapOvr>
    <a:masterClrMapping/>
  </p:clrMapOvr>
</p:notes>
</file>

<file path=ppt/notesSlides/notesSlide10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 regla de desarrollo de Tlamatini es que cada prueba, build y diagnóstico corra de forma visible, en un escritorio real, donde su creadora puede ver cada paso.</a:t>
            </a:r>
          </a:p>
          <a:p/>
          <a:p>
            <a:r>
              <a:t>Las pruebas de browser corren con ventana en Chrome real, las consolas se abren en primer plano, y las fotos de todo el escritorio las toma el propio agent Shoter de Tlamatini, porque usar el agent es la prueba del agent. Una respuesta vieja, transitoria o con tiempo agotado nunca se registra como aprobada.</a:t>
            </a:r>
          </a:p>
          <a:p/>
          <a:p>
            <a:r>
              <a:t>Las protecciones derivadas del source detienen la deriva antes de publicarse: el vocabulario de status, los nombres para mostrar, el cierre de diálogos, el orden del catálogo, la lista permitida de Ask Execs, la compuerta de self-modify y la prueba de módulos del bundle congelado se revisan con pruebas que leen el source real.</a:t>
            </a:r>
          </a:p>
        </p:txBody>
      </p:sp>
      <p:sp>
        <p:nvSpPr>
          <p:cNvPr id="4" name="Slide Number Placeholder 3"/>
          <p:cNvSpPr>
            <a:spLocks noGrp="1"/>
          </p:cNvSpPr>
          <p:nvPr>
            <p:ph type="sldNum" idx="5" sz="quarter"/>
          </p:nvPr>
        </p:nvSpPr>
        <p:spPr/>
      </p:sp>
    </p:spTree>
  </p:cSld>
  <p:clrMapOvr>
    <a:masterClrMapping/>
  </p:clrMapOvr>
</p:notes>
</file>

<file path=ppt/notesSlides/notesSlide10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Capítulo VII: Instalar, configurar, ejecutar. De una máquina Windows recién instalada a una asistente funcionando, y del source a un release aprobado.</a:t>
            </a:r>
          </a:p>
        </p:txBody>
      </p:sp>
      <p:sp>
        <p:nvSpPr>
          <p:cNvPr id="4" name="Slide Number Placeholder 3"/>
          <p:cNvSpPr>
            <a:spLocks noGrp="1"/>
          </p:cNvSpPr>
          <p:nvPr>
            <p:ph type="sldNum" idx="5" sz="quarter"/>
          </p:nvPr>
        </p:nvSpPr>
        <p:spPr/>
      </p:sp>
    </p:spTree>
  </p:cSld>
  <p:clrMapOvr>
    <a:masterClrMapping/>
  </p:clrMapOvr>
</p:notes>
</file>

<file path=ppt/notesSlides/notesSlide10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Tlamatini en sí es gratis. La única compra es un plan de Ollama, comprado directamente a Ollama.</a:t>
            </a:r>
          </a:p>
        </p:txBody>
      </p:sp>
      <p:sp>
        <p:nvSpPr>
          <p:cNvPr id="4" name="Slide Number Placeholder 3"/>
          <p:cNvSpPr>
            <a:spLocks noGrp="1"/>
          </p:cNvSpPr>
          <p:nvPr>
            <p:ph type="sldNum" idx="5" sz="quarter"/>
          </p:nvPr>
        </p:nvSpPr>
        <p:spPr/>
      </p:sp>
    </p:spTree>
  </p:cSld>
  <p:clrMapOvr>
    <a:masterClrMapping/>
  </p:clrMapOvr>
</p:notes>
</file>

<file path=ppt/notesSlides/notesSlide10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 auditoría de dependencias del 18 de octubre cubre los 85 agents, los helpers de build, los imports opcionales y las pruebas.</a:t>
            </a:r>
          </a:p>
          <a:p/>
          <a:p>
            <a:r>
              <a:t>La protección estática actualizada revisó 855 archivos de Python y 72 distribuciones referidas directamente. El archivo completo de requirements fija las 263 distribuciones, incluido PyTorch para CPU. Pasaron una instalación limpia de Python, una revisión de consistencia de dependencias y los imports en runtime.</a:t>
            </a:r>
          </a:p>
          <a:p/>
          <a:p>
            <a:r>
              <a:t>ESPHome tiene un manifiesto aparte, requirements-esphome.txt, porque sus versiones fijas de py7zr y PlatformIO chocan con el entorno principal. Mantenlo en su runtime privado. bpy de Blender, unreal de Unreal, los toolchains de dispositivos, los paquetes npm y los pesos de los modelos siguen sus propios contratos de runtime; no son paquetes pip faltantes.</a:t>
            </a:r>
          </a:p>
          <a:p/>
          <a:p>
            <a:r>
              <a:t>Protección de cobertura: scripts/check_requirements_coverage.py revisa los inventarios del source y del build.</a:t>
            </a:r>
          </a:p>
          <a:p/>
          <a:p>
            <a:r>
              <a:t>Verificación: 18 de octubre: sin declaraciones faltantes, errores de sintaxis ni imports dinámicos sin revisar.</a:t>
            </a:r>
          </a:p>
          <a:p/>
          <a:p>
            <a:r>
              <a:t>Evidencia anterior: 27 de septiembre: pasaron las ejecuciones de prueba de main/ESPHome y las revisiones rápidas de dependencias en un entorno temporal.</a:t>
            </a:r>
          </a:p>
          <a:p/>
          <a:p>
            <a:r>
              <a:t>Límites: Una instalación limpia de las dependencias de Python no certifica el instalador compilado ni cada integración externa.</a:t>
            </a:r>
          </a:p>
        </p:txBody>
      </p:sp>
      <p:sp>
        <p:nvSpPr>
          <p:cNvPr id="4" name="Slide Number Placeholder 3"/>
          <p:cNvSpPr>
            <a:spLocks noGrp="1"/>
          </p:cNvSpPr>
          <p:nvPr>
            <p:ph type="sldNum" idx="5" sz="quarter"/>
          </p:nvPr>
        </p:nvSpPr>
        <p:spPr/>
      </p:sp>
    </p:spTree>
  </p:cSld>
  <p:clrMapOvr>
    <a:masterClrMapping/>
  </p:clrMapOvr>
</p:notes>
</file>

<file path=ppt/notesSlides/notesSlide1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Tlamatini corre desde el source o como un ejecutable congelado construido con PyInstaller. Sólo cambia la resolución de paths, y CONFIG_PATH reemplaza la ubicación de la configuración en ambos.</a:t>
            </a:r>
          </a:p>
          <a:p/>
          <a:p>
            <a:r>
              <a:t>Un build instalado resuelve config.json junto a Tlamatini.exe; una ejecución desde el source usa Tlamatini/agent/config.json. Un segundo eje independiente es la automodificación: un build hecho con --self-modify lleva su source completo y recompilable junto al ejecutable, y su autoconocimiento viaja con él. Sin la bandera, no se incluye ninguno. Una ejecución desde el source siempre puede automodificarse, y un interruptor Self-modify de la barra de herramientas decide por solicitud si se envía su autoconocimiento; se bloquea apagado cuando el modelo no puede contenerlo.</a:t>
            </a:r>
          </a:p>
          <a:p/>
          <a:p>
            <a:r>
              <a:t>El dictado directo además usa un listener loopback privado y efímero para el saludo de su worker. Se cierra después de la autenticación; no es un cuarto servicio público ni un puerto fijo.</a:t>
            </a:r>
          </a:p>
          <a:p/>
          <a:p>
            <a:r>
              <a:t>Ambos servicios MCP respetan sus hosts y puertos configurados en modo source y congelado; las URIs de sus clientes deben coincidir. Files-Search también respeta su número de workers y acota las esperas de RPC. Ambos clientes soportan archivos de configuración UTF-8 con BOM y los overrides de CONFIG_PATH.</a:t>
            </a:r>
          </a:p>
        </p:txBody>
      </p:sp>
      <p:sp>
        <p:nvSpPr>
          <p:cNvPr id="4" name="Slide Number Placeholder 3"/>
          <p:cNvSpPr>
            <a:spLocks noGrp="1"/>
          </p:cNvSpPr>
          <p:nvPr>
            <p:ph type="sldNum" idx="5" sz="quarter"/>
          </p:nvPr>
        </p:nvSpPr>
        <p:spPr/>
      </p:sp>
    </p:spTree>
  </p:cSld>
  <p:clrMapOvr>
    <a:masterClrMapping/>
  </p:clrMapOvr>
</p:notes>
</file>

<file path=ppt/notesSlides/notesSlide1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Unas cuantas llaves de config.json dan forma a su comportamiento; todo lo demás tiene valores predeterminados sensatos.</a:t>
            </a:r>
          </a:p>
        </p:txBody>
      </p:sp>
      <p:sp>
        <p:nvSpPr>
          <p:cNvPr id="4" name="Slide Number Placeholder 3"/>
          <p:cNvSpPr>
            <a:spLocks noGrp="1"/>
          </p:cNvSpPr>
          <p:nvPr>
            <p:ph type="sldNum" idx="5" sz="quarter"/>
          </p:nvPr>
        </p:nvSpPr>
        <p:spPr/>
      </p:sp>
    </p:spTree>
  </p:cSld>
  <p:clrMapOvr>
    <a:masterClrMapping/>
  </p:clrMapOvr>
</p:notes>
</file>

<file path=ppt/notesSlides/notesSlide1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Unas cuantas llaves de config.json dan forma a su comportamiento; todo lo demás tiene valores predeterminados sensatos.</a:t>
            </a:r>
          </a:p>
        </p:txBody>
      </p:sp>
      <p:sp>
        <p:nvSpPr>
          <p:cNvPr id="4" name="Slide Number Placeholder 3"/>
          <p:cNvSpPr>
            <a:spLocks noGrp="1"/>
          </p:cNvSpPr>
          <p:nvPr>
            <p:ph type="sldNum" idx="5" sz="quarter"/>
          </p:nvPr>
        </p:nvSpPr>
        <p:spPr/>
      </p:sp>
    </p:spTree>
  </p:cSld>
  <p:clrMapOvr>
    <a:masterClrMapping/>
  </p:clrMapOvr>
</p:notes>
</file>

<file path=ppt/notesSlides/notesSlide1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Unas cuantas llaves de config.json dan forma a su comportamiento; todo lo demás tiene valores predeterminados sensatos.</a:t>
            </a:r>
          </a:p>
        </p:txBody>
      </p:sp>
      <p:sp>
        <p:nvSpPr>
          <p:cNvPr id="4" name="Slide Number Placeholder 3"/>
          <p:cNvSpPr>
            <a:spLocks noGrp="1"/>
          </p:cNvSpPr>
          <p:nvPr>
            <p:ph type="sldNum" idx="5" sz="quarter"/>
          </p:nvPr>
        </p:nvSpPr>
        <p:spPr/>
      </p:sp>
    </p:spTree>
  </p:cSld>
  <p:clrMapOvr>
    <a:masterClrMapping/>
  </p:clrMapOvr>
</p:notes>
</file>

<file path=ppt/notesSlides/notesSlide1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Tres scripts de build producen un release independiente para Windows, y el build prueba lo que incluye antes de empaquetar cualquier cosa.</a:t>
            </a:r>
          </a:p>
          <a:p/>
          <a:p>
            <a:r>
              <a:t>Bundle de PyInstaller: Archivos estáticos recolectados, plantillas, agents, skills y helpers, con numpy y OpenCV incluidos en los dos Pythons que se distribuyen.</a:t>
            </a:r>
          </a:p>
          <a:p/>
          <a:p>
            <a:r>
              <a:t>Prueba de transporte: El build abre el archivo que produjo y se detiene si falta un módulo requerido de los que fallan abiertos.</a:t>
            </a:r>
          </a:p>
          <a:p/>
          <a:p>
            <a:r>
              <a:t>Compuertas de runtime: Cada runtime de agent y cada cargador de modelos se ejecuta dentro del nuevo ejecutable congelado, y la revisión del Prompt Flow Panel también corre ahí.</a:t>
            </a:r>
          </a:p>
          <a:p/>
          <a:p>
            <a:r>
              <a:t>Recibo de integridad: Un recibo SHA-256 cubre cada archivo del payload y se vuelve a revisar cuando se arma el instalador.</a:t>
            </a:r>
          </a:p>
          <a:p/>
          <a:p>
            <a:r>
              <a:t>Tope de tamaño: El ZIP final del release se queda debajo de 1,990,000,000 bytes; los archivos requeridos nunca se quitan para que quepa.</a:t>
            </a:r>
          </a:p>
        </p:txBody>
      </p:sp>
      <p:sp>
        <p:nvSpPr>
          <p:cNvPr id="4" name="Slide Number Placeholder 3"/>
          <p:cNvSpPr>
            <a:spLocks noGrp="1"/>
          </p:cNvSpPr>
          <p:nvPr>
            <p:ph type="sldNum" idx="5" sz="quarter"/>
          </p:nvPr>
        </p:nvSpPr>
        <p:spPr/>
      </p:sp>
    </p:spTree>
  </p:cSld>
  <p:clrMapOvr>
    <a:masterClrMapping/>
  </p:clrMapOvr>
</p:notes>
</file>

<file path=ppt/notesSlides/notesSlide1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Una reparación del 27 de septiembre, incluida desde v1.72.1, lleva el helper de configuración de Whisperer sin debilitar la verificación del paquete.</a:t>
            </a:r>
          </a:p>
          <a:p/>
          <a:p>
            <a:r>
              <a:t>Un build rechazó correctamente un recibo de runtime porque faltaba chat_voice_settings.py. El verificador exigía el helper suelto, pero build.py usaba un diccionario de copia aparte que lo omitía. Compilar agent.chat_voice_settings no satisface al worker independiente de Whisperer que corre con el Python incluido.</a:t>
            </a:r>
          </a:p>
          <a:p/>
          <a:p>
            <a:r>
              <a:t>build.py ahora llama a copy_root_sources con el inventario ROOT_SOURCES del verificador. Todos los inputs se revisan antes de copiar. Cada destino mapeado es obligatorio tanto en los recibos del ZIP como en los de la etapa extraída, así que quitar un archivo requerido y su entrada en el recibo sigue fallando. La línea base de hashes previa al congelado sigue rechazando cambios en el source durante un build.</a:t>
            </a:r>
          </a:p>
          <a:p/>
          <a:p>
            <a:r>
              <a:t>Un solo transportador: La copia y la verificación comparten ROOT_SOURCES; un nuevo helper requerido no necesita una segunda lista.</a:t>
            </a:r>
          </a:p>
          <a:p/>
          <a:p>
            <a:r>
              <a:t>Import del worker: Lleva chat_voice_settings.py en la raíz de la instalación además de compilar el módulo de Django.</a:t>
            </a:r>
          </a:p>
          <a:p/>
          <a:p>
            <a:r>
              <a:t>Integridad: Rechaza archivos faltantes, editados o fuera del manifiesto, incluidos los recibos incompletos que por lo demás son consistentes.</a:t>
            </a:r>
          </a:p>
          <a:p/>
          <a:p>
            <a:r>
              <a:t>Inputs de recompilación: Los barridos espejo de self-update/self-modify incluyen el inventario compartido y reportan las revisiones de Git omitidas.</a:t>
            </a:r>
          </a:p>
        </p:txBody>
      </p:sp>
      <p:sp>
        <p:nvSpPr>
          <p:cNvPr id="4" name="Slide Number Placeholder 3"/>
          <p:cNvSpPr>
            <a:spLocks noGrp="1"/>
          </p:cNvSpPr>
          <p:nvPr>
            <p:ph type="sldNum" idx="5" sz="quarter"/>
          </p:nvPr>
        </p:nvSpPr>
        <p:spPr/>
      </p:sp>
    </p:spTree>
  </p:cSld>
  <p:clrMapOvr>
    <a:masterClrMapping/>
  </p:clrMapOvr>
</p:notes>
</file>

<file path=ppt/notesSlides/notesSlide1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revisiones a nivel de archivos del 27 de septiembre establecen el transporte y la integridad; un instalador completo es una verificación aparte.</a:t>
            </a:r>
          </a:p>
          <a:p/>
          <a:p>
            <a:r>
              <a:t>La suite enfocada registrada corrió 146 pruebas: 145 pasaron y un censo que depende de Git se saltó. Ejercitó el transportador real con archivos del source, importó el worker desde una instalación preparada, y verificó la creación del ZIP, la extracción y los recibos con binarios de runtime sintéticos. Se rechazaron los helpers faltantes o corruptos y los archivos extra.</a:t>
            </a:r>
          </a:p>
          <a:p/>
          <a:p>
            <a:r>
              <a:t>El barrido de self-update registrado con --no-git no tuvo hallazgos. Un snapshot de self-modify copió 1,579 archivos sin errores de copia y contempló los 778 inputs de source del runtime. Son los conteos fechados de esa auditoría. Ni esas revisiones ni esta regeneración del dossier corrieron un build completo de PyInstaller, instalaron un release ni hicieron un cambio de actualización en vivo.</a:t>
            </a:r>
          </a:p>
          <a:p/>
          <a:p>
            <a:r>
              <a:t>Suite enfocada: 146 pruebas registradas: 145 pasaron, una se saltó; el harness sólo de archivos salió con éxito.</a:t>
            </a:r>
          </a:p>
          <a:p/>
          <a:p>
            <a:r>
              <a:t>Archivos reales: Cada destino de source mapeado coincidió; el worker preparado resolvió su helper de configuración.</a:t>
            </a:r>
          </a:p>
          <a:p/>
          <a:p>
            <a:r>
              <a:t>Snapshot: Auditoría registrada: 1,579 archivos, 11 redactados, 778 inputs de runtime cubiertos, cero errores de copia.</a:t>
            </a:r>
          </a:p>
          <a:p/>
          <a:p>
            <a:r>
              <a:t>Evidencia: docs/build-root-assets-verification.md registra el alcance, las revisiones saltadas y las transcripciones locales.</a:t>
            </a:r>
          </a:p>
        </p:txBody>
      </p:sp>
      <p:sp>
        <p:nvSpPr>
          <p:cNvPr id="4" name="Slide Number Placeholder 3"/>
          <p:cNvSpPr>
            <a:spLocks noGrp="1"/>
          </p:cNvSpPr>
          <p:nvPr>
            <p:ph type="sldNum" idx="5" sz="quarter"/>
          </p:nvPr>
        </p:nvSpPr>
        <p:spPr/>
      </p:sp>
    </p:spTree>
  </p:cSld>
  <p:clrMapOvr>
    <a:masterClrMapping/>
  </p:clrMapOvr>
</p:notes>
</file>

<file path=ppt/notesSlides/notesSlide1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Acerca de ▸ Buscar actualizaciones trae el último release publicado, lo prepara y le pasa el cambio de archivos bloqueados a un script externo.</a:t>
            </a:r>
          </a:p>
          <a:p/>
          <a:p>
            <a:r>
              <a:t>El cambio conserva config.json, la base de datos, los contactos, el catálogo de External MCPs, Temp, Templates, el contenido generado y el desinstalador que se construye por separado. La base de datos se copia con el API de backup en línea de SQLite antes del apagado, y luego se le aplican las nuevas migraciones en el siguiente arranque, así que el historial del chat y la configuración sobreviven mientras llegan agents y prompts nuevos.</a:t>
            </a:r>
          </a:p>
          <a:p/>
          <a:p>
            <a:r>
              <a:t>Las descargas y los recibos de la preparación se verifican antes del apagado, y un prerrequisito con error se detiene antes de reemplazar cualquier archivo. Mientras corre la descarga, el diálogo de actualización está sellado y se niega a cerrarse.</a:t>
            </a:r>
          </a:p>
        </p:txBody>
      </p:sp>
      <p:sp>
        <p:nvSpPr>
          <p:cNvPr id="4" name="Slide Number Placeholder 3"/>
          <p:cNvSpPr>
            <a:spLocks noGrp="1"/>
          </p:cNvSpPr>
          <p:nvPr>
            <p:ph type="sldNum" idx="5" sz="quarter"/>
          </p:nvPr>
        </p:nvSpPr>
        <p:spPr/>
      </p:sp>
    </p:spTree>
  </p:cSld>
  <p:clrMapOvr>
    <a:masterClrMapping/>
  </p:clrMapOvr>
</p:notes>
</file>

<file path=ppt/notesSlides/notesSlide1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Tlamatini sigue el Versionado Semántico, con tags anotados de Git como única fuente de verdad.</a:t>
            </a:r>
          </a:p>
          <a:p/>
          <a:p>
            <a:r>
              <a:t>El resolvedor del runtime, la ventana Acerca de, el endpoint /agent/version/ y cada artefacto del build reportan el mismo tag base. La versión reportada nunca lleva un sufijo de desarrollo ni de cambios sin commit, y TLAMATINI_VERSION puede documentar un release antes de que se cree su tag.</a:t>
            </a:r>
          </a:p>
          <a:p/>
          <a:p>
            <a:r>
              <a:t>Este dossier reporta la versión 1.91.1 e indica el tag, el commit y el estado de publicación exactos en su capítulo Release.</a:t>
            </a:r>
          </a:p>
        </p:txBody>
      </p:sp>
      <p:sp>
        <p:nvSpPr>
          <p:cNvPr id="4" name="Slide Number Placeholder 3"/>
          <p:cNvSpPr>
            <a:spLocks noGrp="1"/>
          </p:cNvSpPr>
          <p:nvPr>
            <p:ph type="sldNum" idx="5" sz="quarter"/>
          </p:nvPr>
        </p:nvSpPr>
        <p:spPr/>
      </p:sp>
    </p:spTree>
  </p:cSld>
  <p:clrMapOvr>
    <a:masterClrMapping/>
  </p:clrMapOvr>
</p:notes>
</file>

<file path=ppt/notesSlides/notesSlide1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Capítulo VIII: Release actual. Release del source v1.91.1; la entrega del paquete y la aceptación en runtime necesitan evidencia aparte.</a:t>
            </a:r>
          </a:p>
        </p:txBody>
      </p:sp>
      <p:sp>
        <p:nvSpPr>
          <p:cNvPr id="4" name="Slide Number Placeholder 3"/>
          <p:cNvSpPr>
            <a:spLocks noGrp="1"/>
          </p:cNvSpPr>
          <p:nvPr>
            <p:ph type="sldNum" idx="5" sz="quarter"/>
          </p:nvPr>
        </p:nvSpPr>
        <p:spPr/>
      </p:sp>
    </p:spTree>
  </p:cSld>
  <p:clrMapOvr>
    <a:masterClrMapping/>
  </p:clrMapOvr>
</p:notes>
</file>

<file path=ppt/notesSlides/notesSlide1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Tag 9915938a, con fecha del 27 de octubre de 2026; publicado como el release Latest.</a:t>
            </a:r>
          </a:p>
          <a:p/>
          <a:p>
            <a:r>
              <a:t>Un parche sobre v1.91.0. Cada chain carga el historial de su propia conversación, así que una ejecución de Prompt Flow conserva su propia memoria y nunca se contesta con otra conversación.</a:t>
            </a:r>
          </a:p>
          <a:p/>
          <a:p>
            <a:r>
              <a:t>Una Decisión equals acepta una respuesta que empieza con la palabra esperada, y el Prompt anterior pide sólo esa palabra en la primera línea. El uso de una ejecución de flow se registra para la cuenta dueña de ella.</a:t>
            </a:r>
          </a:p>
          <a:p/>
          <a:p>
            <a:r>
              <a:t>Telegrammer envía como el bot cuando la solicitud dice 'using the bot'. Un agent wrapped llamado por su nombre corto se resuelve y se registra como [TOOL-ALIAS]. No se agregó ningún agent, tool, skill ni migración.</a:t>
            </a:r>
          </a:p>
          <a:p/>
          <a:p>
            <a:r>
              <a:t>Historial: Cada ejecución y cada usuario leen sólo su propia conversación.</a:t>
            </a:r>
          </a:p>
          <a:p/>
          <a:p>
            <a:r>
              <a:t>Decisiones: '## YES - ...' es igual a YES; 'Yesterday' no.</a:t>
            </a:r>
          </a:p>
          <a:p/>
          <a:p>
            <a:r>
              <a:t>Enrutamiento: 'Using the bot' envía como el bot; los nombres cortos de tools siguen funcionando.</a:t>
            </a:r>
          </a:p>
          <a:p/>
          <a:p>
            <a:r>
              <a:t>Inventario: 86 agents; 110 tools; 220 migraciones; 64 módulos JS; 29 hojas de estilo.</a:t>
            </a:r>
          </a:p>
        </p:txBody>
      </p:sp>
      <p:sp>
        <p:nvSpPr>
          <p:cNvPr id="4" name="Slide Number Placeholder 3"/>
          <p:cNvSpPr>
            <a:spLocks noGrp="1"/>
          </p:cNvSpPr>
          <p:nvPr>
            <p:ph type="sldNum" idx="5" sz="quarter"/>
          </p:nvPr>
        </p:nvSpPr>
        <p:spPr/>
      </p:sp>
    </p:spTree>
  </p:cSld>
  <p:clrMapOvr>
    <a:masterClrMapping/>
  </p:clrMapOvr>
</p:notes>
</file>

<file path=ppt/notesSlides/notesSlide1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Tag a771d27c, con fecha del 23 de octubre de 2026, y publicado en GitHub ese día.</a:t>
            </a:r>
          </a:p>
          <a:p/>
          <a:p>
            <a:r>
              <a:t>Las pestañas Live Editor, Terminater y Voz comparten un esquema, almacenamiento autenticado por cuenta y revisiones optimistas. La migración 0220 agrega InteractionSettings. El comportamiento de la cuenta llega al editor real y al único TerminalHub; la apariencia del browser/cuenta se queda local.</a:t>
            </a:r>
          </a:p>
          <a:p/>
          <a:p>
            <a:r>
              <a:t>Evidencia del source del 23 de octubre: pasaron 17 revisiones visibles en el browser, incluida voz genuina del sistema operativo terminando antes de la primera tecla de la terminal. La ejecución de regresión de la implementación pasó 929 de 931 pruebas; fallaron dos aserciones existentes de la documentación del README. Esta revisión de la documentación restaura esas secciones; sus 94 pruebas enfocadas pasaron, incluidas las dos aserciones del README.</a:t>
            </a:r>
          </a:p>
          <a:p/>
          <a:p>
            <a:r>
              <a:t>v1.91.0 se publicó en GitHub el 23 de octubre de 2026. Estos documentos regenerados no afirman un nuevo build del ejecutable ni una aceptación instalada. El tag existente se conserva.</a:t>
            </a:r>
          </a:p>
          <a:p/>
          <a:p>
            <a:r>
              <a:t>Diálogo: Ritmo, enseñanza, comportamiento de la terminal, narración, apariencia y vistas previas del borrador.</a:t>
            </a:r>
          </a:p>
          <a:p/>
          <a:p>
            <a:r>
              <a:t>Runtime: Snapshots reales de la configuración, revisiones de la revisión y recibos de narración cancelables.</a:t>
            </a:r>
          </a:p>
          <a:p/>
          <a:p>
            <a:r>
              <a:t>Compatibilidad: Los flows heredados con valores explícitos los conservan; los flows nuevos pueden heredar los valores predeterminados.</a:t>
            </a:r>
          </a:p>
          <a:p/>
          <a:p>
            <a:r>
              <a:t>Inventario: 86 agents; 110 tools; 220 migraciones; 64 módulos JS; 29 hojas de estilo.</a:t>
            </a:r>
          </a:p>
        </p:txBody>
      </p:sp>
      <p:sp>
        <p:nvSpPr>
          <p:cNvPr id="4" name="Slide Number Placeholder 3"/>
          <p:cNvSpPr>
            <a:spLocks noGrp="1"/>
          </p:cNvSpPr>
          <p:nvPr>
            <p:ph type="sldNum" idx="5" sz="quarter"/>
          </p:nvPr>
        </p:nvSpPr>
        <p:spPr/>
      </p:sp>
    </p:spTree>
  </p:cSld>
  <p:clrMapOvr>
    <a:masterClrMapping/>
  </p:clrMapOvr>
</p:notes>
</file>

<file path=ppt/notesSlides/notesSlide1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v1.89.0 introdujo la edición y el guardado nativo; v1.90.0 lleva Interactor y las correcciones de intención.</a:t>
            </a:r>
          </a:p>
          <a:p/>
          <a:p>
            <a:r>
              <a:t>El tag anotado v1.90.0 apunta a ebc5c3b4; esta actualización de la documentación empezó en d274f89c, el commit siguiente, también presente en origin/main. Un tag y las pruebas del source no establecen que un ejecutable instalado por separado se haya recompilado o aceptado.</a:t>
            </a:r>
          </a:p>
          <a:p/>
          <a:p>
            <a:r>
              <a:t>Interactor agrega un tool de módulo, no una plantilla de agent de workflow. La migración 0218 siembra su fila de Tool y un ejemplo del catálogo. La vinculación completa de los tools habilitados, la selección de Compact mode y las etiquetas de costo comparten tool_gate_table. El bundle del editor sin conexión incluye la extensión de enseñanza.</a:t>
            </a:r>
          </a:p>
          <a:p/>
          <a:p>
            <a:r>
              <a:t>Edición: Guardar como nativo, source exacto, historial de deshacer y persistencia que detecta conflictos.</a:t>
            </a:r>
          </a:p>
          <a:p/>
          <a:p>
            <a:r>
              <a:t>Enseñanza: Lecturas frescas sin guardar, segmentos cortos de escritura, campos para quien aprende y sugerencias locales.</a:t>
            </a:r>
          </a:p>
          <a:p/>
          <a:p>
            <a:r>
              <a:t>Recuperación: Pausas acotadas por visibilidad de la pestaña y una distribución usable con el canvas angosto.</a:t>
            </a:r>
          </a:p>
          <a:p/>
          <a:p>
            <a:r>
              <a:t>Inventario: 86 agents; 67 wrapped; 110 tools integrados; 220 migraciones. Los conteos describen el source inspeccionado.</a:t>
            </a:r>
          </a:p>
        </p:txBody>
      </p:sp>
      <p:sp>
        <p:nvSpPr>
          <p:cNvPr id="4" name="Slide Number Placeholder 3"/>
          <p:cNvSpPr>
            <a:spLocks noGrp="1"/>
          </p:cNvSpPr>
          <p:nvPr>
            <p:ph type="sldNum" idx="5" sz="quarter"/>
          </p:nvPr>
        </p:nvSpPr>
        <p:spPr/>
      </p:sp>
    </p:spTree>
  </p:cSld>
  <p:clrMapOvr>
    <a:masterClrMapping/>
  </p:clrMapOvr>
</p:notes>
</file>

<file path=ppt/notesSlides/notesSlide1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Son ejecuciones registradas del 21 al 22 de octubre, no pruebas que la generación de la documentación vuelve a correr en silencio.</a:t>
            </a:r>
          </a:p>
        </p:txBody>
      </p:sp>
      <p:sp>
        <p:nvSpPr>
          <p:cNvPr id="4" name="Slide Number Placeholder 3"/>
          <p:cNvSpPr>
            <a:spLocks noGrp="1"/>
          </p:cNvSpPr>
          <p:nvPr>
            <p:ph type="sldNum" idx="5" sz="quarter"/>
          </p:nvPr>
        </p:nvSpPr>
        <p:spPr/>
      </p:sp>
    </p:spTree>
  </p:cSld>
  <p:clrMapOvr>
    <a:masterClrMapping/>
  </p:clrMapOvr>
</p:notes>
</file>

<file path=ppt/notesSlides/notesSlide1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Tlamatini v1.88.0 introdujo Terminater; su tag se creó el 20 de octubre.</a:t>
            </a:r>
          </a:p>
          <a:p/>
          <a:p>
            <a:r>
              <a:t>Terminater es el agent de workflow número 86. Abre terminales reales de CMD y PowerShell en una nueva área Terminals (Vistas → Terminals, o Ctrl+`) en las páginas del chat, del Agentic Control Panel y del Prompt Flow Panel. Tlamatini teclea cada tecla como una persona, unas 50 palabras por minuto y nunca pegando, espera el comando, lee todo su output y reporta el código de salida. Esc toma el teclado; un comando te lo puede pasar a propósito con &lt;&lt;USER:hint&gt;&gt;.</a:t>
            </a:r>
          </a:p>
          <a:p/>
          <a:p>
            <a:r>
              <a:t>Un comando que deja de responder se marca como colgado y se puede detener sin perder la terminal; uno que sale con error es una fila roja del Exec Report aunque la terminal haya funcionado. Un solo hub en el proceso de Django es dueño de los shells, así que cerrar una página nunca cierra uno. Es el agent de chat wrapped número 67, la octava operación del Prompt Flow Panel, y tiene tres tarjetas seguras en el Catálogo de prompts.</a:t>
            </a:r>
          </a:p>
          <a:p/>
          <a:p>
            <a:r>
              <a:t>Ahora el build lo prueba dentro de la app congelada: check_terminater maneja un PowerShell real, un cmd.exe real, el agent del pool incluido con el Python incluido y un viaje de ida y vuelta por WebSocket, y el empaquetado se detiene si falla. El 19 de octubre pasaron 774 pruebas unitarias, y 1,668 pasaron después de la revisión de la documentación. Las suites visibles guardadas de la página del chat y del canvas no se volvieron a correr como una sola pasada limpia después de sus últimos arreglos.</a:t>
            </a:r>
          </a:p>
          <a:p/>
          <a:p>
            <a:r>
              <a:t>El tag v1.88.0 se creó el 20 de octubre y apunta al commit anterior a este trabajo; el trabajo llegó a main en el siguiente commit, así que un build de main reportaba entonces 1.88.0 y lo llevaba todo.</a:t>
            </a:r>
          </a:p>
          <a:p/>
          <a:p>
            <a:r>
              <a:t>El release privado (con llaves) ahora lleva los datos de la máquina que lo construye: cada servidor de External MCP de la copia instalada y su elección activa, combinados en un catálogo privado ignorado por git, y toda la bóveda data.keys. El builder público rechaza ambos. Una actualización desde la app no conserva data.keys.</a:t>
            </a:r>
          </a:p>
          <a:p/>
          <a:p>
            <a:r>
              <a:t>Terminales: CMD y PowerShell reales que puedes ver, tecleados como una persona, con entrega del teclado.</a:t>
            </a:r>
          </a:p>
          <a:p/>
          <a:p>
            <a:r>
              <a:t>Conteos actuales: 86 agents · 67 wrapped · 110 tools · 220 migraciones.</a:t>
            </a:r>
          </a:p>
          <a:p/>
          <a:p>
            <a:r>
              <a:t>Compuerta: check_terminater corre dentro de la app congelada; el empaquetado se detiene si falla.</a:t>
            </a:r>
          </a:p>
          <a:p/>
          <a:p>
            <a:r>
              <a:t>Release privado: Los servidores de External MCP y data.keys viajan sólo en el build con llaves.</a:t>
            </a:r>
          </a:p>
        </p:txBody>
      </p:sp>
      <p:sp>
        <p:nvSpPr>
          <p:cNvPr id="4" name="Slide Number Placeholder 3"/>
          <p:cNvSpPr>
            <a:spLocks noGrp="1"/>
          </p:cNvSpPr>
          <p:nvPr>
            <p:ph type="sldNum" idx="5" sz="quarter"/>
          </p:nvPr>
        </p:nvSpPr>
        <p:spPr/>
      </p:sp>
    </p:spTree>
  </p:cSld>
  <p:clrMapOvr>
    <a:masterClrMapping/>
  </p:clrMapOvr>
</p:notes>
</file>

<file path=ppt/notesSlides/notesSlide1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 tag del 18 de octubre: el catálogo bajó a 85 agents, y la eliminación se volvió rápida y recuperable.</a:t>
            </a:r>
          </a:p>
          <a:p/>
          <a:p>
            <a:r>
              <a:t>Ese release tenía 85 agents de workflow: se quitaron Gatewayer, Gateway-Relayer, Node-Manager y Zavuerer. La migración 0214 borra sus filas y sus prompts del catálogo sin renumerar nada de lo que queda.</a:t>
            </a:r>
          </a:p>
          <a:p/>
          <a:p>
            <a:r>
              <a:t>El Desinstalador mueve la instalación aparte en la misma unidad en vez de copiarla, y ofrece Reintentar limpieza cuando queda atrás un archivo bloqueado. El release congelado ya no lleva las librerías de medios y de browser dos veces. Acerca de → Uso espera datos reales, y cada archivo de Python con seguimiento tiene una compuerta de calidad.</a:t>
            </a:r>
          </a:p>
          <a:p/>
          <a:p>
            <a:r>
              <a:t>El tag v1.87.0 se creó un minuto antes del trabajo que nombra. Los dos commits siguientes llegaron a main justo después, así que un build de main reportaba entonces 1.87.0 y lo llevaba todo.</a:t>
            </a:r>
          </a:p>
          <a:p/>
          <a:p>
            <a:r>
              <a:t>85 agents: Cuatro agents retirados quitados con una migración hacia adelante.</a:t>
            </a:r>
          </a:p>
          <a:p/>
          <a:p>
            <a:r>
              <a:t>Eliminación: Mover aparte, verificar, Reintentar limpieza para lo bloqueado que queda.</a:t>
            </a:r>
          </a:p>
          <a:p/>
          <a:p>
            <a:r>
              <a:t>Tamaño del release: Las librerías de medios y de browser se incluyen una sola vez, en el Python incluido.</a:t>
            </a:r>
          </a:p>
          <a:p/>
          <a:p>
            <a:r>
              <a:t>Calidad: npm run lint:python revisa cada archivo de Python con seguimiento.</a:t>
            </a:r>
          </a:p>
        </p:txBody>
      </p:sp>
      <p:sp>
        <p:nvSpPr>
          <p:cNvPr id="4" name="Slide Number Placeholder 3"/>
          <p:cNvSpPr>
            <a:spLocks noGrp="1"/>
          </p:cNvSpPr>
          <p:nvPr>
            <p:ph type="sldNum" idx="5" sz="quarter"/>
          </p:nvPr>
        </p:nvSpPr>
        <p:spPr/>
      </p:sp>
    </p:spTree>
  </p:cSld>
  <p:clrMapOvr>
    <a:masterClrMapping/>
  </p:clrMapOvr>
</p:notes>
</file>

<file path=ppt/notesSlides/notesSlide1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El Desinstalador mueve las entradas a una carpeta de recuperación en vez de copiarlas y sacarles hash.</a:t>
            </a:r>
          </a:p>
          <a:p/>
          <a:p>
            <a:r>
              <a:t>Cada movimiento se registra en un journal de esquema 2 antes y después de que pase. Una colisión en el destino se rechaza, y el journal se queda hasta que la limpieza tiene éxito. Si un paso reversible falla, las entradas y el estado de Windows se regresan a su lugar.</a:t>
            </a:r>
          </a:p>
          <a:p/>
          <a:p>
            <a:r>
              <a:t>Si se quita la aplicación pero queda un archivo bloqueado, la ventana dice Aplicación quitada; limpieza incompleta, lista lo que queda y ofrece Reintentar limpieza. Volver a abrir el Desinstalador puede terminar el trabajo después. Se conservan agents/ y las seis carpetas de contenido que tienen archivos.</a:t>
            </a:r>
          </a:p>
          <a:p/>
          <a:p>
            <a:r>
              <a:t>Una prueba de rendimiento del sistema de archivos quitó 64,264 archivos del paquete (3.88 GB) en 22.3 segundos con los 254 hashes conservados sin cambio. Mide la fase del sistema de archivos; una ejecución con el cliente compilado sigue siendo la prueba de aceptación.</a:t>
            </a:r>
          </a:p>
          <a:p/>
          <a:p>
            <a:r>
              <a:t>Journal: Cada movimiento se registra antes y después.</a:t>
            </a:r>
          </a:p>
          <a:p/>
          <a:p>
            <a:r>
              <a:t>Reintentar: Lo bloqueado que queda se puede terminar después.</a:t>
            </a:r>
          </a:p>
          <a:p/>
          <a:p>
            <a:r>
              <a:t>Se conserva: agents/ y las carpetas de contenido que tienen archivos.</a:t>
            </a:r>
          </a:p>
          <a:p/>
          <a:p>
            <a:r>
              <a:t>Prueba de rendimiento: 64,264 archivos en 22.3 s, 18 de octubre.</a:t>
            </a:r>
          </a:p>
        </p:txBody>
      </p:sp>
      <p:sp>
        <p:nvSpPr>
          <p:cNvPr id="4" name="Slide Number Placeholder 3"/>
          <p:cNvSpPr>
            <a:spLocks noGrp="1"/>
          </p:cNvSpPr>
          <p:nvPr>
            <p:ph type="sldNum" idx="5" sz="quarter"/>
          </p:nvPr>
        </p:nvSpPr>
        <p:spPr/>
      </p:sp>
    </p:spTree>
  </p:cSld>
  <p:clrMapOvr>
    <a:masterClrMapping/>
  </p:clrMapOvr>
</p:notes>
</file>

<file path=ppt/notesSlides/notesSlide1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El proceso web congelado deja de llevar librerías que sólo usan los agents del pool.</a:t>
            </a:r>
          </a:p>
          <a:p/>
          <a:p>
            <a:r>
              <a:t>cv2, ffpyplayer, av, playwright, faster_whisper, ctranslate2 y onnxruntime corren con el Python incluido, así que build.py los deja fuera del intérprete congelado. Las revisiones de Chromium y FFmpeg vienen del manifiesto de Playwright incluido.</a:t>
            </a:r>
          </a:p>
          <a:p/>
          <a:p>
            <a:r>
              <a:t>Sólo se quitan los cachés de bytecode cuyo source está a su lado, se descartan los archivos copiados por Git del desinstalador y el paquete se escribe con DEFLATE nivel 9. Una prueba del payload del release fija quién es dueño de cada librería.</a:t>
            </a:r>
          </a:p>
          <a:p/>
          <a:p>
            <a:r>
              <a:t>Acerca de → Uso muestra Revisando el uso… hasta que llegan datos reales del reporte, explica una conexión con error en Detalles de la conexión y reintenta por sí sola. Su solicitud de la cuenta es un POST /api/me sin cuerpo: un cuerpo {} hacía que el servidor local reiniciara la conexión.</a:t>
            </a:r>
          </a:p>
          <a:p/>
          <a:p>
            <a:r>
              <a:t>Propiedad: Las librerías sólo del pool viven en el Python incluido.</a:t>
            </a:r>
          </a:p>
          <a:p/>
          <a:p>
            <a:r>
              <a:t>Paquete: Bytecode, copias del desinstalador y compresión ajustados.</a:t>
            </a:r>
          </a:p>
          <a:p/>
          <a:p>
            <a:r>
              <a:t>Uso: Revisando el uso… hasta que llegan datos reales.</a:t>
            </a:r>
          </a:p>
          <a:p/>
          <a:p>
            <a:r>
              <a:t>Cuenta: Un POST /api/me sin cuerpo.</a:t>
            </a:r>
          </a:p>
        </p:txBody>
      </p:sp>
      <p:sp>
        <p:nvSpPr>
          <p:cNvPr id="4" name="Slide Number Placeholder 3"/>
          <p:cNvSpPr>
            <a:spLocks noGrp="1"/>
          </p:cNvSpPr>
          <p:nvPr>
            <p:ph type="sldNum" idx="5" sz="quarter"/>
          </p:nvPr>
        </p:nvSpPr>
        <p:spPr/>
      </p:sp>
    </p:spTree>
  </p:cSld>
  <p:clrMapOvr>
    <a:masterClrMapping/>
  </p:clrMapOvr>
</p:notes>
</file>

<file path=ppt/notesSlides/notesSlide1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Un barrido de todo el source volvió a derivar cada conteo y arregló lo que encontró.</a:t>
            </a:r>
          </a:p>
          <a:p/>
          <a:p>
            <a:r>
              <a:t>El glob de Grepper y el pattern de Globber ahora entienden conjuntos con llaves como *.{js,py}, listas como *.py,*.js y globs de carpetas como src/**/*.py. Antes, cada uno buscaba en cero archivos y contestaba no_matches. Globber recorre el árbol una sola vez para varios patterns: tres minutos se volvieron diez segundos.</a:t>
            </a:r>
          </a:p>
          <a:p/>
          <a:p>
            <a:r>
              <a:t>Seis tools wrapped cuya etiqueta nombra una acción (Send Email, Move File, Summarize Text y los tres tools de Kyber) ahora obedecen la casilla de su agent en Configurar Agents. Un flow cargado conserva la etiqueta de FlowCreator, y la compuerta de calidad de Python corre en Windows Terminal.</a:t>
            </a:r>
          </a:p>
          <a:p/>
          <a:p>
            <a:r>
              <a:t>La prueba diaria del chat vuelve a leer este repositorio en vez de una copia vieja, y sus bancos de preguntas cubren los 85 agents y los 66 tools wrapped. Configurar Agents y Configurar MCPs ahora se abren con las casillas que guardó el servidor, así que un Continuar rápido ya no puede apagar la mayoría de los agents.</a:t>
            </a:r>
          </a:p>
          <a:p/>
          <a:p>
            <a:r>
              <a:t>Patterns: Conjuntos con llaves, listas y globs de carpetas en Grepper y Globber.</a:t>
            </a:r>
          </a:p>
          <a:p/>
          <a:p>
            <a:r>
              <a:t>Compuertas: Seis tools wrapped siguen la casilla de su agent; Configurar se abre con las marcas guardadas.</a:t>
            </a:r>
          </a:p>
          <a:p/>
          <a:p>
            <a:r>
              <a:t>Harness: La prueba diaria del chat lee este repositorio.</a:t>
            </a:r>
          </a:p>
          <a:p/>
          <a:p>
            <a:r>
              <a:t>Compuerta de calidad: Corre en Windows Terminal, la predeterminada de Windows 11.</a:t>
            </a:r>
          </a:p>
        </p:txBody>
      </p:sp>
      <p:sp>
        <p:nvSpPr>
          <p:cNvPr id="4" name="Slide Number Placeholder 3"/>
          <p:cNvSpPr>
            <a:spLocks noGrp="1"/>
          </p:cNvSpPr>
          <p:nvPr>
            <p:ph type="sldNum" idx="5" sz="quarter"/>
          </p:nvPr>
        </p:nvSpPr>
        <p:spPr/>
      </p:sp>
    </p:spTree>
  </p:cSld>
  <p:clrMapOvr>
    <a:masterClrMapping/>
  </p:clrMapOvr>
</p:notes>
</file>

<file path=ppt/notesSlides/notesSlide1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 tag del 17 de octubre: un destino faltante se vuelve carpeta, y el atlas se reconstruye solo.</a:t>
            </a:r>
          </a:p>
          <a:p/>
          <a:p>
            <a:r>
              <a:t>Mover crea un destino que todavía no existe, como scripts/architecture_atlas, como una carpeta, y el archivo conserva su propio nombre. Un renombre sigue pasando cuando el destino nombra un archivo: existe como archivo, tiene extensión, o el origen tampoco tiene. Una diagonal al final siempre significa una carpeta.</a:t>
            </a:r>
          </a:p>
          <a:p/>
          <a:p>
            <a:r>
              <a:t>python scripts/architecture_atlas/build_architecture_pdf.py regenera Tlamatini-Architecture.pdf con el propio LaTeXer de Tlamatini y verifica que cada archivo con seguimiento aparezca en él. Los códigos de salida 0, 1, 2 y 3 significan ok, error de tipografía, un archivo sin colocar y un archivo faltante.</a:t>
            </a:r>
          </a:p>
          <a:p/>
          <a:p>
            <a:r>
              <a:t>Mover: Un nombre de destino nuevo se vuelve una carpeta.</a:t>
            </a:r>
          </a:p>
          <a:p/>
          <a:p>
            <a:r>
              <a:t>Renombre: Sólo cuando el destino nombra un archivo.</a:t>
            </a:r>
          </a:p>
          <a:p/>
          <a:p>
            <a:r>
              <a:t>Atlas: Lo reconstruye LaTeXer a partir del repositorio.</a:t>
            </a:r>
          </a:p>
          <a:p/>
          <a:p>
            <a:r>
              <a:t>Prueba: Cada archivo con seguimiento aparece en el atlas.</a:t>
            </a:r>
          </a:p>
        </p:txBody>
      </p:sp>
      <p:sp>
        <p:nvSpPr>
          <p:cNvPr id="4" name="Slide Number Placeholder 3"/>
          <p:cNvSpPr>
            <a:spLocks noGrp="1"/>
          </p:cNvSpPr>
          <p:nvPr>
            <p:ph type="sldNum" idx="5" sz="quarter"/>
          </p:nvPr>
        </p:nvSpPr>
        <p:spPr/>
      </p:sp>
    </p:spTree>
  </p:cSld>
  <p:clrMapOvr>
    <a:masterClrMapping/>
  </p:clrMapOvr>
</p:notes>
</file>

<file path=ppt/notesSlides/notesSlide1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 tag y publicado el 16 de octubre, con un espacio de trabajo del chat más flexible.</a:t>
            </a:r>
          </a:p>
          <a:p/>
          <a:p>
            <a:r>
              <a:t>Actualizar vuelve a leer el documento abierto. Vistas hace espacio para el chat a todo lo ancho sin apagar el canvas. Restablecer distribución restaura la distribución sin borrar contenido. El retrato y su marco quedan centrados sobre Micrófono hasta Enviar mientras la caja de mensaje se encoge.</a:t>
            </a:r>
          </a:p>
          <a:p/>
          <a:p>
            <a:r>
              <a:t>El release conserva el router para soltar archivos en toda la página, la recuperación de la instalación, el renderizado de Markdown, el tablero de Uso, el Model Brain, Compact mode, el dictado por voz y los dos editores de flows.</a:t>
            </a:r>
          </a:p>
          <a:p/>
          <a:p>
            <a:r>
              <a:t>Actualizar: El documento original, leído otra vez sin un selector.</a:t>
            </a:r>
          </a:p>
          <a:p/>
          <a:p>
            <a:r>
              <a:t>Vistas: Muestra u oculta el canvas y conserva su estado.</a:t>
            </a:r>
          </a:p>
          <a:p/>
          <a:p>
            <a:r>
              <a:t>Restablecer distribución: Restaura ambos paneles y acopla el avatar.</a:t>
            </a:r>
          </a:p>
          <a:p/>
          <a:p>
            <a:r>
              <a:t>Retrato: Centra todo el marco sobre la fila de acciones completa.</a:t>
            </a:r>
          </a:p>
        </p:txBody>
      </p:sp>
      <p:sp>
        <p:nvSpPr>
          <p:cNvPr id="4" name="Slide Number Placeholder 3"/>
          <p:cNvSpPr>
            <a:spLocks noGrp="1"/>
          </p:cNvSpPr>
          <p:nvPr>
            <p:ph type="sldNum" idx="5" sz="quarter"/>
          </p:nvPr>
        </p:nvSpPr>
        <p:spPr/>
      </p:sp>
    </p:spTree>
  </p:cSld>
  <p:clrMapOvr>
    <a:masterClrMapping/>
  </p:clrMapOvr>
</p:notes>
</file>

<file path=ppt/notesSlides/notesSlide1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Abrir elige un archivo. Actualizar vuelve a leer esa misma fuente, sin escribir en ella.</a:t>
            </a:r>
          </a:p>
          <a:p/>
          <a:p>
            <a:r>
              <a:t>El acceso con el selector nativo conserva un handle que concede el browser. Lo que se suelta conserva su handle o su entrada durante el evento original, incluido el relevo del frame de PDF. Una fuente que sólo es snapshot explica por qué Actualizar no está disponible. Un documento generado vuelve a leer su endpoint autenticado de contenido guardado.</a:t>
            </a:r>
          </a:p>
          <a:p/>
          <a:p>
            <a:r>
              <a:t>El texto y el Markdown se comparan completos, incluidos los archivos vacíos. El mismo tamaño o la misma marca de tiempo nunca prueban que el contenido sea igual. Un documento sin cambios se queda en su lugar sin reconstruir el contexto. El contenido cambiado reemplaza el documento completo sólo cuando la preparación tiene éxito.</a:t>
            </a:r>
          </a:p>
          <a:p/>
          <a:p>
            <a:r>
              <a:t>Los estados de ocupado, sin cambios, actualizado, permiso y error tienen respuesta visible. Cancelar, Limpiar, abrir otro documento y una operación nueva invalidan las lecturas pendientes. Un error conserva el documento anterior y explica la siguiente acción.</a:t>
            </a:r>
          </a:p>
          <a:p/>
          <a:p>
            <a:r>
              <a:t>Abrir: Elige un documento y conserva el acceso de lectura.</a:t>
            </a:r>
          </a:p>
          <a:p/>
          <a:p>
            <a:r>
              <a:t>Actualizar: Vuelve a leer la fuente conservada sin otro selector.</a:t>
            </a:r>
          </a:p>
          <a:p/>
          <a:p>
            <a:r>
              <a:t>Error: Conserva el contenido anterior y permite reintentar.</a:t>
            </a:r>
          </a:p>
          <a:p/>
          <a:p>
            <a:r>
              <a:t>Contexto: Prepara el contenido cambiado antes de reemplazar el contexto activo.</a:t>
            </a:r>
          </a:p>
        </p:txBody>
      </p:sp>
      <p:sp>
        <p:nvSpPr>
          <p:cNvPr id="4" name="Slide Number Placeholder 3"/>
          <p:cNvSpPr>
            <a:spLocks noGrp="1"/>
          </p:cNvSpPr>
          <p:nvPr>
            <p:ph type="sldNum" idx="5" sz="quarter"/>
          </p:nvPr>
        </p:nvSpPr>
        <p:spPr/>
      </p:sp>
    </p:spTree>
  </p:cSld>
  <p:clrMapOvr>
    <a:masterClrMapping/>
  </p:clrMapOvr>
</p:notes>
</file>

<file path=ppt/notesSlides/notesSlide1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Actualizar un Markdown o un PDF conserva la vista mientras cambia el documento de fondo.</a:t>
            </a:r>
          </a:p>
          <a:p/>
          <a:p>
            <a:r>
              <a:t>El Markdown conserva Vista previa o Source, la posición de lectura y los recursos elegidos explícitamente. Sus bytes de source siguen siendo la base de Guardar. Los archivos de recursos elegidos por carpeta siguen siendo snapshots y se pueden elegir otra vez cuando esos archivos aparte cambien.</a:t>
            </a:r>
          </a:p>
          <a:p/>
          <a:p>
            <a:r>
              <a:t>Actualizar un PDF prepara un nuevo visor PDF.js respaldado por rangos antes de retirar el viejo. Conserva la página, el zoom, la rotación y el modo de desplazamiento, y ajusta la página a un documento más corto. Un PDF corrupto o una contraseña cancelada dejan visible el visor anterior. El iframe preparado sigue conectado durante el cambio para que el browser no lo recargue.</a:t>
            </a:r>
          </a:p>
          <a:p/>
          <a:p>
            <a:r>
              <a:t>Los PDFs siempre se recargan con Actualizar. No se introduce ningún hash de archivo completo, ninguna lectura anticipada del documento completo ni ninguna afirmación de igualdad sólo por metadatos. El reemplazo del contexto activo conserva las opciones establecidas de texto/imagen.</a:t>
            </a:r>
          </a:p>
          <a:p/>
          <a:p>
            <a:r>
              <a:t>Markdown: Vista previa/Source, posición y recursos elegidos se quedan.</a:t>
            </a:r>
          </a:p>
          <a:p/>
          <a:p>
            <a:r>
              <a:t>PDF: Página, zoom, rotación y modo de desplazamiento se quedan.</a:t>
            </a:r>
          </a:p>
          <a:p/>
          <a:p>
            <a:r>
              <a:t>Recuperación: Un reemplazo con error conserva el visor anterior.</a:t>
            </a:r>
          </a:p>
          <a:p/>
          <a:p>
            <a:r>
              <a:t>Evidencia: 20 revisiones visibles en Chrome el 15 de octubre.</a:t>
            </a:r>
          </a:p>
        </p:txBody>
      </p:sp>
      <p:sp>
        <p:nvSpPr>
          <p:cNvPr id="4" name="Slide Number Placeholder 3"/>
          <p:cNvSpPr>
            <a:spLocks noGrp="1"/>
          </p:cNvSpPr>
          <p:nvPr>
            <p:ph type="sldNum" idx="5" sz="quarter"/>
          </p:nvPr>
        </p:nvSpPr>
        <p:spPr/>
      </p:sp>
    </p:spTree>
  </p:cSld>
  <p:clrMapOvr>
    <a:masterClrMapping/>
  </p:clrMapOvr>
</p:notes>
</file>

<file path=ppt/notesSlides/notesSlide1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Vistas → Canvas muestra u oculta el canvas sin descargarlo.</a:t>
            </a:r>
          </a:p>
          <a:p/>
          <a:p>
            <a:r>
              <a:t>Ocultar el canvas le da al chat todo el ancho. El documento, el visor de PDF, el modo de Markdown, la fuente de Actualizar, el borrador, el historial y el contexto cargado se quedan intactos. Abrir, soltar un documento soportado y un link a un archivo generado muestran el canvas cuando su resultado lo necesita.</a:t>
            </a:r>
          </a:p>
          <a:p/>
          <a:p>
            <a:r>
              <a:t>La elección se guarda por cuenta en ese browser y se sincroniza entre sus pestañas. Sobrevive a la recarga y al reinicio del browser. Otro perfil o origen del browser tiene preferencias aparte.</a:t>
            </a:r>
          </a:p>
          <a:p/>
          <a:p>
            <a:r>
              <a:t>Cambiar la visibilidad cancela los gestos de los divisores. El foco se mueve al menú Vistas sólo cuando su región actual desaparece, y la palomita expone su estado a la tecnología de asistencia.</a:t>
            </a:r>
          </a:p>
          <a:p/>
          <a:p>
            <a:r>
              <a:t>Todo lo ancho: Oculta el canvas para darle más espacio al chat.</a:t>
            </a:r>
          </a:p>
          <a:p/>
          <a:p>
            <a:r>
              <a:t>Continuidad: Conserva el documento abierto y el contexto activo.</a:t>
            </a:r>
          </a:p>
          <a:p/>
          <a:p>
            <a:r>
              <a:t>Preferencia: Se guarda por cuenta y por origen del browser.</a:t>
            </a:r>
          </a:p>
          <a:p/>
          <a:p>
            <a:r>
              <a:t>Navegación: Abrir un documento muestra su canvas.</a:t>
            </a:r>
          </a:p>
        </p:txBody>
      </p:sp>
      <p:sp>
        <p:nvSpPr>
          <p:cNvPr id="4" name="Slide Number Placeholder 3"/>
          <p:cNvSpPr>
            <a:spLocks noGrp="1"/>
          </p:cNvSpPr>
          <p:nvPr>
            <p:ph type="sldNum" idx="5" sz="quarter"/>
          </p:nvPr>
        </p:nvSpPr>
        <p:spPr/>
      </p:sp>
    </p:spTree>
  </p:cSld>
  <p:clrMapOvr>
    <a:masterClrMapping/>
  </p:clrMapOvr>
</p:notes>
</file>

<file path=ppt/notesSlides/notesSlide1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El retrato y su marco comparten el centro de toda la fila de acciones de Micrófono a Enviar.</a:t>
            </a:r>
          </a:p>
          <a:p/>
          <a:p>
            <a:r>
              <a:t>Antes, reducir la altura del composer encogía el retrato pero lo dejaba anclado a la orilla derecha. Ahora la distribución mide desde la orilla izquierda de Micrófono hasta la orilla derecha de Enviar y centra todo el dock sobre ese tramo. Los dos divisores, las distribuciones angostas y el zoom siguen la misma medida.</a:t>
            </a:r>
          </a:p>
          <a:p/>
          <a:p>
            <a:r>
              <a:t>El retrato sigue siendo cuadrado con un mínimo de 120 píxeles. Su tamaño flotante sigue siendo independiente. Ocultar el canvas acopla el retrato y desactiva el cambio de tamaño flotante por puntero, teclado y API. Mostrar el canvas vuelve a permitir el cambio de tamaño y deja el retrato acoplado.</a:t>
            </a:r>
          </a:p>
          <a:p/>
          <a:p>
            <a:r>
              <a:t>Vistas → Restablecer distribución muestra ambos paneles, restaura sus tamaños iniciales y acopla el avatar. No borra el documento, el borrador, el historial ni el contexto.</a:t>
            </a:r>
          </a:p>
          <a:p/>
          <a:p>
            <a:r>
              <a:t>Alineación: De la orilla izquierda de Micrófono a la orilla derecha de Enviar.</a:t>
            </a:r>
          </a:p>
          <a:p/>
          <a:p>
            <a:r>
              <a:t>Tamaño: Un retrato cuadrado, nunca de menos de 120 píxeles.</a:t>
            </a:r>
          </a:p>
          <a:p/>
          <a:p>
            <a:r>
              <a:t>Restablecer: Restaura la distribución y conserva el contenido.</a:t>
            </a:r>
          </a:p>
          <a:p/>
          <a:p>
            <a:r>
              <a:t>Evidencia: 19 revisiones visibles; error de centrado menor a 0.02 px de CSS, 16 de octubre.</a:t>
            </a:r>
          </a:p>
        </p:txBody>
      </p:sp>
      <p:sp>
        <p:nvSpPr>
          <p:cNvPr id="4" name="Slide Number Placeholder 3"/>
          <p:cNvSpPr>
            <a:spLocks noGrp="1"/>
          </p:cNvSpPr>
          <p:nvPr>
            <p:ph type="sldNum" idx="5" sz="quarter"/>
          </p:nvPr>
        </p:nvSpPr>
        <p:spPr/>
      </p:sp>
    </p:spTree>
  </p:cSld>
  <p:clrMapOvr>
    <a:masterClrMapping/>
  </p:clrMapOvr>
</p:notes>
</file>

<file path=ppt/notesSlides/notesSlide1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inventarios requeridos del runtime y de self-modify cubren la plantilla y los scripts de Vistas.</a:t>
            </a:r>
          </a:p>
          <a:p/>
          <a:p>
            <a:r>
              <a:t>El recibo del runtime exige agent_page.html más agent_page_layout.js, avatar_size.js, agent_page_canvas.js y agent_page_init.js. El snapshot también exige los dos harnesses visibles de Vistas y las instrucciones de identidad. Actualizar conserva los transportadores existentes de PDF y Markdown.</a:t>
            </a:r>
          </a:p>
          <a:p/>
          <a:p>
            <a:r>
              <a:t>No hay migración nueva ni dependencia de Python. Su sufijo de caché era -avatar-center-1 y el sufijo de la plantilla de Vistas es _views1. La visibilidad es local del browser y no depende de Self-modify.</a:t>
            </a:r>
          </a:p>
          <a:p/>
          <a:p>
            <a:r>
              <a:t>La evidencia fechada incluye 160 pruebas de empaquetado/self-update/self-modify y 13 revisiones visibles del frontend congelado el 16 de octubre. Estas últimas usaron un ejecutable real con assets del frontend actuales verificados byte por byte en un fixture desechable. La guía de transporte registra el alcance exacto.</a:t>
            </a:r>
          </a:p>
          <a:p/>
          <a:p>
            <a:r>
              <a:t>Runtime: La plantilla requerida y cuatro scripts que cooperan.</a:t>
            </a:r>
          </a:p>
          <a:p/>
          <a:p>
            <a:r>
              <a:t>Snapshot: Sources, identidad y los dos harnesses de Vistas.</a:t>
            </a:r>
          </a:p>
          <a:p/>
          <a:p>
            <a:r>
              <a:t>Base de datos: v1.85.0 no introdujo ninguna migración.</a:t>
            </a:r>
          </a:p>
          <a:p/>
          <a:p>
            <a:r>
              <a:t>Versión: v1.85.0 en toda la aplicación en ese momento.</a:t>
            </a:r>
          </a:p>
        </p:txBody>
      </p:sp>
      <p:sp>
        <p:nvSpPr>
          <p:cNvPr id="4" name="Slide Number Placeholder 3"/>
          <p:cNvSpPr>
            <a:spLocks noGrp="1"/>
          </p:cNvSpPr>
          <p:nvPr>
            <p:ph type="sldNum" idx="5" sz="quarter"/>
          </p:nvPr>
        </p:nvSpPr>
        <p:spPr/>
      </p:sp>
    </p:spTree>
  </p:cSld>
  <p:clrMapOvr>
    <a:masterClrMapping/>
  </p:clrMapOvr>
</p:notes>
</file>

<file path=ppt/notesSlides/notesSlide1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El commit de mantenimiento del 14 de octubre actualizó los datos del catálogo y de la configuración y limpió los fixtures de prueba.</a:t>
            </a:r>
          </a:p>
          <a:p/>
          <a:p>
            <a:r>
              <a:t>El commit 1a8c5093 cambió los datos del catálogo de FlowCreator, el catálogo local de External MCPs y los fixtures de prueba. No introdujo ningún subsistema de producto, tipo de agent, migración ni dependencia nuevos. Los valores privados del catálogo se excluyen de este dossier.</a:t>
            </a:r>
          </a:p>
          <a:p/>
          <a:p>
            <a:r>
              <a:t>La auditoría actual lee la implementación real y mantiene fechados los resultados de pruebas históricas. Un valor de fixture es dato de prueba, no una credencial desplegada ni evidencia de que un proveedor corrió.</a:t>
            </a:r>
          </a:p>
          <a:p/>
          <a:p>
            <a:r>
              <a:t>Mantenimiento: Los datos del catálogo y los fixtures de prueba cambiaron en el commit 1a8c5093.</a:t>
            </a:r>
          </a:p>
          <a:p/>
          <a:p>
            <a:r>
              <a:t>Superficie del producto: Ningún subsistema, tipo de agent, migración ni dependencia nuevos.</a:t>
            </a:r>
          </a:p>
          <a:p/>
          <a:p>
            <a:r>
              <a:t>Privacidad: Los documentos públicos excluyen los valores privados del catálogo.</a:t>
            </a:r>
          </a:p>
        </p:txBody>
      </p:sp>
      <p:sp>
        <p:nvSpPr>
          <p:cNvPr id="4" name="Slide Number Placeholder 3"/>
          <p:cNvSpPr>
            <a:spLocks noGrp="1"/>
          </p:cNvSpPr>
          <p:nvPr>
            <p:ph type="sldNum" idx="5" sz="quarter"/>
          </p:nvPr>
        </p:nvSpPr>
        <p:spPr/>
      </p:sp>
    </p:spTree>
  </p:cSld>
  <p:clrMapOvr>
    <a:masterClrMapping/>
  </p:clrMapOvr>
</p:notes>
</file>

<file path=ppt/notesSlides/notesSlide1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 tag y publicado el 14 de octubre: un archivo soltado nunca da error, nunca se abre como texto por equivocación y nunca hace salir de la página.</a:t>
            </a:r>
          </a:p>
          <a:p/>
          <a:p>
            <a:r>
              <a:t>Soltar un .json de MCP en el chat antes reportaba un error, en el canvas se abría como texto plano y mataba la importación, y en cualquier otra página el browser se iba al archivo. Ahora un solo listener está en el head del chat, de ambos paneles, de las páginas de bienvenida y de inicio de sesión, de las páginas de admin y del frame del visor de PDF, como describe la sección Soltar archivos. Sólo toma arrastres de archivos.</a:t>
            </a:r>
          </a:p>
          <a:p/>
          <a:p>
            <a:r>
              <a:t>Decide por los bytes, no por el nombre, y envía cada tipo a su propio mecanismo: un .json de MCP a una confirmación y al catálogo de External MCPs, un flow .flw o .fpmt a su editor, una imagen al mensaje, un PDF, Markdown o archivo de código al canvas del chat, y cualquier otra cosa a una explicación sencilla.</a:t>
            </a:r>
          </a:p>
          <a:p/>
          <a:p>
            <a:r>
              <a:t>Reemplazó cuatro manejadores por página. Revisado con 138 revisiones del router contra el script real, 22 pruebas nuevas de Django y una ejecución visible en Chrome de 58 revisiones con 24 fotos de Shoter, todo el 14 de octubre.</a:t>
            </a:r>
          </a:p>
          <a:p/>
          <a:p>
            <a:r>
              <a:t>Un solo listener: Fase de captura, sólo arrastres de archivos; los arrastres de texto no se tocan.</a:t>
            </a:r>
          </a:p>
          <a:p/>
          <a:p>
            <a:r>
              <a:t>Por los bytes: Extensión, MIME, números mágicos, prueba de texto que conoce el BOM, parseo real de JSON.</a:t>
            </a:r>
          </a:p>
          <a:p/>
          <a:p>
            <a:r>
              <a:t>Importación de MCP: Nunca silenciosa: una confirmación lista primero los servidores.</a:t>
            </a:r>
          </a:p>
          <a:p/>
          <a:p>
            <a:r>
              <a:t>En todas partes: Chat, ambos paneles, bienvenida, inicio de sesión, admin y el frame de PDF.</a:t>
            </a:r>
          </a:p>
          <a:p/>
          <a:p>
            <a:r>
              <a:t>Evidencia: 138 revisiones del router, 22 pruebas, 58 revisiones visibles, 24 fotos.</a:t>
            </a:r>
          </a:p>
          <a:p/>
          <a:p>
            <a:r>
              <a:t>Tag: v1.83.0 en a2914019, con push y publicado el 14 de octubre.</a:t>
            </a:r>
          </a:p>
        </p:txBody>
      </p:sp>
      <p:sp>
        <p:nvSpPr>
          <p:cNvPr id="4" name="Slide Number Placeholder 3"/>
          <p:cNvSpPr>
            <a:spLocks noGrp="1"/>
          </p:cNvSpPr>
          <p:nvPr>
            <p:ph type="sldNum" idx="5" sz="quarter"/>
          </p:nvPr>
        </p:nvSpPr>
        <p:spPr/>
      </p:sp>
    </p:spTree>
  </p:cSld>
  <p:clrMapOvr>
    <a:masterClrMapping/>
  </p:clrMapOvr>
</p:notes>
</file>

<file path=ppt/notesSlides/notesSlide1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Commit 63a62cc1 del 13 de octubre, acreditado a Tlamatini's-AutoBot; incluido en v1.83.0.</a:t>
            </a:r>
          </a:p>
          <a:p/>
          <a:p>
            <a:r>
              <a:t>El divisor sobre la caja de mensaje antes reservaba el ancho actual del retrato como la altura mínima de la caja, así que un retrato ancho no dejaba que la caja se encogiera. Ahora reserva sólo un retrato de 120 píxeles más sus controles, y el retrato acoplado sigue al divisor: su lado es el menor entre un cuarto del ancho del formulario y la altura sobre la fila de Enviar y Micrófono, nunca de menos de 120 píxeles.</a:t>
            </a:r>
          </a:p>
          <a:p/>
          <a:p>
            <a:r>
              <a:t>Con la ventana inicial de 1440 píxeles el retrato pasó de 282 a 120 píxeles, y le regresó unos 162 píxeles al historial del chat. Pasaron diecinueve puntos de revisión del avatar acoplado y los dieciocho puntos de revisión existentes del composer en una ventana visible de Chrome.</a:t>
            </a:r>
          </a:p>
          <a:p/>
          <a:p>
            <a:r>
              <a:t>Abajo: Arrastrar el divisor hacia abajo encoge el retrato a un cuadrado de 120 píxeles.</a:t>
            </a:r>
          </a:p>
          <a:p/>
          <a:p>
            <a:r>
              <a:t>Arriba: Arrastrarlo hacia arriba le regresa espacio al retrato, hasta su columna original.</a:t>
            </a:r>
          </a:p>
          <a:p/>
          <a:p>
            <a:r>
              <a:t>Teclado: Flechas, Shift+flechas, Inicio, Fin, doble clic y Escape siguen funcionando.</a:t>
            </a:r>
          </a:p>
          <a:p/>
          <a:p>
            <a:r>
              <a:t>Evidencia: Pasaron 19 puntos de revisión del avatar acoplado y 18 del composer.</a:t>
            </a:r>
          </a:p>
        </p:txBody>
      </p:sp>
      <p:sp>
        <p:nvSpPr>
          <p:cNvPr id="4" name="Slide Number Placeholder 3"/>
          <p:cNvSpPr>
            <a:spLocks noGrp="1"/>
          </p:cNvSpPr>
          <p:nvPr>
            <p:ph type="sldNum" idx="5" sz="quarter"/>
          </p:nvPr>
        </p:nvSpPr>
        <p:spPr/>
      </p:sp>
    </p:spTree>
  </p:cSld>
  <p:clrMapOvr>
    <a:masterClrMapping/>
  </p:clrMapOvr>
</p:notes>
</file>

<file path=ppt/notesSlides/notesSlide1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Commit 91ff8453 del 12 de octubre, acreditado a Tlamatini's-AutoBot; incluido en v1.83.0.</a:t>
            </a:r>
          </a:p>
          <a:p/>
          <a:p>
            <a:r>
              <a:t>Cuando el lanzador rechaza una llamada a Image-Interpreter o a Video-Analyzer antes de que arranque el agent, porque una configuración no existe o falta una obligatoria, el rechazo se marca como un error de la solicitud. Ya no levanta el diálogo rojo de análisis fatal ni su sonido; el modelo simplemente corrige la llamada. Una falla real de arranque sigue levantando el diálogo.</a:t>
            </a:r>
          </a:p>
          <a:p/>
          <a:p>
            <a:r>
              <a:t>La descripción de Video-Analyzer ahora dice que no tiene configuración de motor de transcripción, que le pertenece a Whisperer. Cinco pruebas nuevas fijan el comportamiento, y llega a las instalaciones con v1.83.0.</a:t>
            </a:r>
          </a:p>
          <a:p/>
          <a:p>
            <a:r>
              <a:t>Errores de solicitud: Rechazados antes de que corriera algún modelo; el modelo reintenta.</a:t>
            </a:r>
          </a:p>
          <a:p/>
          <a:p>
            <a:r>
              <a:t>Fallas reales: Siguen levantando el diálogo fatal acumulado.</a:t>
            </a:r>
          </a:p>
          <a:p/>
          <a:p>
            <a:r>
              <a:t>Sin configuración de motor: engine= le pertenece a Whisperer, no a Video-Analyzer.</a:t>
            </a:r>
          </a:p>
          <a:p/>
          <a:p>
            <a:r>
              <a:t>Pruebas: Cinco pruebas en RequestRefusalIsNotFatalTests.</a:t>
            </a:r>
          </a:p>
        </p:txBody>
      </p:sp>
      <p:sp>
        <p:nvSpPr>
          <p:cNvPr id="4" name="Slide Number Placeholder 3"/>
          <p:cNvSpPr>
            <a:spLocks noGrp="1"/>
          </p:cNvSpPr>
          <p:nvPr>
            <p:ph type="sldNum" idx="5" sz="quarter"/>
          </p:nvPr>
        </p:nvSpPr>
        <p:spPr/>
      </p:sp>
    </p:spTree>
  </p:cSld>
  <p:clrMapOvr>
    <a:masterClrMapping/>
  </p:clrMapOvr>
</p:notes>
</file>

<file path=ppt/notesSlides/notesSlide1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 tag y publicado el 12 de octubre: ventanas de instalación nuevas, y Markdown que se abre como página.</a:t>
            </a:r>
          </a:p>
          <a:p/>
          <a:p>
            <a:r>
              <a:t>El Instalador y el Desinstalador comparten una ventana que prepara y verifica una copia de recuperación antes de cambiar cualquier archivo, restaura una ejecución interrumpida, nombra un archivo bloqueado y deja cada error en pantalla con Reintentar, como describe la sección Ventanas de instalación. Los archivos Markdown ahora se abren en el canvas del chat como una página renderizada con su source intacto.</a:t>
            </a:r>
          </a:p>
          <a:p/>
          <a:p>
            <a:r>
              <a:t>El release se publicó en GitHub el 12 de octubre y fue el más reciente hasta que v1.83.0 lo reemplazó el 14 de octubre. Su zip era un build de self-modify cuyo paquete llevaba las ventanas de instalación, el canvas de Markdown, el tema compartido de v1.80.0 y los links web de v1.79.0. No hay tag v1.81.0.</a:t>
            </a:r>
          </a:p>
          <a:p/>
          <a:p>
            <a:r>
              <a:t>La campaña de instalación corrió de forma visible el 11 y el 12 de octubre: pasaron 52 puntos de revisión de la interfaz, 28 revisiones de recuperación, 21 revisiones de ciclo de vida y 61 pruebas de mecánica, con cinco instalaciones reales y cuatro eliminaciones reales que pasaron sus auditorías independientes. El canvas de Markdown pasó 30 de 30 puntos de revisión visibles. La campaña no instaló el zip publicado.</a:t>
            </a:r>
          </a:p>
          <a:p/>
          <a:p>
            <a:r>
              <a:t>Ventanas de instalación: Una ventana recuperable para instalar y quitar.</a:t>
            </a:r>
          </a:p>
          <a:p/>
          <a:p>
            <a:r>
              <a:t>Markdown: Vista previa renderizada, Source original, sanitizador sin conexión.</a:t>
            </a:r>
          </a:p>
          <a:p/>
          <a:p>
            <a:r>
              <a:t>Publicado: 12 de octubre; el release más reciente hasta v1.83.0.</a:t>
            </a:r>
          </a:p>
          <a:p/>
          <a:p>
            <a:r>
              <a:t>Sin v1.81.0: Ese número se saltó; v1.80.0 y v1.79.0 vienen antes.</a:t>
            </a:r>
          </a:p>
          <a:p/>
          <a:p>
            <a:r>
              <a:t>Campaña: Pasaron cinco instalaciones y cuatro eliminaciones; una eliminación se detuvo de forma segura.</a:t>
            </a:r>
          </a:p>
          <a:p/>
          <a:p>
            <a:r>
              <a:t>Seguido de: v1.83.0, del 14 de octubre, lleva los tres cambios posteriores.</a:t>
            </a:r>
          </a:p>
        </p:txBody>
      </p:sp>
      <p:sp>
        <p:nvSpPr>
          <p:cNvPr id="4" name="Slide Number Placeholder 3"/>
          <p:cNvSpPr>
            <a:spLocks noGrp="1"/>
          </p:cNvSpPr>
          <p:nvPr>
            <p:ph type="sldNum" idx="5" sz="quarter"/>
          </p:nvPr>
        </p:nvSpPr>
        <p:spPr/>
      </p:sp>
    </p:spTree>
  </p:cSld>
  <p:clrMapOvr>
    <a:masterClrMapping/>
  </p:clrMapOvr>
</p:notes>
</file>

<file path=ppt/notesSlides/notesSlide1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 tag del 11 de octubre sin release propio; llega a los usuarios por medio de v1.82.0 y v1.83.0.</a:t>
            </a:r>
          </a:p>
          <a:p/>
          <a:p>
            <a:r>
              <a:t>Cada página propia ahora toma de un solo juego de design tokens, y los cinco divisores de paneles comparten una manija y un modelo de gestos, como describe la sección Un solo aspecto. Primero se hizo que el divisor lateral coincidiera con el divisor del composer, y luego todo el sitio lo siguió esa misma noche.</a:t>
            </a:r>
          </a:p>
          <a:p/>
          <a:p>
            <a:r>
              <a:t>La campaña del source pasó 175 pruebas con dos saltos por plataforma, 17 puntos de revisión del composer, 38 puntos de revisión de zoom y adaptables del 25 al 400 por ciento, 13 puntos de revisión de comentarios y las ocho direcciones de cambio de tamaño de diálogos, en una ventana visible de Chrome. Certifica las páginas del source, no una respuesta del modelo ni un build instalado.</a:t>
            </a:r>
          </a:p>
          <a:p/>
          <a:p>
            <a:r>
              <a:t>Tag: v1.80.0 en 82099963, con push; sin release publicado.</a:t>
            </a:r>
          </a:p>
          <a:p/>
          <a:p>
            <a:r>
              <a:t>Tokens: Superficies de pizarra, acento verde azulado, un juego de fuentes, una barra de desplazamiento.</a:t>
            </a:r>
          </a:p>
          <a:p/>
          <a:p>
            <a:r>
              <a:t>Divisores: Cinco uniones, una manija, flechas y Shift, Inicio y Fin.</a:t>
            </a:r>
          </a:p>
          <a:p/>
          <a:p>
            <a:r>
              <a:t>Diálogos: Cambio de tamaño en ocho direcciones y con teclado; botones que combinan.</a:t>
            </a:r>
          </a:p>
          <a:p/>
          <a:p>
            <a:r>
              <a:t>Evidencia: 175 pruebas y revisiones visibles de zoom, composer y diálogos.</a:t>
            </a:r>
          </a:p>
          <a:p/>
          <a:p>
            <a:r>
              <a:t>Entregado por: Los releases publicados v1.82.0 y v1.83.0.</a:t>
            </a:r>
          </a:p>
        </p:txBody>
      </p:sp>
      <p:sp>
        <p:nvSpPr>
          <p:cNvPr id="4" name="Slide Number Placeholder 3"/>
          <p:cNvSpPr>
            <a:spLocks noGrp="1"/>
          </p:cNvSpPr>
          <p:nvPr>
            <p:ph type="sldNum" idx="5" sz="quarter"/>
          </p:nvPr>
        </p:nvSpPr>
        <p:spPr/>
      </p:sp>
    </p:spTree>
  </p:cSld>
  <p:clrMapOvr>
    <a:masterClrMapping/>
  </p:clrMapOvr>
</p:notes>
</file>

<file path=ppt/notesSlides/notesSlide1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 tag del 11 de octubre sin release propio; llega a los usuarios por medio de v1.82.0 y v1.83.0.</a:t>
            </a:r>
          </a:p>
          <a:p/>
          <a:p>
            <a:r>
              <a:t>Con un link de YouTube u otro sitio web, Video-Analyzer descarga un elemento por sí mismo: sólo el sonido para una transcripción, la imagen para un resumen o una revisión de robótica. Tiene un descargador privado que se actualiza solo, lo actualiza una vez y reintenta cuando falla una descarga, une imagen y sonido sin ffmpeg, y nombra cada error en vez de devolver silencio.</a:t>
            </a:r>
          </a:p>
          <a:p/>
          <a:p>
            <a:r>
              <a:t>El parser del chat ya no confunde el ?v= de un link con una configuración, una solicitud escrita en palabras sencillas llena el link y el modo, y el resultado agrega la dirección y el título de la fuente. Al modelo se le dice que pase los links a Video-Analyzer y que nunca instale un descargador por sí mismo. Pasaron 141 pruebas unitarias y una ejecución visible del chat de 12 de 12 el 11 de octubre.</a:t>
            </a:r>
          </a:p>
          <a:p/>
          <a:p>
            <a:r>
              <a:t>Un elemento: Sonido para la transcripción, imagen para el resumen o la robótica.</a:t>
            </a:r>
          </a:p>
          <a:p/>
          <a:p>
            <a:r>
              <a:t>Se actualiza solo: Un descargador privado, renovado una vez cuando falla.</a:t>
            </a:r>
          </a:p>
          <a:p/>
          <a:p>
            <a:r>
              <a:t>Errores con nombre: No disponible, requiere inicio de sesión, red, tiempo agotado y más.</a:t>
            </a:r>
          </a:p>
          <a:p/>
          <a:p>
            <a:r>
              <a:t>Funciona con prosa: Las solicitudes en lenguaje sencillo llenan el link y el modo.</a:t>
            </a:r>
          </a:p>
          <a:p/>
          <a:p>
            <a:r>
              <a:t>Evidencia: 141 pruebas unitarias y una ejecución visible del chat de 12 de 12.</a:t>
            </a:r>
          </a:p>
          <a:p/>
          <a:p>
            <a:r>
              <a:t>Entregado por: Los releases publicados v1.82.0 y v1.83.0.</a:t>
            </a:r>
          </a:p>
        </p:txBody>
      </p:sp>
      <p:sp>
        <p:nvSpPr>
          <p:cNvPr id="4" name="Slide Number Placeholder 3"/>
          <p:cNvSpPr>
            <a:spLocks noGrp="1"/>
          </p:cNvSpPr>
          <p:nvPr>
            <p:ph type="sldNum" idx="5" sz="quarter"/>
          </p:nvPr>
        </p:nvSpPr>
        <p:spPr/>
      </p:sp>
    </p:spTree>
  </p:cSld>
  <p:clrMapOvr>
    <a:masterClrMapping/>
  </p:clrMapOvr>
</p:notes>
</file>

<file path=ppt/notesSlides/notesSlide1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 tag del 10 de octubre; el commit de Uso llega un commit después del tag. El zip publicado de v1.78.0 lo lleva.</a:t>
            </a:r>
          </a:p>
          <a:p/>
          <a:p>
            <a:r>
              <a:t>La primera campaña del 10 de octubre pasó 18 pruebas de Uso, 202 regresiones existentes y 24 revisiones visibles en el browser, además de la paridad byte por byte entre el source y los estáticos recolectados. La cuenta Pro en vivo se comparó con la Configuración de Ollama antes y después de una solicitud real al modelo, y Uso se abrió y se actualizó mientras esa solicitud corría. Los casos de otros planes, de errores y de cambio de cuenta usaron fixtures explícitamente sintéticos, no suscripciones en vivo de Free, Max o Unlimited.</a:t>
            </a:r>
          </a:p>
          <a:p/>
          <a:p>
            <a:r>
              <a:t>Una continuación ese mismo día hizo que Uso se recupere cuando Ollama arranca tarde. Los errores temporales de conexión, de tiempo agotado y de respuesta inválida ahora reintentan después de 15 segundos en vez de un minuto completo, un Retry-After del servidor se respeta incluso cuando se hace clic varias veces en Actualizar, y una conexión rechazada se vuelve a revisar de inmediato al Actualizar o al reabrir. Pasó 27 pruebas de Uso y 12 revisiones visibles en el browser: Actualizar se recuperó en 0.47 segundos, reabrir en 0.52 segundos y el reintento automático en 15.02 segundos.</a:t>
            </a:r>
          </a:p>
          <a:p/>
          <a:p>
            <a:r>
              <a:t>UsageDaily, la migración 0213, registra contadores por usuario/modelo/día UTC con una cola de worker acotada; es telemetría de mejor esfuerzo, no un libro de facturación. Pasaron los dos barridos de inclusión. Esas campañas corrieron desde el source. Esta actualización revisó que el zip publicado coincide con el build local byte por byte (SHA-256); no instaló el release ni volvió a correr las pruebas del browser.</a:t>
            </a:r>
          </a:p>
          <a:p/>
          <a:p>
            <a:r>
              <a:t>220 pruebas: Pasaron 18 de Uso más 202 regresiones existentes el 10 de octubre.</a:t>
            </a:r>
          </a:p>
          <a:p/>
          <a:p>
            <a:r>
              <a:t>24 revisiones en el browser: Comparaciones visibles en vivo con Pro más casos límite claramente sintéticos.</a:t>
            </a:r>
          </a:p>
          <a:p/>
          <a:p>
            <a:r>
              <a:t>Recuperación: 27 pruebas de Uso y 12 revisiones visibles; las caídas se reintentan después de 15 s.</a:t>
            </a:r>
          </a:p>
          <a:p/>
          <a:p>
            <a:r>
              <a:t>Durante una solicitud: Uso se abrió/actualizó mientras se completaba una respuesta real del modelo.</a:t>
            </a:r>
          </a:p>
          <a:p/>
          <a:p>
            <a:r>
              <a:t>En el release: Los archivos del zip publicado coinciden con el último commit del 10 de octubre.</a:t>
            </a:r>
          </a:p>
          <a:p/>
          <a:p>
            <a:r>
              <a:t>Privacidad: Las observaciones de la cuenta y los screenshots autenticados se quedan fuera de este dossier.</a:t>
            </a:r>
          </a:p>
        </p:txBody>
      </p:sp>
      <p:sp>
        <p:nvSpPr>
          <p:cNvPr id="4" name="Slide Number Placeholder 3"/>
          <p:cNvSpPr>
            <a:spLocks noGrp="1"/>
          </p:cNvSpPr>
          <p:nvPr>
            <p:ph type="sldNum" idx="5" sz="quarter"/>
          </p:nvPr>
        </p:nvSpPr>
        <p:spPr/>
      </p:sp>
    </p:spTree>
  </p:cSld>
  <p:clrMapOvr>
    <a:masterClrMapping/>
  </p:clrMapOvr>
</p:notes>
</file>

<file path=ppt/notesSlides/notesSlide1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Dos commits después del tag v1.78.0, y llevado por el zip publicado: el área de input cambia de tamaño cuando ella flota.</a:t>
            </a:r>
          </a:p>
          <a:p/>
          <a:p>
            <a:r>
              <a:t>Con el avatar desacoplado, el formulario de input ahora se puede arrastrar hacia abajo hasta sus propios botones de acción más un margen de seis píxeles; el viejo piso del 30% desapareció. La barra de herramientas, el medidor de contexto y las filas de adjuntos y de dictado cuentan con sus alturas medidas. Volver a acoplarla restaura el espacio para el retrato. El divisor responde al puntero, a las flechas, a Shift+flechas, a Inicio, a Fin y al doble clic, y le reporta su altura a los lectores de pantalla.</a:t>
            </a:r>
          </a:p>
          <a:p/>
          <a:p>
            <a:r>
              <a:t>Las ventanas bajas desplazan el composer dentro de sí mismo y conservan el historial del chat. La página ocupa el viewport real: la navegación colapsada se abre sobre el espacio de trabajo en vez de empujarlo hacia abajo, y un espacio de trabajo mínimo de 640 píxeles conserva ambos paneles en pantallas angostas. Los diálogos de jQuery UI se quedan dentro de la ventana después de abrirse, arrastrarse o cambiar de tamaño, los diálogos nativos bajos se desplazan como tarjetas completas, y el avatar nunca tapa un diálogo modal.</a:t>
            </a:r>
          </a:p>
          <a:p/>
          <a:p>
            <a:r>
              <a:t>En una ventana verificada de Chrome en primer plano pasaron 18 revisiones del composer y 38 revisiones del viewport al 100%, con zoom nativo de 400% y de 25% y en una ventana del tamaño de un teléfono, con ocho diálogos en cada tamaño. Es un browser de escritorio con dimensiones de teléfono, no un teléfono físico; el zoom de 20% no estaba disponible y no se afirma. Estas revisiones de distribución no certifican la inferencia del modelo ni la captura de audio.</a:t>
            </a:r>
          </a:p>
          <a:p/>
          <a:p>
            <a:r>
              <a:t>Se encoge para caber: Desacoplado, el área de input se puede encoger hasta sus botones; sin piso del 30%.</a:t>
            </a:r>
          </a:p>
          <a:p/>
          <a:p>
            <a:r>
              <a:t>Acoplar de nuevo: Acoplarla restaura el espacio para su retrato sobre los botones.</a:t>
            </a:r>
          </a:p>
          <a:p/>
          <a:p>
            <a:r>
              <a:t>Teclado: Flechas, Shift+flechas, Inicio, Fin y doble clic en el divisor.</a:t>
            </a:r>
          </a:p>
          <a:p/>
          <a:p>
            <a:r>
              <a:t>Ventanas bajas: El composer se desplaza dentro de sí mismo; el historial del chat sigue visible.</a:t>
            </a:r>
          </a:p>
          <a:p/>
          <a:p>
            <a:r>
              <a:t>Pantallas angostas: Un espacio de trabajo de 640 píxeles se desplaza; la página y los diálogos se quedan anclados.</a:t>
            </a:r>
          </a:p>
          <a:p/>
          <a:p>
            <a:r>
              <a:t>Evidencia: Pasaron 18 revisiones del composer y 38 del viewport, de forma visible, el 10 de octubre.</a:t>
            </a:r>
          </a:p>
        </p:txBody>
      </p:sp>
      <p:sp>
        <p:nvSpPr>
          <p:cNvPr id="4" name="Slide Number Placeholder 3"/>
          <p:cNvSpPr>
            <a:spLocks noGrp="1"/>
          </p:cNvSpPr>
          <p:nvPr>
            <p:ph type="sldNum" idx="5" sz="quarter"/>
          </p:nvPr>
        </p:nvSpPr>
        <p:spPr/>
      </p:sp>
    </p:spTree>
  </p:cSld>
  <p:clrMapOvr>
    <a:masterClrMapping/>
  </p:clrMapOvr>
</p:notes>
</file>

<file path=ppt/notesSlides/notesSlide1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Image-Interpreter ahora lee una lista de imágenes separada por comas, un cambio acreditado a la propia Tlamatini.</a:t>
            </a:r>
          </a:p>
          <a:p/>
          <a:p>
            <a:r>
              <a:t>El commit 0e6fc72d se titula “Tlamatini's self-repair Image-Interpreter, by Tlamatini's-AutoBot” y es el commit al que apunta el tag v1.78.0. Cuando el campo de imágenes tiene varios paths separados por comas, cada entrada se resuelve por su cuenta, los resultados se combinan, y los paths repetidos se quitan conservando el orden original.</a:t>
            </a:r>
          </a:p>
          <a:p/>
          <a:p>
            <a:r>
              <a:t>La lista se divide sólo cuando el valor completo no es en sí un archivo existente, así que una sola imagen cuyo nombre contiene una coma sigue resolviéndose. Una entrada que no coincide con nada se registra como advertencia y las demás imágenes se siguen analizando. El cambio de 22 líneas llegó sin una nueva prueba automatizada; se incluye en el release publicado v1.78.0.</a:t>
            </a:r>
          </a:p>
          <a:p/>
          <a:p>
            <a:r>
              <a:t>Varias imágenes: Los paths separados por comas se resuelven uno por uno y se combinan.</a:t>
            </a:r>
          </a:p>
          <a:p/>
          <a:p>
            <a:r>
              <a:t>Sin duplicados: Los paths repetidos se quitan; se conserva el orden original.</a:t>
            </a:r>
          </a:p>
          <a:p/>
          <a:p>
            <a:r>
              <a:t>Comas en los nombres: Un solo archivo existente nunca se divide en su coma.</a:t>
            </a:r>
          </a:p>
          <a:p/>
          <a:p>
            <a:r>
              <a:t>Advertencia honesta: Una entrada que no se resuelve a nada se registra, no se esconde.</a:t>
            </a:r>
          </a:p>
          <a:p/>
          <a:p>
            <a:r>
              <a:t>Autorreparación: El commit acredita a Tlamatini's-AutoBot, su propio trabajo de self-modify.</a:t>
            </a:r>
          </a:p>
          <a:p/>
          <a:p>
            <a:r>
              <a:t>En v1.78.0: El tag apunta a este commit; todavía sin prueba dedicada.</a:t>
            </a:r>
          </a:p>
        </p:txBody>
      </p:sp>
      <p:sp>
        <p:nvSpPr>
          <p:cNvPr id="4" name="Slide Number Placeholder 3"/>
          <p:cNvSpPr>
            <a:spLocks noGrp="1"/>
          </p:cNvSpPr>
          <p:nvPr>
            <p:ph type="sldNum" idx="5" sz="quarter"/>
          </p:nvPr>
        </p:nvSpPr>
        <p:spPr/>
      </p:sp>
    </p:spTree>
  </p:cSld>
  <p:clrMapOvr>
    <a:masterClrMapping/>
  </p:clrMapOvr>
</p:notes>
</file>

<file path=ppt/notesSlides/notesSlide1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 tag y publicado el 9 de octubre; v1.78.0 lo reemplazó como el release Latest el 10 de octubre.</a:t>
            </a:r>
          </a:p>
          <a:p/>
          <a:p>
            <a:r>
              <a:t>Cada línea fija que Tlamatini envía al chat, y que su avatar lee en voz alta, ahora está escrita en primera persona y dirigida al usuario por su nombre: “¡Estoy lista, Angela! Ya puedes empezar a platicar conmigo.” reemplaza a “Tu agent está listo.” Las líneas viven en un solo lugar, agent/constants.py; un helper llena el primer nombre, o el nombre de usuario cuando no hay primer nombre, y quita el nombre limpiamente cuando no hay ninguno.</a:t>
            </a:r>
          </a:p>
          <a:p/>
          <a:p>
            <a:r>
              <a:t>Algunas de estas líneas se reconocen por sus palabras: la página del chat las usa para saber si está ocupada o lista, el avatar para decidir qué decir, y el puente de Telegram para filtrar sus respuestas. Cada uno de esos reconocedores cambió en el mismo commit y sigue aceptando la redacción vieja, así que un historial de chat guardado y un servidor más viejo se siguen leyendo correctamente.</a:t>
            </a:r>
          </a:p>
          <a:p/>
          <a:p>
            <a:r>
              <a:t>El desinstalador ya no borra el trabajo propio del usuario. Desinstalar una instalación había borrado los proyectos guardados en Templates/, donde STM32er, ESP32er, Arduiner, ESPHomer, Unrealer y LaTeXer crean sus proyectos de forma predeterminada. Ahora conserva application, applications, content_generated, context_files, doc_generated y Templates siempre que tengan un archivo, siempre borra Temp/, y sigue conservando agents/. Sólo un Uninstaller.exe recompilado lleva esto: una instalación nueva o una reinstalación lo copia, mientras que una actualización desde la app conserva el viejo.</a:t>
            </a:r>
          </a:p>
          <a:p/>
          <a:p>
            <a:r>
              <a:t>Ambos cambios están cubiertos por pruebas unitarias (las pruebas de mensajes en test_compact_mode_switch.py y test_uninstaller_mechanics.py), registradas como aprobadas en la actualización de la documentación del 9 de octubre.</a:t>
            </a:r>
          </a:p>
          <a:p/>
          <a:p>
            <a:r>
              <a:t>Primera persona: Las líneas fijas del chat dicen “yo” y usan tu nombre.</a:t>
            </a:r>
          </a:p>
          <a:p/>
          <a:p>
            <a:r>
              <a:t>Una sola fuente: Cada línea fija vive en agent/constants.py.</a:t>
            </a:r>
          </a:p>
          <a:p/>
          <a:p>
            <a:r>
              <a:t>Redacción vieja conservada: Los reconocedores aceptan ambas, así que los historiales viejos se siguen leyendo.</a:t>
            </a:r>
          </a:p>
          <a:p/>
          <a:p>
            <a:r>
              <a:t>Templates conservado: Desinstalar conserva los proyectos en Templates/.</a:t>
            </a:r>
          </a:p>
          <a:p/>
          <a:p>
            <a:r>
              <a:t>Temp borrado: Lo temporal se va; las carpetas con tus archivos se quedan.</a:t>
            </a:r>
          </a:p>
          <a:p/>
          <a:p>
            <a:r>
              <a:t>Desinstalador recompilado: Una reinstalación lleva el arreglo; una actualización desde la app no.</a:t>
            </a:r>
          </a:p>
        </p:txBody>
      </p:sp>
      <p:sp>
        <p:nvSpPr>
          <p:cNvPr id="4" name="Slide Number Placeholder 3"/>
          <p:cNvSpPr>
            <a:spLocks noGrp="1"/>
          </p:cNvSpPr>
          <p:nvPr>
            <p:ph type="sldNum" idx="5" sz="quarter"/>
          </p:nvPr>
        </p:nvSpPr>
        <p:spPr/>
      </p:sp>
    </p:spTree>
  </p:cSld>
  <p:clrMapOvr>
    <a:masterClrMapping/>
  </p:clrMapOvr>
</p:notes>
</file>

<file path=ppt/notesSlides/notesSlide1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 tag del 8 de octubre; el commit del Model Brain llega a main un commit después del tag. El release publicado v1.76.0 se construyó desde main y lo lleva.</a:t>
            </a:r>
          </a:p>
          <a:p/>
          <a:p>
            <a:r>
              <a:t>Cada modelo que Tlamatini llama ahora recibe su propio muestreo, nivel de razonamiento y tamaño de contexto a partir de fuentes formales, como describe el capítulo Cómo funciona. Config ▸ Modelos ▸ Guardar abre un diálogo de Autoajuste que ajusta cada modelo configurado frente a ti, los modelos que razonan conservan su propio razonamiento entre llamadas a tools dentro de una respuesta, y los relojes de bloqueo que tiraban trabajo terminado desaparecieron.</a:t>
            </a:r>
          </a:p>
          <a:p/>
          <a:p>
            <a:r>
              <a:t>La ventana de la consola pinta cada línea según su nivel: errores en rojo, errores fatales en blanco sobre rojo, advertencias en amarillo, debug en gris y éxitos en verde, mientras que tlamatini.log se queda en texto plano. Al arrancar ella registra qué programa dibuja la ventana, la consola clásica o Windows Terminal, la predeterminada en Windows 11. console_colors y la variable estándar NO_COLOR apagan los colores.</a:t>
            </a:r>
          </a:p>
          <a:p/>
          <a:p>
            <a:r>
              <a:t>Dos reparaciones más pequeñas vienen junto. Un PDF rechazado porque una segunda cuenta inició sesión desde el mismo browser ahora nombra esa causa y el arreglo, recargar con F5, y el diálogo de progreso marca el paso con error. Dos páginas de chat con dos modelos distintos ya no se hacen volver a medir una a la otra para siempre: el veredicto de un modelo actualiza las casillas y se detiene. En dos páginas de prueba inactivas los reenvíos bajaron de 1,081 en un minuto a ninguno.</a:t>
            </a:r>
          </a:p>
          <a:p/>
          <a:p>
            <a:r>
              <a:t>El 8 de octubre la prueba visible del Model Brain pasó 25 de 25 revisiones en una ejecución desde el source y la prueba visible de la cuenta del PDF pasó 20 de 20. Son resultados fechados, no una afirmación de que esta actualización de la documentación los volvió a correr. El estado de publicación se indica en la sección Identidad del release.</a:t>
            </a:r>
          </a:p>
          <a:p/>
          <a:p>
            <a:r>
              <a:t>Model Brain: Configuración por modelo a partir de fuentes citadas; Autoajuste muestra cada una.</a:t>
            </a:r>
          </a:p>
          <a:p/>
          <a:p>
            <a:r>
              <a:t>Razonamiento conservado: Los modelos que piensan conservan su hilo de pensamiento entre llamadas a tools.</a:t>
            </a:r>
          </a:p>
          <a:p/>
          <a:p>
            <a:r>
              <a:t>Consola a colores: Líneas coloreadas por nivel; el archivo de log se queda en texto plano.</a:t>
            </a:r>
          </a:p>
          <a:p/>
          <a:p>
            <a:r>
              <a:t>Rechazo veraz: Un PDF rechazado por una segunda cuenta dice por qué y cómo arreglarlo.</a:t>
            </a:r>
          </a:p>
          <a:p/>
          <a:p>
            <a:r>
              <a:t>Pestañas tranquilas: Dos páginas con dos modelos ya no se vuelven a medir una a la otra.</a:t>
            </a:r>
          </a:p>
          <a:p/>
          <a:p>
            <a:r>
              <a:t>Evidencia: 25 de 25 y 20 de 20 revisiones visibles el 8 de octubre.</a:t>
            </a:r>
          </a:p>
        </p:txBody>
      </p:sp>
      <p:sp>
        <p:nvSpPr>
          <p:cNvPr id="4" name="Slide Number Placeholder 3"/>
          <p:cNvSpPr>
            <a:spLocks noGrp="1"/>
          </p:cNvSpPr>
          <p:nvPr>
            <p:ph type="sldNum" idx="5" sz="quarter"/>
          </p:nvPr>
        </p:nvSpPr>
        <p:spPr/>
      </p:sp>
    </p:spTree>
  </p:cSld>
  <p:clrMapOvr>
    <a:masterClrMapping/>
  </p:clrMapOvr>
</p:notes>
</file>

<file path=ppt/notesSlides/notesSlide1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7 y 8 de octubre: LaTeXer, Mover y los agents de documentos reportan lo que de verdad pasó.</a:t>
            </a:r>
          </a:p>
          <a:p/>
          <a:p>
            <a:r>
              <a:t>LaTeXer reporta un PDF sólo cuando el archivo entregado de verdad existe y no está vacío, y un PDF cuyo texto sobresale más de cinco puntos del margen se reporta como creado con hallazgos, no como limpio. Cuando tuvo que cortar una cuarta parte o más del cuerpo de un documento roto para producir algún PDF, guarda el resultado como &lt;name&gt;.DEGRADED.pdf y deja intacto el nombre pedido. En un documento de más de 8,000 caracteres el peldaño del modelo primero repara sólo las líneas alrededor del error del compilador con una solicitud acotada; una respuesta inútil vuelve a la solicitud del documento completo, y una respuesta que nunca llegó prohíbe el peldaño bisect.</a:t>
            </a:r>
          </a:p>
          <a:p/>
          <a:p>
            <a:r>
              <a:t>Mover ya no borra una carpeta de destino para copiar en ella: las carpetas se combinan, cada archivo se prepara y se publica completo, un movimiento quita su origen sólo después, y un error termina con un recibo de error y una salida distinta de cero en vez de un éxito. Los agents de documentos y de captura conservan un archivo terminado cuando el Controlled Folder Access de Windows bloquea la carpeta, y el script de lista blanca de seguridad ahora encuentra cada instalación de Tlamatini y deja que su Python guarde archivos.</a:t>
            </a:r>
          </a:p>
          <a:p/>
          <a:p>
            <a:r>
              <a:t>El cambio de LaTeXer del 8 de octubre agregó 37 pruebas, y las 549 pruebas de LaTeXer pasaron con él. El trabajo de entrega de Mover y LaTeXer del 7 de octubre pasó 126 pruebas enfocadas.</a:t>
            </a:r>
          </a:p>
          <a:p/>
          <a:p>
            <a:r>
              <a:t>PDFs reales: Éxito sólo cuando el archivo entregado existe y no está vacío.</a:t>
            </a:r>
          </a:p>
          <a:p/>
          <a:p>
            <a:r>
              <a:t>Hallazgos de distribución: El texto que pasa el margen se reporta, nunca se llama limpio.</a:t>
            </a:r>
          </a:p>
          <a:p/>
          <a:p>
            <a:r>
              <a:t>Nombre DEGRADED: Un build mayormente recortado nunca lleva el nombre que pediste.</a:t>
            </a:r>
          </a:p>
          <a:p/>
          <a:p>
            <a:r>
              <a:t>Reparación por región: Documentos grandes: primero se reparan las líneas alrededor del error.</a:t>
            </a:r>
          </a:p>
          <a:p/>
          <a:p>
            <a:r>
              <a:t>Mover: Los destinos se combinan, nunca se borran; los errores se reportan.</a:t>
            </a:r>
          </a:p>
          <a:p/>
          <a:p>
            <a:r>
              <a:t>Carpetas protegidas: Los archivos terminados sobreviven a Controlled Folder Access.</a:t>
            </a:r>
          </a:p>
        </p:txBody>
      </p:sp>
      <p:sp>
        <p:nvSpPr>
          <p:cNvPr id="4" name="Slide Number Placeholder 3"/>
          <p:cNvSpPr>
            <a:spLocks noGrp="1"/>
          </p:cNvSpPr>
          <p:nvPr>
            <p:ph type="sldNum" idx="5" sz="quarter"/>
          </p:nvPr>
        </p:nvSpPr>
        <p:spPr/>
      </p:sp>
    </p:spTree>
  </p:cSld>
  <p:clrMapOvr>
    <a:masterClrMapping/>
  </p:clrMapOvr>
</p:notes>
</file>

<file path=ppt/notesSlides/notesSlide1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Hechos commit después del tag v1.75.0 y llevados por el tag v1.76.0.</a:t>
            </a:r>
          </a:p>
          <a:p/>
          <a:p>
            <a:r>
              <a:t>Los helpers Files-Search y System-Metrics le hacen a Ollama sus propias preguntas antes de la respuesta principal. Esas llamadas ahora tienen un límite de tiempo, context_sidecar_llm_timeout_seconds, 60 segundos de forma predeterminada; al llegar al límite, o cuando presionas Cancelar, un helper se salta su contexto y la respuesta sigue adelante, así que una respuesta lenta ya no puede congelar el chat.</a:t>
            </a:r>
          </a:p>
          <a:p/>
          <a:p>
            <a:r>
              <a:t>Cuando Windows todavía tiene tomado Uninstaller.exe mientras el desinstalador termina, el archivo se reintenta, se mueve aparte y lo borra una limpieza oculta después de salir, así que la desinstalación se completa. File-Creator ganó append: true agrega el contenido al final de un archivo, byte por byte, en vez de sobrescribirlo.</a:t>
            </a:r>
          </a:p>
          <a:p/>
          <a:p>
            <a:r>
              <a:t>Helpers de contexto: Sus propias llamadas al modelo se detienen en un límite de tiempo o con Cancelar.</a:t>
            </a:r>
          </a:p>
          <a:p/>
          <a:p>
            <a:r>
              <a:t>Desinstalador: Un Uninstaller.exe tomado se mueve aparte y se quita después de salir.</a:t>
            </a:r>
          </a:p>
          <a:p/>
          <a:p>
            <a:r>
              <a:t>File-Creator: append: true agrega a un archivo en vez de sobrescribirlo.</a:t>
            </a:r>
          </a:p>
        </p:txBody>
      </p:sp>
      <p:sp>
        <p:nvSpPr>
          <p:cNvPr id="4" name="Slide Number Placeholder 3"/>
          <p:cNvSpPr>
            <a:spLocks noGrp="1"/>
          </p:cNvSpPr>
          <p:nvPr>
            <p:ph type="sldNum" idx="5" sz="quarter"/>
          </p:nvPr>
        </p:nvSpPr>
        <p:spPr/>
      </p:sp>
    </p:spTree>
  </p:cSld>
  <p:clrMapOvr>
    <a:masterClrMapping/>
  </p:clrMapOvr>
</p:notes>
</file>

<file path=ppt/notesSlides/notesSlide1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Hecho commit a main el 4 de octubre y llevado por el tag v1.76.0; los ejecutables locales se recompilaron para validarlos.</a:t>
            </a:r>
          </a:p>
          <a:p/>
          <a:p>
            <a:r>
              <a:t>Comentario del usuario se edita por completo en el canvas. Haz doble clic o presiona Enter para escribir, y luego da formato a las palabras seleccionadas con la mini barra de herramientas flotante. Una sola nota puede combinar distintas fuentes, tamaños, colores de texto, negritas, cursivas y subrayado. Un cursor da estilo al siguiente texto que escribes. El color y la alineación de la burbuja se aplican a toda la nota.</a:t>
            </a:r>
          </a:p>
          <a:p/>
          <a:p>
            <a:r>
              <a:t>Arrastra cualquier borde o esquina, incluso mientras escribes. Ajustar al texto quita la altura sobrante. Cada línea ajustada se queda dentro de la burbuja sin una barra de desplazamiento interna. Listo o Ctrl+Enter guarda la edición. Cancelar o Escape restaura su texto, estilos, tamaño y posición.</a:t>
            </a:r>
          </a:p>
          <a:p/>
          <a:p>
            <a:r>
              <a:t>El divisor sobre Output de la ejecución asigna del 5% al 95% de la altura útil del canvas/output. Sólo cambian las dos áreas visibles. El zoom del canvas, las dimensiones de las figuras y los tamaños de texto se quedan fijos, y cada panel se desplaza de forma independiente. El browser recuerda la proporción por usuario con sesión iniciada.</a:t>
            </a:r>
          </a:p>
          <a:p/>
          <a:p>
            <a:r>
              <a:t>La verificación de comentarios del 4 de octubre pasó 29 pruebas de diagrama/ejecutor, 3 pruebas de transporte y 23 puntos de revisión visibles en Chrome, incluidos tres comentarios con estilos mezclados a lo largo de tres ciclos de guardar/abrir el archivo con datos idénticos y cajas de líneas renderizadas idénticas. La verificación del divisor del output pasó por separado 14 puntos de revisión visibles en Chrome y 3 pruebas de transporte. Son resultados fechados, no una afirmación de que esta actualización de la documentación los volvió a correr.</a:t>
            </a:r>
          </a:p>
        </p:txBody>
      </p:sp>
      <p:sp>
        <p:nvSpPr>
          <p:cNvPr id="4" name="Slide Number Placeholder 3"/>
          <p:cNvSpPr>
            <a:spLocks noGrp="1"/>
          </p:cNvSpPr>
          <p:nvPr>
            <p:ph type="sldNum" idx="5" sz="quarter"/>
          </p:nvPr>
        </p:nvSpPr>
        <p:spPr/>
      </p:sp>
    </p:spTree>
  </p:cSld>
  <p:clrMapOvr>
    <a:masterClrMapping/>
  </p:clrMapOvr>
</p:notes>
</file>

<file path=ppt/notesSlides/notesSlide1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Hecho commit en main después del tag v1.75.0 y llevado por el tag v1.76.0.</a:t>
            </a:r>
          </a:p>
          <a:p/>
          <a:p>
            <a:r>
              <a:t>Los modelos en la nube de Ollama rechazan una solicitud que lleva más de cuatro secuencias de parada, y el modelo del chat antes enviaba nueve, así que el resumen del historial del chat, la primera llamada cuando una conversación se vuelve larga, hacía fallar toda la solicitud. Ahora cada lista de paradas pasa por un solo ajustador que conserva cuando mucho cuatro, las más importantes primero, y un resumen con error ya no hace fallar la respuesta: la solicitud sigue sin él, mientras que Cancelar todavía la detiene.</a:t>
            </a:r>
          </a:p>
          <a:p/>
          <a:p>
            <a:r>
              <a:t>El Prompt Flow Panel separa dos cosas que compartían un nombre. Input del usuario es la operación que se detiene a preguntarte algo; conserva exactamente su comportamiento anterior con una nueva figura de muesca. Comentario del usuario ahora es una nota estática en burbuja de diálogo para quien revisa: escrita en su lugar, con color y estilo libres, crece para contener todo su texto sin barra de desplazamiento, y nunca se ejecuta. Los archivos nuevos se guardan como versión 2; los archivos de la versión 1 se abren con sus viejos pasos de comentario convertidos en Input del usuario, conservando identificadores y conexiones.</a:t>
            </a:r>
          </a:p>
          <a:p/>
          <a:p>
            <a:r>
              <a:t>La actualización del 3 de octubre volvió a correr 430 pruebas unitarias enfocadas, la revisión sin conexión del Prompt Flow, ESLint con cero errores, el inventario de skills y los dos barridos de inclusión; todo pasó, y ruff ahora reporta un árbol limpio. En un Chrome visible en el escritorio real, la prueba de comentarios pasó los nueve puntos de revisión: notas largas sin barras de desplazamiento, fuentes y colores, cambio de tamaño con Deshacer y Rehacer, guardar y reabrir, una ejecución real de Input del usuario, Escape deteniéndola y un archivo de versión 1 migrando.</a:t>
            </a:r>
          </a:p>
          <a:p/>
          <a:p>
            <a:r>
              <a:t>Cuatro secuencias de parada: Cada solicitud a Ollama; un resumen con error nunca hace fallar la respuesta.</a:t>
            </a:r>
          </a:p>
          <a:p/>
          <a:p>
            <a:r>
              <a:t>Input del usuario: El paso que te pregunta: mismo mecanismo, nueva figura.</a:t>
            </a:r>
          </a:p>
          <a:p/>
          <a:p>
            <a:r>
              <a:t>Comentario del usuario: Una nota estática de revisión; nunca se ejecuta y nunca llega al modelo.</a:t>
            </a:r>
          </a:p>
          <a:p/>
          <a:p>
            <a:r>
              <a:t>Archivos versión 2: Los flows de la versión 1 se migran al abrirse; se conservan los identificadores y los enlaces.</a:t>
            </a:r>
          </a:p>
          <a:p/>
          <a:p>
            <a:r>
              <a:t>Evidencia del 3 de octubre: 430 pruebas unitarias; 9 de 9 puntos de revisión visibles en Chrome.</a:t>
            </a:r>
          </a:p>
        </p:txBody>
      </p:sp>
      <p:sp>
        <p:nvSpPr>
          <p:cNvPr id="4" name="Slide Number Placeholder 3"/>
          <p:cNvSpPr>
            <a:spLocks noGrp="1"/>
          </p:cNvSpPr>
          <p:nvPr>
            <p:ph type="sldNum" idx="5" sz="quarter"/>
          </p:nvPr>
        </p:nvSpPr>
        <p:spPr/>
      </p:sp>
    </p:spTree>
  </p:cSld>
  <p:clrMapOvr>
    <a:masterClrMapping/>
  </p:clrMapOvr>
</p:notes>
</file>

<file path=ppt/notesSlides/notesSlide1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 tag del 3 de octubre: Compact mode es un interruptor de la barra de herramientas; el interruptor Self-modify vino después y se incluye en v1.76.0.</a:t>
            </a:r>
          </a:p>
          <a:p/>
          <a:p>
            <a:r>
              <a:t>Compact mode, tal como quedó en el tag v1.74.0, era un veredicto tomado a espaldas del usuario. En v1.75.0 es una casilla de la barra de herramientas. Marcarla desmarca todas las filas en Configurar MCPs, Configurar Agents y ACPX-Skills excepto System-Metrics, Files-Search y Current-Time, y pausa los External MCPs; desmarcarla vuelve a marcar todas las filas. Cada fila muestra los tokens que agrega, un modelo que no puede contenerlo todo enciende la casilla y la bloquea, y una respuesta construida a partir de una solicitud recortada lleva una advertencia CONTEXT-WINDOW.</a:t>
            </a:r>
          </a:p>
          <a:p/>
          <a:p>
            <a:r>
              <a:t>Justo después del tag, el commit 70aeeb87 agregó la casilla Self-modify, que se incluye en v1.76.0. Una ejecución desde el source siempre la muestra; un build congelado la muestra sólo cuando se construyó con --self-modify. Encendida, envía su autoconocimiento, unos 28,900 tokens por solicitud; apagada, una línea le dice que no cambie su propio código. Un modelo que no puede contenerlo muestra la casilla bloqueada en apagado.</a:t>
            </a:r>
          </a:p>
          <a:p/>
          <a:p>
            <a:r>
              <a:t>La ejecución visible del interruptor Compact pasó 57 de 57 revisiones con un qwen2.5 local y un modelo gratuito en la nube. La ejecución visible de Self-modify pasó 28 de 28: con los mismos 119 tools, la solicitud con el autoconocimiento fue 117,517 bytes más grande que sin él. Pasaron 473 pruebas unitarias, incluido un renderizado de la página como build congelado.</a:t>
            </a:r>
          </a:p>
          <a:p/>
          <a:p>
            <a:r>
              <a:t>Interruptor Compact: Sólo las filas que marcas; bloqueado en encendido cuando el modelo no puede contenerlo todo.</a:t>
            </a:r>
          </a:p>
          <a:p/>
          <a:p>
            <a:r>
              <a:t>Precios: Cada fila de Configurar muestra los tokens que agrega a cada solicitud.</a:t>
            </a:r>
          </a:p>
          <a:p/>
          <a:p>
            <a:r>
              <a:t>Self-modify: Su autoconocimiento encendido o apagado; bloqueado en apagado cuando no cabe.</a:t>
            </a:r>
          </a:p>
          <a:p/>
          <a:p>
            <a:r>
              <a:t>Prueba: 57/57 y 28/28 revisiones visibles; 473 pruebas unitarias.</a:t>
            </a:r>
          </a:p>
        </p:txBody>
      </p:sp>
      <p:sp>
        <p:nvSpPr>
          <p:cNvPr id="4" name="Slide Number Placeholder 3"/>
          <p:cNvSpPr>
            <a:spLocks noGrp="1"/>
          </p:cNvSpPr>
          <p:nvPr>
            <p:ph type="sldNum" idx="5" sz="quarter"/>
          </p:nvPr>
        </p:nvSpPr>
        <p:spPr/>
      </p:sp>
    </p:spTree>
  </p:cSld>
  <p:clrMapOvr>
    <a:masterClrMapping/>
  </p:clrMapOvr>
</p:notes>
</file>

<file path=ppt/notesSlides/notesSlide15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 tag del 1 de octubre: cada solicitud se ajusta al modelo al que se envía.</a:t>
            </a:r>
          </a:p>
          <a:p/>
          <a:p>
            <a:r>
              <a:t>Un modelo que puede contener la solicitud completa de Tlamatini sigue recibiéndola byte por byte. Un modelo cuya ventana real es más pequeña recibe Compact mode, que describe el capítulo Cómo funciona, con un diálogo una vez por modelo, una insignia Compact y una casilla ACPX bloqueada, reemplazados en v1.75.0 por un interruptor.</a:t>
            </a:r>
          </a:p>
          <a:p/>
          <a:p>
            <a:r>
              <a:t>La ejecución visible con un qwen2.5 local expuso tres problemas más, arreglados en el mismo release. En Compact mode la protección de archivos de una sola ejecución ahora dice la razón real por la que no se puede abrir un archivo, y una tabla que el usuario pidió ver se muestra como tabla en vez de como código cercado. Para cada modelo, una celda de tabla de respuesta cuyo texto sería ilegible se vuelve a colorear.</a:t>
            </a:r>
          </a:p>
          <a:p/>
          <a:p>
            <a:r>
              <a:t>El 1 de octubre la ejecución visible de Compact con el qwen2.5:latest instalado pasó 37 de 37 revisiones con unos 8,100 tokens por solicitud, sin recortes. Con nemotron-3-ultra:cloud cada solicitud se mantuvo completa, con Ollama leyendo de 102,539 a 104,259 tokens. Un modelo pequeño todavía puede a veces volver a contestar una pregunta anterior antes de la nueva. La actualización del dossier de v1.74.0 volvió a correr las 43 pruebas de regresión de Compact mode; todas pasaron.</a:t>
            </a:r>
          </a:p>
          <a:p/>
          <a:p>
            <a:r>
              <a:t>Ajustado: Completo cuando el modelo puede contener la solicitud; Compact cuando no puede.</a:t>
            </a:r>
          </a:p>
          <a:p/>
          <a:p>
            <a:r>
              <a:t>Prueba de Compact: 37/37 revisiones visibles con un qwen2.5 local, unos 8.1K tokens, sin recortes.</a:t>
            </a:r>
          </a:p>
          <a:p/>
          <a:p>
            <a:r>
              <a:t>Prueba completa: Un modelo grande en la nube leyó completa cada solicitud: unos 103K tokens.</a:t>
            </a:r>
          </a:p>
          <a:p/>
          <a:p>
            <a:r>
              <a:t>Tablas legibles: Las celdas con contraste menor a 3:1 se vuelven a colorear, para cada modelo.</a:t>
            </a:r>
          </a:p>
        </p:txBody>
      </p:sp>
      <p:sp>
        <p:nvSpPr>
          <p:cNvPr id="4" name="Slide Number Placeholder 3"/>
          <p:cNvSpPr>
            <a:spLocks noGrp="1"/>
          </p:cNvSpPr>
          <p:nvPr>
            <p:ph type="sldNum" idx="5" sz="quarter"/>
          </p:nvPr>
        </p:nvSpPr>
        <p:spPr/>
      </p:sp>
    </p:spTree>
  </p:cSld>
  <p:clrMapOvr>
    <a:masterClrMapping/>
  </p:clrMapOvr>
</p:notes>
</file>

<file path=ppt/notesSlides/notesSlide15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 tag del 1 de octubre: Config ▸ Modelos consulta a los servidores de Ollama configurados, con su token.</a:t>
            </a:r>
          </a:p>
          <a:p/>
          <a:p>
            <a:r>
              <a:t>Config ▸ Modelos antes le pedía la lista de modelos al propio Ollama del browser, en una dirección fijada cuando cargaba la página. Después de que Config ▸ URLs apuntaba Tlamatini a un servidor remoto, un modelo instalado sólo ahí se marcaba en rojo y no se podía guardar.</a:t>
            </a:r>
          </a:p>
          <a:p/>
          <a:p>
            <a:r>
              <a:t>Un endpoint protegido por inicio de sesión ahora lee config.json en cada llamada, consulta en paralelo cada dirección distinta de Ollama configurada con el mismo bearer token que envía el chat, y combina los nombres de sus modelos. Cada servidor reporta su propio status, y el diálogo nombra el servidor y la razón cuando uno no puede contestar, como un HTTP 401 que apunta al token.</a:t>
            </a:r>
          </a:p>
          <a:p/>
          <a:p>
            <a:r>
              <a:t>El mismo release hizo que el paso de GPU al arrancar también envíe el token, así que un servidor remoto protegido por token ya no contesta 401 en cada arranque. Una ejecución visible contra un servidor simulado protegido por token pasó 16 de 16 revisiones, con cada solicitud llevando el token. La actualización del dossier de v1.74.0 volvió a correr las 18 pruebas de regresión del catálogo de modelos; todas pasaron.</a:t>
            </a:r>
          </a:p>
          <a:p/>
          <a:p>
            <a:r>
              <a:t>Dirección actual: Se lee de config.json en cada llamada, nunca se fija al cargar la página.</a:t>
            </a:r>
          </a:p>
          <a:p/>
          <a:p>
            <a:r>
              <a:t>Token: Cada servidor configurado se consulta con el propio bearer token del chat.</a:t>
            </a:r>
          </a:p>
          <a:p/>
          <a:p>
            <a:r>
              <a:t>Errores claros: Cada servidor reporta su status; un 401 apunta al token.</a:t>
            </a:r>
          </a:p>
          <a:p/>
          <a:p>
            <a:r>
              <a:t>Arranque: El calentamiento de la GPU también envía el token: sin 401 en cada arranque.</a:t>
            </a:r>
          </a:p>
        </p:txBody>
      </p:sp>
      <p:sp>
        <p:nvSpPr>
          <p:cNvPr id="4" name="Slide Number Placeholder 3"/>
          <p:cNvSpPr>
            <a:spLocks noGrp="1"/>
          </p:cNvSpPr>
          <p:nvPr>
            <p:ph type="sldNum" idx="5" sz="quarter"/>
          </p:nvPr>
        </p:nvSpPr>
        <p:spPr/>
      </p:sp>
    </p:spTree>
  </p:cSld>
  <p:clrMapOvr>
    <a:masterClrMapping/>
  </p:clrMapOvr>
</p:notes>
</file>

<file path=ppt/notesSlides/notesSlide15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 tag y publicado el 30 de septiembre: Descartar en todo el chat, con confirmación y actualización del historial.</a:t>
            </a:r>
          </a:p>
          <a:p/>
          <a:p>
            <a:r>
              <a:t>Los saludos guardados, los prompts del usuario y las respuestas llevan su id de AgentMessage desde el primer renderizado de la página y en los frames de WebSocket que siguen. La solicitud drop-message valida ese id contra el dueño de la conversación con sesión iniciada antes de borrar filas. Una protección de ocupado revisa la ejecución activa de esta conexión; no es un bloqueo global entre todas las pestañas del usuario.</a:t>
            </a:r>
          </a:p>
          <a:p/>
          <a:p>
            <a:r>
              <a:t>Un borrado exitoso transmite message-dropped con todos los ids borrados a las pestañas del usuario, y luego programa una actualización del medidor de contexto. Descartar un prompt del usuario también quita hasta veinte filas de Referenced Rephrase que lo siguen directamente, y se detiene en la primera fila distinta. Una respuesta o el mensaje de otro usuario nunca se incluyen en esa limpieza.</a:t>
            </a:r>
          </a:p>
          <a:p/>
          <a:p>
            <a:r>
              <a:t>Las 23 pruebas de regresión enfocadas de Descartar pasaron el 30 de septiembre, cubriendo la propiedad, ambos roles de mensaje, las filas vecinas, la ventana del historial, el rechazo cuando está ocupada, los rephrases y los contratos del protocolo browser/servidor. El registro de mantenimiento del 30 de septiembre reporta 42/42 revisiones en el harness extendido visible del browser, incluido un nuevo conteo real de contexto después de cada descarte que termina más bajo que antes; esta actualización del dossier vuelve a correr la suite enfocada sin escribir en el grafo de memoria real.</a:t>
            </a:r>
          </a:p>
          <a:p/>
          <a:p>
            <a:r>
              <a:t>Filas propias: El borrado en el servidor se limita a la conversación del usuario con sesión iniciada.</a:t>
            </a:r>
          </a:p>
          <a:p/>
          <a:p>
            <a:r>
              <a:t>Pestañas y medidor: Los ids confirmados quitan las tarjetas guardadas en todas las pestañas y actualizan la estimación de contexto.</a:t>
            </a:r>
          </a:p>
          <a:p/>
          <a:p>
            <a:r>
              <a:t>Copias de rephrase: La limpieza del prompt quita las copias de rephrase que siguen y conserva la respuesta.</a:t>
            </a:r>
          </a:p>
          <a:p/>
          <a:p>
            <a:r>
              <a:t>Protección de ejecución: Una respuesta activa bloquea Descartar en esa conexión. Otras pestañas tienen ejecuciones aparte.</a:t>
            </a:r>
          </a:p>
        </p:txBody>
      </p:sp>
      <p:sp>
        <p:nvSpPr>
          <p:cNvPr id="4" name="Slide Number Placeholder 3"/>
          <p:cNvSpPr>
            <a:spLocks noGrp="1"/>
          </p:cNvSpPr>
          <p:nvPr>
            <p:ph type="sldNum" idx="5" sz="quarter"/>
          </p:nvPr>
        </p:nvSpPr>
        <p:spPr/>
      </p:sp>
    </p:spTree>
  </p:cSld>
  <p:clrMapOvr>
    <a:masterClrMapping/>
  </p:clrMapOvr>
</p:notes>
</file>

<file path=ppt/notesSlides/notesSlide15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 tag y publicado el 29 de septiembre: ninguna página web pierde su texto sin decirlo.</a:t>
            </a:r>
          </a:p>
          <a:p/>
          <a:p>
            <a:r>
              <a:t>Crawler y Googler reducen una página a sus palabras saltándose scripts, estilos y bloques parecidos. Un bloque que nunca se cerraba, como una etiqueta de cierre de head omitida o una descarga cortada, antes se tragaba el resto de la página. Ahora ambos siguen los bloques abiertos con una pila, y una red de seguridad de texto plano reemplaza cualquier resultado que conservó muy poco, registrando una advertencia cuando lo hace.</a:t>
            </a:r>
          </a:p>
          <a:p/>
          <a:p>
            <a:r>
              <a:t>Dos tags viajan con él. v1.72.2 agregó valores predeterminados con plazos a ambos agents, y un CAPTCHA o un muro de bots se reporta como bloqueado, nunca se lee como contenido. v1.72.3 hizo que los labios del avatar del chat se movieran claramente mientras habla, nunca más abiertos que su propio retrato.</a:t>
            </a:r>
          </a:p>
          <a:p/>
          <a:p>
            <a:r>
              <a:t>Sin pérdida silenciosa: Una pila de etiquetas abiertas reemplaza a un contador en ambos agents.</a:t>
            </a:r>
          </a:p>
          <a:p/>
          <a:p>
            <a:r>
              <a:t>Red de seguridad: Una lectura simple toma el control cuando un parseo conserva muy poco.</a:t>
            </a:r>
          </a:p>
          <a:p/>
          <a:p>
            <a:r>
              <a:t>Valores acotados: v1.72.2: presupuestos de búsqueda y de crawl, cancelación y resultados explícitos.</a:t>
            </a:r>
          </a:p>
          <a:p/>
          <a:p>
            <a:r>
              <a:t>Rechazos con nombre: Un CAPTCHA o un muro de bots regresa como bloqueado, nunca como contenido.</a:t>
            </a:r>
          </a:p>
          <a:p/>
          <a:p>
            <a:r>
              <a:t>Labios visibles: v1.72.3: sus labios se abren y se cierran claramente, sin quedarse muy abiertos.</a:t>
            </a:r>
          </a:p>
        </p:txBody>
      </p:sp>
      <p:sp>
        <p:nvSpPr>
          <p:cNvPr id="4" name="Slide Number Placeholder 3"/>
          <p:cNvSpPr>
            <a:spLocks noGrp="1"/>
          </p:cNvSpPr>
          <p:nvPr>
            <p:ph type="sldNum" idx="5" sz="quarter"/>
          </p:nvPr>
        </p:nvSpPr>
        <p:spPr/>
      </p:sp>
    </p:spTree>
  </p:cSld>
  <p:clrMapOvr>
    <a:masterClrMapping/>
  </p:clrMapOvr>
</p:notes>
</file>

<file path=ppt/notesSlides/notesSlide15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 tag y publicado el 28 de septiembre: el anillo junto a la caja de mensaje muestra el propio conteo de Ollama.</a:t>
            </a:r>
          </a:p>
          <a:p/>
          <a:p>
            <a:r>
              <a:t>El anillo ahora reporta la solicitud exacta que envía la cadena principal de Tlamatini. Los bytes se miden; la cifra de tokens es el propio prompt_eval_count de Ollama para esa solicitud, y el tope es la longitud de contexto que reporta Ollama. Una estimación se muestra sólo hasta que Ollama contesta, y lo dice.</a:t>
            </a:r>
          </a:p>
          <a:p/>
          <a:p>
            <a:r>
              <a:t>Entre preguntas el anillo muestra lo que va a costar la siguiente solicitud, recalculado cada vez que cambia el estado: al abrir la página, al Limpiar historial, al Descartar, al Limpiar contexto, al cargar un contexto, al terminar una respuesta o al cambiar un modo. Es exacto tanto en una sola ejecución como en Multi-Turn, por usuario conectado, y las preguntas de una sola ejecución ya no llevan una línea vacía de System-Metrics.</a:t>
            </a:r>
          </a:p>
          <a:p/>
          <a:p>
            <a:r>
              <a:t>Tokens reales: El prompt_eval_count de Ollama, emparejado con su propia solicitud.</a:t>
            </a:r>
          </a:p>
          <a:p/>
          <a:p>
            <a:r>
              <a:t>Exacto en ambos modos: En vivo = predicción en reposo + la pregunta + el plan de Multi-Turn.</a:t>
            </a:r>
          </a:p>
          <a:p/>
          <a:p>
            <a:r>
              <a:t>Sólo la cadena principal: Las llamadas fuera de banda nunca llegan al anillo; cada usuario ve las suyas.</a:t>
            </a:r>
          </a:p>
          <a:p/>
          <a:p>
            <a:r>
              <a:t>Menos desperdicio: La pregunta se envía una vez; la línea de relleno de una sola ejecución desapareció.</a:t>
            </a:r>
          </a:p>
          <a:p/>
          <a:p>
            <a:r>
              <a:t>Prueba: Un laboratorio visible pasó 60 de 60 revisiones contra tlamatini.log.</a:t>
            </a:r>
          </a:p>
        </p:txBody>
      </p:sp>
      <p:sp>
        <p:nvSpPr>
          <p:cNvPr id="4" name="Slide Number Placeholder 3"/>
          <p:cNvSpPr>
            <a:spLocks noGrp="1"/>
          </p:cNvSpPr>
          <p:nvPr>
            <p:ph type="sldNum" idx="5" sz="quarter"/>
          </p:nvPr>
        </p:nvSpPr>
        <p:spPr/>
      </p:sp>
    </p:spTree>
  </p:cSld>
  <p:clrMapOvr>
    <a:masterClrMapping/>
  </p:clrMapOvr>
</p:notes>
</file>

<file path=ppt/notesSlides/notesSlide15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Estos cambios del 27 de septiembre llevaron el tag v1.72.0 y se publicaron el 28 de septiembre.</a:t>
            </a:r>
          </a:p>
          <a:p/>
          <a:p>
            <a:r>
              <a:t>El micrófono del chat arranca Whisperer directamente, se detiene en la compuerta de silencio configurada, reconoce la voz y envía o deja un borrador editable según lo elegido en Config &gt; Micrófono. El diálogo también guarda preferencias locales del browser de entrada, ganancia, compuerta y reconocimiento. El worker usa el logger principal de la aplicación y no crea una segunda consola. Las pruebas de desarrollo siguen corriendo de forma visible.</a:t>
            </a:r>
          </a:p>
          <a:p/>
          <a:p>
            <a:r>
              <a:t>El manifiesto raíz de dependencias y el manifiesto aparte de ESPHome ahora contemplan las librerías referidas en los agents y en el source. La protección estática y la auditoría detallada de dependencias registran la cobertura y las fronteras del runtime. Se incluyeron en el release publicado v1.72.0; la reparación del transportador compartido de assets raíz que siguió está hecha commit y la lleva v1.72.1.</a:t>
            </a:r>
          </a:p>
          <a:p/>
          <a:p>
            <a:r>
              <a:t>Guía del usuario: README.md y BookOfTlamatini.md explican la configuración de Micrófono, la grabación, la cancelación y ambos modos.</a:t>
            </a:r>
          </a:p>
          <a:p/>
          <a:p>
            <a:r>
              <a:t>Contrato del runtime: docs/chat-microphone-design.md registra la propiedad, el protocolo, la configuración y los límites.</a:t>
            </a:r>
          </a:p>
          <a:p/>
          <a:p>
            <a:r>
              <a:t>Dependencias: docs/dependency-coverage-audit.md registra las declaraciones, el aislamiento y la verificación.</a:t>
            </a:r>
          </a:p>
          <a:p/>
          <a:p>
            <a:r>
              <a:t>Entrega: Publicado como v1.72.0 y llevado por v1.72.1, con la reparación del transportador de assets raíz.</a:t>
            </a:r>
          </a:p>
        </p:txBody>
      </p:sp>
      <p:sp>
        <p:nvSpPr>
          <p:cNvPr id="4" name="Slide Number Placeholder 3"/>
          <p:cNvSpPr>
            <a:spLocks noGrp="1"/>
          </p:cNvSpPr>
          <p:nvPr>
            <p:ph type="sldNum" idx="5" sz="quarter"/>
          </p:nvPr>
        </p:nvSpPr>
        <p:spPr/>
      </p:sp>
    </p:spTree>
  </p:cSld>
  <p:clrMapOvr>
    <a:masterClrMapping/>
  </p:clrMapOvr>
</p:notes>
</file>

<file path=ppt/notesSlides/notesSlide15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 versión 1.70.0 trata de diseñar conversaciones y editar flows con la misma facilidad.</a:t>
            </a:r>
          </a:p>
          <a:p/>
          <a:p>
            <a:r>
              <a:t>Prompt Flow Panel: Siete operaciones, archivos .fpmt, ejecución validada, ejecuciones aisladas.</a:t>
            </a:r>
          </a:p>
          <a:p/>
          <a:p>
            <a:r>
              <a:t>Paneles y Config: Los canvases viven en Paneles; cada diálogo Configurar, en Config.</a:t>
            </a:r>
          </a:p>
          <a:p/>
          <a:p>
            <a:r>
              <a:t>Un editor de verdad: Deshacer y Rehacer, Duplicar con configuración, zoom, Ajustar, búsqueda de agents, Ayuda.</a:t>
            </a:r>
          </a:p>
          <a:p/>
          <a:p>
            <a:r>
              <a:t>Mecánica compartida: Ambos canvases conectan, arrastran, seleccionan y hacen zoom de la misma forma.</a:t>
            </a:r>
          </a:p>
          <a:p/>
          <a:p>
            <a:r>
              <a:t>Menús a prueba de ocupación: Paneles sigue disponible mientras ella contesta; un solo camino reactiva los menús.</a:t>
            </a:r>
          </a:p>
          <a:p/>
          <a:p>
            <a:r>
              <a:t>Línea de contexto heredada: El medidor de contexto, el Context Governor y el indicador de contexto de v1.65.</a:t>
            </a:r>
          </a:p>
        </p:txBody>
      </p:sp>
      <p:sp>
        <p:nvSpPr>
          <p:cNvPr id="4" name="Slide Number Placeholder 3"/>
          <p:cNvSpPr>
            <a:spLocks noGrp="1"/>
          </p:cNvSpPr>
          <p:nvPr>
            <p:ph type="sldNum" idx="5" sz="quarter"/>
          </p:nvPr>
        </p:nvSpPr>
        <p:spPr/>
      </p:sp>
    </p:spTree>
  </p:cSld>
  <p:clrMapOvr>
    <a:masterClrMapping/>
  </p:clrMapOvr>
</p:notes>
</file>

<file path=ppt/notesSlides/notesSlide16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Tags recientes, del más viejo al más nuevo, leídos de Git.</a:t>
            </a:r>
          </a:p>
        </p:txBody>
      </p:sp>
      <p:sp>
        <p:nvSpPr>
          <p:cNvPr id="4" name="Slide Number Placeholder 3"/>
          <p:cNvSpPr>
            <a:spLocks noGrp="1"/>
          </p:cNvSpPr>
          <p:nvPr>
            <p:ph type="sldNum" idx="5" sz="quarter"/>
          </p:nvPr>
        </p:nvSpPr>
        <p:spPr/>
      </p:sp>
    </p:spTree>
  </p:cSld>
  <p:clrMapOvr>
    <a:masterClrMapping/>
  </p:clrMapOvr>
</p:notes>
</file>

<file path=ppt/notesSlides/notesSlide16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 aplicación, las guías del usuario, el PDF y el PowerPoint identifican el mismo release actual. Los metadatos del repositorio registran la implementación inspeccionada para este dossier.</a:t>
            </a:r>
          </a:p>
          <a:p/>
          <a:p>
            <a:r>
              <a:t>v1.91.1 es la versión actual del source con tag. La aplicación, las guías del usuario y ambos dossiers usan la misma versión, 1.91.1.</a:t>
            </a:r>
          </a:p>
          <a:p/>
          <a:p>
            <a:r>
              <a:t>Esta auditoría inspeccionó el commit 21b0a5c. El tag anotado existente v1.91.1 se creó el 2026-10-27 y apunta a 74a53b9. La historia de Git se conserva.</a:t>
            </a:r>
          </a:p>
          <a:p/>
          <a:p>
            <a:r>
              <a:t>Un tag del source identifica la implementación. La publicación en GitHub y la aceptación del paquete instalado necesitan evidencia aparte; la generación de la documentación no construye ni instala un ejecutable.</a:t>
            </a:r>
          </a:p>
        </p:txBody>
      </p:sp>
      <p:sp>
        <p:nvSpPr>
          <p:cNvPr id="4" name="Slide Number Placeholder 3"/>
          <p:cNvSpPr>
            <a:spLocks noGrp="1"/>
          </p:cNvSpPr>
          <p:nvPr>
            <p:ph type="sldNum" idx="5" sz="quarter"/>
          </p:nvPr>
        </p:nvSpPr>
        <p:spPr/>
      </p:sp>
    </p:spTree>
  </p:cSld>
  <p:clrMapOvr>
    <a:masterClrMapping/>
  </p:clrMapOvr>
</p:notes>
</file>

<file path=ppt/notesSlides/notesSlide16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Capítulo IX: Datos del repositorio. El árbol del source medido: archivos, lenguajes, líneas efectivas, los archivos más grandes y la historia reciente.</a:t>
            </a:r>
          </a:p>
        </p:txBody>
      </p:sp>
      <p:sp>
        <p:nvSpPr>
          <p:cNvPr id="4" name="Slide Number Placeholder 3"/>
          <p:cNvSpPr>
            <a:spLocks noGrp="1"/>
          </p:cNvSpPr>
          <p:nvPr>
            <p:ph type="sldNum" idx="5" sz="quarter"/>
          </p:nvPr>
        </p:nvSpPr>
        <p:spPr/>
      </p:sp>
    </p:spTree>
  </p:cSld>
  <p:clrMapOvr>
    <a:masterClrMapping/>
  </p:clrMapOvr>
</p:notes>
</file>

<file path=ppt/notesSlides/notesSlide16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conteos vienen de Git y de los archivos del source al momento de generarse.</a:t>
            </a:r>
          </a:p>
        </p:txBody>
      </p:sp>
      <p:sp>
        <p:nvSpPr>
          <p:cNvPr id="4" name="Slide Number Placeholder 3"/>
          <p:cNvSpPr>
            <a:spLocks noGrp="1"/>
          </p:cNvSpPr>
          <p:nvPr>
            <p:ph type="sldNum" idx="5" sz="quarter"/>
          </p:nvPr>
        </p:nvSpPr>
        <p:spPr/>
      </p:sp>
    </p:spTree>
  </p:cSld>
  <p:clrMapOvr>
    <a:masterClrMapping/>
  </p:clrMapOvr>
</p:notes>
</file>

<file path=ppt/notesSlides/notesSlide16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conteos vienen de Git y de los archivos del source al momento de generarse.</a:t>
            </a:r>
          </a:p>
        </p:txBody>
      </p:sp>
      <p:sp>
        <p:nvSpPr>
          <p:cNvPr id="4" name="Slide Number Placeholder 3"/>
          <p:cNvSpPr>
            <a:spLocks noGrp="1"/>
          </p:cNvSpPr>
          <p:nvPr>
            <p:ph type="sldNum" idx="5" sz="quarter"/>
          </p:nvPr>
        </p:nvSpPr>
        <p:spPr/>
      </p:sp>
    </p:spTree>
  </p:cSld>
  <p:clrMapOvr>
    <a:masterClrMapping/>
  </p:clrMapOvr>
</p:notes>
</file>

<file path=ppt/notesSlides/notesSlide16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544,489 líneas efectivas en 1,886 archivos de texto; 679,395 líneas físicas.</a:t>
            </a:r>
          </a:p>
        </p:txBody>
      </p:sp>
      <p:sp>
        <p:nvSpPr>
          <p:cNvPr id="4" name="Slide Number Placeholder 3"/>
          <p:cNvSpPr>
            <a:spLocks noGrp="1"/>
          </p:cNvSpPr>
          <p:nvPr>
            <p:ph type="sldNum" idx="5" sz="quarter"/>
          </p:nvPr>
        </p:nvSpPr>
        <p:spPr/>
      </p:sp>
    </p:spTree>
  </p:cSld>
  <p:clrMapOvr>
    <a:masterClrMapping/>
  </p:clrMapOvr>
</p:notes>
</file>

<file path=ppt/notesSlides/notesSlide16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líneas efectivas excluyen las líneas en blanco, las líneas que sólo tienen comentarios y los docstrings de Python.</a:t>
            </a:r>
          </a:p>
        </p:txBody>
      </p:sp>
      <p:sp>
        <p:nvSpPr>
          <p:cNvPr id="4" name="Slide Number Placeholder 3"/>
          <p:cNvSpPr>
            <a:spLocks noGrp="1"/>
          </p:cNvSpPr>
          <p:nvPr>
            <p:ph type="sldNum" idx="5" sz="quarter"/>
          </p:nvPr>
        </p:nvSpPr>
        <p:spPr/>
      </p:sp>
    </p:spTree>
  </p:cSld>
  <p:clrMapOvr>
    <a:masterClrMapping/>
  </p:clrMapOvr>
</p:notes>
</file>

<file path=ppt/notesSlides/notesSlide16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líneas efectivas excluyen las líneas en blanco, las líneas que sólo tienen comentarios y los docstrings de Python.</a:t>
            </a:r>
          </a:p>
        </p:txBody>
      </p:sp>
      <p:sp>
        <p:nvSpPr>
          <p:cNvPr id="4" name="Slide Number Placeholder 3"/>
          <p:cNvSpPr>
            <a:spLocks noGrp="1"/>
          </p:cNvSpPr>
          <p:nvPr>
            <p:ph type="sldNum" idx="5" sz="quarter"/>
          </p:nvPr>
        </p:nvSpPr>
        <p:spPr/>
      </p:sp>
    </p:spTree>
  </p:cSld>
  <p:clrMapOvr>
    <a:masterClrMapping/>
  </p:clrMapOvr>
</p:notes>
</file>

<file path=ppt/notesSlides/notesSlide16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librerías de frontend de terceros van incluidas para que la aplicación no necesite un CDN al ejecutarse; sus líneas se cuentan aparte aquí para que nunca se confundan con la lógica propia de Tlamatini.</a:t>
            </a:r>
          </a:p>
        </p:txBody>
      </p:sp>
      <p:sp>
        <p:nvSpPr>
          <p:cNvPr id="4" name="Slide Number Placeholder 3"/>
          <p:cNvSpPr>
            <a:spLocks noGrp="1"/>
          </p:cNvSpPr>
          <p:nvPr>
            <p:ph type="sldNum" idx="5" sz="quarter"/>
          </p:nvPr>
        </p:nvSpPr>
        <p:spPr/>
      </p:sp>
    </p:spTree>
  </p:cSld>
  <p:clrMapOvr>
    <a:masterClrMapping/>
  </p:clrMapOvr>
</p:notes>
</file>

<file path=ppt/notesSlides/notesSlide16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Ordenados por líneas efectivas.</a:t>
            </a:r>
          </a:p>
        </p:txBody>
      </p:sp>
      <p:sp>
        <p:nvSpPr>
          <p:cNvPr id="4" name="Slide Number Placeholder 3"/>
          <p:cNvSpPr>
            <a:spLocks noGrp="1"/>
          </p:cNvSpPr>
          <p:nvPr>
            <p:ph type="sldNum" idx="5" sz="quarter"/>
          </p:nvPr>
        </p:nvSpPr>
        <p:spPr/>
      </p:sp>
    </p:spTree>
  </p:cSld>
  <p:clrMapOvr>
    <a:masterClrMapping/>
  </p:clrMapOvr>
</p:notes>
</file>

<file path=ppt/notesSlides/notesSlide17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Ordenados por líneas efectivas.</a:t>
            </a:r>
          </a:p>
        </p:txBody>
      </p:sp>
      <p:sp>
        <p:nvSpPr>
          <p:cNvPr id="4" name="Slide Number Placeholder 3"/>
          <p:cNvSpPr>
            <a:spLocks noGrp="1"/>
          </p:cNvSpPr>
          <p:nvPr>
            <p:ph type="sldNum" idx="5" sz="quarter"/>
          </p:nvPr>
        </p:nvSpPr>
        <p:spPr/>
      </p:sp>
    </p:spTree>
  </p:cSld>
  <p:clrMapOvr>
    <a:masterClrMapping/>
  </p:clrMapOvr>
</p:notes>
</file>

<file path=ppt/notesSlides/notesSlide17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commits más recientes en la branch inspeccionada, del más nuevo al más viejo.</a:t>
            </a:r>
          </a:p>
        </p:txBody>
      </p:sp>
      <p:sp>
        <p:nvSpPr>
          <p:cNvPr id="4" name="Slide Number Placeholder 3"/>
          <p:cNvSpPr>
            <a:spLocks noGrp="1"/>
          </p:cNvSpPr>
          <p:nvPr>
            <p:ph type="sldNum" idx="5" sz="quarter"/>
          </p:nvPr>
        </p:nvSpPr>
        <p:spPr/>
      </p:sp>
    </p:spTree>
  </p:cSld>
  <p:clrMapOvr>
    <a:masterClrMapping/>
  </p:clrMapOvr>
</p:notes>
</file>

<file path=ppt/notesSlides/notesSlide17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commits más recientes en la branch inspeccionada, del más nuevo al más viejo.</a:t>
            </a:r>
          </a:p>
        </p:txBody>
      </p:sp>
      <p:sp>
        <p:nvSpPr>
          <p:cNvPr id="4" name="Slide Number Placeholder 3"/>
          <p:cNvSpPr>
            <a:spLocks noGrp="1"/>
          </p:cNvSpPr>
          <p:nvPr>
            <p:ph type="sldNum" idx="5" sz="quarter"/>
          </p:nvPr>
        </p:nvSpPr>
        <p:spPr/>
      </p:sp>
    </p:spTree>
  </p:cSld>
  <p:clrMapOvr>
    <a:masterClrMapping/>
  </p:clrMapOvr>
</p:notes>
</file>

<file path=ppt/notesSlides/notesSlide17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El inventario es reproducible: vuelve a correr el generador y el mismo árbol da los mismos conteos.</a:t>
            </a:r>
          </a:p>
          <a:p/>
          <a:p>
            <a:r>
              <a:t>Alcance: Cada archivo con seguimiento en Git más las adiciones no ignoradas del árbol de trabajo; se excluyen el output ignorado del build, los cachés y el estado del runtime.</a:t>
            </a:r>
          </a:p>
          <a:p/>
          <a:p>
            <a:r>
              <a:t>Sólo texto: Los assets binarios como imágenes, fuentes y archivos comprimidos se cuentan como archivos, nunca como líneas.</a:t>
            </a:r>
          </a:p>
          <a:p/>
          <a:p>
            <a:r>
              <a:t>Python: Tokenizado: se excluyen los comentarios, las líneas en blanco y los docstrings de módulos, clases y funciones.</a:t>
            </a:r>
          </a:p>
          <a:p/>
          <a:p>
            <a:r>
              <a:t>Otros lenguajes: Se quitan los comentarios de bloque y de línea, y luego se cuentan las líneas que no están en blanco.</a:t>
            </a:r>
          </a:p>
          <a:p/>
          <a:p>
            <a:r>
              <a:t>Sin valores privados: Los valores de configuración, las credenciales y las direcciones nunca se reproducen.</a:t>
            </a:r>
          </a:p>
          <a:p/>
          <a:p>
            <a:r>
              <a:t>Regenerar: python Tlamatini\agent\doc_generation\refresh_project_docs.py</a:t>
            </a:r>
          </a:p>
        </p:txBody>
      </p:sp>
      <p:sp>
        <p:nvSpPr>
          <p:cNvPr id="4" name="Slide Number Placeholder 3"/>
          <p:cNvSpPr>
            <a:spLocks noGrp="1"/>
          </p:cNvSpPr>
          <p:nvPr>
            <p:ph type="sldNum" idx="5" sz="quarter"/>
          </p:nvPr>
        </p:nvSpPr>
        <p:spPr/>
      </p:sp>
    </p:spTree>
  </p:cSld>
  <p:clrMapOvr>
    <a:masterClrMapping/>
  </p:clrMapOvr>
</p:notes>
</file>

<file path=ppt/notesSlides/notesSlide17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Capítulo A: El árbol de archivos de la aplicación. 1,898 archivos de la aplicación, con 221 archivos de la historia de la base de datos resumidos.</a:t>
            </a:r>
          </a:p>
        </p:txBody>
      </p:sp>
      <p:sp>
        <p:nvSpPr>
          <p:cNvPr id="4" name="Slide Number Placeholder 3"/>
          <p:cNvSpPr>
            <a:spLocks noGrp="1"/>
          </p:cNvSpPr>
          <p:nvPr>
            <p:ph type="sldNum" idx="5" sz="quarter"/>
          </p:nvPr>
        </p:nvSpPr>
        <p:spPr/>
      </p:sp>
    </p:spTree>
  </p:cSld>
  <p:clrMapOvr>
    <a:masterClrMapping/>
  </p:clrMapOvr>
</p:notes>
</file>

<file path=ppt/notesSlides/notesSlide17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Apéndice A: el árbol de archivos de la aplicación, continúa.</a:t>
            </a:r>
          </a:p>
        </p:txBody>
      </p:sp>
      <p:sp>
        <p:nvSpPr>
          <p:cNvPr id="4" name="Slide Number Placeholder 3"/>
          <p:cNvSpPr>
            <a:spLocks noGrp="1"/>
          </p:cNvSpPr>
          <p:nvPr>
            <p:ph type="sldNum" idx="5" sz="quarter"/>
          </p:nvPr>
        </p:nvSpPr>
        <p:spPr/>
      </p:sp>
    </p:spTree>
  </p:cSld>
  <p:clrMapOvr>
    <a:masterClrMapping/>
  </p:clrMapOvr>
</p:notes>
</file>

<file path=ppt/notesSlides/notesSlide17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Apéndice A: el árbol de archivos de la aplicación, continúa.</a:t>
            </a:r>
          </a:p>
        </p:txBody>
      </p:sp>
      <p:sp>
        <p:nvSpPr>
          <p:cNvPr id="4" name="Slide Number Placeholder 3"/>
          <p:cNvSpPr>
            <a:spLocks noGrp="1"/>
          </p:cNvSpPr>
          <p:nvPr>
            <p:ph type="sldNum" idx="5" sz="quarter"/>
          </p:nvPr>
        </p:nvSpPr>
        <p:spPr/>
      </p:sp>
    </p:spTree>
  </p:cSld>
  <p:clrMapOvr>
    <a:masterClrMapping/>
  </p:clrMapOvr>
</p:notes>
</file>

<file path=ppt/notesSlides/notesSlide17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Apéndice A: el árbol de archivos de la aplicación, continúa.</a:t>
            </a:r>
          </a:p>
        </p:txBody>
      </p:sp>
      <p:sp>
        <p:nvSpPr>
          <p:cNvPr id="4" name="Slide Number Placeholder 3"/>
          <p:cNvSpPr>
            <a:spLocks noGrp="1"/>
          </p:cNvSpPr>
          <p:nvPr>
            <p:ph type="sldNum" idx="5" sz="quarter"/>
          </p:nvPr>
        </p:nvSpPr>
        <p:spPr/>
      </p:sp>
    </p:spTree>
  </p:cSld>
  <p:clrMapOvr>
    <a:masterClrMapping/>
  </p:clrMapOvr>
</p:notes>
</file>

<file path=ppt/notesSlides/notesSlide17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Apéndice A: el árbol de archivos de la aplicación, continúa.</a:t>
            </a:r>
          </a:p>
        </p:txBody>
      </p:sp>
      <p:sp>
        <p:nvSpPr>
          <p:cNvPr id="4" name="Slide Number Placeholder 3"/>
          <p:cNvSpPr>
            <a:spLocks noGrp="1"/>
          </p:cNvSpPr>
          <p:nvPr>
            <p:ph type="sldNum" idx="5" sz="quarter"/>
          </p:nvPr>
        </p:nvSpPr>
        <p:spPr/>
      </p:sp>
    </p:spTree>
  </p:cSld>
  <p:clrMapOvr>
    <a:masterClrMapping/>
  </p:clrMapOvr>
</p:notes>
</file>

<file path=ppt/notesSlides/notesSlide17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Apéndice A: el árbol de archivos de la aplicación, continúa.</a:t>
            </a:r>
          </a:p>
        </p:txBody>
      </p:sp>
      <p:sp>
        <p:nvSpPr>
          <p:cNvPr id="4" name="Slide Number Placeholder 3"/>
          <p:cNvSpPr>
            <a:spLocks noGrp="1"/>
          </p:cNvSpPr>
          <p:nvPr>
            <p:ph type="sldNum" idx="5" sz="quarter"/>
          </p:nvPr>
        </p:nvSpPr>
        <p:spPr/>
      </p:sp>
    </p:spTree>
  </p:cSld>
  <p:clrMapOvr>
    <a:masterClrMapping/>
  </p:clrMapOvr>
</p:notes>
</file>

<file path=ppt/notesSlides/notesSlide18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Apéndice A: el árbol de archivos de la aplicación, continúa.</a:t>
            </a:r>
          </a:p>
        </p:txBody>
      </p:sp>
      <p:sp>
        <p:nvSpPr>
          <p:cNvPr id="4" name="Slide Number Placeholder 3"/>
          <p:cNvSpPr>
            <a:spLocks noGrp="1"/>
          </p:cNvSpPr>
          <p:nvPr>
            <p:ph type="sldNum" idx="5" sz="quarter"/>
          </p:nvPr>
        </p:nvSpPr>
        <p:spPr/>
      </p:sp>
    </p:spTree>
  </p:cSld>
  <p:clrMapOvr>
    <a:masterClrMapping/>
  </p:clrMapOvr>
</p:notes>
</file>

<file path=ppt/notesSlides/notesSlide18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Apéndice A: el árbol de archivos de la aplicación, continúa.</a:t>
            </a:r>
          </a:p>
        </p:txBody>
      </p:sp>
      <p:sp>
        <p:nvSpPr>
          <p:cNvPr id="4" name="Slide Number Placeholder 3"/>
          <p:cNvSpPr>
            <a:spLocks noGrp="1"/>
          </p:cNvSpPr>
          <p:nvPr>
            <p:ph type="sldNum" idx="5" sz="quarter"/>
          </p:nvPr>
        </p:nvSpPr>
        <p:spPr/>
      </p:sp>
    </p:spTree>
  </p:cSld>
  <p:clrMapOvr>
    <a:masterClrMapping/>
  </p:clrMapOvr>
</p:notes>
</file>

<file path=ppt/notesSlides/notesSlide18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Apéndice A: el árbol de archivos de la aplicación, continúa.</a:t>
            </a:r>
          </a:p>
        </p:txBody>
      </p:sp>
      <p:sp>
        <p:nvSpPr>
          <p:cNvPr id="4" name="Slide Number Placeholder 3"/>
          <p:cNvSpPr>
            <a:spLocks noGrp="1"/>
          </p:cNvSpPr>
          <p:nvPr>
            <p:ph type="sldNum" idx="5" sz="quarter"/>
          </p:nvPr>
        </p:nvSpPr>
        <p:spPr/>
      </p:sp>
    </p:spTree>
  </p:cSld>
  <p:clrMapOvr>
    <a:masterClrMapping/>
  </p:clrMapOvr>
</p:notes>
</file>

<file path=ppt/notesSlides/notesSlide18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Apéndice A: el árbol de archivos de la aplicación, continúa.</a:t>
            </a:r>
          </a:p>
        </p:txBody>
      </p:sp>
      <p:sp>
        <p:nvSpPr>
          <p:cNvPr id="4" name="Slide Number Placeholder 3"/>
          <p:cNvSpPr>
            <a:spLocks noGrp="1"/>
          </p:cNvSpPr>
          <p:nvPr>
            <p:ph type="sldNum" idx="5" sz="quarter"/>
          </p:nvPr>
        </p:nvSpPr>
        <p:spPr/>
      </p:sp>
    </p:spTree>
  </p:cSld>
  <p:clrMapOvr>
    <a:masterClrMapping/>
  </p:clrMapOvr>
</p:notes>
</file>

<file path=ppt/notesSlides/notesSlide18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Apéndice A: el árbol de archivos de la aplicación, continúa.</a:t>
            </a:r>
          </a:p>
        </p:txBody>
      </p:sp>
      <p:sp>
        <p:nvSpPr>
          <p:cNvPr id="4" name="Slide Number Placeholder 3"/>
          <p:cNvSpPr>
            <a:spLocks noGrp="1"/>
          </p:cNvSpPr>
          <p:nvPr>
            <p:ph type="sldNum" idx="5" sz="quarter"/>
          </p:nvPr>
        </p:nvSpPr>
        <p:spPr/>
      </p:sp>
    </p:spTree>
  </p:cSld>
  <p:clrMapOvr>
    <a:masterClrMapping/>
  </p:clrMapOvr>
</p:notes>
</file>

<file path=ppt/notesSlides/notesSlide18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Apéndice A: el árbol de archivos de la aplicación, continúa.</a:t>
            </a:r>
          </a:p>
        </p:txBody>
      </p:sp>
      <p:sp>
        <p:nvSpPr>
          <p:cNvPr id="4" name="Slide Number Placeholder 3"/>
          <p:cNvSpPr>
            <a:spLocks noGrp="1"/>
          </p:cNvSpPr>
          <p:nvPr>
            <p:ph type="sldNum" idx="5" sz="quarter"/>
          </p:nvPr>
        </p:nvSpPr>
        <p:spPr/>
      </p:sp>
    </p:spTree>
  </p:cSld>
  <p:clrMapOvr>
    <a:masterClrMapping/>
  </p:clrMapOvr>
</p:notes>
</file>

<file path=ppt/notesSlides/notesSlide18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Apéndice A: el árbol de archivos de la aplicación, continúa.</a:t>
            </a:r>
          </a:p>
        </p:txBody>
      </p:sp>
      <p:sp>
        <p:nvSpPr>
          <p:cNvPr id="4" name="Slide Number Placeholder 3"/>
          <p:cNvSpPr>
            <a:spLocks noGrp="1"/>
          </p:cNvSpPr>
          <p:nvPr>
            <p:ph type="sldNum" idx="5" sz="quarter"/>
          </p:nvPr>
        </p:nvSpPr>
        <p:spPr/>
      </p:sp>
    </p:spTree>
  </p:cSld>
  <p:clrMapOvr>
    <a:masterClrMapping/>
  </p:clrMapOvr>
</p:notes>
</file>

<file path=ppt/notesSlides/notesSlide18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Apéndice A: el árbol de archivos de la aplicación, continúa.</a:t>
            </a:r>
          </a:p>
        </p:txBody>
      </p:sp>
      <p:sp>
        <p:nvSpPr>
          <p:cNvPr id="4" name="Slide Number Placeholder 3"/>
          <p:cNvSpPr>
            <a:spLocks noGrp="1"/>
          </p:cNvSpPr>
          <p:nvPr>
            <p:ph type="sldNum" idx="5" sz="quarter"/>
          </p:nvPr>
        </p:nvSpPr>
        <p:spPr/>
      </p:sp>
    </p:spTree>
  </p:cSld>
  <p:clrMapOvr>
    <a:masterClrMapping/>
  </p:clrMapOvr>
</p:notes>
</file>

<file path=ppt/notesSlides/notesSlide18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Apéndice A: el árbol de archivos de la aplicación, continúa.</a:t>
            </a:r>
          </a:p>
        </p:txBody>
      </p:sp>
      <p:sp>
        <p:nvSpPr>
          <p:cNvPr id="4" name="Slide Number Placeholder 3"/>
          <p:cNvSpPr>
            <a:spLocks noGrp="1"/>
          </p:cNvSpPr>
          <p:nvPr>
            <p:ph type="sldNum" idx="5" sz="quarter"/>
          </p:nvPr>
        </p:nvSpPr>
        <p:spPr/>
      </p:sp>
    </p:spTree>
  </p:cSld>
  <p:clrMapOvr>
    <a:masterClrMapping/>
  </p:clrMapOvr>
</p:notes>
</file>

<file path=ppt/notesSlides/notesSlide18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Apéndice A: el árbol de archivos de la aplicación, continúa.</a:t>
            </a:r>
          </a:p>
        </p:txBody>
      </p:sp>
      <p:sp>
        <p:nvSpPr>
          <p:cNvPr id="4" name="Slide Number Placeholder 3"/>
          <p:cNvSpPr>
            <a:spLocks noGrp="1"/>
          </p:cNvSpPr>
          <p:nvPr>
            <p:ph type="sldNum" idx="5" sz="quarter"/>
          </p:nvPr>
        </p:nvSpPr>
        <p:spPr/>
      </p:sp>
    </p:spTree>
  </p:cSld>
  <p:clrMapOvr>
    <a:masterClrMapping/>
  </p:clrMapOvr>
</p:notes>
</file>

<file path=ppt/notesSlides/notesSlide19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Apéndice A: el árbol de archivos de la aplicación, continúa.</a:t>
            </a:r>
          </a:p>
        </p:txBody>
      </p:sp>
      <p:sp>
        <p:nvSpPr>
          <p:cNvPr id="4" name="Slide Number Placeholder 3"/>
          <p:cNvSpPr>
            <a:spLocks noGrp="1"/>
          </p:cNvSpPr>
          <p:nvPr>
            <p:ph type="sldNum" idx="5" sz="quarter"/>
          </p:nvPr>
        </p:nvSpPr>
        <p:spPr/>
      </p:sp>
    </p:spTree>
  </p:cSld>
  <p:clrMapOvr>
    <a:masterClrMapping/>
  </p:clrMapOvr>
</p:notes>
</file>

<file path=ppt/notesSlides/notesSlide19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Apéndice A: el árbol de archivos de la aplicación, continúa.</a:t>
            </a:r>
          </a:p>
        </p:txBody>
      </p:sp>
      <p:sp>
        <p:nvSpPr>
          <p:cNvPr id="4" name="Slide Number Placeholder 3"/>
          <p:cNvSpPr>
            <a:spLocks noGrp="1"/>
          </p:cNvSpPr>
          <p:nvPr>
            <p:ph type="sldNum" idx="5" sz="quarter"/>
          </p:nvPr>
        </p:nvSpPr>
        <p:spPr/>
      </p:sp>
    </p:spTree>
  </p:cSld>
  <p:clrMapOvr>
    <a:masterClrMapping/>
  </p:clrMapOvr>
</p:notes>
</file>

<file path=ppt/notesSlides/notesSlide19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Apéndice A: el árbol de archivos de la aplicación, continúa.</a:t>
            </a:r>
          </a:p>
        </p:txBody>
      </p:sp>
      <p:sp>
        <p:nvSpPr>
          <p:cNvPr id="4" name="Slide Number Placeholder 3"/>
          <p:cNvSpPr>
            <a:spLocks noGrp="1"/>
          </p:cNvSpPr>
          <p:nvPr>
            <p:ph type="sldNum" idx="5" sz="quarter"/>
          </p:nvPr>
        </p:nvSpPr>
        <p:spPr/>
      </p:sp>
    </p:spTree>
  </p:cSld>
  <p:clrMapOvr>
    <a:masterClrMapping/>
  </p:clrMapOvr>
</p:notes>
</file>

<file path=ppt/notesSlides/notesSlide19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Apéndice A: el árbol de archivos de la aplicación, continúa.</a:t>
            </a:r>
          </a:p>
        </p:txBody>
      </p:sp>
      <p:sp>
        <p:nvSpPr>
          <p:cNvPr id="4" name="Slide Number Placeholder 3"/>
          <p:cNvSpPr>
            <a:spLocks noGrp="1"/>
          </p:cNvSpPr>
          <p:nvPr>
            <p:ph type="sldNum" idx="5" sz="quarter"/>
          </p:nvPr>
        </p:nvSpPr>
        <p:spPr/>
      </p:sp>
    </p:spTree>
  </p:cSld>
  <p:clrMapOvr>
    <a:masterClrMapping/>
  </p:clrMapOvr>
</p:notes>
</file>

<file path=ppt/notesSlides/notesSlide19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Apéndice A: el árbol de archivos de la aplicación, continúa.</a:t>
            </a:r>
          </a:p>
        </p:txBody>
      </p:sp>
      <p:sp>
        <p:nvSpPr>
          <p:cNvPr id="4" name="Slide Number Placeholder 3"/>
          <p:cNvSpPr>
            <a:spLocks noGrp="1"/>
          </p:cNvSpPr>
          <p:nvPr>
            <p:ph type="sldNum" idx="5" sz="quarter"/>
          </p:nvPr>
        </p:nvSpPr>
        <p:spPr/>
      </p:sp>
    </p:spTree>
  </p:cSld>
  <p:clrMapOvr>
    <a:masterClrMapping/>
  </p:clrMapOvr>
</p:notes>
</file>

<file path=ppt/notesSlides/notesSlide19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Tlamatini, la que sabe. Creada por Angela López Mendoza.</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4.xml"/><Relationship Id="rId4"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61.xml"/><Relationship Id="rId4" Type="http://schemas.openxmlformats.org/officeDocument/2006/relationships/chart" Target="../charts/chart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7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73.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74.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75.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76.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7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78.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79.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80.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81.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8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83.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84.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85.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86.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8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88.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89.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90.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91.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9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93.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94.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95.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96.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97.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98.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99.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100.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101.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102.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103.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104.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105.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106.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107.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108.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109.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110.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111.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112.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113.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114.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115.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116.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117.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118.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119.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120.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121.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122.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123.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124.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125.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126.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127.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128.xml"/></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129.xml"/></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130.xml"/></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131.xml"/></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132.xml"/></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133.xml"/></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134.xml"/></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135.xml"/></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136.xml"/></Relationships>
</file>

<file path=ppt/slides/_rels/slide1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137.xml"/></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138.xml"/></Relationships>
</file>

<file path=ppt/slides/_rels/slide1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139.xml"/></Relationships>
</file>

<file path=ppt/slides/_rels/slide1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140.xml"/></Relationships>
</file>

<file path=ppt/slides/_rels/slide1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141.xml"/></Relationships>
</file>

<file path=ppt/slides/_rels/slide1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142.xml"/></Relationships>
</file>

<file path=ppt/slides/_rels/slide1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143.xml"/></Relationships>
</file>

<file path=ppt/slides/_rels/slide1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144.xml"/></Relationships>
</file>

<file path=ppt/slides/_rels/slide1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145.xml"/></Relationships>
</file>

<file path=ppt/slides/_rels/slide1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146.xml"/></Relationships>
</file>

<file path=ppt/slides/_rels/slide1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147.xml"/></Relationships>
</file>

<file path=ppt/slides/_rels/slide1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148.xml"/></Relationships>
</file>

<file path=ppt/slides/_rels/slide1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149.xml"/></Relationships>
</file>

<file path=ppt/slides/_rels/slide1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150.xml"/></Relationships>
</file>

<file path=ppt/slides/_rels/slide1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151.xml"/></Relationships>
</file>

<file path=ppt/slides/_rels/slide1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152.xml"/></Relationships>
</file>

<file path=ppt/slides/_rels/slide1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153.xml"/></Relationships>
</file>

<file path=ppt/slides/_rels/slide1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154.xml"/></Relationships>
</file>

<file path=ppt/slides/_rels/slide15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155.xml"/></Relationships>
</file>

<file path=ppt/slides/_rels/slide15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156.xml"/></Relationships>
</file>

<file path=ppt/slides/_rels/slide15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157.xml"/></Relationships>
</file>

<file path=ppt/slides/_rels/slide15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158.xml"/></Relationships>
</file>

<file path=ppt/slides/_rels/slide15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159.xml"/></Relationships>
</file>

<file path=ppt/slides/_rels/slide16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160.xml"/></Relationships>
</file>

<file path=ppt/slides/_rels/slide16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161.xml"/></Relationships>
</file>

<file path=ppt/slides/_rels/slide16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162.xml"/></Relationships>
</file>

<file path=ppt/slides/_rels/slide16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163.xml"/></Relationships>
</file>

<file path=ppt/slides/_rels/slide16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164.xml"/></Relationships>
</file>

<file path=ppt/slides/_rels/slide16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165.xml"/><Relationship Id="rId4" Type="http://schemas.openxmlformats.org/officeDocument/2006/relationships/chart" Target="../charts/chart2.xml"/></Relationships>
</file>

<file path=ppt/slides/_rels/slide16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166.xml"/></Relationships>
</file>

<file path=ppt/slides/_rels/slide16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167.xml"/></Relationships>
</file>

<file path=ppt/slides/_rels/slide16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168.xml"/></Relationships>
</file>

<file path=ppt/slides/_rels/slide16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169.xml"/></Relationships>
</file>

<file path=ppt/slides/_rels/slide17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170.xml"/></Relationships>
</file>

<file path=ppt/slides/_rels/slide17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171.xml"/></Relationships>
</file>

<file path=ppt/slides/_rels/slide17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172.xml"/></Relationships>
</file>

<file path=ppt/slides/_rels/slide17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173.xml"/></Relationships>
</file>

<file path=ppt/slides/_rels/slide17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174.xml"/></Relationships>
</file>

<file path=ppt/slides/_rels/slide17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175.xml"/></Relationships>
</file>

<file path=ppt/slides/_rels/slide17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176.xml"/></Relationships>
</file>

<file path=ppt/slides/_rels/slide17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177.xml"/></Relationships>
</file>

<file path=ppt/slides/_rels/slide17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178.xml"/></Relationships>
</file>

<file path=ppt/slides/_rels/slide17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179.xml"/></Relationships>
</file>

<file path=ppt/slides/_rels/slide18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180.xml"/></Relationships>
</file>

<file path=ppt/slides/_rels/slide18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181.xml"/></Relationships>
</file>

<file path=ppt/slides/_rels/slide18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182.xml"/></Relationships>
</file>

<file path=ppt/slides/_rels/slide18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183.xml"/></Relationships>
</file>

<file path=ppt/slides/_rels/slide18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184.xml"/></Relationships>
</file>

<file path=ppt/slides/_rels/slide18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185.xml"/></Relationships>
</file>

<file path=ppt/slides/_rels/slide18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186.xml"/></Relationships>
</file>

<file path=ppt/slides/_rels/slide18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187.xml"/></Relationships>
</file>

<file path=ppt/slides/_rels/slide18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188.xml"/></Relationships>
</file>

<file path=ppt/slides/_rels/slide18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189.xml"/></Relationships>
</file>

<file path=ppt/slides/_rels/slide19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190.xml"/></Relationships>
</file>

<file path=ppt/slides/_rels/slide19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191.xml"/></Relationships>
</file>

<file path=ppt/slides/_rels/slide19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192.xml"/></Relationships>
</file>

<file path=ppt/slides/_rels/slide19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193.xml"/></Relationships>
</file>

<file path=ppt/slides/_rels/slide19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194.xml"/></Relationships>
</file>

<file path=ppt/slides/_rels/slide19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195.xml"/><Relationship Id="rId4" Type="http://schemas.openxmlformats.org/officeDocument/2006/relationships/image" Target="../media/image6.pn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cover.png"/>
          <p:cNvPicPr>
            <a:picLocks noChangeAspect="1"/>
          </p:cNvPicPr>
          <p:nvPr/>
        </p:nvPicPr>
        <p:blipFill>
          <a:blip r:embed="rId2"/>
          <a:stretch>
            <a:fillRect/>
          </a:stretch>
        </p:blipFill>
        <p:spPr>
          <a:xfrm>
            <a:off x="0" y="0"/>
            <a:ext cx="12191695" cy="6858000"/>
          </a:xfrm>
          <a:prstGeom prst="rect">
            <a:avLst/>
          </a:prstGeom>
        </p:spPr>
      </p:pic>
      <p:pic>
        <p:nvPicPr>
          <p:cNvPr id="3" name="Picture 2" descr="portrait_eo_mo_jade.png"/>
          <p:cNvPicPr>
            <a:picLocks noChangeAspect="1"/>
          </p:cNvPicPr>
          <p:nvPr/>
        </p:nvPicPr>
        <p:blipFill>
          <a:blip r:embed="rId4"/>
          <a:stretch>
            <a:fillRect/>
          </a:stretch>
        </p:blipFill>
        <p:spPr>
          <a:xfrm>
            <a:off x="1714408" y="1623060"/>
            <a:ext cx="3886200" cy="3886200"/>
          </a:xfrm>
          <a:prstGeom prst="rect">
            <a:avLst/>
          </a:prstGeom>
        </p:spPr>
      </p:pic>
      <p:sp>
        <p:nvSpPr>
          <p:cNvPr id="4" name="TextBox 3"/>
          <p:cNvSpPr txBox="1"/>
          <p:nvPr/>
        </p:nvSpPr>
        <p:spPr>
          <a:xfrm>
            <a:off x="6446520" y="896112"/>
            <a:ext cx="5303520" cy="329184"/>
          </a:xfrm>
          <a:prstGeom prst="rect">
            <a:avLst/>
          </a:prstGeom>
          <a:noFill/>
        </p:spPr>
        <p:txBody>
          <a:bodyPr wrap="square" lIns="45720" rIns="45720" tIns="27432" bIns="27432" anchor="t">
            <a:noAutofit/>
          </a:bodyPr>
          <a:lstStyle/>
          <a:p>
            <a:pPr algn="l">
              <a:lnSpc>
                <a:spcPct val="100000"/>
              </a:lnSpc>
            </a:pPr>
            <a:r>
              <a:rPr sz="1200" b="0" i="0" spc="340">
                <a:solidFill>
                  <a:srgbClr val="C98457"/>
                </a:solidFill>
                <a:latin typeface="Segoe UI Semibold"/>
              </a:rPr>
              <a:t>EL DOSSIER COMPLETO DEL PROYECTO</a:t>
            </a:r>
          </a:p>
        </p:txBody>
      </p:sp>
      <p:sp>
        <p:nvSpPr>
          <p:cNvPr id="5" name="TextBox 4"/>
          <p:cNvSpPr txBox="1"/>
          <p:nvPr/>
        </p:nvSpPr>
        <p:spPr>
          <a:xfrm>
            <a:off x="6391656" y="1261872"/>
            <a:ext cx="5394960" cy="1216152"/>
          </a:xfrm>
          <a:prstGeom prst="rect">
            <a:avLst/>
          </a:prstGeom>
          <a:noFill/>
        </p:spPr>
        <p:txBody>
          <a:bodyPr wrap="square" lIns="45720" rIns="45720" tIns="27432" bIns="27432" anchor="t">
            <a:noAutofit/>
          </a:bodyPr>
          <a:lstStyle/>
          <a:p>
            <a:pPr algn="l">
              <a:lnSpc>
                <a:spcPct val="100000"/>
              </a:lnSpc>
            </a:pPr>
            <a:r>
              <a:rPr sz="7450" b="0" i="0">
                <a:solidFill>
                  <a:srgbClr val="F7F2E8"/>
                </a:solidFill>
                <a:latin typeface="Palatino Linotype"/>
              </a:rPr>
              <a:t>Tlamatini</a:t>
            </a:r>
          </a:p>
        </p:txBody>
      </p:sp>
      <p:sp>
        <p:nvSpPr>
          <p:cNvPr id="6" name="TextBox 5"/>
          <p:cNvSpPr txBox="1"/>
          <p:nvPr/>
        </p:nvSpPr>
        <p:spPr>
          <a:xfrm>
            <a:off x="6446520" y="2505456"/>
            <a:ext cx="5303520" cy="502920"/>
          </a:xfrm>
          <a:prstGeom prst="rect">
            <a:avLst/>
          </a:prstGeom>
          <a:noFill/>
        </p:spPr>
        <p:txBody>
          <a:bodyPr wrap="square" lIns="45720" rIns="45720" tIns="27432" bIns="27432" anchor="t">
            <a:noAutofit/>
          </a:bodyPr>
          <a:lstStyle/>
          <a:p>
            <a:pPr algn="l">
              <a:lnSpc>
                <a:spcPct val="100000"/>
              </a:lnSpc>
            </a:pPr>
            <a:r>
              <a:rPr sz="2600" b="0" i="1">
                <a:solidFill>
                  <a:srgbClr val="3BBE93"/>
                </a:solidFill>
                <a:latin typeface="Palatino Linotype"/>
              </a:rPr>
              <a:t>la que sabe</a:t>
            </a:r>
          </a:p>
        </p:txBody>
      </p:sp>
      <p:sp>
        <p:nvSpPr>
          <p:cNvPr id="7" name="TextBox 6"/>
          <p:cNvSpPr txBox="1"/>
          <p:nvPr/>
        </p:nvSpPr>
        <p:spPr>
          <a:xfrm>
            <a:off x="6446520" y="3127248"/>
            <a:ext cx="5212080" cy="1005840"/>
          </a:xfrm>
          <a:prstGeom prst="rect">
            <a:avLst/>
          </a:prstGeom>
          <a:noFill/>
        </p:spPr>
        <p:txBody>
          <a:bodyPr wrap="square" lIns="45720" rIns="45720" tIns="27432" bIns="27432" anchor="t">
            <a:noAutofit/>
          </a:bodyPr>
          <a:lstStyle/>
          <a:p>
            <a:pPr algn="l">
              <a:lnSpc>
                <a:spcPct val="100000"/>
              </a:lnSpc>
            </a:pPr>
            <a:r>
              <a:rPr sz="1500" b="0" i="0">
                <a:solidFill>
                  <a:srgbClr val="ECE7DC"/>
                </a:solidFill>
                <a:latin typeface="Segoe UI Light"/>
              </a:rPr>
              <a:t>Una asistente de desarrollo con IA alojada por ti, con un diseñador visual de workflows de agents, un cliente MCP universal y el alcance para manejar tarjetas, motores y redes reales.</a:t>
            </a:r>
          </a:p>
        </p:txBody>
      </p:sp>
      <p:sp>
        <p:nvSpPr>
          <p:cNvPr id="8" name="TextBox 7"/>
          <p:cNvSpPr txBox="1"/>
          <p:nvPr/>
        </p:nvSpPr>
        <p:spPr>
          <a:xfrm>
            <a:off x="6446520" y="4370832"/>
            <a:ext cx="1234439" cy="548640"/>
          </a:xfrm>
          <a:prstGeom prst="rect">
            <a:avLst/>
          </a:prstGeom>
          <a:noFill/>
        </p:spPr>
        <p:txBody>
          <a:bodyPr wrap="square" lIns="45720" rIns="45720" tIns="27432" bIns="27432" anchor="t">
            <a:noAutofit/>
          </a:bodyPr>
          <a:lstStyle/>
          <a:p>
            <a:pPr algn="l">
              <a:lnSpc>
                <a:spcPct val="100000"/>
              </a:lnSpc>
            </a:pPr>
            <a:r>
              <a:rPr sz="3000" b="1" i="0">
                <a:solidFill>
                  <a:srgbClr val="E2B462"/>
                </a:solidFill>
                <a:latin typeface="Palatino Linotype"/>
              </a:rPr>
              <a:t>86</a:t>
            </a:r>
          </a:p>
        </p:txBody>
      </p:sp>
      <p:sp>
        <p:nvSpPr>
          <p:cNvPr id="9" name="TextBox 8"/>
          <p:cNvSpPr txBox="1"/>
          <p:nvPr/>
        </p:nvSpPr>
        <p:spPr>
          <a:xfrm>
            <a:off x="6446520" y="4937760"/>
            <a:ext cx="1234439" cy="274320"/>
          </a:xfrm>
          <a:prstGeom prst="rect">
            <a:avLst/>
          </a:prstGeom>
          <a:noFill/>
        </p:spPr>
        <p:txBody>
          <a:bodyPr wrap="square" lIns="45720" rIns="45720" tIns="27432" bIns="27432" anchor="t">
            <a:noAutofit/>
          </a:bodyPr>
          <a:lstStyle/>
          <a:p>
            <a:pPr algn="l">
              <a:lnSpc>
                <a:spcPct val="100000"/>
              </a:lnSpc>
            </a:pPr>
            <a:r>
              <a:rPr sz="950" b="0" i="0" spc="117">
                <a:solidFill>
                  <a:srgbClr val="A7B2B0"/>
                </a:solidFill>
                <a:latin typeface="Segoe UI Semibold"/>
              </a:rPr>
              <a:t>TIPOS DE AGENT</a:t>
            </a:r>
          </a:p>
        </p:txBody>
      </p:sp>
      <p:sp>
        <p:nvSpPr>
          <p:cNvPr id="10" name="TextBox 9"/>
          <p:cNvSpPr txBox="1"/>
          <p:nvPr/>
        </p:nvSpPr>
        <p:spPr>
          <a:xfrm>
            <a:off x="7772400" y="4370832"/>
            <a:ext cx="1234439" cy="548640"/>
          </a:xfrm>
          <a:prstGeom prst="rect">
            <a:avLst/>
          </a:prstGeom>
          <a:noFill/>
        </p:spPr>
        <p:txBody>
          <a:bodyPr wrap="square" lIns="45720" rIns="45720" tIns="27432" bIns="27432" anchor="t">
            <a:noAutofit/>
          </a:bodyPr>
          <a:lstStyle/>
          <a:p>
            <a:pPr algn="l">
              <a:lnSpc>
                <a:spcPct val="100000"/>
              </a:lnSpc>
            </a:pPr>
            <a:r>
              <a:rPr sz="3000" b="1" i="0">
                <a:solidFill>
                  <a:srgbClr val="E2B462"/>
                </a:solidFill>
                <a:latin typeface="Palatino Linotype"/>
              </a:rPr>
              <a:t>110</a:t>
            </a:r>
          </a:p>
        </p:txBody>
      </p:sp>
      <p:sp>
        <p:nvSpPr>
          <p:cNvPr id="11" name="TextBox 10"/>
          <p:cNvSpPr txBox="1"/>
          <p:nvPr/>
        </p:nvSpPr>
        <p:spPr>
          <a:xfrm>
            <a:off x="7772400" y="4937760"/>
            <a:ext cx="1234439" cy="274320"/>
          </a:xfrm>
          <a:prstGeom prst="rect">
            <a:avLst/>
          </a:prstGeom>
          <a:noFill/>
        </p:spPr>
        <p:txBody>
          <a:bodyPr wrap="square" lIns="45720" rIns="45720" tIns="27432" bIns="27432" anchor="t">
            <a:noAutofit/>
          </a:bodyPr>
          <a:lstStyle/>
          <a:p>
            <a:pPr algn="l">
              <a:lnSpc>
                <a:spcPct val="100000"/>
              </a:lnSpc>
            </a:pPr>
            <a:r>
              <a:rPr sz="700" b="0" i="0" spc="86">
                <a:solidFill>
                  <a:srgbClr val="A7B2B0"/>
                </a:solidFill>
                <a:latin typeface="Segoe UI Semibold"/>
              </a:rPr>
              <a:t>TOOLS DE MULTI-TURN</a:t>
            </a:r>
          </a:p>
        </p:txBody>
      </p:sp>
      <p:cxnSp>
        <p:nvCxnSpPr>
          <p:cNvPr id="12" name="Connector 11"/>
          <p:cNvCxnSpPr/>
          <p:nvPr/>
        </p:nvCxnSpPr>
        <p:spPr>
          <a:xfrm>
            <a:off x="7680960" y="4443984"/>
            <a:ext cx="0" cy="676656"/>
          </a:xfrm>
          <a:prstGeom prst="line">
            <a:avLst/>
          </a:prstGeom>
          <a:ln w="11430">
            <a:solidFill>
              <a:srgbClr val="2A3A40"/>
            </a:solidFill>
          </a:ln>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9098280" y="4370832"/>
            <a:ext cx="1234439" cy="548640"/>
          </a:xfrm>
          <a:prstGeom prst="rect">
            <a:avLst/>
          </a:prstGeom>
          <a:noFill/>
        </p:spPr>
        <p:txBody>
          <a:bodyPr wrap="square" lIns="45720" rIns="45720" tIns="27432" bIns="27432" anchor="t">
            <a:noAutofit/>
          </a:bodyPr>
          <a:lstStyle/>
          <a:p>
            <a:pPr algn="l">
              <a:lnSpc>
                <a:spcPct val="100000"/>
              </a:lnSpc>
            </a:pPr>
            <a:r>
              <a:rPr sz="3000" b="1" i="0">
                <a:solidFill>
                  <a:srgbClr val="E2B462"/>
                </a:solidFill>
                <a:latin typeface="Palatino Linotype"/>
              </a:rPr>
              <a:t>29</a:t>
            </a:r>
          </a:p>
        </p:txBody>
      </p:sp>
      <p:sp>
        <p:nvSpPr>
          <p:cNvPr id="14" name="TextBox 13"/>
          <p:cNvSpPr txBox="1"/>
          <p:nvPr/>
        </p:nvSpPr>
        <p:spPr>
          <a:xfrm>
            <a:off x="9098280" y="4937760"/>
            <a:ext cx="1234439" cy="274320"/>
          </a:xfrm>
          <a:prstGeom prst="rect">
            <a:avLst/>
          </a:prstGeom>
          <a:noFill/>
        </p:spPr>
        <p:txBody>
          <a:bodyPr wrap="square" lIns="45720" rIns="45720" tIns="27432" bIns="27432" anchor="t">
            <a:noAutofit/>
          </a:bodyPr>
          <a:lstStyle/>
          <a:p>
            <a:pPr algn="l">
              <a:lnSpc>
                <a:spcPct val="100000"/>
              </a:lnSpc>
            </a:pPr>
            <a:r>
              <a:rPr sz="950" b="0" i="0" spc="120">
                <a:solidFill>
                  <a:srgbClr val="A7B2B0"/>
                </a:solidFill>
                <a:latin typeface="Segoe UI Semibold"/>
              </a:rPr>
              <a:t>SKILLS</a:t>
            </a:r>
          </a:p>
        </p:txBody>
      </p:sp>
      <p:cxnSp>
        <p:nvCxnSpPr>
          <p:cNvPr id="15" name="Connector 14"/>
          <p:cNvCxnSpPr/>
          <p:nvPr/>
        </p:nvCxnSpPr>
        <p:spPr>
          <a:xfrm>
            <a:off x="9006840" y="4443984"/>
            <a:ext cx="0" cy="676656"/>
          </a:xfrm>
          <a:prstGeom prst="line">
            <a:avLst/>
          </a:prstGeom>
          <a:ln w="11430">
            <a:solidFill>
              <a:srgbClr val="2A3A40"/>
            </a:solidFill>
          </a:ln>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10424159" y="4370832"/>
            <a:ext cx="1234439" cy="548640"/>
          </a:xfrm>
          <a:prstGeom prst="rect">
            <a:avLst/>
          </a:prstGeom>
          <a:noFill/>
        </p:spPr>
        <p:txBody>
          <a:bodyPr wrap="square" lIns="45720" rIns="45720" tIns="27432" bIns="27432" anchor="t">
            <a:noAutofit/>
          </a:bodyPr>
          <a:lstStyle/>
          <a:p>
            <a:pPr algn="l">
              <a:lnSpc>
                <a:spcPct val="100000"/>
              </a:lnSpc>
            </a:pPr>
            <a:r>
              <a:rPr sz="2750" b="1" i="0">
                <a:solidFill>
                  <a:srgbClr val="E2B462"/>
                </a:solidFill>
                <a:latin typeface="Palatino Linotype"/>
              </a:rPr>
              <a:t>v1.91.1</a:t>
            </a:r>
          </a:p>
        </p:txBody>
      </p:sp>
      <p:sp>
        <p:nvSpPr>
          <p:cNvPr id="17" name="TextBox 16"/>
          <p:cNvSpPr txBox="1"/>
          <p:nvPr/>
        </p:nvSpPr>
        <p:spPr>
          <a:xfrm>
            <a:off x="10424159" y="4937760"/>
            <a:ext cx="1234439" cy="274320"/>
          </a:xfrm>
          <a:prstGeom prst="rect">
            <a:avLst/>
          </a:prstGeom>
          <a:noFill/>
        </p:spPr>
        <p:txBody>
          <a:bodyPr wrap="square" lIns="45720" rIns="45720" tIns="27432" bIns="27432" anchor="t">
            <a:noAutofit/>
          </a:bodyPr>
          <a:lstStyle/>
          <a:p>
            <a:pPr algn="l">
              <a:lnSpc>
                <a:spcPct val="100000"/>
              </a:lnSpc>
            </a:pPr>
            <a:r>
              <a:rPr sz="900" b="0" i="0" spc="115">
                <a:solidFill>
                  <a:srgbClr val="A7B2B0"/>
                </a:solidFill>
                <a:latin typeface="Segoe UI Semibold"/>
              </a:rPr>
              <a:t>RELEASE ACTUAL</a:t>
            </a:r>
          </a:p>
        </p:txBody>
      </p:sp>
      <p:cxnSp>
        <p:nvCxnSpPr>
          <p:cNvPr id="18" name="Connector 17"/>
          <p:cNvCxnSpPr/>
          <p:nvPr/>
        </p:nvCxnSpPr>
        <p:spPr>
          <a:xfrm>
            <a:off x="10332719" y="4443984"/>
            <a:ext cx="0" cy="676656"/>
          </a:xfrm>
          <a:prstGeom prst="line">
            <a:avLst/>
          </a:prstGeom>
          <a:ln w="11430">
            <a:solidFill>
              <a:srgbClr val="2A3A40"/>
            </a:solidFill>
          </a:ln>
        </p:spPr>
        <p:style>
          <a:lnRef idx="2">
            <a:schemeClr val="accent1"/>
          </a:lnRef>
          <a:fillRef idx="0">
            <a:schemeClr val="accent1"/>
          </a:fillRef>
          <a:effectRef idx="1">
            <a:schemeClr val="accent1"/>
          </a:effectRef>
          <a:fontRef idx="minor">
            <a:schemeClr val="tx1"/>
          </a:fontRef>
        </p:style>
      </p:cxnSp>
      <p:sp>
        <p:nvSpPr>
          <p:cNvPr id="19" name="TextBox 18"/>
          <p:cNvSpPr txBox="1"/>
          <p:nvPr/>
        </p:nvSpPr>
        <p:spPr>
          <a:xfrm>
            <a:off x="6446520" y="5596128"/>
            <a:ext cx="5303520" cy="310896"/>
          </a:xfrm>
          <a:prstGeom prst="rect">
            <a:avLst/>
          </a:prstGeom>
          <a:noFill/>
        </p:spPr>
        <p:txBody>
          <a:bodyPr wrap="square" lIns="45720" rIns="45720" tIns="27432" bIns="27432" anchor="t">
            <a:noAutofit/>
          </a:bodyPr>
          <a:lstStyle/>
          <a:p>
            <a:pPr algn="l">
              <a:lnSpc>
                <a:spcPct val="100000"/>
              </a:lnSpc>
            </a:pPr>
            <a:r>
              <a:rPr sz="1300" b="0" i="0">
                <a:solidFill>
                  <a:srgbClr val="F7F2E8"/>
                </a:solidFill>
                <a:latin typeface="Segoe UI Semibold"/>
              </a:rPr>
              <a:t>Creada por Angela López Mendoza  ·  @angelahack1</a:t>
            </a:r>
          </a:p>
        </p:txBody>
      </p:sp>
      <p:sp>
        <p:nvSpPr>
          <p:cNvPr id="20" name="TextBox 19"/>
          <p:cNvSpPr txBox="1"/>
          <p:nvPr/>
        </p:nvSpPr>
        <p:spPr>
          <a:xfrm>
            <a:off x="6446520" y="5907024"/>
            <a:ext cx="5303520" cy="274320"/>
          </a:xfrm>
          <a:prstGeom prst="rect">
            <a:avLst/>
          </a:prstGeom>
          <a:noFill/>
        </p:spPr>
        <p:txBody>
          <a:bodyPr wrap="square" lIns="45720" rIns="45720" tIns="27432" bIns="27432" anchor="t">
            <a:noAutofit/>
          </a:bodyPr>
          <a:lstStyle/>
          <a:p>
            <a:pPr algn="l">
              <a:lnSpc>
                <a:spcPct val="100000"/>
              </a:lnSpc>
            </a:pPr>
            <a:r>
              <a:rPr sz="1050" b="0" i="0">
                <a:solidFill>
                  <a:srgbClr val="A7B2B0"/>
                </a:solidFill>
                <a:latin typeface="Segoe UI"/>
              </a:rPr>
              <a:t>27 de octubre de 2026  ·  github.com/XAIHT/Tlamatini  ·  MIT</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content.png"/>
          <p:cNvPicPr>
            <a:picLocks noChangeAspect="1"/>
          </p:cNvPicPr>
          <p:nvPr/>
        </p:nvPicPr>
        <p:blipFill>
          <a:blip r:embed="rId2"/>
          <a:stretch>
            <a:fillRect/>
          </a:stretch>
        </p:blipFill>
        <p:spPr>
          <a:xfrm>
            <a:off x="0" y="0"/>
            <a:ext cx="12191695" cy="6858000"/>
          </a:xfrm>
          <a:prstGeom prst="rect">
            <a:avLst/>
          </a:prstGeom>
        </p:spPr>
      </p:pic>
      <p:sp>
        <p:nvSpPr>
          <p:cNvPr id="3" name="Diamond 2"/>
          <p:cNvSpPr/>
          <p:nvPr/>
        </p:nvSpPr>
        <p:spPr>
          <a:xfrm>
            <a:off x="566928" y="457200"/>
            <a:ext cx="100584" cy="100584"/>
          </a:xfrm>
          <a:prstGeom prst="diamond">
            <a:avLst/>
          </a:prstGeom>
          <a:solidFill>
            <a:srgbClr val="3BBE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49808" y="365760"/>
            <a:ext cx="8229600" cy="292608"/>
          </a:xfrm>
          <a:prstGeom prst="rect">
            <a:avLst/>
          </a:prstGeom>
          <a:noFill/>
        </p:spPr>
        <p:txBody>
          <a:bodyPr wrap="square" lIns="45720" rIns="45720" tIns="27432" bIns="27432" anchor="t">
            <a:noAutofit/>
          </a:bodyPr>
          <a:lstStyle/>
          <a:p>
            <a:pPr algn="l">
              <a:lnSpc>
                <a:spcPct val="100000"/>
              </a:lnSpc>
            </a:pPr>
            <a:r>
              <a:rPr sz="1100" b="0" i="0" spc="240">
                <a:solidFill>
                  <a:srgbClr val="C98457"/>
                </a:solidFill>
                <a:latin typeface="Segoe UI Semibold"/>
              </a:rPr>
              <a:t>CONTENTS</a:t>
            </a:r>
          </a:p>
        </p:txBody>
      </p:sp>
      <p:sp>
        <p:nvSpPr>
          <p:cNvPr id="5" name="TextBox 4"/>
          <p:cNvSpPr txBox="1"/>
          <p:nvPr/>
        </p:nvSpPr>
        <p:spPr>
          <a:xfrm>
            <a:off x="539496" y="676656"/>
            <a:ext cx="11057839" cy="658368"/>
          </a:xfrm>
          <a:prstGeom prst="rect">
            <a:avLst/>
          </a:prstGeom>
          <a:noFill/>
        </p:spPr>
        <p:txBody>
          <a:bodyPr wrap="square" lIns="45720" rIns="45720" tIns="27432" bIns="27432" anchor="t">
            <a:noAutofit/>
          </a:bodyPr>
          <a:lstStyle/>
          <a:p>
            <a:pPr algn="l">
              <a:lnSpc>
                <a:spcPct val="100000"/>
              </a:lnSpc>
            </a:pPr>
            <a:r>
              <a:rPr sz="3100" b="0" i="0">
                <a:solidFill>
                  <a:srgbClr val="F7F2E8"/>
                </a:solidFill>
                <a:latin typeface="Palatino Linotype"/>
              </a:rPr>
              <a:t>Lo que cubre este dossier</a:t>
            </a:r>
          </a:p>
        </p:txBody>
      </p:sp>
      <p:sp>
        <p:nvSpPr>
          <p:cNvPr id="6" name="Rectangle 5"/>
          <p:cNvSpPr/>
          <p:nvPr/>
        </p:nvSpPr>
        <p:spPr>
          <a:xfrm>
            <a:off x="566928" y="1344168"/>
            <a:ext cx="822960" cy="36576"/>
          </a:xfrm>
          <a:prstGeom prst="rect">
            <a:avLst/>
          </a:prstGeom>
          <a:solidFill>
            <a:srgbClr val="3BBE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566928" y="1444752"/>
            <a:ext cx="10692079" cy="585216"/>
          </a:xfrm>
          <a:prstGeom prst="rect">
            <a:avLst/>
          </a:prstGeom>
          <a:noFill/>
        </p:spPr>
        <p:txBody>
          <a:bodyPr wrap="square" lIns="45720" rIns="45720" tIns="27432" bIns="27432" anchor="t">
            <a:noAutofit/>
          </a:bodyPr>
          <a:lstStyle/>
          <a:p>
            <a:pPr algn="l">
              <a:lnSpc>
                <a:spcPct val="100000"/>
              </a:lnSpc>
            </a:pPr>
            <a:r>
              <a:rPr sz="1450" b="0" i="0">
                <a:solidFill>
                  <a:srgbClr val="A7B2B0"/>
                </a:solidFill>
                <a:latin typeface="Segoe UI Semilight"/>
              </a:rPr>
              <a:t>Nueve capítulos de la identidad al inventario, y el árbol de archivos de la aplicación al final.</a:t>
            </a:r>
          </a:p>
        </p:txBody>
      </p:sp>
      <p:sp>
        <p:nvSpPr>
          <p:cNvPr id="8" name="TextBox 7"/>
          <p:cNvSpPr txBox="1"/>
          <p:nvPr/>
        </p:nvSpPr>
        <p:spPr>
          <a:xfrm>
            <a:off x="566928" y="2084831"/>
            <a:ext cx="731520" cy="768096"/>
          </a:xfrm>
          <a:prstGeom prst="rect">
            <a:avLst/>
          </a:prstGeom>
          <a:noFill/>
        </p:spPr>
        <p:txBody>
          <a:bodyPr wrap="square" lIns="45720" rIns="45720" tIns="27432" bIns="27432" anchor="ctr">
            <a:noAutofit/>
          </a:bodyPr>
          <a:lstStyle/>
          <a:p>
            <a:pPr algn="ctr">
              <a:lnSpc>
                <a:spcPct val="100000"/>
              </a:lnSpc>
            </a:pPr>
            <a:r>
              <a:rPr sz="2600" b="0" i="0">
                <a:solidFill>
                  <a:srgbClr val="3BBE93"/>
                </a:solidFill>
                <a:latin typeface="Palatino Linotype"/>
              </a:rPr>
              <a:t>I</a:t>
            </a:r>
          </a:p>
        </p:txBody>
      </p:sp>
      <p:sp>
        <p:nvSpPr>
          <p:cNvPr id="9" name="TextBox 8"/>
          <p:cNvSpPr txBox="1"/>
          <p:nvPr/>
        </p:nvSpPr>
        <p:spPr>
          <a:xfrm>
            <a:off x="1389888" y="2103120"/>
            <a:ext cx="4477359" cy="365760"/>
          </a:xfrm>
          <a:prstGeom prst="rect">
            <a:avLst/>
          </a:prstGeom>
          <a:noFill/>
        </p:spPr>
        <p:txBody>
          <a:bodyPr wrap="square" lIns="45720" rIns="45720" tIns="27432" bIns="27432" anchor="t">
            <a:noAutofit/>
          </a:bodyPr>
          <a:lstStyle/>
          <a:p>
            <a:pPr algn="l">
              <a:lnSpc>
                <a:spcPct val="100000"/>
              </a:lnSpc>
            </a:pPr>
            <a:r>
              <a:rPr sz="1600" b="0" i="0">
                <a:solidFill>
                  <a:srgbClr val="F7F2E8"/>
                </a:solidFill>
                <a:latin typeface="Segoe UI Semibold"/>
              </a:rPr>
              <a:t>Quién es ella</a:t>
            </a:r>
          </a:p>
        </p:txBody>
      </p:sp>
      <p:sp>
        <p:nvSpPr>
          <p:cNvPr id="10" name="TextBox 9"/>
          <p:cNvSpPr txBox="1"/>
          <p:nvPr/>
        </p:nvSpPr>
        <p:spPr>
          <a:xfrm>
            <a:off x="1389888" y="2468879"/>
            <a:ext cx="4477359" cy="402336"/>
          </a:xfrm>
          <a:prstGeom prst="rect">
            <a:avLst/>
          </a:prstGeom>
          <a:noFill/>
        </p:spPr>
        <p:txBody>
          <a:bodyPr wrap="square" lIns="45720" rIns="45720" tIns="27432" bIns="27432" anchor="t">
            <a:noAutofit/>
          </a:bodyPr>
          <a:lstStyle/>
          <a:p>
            <a:pPr algn="l">
              <a:lnSpc>
                <a:spcPct val="100000"/>
              </a:lnSpc>
            </a:pPr>
            <a:r>
              <a:rPr sz="1100" b="0" i="0">
                <a:solidFill>
                  <a:srgbClr val="A7B2B0"/>
                </a:solidFill>
                <a:latin typeface="Segoe UI"/>
              </a:rPr>
              <a:t>Una asistente de desarrollo self-hosted que lee, razona, construye y actúa, y te deja diseñar el cómo.</a:t>
            </a:r>
          </a:p>
        </p:txBody>
      </p:sp>
      <p:sp>
        <p:nvSpPr>
          <p:cNvPr id="11" name="TextBox 10"/>
          <p:cNvSpPr txBox="1"/>
          <p:nvPr/>
        </p:nvSpPr>
        <p:spPr>
          <a:xfrm>
            <a:off x="566928" y="2907791"/>
            <a:ext cx="731520" cy="768096"/>
          </a:xfrm>
          <a:prstGeom prst="rect">
            <a:avLst/>
          </a:prstGeom>
          <a:noFill/>
        </p:spPr>
        <p:txBody>
          <a:bodyPr wrap="square" lIns="45720" rIns="45720" tIns="27432" bIns="27432" anchor="ctr">
            <a:noAutofit/>
          </a:bodyPr>
          <a:lstStyle/>
          <a:p>
            <a:pPr algn="ctr">
              <a:lnSpc>
                <a:spcPct val="100000"/>
              </a:lnSpc>
            </a:pPr>
            <a:r>
              <a:rPr sz="2600" b="0" i="0">
                <a:solidFill>
                  <a:srgbClr val="C98457"/>
                </a:solidFill>
                <a:latin typeface="Palatino Linotype"/>
              </a:rPr>
              <a:t>II</a:t>
            </a:r>
          </a:p>
        </p:txBody>
      </p:sp>
      <p:sp>
        <p:nvSpPr>
          <p:cNvPr id="12" name="TextBox 11"/>
          <p:cNvSpPr txBox="1"/>
          <p:nvPr/>
        </p:nvSpPr>
        <p:spPr>
          <a:xfrm>
            <a:off x="1389888" y="2926079"/>
            <a:ext cx="4477359" cy="365760"/>
          </a:xfrm>
          <a:prstGeom prst="rect">
            <a:avLst/>
          </a:prstGeom>
          <a:noFill/>
        </p:spPr>
        <p:txBody>
          <a:bodyPr wrap="square" lIns="45720" rIns="45720" tIns="27432" bIns="27432" anchor="t">
            <a:noAutofit/>
          </a:bodyPr>
          <a:lstStyle/>
          <a:p>
            <a:pPr algn="l">
              <a:lnSpc>
                <a:spcPct val="100000"/>
              </a:lnSpc>
            </a:pPr>
            <a:r>
              <a:rPr sz="1600" b="0" i="0">
                <a:solidFill>
                  <a:srgbClr val="F7F2E8"/>
                </a:solidFill>
                <a:latin typeface="Segoe UI Semibold"/>
              </a:rPr>
              <a:t>Cómo funciona</a:t>
            </a:r>
          </a:p>
        </p:txBody>
      </p:sp>
      <p:sp>
        <p:nvSpPr>
          <p:cNvPr id="13" name="TextBox 12"/>
          <p:cNvSpPr txBox="1"/>
          <p:nvPr/>
        </p:nvSpPr>
        <p:spPr>
          <a:xfrm>
            <a:off x="1389888" y="3291839"/>
            <a:ext cx="4477359" cy="402336"/>
          </a:xfrm>
          <a:prstGeom prst="rect">
            <a:avLst/>
          </a:prstGeom>
          <a:noFill/>
        </p:spPr>
        <p:txBody>
          <a:bodyPr wrap="square" lIns="45720" rIns="45720" tIns="27432" bIns="27432" anchor="t">
            <a:noAutofit/>
          </a:bodyPr>
          <a:lstStyle/>
          <a:p>
            <a:pPr algn="l">
              <a:lnSpc>
                <a:spcPct val="100000"/>
              </a:lnSpc>
            </a:pPr>
            <a:r>
              <a:rPr sz="1100" b="0" i="0">
                <a:solidFill>
                  <a:srgbClr val="A7B2B0"/>
                </a:solidFill>
                <a:latin typeface="Segoe UI"/>
              </a:rPr>
              <a:t>De una tecla en el browser a un resultado verificado en el disco: las capas, el ciclo y el veredicto.</a:t>
            </a:r>
          </a:p>
        </p:txBody>
      </p:sp>
      <p:sp>
        <p:nvSpPr>
          <p:cNvPr id="14" name="TextBox 13"/>
          <p:cNvSpPr txBox="1"/>
          <p:nvPr/>
        </p:nvSpPr>
        <p:spPr>
          <a:xfrm>
            <a:off x="566928" y="3730752"/>
            <a:ext cx="731520" cy="768096"/>
          </a:xfrm>
          <a:prstGeom prst="rect">
            <a:avLst/>
          </a:prstGeom>
          <a:noFill/>
        </p:spPr>
        <p:txBody>
          <a:bodyPr wrap="square" lIns="45720" rIns="45720" tIns="27432" bIns="27432" anchor="ctr">
            <a:noAutofit/>
          </a:bodyPr>
          <a:lstStyle/>
          <a:p>
            <a:pPr algn="ctr">
              <a:lnSpc>
                <a:spcPct val="100000"/>
              </a:lnSpc>
            </a:pPr>
            <a:r>
              <a:rPr sz="2600" b="0" i="0">
                <a:solidFill>
                  <a:srgbClr val="E2B462"/>
                </a:solidFill>
                <a:latin typeface="Palatino Linotype"/>
              </a:rPr>
              <a:t>III</a:t>
            </a:r>
          </a:p>
        </p:txBody>
      </p:sp>
      <p:sp>
        <p:nvSpPr>
          <p:cNvPr id="15" name="TextBox 14"/>
          <p:cNvSpPr txBox="1"/>
          <p:nvPr/>
        </p:nvSpPr>
        <p:spPr>
          <a:xfrm>
            <a:off x="1389888" y="3749039"/>
            <a:ext cx="4477359" cy="365760"/>
          </a:xfrm>
          <a:prstGeom prst="rect">
            <a:avLst/>
          </a:prstGeom>
          <a:noFill/>
        </p:spPr>
        <p:txBody>
          <a:bodyPr wrap="square" lIns="45720" rIns="45720" tIns="27432" bIns="27432" anchor="t">
            <a:noAutofit/>
          </a:bodyPr>
          <a:lstStyle/>
          <a:p>
            <a:pPr algn="l">
              <a:lnSpc>
                <a:spcPct val="100000"/>
              </a:lnSpc>
            </a:pPr>
            <a:r>
              <a:rPr sz="1600" b="0" i="0">
                <a:solidFill>
                  <a:srgbClr val="F7F2E8"/>
                </a:solidFill>
                <a:latin typeface="Segoe UI Semibold"/>
              </a:rPr>
              <a:t>Dónde trabajas con ella</a:t>
            </a:r>
          </a:p>
        </p:txBody>
      </p:sp>
      <p:sp>
        <p:nvSpPr>
          <p:cNvPr id="16" name="TextBox 15"/>
          <p:cNvSpPr txBox="1"/>
          <p:nvPr/>
        </p:nvSpPr>
        <p:spPr>
          <a:xfrm>
            <a:off x="1389888" y="4114800"/>
            <a:ext cx="4477359" cy="402336"/>
          </a:xfrm>
          <a:prstGeom prst="rect">
            <a:avLst/>
          </a:prstGeom>
          <a:noFill/>
        </p:spPr>
        <p:txBody>
          <a:bodyPr wrap="square" lIns="45720" rIns="45720" tIns="27432" bIns="27432" anchor="t">
            <a:noAutofit/>
          </a:bodyPr>
          <a:lstStyle/>
          <a:p>
            <a:pPr algn="l">
              <a:lnSpc>
                <a:spcPct val="100000"/>
              </a:lnSpc>
            </a:pPr>
            <a:r>
              <a:rPr sz="1100" b="0" i="0">
                <a:solidFill>
                  <a:srgbClr val="A7B2B0"/>
                </a:solidFill>
                <a:latin typeface="Segoe UI"/>
              </a:rPr>
              <a:t>El chat, los dos canvases, el catálogo y los diálogos que operan todo lo demás.</a:t>
            </a:r>
          </a:p>
        </p:txBody>
      </p:sp>
      <p:sp>
        <p:nvSpPr>
          <p:cNvPr id="17" name="TextBox 16"/>
          <p:cNvSpPr txBox="1"/>
          <p:nvPr/>
        </p:nvSpPr>
        <p:spPr>
          <a:xfrm>
            <a:off x="566928" y="4553712"/>
            <a:ext cx="731520" cy="768096"/>
          </a:xfrm>
          <a:prstGeom prst="rect">
            <a:avLst/>
          </a:prstGeom>
          <a:noFill/>
        </p:spPr>
        <p:txBody>
          <a:bodyPr wrap="square" lIns="45720" rIns="45720" tIns="27432" bIns="27432" anchor="ctr">
            <a:noAutofit/>
          </a:bodyPr>
          <a:lstStyle/>
          <a:p>
            <a:pPr algn="ctr">
              <a:lnSpc>
                <a:spcPct val="100000"/>
              </a:lnSpc>
            </a:pPr>
            <a:r>
              <a:rPr sz="2600" b="0" i="0">
                <a:solidFill>
                  <a:srgbClr val="D25CD6"/>
                </a:solidFill>
                <a:latin typeface="Palatino Linotype"/>
              </a:rPr>
              <a:t>IV</a:t>
            </a:r>
          </a:p>
        </p:txBody>
      </p:sp>
      <p:sp>
        <p:nvSpPr>
          <p:cNvPr id="18" name="TextBox 17"/>
          <p:cNvSpPr txBox="1"/>
          <p:nvPr/>
        </p:nvSpPr>
        <p:spPr>
          <a:xfrm>
            <a:off x="1389888" y="4572000"/>
            <a:ext cx="4477359" cy="365760"/>
          </a:xfrm>
          <a:prstGeom prst="rect">
            <a:avLst/>
          </a:prstGeom>
          <a:noFill/>
        </p:spPr>
        <p:txBody>
          <a:bodyPr wrap="square" lIns="45720" rIns="45720" tIns="27432" bIns="27432" anchor="t">
            <a:noAutofit/>
          </a:bodyPr>
          <a:lstStyle/>
          <a:p>
            <a:pPr algn="l">
              <a:lnSpc>
                <a:spcPct val="100000"/>
              </a:lnSpc>
            </a:pPr>
            <a:r>
              <a:rPr sz="1600" b="0" i="0">
                <a:solidFill>
                  <a:srgbClr val="F7F2E8"/>
                </a:solidFill>
                <a:latin typeface="Segoe UI Semibold"/>
              </a:rPr>
              <a:t>El Bestiario</a:t>
            </a:r>
          </a:p>
        </p:txBody>
      </p:sp>
      <p:sp>
        <p:nvSpPr>
          <p:cNvPr id="19" name="TextBox 18"/>
          <p:cNvSpPr txBox="1"/>
          <p:nvPr/>
        </p:nvSpPr>
        <p:spPr>
          <a:xfrm>
            <a:off x="1389888" y="4937760"/>
            <a:ext cx="4477359" cy="402336"/>
          </a:xfrm>
          <a:prstGeom prst="rect">
            <a:avLst/>
          </a:prstGeom>
          <a:noFill/>
        </p:spPr>
        <p:txBody>
          <a:bodyPr wrap="square" lIns="45720" rIns="45720" tIns="27432" bIns="27432" anchor="t">
            <a:noAutofit/>
          </a:bodyPr>
          <a:lstStyle/>
          <a:p>
            <a:pPr algn="l">
              <a:lnSpc>
                <a:spcPct val="100000"/>
              </a:lnSpc>
            </a:pPr>
            <a:r>
              <a:rPr sz="1100" b="0" i="0">
                <a:solidFill>
                  <a:srgbClr val="A7B2B0"/>
                </a:solidFill>
                <a:latin typeface="Segoe UI"/>
              </a:rPr>
              <a:t>86 tipos de agent en doce familias. Cada uno es un programa en Python simple que puedes leer, auditar y cambiar.</a:t>
            </a:r>
          </a:p>
        </p:txBody>
      </p:sp>
      <p:sp>
        <p:nvSpPr>
          <p:cNvPr id="20" name="TextBox 19"/>
          <p:cNvSpPr txBox="1"/>
          <p:nvPr/>
        </p:nvSpPr>
        <p:spPr>
          <a:xfrm>
            <a:off x="566928" y="5376672"/>
            <a:ext cx="731520" cy="768096"/>
          </a:xfrm>
          <a:prstGeom prst="rect">
            <a:avLst/>
          </a:prstGeom>
          <a:noFill/>
        </p:spPr>
        <p:txBody>
          <a:bodyPr wrap="square" lIns="45720" rIns="45720" tIns="27432" bIns="27432" anchor="ctr">
            <a:noAutofit/>
          </a:bodyPr>
          <a:lstStyle/>
          <a:p>
            <a:pPr algn="ctr">
              <a:lnSpc>
                <a:spcPct val="100000"/>
              </a:lnSpc>
            </a:pPr>
            <a:r>
              <a:rPr sz="2600" b="0" i="0">
                <a:solidFill>
                  <a:srgbClr val="46D2E2"/>
                </a:solidFill>
                <a:latin typeface="Palatino Linotype"/>
              </a:rPr>
              <a:t>V</a:t>
            </a:r>
          </a:p>
        </p:txBody>
      </p:sp>
      <p:sp>
        <p:nvSpPr>
          <p:cNvPr id="21" name="TextBox 20"/>
          <p:cNvSpPr txBox="1"/>
          <p:nvPr/>
        </p:nvSpPr>
        <p:spPr>
          <a:xfrm>
            <a:off x="1389888" y="5394959"/>
            <a:ext cx="4477359" cy="365760"/>
          </a:xfrm>
          <a:prstGeom prst="rect">
            <a:avLst/>
          </a:prstGeom>
          <a:noFill/>
        </p:spPr>
        <p:txBody>
          <a:bodyPr wrap="square" lIns="45720" rIns="45720" tIns="27432" bIns="27432" anchor="t">
            <a:noAutofit/>
          </a:bodyPr>
          <a:lstStyle/>
          <a:p>
            <a:pPr algn="l">
              <a:lnSpc>
                <a:spcPct val="100000"/>
              </a:lnSpc>
            </a:pPr>
            <a:r>
              <a:rPr sz="1600" b="0" i="0">
                <a:solidFill>
                  <a:srgbClr val="F7F2E8"/>
                </a:solidFill>
                <a:latin typeface="Segoe UI Semibold"/>
              </a:rPr>
              <a:t>Capacidades profundas</a:t>
            </a:r>
          </a:p>
        </p:txBody>
      </p:sp>
      <p:sp>
        <p:nvSpPr>
          <p:cNvPr id="22" name="TextBox 21"/>
          <p:cNvSpPr txBox="1"/>
          <p:nvPr/>
        </p:nvSpPr>
        <p:spPr>
          <a:xfrm>
            <a:off x="1389888" y="5760720"/>
            <a:ext cx="4477359" cy="402336"/>
          </a:xfrm>
          <a:prstGeom prst="rect">
            <a:avLst/>
          </a:prstGeom>
          <a:noFill/>
        </p:spPr>
        <p:txBody>
          <a:bodyPr wrap="square" lIns="45720" rIns="45720" tIns="27432" bIns="27432" anchor="t">
            <a:noAutofit/>
          </a:bodyPr>
          <a:lstStyle/>
          <a:p>
            <a:pPr algn="l">
              <a:lnSpc>
                <a:spcPct val="100000"/>
              </a:lnSpc>
            </a:pPr>
            <a:r>
              <a:rPr sz="1100" b="0" i="0">
                <a:solidFill>
                  <a:srgbClr val="A7B2B0"/>
                </a:solidFill>
                <a:latin typeface="Segoe UI"/>
              </a:rPr>
              <a:t>Los subsistemas que le dan alcance: otros agents, otros servidores, documentos, tarjetas, motores y sentidos.</a:t>
            </a:r>
          </a:p>
        </p:txBody>
      </p:sp>
      <p:sp>
        <p:nvSpPr>
          <p:cNvPr id="23" name="TextBox 22"/>
          <p:cNvSpPr txBox="1"/>
          <p:nvPr/>
        </p:nvSpPr>
        <p:spPr>
          <a:xfrm>
            <a:off x="6278727" y="2084831"/>
            <a:ext cx="731520" cy="768096"/>
          </a:xfrm>
          <a:prstGeom prst="rect">
            <a:avLst/>
          </a:prstGeom>
          <a:noFill/>
        </p:spPr>
        <p:txBody>
          <a:bodyPr wrap="square" lIns="45720" rIns="45720" tIns="27432" bIns="27432" anchor="ctr">
            <a:noAutofit/>
          </a:bodyPr>
          <a:lstStyle/>
          <a:p>
            <a:pPr algn="ctr">
              <a:lnSpc>
                <a:spcPct val="100000"/>
              </a:lnSpc>
            </a:pPr>
            <a:r>
              <a:rPr sz="2600" b="0" i="0">
                <a:solidFill>
                  <a:srgbClr val="D9576B"/>
                </a:solidFill>
                <a:latin typeface="Palatino Linotype"/>
              </a:rPr>
              <a:t>VI</a:t>
            </a:r>
          </a:p>
        </p:txBody>
      </p:sp>
      <p:sp>
        <p:nvSpPr>
          <p:cNvPr id="24" name="TextBox 23"/>
          <p:cNvSpPr txBox="1"/>
          <p:nvPr/>
        </p:nvSpPr>
        <p:spPr>
          <a:xfrm>
            <a:off x="7101687" y="2103120"/>
            <a:ext cx="4477359" cy="365760"/>
          </a:xfrm>
          <a:prstGeom prst="rect">
            <a:avLst/>
          </a:prstGeom>
          <a:noFill/>
        </p:spPr>
        <p:txBody>
          <a:bodyPr wrap="square" lIns="45720" rIns="45720" tIns="27432" bIns="27432" anchor="t">
            <a:noAutofit/>
          </a:bodyPr>
          <a:lstStyle/>
          <a:p>
            <a:pPr algn="l">
              <a:lnSpc>
                <a:spcPct val="100000"/>
              </a:lnSpc>
            </a:pPr>
            <a:r>
              <a:rPr sz="1600" b="0" i="0">
                <a:solidFill>
                  <a:srgbClr val="F7F2E8"/>
                </a:solidFill>
                <a:latin typeface="Segoe UI Semibold"/>
              </a:rPr>
              <a:t>Las promesas que cumple</a:t>
            </a:r>
          </a:p>
        </p:txBody>
      </p:sp>
      <p:sp>
        <p:nvSpPr>
          <p:cNvPr id="25" name="TextBox 24"/>
          <p:cNvSpPr txBox="1"/>
          <p:nvPr/>
        </p:nvSpPr>
        <p:spPr>
          <a:xfrm>
            <a:off x="7101687" y="2468879"/>
            <a:ext cx="4477359" cy="402336"/>
          </a:xfrm>
          <a:prstGeom prst="rect">
            <a:avLst/>
          </a:prstGeom>
          <a:noFill/>
        </p:spPr>
        <p:txBody>
          <a:bodyPr wrap="square" lIns="45720" rIns="45720" tIns="27432" bIns="27432" anchor="t">
            <a:noAutofit/>
          </a:bodyPr>
          <a:lstStyle/>
          <a:p>
            <a:pPr algn="l">
              <a:lnSpc>
                <a:spcPct val="100000"/>
              </a:lnSpc>
            </a:pPr>
            <a:r>
              <a:rPr sz="1100" b="0" i="0">
                <a:solidFill>
                  <a:srgbClr val="A7B2B0"/>
                </a:solidFill>
                <a:latin typeface="Segoe UI"/>
              </a:rPr>
              <a:t>Honestidad, consentimiento, seguridad y control, escritos en el código y no en un folleto.</a:t>
            </a:r>
          </a:p>
        </p:txBody>
      </p:sp>
      <p:sp>
        <p:nvSpPr>
          <p:cNvPr id="26" name="TextBox 25"/>
          <p:cNvSpPr txBox="1"/>
          <p:nvPr/>
        </p:nvSpPr>
        <p:spPr>
          <a:xfrm>
            <a:off x="6278727" y="2907791"/>
            <a:ext cx="731520" cy="768096"/>
          </a:xfrm>
          <a:prstGeom prst="rect">
            <a:avLst/>
          </a:prstGeom>
          <a:noFill/>
        </p:spPr>
        <p:txBody>
          <a:bodyPr wrap="square" lIns="45720" rIns="45720" tIns="27432" bIns="27432" anchor="ctr">
            <a:noAutofit/>
          </a:bodyPr>
          <a:lstStyle/>
          <a:p>
            <a:pPr algn="ctr">
              <a:lnSpc>
                <a:spcPct val="100000"/>
              </a:lnSpc>
            </a:pPr>
            <a:r>
              <a:rPr sz="2600" b="0" i="0">
                <a:solidFill>
                  <a:srgbClr val="3BBE93"/>
                </a:solidFill>
                <a:latin typeface="Palatino Linotype"/>
              </a:rPr>
              <a:t>VII</a:t>
            </a:r>
          </a:p>
        </p:txBody>
      </p:sp>
      <p:sp>
        <p:nvSpPr>
          <p:cNvPr id="27" name="TextBox 26"/>
          <p:cNvSpPr txBox="1"/>
          <p:nvPr/>
        </p:nvSpPr>
        <p:spPr>
          <a:xfrm>
            <a:off x="7101687" y="2926079"/>
            <a:ext cx="4477359" cy="365760"/>
          </a:xfrm>
          <a:prstGeom prst="rect">
            <a:avLst/>
          </a:prstGeom>
          <a:noFill/>
        </p:spPr>
        <p:txBody>
          <a:bodyPr wrap="square" lIns="45720" rIns="45720" tIns="27432" bIns="27432" anchor="t">
            <a:noAutofit/>
          </a:bodyPr>
          <a:lstStyle/>
          <a:p>
            <a:pPr algn="l">
              <a:lnSpc>
                <a:spcPct val="100000"/>
              </a:lnSpc>
            </a:pPr>
            <a:r>
              <a:rPr sz="1600" b="0" i="0">
                <a:solidFill>
                  <a:srgbClr val="F7F2E8"/>
                </a:solidFill>
                <a:latin typeface="Segoe UI Semibold"/>
              </a:rPr>
              <a:t>Instalar, configurar, ejecutar</a:t>
            </a:r>
          </a:p>
        </p:txBody>
      </p:sp>
      <p:sp>
        <p:nvSpPr>
          <p:cNvPr id="28" name="TextBox 27"/>
          <p:cNvSpPr txBox="1"/>
          <p:nvPr/>
        </p:nvSpPr>
        <p:spPr>
          <a:xfrm>
            <a:off x="7101687" y="3291839"/>
            <a:ext cx="4477359" cy="402336"/>
          </a:xfrm>
          <a:prstGeom prst="rect">
            <a:avLst/>
          </a:prstGeom>
          <a:noFill/>
        </p:spPr>
        <p:txBody>
          <a:bodyPr wrap="square" lIns="45720" rIns="45720" tIns="27432" bIns="27432" anchor="t">
            <a:noAutofit/>
          </a:bodyPr>
          <a:lstStyle/>
          <a:p>
            <a:pPr algn="l">
              <a:lnSpc>
                <a:spcPct val="100000"/>
              </a:lnSpc>
            </a:pPr>
            <a:r>
              <a:rPr sz="1100" b="0" i="0">
                <a:solidFill>
                  <a:srgbClr val="A7B2B0"/>
                </a:solidFill>
                <a:latin typeface="Segoe UI"/>
              </a:rPr>
              <a:t>De una máquina Windows recién instalada a una asistente funcionando, y del source a un release aprobado.</a:t>
            </a:r>
          </a:p>
        </p:txBody>
      </p:sp>
      <p:sp>
        <p:nvSpPr>
          <p:cNvPr id="29" name="TextBox 28"/>
          <p:cNvSpPr txBox="1"/>
          <p:nvPr/>
        </p:nvSpPr>
        <p:spPr>
          <a:xfrm>
            <a:off x="6278727" y="3730752"/>
            <a:ext cx="731520" cy="768096"/>
          </a:xfrm>
          <a:prstGeom prst="rect">
            <a:avLst/>
          </a:prstGeom>
          <a:noFill/>
        </p:spPr>
        <p:txBody>
          <a:bodyPr wrap="square" lIns="45720" rIns="45720" tIns="27432" bIns="27432" anchor="ctr">
            <a:noAutofit/>
          </a:bodyPr>
          <a:lstStyle/>
          <a:p>
            <a:pPr algn="ctr">
              <a:lnSpc>
                <a:spcPct val="100000"/>
              </a:lnSpc>
            </a:pPr>
            <a:r>
              <a:rPr sz="2600" b="0" i="0">
                <a:solidFill>
                  <a:srgbClr val="E2B462"/>
                </a:solidFill>
                <a:latin typeface="Palatino Linotype"/>
              </a:rPr>
              <a:t>VIII</a:t>
            </a:r>
          </a:p>
        </p:txBody>
      </p:sp>
      <p:sp>
        <p:nvSpPr>
          <p:cNvPr id="30" name="TextBox 29"/>
          <p:cNvSpPr txBox="1"/>
          <p:nvPr/>
        </p:nvSpPr>
        <p:spPr>
          <a:xfrm>
            <a:off x="7101687" y="3749039"/>
            <a:ext cx="4477359" cy="365760"/>
          </a:xfrm>
          <a:prstGeom prst="rect">
            <a:avLst/>
          </a:prstGeom>
          <a:noFill/>
        </p:spPr>
        <p:txBody>
          <a:bodyPr wrap="square" lIns="45720" rIns="45720" tIns="27432" bIns="27432" anchor="t">
            <a:noAutofit/>
          </a:bodyPr>
          <a:lstStyle/>
          <a:p>
            <a:pPr algn="l">
              <a:lnSpc>
                <a:spcPct val="100000"/>
              </a:lnSpc>
            </a:pPr>
            <a:r>
              <a:rPr sz="1600" b="0" i="0">
                <a:solidFill>
                  <a:srgbClr val="F7F2E8"/>
                </a:solidFill>
                <a:latin typeface="Segoe UI Semibold"/>
              </a:rPr>
              <a:t>Release actual</a:t>
            </a:r>
          </a:p>
        </p:txBody>
      </p:sp>
      <p:sp>
        <p:nvSpPr>
          <p:cNvPr id="31" name="TextBox 30"/>
          <p:cNvSpPr txBox="1"/>
          <p:nvPr/>
        </p:nvSpPr>
        <p:spPr>
          <a:xfrm>
            <a:off x="7101687" y="4114800"/>
            <a:ext cx="4477359" cy="402336"/>
          </a:xfrm>
          <a:prstGeom prst="rect">
            <a:avLst/>
          </a:prstGeom>
          <a:noFill/>
        </p:spPr>
        <p:txBody>
          <a:bodyPr wrap="square" lIns="45720" rIns="45720" tIns="27432" bIns="27432" anchor="t">
            <a:noAutofit/>
          </a:bodyPr>
          <a:lstStyle/>
          <a:p>
            <a:pPr algn="l">
              <a:lnSpc>
                <a:spcPct val="100000"/>
              </a:lnSpc>
            </a:pPr>
            <a:r>
              <a:rPr sz="1100" b="0" i="0">
                <a:solidFill>
                  <a:srgbClr val="A7B2B0"/>
                </a:solidFill>
                <a:latin typeface="Segoe UI"/>
              </a:rPr>
              <a:t>Release del source v1.91.1; la entrega del paquete y la aceptación en runtime necesitan evidencia aparte.</a:t>
            </a:r>
          </a:p>
        </p:txBody>
      </p:sp>
      <p:sp>
        <p:nvSpPr>
          <p:cNvPr id="32" name="TextBox 31"/>
          <p:cNvSpPr txBox="1"/>
          <p:nvPr/>
        </p:nvSpPr>
        <p:spPr>
          <a:xfrm>
            <a:off x="6278727" y="4553712"/>
            <a:ext cx="731520" cy="768096"/>
          </a:xfrm>
          <a:prstGeom prst="rect">
            <a:avLst/>
          </a:prstGeom>
          <a:noFill/>
        </p:spPr>
        <p:txBody>
          <a:bodyPr wrap="square" lIns="45720" rIns="45720" tIns="27432" bIns="27432" anchor="ctr">
            <a:noAutofit/>
          </a:bodyPr>
          <a:lstStyle/>
          <a:p>
            <a:pPr algn="ctr">
              <a:lnSpc>
                <a:spcPct val="100000"/>
              </a:lnSpc>
            </a:pPr>
            <a:r>
              <a:rPr sz="2600" b="0" i="0">
                <a:solidFill>
                  <a:srgbClr val="C98457"/>
                </a:solidFill>
                <a:latin typeface="Palatino Linotype"/>
              </a:rPr>
              <a:t>IX</a:t>
            </a:r>
          </a:p>
        </p:txBody>
      </p:sp>
      <p:sp>
        <p:nvSpPr>
          <p:cNvPr id="33" name="TextBox 32"/>
          <p:cNvSpPr txBox="1"/>
          <p:nvPr/>
        </p:nvSpPr>
        <p:spPr>
          <a:xfrm>
            <a:off x="7101687" y="4572000"/>
            <a:ext cx="4477359" cy="365760"/>
          </a:xfrm>
          <a:prstGeom prst="rect">
            <a:avLst/>
          </a:prstGeom>
          <a:noFill/>
        </p:spPr>
        <p:txBody>
          <a:bodyPr wrap="square" lIns="45720" rIns="45720" tIns="27432" bIns="27432" anchor="t">
            <a:noAutofit/>
          </a:bodyPr>
          <a:lstStyle/>
          <a:p>
            <a:pPr algn="l">
              <a:lnSpc>
                <a:spcPct val="100000"/>
              </a:lnSpc>
            </a:pPr>
            <a:r>
              <a:rPr sz="1600" b="0" i="0">
                <a:solidFill>
                  <a:srgbClr val="F7F2E8"/>
                </a:solidFill>
                <a:latin typeface="Segoe UI Semibold"/>
              </a:rPr>
              <a:t>Datos del repositorio</a:t>
            </a:r>
          </a:p>
        </p:txBody>
      </p:sp>
      <p:sp>
        <p:nvSpPr>
          <p:cNvPr id="34" name="TextBox 33"/>
          <p:cNvSpPr txBox="1"/>
          <p:nvPr/>
        </p:nvSpPr>
        <p:spPr>
          <a:xfrm>
            <a:off x="7101687" y="4937760"/>
            <a:ext cx="4477359" cy="402336"/>
          </a:xfrm>
          <a:prstGeom prst="rect">
            <a:avLst/>
          </a:prstGeom>
          <a:noFill/>
        </p:spPr>
        <p:txBody>
          <a:bodyPr wrap="square" lIns="45720" rIns="45720" tIns="27432" bIns="27432" anchor="t">
            <a:noAutofit/>
          </a:bodyPr>
          <a:lstStyle/>
          <a:p>
            <a:pPr algn="l">
              <a:lnSpc>
                <a:spcPct val="100000"/>
              </a:lnSpc>
            </a:pPr>
            <a:r>
              <a:rPr sz="1100" b="0" i="0">
                <a:solidFill>
                  <a:srgbClr val="A7B2B0"/>
                </a:solidFill>
                <a:latin typeface="Segoe UI"/>
              </a:rPr>
              <a:t>El árbol del source medido: archivos, lenguajes, líneas efectivas, los archivos más grandes y la historia reciente.</a:t>
            </a:r>
          </a:p>
        </p:txBody>
      </p:sp>
      <p:sp>
        <p:nvSpPr>
          <p:cNvPr id="35" name="TextBox 34"/>
          <p:cNvSpPr txBox="1"/>
          <p:nvPr/>
        </p:nvSpPr>
        <p:spPr>
          <a:xfrm>
            <a:off x="6278727" y="5376672"/>
            <a:ext cx="731520" cy="768096"/>
          </a:xfrm>
          <a:prstGeom prst="rect">
            <a:avLst/>
          </a:prstGeom>
          <a:noFill/>
        </p:spPr>
        <p:txBody>
          <a:bodyPr wrap="square" lIns="45720" rIns="45720" tIns="27432" bIns="27432" anchor="ctr">
            <a:noAutofit/>
          </a:bodyPr>
          <a:lstStyle/>
          <a:p>
            <a:pPr algn="ctr">
              <a:lnSpc>
                <a:spcPct val="100000"/>
              </a:lnSpc>
            </a:pPr>
            <a:r>
              <a:rPr sz="2600" b="0" i="0">
                <a:solidFill>
                  <a:srgbClr val="E2B462"/>
                </a:solidFill>
                <a:latin typeface="Palatino Linotype"/>
              </a:rPr>
              <a:t>A</a:t>
            </a:r>
          </a:p>
        </p:txBody>
      </p:sp>
      <p:sp>
        <p:nvSpPr>
          <p:cNvPr id="36" name="TextBox 35"/>
          <p:cNvSpPr txBox="1"/>
          <p:nvPr/>
        </p:nvSpPr>
        <p:spPr>
          <a:xfrm>
            <a:off x="7101687" y="5394959"/>
            <a:ext cx="4477359" cy="365760"/>
          </a:xfrm>
          <a:prstGeom prst="rect">
            <a:avLst/>
          </a:prstGeom>
          <a:noFill/>
        </p:spPr>
        <p:txBody>
          <a:bodyPr wrap="square" lIns="45720" rIns="45720" tIns="27432" bIns="27432" anchor="t">
            <a:noAutofit/>
          </a:bodyPr>
          <a:lstStyle/>
          <a:p>
            <a:pPr algn="l">
              <a:lnSpc>
                <a:spcPct val="100000"/>
              </a:lnSpc>
            </a:pPr>
            <a:r>
              <a:rPr sz="1600" b="0" i="0">
                <a:solidFill>
                  <a:srgbClr val="F7F2E8"/>
                </a:solidFill>
                <a:latin typeface="Segoe UI Semibold"/>
              </a:rPr>
              <a:t>El árbol de archivos de la aplicación</a:t>
            </a:r>
          </a:p>
        </p:txBody>
      </p:sp>
      <p:sp>
        <p:nvSpPr>
          <p:cNvPr id="37" name="TextBox 36"/>
          <p:cNvSpPr txBox="1"/>
          <p:nvPr/>
        </p:nvSpPr>
        <p:spPr>
          <a:xfrm>
            <a:off x="7101687" y="5760720"/>
            <a:ext cx="4477359" cy="402336"/>
          </a:xfrm>
          <a:prstGeom prst="rect">
            <a:avLst/>
          </a:prstGeom>
          <a:noFill/>
        </p:spPr>
        <p:txBody>
          <a:bodyPr wrap="square" lIns="45720" rIns="45720" tIns="27432" bIns="27432" anchor="t">
            <a:noAutofit/>
          </a:bodyPr>
          <a:lstStyle/>
          <a:p>
            <a:pPr algn="l">
              <a:lnSpc>
                <a:spcPct val="100000"/>
              </a:lnSpc>
            </a:pPr>
            <a:r>
              <a:rPr sz="1100" b="0" i="0">
                <a:solidFill>
                  <a:srgbClr val="A7B2B0"/>
                </a:solidFill>
                <a:latin typeface="Segoe UI"/>
              </a:rPr>
              <a:t>Archivos de la aplicación; la historia de la base de datos se resume.</a:t>
            </a:r>
          </a:p>
        </p:txBody>
      </p:sp>
      <p:cxnSp>
        <p:nvCxnSpPr>
          <p:cNvPr id="38" name="Connector 37"/>
          <p:cNvCxnSpPr/>
          <p:nvPr/>
        </p:nvCxnSpPr>
        <p:spPr>
          <a:xfrm>
            <a:off x="566928" y="6373368"/>
            <a:ext cx="11057839" cy="0"/>
          </a:xfrm>
          <a:prstGeom prst="line">
            <a:avLst/>
          </a:prstGeom>
          <a:ln w="7620">
            <a:solidFill>
              <a:srgbClr val="2A3A40"/>
            </a:solidFill>
          </a:ln>
        </p:spPr>
        <p:style>
          <a:lnRef idx="2">
            <a:schemeClr val="accent1"/>
          </a:lnRef>
          <a:fillRef idx="0">
            <a:schemeClr val="accent1"/>
          </a:fillRef>
          <a:effectRef idx="1">
            <a:schemeClr val="accent1"/>
          </a:effectRef>
          <a:fontRef idx="minor">
            <a:schemeClr val="tx1"/>
          </a:fontRef>
        </p:style>
      </p:cxnSp>
      <p:sp>
        <p:nvSpPr>
          <p:cNvPr id="39" name="TextBox 38"/>
          <p:cNvSpPr txBox="1"/>
          <p:nvPr/>
        </p:nvSpPr>
        <p:spPr>
          <a:xfrm>
            <a:off x="566928" y="6419088"/>
            <a:ext cx="6858000" cy="274320"/>
          </a:xfrm>
          <a:prstGeom prst="rect">
            <a:avLst/>
          </a:prstGeom>
          <a:noFill/>
        </p:spPr>
        <p:txBody>
          <a:bodyPr wrap="square" lIns="45720" rIns="45720" tIns="27432" bIns="27432" anchor="t">
            <a:noAutofit/>
          </a:bodyPr>
          <a:lstStyle/>
          <a:p>
            <a:pPr algn="l">
              <a:lnSpc>
                <a:spcPct val="100000"/>
              </a:lnSpc>
            </a:pPr>
            <a:r>
              <a:rPr sz="850" b="0" i="0" spc="120">
                <a:solidFill>
                  <a:srgbClr val="A7B2B0"/>
                </a:solidFill>
                <a:latin typeface="Segoe UI Semibold"/>
              </a:rPr>
              <a:t>TLAMATINI  ·  CONTENIDO</a:t>
            </a:r>
          </a:p>
        </p:txBody>
      </p:sp>
      <p:sp>
        <p:nvSpPr>
          <p:cNvPr id="40" name="TextBox 39"/>
          <p:cNvSpPr txBox="1"/>
          <p:nvPr/>
        </p:nvSpPr>
        <p:spPr>
          <a:xfrm>
            <a:off x="8698687" y="6419088"/>
            <a:ext cx="2926080" cy="274320"/>
          </a:xfrm>
          <a:prstGeom prst="rect">
            <a:avLst/>
          </a:prstGeom>
          <a:noFill/>
        </p:spPr>
        <p:txBody>
          <a:bodyPr wrap="square" lIns="45720" rIns="45720" tIns="27432" bIns="27432" anchor="t">
            <a:noAutofit/>
          </a:bodyPr>
          <a:lstStyle/>
          <a:p>
            <a:pPr algn="r">
              <a:lnSpc>
                <a:spcPct val="100000"/>
              </a:lnSpc>
            </a:pPr>
            <a:r>
              <a:rPr sz="850" b="0" i="0" spc="100">
                <a:solidFill>
                  <a:srgbClr val="A7B2B0"/>
                </a:solidFill>
                <a:latin typeface="Segoe UI Semibold"/>
              </a:rPr>
              <a:t>v1.91.1   ·   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divider.png"/>
          <p:cNvPicPr>
            <a:picLocks noChangeAspect="1"/>
          </p:cNvPicPr>
          <p:nvPr/>
        </p:nvPicPr>
        <p:blipFill>
          <a:blip r:embed="rId2"/>
          <a:stretch>
            <a:fillRect/>
          </a:stretch>
        </p:blipFill>
        <p:spPr>
          <a:xfrm>
            <a:off x="0" y="0"/>
            <a:ext cx="12191695" cy="6858000"/>
          </a:xfrm>
          <a:prstGeom prst="rect">
            <a:avLst/>
          </a:prstGeom>
        </p:spPr>
      </p:pic>
      <p:sp>
        <p:nvSpPr>
          <p:cNvPr id="3" name="TextBox 2"/>
          <p:cNvSpPr txBox="1"/>
          <p:nvPr/>
        </p:nvSpPr>
        <p:spPr>
          <a:xfrm>
            <a:off x="822960" y="868680"/>
            <a:ext cx="4572000" cy="365760"/>
          </a:xfrm>
          <a:prstGeom prst="rect">
            <a:avLst/>
          </a:prstGeom>
          <a:noFill/>
        </p:spPr>
        <p:txBody>
          <a:bodyPr wrap="square" lIns="45720" rIns="45720" tIns="27432" bIns="27432" anchor="t">
            <a:noAutofit/>
          </a:bodyPr>
          <a:lstStyle/>
          <a:p>
            <a:pPr algn="l">
              <a:lnSpc>
                <a:spcPct val="100000"/>
              </a:lnSpc>
            </a:pPr>
            <a:r>
              <a:rPr sz="1300" b="0" i="0" spc="340">
                <a:solidFill>
                  <a:srgbClr val="3BBE93"/>
                </a:solidFill>
                <a:latin typeface="Segoe UI Semibold"/>
              </a:rPr>
              <a:t>CHAPTER</a:t>
            </a:r>
          </a:p>
        </p:txBody>
      </p:sp>
      <p:sp>
        <p:nvSpPr>
          <p:cNvPr id="4" name="TextBox 3"/>
          <p:cNvSpPr txBox="1"/>
          <p:nvPr/>
        </p:nvSpPr>
        <p:spPr>
          <a:xfrm>
            <a:off x="749808" y="1261872"/>
            <a:ext cx="5029200" cy="1691640"/>
          </a:xfrm>
          <a:prstGeom prst="rect">
            <a:avLst/>
          </a:prstGeom>
          <a:noFill/>
        </p:spPr>
        <p:txBody>
          <a:bodyPr wrap="square" lIns="45720" rIns="45720" tIns="27432" bIns="27432" anchor="t">
            <a:noAutofit/>
          </a:bodyPr>
          <a:lstStyle/>
          <a:p>
            <a:pPr algn="l">
              <a:lnSpc>
                <a:spcPct val="100000"/>
              </a:lnSpc>
            </a:pPr>
            <a:r>
              <a:rPr sz="10550" b="0" i="0">
                <a:solidFill>
                  <a:srgbClr val="C98457"/>
                </a:solidFill>
                <a:latin typeface="Palatino Linotype"/>
              </a:rPr>
              <a:t>I</a:t>
            </a:r>
          </a:p>
        </p:txBody>
      </p:sp>
      <p:sp>
        <p:nvSpPr>
          <p:cNvPr id="5" name="TextBox 4"/>
          <p:cNvSpPr txBox="1"/>
          <p:nvPr/>
        </p:nvSpPr>
        <p:spPr>
          <a:xfrm>
            <a:off x="822960" y="2971800"/>
            <a:ext cx="6766560" cy="1280160"/>
          </a:xfrm>
          <a:prstGeom prst="rect">
            <a:avLst/>
          </a:prstGeom>
          <a:noFill/>
        </p:spPr>
        <p:txBody>
          <a:bodyPr wrap="square" lIns="45720" rIns="45720" tIns="27432" bIns="27432" anchor="t">
            <a:noAutofit/>
          </a:bodyPr>
          <a:lstStyle/>
          <a:p>
            <a:pPr algn="l">
              <a:lnSpc>
                <a:spcPct val="100000"/>
              </a:lnSpc>
            </a:pPr>
            <a:r>
              <a:rPr sz="4600" b="0" i="0">
                <a:solidFill>
                  <a:srgbClr val="F7F2E8"/>
                </a:solidFill>
                <a:latin typeface="Palatino Linotype"/>
              </a:rPr>
              <a:t>Quién es ella</a:t>
            </a:r>
          </a:p>
        </p:txBody>
      </p:sp>
      <p:sp>
        <p:nvSpPr>
          <p:cNvPr id="6" name="Rectangle 5"/>
          <p:cNvSpPr/>
          <p:nvPr/>
        </p:nvSpPr>
        <p:spPr>
          <a:xfrm>
            <a:off x="841248" y="4315968"/>
            <a:ext cx="1005840" cy="45720"/>
          </a:xfrm>
          <a:prstGeom prst="rect">
            <a:avLst/>
          </a:prstGeom>
          <a:solidFill>
            <a:srgbClr val="3BBE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822960" y="4443984"/>
            <a:ext cx="6400800" cy="731520"/>
          </a:xfrm>
          <a:prstGeom prst="rect">
            <a:avLst/>
          </a:prstGeom>
          <a:noFill/>
        </p:spPr>
        <p:txBody>
          <a:bodyPr wrap="square" lIns="45720" rIns="45720" tIns="27432" bIns="27432" anchor="t">
            <a:noAutofit/>
          </a:bodyPr>
          <a:lstStyle/>
          <a:p>
            <a:pPr algn="l">
              <a:lnSpc>
                <a:spcPct val="100000"/>
              </a:lnSpc>
            </a:pPr>
            <a:r>
              <a:rPr sz="1800" b="0" i="0">
                <a:solidFill>
                  <a:srgbClr val="ECE7DC"/>
                </a:solidFill>
                <a:latin typeface="Segoe UI Light"/>
              </a:rPr>
              <a:t>Una asistente de desarrollo self-hosted que lee, razona, construye y actúa, y te deja diseñar el cómo.</a:t>
            </a:r>
          </a:p>
        </p:txBody>
      </p:sp>
      <p:sp>
        <p:nvSpPr>
          <p:cNvPr id="8" name="Diamond 7"/>
          <p:cNvSpPr/>
          <p:nvPr/>
        </p:nvSpPr>
        <p:spPr>
          <a:xfrm>
            <a:off x="822960" y="5340096"/>
            <a:ext cx="91440" cy="91440"/>
          </a:xfrm>
          <a:prstGeom prst="diamond">
            <a:avLst/>
          </a:prstGeom>
          <a:solidFill>
            <a:srgbClr val="3BBE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05840" y="5248656"/>
            <a:ext cx="3108960" cy="274320"/>
          </a:xfrm>
          <a:prstGeom prst="rect">
            <a:avLst/>
          </a:prstGeom>
          <a:noFill/>
        </p:spPr>
        <p:txBody>
          <a:bodyPr wrap="square" lIns="45720" rIns="45720" tIns="27432" bIns="27432" anchor="t">
            <a:noAutofit/>
          </a:bodyPr>
          <a:lstStyle/>
          <a:p>
            <a:pPr algn="l">
              <a:lnSpc>
                <a:spcPct val="100000"/>
              </a:lnSpc>
            </a:pPr>
            <a:r>
              <a:rPr sz="1200" b="0" i="0">
                <a:solidFill>
                  <a:srgbClr val="A7B2B0"/>
                </a:solidFill>
                <a:latin typeface="Segoe UI"/>
              </a:rPr>
              <a:t>Tlamatini, la que sabe</a:t>
            </a:r>
          </a:p>
        </p:txBody>
      </p:sp>
      <p:sp>
        <p:nvSpPr>
          <p:cNvPr id="10" name="Diamond 9"/>
          <p:cNvSpPr/>
          <p:nvPr/>
        </p:nvSpPr>
        <p:spPr>
          <a:xfrm>
            <a:off x="822960" y="5614416"/>
            <a:ext cx="91440" cy="91440"/>
          </a:xfrm>
          <a:prstGeom prst="diamond">
            <a:avLst/>
          </a:prstGeom>
          <a:solidFill>
            <a:srgbClr val="3BBE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1005840" y="5522976"/>
            <a:ext cx="3108960" cy="274320"/>
          </a:xfrm>
          <a:prstGeom prst="rect">
            <a:avLst/>
          </a:prstGeom>
          <a:noFill/>
        </p:spPr>
        <p:txBody>
          <a:bodyPr wrap="square" lIns="45720" rIns="45720" tIns="27432" bIns="27432" anchor="t">
            <a:noAutofit/>
          </a:bodyPr>
          <a:lstStyle/>
          <a:p>
            <a:pPr algn="l">
              <a:lnSpc>
                <a:spcPct val="100000"/>
              </a:lnSpc>
            </a:pPr>
            <a:r>
              <a:rPr sz="1200" b="0" i="0">
                <a:solidFill>
                  <a:srgbClr val="A7B2B0"/>
                </a:solidFill>
                <a:latin typeface="Segoe UI"/>
              </a:rPr>
              <a:t>Control local, razonamiento en la nube</a:t>
            </a:r>
          </a:p>
        </p:txBody>
      </p:sp>
      <p:sp>
        <p:nvSpPr>
          <p:cNvPr id="12" name="Diamond 11"/>
          <p:cNvSpPr/>
          <p:nvPr/>
        </p:nvSpPr>
        <p:spPr>
          <a:xfrm>
            <a:off x="822960" y="5888736"/>
            <a:ext cx="91440" cy="91440"/>
          </a:xfrm>
          <a:prstGeom prst="diamond">
            <a:avLst/>
          </a:prstGeom>
          <a:solidFill>
            <a:srgbClr val="3BBE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1005840" y="5797296"/>
            <a:ext cx="3108960" cy="274320"/>
          </a:xfrm>
          <a:prstGeom prst="rect">
            <a:avLst/>
          </a:prstGeom>
          <a:noFill/>
        </p:spPr>
        <p:txBody>
          <a:bodyPr wrap="square" lIns="45720" rIns="45720" tIns="27432" bIns="27432" anchor="t">
            <a:noAutofit/>
          </a:bodyPr>
          <a:lstStyle/>
          <a:p>
            <a:pPr algn="l">
              <a:lnSpc>
                <a:spcPct val="100000"/>
              </a:lnSpc>
            </a:pPr>
            <a:r>
              <a:rPr sz="1200" b="0" i="0">
                <a:solidFill>
                  <a:srgbClr val="A7B2B0"/>
                </a:solidFill>
                <a:latin typeface="Segoe UI"/>
              </a:rPr>
              <a:t>Siete subsistemas, una asistente</a:t>
            </a:r>
          </a:p>
        </p:txBody>
      </p:sp>
      <p:sp>
        <p:nvSpPr>
          <p:cNvPr id="14" name="Diamond 13"/>
          <p:cNvSpPr/>
          <p:nvPr/>
        </p:nvSpPr>
        <p:spPr>
          <a:xfrm>
            <a:off x="4206240" y="5340096"/>
            <a:ext cx="91440" cy="91440"/>
          </a:xfrm>
          <a:prstGeom prst="diamond">
            <a:avLst/>
          </a:prstGeom>
          <a:solidFill>
            <a:srgbClr val="3BBE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4389120" y="5248656"/>
            <a:ext cx="3108960" cy="274320"/>
          </a:xfrm>
          <a:prstGeom prst="rect">
            <a:avLst/>
          </a:prstGeom>
          <a:noFill/>
        </p:spPr>
        <p:txBody>
          <a:bodyPr wrap="square" lIns="45720" rIns="45720" tIns="27432" bIns="27432" anchor="t">
            <a:noAutofit/>
          </a:bodyPr>
          <a:lstStyle/>
          <a:p>
            <a:pPr algn="l">
              <a:lnSpc>
                <a:spcPct val="100000"/>
              </a:lnSpc>
            </a:pPr>
            <a:r>
              <a:rPr sz="1200" b="0" i="0">
                <a:solidFill>
                  <a:srgbClr val="A7B2B0"/>
                </a:solidFill>
                <a:latin typeface="Segoe UI"/>
              </a:rPr>
              <a:t>Las joyas</a:t>
            </a:r>
          </a:p>
        </p:txBody>
      </p:sp>
      <p:sp>
        <p:nvSpPr>
          <p:cNvPr id="16" name="Diamond 15"/>
          <p:cNvSpPr/>
          <p:nvPr/>
        </p:nvSpPr>
        <p:spPr>
          <a:xfrm>
            <a:off x="4206240" y="5614416"/>
            <a:ext cx="91440" cy="91440"/>
          </a:xfrm>
          <a:prstGeom prst="diamond">
            <a:avLst/>
          </a:prstGeom>
          <a:solidFill>
            <a:srgbClr val="3BBE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4389120" y="5522976"/>
            <a:ext cx="3108960" cy="274320"/>
          </a:xfrm>
          <a:prstGeom prst="rect">
            <a:avLst/>
          </a:prstGeom>
          <a:noFill/>
        </p:spPr>
        <p:txBody>
          <a:bodyPr wrap="square" lIns="45720" rIns="45720" tIns="27432" bIns="27432" anchor="t">
            <a:noAutofit/>
          </a:bodyPr>
          <a:lstStyle/>
          <a:p>
            <a:pPr algn="l">
              <a:lnSpc>
                <a:spcPct val="100000"/>
              </a:lnSpc>
            </a:pPr>
            <a:r>
              <a:rPr sz="1200" b="0" i="0">
                <a:solidFill>
                  <a:srgbClr val="A7B2B0"/>
                </a:solidFill>
                <a:latin typeface="Segoe UI"/>
              </a:rPr>
              <a:t>Los números, derivados de la fuente</a:t>
            </a:r>
          </a:p>
        </p:txBody>
      </p:sp>
      <p:cxnSp>
        <p:nvCxnSpPr>
          <p:cNvPr id="18" name="Connector 17"/>
          <p:cNvCxnSpPr/>
          <p:nvPr/>
        </p:nvCxnSpPr>
        <p:spPr>
          <a:xfrm>
            <a:off x="566928" y="6373368"/>
            <a:ext cx="11057839" cy="0"/>
          </a:xfrm>
          <a:prstGeom prst="line">
            <a:avLst/>
          </a:prstGeom>
          <a:ln w="7620">
            <a:solidFill>
              <a:srgbClr val="2A3A40"/>
            </a:solidFill>
          </a:ln>
        </p:spPr>
        <p:style>
          <a:lnRef idx="2">
            <a:schemeClr val="accent1"/>
          </a:lnRef>
          <a:fillRef idx="0">
            <a:schemeClr val="accent1"/>
          </a:fillRef>
          <a:effectRef idx="1">
            <a:schemeClr val="accent1"/>
          </a:effectRef>
          <a:fontRef idx="minor">
            <a:schemeClr val="tx1"/>
          </a:fontRef>
        </p:style>
      </p:cxnSp>
      <p:sp>
        <p:nvSpPr>
          <p:cNvPr id="19" name="TextBox 18"/>
          <p:cNvSpPr txBox="1"/>
          <p:nvPr/>
        </p:nvSpPr>
        <p:spPr>
          <a:xfrm>
            <a:off x="566928" y="6419088"/>
            <a:ext cx="6858000" cy="274320"/>
          </a:xfrm>
          <a:prstGeom prst="rect">
            <a:avLst/>
          </a:prstGeom>
          <a:noFill/>
        </p:spPr>
        <p:txBody>
          <a:bodyPr wrap="square" lIns="45720" rIns="45720" tIns="27432" bIns="27432" anchor="t">
            <a:noAutofit/>
          </a:bodyPr>
          <a:lstStyle/>
          <a:p>
            <a:pPr algn="l">
              <a:lnSpc>
                <a:spcPct val="100000"/>
              </a:lnSpc>
            </a:pPr>
            <a:r>
              <a:rPr sz="850" b="0" i="0" spc="120">
                <a:solidFill>
                  <a:srgbClr val="A7B2B0"/>
                </a:solidFill>
                <a:latin typeface="Segoe UI Semibold"/>
              </a:rPr>
              <a:t>TLAMATINI  ·  CAPÍTULO I</a:t>
            </a:r>
          </a:p>
        </p:txBody>
      </p:sp>
      <p:sp>
        <p:nvSpPr>
          <p:cNvPr id="20" name="TextBox 19"/>
          <p:cNvSpPr txBox="1"/>
          <p:nvPr/>
        </p:nvSpPr>
        <p:spPr>
          <a:xfrm>
            <a:off x="8698687" y="6419088"/>
            <a:ext cx="2926080" cy="274320"/>
          </a:xfrm>
          <a:prstGeom prst="rect">
            <a:avLst/>
          </a:prstGeom>
          <a:noFill/>
        </p:spPr>
        <p:txBody>
          <a:bodyPr wrap="square" lIns="45720" rIns="45720" tIns="27432" bIns="27432" anchor="t">
            <a:noAutofit/>
          </a:bodyPr>
          <a:lstStyle/>
          <a:p>
            <a:pPr algn="r">
              <a:lnSpc>
                <a:spcPct val="100000"/>
              </a:lnSpc>
            </a:pPr>
            <a:r>
              <a:rPr sz="850" b="0" i="0" spc="100">
                <a:solidFill>
                  <a:srgbClr val="A7B2B0"/>
                </a:solidFill>
                <a:latin typeface="Segoe UI Semibold"/>
              </a:rPr>
              <a:t>v1.91.1   ·   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content.png"/>
          <p:cNvPicPr>
            <a:picLocks noChangeAspect="1"/>
          </p:cNvPicPr>
          <p:nvPr/>
        </p:nvPicPr>
        <p:blipFill>
          <a:blip r:embed="rId2"/>
          <a:stretch>
            <a:fillRect/>
          </a:stretch>
        </p:blipFill>
        <p:spPr>
          <a:xfrm>
            <a:off x="0" y="0"/>
            <a:ext cx="12191695" cy="6858000"/>
          </a:xfrm>
          <a:prstGeom prst="rect">
            <a:avLst/>
          </a:prstGeom>
        </p:spPr>
      </p:pic>
      <p:pic>
        <p:nvPicPr>
          <p:cNvPr id="3" name="Picture 2" descr="portrait_eo_mo_jade.png"/>
          <p:cNvPicPr>
            <a:picLocks noChangeAspect="1"/>
          </p:cNvPicPr>
          <p:nvPr/>
        </p:nvPicPr>
        <p:blipFill>
          <a:blip r:embed="rId4"/>
          <a:stretch>
            <a:fillRect/>
          </a:stretch>
        </p:blipFill>
        <p:spPr>
          <a:xfrm>
            <a:off x="640080" y="960120"/>
            <a:ext cx="3840480" cy="3840480"/>
          </a:xfrm>
          <a:prstGeom prst="rect">
            <a:avLst/>
          </a:prstGeom>
        </p:spPr>
      </p:pic>
      <p:sp>
        <p:nvSpPr>
          <p:cNvPr id="4" name="TextBox 3"/>
          <p:cNvSpPr txBox="1"/>
          <p:nvPr/>
        </p:nvSpPr>
        <p:spPr>
          <a:xfrm>
            <a:off x="640080" y="4892040"/>
            <a:ext cx="3840480" cy="457200"/>
          </a:xfrm>
          <a:prstGeom prst="rect">
            <a:avLst/>
          </a:prstGeom>
          <a:noFill/>
        </p:spPr>
        <p:txBody>
          <a:bodyPr wrap="square" lIns="45720" rIns="45720" tIns="27432" bIns="27432" anchor="t">
            <a:noAutofit/>
          </a:bodyPr>
          <a:lstStyle/>
          <a:p>
            <a:pPr algn="ctr">
              <a:lnSpc>
                <a:spcPct val="100000"/>
              </a:lnSpc>
            </a:pPr>
            <a:r>
              <a:rPr sz="2000" b="0" i="1">
                <a:solidFill>
                  <a:srgbClr val="3BBE93"/>
                </a:solidFill>
                <a:latin typeface="Palatino Linotype"/>
              </a:rPr>
              <a:t>“la que sabe”</a:t>
            </a:r>
          </a:p>
        </p:txBody>
      </p:sp>
      <p:sp>
        <p:nvSpPr>
          <p:cNvPr id="5" name="TextBox 4"/>
          <p:cNvSpPr txBox="1"/>
          <p:nvPr/>
        </p:nvSpPr>
        <p:spPr>
          <a:xfrm>
            <a:off x="640080" y="5376672"/>
            <a:ext cx="3840480" cy="329184"/>
          </a:xfrm>
          <a:prstGeom prst="rect">
            <a:avLst/>
          </a:prstGeom>
          <a:noFill/>
        </p:spPr>
        <p:txBody>
          <a:bodyPr wrap="square" lIns="45720" rIns="45720" tIns="27432" bIns="27432" anchor="t">
            <a:noAutofit/>
          </a:bodyPr>
          <a:lstStyle/>
          <a:p>
            <a:pPr algn="ctr">
              <a:lnSpc>
                <a:spcPct val="100000"/>
              </a:lnSpc>
            </a:pPr>
            <a:r>
              <a:rPr sz="1100" b="0" i="0" spc="300">
                <a:solidFill>
                  <a:srgbClr val="C98457"/>
                </a:solidFill>
                <a:latin typeface="Segoe UI Semibold"/>
              </a:rPr>
              <a:t>NAHUATL</a:t>
            </a:r>
          </a:p>
        </p:txBody>
      </p:sp>
      <p:sp>
        <p:nvSpPr>
          <p:cNvPr id="6" name="TextBox 5"/>
          <p:cNvSpPr txBox="1"/>
          <p:nvPr/>
        </p:nvSpPr>
        <p:spPr>
          <a:xfrm>
            <a:off x="4983480" y="438912"/>
            <a:ext cx="6583680" cy="274320"/>
          </a:xfrm>
          <a:prstGeom prst="rect">
            <a:avLst/>
          </a:prstGeom>
          <a:noFill/>
        </p:spPr>
        <p:txBody>
          <a:bodyPr wrap="square" lIns="45720" rIns="45720" tIns="27432" bIns="27432" anchor="t">
            <a:noAutofit/>
          </a:bodyPr>
          <a:lstStyle/>
          <a:p>
            <a:pPr algn="l">
              <a:lnSpc>
                <a:spcPct val="100000"/>
              </a:lnSpc>
            </a:pPr>
            <a:r>
              <a:rPr sz="1100" b="0" i="0" spc="240">
                <a:solidFill>
                  <a:srgbClr val="C98457"/>
                </a:solidFill>
                <a:latin typeface="Segoe UI Semibold"/>
              </a:rPr>
              <a:t>IDENTIDAD</a:t>
            </a:r>
          </a:p>
        </p:txBody>
      </p:sp>
      <p:sp>
        <p:nvSpPr>
          <p:cNvPr id="7" name="TextBox 6"/>
          <p:cNvSpPr txBox="1"/>
          <p:nvPr/>
        </p:nvSpPr>
        <p:spPr>
          <a:xfrm>
            <a:off x="4956048" y="713232"/>
            <a:ext cx="6675120" cy="731520"/>
          </a:xfrm>
          <a:prstGeom prst="rect">
            <a:avLst/>
          </a:prstGeom>
          <a:noFill/>
        </p:spPr>
        <p:txBody>
          <a:bodyPr wrap="square" lIns="45720" rIns="45720" tIns="27432" bIns="27432" anchor="t">
            <a:noAutofit/>
          </a:bodyPr>
          <a:lstStyle/>
          <a:p>
            <a:pPr algn="l">
              <a:lnSpc>
                <a:spcPct val="100000"/>
              </a:lnSpc>
            </a:pPr>
            <a:r>
              <a:rPr sz="3100" b="0" i="0">
                <a:solidFill>
                  <a:srgbClr val="F7F2E8"/>
                </a:solidFill>
                <a:latin typeface="Palatino Linotype"/>
              </a:rPr>
              <a:t>Tlamatini, la que sabe</a:t>
            </a:r>
          </a:p>
        </p:txBody>
      </p:sp>
      <p:sp>
        <p:nvSpPr>
          <p:cNvPr id="8" name="TextBox 7"/>
          <p:cNvSpPr txBox="1"/>
          <p:nvPr/>
        </p:nvSpPr>
        <p:spPr>
          <a:xfrm>
            <a:off x="4983480" y="1481328"/>
            <a:ext cx="6583680" cy="1261872"/>
          </a:xfrm>
          <a:prstGeom prst="rect">
            <a:avLst/>
          </a:prstGeom>
          <a:noFill/>
        </p:spPr>
        <p:txBody>
          <a:bodyPr wrap="square" lIns="45720" rIns="45720" tIns="27432" bIns="27432" anchor="t">
            <a:noAutofit/>
          </a:bodyPr>
          <a:lstStyle/>
          <a:p>
            <a:pPr algn="l">
              <a:lnSpc>
                <a:spcPct val="100000"/>
              </a:lnSpc>
            </a:pPr>
            <a:r>
              <a:rPr sz="1500" b="0" i="0">
                <a:solidFill>
                  <a:srgbClr val="ECE7DC"/>
                </a:solidFill>
                <a:latin typeface="Segoe UI Semilight"/>
              </a:rPr>
              <a:t>Tlamatini es una asistente de desarrollo con IA, self-hosted, para Windows 10 y 11: una aplicación de Django que conversa, recupera, planea, ejecuta agents y te deja dibujar workflows completos de agents en un canvas.</a:t>
            </a:r>
          </a:p>
        </p:txBody>
      </p:sp>
      <p:sp>
        <p:nvSpPr>
          <p:cNvPr id="9" name="Rounded Rectangle 8"/>
          <p:cNvSpPr/>
          <p:nvPr/>
        </p:nvSpPr>
        <p:spPr>
          <a:xfrm>
            <a:off x="4983480" y="2907792"/>
            <a:ext cx="6583680" cy="640080"/>
          </a:xfrm>
          <a:prstGeom prst="roundRect">
            <a:avLst>
              <a:gd name="adj" fmla="val 14285"/>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5184648" y="2962656"/>
            <a:ext cx="1554480" cy="530352"/>
          </a:xfrm>
          <a:prstGeom prst="rect">
            <a:avLst/>
          </a:prstGeom>
          <a:noFill/>
        </p:spPr>
        <p:txBody>
          <a:bodyPr wrap="square" lIns="45720" rIns="45720" tIns="27432" bIns="27432" anchor="ctr">
            <a:noAutofit/>
          </a:bodyPr>
          <a:lstStyle/>
          <a:p>
            <a:pPr algn="l">
              <a:lnSpc>
                <a:spcPct val="100000"/>
              </a:lnSpc>
            </a:pPr>
            <a:r>
              <a:rPr sz="1100" b="0" i="0" spc="160">
                <a:solidFill>
                  <a:srgbClr val="3BBE93"/>
                </a:solidFill>
                <a:latin typeface="Segoe UI Semibold"/>
              </a:rPr>
              <a:t>CREADORA</a:t>
            </a:r>
          </a:p>
        </p:txBody>
      </p:sp>
      <p:sp>
        <p:nvSpPr>
          <p:cNvPr id="11" name="TextBox 10"/>
          <p:cNvSpPr txBox="1"/>
          <p:nvPr/>
        </p:nvSpPr>
        <p:spPr>
          <a:xfrm>
            <a:off x="6812280" y="2962656"/>
            <a:ext cx="4617720" cy="530352"/>
          </a:xfrm>
          <a:prstGeom prst="rect">
            <a:avLst/>
          </a:prstGeom>
          <a:noFill/>
        </p:spPr>
        <p:txBody>
          <a:bodyPr wrap="square" lIns="45720" rIns="45720" tIns="27432" bIns="27432" anchor="ctr">
            <a:noAutofit/>
          </a:bodyPr>
          <a:lstStyle/>
          <a:p>
            <a:pPr algn="l">
              <a:lnSpc>
                <a:spcPct val="100000"/>
              </a:lnSpc>
            </a:pPr>
            <a:r>
              <a:rPr sz="1500" b="0" i="0">
                <a:solidFill>
                  <a:srgbClr val="F7F2E8"/>
                </a:solidFill>
                <a:latin typeface="Segoe UI"/>
              </a:rPr>
              <a:t>Angela López Mendoza · @angelahack1</a:t>
            </a:r>
          </a:p>
        </p:txBody>
      </p:sp>
      <p:sp>
        <p:nvSpPr>
          <p:cNvPr id="12" name="Rounded Rectangle 11"/>
          <p:cNvSpPr/>
          <p:nvPr/>
        </p:nvSpPr>
        <p:spPr>
          <a:xfrm>
            <a:off x="4983480" y="3675888"/>
            <a:ext cx="6583680" cy="640080"/>
          </a:xfrm>
          <a:prstGeom prst="roundRect">
            <a:avLst>
              <a:gd name="adj" fmla="val 14285"/>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5184648" y="3730752"/>
            <a:ext cx="1554480" cy="530352"/>
          </a:xfrm>
          <a:prstGeom prst="rect">
            <a:avLst/>
          </a:prstGeom>
          <a:noFill/>
        </p:spPr>
        <p:txBody>
          <a:bodyPr wrap="square" lIns="45720" rIns="45720" tIns="27432" bIns="27432" anchor="ctr">
            <a:noAutofit/>
          </a:bodyPr>
          <a:lstStyle/>
          <a:p>
            <a:pPr algn="l">
              <a:lnSpc>
                <a:spcPct val="100000"/>
              </a:lnSpc>
            </a:pPr>
            <a:r>
              <a:rPr sz="1100" b="0" i="0" spc="160">
                <a:solidFill>
                  <a:srgbClr val="C98457"/>
                </a:solidFill>
                <a:latin typeface="Segoe UI Semibold"/>
              </a:rPr>
              <a:t>NACIDA</a:t>
            </a:r>
          </a:p>
        </p:txBody>
      </p:sp>
      <p:sp>
        <p:nvSpPr>
          <p:cNvPr id="14" name="TextBox 13"/>
          <p:cNvSpPr txBox="1"/>
          <p:nvPr/>
        </p:nvSpPr>
        <p:spPr>
          <a:xfrm>
            <a:off x="6812280" y="3730752"/>
            <a:ext cx="4617720" cy="530352"/>
          </a:xfrm>
          <a:prstGeom prst="rect">
            <a:avLst/>
          </a:prstGeom>
          <a:noFill/>
        </p:spPr>
        <p:txBody>
          <a:bodyPr wrap="square" lIns="45720" rIns="45720" tIns="27432" bIns="27432" anchor="ctr">
            <a:noAutofit/>
          </a:bodyPr>
          <a:lstStyle/>
          <a:p>
            <a:pPr algn="l">
              <a:lnSpc>
                <a:spcPct val="100000"/>
              </a:lnSpc>
            </a:pPr>
            <a:r>
              <a:rPr sz="1500" b="0" i="0">
                <a:solidFill>
                  <a:srgbClr val="F7F2E8"/>
                </a:solidFill>
                <a:latin typeface="Segoe UI"/>
              </a:rPr>
              <a:t>29 de octubre de 2025</a:t>
            </a:r>
          </a:p>
        </p:txBody>
      </p:sp>
      <p:sp>
        <p:nvSpPr>
          <p:cNvPr id="15" name="Rounded Rectangle 14"/>
          <p:cNvSpPr/>
          <p:nvPr/>
        </p:nvSpPr>
        <p:spPr>
          <a:xfrm>
            <a:off x="4983480" y="4443984"/>
            <a:ext cx="6583680" cy="640080"/>
          </a:xfrm>
          <a:prstGeom prst="roundRect">
            <a:avLst>
              <a:gd name="adj" fmla="val 14285"/>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5184648" y="4498848"/>
            <a:ext cx="1554480" cy="530352"/>
          </a:xfrm>
          <a:prstGeom prst="rect">
            <a:avLst/>
          </a:prstGeom>
          <a:noFill/>
        </p:spPr>
        <p:txBody>
          <a:bodyPr wrap="square" lIns="45720" rIns="45720" tIns="27432" bIns="27432" anchor="ctr">
            <a:noAutofit/>
          </a:bodyPr>
          <a:lstStyle/>
          <a:p>
            <a:pPr algn="l">
              <a:lnSpc>
                <a:spcPct val="100000"/>
              </a:lnSpc>
            </a:pPr>
            <a:r>
              <a:rPr sz="1100" b="0" i="0" spc="160">
                <a:solidFill>
                  <a:srgbClr val="E2B462"/>
                </a:solidFill>
                <a:latin typeface="Segoe UI Semibold"/>
              </a:rPr>
              <a:t>PLATAFORMA</a:t>
            </a:r>
          </a:p>
        </p:txBody>
      </p:sp>
      <p:sp>
        <p:nvSpPr>
          <p:cNvPr id="17" name="TextBox 16"/>
          <p:cNvSpPr txBox="1"/>
          <p:nvPr/>
        </p:nvSpPr>
        <p:spPr>
          <a:xfrm>
            <a:off x="6812280" y="4498848"/>
            <a:ext cx="4617720" cy="530352"/>
          </a:xfrm>
          <a:prstGeom prst="rect">
            <a:avLst/>
          </a:prstGeom>
          <a:noFill/>
        </p:spPr>
        <p:txBody>
          <a:bodyPr wrap="square" lIns="45720" rIns="45720" tIns="27432" bIns="27432" anchor="ctr">
            <a:noAutofit/>
          </a:bodyPr>
          <a:lstStyle/>
          <a:p>
            <a:pPr algn="l">
              <a:lnSpc>
                <a:spcPct val="100000"/>
              </a:lnSpc>
            </a:pPr>
            <a:r>
              <a:rPr sz="1500" b="0" i="0">
                <a:solidFill>
                  <a:srgbClr val="F7F2E8"/>
                </a:solidFill>
                <a:latin typeface="Segoe UI"/>
              </a:rPr>
              <a:t>Windows 10 y 11 · Python 3.12.10 · Django 5.2.15</a:t>
            </a:r>
          </a:p>
        </p:txBody>
      </p:sp>
      <p:sp>
        <p:nvSpPr>
          <p:cNvPr id="18" name="Rounded Rectangle 17"/>
          <p:cNvSpPr/>
          <p:nvPr/>
        </p:nvSpPr>
        <p:spPr>
          <a:xfrm>
            <a:off x="4983480" y="5212080"/>
            <a:ext cx="6583680" cy="640080"/>
          </a:xfrm>
          <a:prstGeom prst="roundRect">
            <a:avLst>
              <a:gd name="adj" fmla="val 14285"/>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5184648" y="5266944"/>
            <a:ext cx="1554480" cy="530352"/>
          </a:xfrm>
          <a:prstGeom prst="rect">
            <a:avLst/>
          </a:prstGeom>
          <a:noFill/>
        </p:spPr>
        <p:txBody>
          <a:bodyPr wrap="square" lIns="45720" rIns="45720" tIns="27432" bIns="27432" anchor="ctr">
            <a:noAutofit/>
          </a:bodyPr>
          <a:lstStyle/>
          <a:p>
            <a:pPr algn="l">
              <a:lnSpc>
                <a:spcPct val="100000"/>
              </a:lnSpc>
            </a:pPr>
            <a:r>
              <a:rPr sz="1100" b="0" i="0" spc="160">
                <a:solidFill>
                  <a:srgbClr val="46D2E2"/>
                </a:solidFill>
                <a:latin typeface="Segoe UI Semibold"/>
              </a:rPr>
              <a:t>LICENCIA</a:t>
            </a:r>
          </a:p>
        </p:txBody>
      </p:sp>
      <p:sp>
        <p:nvSpPr>
          <p:cNvPr id="20" name="TextBox 19"/>
          <p:cNvSpPr txBox="1"/>
          <p:nvPr/>
        </p:nvSpPr>
        <p:spPr>
          <a:xfrm>
            <a:off x="6812280" y="5266944"/>
            <a:ext cx="4617720" cy="530352"/>
          </a:xfrm>
          <a:prstGeom prst="rect">
            <a:avLst/>
          </a:prstGeom>
          <a:noFill/>
        </p:spPr>
        <p:txBody>
          <a:bodyPr wrap="square" lIns="45720" rIns="45720" tIns="27432" bIns="27432" anchor="ctr">
            <a:noAutofit/>
          </a:bodyPr>
          <a:lstStyle/>
          <a:p>
            <a:pPr algn="l">
              <a:lnSpc>
                <a:spcPct val="100000"/>
              </a:lnSpc>
            </a:pPr>
            <a:r>
              <a:rPr sz="1500" b="0" i="0">
                <a:solidFill>
                  <a:srgbClr val="F7F2E8"/>
                </a:solidFill>
                <a:latin typeface="Segoe UI"/>
              </a:rPr>
              <a:t>MIT: libre y de código abierto</a:t>
            </a:r>
          </a:p>
        </p:txBody>
      </p:sp>
      <p:cxnSp>
        <p:nvCxnSpPr>
          <p:cNvPr id="21" name="Connector 20"/>
          <p:cNvCxnSpPr/>
          <p:nvPr/>
        </p:nvCxnSpPr>
        <p:spPr>
          <a:xfrm>
            <a:off x="566928" y="6373368"/>
            <a:ext cx="11057839" cy="0"/>
          </a:xfrm>
          <a:prstGeom prst="line">
            <a:avLst/>
          </a:prstGeom>
          <a:ln w="7620">
            <a:solidFill>
              <a:srgbClr val="2A3A40"/>
            </a:solidFill>
          </a:ln>
        </p:spPr>
        <p:style>
          <a:lnRef idx="2">
            <a:schemeClr val="accent1"/>
          </a:lnRef>
          <a:fillRef idx="0">
            <a:schemeClr val="accent1"/>
          </a:fillRef>
          <a:effectRef idx="1">
            <a:schemeClr val="accent1"/>
          </a:effectRef>
          <a:fontRef idx="minor">
            <a:schemeClr val="tx1"/>
          </a:fontRef>
        </p:style>
      </p:cxnSp>
      <p:sp>
        <p:nvSpPr>
          <p:cNvPr id="22" name="TextBox 21"/>
          <p:cNvSpPr txBox="1"/>
          <p:nvPr/>
        </p:nvSpPr>
        <p:spPr>
          <a:xfrm>
            <a:off x="566928" y="6419088"/>
            <a:ext cx="6858000" cy="274320"/>
          </a:xfrm>
          <a:prstGeom prst="rect">
            <a:avLst/>
          </a:prstGeom>
          <a:noFill/>
        </p:spPr>
        <p:txBody>
          <a:bodyPr wrap="square" lIns="45720" rIns="45720" tIns="27432" bIns="27432" anchor="t">
            <a:noAutofit/>
          </a:bodyPr>
          <a:lstStyle/>
          <a:p>
            <a:pPr algn="l">
              <a:lnSpc>
                <a:spcPct val="100000"/>
              </a:lnSpc>
            </a:pPr>
            <a:r>
              <a:rPr sz="850" b="0" i="0" spc="120">
                <a:solidFill>
                  <a:srgbClr val="A7B2B0"/>
                </a:solidFill>
                <a:latin typeface="Segoe UI Semibold"/>
              </a:rPr>
              <a:t>TLAMATINI  ·  I · QUIÉN ES ELLA</a:t>
            </a:r>
          </a:p>
        </p:txBody>
      </p:sp>
      <p:sp>
        <p:nvSpPr>
          <p:cNvPr id="23" name="TextBox 22"/>
          <p:cNvSpPr txBox="1"/>
          <p:nvPr/>
        </p:nvSpPr>
        <p:spPr>
          <a:xfrm>
            <a:off x="8698687" y="6419088"/>
            <a:ext cx="2926080" cy="274320"/>
          </a:xfrm>
          <a:prstGeom prst="rect">
            <a:avLst/>
          </a:prstGeom>
          <a:noFill/>
        </p:spPr>
        <p:txBody>
          <a:bodyPr wrap="square" lIns="45720" rIns="45720" tIns="27432" bIns="27432" anchor="t">
            <a:noAutofit/>
          </a:bodyPr>
          <a:lstStyle/>
          <a:p>
            <a:pPr algn="r">
              <a:lnSpc>
                <a:spcPct val="100000"/>
              </a:lnSpc>
            </a:pPr>
            <a:r>
              <a:rPr sz="850" b="0" i="0" spc="100">
                <a:solidFill>
                  <a:srgbClr val="A7B2B0"/>
                </a:solidFill>
                <a:latin typeface="Segoe UI Semibold"/>
              </a:rPr>
              <a:t>v1.91.1   ·   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content.png"/>
          <p:cNvPicPr>
            <a:picLocks noChangeAspect="1"/>
          </p:cNvPicPr>
          <p:nvPr/>
        </p:nvPicPr>
        <p:blipFill>
          <a:blip r:embed="rId2"/>
          <a:stretch>
            <a:fillRect/>
          </a:stretch>
        </p:blipFill>
        <p:spPr>
          <a:xfrm>
            <a:off x="0" y="0"/>
            <a:ext cx="12191695" cy="6858000"/>
          </a:xfrm>
          <a:prstGeom prst="rect">
            <a:avLst/>
          </a:prstGeom>
        </p:spPr>
      </p:pic>
      <p:sp>
        <p:nvSpPr>
          <p:cNvPr id="3" name="Diamond 2"/>
          <p:cNvSpPr/>
          <p:nvPr/>
        </p:nvSpPr>
        <p:spPr>
          <a:xfrm>
            <a:off x="566928" y="457200"/>
            <a:ext cx="100584" cy="100584"/>
          </a:xfrm>
          <a:prstGeom prst="diamond">
            <a:avLst/>
          </a:prstGeom>
          <a:solidFill>
            <a:srgbClr val="3BBE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49808" y="365760"/>
            <a:ext cx="8229600" cy="292608"/>
          </a:xfrm>
          <a:prstGeom prst="rect">
            <a:avLst/>
          </a:prstGeom>
          <a:noFill/>
        </p:spPr>
        <p:txBody>
          <a:bodyPr wrap="square" lIns="45720" rIns="45720" tIns="27432" bIns="27432" anchor="t">
            <a:noAutofit/>
          </a:bodyPr>
          <a:lstStyle/>
          <a:p>
            <a:pPr algn="l">
              <a:lnSpc>
                <a:spcPct val="100000"/>
              </a:lnSpc>
            </a:pPr>
            <a:r>
              <a:rPr sz="1100" b="0" i="0" spc="240">
                <a:solidFill>
                  <a:srgbClr val="C98457"/>
                </a:solidFill>
                <a:latin typeface="Segoe UI Semibold"/>
              </a:rPr>
              <a:t>DÓNDE CORREN LAS COSAS</a:t>
            </a:r>
          </a:p>
        </p:txBody>
      </p:sp>
      <p:sp>
        <p:nvSpPr>
          <p:cNvPr id="5" name="TextBox 4"/>
          <p:cNvSpPr txBox="1"/>
          <p:nvPr/>
        </p:nvSpPr>
        <p:spPr>
          <a:xfrm>
            <a:off x="539496" y="676656"/>
            <a:ext cx="11057839" cy="658368"/>
          </a:xfrm>
          <a:prstGeom prst="rect">
            <a:avLst/>
          </a:prstGeom>
          <a:noFill/>
        </p:spPr>
        <p:txBody>
          <a:bodyPr wrap="square" lIns="45720" rIns="45720" tIns="27432" bIns="27432" anchor="t">
            <a:noAutofit/>
          </a:bodyPr>
          <a:lstStyle/>
          <a:p>
            <a:pPr algn="l">
              <a:lnSpc>
                <a:spcPct val="100000"/>
              </a:lnSpc>
            </a:pPr>
            <a:r>
              <a:rPr sz="3100" b="0" i="0">
                <a:solidFill>
                  <a:srgbClr val="F7F2E8"/>
                </a:solidFill>
                <a:latin typeface="Palatino Linotype"/>
              </a:rPr>
              <a:t>Control local, razonamiento en la nube</a:t>
            </a:r>
          </a:p>
        </p:txBody>
      </p:sp>
      <p:sp>
        <p:nvSpPr>
          <p:cNvPr id="6" name="Rectangle 5"/>
          <p:cNvSpPr/>
          <p:nvPr/>
        </p:nvSpPr>
        <p:spPr>
          <a:xfrm>
            <a:off x="566928" y="1344168"/>
            <a:ext cx="822960" cy="36576"/>
          </a:xfrm>
          <a:prstGeom prst="rect">
            <a:avLst/>
          </a:prstGeom>
          <a:solidFill>
            <a:srgbClr val="3BBE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566928" y="1444752"/>
            <a:ext cx="10692079" cy="585216"/>
          </a:xfrm>
          <a:prstGeom prst="rect">
            <a:avLst/>
          </a:prstGeom>
          <a:noFill/>
        </p:spPr>
        <p:txBody>
          <a:bodyPr wrap="square" lIns="45720" rIns="45720" tIns="27432" bIns="27432" anchor="t">
            <a:noAutofit/>
          </a:bodyPr>
          <a:lstStyle/>
          <a:p>
            <a:pPr algn="l">
              <a:lnSpc>
                <a:spcPct val="100000"/>
              </a:lnSpc>
            </a:pPr>
            <a:r>
              <a:rPr sz="1250" b="0" i="0">
                <a:solidFill>
                  <a:srgbClr val="A7B2B0"/>
                </a:solidFill>
                <a:latin typeface="Segoe UI Semilight"/>
              </a:rPr>
              <a:t>“Local-first” describe dónde vive el control: la aplicación, la base de datos, los workflows, las credenciales, el código de los agents y el modelo de embedding pequeño se quedan en tu máquina, mientras que el razonamiento exigente lo hacen modelos en la nube a los que se llega por Ollama.</a:t>
            </a:r>
          </a:p>
        </p:txBody>
      </p:sp>
      <p:sp>
        <p:nvSpPr>
          <p:cNvPr id="8" name="Rounded Rectangle 7"/>
          <p:cNvSpPr/>
          <p:nvPr/>
        </p:nvSpPr>
        <p:spPr>
          <a:xfrm>
            <a:off x="566928" y="2084831"/>
            <a:ext cx="3350666" cy="3703320"/>
          </a:xfrm>
          <a:prstGeom prst="roundRect">
            <a:avLst>
              <a:gd name="adj" fmla="val 3820"/>
            </a:avLst>
          </a:prstGeom>
          <a:solidFill>
            <a:srgbClr val="121A1D"/>
          </a:solidFill>
          <a:ln w="15875">
            <a:solidFill>
              <a:srgbClr val="3BBE9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ounded Rectangle 8"/>
          <p:cNvSpPr/>
          <p:nvPr/>
        </p:nvSpPr>
        <p:spPr>
          <a:xfrm>
            <a:off x="566928" y="2084831"/>
            <a:ext cx="3350666" cy="566928"/>
          </a:xfrm>
          <a:prstGeom prst="roundRect">
            <a:avLst>
              <a:gd name="adj" fmla="val 22580"/>
            </a:avLst>
          </a:prstGeom>
          <a:solidFill>
            <a:srgbClr val="3BBE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749808" y="2157984"/>
            <a:ext cx="2984906" cy="438912"/>
          </a:xfrm>
          <a:prstGeom prst="rect">
            <a:avLst/>
          </a:prstGeom>
          <a:noFill/>
        </p:spPr>
        <p:txBody>
          <a:bodyPr wrap="square" lIns="45720" rIns="45720" tIns="27432" bIns="27432" anchor="ctr">
            <a:noAutofit/>
          </a:bodyPr>
          <a:lstStyle/>
          <a:p>
            <a:pPr algn="l">
              <a:lnSpc>
                <a:spcPct val="100000"/>
              </a:lnSpc>
            </a:pPr>
            <a:r>
              <a:rPr sz="1700" b="0" i="0">
                <a:solidFill>
                  <a:srgbClr val="090E10"/>
                </a:solidFill>
                <a:latin typeface="Segoe UI Semibold"/>
              </a:rPr>
              <a:t>Plano de control local</a:t>
            </a:r>
          </a:p>
        </p:txBody>
      </p:sp>
      <p:sp>
        <p:nvSpPr>
          <p:cNvPr id="11" name="TextBox 10"/>
          <p:cNvSpPr txBox="1"/>
          <p:nvPr/>
        </p:nvSpPr>
        <p:spPr>
          <a:xfrm>
            <a:off x="795528" y="2862072"/>
            <a:ext cx="2939186" cy="2743200"/>
          </a:xfrm>
          <a:prstGeom prst="rect">
            <a:avLst/>
          </a:prstGeom>
          <a:noFill/>
        </p:spPr>
        <p:txBody>
          <a:bodyPr wrap="square" lIns="45720" rIns="45720" tIns="27432" bIns="27432" anchor="t">
            <a:noAutofit/>
          </a:bodyPr>
          <a:lstStyle/>
          <a:p>
            <a:pPr algn="l">
              <a:lnSpc>
                <a:spcPct val="100000"/>
              </a:lnSpc>
            </a:pPr>
            <a:r>
              <a:rPr sz="1450" b="0" i="0">
                <a:solidFill>
                  <a:srgbClr val="ECE7DC"/>
                </a:solidFill>
                <a:latin typeface="Segoe UI"/>
              </a:rPr>
              <a:t>▪  Django, Channels y Daphne</a:t>
            </a:r>
          </a:p>
          <a:p>
            <a:pPr algn="l">
              <a:lnSpc>
                <a:spcPct val="100000"/>
              </a:lnSpc>
              <a:spcBef>
                <a:spcPts val="900"/>
              </a:spcBef>
            </a:pPr>
            <a:r>
              <a:rPr sz="1450" b="0" i="0">
                <a:solidFill>
                  <a:srgbClr val="ECE7DC"/>
                </a:solidFill>
                <a:latin typeface="Segoe UI"/>
              </a:rPr>
              <a:t>▪  Chat, canvases y diálogos</a:t>
            </a:r>
          </a:p>
          <a:p>
            <a:pPr algn="l">
              <a:lnSpc>
                <a:spcPct val="100000"/>
              </a:lnSpc>
              <a:spcBef>
                <a:spcPts val="900"/>
              </a:spcBef>
            </a:pPr>
            <a:r>
              <a:rPr sz="1450" b="0" i="0">
                <a:solidFill>
                  <a:srgbClr val="ECE7DC"/>
                </a:solidFill>
                <a:latin typeface="Segoe UI"/>
              </a:rPr>
              <a:t>▪  Base de datos SQLite y configuración</a:t>
            </a:r>
          </a:p>
          <a:p>
            <a:pPr algn="l">
              <a:lnSpc>
                <a:spcPct val="100000"/>
              </a:lnSpc>
              <a:spcBef>
                <a:spcPts val="900"/>
              </a:spcBef>
            </a:pPr>
            <a:r>
              <a:rPr sz="1450" b="0" i="0">
                <a:solidFill>
                  <a:srgbClr val="ECE7DC"/>
                </a:solidFill>
                <a:latin typeface="Segoe UI"/>
              </a:rPr>
              <a:t>▪  Programas de agents y permisos</a:t>
            </a:r>
          </a:p>
        </p:txBody>
      </p:sp>
      <p:sp>
        <p:nvSpPr>
          <p:cNvPr id="12" name="TextBox 11"/>
          <p:cNvSpPr txBox="1"/>
          <p:nvPr/>
        </p:nvSpPr>
        <p:spPr>
          <a:xfrm>
            <a:off x="566928" y="5852159"/>
            <a:ext cx="3350666" cy="310896"/>
          </a:xfrm>
          <a:prstGeom prst="rect">
            <a:avLst/>
          </a:prstGeom>
          <a:noFill/>
        </p:spPr>
        <p:txBody>
          <a:bodyPr wrap="square" lIns="45720" rIns="45720" tIns="27432" bIns="27432" anchor="t">
            <a:noAutofit/>
          </a:bodyPr>
          <a:lstStyle/>
          <a:p>
            <a:pPr algn="ctr">
              <a:lnSpc>
                <a:spcPct val="100000"/>
              </a:lnSpc>
            </a:pPr>
            <a:r>
              <a:rPr sz="1050" b="0" i="0" spc="200">
                <a:solidFill>
                  <a:srgbClr val="3BBE93"/>
                </a:solidFill>
                <a:latin typeface="Segoe UI Semibold"/>
              </a:rPr>
              <a:t>TU MÁQUINA</a:t>
            </a:r>
          </a:p>
        </p:txBody>
      </p:sp>
      <p:cxnSp>
        <p:nvCxnSpPr>
          <p:cNvPr id="13" name="Connector 12"/>
          <p:cNvCxnSpPr/>
          <p:nvPr/>
        </p:nvCxnSpPr>
        <p:spPr>
          <a:xfrm>
            <a:off x="3990746" y="3845052"/>
            <a:ext cx="356616" cy="0"/>
          </a:xfrm>
          <a:prstGeom prst="line">
            <a:avLst/>
          </a:prstGeom>
          <a:ln w="19050">
            <a:solidFill>
              <a:srgbClr val="C98457"/>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flipH="1">
            <a:off x="3990746" y="4046220"/>
            <a:ext cx="356616" cy="0"/>
          </a:xfrm>
          <a:prstGeom prst="line">
            <a:avLst/>
          </a:prstGeom>
          <a:ln w="19050">
            <a:solidFill>
              <a:srgbClr val="3BBE93"/>
            </a:solidFill>
            <a:tailEnd type="triangle" w="med" len="med"/>
          </a:ln>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4420514" y="2084831"/>
            <a:ext cx="3350666" cy="3703320"/>
          </a:xfrm>
          <a:prstGeom prst="roundRect">
            <a:avLst>
              <a:gd name="adj" fmla="val 3820"/>
            </a:avLst>
          </a:prstGeom>
          <a:solidFill>
            <a:srgbClr val="121A1D"/>
          </a:solidFill>
          <a:ln w="15875">
            <a:solidFill>
              <a:srgbClr val="E2B462"/>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ounded Rectangle 15"/>
          <p:cNvSpPr/>
          <p:nvPr/>
        </p:nvSpPr>
        <p:spPr>
          <a:xfrm>
            <a:off x="4420514" y="2084831"/>
            <a:ext cx="3350666" cy="566928"/>
          </a:xfrm>
          <a:prstGeom prst="roundRect">
            <a:avLst>
              <a:gd name="adj" fmla="val 22580"/>
            </a:avLst>
          </a:prstGeom>
          <a:solidFill>
            <a:srgbClr val="E2B4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4603394" y="2157984"/>
            <a:ext cx="2984906" cy="438912"/>
          </a:xfrm>
          <a:prstGeom prst="rect">
            <a:avLst/>
          </a:prstGeom>
          <a:noFill/>
        </p:spPr>
        <p:txBody>
          <a:bodyPr wrap="square" lIns="45720" rIns="45720" tIns="27432" bIns="27432" anchor="ctr">
            <a:noAutofit/>
          </a:bodyPr>
          <a:lstStyle/>
          <a:p>
            <a:pPr algn="l">
              <a:lnSpc>
                <a:spcPct val="100000"/>
              </a:lnSpc>
            </a:pPr>
            <a:r>
              <a:rPr sz="1700" b="0" i="0">
                <a:solidFill>
                  <a:srgbClr val="090E10"/>
                </a:solidFill>
                <a:latin typeface="Segoe UI Semibold"/>
              </a:rPr>
              <a:t>Recuperación local</a:t>
            </a:r>
          </a:p>
        </p:txBody>
      </p:sp>
      <p:sp>
        <p:nvSpPr>
          <p:cNvPr id="18" name="TextBox 17"/>
          <p:cNvSpPr txBox="1"/>
          <p:nvPr/>
        </p:nvSpPr>
        <p:spPr>
          <a:xfrm>
            <a:off x="4649114" y="2862072"/>
            <a:ext cx="2939186" cy="2743200"/>
          </a:xfrm>
          <a:prstGeom prst="rect">
            <a:avLst/>
          </a:prstGeom>
          <a:noFill/>
        </p:spPr>
        <p:txBody>
          <a:bodyPr wrap="square" lIns="45720" rIns="45720" tIns="27432" bIns="27432" anchor="t">
            <a:noAutofit/>
          </a:bodyPr>
          <a:lstStyle/>
          <a:p>
            <a:pPr algn="l">
              <a:lnSpc>
                <a:spcPct val="100000"/>
              </a:lnSpc>
            </a:pPr>
            <a:r>
              <a:rPr sz="1450" b="0" i="0">
                <a:solidFill>
                  <a:srgbClr val="ECE7DC"/>
                </a:solidFill>
                <a:latin typeface="Segoe UI"/>
              </a:rPr>
              <a:t>▪  embeddings de nomic-embed-text</a:t>
            </a:r>
          </a:p>
          <a:p>
            <a:pPr algn="l">
              <a:lnSpc>
                <a:spcPct val="100000"/>
              </a:lnSpc>
              <a:spcBef>
                <a:spcPts val="900"/>
              </a:spcBef>
            </a:pPr>
            <a:r>
              <a:rPr sz="1450" b="0" i="0">
                <a:solidFill>
                  <a:srgbClr val="ECE7DC"/>
                </a:solidFill>
                <a:latin typeface="Segoe UI"/>
              </a:rPr>
              <a:t>▪  Vectores FAISS y BM25</a:t>
            </a:r>
          </a:p>
          <a:p>
            <a:pPr algn="l">
              <a:lnSpc>
                <a:spcPct val="100000"/>
              </a:lnSpc>
              <a:spcBef>
                <a:spcPts val="900"/>
              </a:spcBef>
            </a:pPr>
            <a:r>
              <a:rPr sz="1450" b="0" i="0">
                <a:solidFill>
                  <a:srgbClr val="ECE7DC"/>
                </a:solidFill>
                <a:latin typeface="Segoe UI"/>
              </a:rPr>
              <a:t>▪  Presupuesto de contexto</a:t>
            </a:r>
          </a:p>
          <a:p>
            <a:pPr algn="l">
              <a:lnSpc>
                <a:spcPct val="100000"/>
              </a:lnSpc>
              <a:spcBef>
                <a:spcPts val="900"/>
              </a:spcBef>
            </a:pPr>
            <a:r>
              <a:rPr sz="1450" b="0" i="0">
                <a:solidFill>
                  <a:srgbClr val="ECE7DC"/>
                </a:solidFill>
                <a:latin typeface="Segoe UI"/>
              </a:rPr>
              <a:t>▪  Protección de contenido binario</a:t>
            </a:r>
          </a:p>
        </p:txBody>
      </p:sp>
      <p:sp>
        <p:nvSpPr>
          <p:cNvPr id="19" name="TextBox 18"/>
          <p:cNvSpPr txBox="1"/>
          <p:nvPr/>
        </p:nvSpPr>
        <p:spPr>
          <a:xfrm>
            <a:off x="4420514" y="5852159"/>
            <a:ext cx="3350666" cy="310896"/>
          </a:xfrm>
          <a:prstGeom prst="rect">
            <a:avLst/>
          </a:prstGeom>
          <a:noFill/>
        </p:spPr>
        <p:txBody>
          <a:bodyPr wrap="square" lIns="45720" rIns="45720" tIns="27432" bIns="27432" anchor="t">
            <a:noAutofit/>
          </a:bodyPr>
          <a:lstStyle/>
          <a:p>
            <a:pPr algn="ctr">
              <a:lnSpc>
                <a:spcPct val="100000"/>
              </a:lnSpc>
            </a:pPr>
            <a:r>
              <a:rPr sz="1050" b="0" i="0" spc="200">
                <a:solidFill>
                  <a:srgbClr val="E2B462"/>
                </a:solidFill>
                <a:latin typeface="Segoe UI Semibold"/>
              </a:rPr>
              <a:t>TU MÁQUINA</a:t>
            </a:r>
          </a:p>
        </p:txBody>
      </p:sp>
      <p:cxnSp>
        <p:nvCxnSpPr>
          <p:cNvPr id="20" name="Connector 19"/>
          <p:cNvCxnSpPr/>
          <p:nvPr/>
        </p:nvCxnSpPr>
        <p:spPr>
          <a:xfrm>
            <a:off x="7844332" y="3845052"/>
            <a:ext cx="356616" cy="0"/>
          </a:xfrm>
          <a:prstGeom prst="line">
            <a:avLst/>
          </a:prstGeom>
          <a:ln w="19050">
            <a:solidFill>
              <a:srgbClr val="C98457"/>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flipH="1">
            <a:off x="7844332" y="4046220"/>
            <a:ext cx="356616" cy="0"/>
          </a:xfrm>
          <a:prstGeom prst="line">
            <a:avLst/>
          </a:prstGeom>
          <a:ln w="19050">
            <a:solidFill>
              <a:srgbClr val="3BBE93"/>
            </a:solidFill>
            <a:tailEnd type="triangle" w="med" len="med"/>
          </a:ln>
        </p:spPr>
        <p:style>
          <a:lnRef idx="2">
            <a:schemeClr val="accent1"/>
          </a:lnRef>
          <a:fillRef idx="0">
            <a:schemeClr val="accent1"/>
          </a:fillRef>
          <a:effectRef idx="1">
            <a:schemeClr val="accent1"/>
          </a:effectRef>
          <a:fontRef idx="minor">
            <a:schemeClr val="tx1"/>
          </a:fontRef>
        </p:style>
      </p:cxnSp>
      <p:sp>
        <p:nvSpPr>
          <p:cNvPr id="22" name="Rounded Rectangle 21"/>
          <p:cNvSpPr/>
          <p:nvPr/>
        </p:nvSpPr>
        <p:spPr>
          <a:xfrm>
            <a:off x="8274100" y="2084831"/>
            <a:ext cx="3350666" cy="3703320"/>
          </a:xfrm>
          <a:prstGeom prst="roundRect">
            <a:avLst>
              <a:gd name="adj" fmla="val 3820"/>
            </a:avLst>
          </a:prstGeom>
          <a:solidFill>
            <a:srgbClr val="121A1D"/>
          </a:solidFill>
          <a:ln w="15875">
            <a:solidFill>
              <a:srgbClr val="C98457"/>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Rounded Rectangle 22"/>
          <p:cNvSpPr/>
          <p:nvPr/>
        </p:nvSpPr>
        <p:spPr>
          <a:xfrm>
            <a:off x="8274100" y="2084831"/>
            <a:ext cx="3350666" cy="566928"/>
          </a:xfrm>
          <a:prstGeom prst="roundRect">
            <a:avLst>
              <a:gd name="adj" fmla="val 22580"/>
            </a:avLst>
          </a:prstGeom>
          <a:solidFill>
            <a:srgbClr val="C984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8456980" y="2157984"/>
            <a:ext cx="2984906" cy="438912"/>
          </a:xfrm>
          <a:prstGeom prst="rect">
            <a:avLst/>
          </a:prstGeom>
          <a:noFill/>
        </p:spPr>
        <p:txBody>
          <a:bodyPr wrap="square" lIns="45720" rIns="45720" tIns="27432" bIns="27432" anchor="ctr">
            <a:noAutofit/>
          </a:bodyPr>
          <a:lstStyle/>
          <a:p>
            <a:pPr algn="l">
              <a:lnSpc>
                <a:spcPct val="100000"/>
              </a:lnSpc>
            </a:pPr>
            <a:r>
              <a:rPr sz="1700" b="0" i="0">
                <a:solidFill>
                  <a:srgbClr val="090E10"/>
                </a:solidFill>
                <a:latin typeface="Segoe UI Semibold"/>
              </a:rPr>
              <a:t>Razonamiento en la nube</a:t>
            </a:r>
          </a:p>
        </p:txBody>
      </p:sp>
      <p:sp>
        <p:nvSpPr>
          <p:cNvPr id="25" name="TextBox 24"/>
          <p:cNvSpPr txBox="1"/>
          <p:nvPr/>
        </p:nvSpPr>
        <p:spPr>
          <a:xfrm>
            <a:off x="8502700" y="2862072"/>
            <a:ext cx="2939186" cy="2743200"/>
          </a:xfrm>
          <a:prstGeom prst="rect">
            <a:avLst/>
          </a:prstGeom>
          <a:noFill/>
        </p:spPr>
        <p:txBody>
          <a:bodyPr wrap="square" lIns="45720" rIns="45720" tIns="27432" bIns="27432" anchor="t">
            <a:noAutofit/>
          </a:bodyPr>
          <a:lstStyle/>
          <a:p>
            <a:pPr algn="l">
              <a:lnSpc>
                <a:spcPct val="100000"/>
              </a:lnSpc>
            </a:pPr>
            <a:r>
              <a:rPr sz="1450" b="0" i="0">
                <a:solidFill>
                  <a:srgbClr val="ECE7DC"/>
                </a:solidFill>
                <a:latin typeface="Segoe UI"/>
              </a:rPr>
              <a:t>▪  Chat y llamadas a tools</a:t>
            </a:r>
          </a:p>
          <a:p>
            <a:pPr algn="l">
              <a:lnSpc>
                <a:spcPct val="100000"/>
              </a:lnSpc>
              <a:spcBef>
                <a:spcPts val="900"/>
              </a:spcBef>
            </a:pPr>
            <a:r>
              <a:rPr sz="1450" b="0" i="0">
                <a:solidFill>
                  <a:srgbClr val="ECE7DC"/>
                </a:solidFill>
                <a:latin typeface="Segoe UI"/>
              </a:rPr>
              <a:t>▪  Contexto largo</a:t>
            </a:r>
          </a:p>
          <a:p>
            <a:pPr algn="l">
              <a:lnSpc>
                <a:spcPct val="100000"/>
              </a:lnSpc>
              <a:spcBef>
                <a:spcPts val="900"/>
              </a:spcBef>
            </a:pPr>
            <a:r>
              <a:rPr sz="1450" b="0" i="0">
                <a:solidFill>
                  <a:srgbClr val="ECE7DC"/>
                </a:solidFill>
                <a:latin typeface="Segoe UI"/>
              </a:rPr>
              <a:t>▪  Observadores de visión y combinadores</a:t>
            </a:r>
          </a:p>
          <a:p>
            <a:pPr algn="l">
              <a:lnSpc>
                <a:spcPct val="100000"/>
              </a:lnSpc>
              <a:spcBef>
                <a:spcPts val="900"/>
              </a:spcBef>
            </a:pPr>
            <a:r>
              <a:rPr sz="1450" b="0" i="0">
                <a:solidFill>
                  <a:srgbClr val="ECE7DC"/>
                </a:solidFill>
                <a:latin typeface="Segoe UI"/>
              </a:rPr>
              <a:t>▪  Planeación de Multi-Turn</a:t>
            </a:r>
          </a:p>
        </p:txBody>
      </p:sp>
      <p:sp>
        <p:nvSpPr>
          <p:cNvPr id="26" name="TextBox 25"/>
          <p:cNvSpPr txBox="1"/>
          <p:nvPr/>
        </p:nvSpPr>
        <p:spPr>
          <a:xfrm>
            <a:off x="8274100" y="5852159"/>
            <a:ext cx="3350666" cy="310896"/>
          </a:xfrm>
          <a:prstGeom prst="rect">
            <a:avLst/>
          </a:prstGeom>
          <a:noFill/>
        </p:spPr>
        <p:txBody>
          <a:bodyPr wrap="square" lIns="45720" rIns="45720" tIns="27432" bIns="27432" anchor="t">
            <a:noAutofit/>
          </a:bodyPr>
          <a:lstStyle/>
          <a:p>
            <a:pPr algn="ctr">
              <a:lnSpc>
                <a:spcPct val="100000"/>
              </a:lnSpc>
            </a:pPr>
            <a:r>
              <a:rPr sz="1050" b="0" i="0" spc="200">
                <a:solidFill>
                  <a:srgbClr val="C98457"/>
                </a:solidFill>
                <a:latin typeface="Segoe UI Semibold"/>
              </a:rPr>
              <a:t>OLLAMA EN LA NUBE</a:t>
            </a:r>
          </a:p>
        </p:txBody>
      </p:sp>
      <p:cxnSp>
        <p:nvCxnSpPr>
          <p:cNvPr id="27" name="Connector 26"/>
          <p:cNvCxnSpPr/>
          <p:nvPr/>
        </p:nvCxnSpPr>
        <p:spPr>
          <a:xfrm>
            <a:off x="566928" y="6373368"/>
            <a:ext cx="11057839" cy="0"/>
          </a:xfrm>
          <a:prstGeom prst="line">
            <a:avLst/>
          </a:prstGeom>
          <a:ln w="7620">
            <a:solidFill>
              <a:srgbClr val="2A3A40"/>
            </a:solidFill>
          </a:ln>
        </p:spPr>
        <p:style>
          <a:lnRef idx="2">
            <a:schemeClr val="accent1"/>
          </a:lnRef>
          <a:fillRef idx="0">
            <a:schemeClr val="accent1"/>
          </a:fillRef>
          <a:effectRef idx="1">
            <a:schemeClr val="accent1"/>
          </a:effectRef>
          <a:fontRef idx="minor">
            <a:schemeClr val="tx1"/>
          </a:fontRef>
        </p:style>
      </p:cxnSp>
      <p:sp>
        <p:nvSpPr>
          <p:cNvPr id="28" name="TextBox 27"/>
          <p:cNvSpPr txBox="1"/>
          <p:nvPr/>
        </p:nvSpPr>
        <p:spPr>
          <a:xfrm>
            <a:off x="566928" y="6419088"/>
            <a:ext cx="6858000" cy="274320"/>
          </a:xfrm>
          <a:prstGeom prst="rect">
            <a:avLst/>
          </a:prstGeom>
          <a:noFill/>
        </p:spPr>
        <p:txBody>
          <a:bodyPr wrap="square" lIns="45720" rIns="45720" tIns="27432" bIns="27432" anchor="t">
            <a:noAutofit/>
          </a:bodyPr>
          <a:lstStyle/>
          <a:p>
            <a:pPr algn="l">
              <a:lnSpc>
                <a:spcPct val="100000"/>
              </a:lnSpc>
            </a:pPr>
            <a:r>
              <a:rPr sz="850" b="0" i="0" spc="120">
                <a:solidFill>
                  <a:srgbClr val="A7B2B0"/>
                </a:solidFill>
                <a:latin typeface="Segoe UI Semibold"/>
              </a:rPr>
              <a:t>TLAMATINI  ·  I · QUIÉN ES ELLA</a:t>
            </a:r>
          </a:p>
        </p:txBody>
      </p:sp>
      <p:sp>
        <p:nvSpPr>
          <p:cNvPr id="29" name="TextBox 28"/>
          <p:cNvSpPr txBox="1"/>
          <p:nvPr/>
        </p:nvSpPr>
        <p:spPr>
          <a:xfrm>
            <a:off x="8698687" y="6419088"/>
            <a:ext cx="2926080" cy="274320"/>
          </a:xfrm>
          <a:prstGeom prst="rect">
            <a:avLst/>
          </a:prstGeom>
          <a:noFill/>
        </p:spPr>
        <p:txBody>
          <a:bodyPr wrap="square" lIns="45720" rIns="45720" tIns="27432" bIns="27432" anchor="t">
            <a:noAutofit/>
          </a:bodyPr>
          <a:lstStyle/>
          <a:p>
            <a:pPr algn="r">
              <a:lnSpc>
                <a:spcPct val="100000"/>
              </a:lnSpc>
            </a:pPr>
            <a:r>
              <a:rPr sz="850" b="0" i="0" spc="100">
                <a:solidFill>
                  <a:srgbClr val="A7B2B0"/>
                </a:solidFill>
                <a:latin typeface="Segoe UI Semibold"/>
              </a:rPr>
              <a:t>v1.91.1   ·   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content.png"/>
          <p:cNvPicPr>
            <a:picLocks noChangeAspect="1"/>
          </p:cNvPicPr>
          <p:nvPr/>
        </p:nvPicPr>
        <p:blipFill>
          <a:blip r:embed="rId2"/>
          <a:stretch>
            <a:fillRect/>
          </a:stretch>
        </p:blipFill>
        <p:spPr>
          <a:xfrm>
            <a:off x="0" y="0"/>
            <a:ext cx="12191695" cy="6858000"/>
          </a:xfrm>
          <a:prstGeom prst="rect">
            <a:avLst/>
          </a:prstGeom>
        </p:spPr>
      </p:pic>
      <p:sp>
        <p:nvSpPr>
          <p:cNvPr id="3" name="Diamond 2"/>
          <p:cNvSpPr/>
          <p:nvPr/>
        </p:nvSpPr>
        <p:spPr>
          <a:xfrm>
            <a:off x="566928" y="457200"/>
            <a:ext cx="100584" cy="100584"/>
          </a:xfrm>
          <a:prstGeom prst="diamond">
            <a:avLst/>
          </a:prstGeom>
          <a:solidFill>
            <a:srgbClr val="3BBE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49808" y="365760"/>
            <a:ext cx="8229600" cy="292608"/>
          </a:xfrm>
          <a:prstGeom prst="rect">
            <a:avLst/>
          </a:prstGeom>
          <a:noFill/>
        </p:spPr>
        <p:txBody>
          <a:bodyPr wrap="square" lIns="45720" rIns="45720" tIns="27432" bIns="27432" anchor="t">
            <a:noAutofit/>
          </a:bodyPr>
          <a:lstStyle/>
          <a:p>
            <a:pPr algn="l">
              <a:lnSpc>
                <a:spcPct val="100000"/>
              </a:lnSpc>
            </a:pPr>
            <a:r>
              <a:rPr sz="1100" b="0" i="0" spc="240">
                <a:solidFill>
                  <a:srgbClr val="C98457"/>
                </a:solidFill>
                <a:latin typeface="Segoe UI Semibold"/>
              </a:rPr>
              <a:t>LOS PILARES</a:t>
            </a:r>
          </a:p>
        </p:txBody>
      </p:sp>
      <p:sp>
        <p:nvSpPr>
          <p:cNvPr id="5" name="TextBox 4"/>
          <p:cNvSpPr txBox="1"/>
          <p:nvPr/>
        </p:nvSpPr>
        <p:spPr>
          <a:xfrm>
            <a:off x="539496" y="676656"/>
            <a:ext cx="11057839" cy="658368"/>
          </a:xfrm>
          <a:prstGeom prst="rect">
            <a:avLst/>
          </a:prstGeom>
          <a:noFill/>
        </p:spPr>
        <p:txBody>
          <a:bodyPr wrap="square" lIns="45720" rIns="45720" tIns="27432" bIns="27432" anchor="t">
            <a:noAutofit/>
          </a:bodyPr>
          <a:lstStyle/>
          <a:p>
            <a:pPr algn="l">
              <a:lnSpc>
                <a:spcPct val="100000"/>
              </a:lnSpc>
            </a:pPr>
            <a:r>
              <a:rPr sz="3100" b="0" i="0">
                <a:solidFill>
                  <a:srgbClr val="F7F2E8"/>
                </a:solidFill>
                <a:latin typeface="Palatino Linotype"/>
              </a:rPr>
              <a:t>Siete subsistemas, una asistente</a:t>
            </a:r>
          </a:p>
        </p:txBody>
      </p:sp>
      <p:sp>
        <p:nvSpPr>
          <p:cNvPr id="6" name="Rectangle 5"/>
          <p:cNvSpPr/>
          <p:nvPr/>
        </p:nvSpPr>
        <p:spPr>
          <a:xfrm>
            <a:off x="566928" y="1344168"/>
            <a:ext cx="822960" cy="36576"/>
          </a:xfrm>
          <a:prstGeom prst="rect">
            <a:avLst/>
          </a:prstGeom>
          <a:solidFill>
            <a:srgbClr val="3BBE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566928" y="1444752"/>
            <a:ext cx="10692079" cy="585216"/>
          </a:xfrm>
          <a:prstGeom prst="rect">
            <a:avLst/>
          </a:prstGeom>
          <a:noFill/>
        </p:spPr>
        <p:txBody>
          <a:bodyPr wrap="square" lIns="45720" rIns="45720" tIns="27432" bIns="27432" anchor="t">
            <a:noAutofit/>
          </a:bodyPr>
          <a:lstStyle/>
          <a:p>
            <a:pPr algn="l">
              <a:lnSpc>
                <a:spcPct val="100000"/>
              </a:lnSpc>
            </a:pPr>
            <a:r>
              <a:rPr sz="1450" b="0" i="0">
                <a:solidFill>
                  <a:srgbClr val="A7B2B0"/>
                </a:solidFill>
                <a:latin typeface="Segoe UI Semilight"/>
              </a:rPr>
              <a:t>Todo lo que hace Tlamatini descansa en siete subsistemas que cooperan.</a:t>
            </a:r>
          </a:p>
        </p:txBody>
      </p:sp>
      <p:sp>
        <p:nvSpPr>
          <p:cNvPr id="8" name="Rounded Rectangle 7"/>
          <p:cNvSpPr/>
          <p:nvPr/>
        </p:nvSpPr>
        <p:spPr>
          <a:xfrm>
            <a:off x="566928" y="2084831"/>
            <a:ext cx="2613583" cy="1956816"/>
          </a:xfrm>
          <a:prstGeom prst="roundRect">
            <a:avLst>
              <a:gd name="adj" fmla="val 5607"/>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ectangle 8"/>
          <p:cNvSpPr/>
          <p:nvPr/>
        </p:nvSpPr>
        <p:spPr>
          <a:xfrm>
            <a:off x="731520" y="2212848"/>
            <a:ext cx="502920" cy="45720"/>
          </a:xfrm>
          <a:prstGeom prst="rect">
            <a:avLst/>
          </a:prstGeom>
          <a:solidFill>
            <a:srgbClr val="3BBE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694944" y="2304287"/>
            <a:ext cx="2357551" cy="353568"/>
          </a:xfrm>
          <a:prstGeom prst="rect">
            <a:avLst/>
          </a:prstGeom>
          <a:noFill/>
        </p:spPr>
        <p:txBody>
          <a:bodyPr wrap="square" lIns="45720" rIns="45720" tIns="27432" bIns="27432" anchor="t">
            <a:noAutofit/>
          </a:bodyPr>
          <a:lstStyle/>
          <a:p>
            <a:pPr algn="l">
              <a:lnSpc>
                <a:spcPct val="100000"/>
              </a:lnSpc>
            </a:pPr>
            <a:r>
              <a:rPr sz="1600" b="0" i="0">
                <a:solidFill>
                  <a:srgbClr val="F7F2E8"/>
                </a:solidFill>
                <a:latin typeface="Segoe UI Semibold"/>
              </a:rPr>
              <a:t>RAG híbrido</a:t>
            </a:r>
          </a:p>
        </p:txBody>
      </p:sp>
      <p:sp>
        <p:nvSpPr>
          <p:cNvPr id="11" name="TextBox 10"/>
          <p:cNvSpPr txBox="1"/>
          <p:nvPr/>
        </p:nvSpPr>
        <p:spPr>
          <a:xfrm>
            <a:off x="694944" y="2657855"/>
            <a:ext cx="2357551" cy="1292352"/>
          </a:xfrm>
          <a:prstGeom prst="rect">
            <a:avLst/>
          </a:prstGeom>
          <a:noFill/>
        </p:spPr>
        <p:txBody>
          <a:bodyPr wrap="square" lIns="45720" rIns="45720" tIns="27432" bIns="27432" anchor="t">
            <a:noAutofit/>
          </a:bodyPr>
          <a:lstStyle/>
          <a:p>
            <a:pPr algn="l">
              <a:lnSpc>
                <a:spcPct val="100000"/>
              </a:lnSpc>
            </a:pPr>
            <a:r>
              <a:rPr sz="1200" b="0" i="0">
                <a:solidFill>
                  <a:srgbClr val="A7B2B0"/>
                </a:solidFill>
                <a:latin typeface="Segoe UI"/>
              </a:rPr>
              <a:t>vectores FAISS, palabras clave BM25, extracción de metadatos, presupuesto de contexto y un guard de contenido binario mantienen las respuestas ancladas a tu proyecto real.</a:t>
            </a:r>
          </a:p>
        </p:txBody>
      </p:sp>
      <p:sp>
        <p:nvSpPr>
          <p:cNvPr id="12" name="Rounded Rectangle 11"/>
          <p:cNvSpPr/>
          <p:nvPr/>
        </p:nvSpPr>
        <p:spPr>
          <a:xfrm>
            <a:off x="3381679" y="2084831"/>
            <a:ext cx="2613583" cy="1956816"/>
          </a:xfrm>
          <a:prstGeom prst="roundRect">
            <a:avLst>
              <a:gd name="adj" fmla="val 5607"/>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3546271" y="2212848"/>
            <a:ext cx="502920" cy="45720"/>
          </a:xfrm>
          <a:prstGeom prst="rect">
            <a:avLst/>
          </a:prstGeom>
          <a:solidFill>
            <a:srgbClr val="C984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3509695" y="2304287"/>
            <a:ext cx="2357551" cy="353568"/>
          </a:xfrm>
          <a:prstGeom prst="rect">
            <a:avLst/>
          </a:prstGeom>
          <a:noFill/>
        </p:spPr>
        <p:txBody>
          <a:bodyPr wrap="square" lIns="45720" rIns="45720" tIns="27432" bIns="27432" anchor="t">
            <a:noAutofit/>
          </a:bodyPr>
          <a:lstStyle/>
          <a:p>
            <a:pPr algn="l">
              <a:lnSpc>
                <a:spcPct val="100000"/>
              </a:lnSpc>
            </a:pPr>
            <a:r>
              <a:rPr sz="1600" b="0" i="0">
                <a:solidFill>
                  <a:srgbClr val="F7F2E8"/>
                </a:solidFill>
                <a:latin typeface="Segoe UI Semibold"/>
              </a:rPr>
              <a:t>Multi-Turn</a:t>
            </a:r>
          </a:p>
        </p:txBody>
      </p:sp>
      <p:sp>
        <p:nvSpPr>
          <p:cNvPr id="15" name="TextBox 14"/>
          <p:cNvSpPr txBox="1"/>
          <p:nvPr/>
        </p:nvSpPr>
        <p:spPr>
          <a:xfrm>
            <a:off x="3509695" y="2657855"/>
            <a:ext cx="2357551" cy="1292352"/>
          </a:xfrm>
          <a:prstGeom prst="rect">
            <a:avLst/>
          </a:prstGeom>
          <a:noFill/>
        </p:spPr>
        <p:txBody>
          <a:bodyPr wrap="square" lIns="45720" rIns="45720" tIns="27432" bIns="27432" anchor="t">
            <a:noAutofit/>
          </a:bodyPr>
          <a:lstStyle/>
          <a:p>
            <a:pPr algn="l">
              <a:lnSpc>
                <a:spcPct val="100000"/>
              </a:lnSpc>
            </a:pPr>
            <a:r>
              <a:rPr sz="1250" b="0" i="0">
                <a:solidFill>
                  <a:srgbClr val="A7B2B0"/>
                </a:solidFill>
                <a:latin typeface="Segoe UI"/>
              </a:rPr>
              <a:t>Un planner y un tool loop de hasta 4,096 iteraciones sobre toda la superficie habilitada de 110 tools integradas, pasos auto-sanadores y Compact mode para modelos pequeños.</a:t>
            </a:r>
          </a:p>
        </p:txBody>
      </p:sp>
      <p:sp>
        <p:nvSpPr>
          <p:cNvPr id="16" name="Rounded Rectangle 15"/>
          <p:cNvSpPr/>
          <p:nvPr/>
        </p:nvSpPr>
        <p:spPr>
          <a:xfrm>
            <a:off x="6196431" y="2084831"/>
            <a:ext cx="2613583" cy="1956816"/>
          </a:xfrm>
          <a:prstGeom prst="roundRect">
            <a:avLst>
              <a:gd name="adj" fmla="val 5607"/>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6361023" y="2212848"/>
            <a:ext cx="502920" cy="45720"/>
          </a:xfrm>
          <a:prstGeom prst="rect">
            <a:avLst/>
          </a:prstGeom>
          <a:solidFill>
            <a:srgbClr val="E2B4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6324447" y="2304287"/>
            <a:ext cx="2357551" cy="353568"/>
          </a:xfrm>
          <a:prstGeom prst="rect">
            <a:avLst/>
          </a:prstGeom>
          <a:noFill/>
        </p:spPr>
        <p:txBody>
          <a:bodyPr wrap="square" lIns="45720" rIns="45720" tIns="27432" bIns="27432" anchor="t">
            <a:noAutofit/>
          </a:bodyPr>
          <a:lstStyle/>
          <a:p>
            <a:pPr algn="l">
              <a:lnSpc>
                <a:spcPct val="100000"/>
              </a:lnSpc>
            </a:pPr>
            <a:r>
              <a:rPr sz="1600" b="0" i="0">
                <a:solidFill>
                  <a:srgbClr val="F7F2E8"/>
                </a:solidFill>
                <a:latin typeface="Segoe UI Semibold"/>
              </a:rPr>
              <a:t>Agentic Control Panel</a:t>
            </a:r>
          </a:p>
        </p:txBody>
      </p:sp>
      <p:sp>
        <p:nvSpPr>
          <p:cNvPr id="19" name="TextBox 18"/>
          <p:cNvSpPr txBox="1"/>
          <p:nvPr/>
        </p:nvSpPr>
        <p:spPr>
          <a:xfrm>
            <a:off x="6324447" y="2657855"/>
            <a:ext cx="2357551" cy="1292352"/>
          </a:xfrm>
          <a:prstGeom prst="rect">
            <a:avLst/>
          </a:prstGeom>
          <a:noFill/>
        </p:spPr>
        <p:txBody>
          <a:bodyPr wrap="square" lIns="45720" rIns="45720" tIns="27432" bIns="27432" anchor="t">
            <a:noAutofit/>
          </a:bodyPr>
          <a:lstStyle/>
          <a:p>
            <a:pPr algn="l">
              <a:lnSpc>
                <a:spcPct val="100000"/>
              </a:lnSpc>
            </a:pPr>
            <a:r>
              <a:rPr sz="1300" b="0" i="0">
                <a:solidFill>
                  <a:srgbClr val="A7B2B0"/>
                </a:solidFill>
                <a:latin typeface="Segoe UI"/>
              </a:rPr>
              <a:t>86 tipos de agent de arrastrar-y-soltar conectados en workflows </a:t>
            </a:r>
            <a:r>
              <a:rPr sz="1200" b="0" i="0">
                <a:solidFill>
                  <a:srgbClr val="E2B462"/>
                </a:solidFill>
                <a:latin typeface="Consolas"/>
              </a:rPr>
              <a:t>.flw</a:t>
            </a:r>
            <a:r>
              <a:rPr sz="1300" b="0" i="0">
                <a:solidFill>
                  <a:srgbClr val="A7B2B0"/>
                </a:solidFill>
                <a:latin typeface="Segoe UI"/>
              </a:rPr>
              <a:t> ejecutables y guardables.</a:t>
            </a:r>
          </a:p>
        </p:txBody>
      </p:sp>
      <p:sp>
        <p:nvSpPr>
          <p:cNvPr id="20" name="Rounded Rectangle 19"/>
          <p:cNvSpPr/>
          <p:nvPr/>
        </p:nvSpPr>
        <p:spPr>
          <a:xfrm>
            <a:off x="9011183" y="2084831"/>
            <a:ext cx="2613583" cy="1956816"/>
          </a:xfrm>
          <a:prstGeom prst="roundRect">
            <a:avLst>
              <a:gd name="adj" fmla="val 5607"/>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ectangle 20"/>
          <p:cNvSpPr/>
          <p:nvPr/>
        </p:nvSpPr>
        <p:spPr>
          <a:xfrm>
            <a:off x="9175775" y="2212848"/>
            <a:ext cx="502920" cy="45720"/>
          </a:xfrm>
          <a:prstGeom prst="rect">
            <a:avLst/>
          </a:prstGeom>
          <a:solidFill>
            <a:srgbClr val="46D2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9139199" y="2304287"/>
            <a:ext cx="2357551" cy="353568"/>
          </a:xfrm>
          <a:prstGeom prst="rect">
            <a:avLst/>
          </a:prstGeom>
          <a:noFill/>
        </p:spPr>
        <p:txBody>
          <a:bodyPr wrap="square" lIns="45720" rIns="45720" tIns="27432" bIns="27432" anchor="t">
            <a:noAutofit/>
          </a:bodyPr>
          <a:lstStyle/>
          <a:p>
            <a:pPr algn="l">
              <a:lnSpc>
                <a:spcPct val="100000"/>
              </a:lnSpc>
            </a:pPr>
            <a:r>
              <a:rPr sz="1600" b="0" i="0">
                <a:solidFill>
                  <a:srgbClr val="F7F2E8"/>
                </a:solidFill>
                <a:latin typeface="Segoe UI Semibold"/>
              </a:rPr>
              <a:t>Prompt Flow Panel</a:t>
            </a:r>
          </a:p>
        </p:txBody>
      </p:sp>
      <p:sp>
        <p:nvSpPr>
          <p:cNvPr id="23" name="TextBox 22"/>
          <p:cNvSpPr txBox="1"/>
          <p:nvPr/>
        </p:nvSpPr>
        <p:spPr>
          <a:xfrm>
            <a:off x="9139199" y="2657855"/>
            <a:ext cx="2357551" cy="1292352"/>
          </a:xfrm>
          <a:prstGeom prst="rect">
            <a:avLst/>
          </a:prstGeom>
          <a:noFill/>
        </p:spPr>
        <p:txBody>
          <a:bodyPr wrap="square" lIns="45720" rIns="45720" tIns="27432" bIns="27432" anchor="t">
            <a:noAutofit/>
          </a:bodyPr>
          <a:lstStyle/>
          <a:p>
            <a:pPr algn="l">
              <a:lnSpc>
                <a:spcPct val="100000"/>
              </a:lnSpc>
            </a:pPr>
            <a:r>
              <a:rPr sz="1300" b="0" i="0">
                <a:solidFill>
                  <a:srgbClr val="A7B2B0"/>
                </a:solidFill>
                <a:latin typeface="Segoe UI"/>
              </a:rPr>
              <a:t>Nuevo en v1.70.0: prompts, decisiones y embeddings dibujados como un diagrama, guardados como </a:t>
            </a:r>
            <a:r>
              <a:rPr sz="1200" b="0" i="0">
                <a:solidFill>
                  <a:srgbClr val="E2B462"/>
                </a:solidFill>
                <a:latin typeface="Consolas"/>
              </a:rPr>
              <a:t>.fpmt</a:t>
            </a:r>
            <a:r>
              <a:rPr sz="1300" b="0" i="0">
                <a:solidFill>
                  <a:srgbClr val="A7B2B0"/>
                </a:solidFill>
                <a:latin typeface="Segoe UI"/>
              </a:rPr>
              <a:t>, y ejecutados contra tus modelos.</a:t>
            </a:r>
          </a:p>
        </p:txBody>
      </p:sp>
      <p:sp>
        <p:nvSpPr>
          <p:cNvPr id="24" name="Rounded Rectangle 23"/>
          <p:cNvSpPr/>
          <p:nvPr/>
        </p:nvSpPr>
        <p:spPr>
          <a:xfrm>
            <a:off x="566928" y="4242816"/>
            <a:ext cx="2613583" cy="1956816"/>
          </a:xfrm>
          <a:prstGeom prst="roundRect">
            <a:avLst>
              <a:gd name="adj" fmla="val 5607"/>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ectangle 24"/>
          <p:cNvSpPr/>
          <p:nvPr/>
        </p:nvSpPr>
        <p:spPr>
          <a:xfrm>
            <a:off x="731520" y="4370832"/>
            <a:ext cx="502920" cy="45720"/>
          </a:xfrm>
          <a:prstGeom prst="rect">
            <a:avLst/>
          </a:prstGeom>
          <a:solidFill>
            <a:srgbClr val="D25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694944" y="4462272"/>
            <a:ext cx="2357551" cy="353568"/>
          </a:xfrm>
          <a:prstGeom prst="rect">
            <a:avLst/>
          </a:prstGeom>
          <a:noFill/>
        </p:spPr>
        <p:txBody>
          <a:bodyPr wrap="square" lIns="45720" rIns="45720" tIns="27432" bIns="27432" anchor="t">
            <a:noAutofit/>
          </a:bodyPr>
          <a:lstStyle/>
          <a:p>
            <a:pPr algn="l">
              <a:lnSpc>
                <a:spcPct val="100000"/>
              </a:lnSpc>
            </a:pPr>
            <a:r>
              <a:rPr sz="1600" b="0" i="0">
                <a:solidFill>
                  <a:srgbClr val="F7F2E8"/>
                </a:solidFill>
                <a:latin typeface="Segoe UI Semibold"/>
              </a:rPr>
              <a:t>ACPX</a:t>
            </a:r>
          </a:p>
        </p:txBody>
      </p:sp>
      <p:sp>
        <p:nvSpPr>
          <p:cNvPr id="27" name="TextBox 26"/>
          <p:cNvSpPr txBox="1"/>
          <p:nvPr/>
        </p:nvSpPr>
        <p:spPr>
          <a:xfrm>
            <a:off x="694944" y="4815840"/>
            <a:ext cx="2357551" cy="1292352"/>
          </a:xfrm>
          <a:prstGeom prst="rect">
            <a:avLst/>
          </a:prstGeom>
          <a:noFill/>
        </p:spPr>
        <p:txBody>
          <a:bodyPr wrap="square" lIns="45720" rIns="45720" tIns="27432" bIns="27432" anchor="t">
            <a:noAutofit/>
          </a:bodyPr>
          <a:lstStyle/>
          <a:p>
            <a:pPr algn="l">
              <a:lnSpc>
                <a:spcPct val="100000"/>
              </a:lnSpc>
            </a:pPr>
            <a:r>
              <a:rPr sz="1300" b="0" i="0">
                <a:solidFill>
                  <a:srgbClr val="A7B2B0"/>
                </a:solidFill>
                <a:latin typeface="Segoe UI"/>
              </a:rPr>
              <a:t>14 CLIs de coding-agent externos, desde Claude Code hasta Codex y Gemini, generados como hijos y brokeados a través de 12 tools.</a:t>
            </a:r>
          </a:p>
        </p:txBody>
      </p:sp>
      <p:sp>
        <p:nvSpPr>
          <p:cNvPr id="28" name="Rounded Rectangle 27"/>
          <p:cNvSpPr/>
          <p:nvPr/>
        </p:nvSpPr>
        <p:spPr>
          <a:xfrm>
            <a:off x="3381679" y="4242816"/>
            <a:ext cx="2613583" cy="1956816"/>
          </a:xfrm>
          <a:prstGeom prst="roundRect">
            <a:avLst>
              <a:gd name="adj" fmla="val 5607"/>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Rectangle 28"/>
          <p:cNvSpPr/>
          <p:nvPr/>
        </p:nvSpPr>
        <p:spPr>
          <a:xfrm>
            <a:off x="3546271" y="4370832"/>
            <a:ext cx="502920" cy="45720"/>
          </a:xfrm>
          <a:prstGeom prst="rect">
            <a:avLst/>
          </a:prstGeom>
          <a:solidFill>
            <a:srgbClr val="D957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3509695" y="4462272"/>
            <a:ext cx="2357551" cy="353568"/>
          </a:xfrm>
          <a:prstGeom prst="rect">
            <a:avLst/>
          </a:prstGeom>
          <a:noFill/>
        </p:spPr>
        <p:txBody>
          <a:bodyPr wrap="square" lIns="45720" rIns="45720" tIns="27432" bIns="27432" anchor="t">
            <a:noAutofit/>
          </a:bodyPr>
          <a:lstStyle/>
          <a:p>
            <a:pPr algn="l">
              <a:lnSpc>
                <a:spcPct val="100000"/>
              </a:lnSpc>
            </a:pPr>
            <a:r>
              <a:rPr sz="1600" b="0" i="0">
                <a:solidFill>
                  <a:srgbClr val="F7F2E8"/>
                </a:solidFill>
                <a:latin typeface="Segoe UI Semibold"/>
              </a:rPr>
              <a:t>External MCPs</a:t>
            </a:r>
          </a:p>
        </p:txBody>
      </p:sp>
      <p:sp>
        <p:nvSpPr>
          <p:cNvPr id="31" name="TextBox 30"/>
          <p:cNvSpPr txBox="1"/>
          <p:nvPr/>
        </p:nvSpPr>
        <p:spPr>
          <a:xfrm>
            <a:off x="3509695" y="4815840"/>
            <a:ext cx="2357551" cy="1292352"/>
          </a:xfrm>
          <a:prstGeom prst="rect">
            <a:avLst/>
          </a:prstGeom>
          <a:noFill/>
        </p:spPr>
        <p:txBody>
          <a:bodyPr wrap="square" lIns="45720" rIns="45720" tIns="27432" bIns="27432" anchor="t">
            <a:noAutofit/>
          </a:bodyPr>
          <a:lstStyle/>
          <a:p>
            <a:pPr algn="l">
              <a:lnSpc>
                <a:spcPct val="100000"/>
              </a:lnSpc>
            </a:pPr>
            <a:r>
              <a:rPr sz="1300" b="0" i="0">
                <a:solidFill>
                  <a:srgbClr val="A7B2B0"/>
                </a:solidFill>
                <a:latin typeface="Segoe UI"/>
              </a:rPr>
              <a:t>Un cliente universal para cualquier servidor MCP sobre cuatro transportes, con hasta cinco servidores activos a la vez.</a:t>
            </a:r>
          </a:p>
        </p:txBody>
      </p:sp>
      <p:sp>
        <p:nvSpPr>
          <p:cNvPr id="32" name="Rounded Rectangle 31"/>
          <p:cNvSpPr/>
          <p:nvPr/>
        </p:nvSpPr>
        <p:spPr>
          <a:xfrm>
            <a:off x="6196431" y="4242816"/>
            <a:ext cx="2613583" cy="1956816"/>
          </a:xfrm>
          <a:prstGeom prst="roundRect">
            <a:avLst>
              <a:gd name="adj" fmla="val 5607"/>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Rectangle 32"/>
          <p:cNvSpPr/>
          <p:nvPr/>
        </p:nvSpPr>
        <p:spPr>
          <a:xfrm>
            <a:off x="6361023" y="4370832"/>
            <a:ext cx="502920" cy="45720"/>
          </a:xfrm>
          <a:prstGeom prst="rect">
            <a:avLst/>
          </a:prstGeom>
          <a:solidFill>
            <a:srgbClr val="3BBE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6324447" y="4462272"/>
            <a:ext cx="2357551" cy="353568"/>
          </a:xfrm>
          <a:prstGeom prst="rect">
            <a:avLst/>
          </a:prstGeom>
          <a:noFill/>
        </p:spPr>
        <p:txBody>
          <a:bodyPr wrap="square" lIns="45720" rIns="45720" tIns="27432" bIns="27432" anchor="t">
            <a:noAutofit/>
          </a:bodyPr>
          <a:lstStyle/>
          <a:p>
            <a:pPr algn="l">
              <a:lnSpc>
                <a:spcPct val="100000"/>
              </a:lnSpc>
            </a:pPr>
            <a:r>
              <a:rPr sz="1600" b="0" i="0">
                <a:solidFill>
                  <a:srgbClr val="F7F2E8"/>
                </a:solidFill>
                <a:latin typeface="Segoe UI Semibold"/>
              </a:rPr>
              <a:t>Skills</a:t>
            </a:r>
          </a:p>
        </p:txBody>
      </p:sp>
      <p:sp>
        <p:nvSpPr>
          <p:cNvPr id="35" name="TextBox 34"/>
          <p:cNvSpPr txBox="1"/>
          <p:nvPr/>
        </p:nvSpPr>
        <p:spPr>
          <a:xfrm>
            <a:off x="6324447" y="4815840"/>
            <a:ext cx="2357551" cy="1292352"/>
          </a:xfrm>
          <a:prstGeom prst="rect">
            <a:avLst/>
          </a:prstGeom>
          <a:noFill/>
        </p:spPr>
        <p:txBody>
          <a:bodyPr wrap="square" lIns="45720" rIns="45720" tIns="27432" bIns="27432" anchor="t">
            <a:noAutofit/>
          </a:bodyPr>
          <a:lstStyle/>
          <a:p>
            <a:pPr algn="l">
              <a:lnSpc>
                <a:spcPct val="100000"/>
              </a:lnSpc>
            </a:pPr>
            <a:r>
              <a:rPr sz="1300" b="0" i="0">
                <a:solidFill>
                  <a:srgbClr val="A7B2B0"/>
                </a:solidFill>
                <a:latin typeface="Segoe UI"/>
              </a:rPr>
              <a:t>29 runbooks </a:t>
            </a:r>
            <a:r>
              <a:rPr sz="1200" b="0" i="0">
                <a:solidFill>
                  <a:srgbClr val="E2B462"/>
                </a:solidFill>
                <a:latin typeface="Consolas"/>
              </a:rPr>
              <a:t>SKILL.md</a:t>
            </a:r>
            <a:r>
              <a:rPr sz="1300" b="0" i="0">
                <a:solidFill>
                  <a:srgbClr val="A7B2B0"/>
                </a:solidFill>
                <a:latin typeface="Segoe UI"/>
              </a:rPr>
              <a:t>, desde code review hasta el onboarding de MCP, entregados al modelo como procedimientos completos.</a:t>
            </a:r>
          </a:p>
        </p:txBody>
      </p:sp>
      <p:cxnSp>
        <p:nvCxnSpPr>
          <p:cNvPr id="36" name="Connector 35"/>
          <p:cNvCxnSpPr/>
          <p:nvPr/>
        </p:nvCxnSpPr>
        <p:spPr>
          <a:xfrm>
            <a:off x="566928" y="6373368"/>
            <a:ext cx="11057839" cy="0"/>
          </a:xfrm>
          <a:prstGeom prst="line">
            <a:avLst/>
          </a:prstGeom>
          <a:ln w="7620">
            <a:solidFill>
              <a:srgbClr val="2A3A40"/>
            </a:solidFill>
          </a:ln>
        </p:spPr>
        <p:style>
          <a:lnRef idx="2">
            <a:schemeClr val="accent1"/>
          </a:lnRef>
          <a:fillRef idx="0">
            <a:schemeClr val="accent1"/>
          </a:fillRef>
          <a:effectRef idx="1">
            <a:schemeClr val="accent1"/>
          </a:effectRef>
          <a:fontRef idx="minor">
            <a:schemeClr val="tx1"/>
          </a:fontRef>
        </p:style>
      </p:cxnSp>
      <p:sp>
        <p:nvSpPr>
          <p:cNvPr id="37" name="TextBox 36"/>
          <p:cNvSpPr txBox="1"/>
          <p:nvPr/>
        </p:nvSpPr>
        <p:spPr>
          <a:xfrm>
            <a:off x="566928" y="6419088"/>
            <a:ext cx="6858000" cy="274320"/>
          </a:xfrm>
          <a:prstGeom prst="rect">
            <a:avLst/>
          </a:prstGeom>
          <a:noFill/>
        </p:spPr>
        <p:txBody>
          <a:bodyPr wrap="square" lIns="45720" rIns="45720" tIns="27432" bIns="27432" anchor="t">
            <a:noAutofit/>
          </a:bodyPr>
          <a:lstStyle/>
          <a:p>
            <a:pPr algn="l">
              <a:lnSpc>
                <a:spcPct val="100000"/>
              </a:lnSpc>
            </a:pPr>
            <a:r>
              <a:rPr sz="850" b="0" i="0" spc="120">
                <a:solidFill>
                  <a:srgbClr val="A7B2B0"/>
                </a:solidFill>
                <a:latin typeface="Segoe UI Semibold"/>
              </a:rPr>
              <a:t>TLAMATINI  ·  I · QUIÉN ES ELLA</a:t>
            </a:r>
          </a:p>
        </p:txBody>
      </p:sp>
      <p:sp>
        <p:nvSpPr>
          <p:cNvPr id="38" name="TextBox 37"/>
          <p:cNvSpPr txBox="1"/>
          <p:nvPr/>
        </p:nvSpPr>
        <p:spPr>
          <a:xfrm>
            <a:off x="8698687" y="6419088"/>
            <a:ext cx="2926080" cy="274320"/>
          </a:xfrm>
          <a:prstGeom prst="rect">
            <a:avLst/>
          </a:prstGeom>
          <a:noFill/>
        </p:spPr>
        <p:txBody>
          <a:bodyPr wrap="square" lIns="45720" rIns="45720" tIns="27432" bIns="27432" anchor="t">
            <a:noAutofit/>
          </a:bodyPr>
          <a:lstStyle/>
          <a:p>
            <a:pPr algn="r">
              <a:lnSpc>
                <a:spcPct val="100000"/>
              </a:lnSpc>
            </a:pPr>
            <a:r>
              <a:rPr sz="850" b="0" i="0" spc="100">
                <a:solidFill>
                  <a:srgbClr val="A7B2B0"/>
                </a:solidFill>
                <a:latin typeface="Segoe UI Semibold"/>
              </a:rPr>
              <a:t>v1.91.1   ·   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content.png"/>
          <p:cNvPicPr>
            <a:picLocks noChangeAspect="1"/>
          </p:cNvPicPr>
          <p:nvPr/>
        </p:nvPicPr>
        <p:blipFill>
          <a:blip r:embed="rId2"/>
          <a:stretch>
            <a:fillRect/>
          </a:stretch>
        </p:blipFill>
        <p:spPr>
          <a:xfrm>
            <a:off x="0" y="0"/>
            <a:ext cx="12191695" cy="6858000"/>
          </a:xfrm>
          <a:prstGeom prst="rect">
            <a:avLst/>
          </a:prstGeom>
        </p:spPr>
      </p:pic>
      <p:sp>
        <p:nvSpPr>
          <p:cNvPr id="3" name="Diamond 2"/>
          <p:cNvSpPr/>
          <p:nvPr/>
        </p:nvSpPr>
        <p:spPr>
          <a:xfrm>
            <a:off x="566928" y="457200"/>
            <a:ext cx="100584" cy="100584"/>
          </a:xfrm>
          <a:prstGeom prst="diamond">
            <a:avLst/>
          </a:prstGeom>
          <a:solidFill>
            <a:srgbClr val="3BBE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49808" y="365760"/>
            <a:ext cx="8229600" cy="292608"/>
          </a:xfrm>
          <a:prstGeom prst="rect">
            <a:avLst/>
          </a:prstGeom>
          <a:noFill/>
        </p:spPr>
        <p:txBody>
          <a:bodyPr wrap="square" lIns="45720" rIns="45720" tIns="27432" bIns="27432" anchor="t">
            <a:noAutofit/>
          </a:bodyPr>
          <a:lstStyle/>
          <a:p>
            <a:pPr algn="l">
              <a:lnSpc>
                <a:spcPct val="100000"/>
              </a:lnSpc>
            </a:pPr>
            <a:r>
              <a:rPr sz="1100" b="0" i="0" spc="240">
                <a:solidFill>
                  <a:srgbClr val="C98457"/>
                </a:solidFill>
                <a:latin typeface="Segoe UI Semibold"/>
              </a:rPr>
              <a:t>LO QUE LA DISTINGUE</a:t>
            </a:r>
          </a:p>
        </p:txBody>
      </p:sp>
      <p:sp>
        <p:nvSpPr>
          <p:cNvPr id="5" name="TextBox 4"/>
          <p:cNvSpPr txBox="1"/>
          <p:nvPr/>
        </p:nvSpPr>
        <p:spPr>
          <a:xfrm>
            <a:off x="539496" y="676656"/>
            <a:ext cx="11057839" cy="658368"/>
          </a:xfrm>
          <a:prstGeom prst="rect">
            <a:avLst/>
          </a:prstGeom>
          <a:noFill/>
        </p:spPr>
        <p:txBody>
          <a:bodyPr wrap="square" lIns="45720" rIns="45720" tIns="27432" bIns="27432" anchor="t">
            <a:noAutofit/>
          </a:bodyPr>
          <a:lstStyle/>
          <a:p>
            <a:pPr algn="l">
              <a:lnSpc>
                <a:spcPct val="100000"/>
              </a:lnSpc>
            </a:pPr>
            <a:r>
              <a:rPr sz="3100" b="0" i="0">
                <a:solidFill>
                  <a:srgbClr val="F7F2E8"/>
                </a:solidFill>
                <a:latin typeface="Palatino Linotype"/>
              </a:rPr>
              <a:t>Las joyas</a:t>
            </a:r>
          </a:p>
        </p:txBody>
      </p:sp>
      <p:sp>
        <p:nvSpPr>
          <p:cNvPr id="6" name="Rectangle 5"/>
          <p:cNvSpPr/>
          <p:nvPr/>
        </p:nvSpPr>
        <p:spPr>
          <a:xfrm>
            <a:off x="566928" y="1344168"/>
            <a:ext cx="822960" cy="36576"/>
          </a:xfrm>
          <a:prstGeom prst="rect">
            <a:avLst/>
          </a:prstGeom>
          <a:solidFill>
            <a:srgbClr val="3BBE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566928" y="1444752"/>
            <a:ext cx="10692079" cy="585216"/>
          </a:xfrm>
          <a:prstGeom prst="rect">
            <a:avLst/>
          </a:prstGeom>
          <a:noFill/>
        </p:spPr>
        <p:txBody>
          <a:bodyPr wrap="square" lIns="45720" rIns="45720" tIns="27432" bIns="27432" anchor="t">
            <a:noAutofit/>
          </a:bodyPr>
          <a:lstStyle/>
          <a:p>
            <a:pPr algn="l">
              <a:lnSpc>
                <a:spcPct val="100000"/>
              </a:lnSpc>
            </a:pPr>
            <a:r>
              <a:rPr sz="1450" b="0" i="0">
                <a:solidFill>
                  <a:srgbClr val="A7B2B0"/>
                </a:solidFill>
                <a:latin typeface="Segoe UI Semilight"/>
              </a:rPr>
              <a:t>Las asistentes de código editan archivos de texto. Tlamatini también lo hace, y luego alcanza engines, placas y redes, y te deja conectar todo eso de forma visual.</a:t>
            </a:r>
          </a:p>
        </p:txBody>
      </p:sp>
      <p:sp>
        <p:nvSpPr>
          <p:cNvPr id="8" name="Rounded Rectangle 7"/>
          <p:cNvSpPr/>
          <p:nvPr/>
        </p:nvSpPr>
        <p:spPr>
          <a:xfrm>
            <a:off x="566928" y="2084831"/>
            <a:ext cx="2613583" cy="1956816"/>
          </a:xfrm>
          <a:prstGeom prst="roundRect">
            <a:avLst>
              <a:gd name="adj" fmla="val 5607"/>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ectangle 8"/>
          <p:cNvSpPr/>
          <p:nvPr/>
        </p:nvSpPr>
        <p:spPr>
          <a:xfrm>
            <a:off x="731520" y="2212848"/>
            <a:ext cx="502920" cy="45720"/>
          </a:xfrm>
          <a:prstGeom prst="rect">
            <a:avLst/>
          </a:prstGeom>
          <a:solidFill>
            <a:srgbClr val="3BBE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694944" y="2304287"/>
            <a:ext cx="2357551" cy="597408"/>
          </a:xfrm>
          <a:prstGeom prst="rect">
            <a:avLst/>
          </a:prstGeom>
          <a:noFill/>
        </p:spPr>
        <p:txBody>
          <a:bodyPr wrap="square" lIns="45720" rIns="45720" tIns="27432" bIns="27432" anchor="t">
            <a:noAutofit/>
          </a:bodyPr>
          <a:lstStyle/>
          <a:p>
            <a:pPr algn="l">
              <a:lnSpc>
                <a:spcPct val="100000"/>
              </a:lnSpc>
            </a:pPr>
            <a:r>
              <a:rPr sz="1600" b="0" i="0">
                <a:solidFill>
                  <a:srgbClr val="F7F2E8"/>
                </a:solidFill>
                <a:latin typeface="Segoe UI Semibold"/>
              </a:rPr>
              <a:t>Diseño visual de workflows</a:t>
            </a:r>
          </a:p>
        </p:txBody>
      </p:sp>
      <p:sp>
        <p:nvSpPr>
          <p:cNvPr id="11" name="TextBox 10"/>
          <p:cNvSpPr txBox="1"/>
          <p:nvPr/>
        </p:nvSpPr>
        <p:spPr>
          <a:xfrm>
            <a:off x="694944" y="2901695"/>
            <a:ext cx="2357551" cy="1048512"/>
          </a:xfrm>
          <a:prstGeom prst="rect">
            <a:avLst/>
          </a:prstGeom>
          <a:noFill/>
        </p:spPr>
        <p:txBody>
          <a:bodyPr wrap="square" lIns="45720" rIns="45720" tIns="27432" bIns="27432" anchor="t">
            <a:noAutofit/>
          </a:bodyPr>
          <a:lstStyle/>
          <a:p>
            <a:pPr algn="l">
              <a:lnSpc>
                <a:spcPct val="100000"/>
              </a:lnSpc>
            </a:pPr>
            <a:r>
              <a:rPr sz="1300" b="0" i="0">
                <a:solidFill>
                  <a:srgbClr val="A7B2B0"/>
                </a:solidFill>
                <a:latin typeface="Segoe UI"/>
              </a:rPr>
              <a:t>86 tipos de agent en un canvas que conectas, validas, ejecutas, pausas y guardas.</a:t>
            </a:r>
          </a:p>
        </p:txBody>
      </p:sp>
      <p:sp>
        <p:nvSpPr>
          <p:cNvPr id="12" name="Rounded Rectangle 11"/>
          <p:cNvSpPr/>
          <p:nvPr/>
        </p:nvSpPr>
        <p:spPr>
          <a:xfrm>
            <a:off x="3381679" y="2084831"/>
            <a:ext cx="2613583" cy="1956816"/>
          </a:xfrm>
          <a:prstGeom prst="roundRect">
            <a:avLst>
              <a:gd name="adj" fmla="val 5607"/>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3546271" y="2212848"/>
            <a:ext cx="502920" cy="45720"/>
          </a:xfrm>
          <a:prstGeom prst="rect">
            <a:avLst/>
          </a:prstGeom>
          <a:solidFill>
            <a:srgbClr val="C984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3509695" y="2304287"/>
            <a:ext cx="2357551" cy="353568"/>
          </a:xfrm>
          <a:prstGeom prst="rect">
            <a:avLst/>
          </a:prstGeom>
          <a:noFill/>
        </p:spPr>
        <p:txBody>
          <a:bodyPr wrap="square" lIns="45720" rIns="45720" tIns="27432" bIns="27432" anchor="t">
            <a:noAutofit/>
          </a:bodyPr>
          <a:lstStyle/>
          <a:p>
            <a:pPr algn="l">
              <a:lnSpc>
                <a:spcPct val="100000"/>
              </a:lnSpc>
            </a:pPr>
            <a:r>
              <a:rPr sz="1600" b="0" i="0">
                <a:solidFill>
                  <a:srgbClr val="F7F2E8"/>
                </a:solidFill>
                <a:latin typeface="Segoe UI Semibold"/>
              </a:rPr>
              <a:t>Unreal Engine</a:t>
            </a:r>
          </a:p>
        </p:txBody>
      </p:sp>
      <p:sp>
        <p:nvSpPr>
          <p:cNvPr id="15" name="TextBox 14"/>
          <p:cNvSpPr txBox="1"/>
          <p:nvPr/>
        </p:nvSpPr>
        <p:spPr>
          <a:xfrm>
            <a:off x="3509695" y="2657855"/>
            <a:ext cx="2357551" cy="1292352"/>
          </a:xfrm>
          <a:prstGeom prst="rect">
            <a:avLst/>
          </a:prstGeom>
          <a:noFill/>
        </p:spPr>
        <p:txBody>
          <a:bodyPr wrap="square" lIns="45720" rIns="45720" tIns="27432" bIns="27432" anchor="t">
            <a:noAutofit/>
          </a:bodyPr>
          <a:lstStyle/>
          <a:p>
            <a:pPr algn="l">
              <a:lnSpc>
                <a:spcPct val="100000"/>
              </a:lnSpc>
            </a:pPr>
            <a:r>
              <a:rPr sz="1300" b="0" i="0">
                <a:solidFill>
                  <a:srgbClr val="A7B2B0"/>
                </a:solidFill>
                <a:latin typeface="Segoe UI"/>
              </a:rPr>
              <a:t>Maneja un editor UE5 en vivo desde el chat o el canvas: actores, Blueprints, niveles, assets y materiales.</a:t>
            </a:r>
          </a:p>
        </p:txBody>
      </p:sp>
      <p:sp>
        <p:nvSpPr>
          <p:cNvPr id="16" name="Rounded Rectangle 15"/>
          <p:cNvSpPr/>
          <p:nvPr/>
        </p:nvSpPr>
        <p:spPr>
          <a:xfrm>
            <a:off x="6196431" y="2084831"/>
            <a:ext cx="2613583" cy="1956816"/>
          </a:xfrm>
          <a:prstGeom prst="roundRect">
            <a:avLst>
              <a:gd name="adj" fmla="val 5607"/>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6361023" y="2212848"/>
            <a:ext cx="502920" cy="45720"/>
          </a:xfrm>
          <a:prstGeom prst="rect">
            <a:avLst/>
          </a:prstGeom>
          <a:solidFill>
            <a:srgbClr val="E2B4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6324447" y="2304287"/>
            <a:ext cx="2357551" cy="353568"/>
          </a:xfrm>
          <a:prstGeom prst="rect">
            <a:avLst/>
          </a:prstGeom>
          <a:noFill/>
        </p:spPr>
        <p:txBody>
          <a:bodyPr wrap="square" lIns="45720" rIns="45720" tIns="27432" bIns="27432" anchor="t">
            <a:noAutofit/>
          </a:bodyPr>
          <a:lstStyle/>
          <a:p>
            <a:pPr algn="l">
              <a:lnSpc>
                <a:spcPct val="100000"/>
              </a:lnSpc>
            </a:pPr>
            <a:r>
              <a:rPr sz="1600" b="0" i="0">
                <a:solidFill>
                  <a:srgbClr val="F7F2E8"/>
                </a:solidFill>
                <a:latin typeface="Segoe UI Semibold"/>
              </a:rPr>
              <a:t>Blender</a:t>
            </a:r>
          </a:p>
        </p:txBody>
      </p:sp>
      <p:sp>
        <p:nvSpPr>
          <p:cNvPr id="19" name="TextBox 18"/>
          <p:cNvSpPr txBox="1"/>
          <p:nvPr/>
        </p:nvSpPr>
        <p:spPr>
          <a:xfrm>
            <a:off x="6324447" y="2657855"/>
            <a:ext cx="2357551" cy="1292352"/>
          </a:xfrm>
          <a:prstGeom prst="rect">
            <a:avLst/>
          </a:prstGeom>
          <a:noFill/>
        </p:spPr>
        <p:txBody>
          <a:bodyPr wrap="square" lIns="45720" rIns="45720" tIns="27432" bIns="27432" anchor="t">
            <a:noAutofit/>
          </a:bodyPr>
          <a:lstStyle/>
          <a:p>
            <a:pPr algn="l">
              <a:lnSpc>
                <a:spcPct val="100000"/>
              </a:lnSpc>
            </a:pPr>
            <a:r>
              <a:rPr sz="1300" b="0" i="0">
                <a:solidFill>
                  <a:srgbClr val="A7B2B0"/>
                </a:solidFill>
                <a:latin typeface="Segoe UI"/>
              </a:rPr>
              <a:t>Escenas, objetos, materiales, renders y código bpy crudo a través del socket del add-on oficial.</a:t>
            </a:r>
          </a:p>
        </p:txBody>
      </p:sp>
      <p:sp>
        <p:nvSpPr>
          <p:cNvPr id="20" name="Rounded Rectangle 19"/>
          <p:cNvSpPr/>
          <p:nvPr/>
        </p:nvSpPr>
        <p:spPr>
          <a:xfrm>
            <a:off x="9011183" y="2084831"/>
            <a:ext cx="2613583" cy="1956816"/>
          </a:xfrm>
          <a:prstGeom prst="roundRect">
            <a:avLst>
              <a:gd name="adj" fmla="val 5607"/>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ectangle 20"/>
          <p:cNvSpPr/>
          <p:nvPr/>
        </p:nvSpPr>
        <p:spPr>
          <a:xfrm>
            <a:off x="9175775" y="2212848"/>
            <a:ext cx="502920" cy="45720"/>
          </a:xfrm>
          <a:prstGeom prst="rect">
            <a:avLst/>
          </a:prstGeom>
          <a:solidFill>
            <a:srgbClr val="46D2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9139199" y="2304287"/>
            <a:ext cx="2357551" cy="353568"/>
          </a:xfrm>
          <a:prstGeom prst="rect">
            <a:avLst/>
          </a:prstGeom>
          <a:noFill/>
        </p:spPr>
        <p:txBody>
          <a:bodyPr wrap="square" lIns="45720" rIns="45720" tIns="27432" bIns="27432" anchor="t">
            <a:noAutofit/>
          </a:bodyPr>
          <a:lstStyle/>
          <a:p>
            <a:pPr algn="l">
              <a:lnSpc>
                <a:spcPct val="100000"/>
              </a:lnSpc>
            </a:pPr>
            <a:r>
              <a:rPr sz="1600" b="0" i="0">
                <a:solidFill>
                  <a:srgbClr val="F7F2E8"/>
                </a:solidFill>
                <a:latin typeface="Segoe UI Semibold"/>
              </a:rPr>
              <a:t>Firmware real</a:t>
            </a:r>
          </a:p>
        </p:txBody>
      </p:sp>
      <p:sp>
        <p:nvSpPr>
          <p:cNvPr id="23" name="TextBox 22"/>
          <p:cNvSpPr txBox="1"/>
          <p:nvPr/>
        </p:nvSpPr>
        <p:spPr>
          <a:xfrm>
            <a:off x="9139199" y="2657855"/>
            <a:ext cx="2357551" cy="1292352"/>
          </a:xfrm>
          <a:prstGeom prst="rect">
            <a:avLst/>
          </a:prstGeom>
          <a:noFill/>
        </p:spPr>
        <p:txBody>
          <a:bodyPr wrap="square" lIns="45720" rIns="45720" tIns="27432" bIns="27432" anchor="t">
            <a:noAutofit/>
          </a:bodyPr>
          <a:lstStyle/>
          <a:p>
            <a:pPr algn="l">
              <a:lnSpc>
                <a:spcPct val="100000"/>
              </a:lnSpc>
            </a:pPr>
            <a:r>
              <a:rPr sz="1300" b="0" i="0">
                <a:solidFill>
                  <a:srgbClr val="A7B2B0"/>
                </a:solidFill>
                <a:latin typeface="Segoe UI"/>
              </a:rPr>
              <a:t>Haz scaffold, compila y flashea placas STM32, ESP32, Arduino y ESPHome detrás de preflights fail-safe.</a:t>
            </a:r>
          </a:p>
        </p:txBody>
      </p:sp>
      <p:sp>
        <p:nvSpPr>
          <p:cNvPr id="24" name="Rounded Rectangle 23"/>
          <p:cNvSpPr/>
          <p:nvPr/>
        </p:nvSpPr>
        <p:spPr>
          <a:xfrm>
            <a:off x="566928" y="4242816"/>
            <a:ext cx="2613583" cy="1956816"/>
          </a:xfrm>
          <a:prstGeom prst="roundRect">
            <a:avLst>
              <a:gd name="adj" fmla="val 5607"/>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ectangle 24"/>
          <p:cNvSpPr/>
          <p:nvPr/>
        </p:nvSpPr>
        <p:spPr>
          <a:xfrm>
            <a:off x="731520" y="4370832"/>
            <a:ext cx="502920" cy="45720"/>
          </a:xfrm>
          <a:prstGeom prst="rect">
            <a:avLst/>
          </a:prstGeom>
          <a:solidFill>
            <a:srgbClr val="D25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694944" y="4462272"/>
            <a:ext cx="2357551" cy="353568"/>
          </a:xfrm>
          <a:prstGeom prst="rect">
            <a:avLst/>
          </a:prstGeom>
          <a:noFill/>
        </p:spPr>
        <p:txBody>
          <a:bodyPr wrap="square" lIns="45720" rIns="45720" tIns="27432" bIns="27432" anchor="t">
            <a:noAutofit/>
          </a:bodyPr>
          <a:lstStyle/>
          <a:p>
            <a:pPr algn="l">
              <a:lnSpc>
                <a:spcPct val="100000"/>
              </a:lnSpc>
            </a:pPr>
            <a:r>
              <a:rPr sz="1600" b="0" i="0">
                <a:solidFill>
                  <a:srgbClr val="F7F2E8"/>
                </a:solidFill>
                <a:latin typeface="Segoe UI Semibold"/>
              </a:rPr>
              <a:t>Proyectos completos</a:t>
            </a:r>
          </a:p>
        </p:txBody>
      </p:sp>
      <p:sp>
        <p:nvSpPr>
          <p:cNvPr id="27" name="TextBox 26"/>
          <p:cNvSpPr txBox="1"/>
          <p:nvPr/>
        </p:nvSpPr>
        <p:spPr>
          <a:xfrm>
            <a:off x="694944" y="4815840"/>
            <a:ext cx="2357551" cy="1292352"/>
          </a:xfrm>
          <a:prstGeom prst="rect">
            <a:avLst/>
          </a:prstGeom>
          <a:noFill/>
        </p:spPr>
        <p:txBody>
          <a:bodyPr wrap="square" lIns="45720" rIns="45720" tIns="27432" bIns="27432" anchor="t">
            <a:noAutofit/>
          </a:bodyPr>
          <a:lstStyle/>
          <a:p>
            <a:pPr algn="l">
              <a:lnSpc>
                <a:spcPct val="100000"/>
              </a:lnSpc>
            </a:pPr>
            <a:r>
              <a:rPr sz="1300" b="0" i="0">
                <a:solidFill>
                  <a:srgbClr val="A7B2B0"/>
                </a:solidFill>
                <a:latin typeface="Segoe UI"/>
              </a:rPr>
              <a:t>Encuentra, lee, edita y reconstruye codebases completos con recuperación anclada.</a:t>
            </a:r>
          </a:p>
        </p:txBody>
      </p:sp>
      <p:sp>
        <p:nvSpPr>
          <p:cNvPr id="28" name="Rounded Rectangle 27"/>
          <p:cNvSpPr/>
          <p:nvPr/>
        </p:nvSpPr>
        <p:spPr>
          <a:xfrm>
            <a:off x="3381679" y="4242816"/>
            <a:ext cx="2613583" cy="1956816"/>
          </a:xfrm>
          <a:prstGeom prst="roundRect">
            <a:avLst>
              <a:gd name="adj" fmla="val 5607"/>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Rectangle 28"/>
          <p:cNvSpPr/>
          <p:nvPr/>
        </p:nvSpPr>
        <p:spPr>
          <a:xfrm>
            <a:off x="3546271" y="4370832"/>
            <a:ext cx="502920" cy="45720"/>
          </a:xfrm>
          <a:prstGeom prst="rect">
            <a:avLst/>
          </a:prstGeom>
          <a:solidFill>
            <a:srgbClr val="D957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3509695" y="4462272"/>
            <a:ext cx="2357551" cy="597408"/>
          </a:xfrm>
          <a:prstGeom prst="rect">
            <a:avLst/>
          </a:prstGeom>
          <a:noFill/>
        </p:spPr>
        <p:txBody>
          <a:bodyPr wrap="square" lIns="45720" rIns="45720" tIns="27432" bIns="27432" anchor="t">
            <a:noAutofit/>
          </a:bodyPr>
          <a:lstStyle/>
          <a:p>
            <a:pPr algn="l">
              <a:lnSpc>
                <a:spcPct val="100000"/>
              </a:lnSpc>
            </a:pPr>
            <a:r>
              <a:rPr sz="1600" b="0" i="0">
                <a:solidFill>
                  <a:srgbClr val="F7F2E8"/>
                </a:solidFill>
                <a:latin typeface="Segoe UI Semibold"/>
              </a:rPr>
              <a:t>Cualquier servidor MCP</a:t>
            </a:r>
          </a:p>
        </p:txBody>
      </p:sp>
      <p:sp>
        <p:nvSpPr>
          <p:cNvPr id="31" name="TextBox 30"/>
          <p:cNvSpPr txBox="1"/>
          <p:nvPr/>
        </p:nvSpPr>
        <p:spPr>
          <a:xfrm>
            <a:off x="3509695" y="5059680"/>
            <a:ext cx="2357551" cy="1048512"/>
          </a:xfrm>
          <a:prstGeom prst="rect">
            <a:avLst/>
          </a:prstGeom>
          <a:noFill/>
        </p:spPr>
        <p:txBody>
          <a:bodyPr wrap="square" lIns="45720" rIns="45720" tIns="27432" bIns="27432" anchor="t">
            <a:noAutofit/>
          </a:bodyPr>
          <a:lstStyle/>
          <a:p>
            <a:pPr algn="l">
              <a:lnSpc>
                <a:spcPct val="100000"/>
              </a:lnSpc>
            </a:pPr>
            <a:r>
              <a:rPr sz="1300" b="0" i="0">
                <a:solidFill>
                  <a:srgbClr val="A7B2B0"/>
                </a:solidFill>
                <a:latin typeface="Segoe UI"/>
              </a:rPr>
              <a:t>Un cliente para el ecosistema MCP: stdio, streamable HTTP, SSE y WebSocket.</a:t>
            </a:r>
          </a:p>
        </p:txBody>
      </p:sp>
      <p:sp>
        <p:nvSpPr>
          <p:cNvPr id="32" name="Rounded Rectangle 31"/>
          <p:cNvSpPr/>
          <p:nvPr/>
        </p:nvSpPr>
        <p:spPr>
          <a:xfrm>
            <a:off x="6196431" y="4242816"/>
            <a:ext cx="2613583" cy="1956816"/>
          </a:xfrm>
          <a:prstGeom prst="roundRect">
            <a:avLst>
              <a:gd name="adj" fmla="val 5607"/>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Rectangle 32"/>
          <p:cNvSpPr/>
          <p:nvPr/>
        </p:nvSpPr>
        <p:spPr>
          <a:xfrm>
            <a:off x="6361023" y="4370832"/>
            <a:ext cx="502920" cy="45720"/>
          </a:xfrm>
          <a:prstGeom prst="rect">
            <a:avLst/>
          </a:prstGeom>
          <a:solidFill>
            <a:srgbClr val="3BBE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6324447" y="4462272"/>
            <a:ext cx="2357551" cy="597408"/>
          </a:xfrm>
          <a:prstGeom prst="rect">
            <a:avLst/>
          </a:prstGeom>
          <a:noFill/>
        </p:spPr>
        <p:txBody>
          <a:bodyPr wrap="square" lIns="45720" rIns="45720" tIns="27432" bIns="27432" anchor="t">
            <a:noAutofit/>
          </a:bodyPr>
          <a:lstStyle/>
          <a:p>
            <a:pPr algn="l">
              <a:lnSpc>
                <a:spcPct val="100000"/>
              </a:lnSpc>
            </a:pPr>
            <a:r>
              <a:rPr sz="1600" b="0" i="0">
                <a:solidFill>
                  <a:srgbClr val="F7F2E8"/>
                </a:solidFill>
                <a:latin typeface="Segoe UI Semibold"/>
              </a:rPr>
              <a:t>Evaluación de seguridad</a:t>
            </a:r>
          </a:p>
        </p:txBody>
      </p:sp>
      <p:sp>
        <p:nvSpPr>
          <p:cNvPr id="35" name="TextBox 34"/>
          <p:cNvSpPr txBox="1"/>
          <p:nvPr/>
        </p:nvSpPr>
        <p:spPr>
          <a:xfrm>
            <a:off x="6324447" y="5059680"/>
            <a:ext cx="2357551" cy="1048512"/>
          </a:xfrm>
          <a:prstGeom prst="rect">
            <a:avLst/>
          </a:prstGeom>
          <a:noFill/>
        </p:spPr>
        <p:txBody>
          <a:bodyPr wrap="square" lIns="45720" rIns="45720" tIns="27432" bIns="27432" anchor="t">
            <a:noAutofit/>
          </a:bodyPr>
          <a:lstStyle/>
          <a:p>
            <a:pPr algn="l">
              <a:lnSpc>
                <a:spcPct val="100000"/>
              </a:lnSpc>
            </a:pPr>
            <a:r>
              <a:rPr sz="1300" b="0" i="0">
                <a:solidFill>
                  <a:srgbClr val="A7B2B0"/>
                </a:solidFill>
                <a:latin typeface="Segoe UI"/>
              </a:rPr>
              <a:t>Trabajo autorizado de Kali, ProjectDiscovery y nmap, manejado desde el chat.</a:t>
            </a:r>
          </a:p>
        </p:txBody>
      </p:sp>
      <p:sp>
        <p:nvSpPr>
          <p:cNvPr id="36" name="Rounded Rectangle 35"/>
          <p:cNvSpPr/>
          <p:nvPr/>
        </p:nvSpPr>
        <p:spPr>
          <a:xfrm>
            <a:off x="9011183" y="4242816"/>
            <a:ext cx="2613583" cy="1956816"/>
          </a:xfrm>
          <a:prstGeom prst="roundRect">
            <a:avLst>
              <a:gd name="adj" fmla="val 5607"/>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Rectangle 36"/>
          <p:cNvSpPr/>
          <p:nvPr/>
        </p:nvSpPr>
        <p:spPr>
          <a:xfrm>
            <a:off x="9175775" y="4370832"/>
            <a:ext cx="502920" cy="45720"/>
          </a:xfrm>
          <a:prstGeom prst="rect">
            <a:avLst/>
          </a:prstGeom>
          <a:solidFill>
            <a:srgbClr val="C984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8" name="TextBox 37"/>
          <p:cNvSpPr txBox="1"/>
          <p:nvPr/>
        </p:nvSpPr>
        <p:spPr>
          <a:xfrm>
            <a:off x="9139199" y="4462272"/>
            <a:ext cx="2357551" cy="353568"/>
          </a:xfrm>
          <a:prstGeom prst="rect">
            <a:avLst/>
          </a:prstGeom>
          <a:noFill/>
        </p:spPr>
        <p:txBody>
          <a:bodyPr wrap="square" lIns="45720" rIns="45720" tIns="27432" bIns="27432" anchor="t">
            <a:noAutofit/>
          </a:bodyPr>
          <a:lstStyle/>
          <a:p>
            <a:pPr algn="l">
              <a:lnSpc>
                <a:spcPct val="100000"/>
              </a:lnSpc>
            </a:pPr>
            <a:r>
              <a:rPr sz="1600" b="0" i="0">
                <a:solidFill>
                  <a:srgbClr val="F7F2E8"/>
                </a:solidFill>
                <a:latin typeface="Segoe UI Semibold"/>
              </a:rPr>
              <a:t>Defensa blue-hat</a:t>
            </a:r>
          </a:p>
        </p:txBody>
      </p:sp>
      <p:sp>
        <p:nvSpPr>
          <p:cNvPr id="39" name="TextBox 38"/>
          <p:cNvSpPr txBox="1"/>
          <p:nvPr/>
        </p:nvSpPr>
        <p:spPr>
          <a:xfrm>
            <a:off x="9139199" y="4815840"/>
            <a:ext cx="2357551" cy="1292352"/>
          </a:xfrm>
          <a:prstGeom prst="rect">
            <a:avLst/>
          </a:prstGeom>
          <a:noFill/>
        </p:spPr>
        <p:txBody>
          <a:bodyPr wrap="square" lIns="45720" rIns="45720" tIns="27432" bIns="27432" anchor="t">
            <a:noAutofit/>
          </a:bodyPr>
          <a:lstStyle/>
          <a:p>
            <a:pPr algn="l">
              <a:lnSpc>
                <a:spcPct val="100000"/>
              </a:lnSpc>
            </a:pPr>
            <a:r>
              <a:rPr sz="1300" b="0" i="0">
                <a:solidFill>
                  <a:srgbClr val="A7B2B0"/>
                </a:solidFill>
                <a:latin typeface="Segoe UI"/>
              </a:rPr>
              <a:t>Un toolkit de monitoreo y respuesta de Windows ejecutado por un administrador.</a:t>
            </a:r>
          </a:p>
        </p:txBody>
      </p:sp>
      <p:cxnSp>
        <p:nvCxnSpPr>
          <p:cNvPr id="40" name="Connector 39"/>
          <p:cNvCxnSpPr/>
          <p:nvPr/>
        </p:nvCxnSpPr>
        <p:spPr>
          <a:xfrm>
            <a:off x="566928" y="6373368"/>
            <a:ext cx="11057839" cy="0"/>
          </a:xfrm>
          <a:prstGeom prst="line">
            <a:avLst/>
          </a:prstGeom>
          <a:ln w="7620">
            <a:solidFill>
              <a:srgbClr val="2A3A40"/>
            </a:solidFill>
          </a:ln>
        </p:spPr>
        <p:style>
          <a:lnRef idx="2">
            <a:schemeClr val="accent1"/>
          </a:lnRef>
          <a:fillRef idx="0">
            <a:schemeClr val="accent1"/>
          </a:fillRef>
          <a:effectRef idx="1">
            <a:schemeClr val="accent1"/>
          </a:effectRef>
          <a:fontRef idx="minor">
            <a:schemeClr val="tx1"/>
          </a:fontRef>
        </p:style>
      </p:cxnSp>
      <p:sp>
        <p:nvSpPr>
          <p:cNvPr id="41" name="TextBox 40"/>
          <p:cNvSpPr txBox="1"/>
          <p:nvPr/>
        </p:nvSpPr>
        <p:spPr>
          <a:xfrm>
            <a:off x="566928" y="6419088"/>
            <a:ext cx="6858000" cy="274320"/>
          </a:xfrm>
          <a:prstGeom prst="rect">
            <a:avLst/>
          </a:prstGeom>
          <a:noFill/>
        </p:spPr>
        <p:txBody>
          <a:bodyPr wrap="square" lIns="45720" rIns="45720" tIns="27432" bIns="27432" anchor="t">
            <a:noAutofit/>
          </a:bodyPr>
          <a:lstStyle/>
          <a:p>
            <a:pPr algn="l">
              <a:lnSpc>
                <a:spcPct val="100000"/>
              </a:lnSpc>
            </a:pPr>
            <a:r>
              <a:rPr sz="850" b="0" i="0" spc="120">
                <a:solidFill>
                  <a:srgbClr val="A7B2B0"/>
                </a:solidFill>
                <a:latin typeface="Segoe UI Semibold"/>
              </a:rPr>
              <a:t>TLAMATINI  ·  I · QUIÉN ES ELLA</a:t>
            </a:r>
          </a:p>
        </p:txBody>
      </p:sp>
      <p:sp>
        <p:nvSpPr>
          <p:cNvPr id="42" name="TextBox 41"/>
          <p:cNvSpPr txBox="1"/>
          <p:nvPr/>
        </p:nvSpPr>
        <p:spPr>
          <a:xfrm>
            <a:off x="8698687" y="6419088"/>
            <a:ext cx="2926080" cy="274320"/>
          </a:xfrm>
          <a:prstGeom prst="rect">
            <a:avLst/>
          </a:prstGeom>
          <a:noFill/>
        </p:spPr>
        <p:txBody>
          <a:bodyPr wrap="square" lIns="45720" rIns="45720" tIns="27432" bIns="27432" anchor="t">
            <a:noAutofit/>
          </a:bodyPr>
          <a:lstStyle/>
          <a:p>
            <a:pPr algn="r">
              <a:lnSpc>
                <a:spcPct val="100000"/>
              </a:lnSpc>
            </a:pPr>
            <a:r>
              <a:rPr sz="850" b="0" i="0" spc="100">
                <a:solidFill>
                  <a:srgbClr val="A7B2B0"/>
                </a:solidFill>
                <a:latin typeface="Segoe UI Semibold"/>
              </a:rPr>
              <a:t>v1.91.1   ·   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content.png"/>
          <p:cNvPicPr>
            <a:picLocks noChangeAspect="1"/>
          </p:cNvPicPr>
          <p:nvPr/>
        </p:nvPicPr>
        <p:blipFill>
          <a:blip r:embed="rId2"/>
          <a:stretch>
            <a:fillRect/>
          </a:stretch>
        </p:blipFill>
        <p:spPr>
          <a:xfrm>
            <a:off x="0" y="0"/>
            <a:ext cx="12191695" cy="6858000"/>
          </a:xfrm>
          <a:prstGeom prst="rect">
            <a:avLst/>
          </a:prstGeom>
        </p:spPr>
      </p:pic>
      <p:sp>
        <p:nvSpPr>
          <p:cNvPr id="3" name="Diamond 2"/>
          <p:cNvSpPr/>
          <p:nvPr/>
        </p:nvSpPr>
        <p:spPr>
          <a:xfrm>
            <a:off x="566928" y="457200"/>
            <a:ext cx="100584" cy="100584"/>
          </a:xfrm>
          <a:prstGeom prst="diamond">
            <a:avLst/>
          </a:prstGeom>
          <a:solidFill>
            <a:srgbClr val="3BBE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49808" y="365760"/>
            <a:ext cx="8229600" cy="292608"/>
          </a:xfrm>
          <a:prstGeom prst="rect">
            <a:avLst/>
          </a:prstGeom>
          <a:noFill/>
        </p:spPr>
        <p:txBody>
          <a:bodyPr wrap="square" lIns="45720" rIns="45720" tIns="27432" bIns="27432" anchor="t">
            <a:noAutofit/>
          </a:bodyPr>
          <a:lstStyle/>
          <a:p>
            <a:pPr algn="l">
              <a:lnSpc>
                <a:spcPct val="100000"/>
              </a:lnSpc>
            </a:pPr>
            <a:r>
              <a:rPr sz="1100" b="0" i="0" spc="240">
                <a:solidFill>
                  <a:srgbClr val="C98457"/>
                </a:solidFill>
                <a:latin typeface="Segoe UI Semibold"/>
              </a:rPr>
              <a:t>DE UN VISTAZO</a:t>
            </a:r>
          </a:p>
        </p:txBody>
      </p:sp>
      <p:sp>
        <p:nvSpPr>
          <p:cNvPr id="5" name="TextBox 4"/>
          <p:cNvSpPr txBox="1"/>
          <p:nvPr/>
        </p:nvSpPr>
        <p:spPr>
          <a:xfrm>
            <a:off x="539496" y="676656"/>
            <a:ext cx="11057839" cy="658368"/>
          </a:xfrm>
          <a:prstGeom prst="rect">
            <a:avLst/>
          </a:prstGeom>
          <a:noFill/>
        </p:spPr>
        <p:txBody>
          <a:bodyPr wrap="square" lIns="45720" rIns="45720" tIns="27432" bIns="27432" anchor="t">
            <a:noAutofit/>
          </a:bodyPr>
          <a:lstStyle/>
          <a:p>
            <a:pPr algn="l">
              <a:lnSpc>
                <a:spcPct val="100000"/>
              </a:lnSpc>
            </a:pPr>
            <a:r>
              <a:rPr sz="3100" b="0" i="0">
                <a:solidFill>
                  <a:srgbClr val="F7F2E8"/>
                </a:solidFill>
                <a:latin typeface="Palatino Linotype"/>
              </a:rPr>
              <a:t>Los números, derivados de la fuente</a:t>
            </a:r>
          </a:p>
        </p:txBody>
      </p:sp>
      <p:sp>
        <p:nvSpPr>
          <p:cNvPr id="6" name="Rectangle 5"/>
          <p:cNvSpPr/>
          <p:nvPr/>
        </p:nvSpPr>
        <p:spPr>
          <a:xfrm>
            <a:off x="566928" y="1344168"/>
            <a:ext cx="822960" cy="36576"/>
          </a:xfrm>
          <a:prstGeom prst="rect">
            <a:avLst/>
          </a:prstGeom>
          <a:solidFill>
            <a:srgbClr val="3BBE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566928" y="1444752"/>
            <a:ext cx="10692079" cy="585216"/>
          </a:xfrm>
          <a:prstGeom prst="rect">
            <a:avLst/>
          </a:prstGeom>
          <a:noFill/>
        </p:spPr>
        <p:txBody>
          <a:bodyPr wrap="square" lIns="45720" rIns="45720" tIns="27432" bIns="27432" anchor="t">
            <a:noAutofit/>
          </a:bodyPr>
          <a:lstStyle/>
          <a:p>
            <a:pPr algn="l">
              <a:lnSpc>
                <a:spcPct val="100000"/>
              </a:lnSpc>
            </a:pPr>
            <a:r>
              <a:rPr sz="1450" b="0" i="0">
                <a:solidFill>
                  <a:srgbClr val="A7B2B0"/>
                </a:solidFill>
                <a:latin typeface="Segoe UI Semilight"/>
              </a:rPr>
              <a:t>Cada cifra de abajo se contó desde el repositorio mientras se generaba este dossier.</a:t>
            </a:r>
          </a:p>
        </p:txBody>
      </p:sp>
      <p:sp>
        <p:nvSpPr>
          <p:cNvPr id="8" name="Rounded Rectangle 7"/>
          <p:cNvSpPr/>
          <p:nvPr/>
        </p:nvSpPr>
        <p:spPr>
          <a:xfrm>
            <a:off x="566928" y="2130551"/>
            <a:ext cx="2586151" cy="1915668"/>
          </a:xfrm>
          <a:prstGeom prst="roundRect">
            <a:avLst>
              <a:gd name="adj" fmla="val 6682"/>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ectangle 8"/>
          <p:cNvSpPr/>
          <p:nvPr/>
        </p:nvSpPr>
        <p:spPr>
          <a:xfrm>
            <a:off x="822960" y="2404871"/>
            <a:ext cx="640080" cy="45720"/>
          </a:xfrm>
          <a:prstGeom prst="rect">
            <a:avLst/>
          </a:prstGeom>
          <a:solidFill>
            <a:srgbClr val="3BBE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768096" y="2514599"/>
            <a:ext cx="2183815" cy="946404"/>
          </a:xfrm>
          <a:prstGeom prst="rect">
            <a:avLst/>
          </a:prstGeom>
          <a:noFill/>
        </p:spPr>
        <p:txBody>
          <a:bodyPr wrap="square" lIns="45720" rIns="45720" tIns="27432" bIns="27432" anchor="ctr">
            <a:noAutofit/>
          </a:bodyPr>
          <a:lstStyle/>
          <a:p>
            <a:pPr algn="l">
              <a:lnSpc>
                <a:spcPct val="100000"/>
              </a:lnSpc>
            </a:pPr>
            <a:r>
              <a:rPr sz="4600" b="1" i="0">
                <a:solidFill>
                  <a:srgbClr val="F7F2E8"/>
                </a:solidFill>
                <a:latin typeface="Palatino Linotype"/>
              </a:rPr>
              <a:t>86</a:t>
            </a:r>
          </a:p>
        </p:txBody>
      </p:sp>
      <p:sp>
        <p:nvSpPr>
          <p:cNvPr id="11" name="TextBox 10"/>
          <p:cNvSpPr txBox="1"/>
          <p:nvPr/>
        </p:nvSpPr>
        <p:spPr>
          <a:xfrm>
            <a:off x="786384" y="3497579"/>
            <a:ext cx="2147239" cy="402336"/>
          </a:xfrm>
          <a:prstGeom prst="rect">
            <a:avLst/>
          </a:prstGeom>
          <a:noFill/>
        </p:spPr>
        <p:txBody>
          <a:bodyPr wrap="square" lIns="45720" rIns="45720" tIns="27432" bIns="27432" anchor="t">
            <a:noAutofit/>
          </a:bodyPr>
          <a:lstStyle/>
          <a:p>
            <a:pPr algn="l">
              <a:lnSpc>
                <a:spcPct val="100000"/>
              </a:lnSpc>
            </a:pPr>
            <a:r>
              <a:rPr sz="1150" b="0" i="0" spc="160">
                <a:solidFill>
                  <a:srgbClr val="3BBE93"/>
                </a:solidFill>
                <a:latin typeface="Segoe UI Semibold"/>
              </a:rPr>
              <a:t>TIPOS DE AGENT</a:t>
            </a:r>
          </a:p>
        </p:txBody>
      </p:sp>
      <p:sp>
        <p:nvSpPr>
          <p:cNvPr id="12" name="Rounded Rectangle 11"/>
          <p:cNvSpPr/>
          <p:nvPr/>
        </p:nvSpPr>
        <p:spPr>
          <a:xfrm>
            <a:off x="3390823" y="2130551"/>
            <a:ext cx="2586151" cy="1915668"/>
          </a:xfrm>
          <a:prstGeom prst="roundRect">
            <a:avLst>
              <a:gd name="adj" fmla="val 6682"/>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3646855" y="2404871"/>
            <a:ext cx="640080" cy="45720"/>
          </a:xfrm>
          <a:prstGeom prst="rect">
            <a:avLst/>
          </a:prstGeom>
          <a:solidFill>
            <a:srgbClr val="C984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3591991" y="2514599"/>
            <a:ext cx="2183815" cy="946404"/>
          </a:xfrm>
          <a:prstGeom prst="rect">
            <a:avLst/>
          </a:prstGeom>
          <a:noFill/>
        </p:spPr>
        <p:txBody>
          <a:bodyPr wrap="square" lIns="45720" rIns="45720" tIns="27432" bIns="27432" anchor="ctr">
            <a:noAutofit/>
          </a:bodyPr>
          <a:lstStyle/>
          <a:p>
            <a:pPr algn="l">
              <a:lnSpc>
                <a:spcPct val="100000"/>
              </a:lnSpc>
            </a:pPr>
            <a:r>
              <a:rPr sz="4600" b="1" i="0">
                <a:solidFill>
                  <a:srgbClr val="F7F2E8"/>
                </a:solidFill>
                <a:latin typeface="Palatino Linotype"/>
              </a:rPr>
              <a:t>110</a:t>
            </a:r>
          </a:p>
        </p:txBody>
      </p:sp>
      <p:sp>
        <p:nvSpPr>
          <p:cNvPr id="15" name="TextBox 14"/>
          <p:cNvSpPr txBox="1"/>
          <p:nvPr/>
        </p:nvSpPr>
        <p:spPr>
          <a:xfrm>
            <a:off x="3610279" y="3497579"/>
            <a:ext cx="2147239" cy="402336"/>
          </a:xfrm>
          <a:prstGeom prst="rect">
            <a:avLst/>
          </a:prstGeom>
          <a:noFill/>
        </p:spPr>
        <p:txBody>
          <a:bodyPr wrap="square" lIns="45720" rIns="45720" tIns="27432" bIns="27432" anchor="t">
            <a:noAutofit/>
          </a:bodyPr>
          <a:lstStyle/>
          <a:p>
            <a:pPr algn="l">
              <a:lnSpc>
                <a:spcPct val="100000"/>
              </a:lnSpc>
            </a:pPr>
            <a:r>
              <a:rPr sz="1150" b="0" i="0" spc="160">
                <a:solidFill>
                  <a:srgbClr val="C98457"/>
                </a:solidFill>
                <a:latin typeface="Segoe UI Semibold"/>
              </a:rPr>
              <a:t>TOOLS DE MULTI-TURN</a:t>
            </a:r>
          </a:p>
        </p:txBody>
      </p:sp>
      <p:sp>
        <p:nvSpPr>
          <p:cNvPr id="16" name="Rounded Rectangle 15"/>
          <p:cNvSpPr/>
          <p:nvPr/>
        </p:nvSpPr>
        <p:spPr>
          <a:xfrm>
            <a:off x="6214719" y="2130551"/>
            <a:ext cx="2586151" cy="1915668"/>
          </a:xfrm>
          <a:prstGeom prst="roundRect">
            <a:avLst>
              <a:gd name="adj" fmla="val 6682"/>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6470751" y="2404871"/>
            <a:ext cx="640080" cy="45720"/>
          </a:xfrm>
          <a:prstGeom prst="rect">
            <a:avLst/>
          </a:prstGeom>
          <a:solidFill>
            <a:srgbClr val="E2B4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6415887" y="2514599"/>
            <a:ext cx="2183815" cy="946404"/>
          </a:xfrm>
          <a:prstGeom prst="rect">
            <a:avLst/>
          </a:prstGeom>
          <a:noFill/>
        </p:spPr>
        <p:txBody>
          <a:bodyPr wrap="square" lIns="45720" rIns="45720" tIns="27432" bIns="27432" anchor="ctr">
            <a:noAutofit/>
          </a:bodyPr>
          <a:lstStyle/>
          <a:p>
            <a:pPr algn="l">
              <a:lnSpc>
                <a:spcPct val="100000"/>
              </a:lnSpc>
            </a:pPr>
            <a:r>
              <a:rPr sz="4600" b="1" i="0">
                <a:solidFill>
                  <a:srgbClr val="F7F2E8"/>
                </a:solidFill>
                <a:latin typeface="Palatino Linotype"/>
              </a:rPr>
              <a:t>67</a:t>
            </a:r>
          </a:p>
        </p:txBody>
      </p:sp>
      <p:sp>
        <p:nvSpPr>
          <p:cNvPr id="19" name="TextBox 18"/>
          <p:cNvSpPr txBox="1"/>
          <p:nvPr/>
        </p:nvSpPr>
        <p:spPr>
          <a:xfrm>
            <a:off x="6434175" y="3497579"/>
            <a:ext cx="2147239" cy="402336"/>
          </a:xfrm>
          <a:prstGeom prst="rect">
            <a:avLst/>
          </a:prstGeom>
          <a:noFill/>
        </p:spPr>
        <p:txBody>
          <a:bodyPr wrap="square" lIns="45720" rIns="45720" tIns="27432" bIns="27432" anchor="t">
            <a:noAutofit/>
          </a:bodyPr>
          <a:lstStyle/>
          <a:p>
            <a:pPr algn="l">
              <a:lnSpc>
                <a:spcPct val="100000"/>
              </a:lnSpc>
            </a:pPr>
            <a:r>
              <a:rPr sz="1150" b="0" i="0" spc="160">
                <a:solidFill>
                  <a:srgbClr val="E2B462"/>
                </a:solidFill>
                <a:latin typeface="Segoe UI Semibold"/>
              </a:rPr>
              <a:t>AGENTS WRAPPED</a:t>
            </a:r>
          </a:p>
        </p:txBody>
      </p:sp>
      <p:sp>
        <p:nvSpPr>
          <p:cNvPr id="20" name="Rounded Rectangle 19"/>
          <p:cNvSpPr/>
          <p:nvPr/>
        </p:nvSpPr>
        <p:spPr>
          <a:xfrm>
            <a:off x="9038615" y="2130551"/>
            <a:ext cx="2586151" cy="1915668"/>
          </a:xfrm>
          <a:prstGeom prst="roundRect">
            <a:avLst>
              <a:gd name="adj" fmla="val 6682"/>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ectangle 20"/>
          <p:cNvSpPr/>
          <p:nvPr/>
        </p:nvSpPr>
        <p:spPr>
          <a:xfrm>
            <a:off x="9294647" y="2404871"/>
            <a:ext cx="640080" cy="45720"/>
          </a:xfrm>
          <a:prstGeom prst="rect">
            <a:avLst/>
          </a:prstGeom>
          <a:solidFill>
            <a:srgbClr val="46D2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9239783" y="2514599"/>
            <a:ext cx="2183815" cy="946404"/>
          </a:xfrm>
          <a:prstGeom prst="rect">
            <a:avLst/>
          </a:prstGeom>
          <a:noFill/>
        </p:spPr>
        <p:txBody>
          <a:bodyPr wrap="square" lIns="45720" rIns="45720" tIns="27432" bIns="27432" anchor="ctr">
            <a:noAutofit/>
          </a:bodyPr>
          <a:lstStyle/>
          <a:p>
            <a:pPr algn="l">
              <a:lnSpc>
                <a:spcPct val="100000"/>
              </a:lnSpc>
            </a:pPr>
            <a:r>
              <a:rPr sz="4600" b="1" i="0">
                <a:solidFill>
                  <a:srgbClr val="F7F2E8"/>
                </a:solidFill>
                <a:latin typeface="Palatino Linotype"/>
              </a:rPr>
              <a:t>29</a:t>
            </a:r>
          </a:p>
        </p:txBody>
      </p:sp>
      <p:sp>
        <p:nvSpPr>
          <p:cNvPr id="23" name="TextBox 22"/>
          <p:cNvSpPr txBox="1"/>
          <p:nvPr/>
        </p:nvSpPr>
        <p:spPr>
          <a:xfrm>
            <a:off x="9258071" y="3497579"/>
            <a:ext cx="2147239" cy="402336"/>
          </a:xfrm>
          <a:prstGeom prst="rect">
            <a:avLst/>
          </a:prstGeom>
          <a:noFill/>
        </p:spPr>
        <p:txBody>
          <a:bodyPr wrap="square" lIns="45720" rIns="45720" tIns="27432" bIns="27432" anchor="t">
            <a:noAutofit/>
          </a:bodyPr>
          <a:lstStyle/>
          <a:p>
            <a:pPr algn="l">
              <a:lnSpc>
                <a:spcPct val="100000"/>
              </a:lnSpc>
            </a:pPr>
            <a:r>
              <a:rPr sz="1150" b="0" i="0" spc="160">
                <a:solidFill>
                  <a:srgbClr val="46D2E2"/>
                </a:solidFill>
                <a:latin typeface="Segoe UI Semibold"/>
              </a:rPr>
              <a:t>SKILLS</a:t>
            </a:r>
          </a:p>
        </p:txBody>
      </p:sp>
      <p:sp>
        <p:nvSpPr>
          <p:cNvPr id="24" name="Rounded Rectangle 23"/>
          <p:cNvSpPr/>
          <p:nvPr/>
        </p:nvSpPr>
        <p:spPr>
          <a:xfrm>
            <a:off x="566928" y="4283964"/>
            <a:ext cx="2586151" cy="1915668"/>
          </a:xfrm>
          <a:prstGeom prst="roundRect">
            <a:avLst>
              <a:gd name="adj" fmla="val 6682"/>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ectangle 24"/>
          <p:cNvSpPr/>
          <p:nvPr/>
        </p:nvSpPr>
        <p:spPr>
          <a:xfrm>
            <a:off x="822960" y="4558284"/>
            <a:ext cx="640080" cy="45720"/>
          </a:xfrm>
          <a:prstGeom prst="rect">
            <a:avLst/>
          </a:prstGeom>
          <a:solidFill>
            <a:srgbClr val="D25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768096" y="4668012"/>
            <a:ext cx="2183815" cy="946404"/>
          </a:xfrm>
          <a:prstGeom prst="rect">
            <a:avLst/>
          </a:prstGeom>
          <a:noFill/>
        </p:spPr>
        <p:txBody>
          <a:bodyPr wrap="square" lIns="45720" rIns="45720" tIns="27432" bIns="27432" anchor="ctr">
            <a:noAutofit/>
          </a:bodyPr>
          <a:lstStyle/>
          <a:p>
            <a:pPr algn="l">
              <a:lnSpc>
                <a:spcPct val="100000"/>
              </a:lnSpc>
            </a:pPr>
            <a:r>
              <a:rPr sz="4600" b="1" i="0">
                <a:solidFill>
                  <a:srgbClr val="F7F2E8"/>
                </a:solidFill>
                <a:latin typeface="Palatino Linotype"/>
              </a:rPr>
              <a:t>14</a:t>
            </a:r>
          </a:p>
        </p:txBody>
      </p:sp>
      <p:sp>
        <p:nvSpPr>
          <p:cNvPr id="27" name="TextBox 26"/>
          <p:cNvSpPr txBox="1"/>
          <p:nvPr/>
        </p:nvSpPr>
        <p:spPr>
          <a:xfrm>
            <a:off x="786384" y="5650992"/>
            <a:ext cx="2147239" cy="402336"/>
          </a:xfrm>
          <a:prstGeom prst="rect">
            <a:avLst/>
          </a:prstGeom>
          <a:noFill/>
        </p:spPr>
        <p:txBody>
          <a:bodyPr wrap="square" lIns="45720" rIns="45720" tIns="27432" bIns="27432" anchor="t">
            <a:noAutofit/>
          </a:bodyPr>
          <a:lstStyle/>
          <a:p>
            <a:pPr algn="l">
              <a:lnSpc>
                <a:spcPct val="100000"/>
              </a:lnSpc>
            </a:pPr>
            <a:r>
              <a:rPr sz="1150" b="0" i="0" spc="160">
                <a:solidFill>
                  <a:srgbClr val="D25CD6"/>
                </a:solidFill>
                <a:latin typeface="Segoe UI Semibold"/>
              </a:rPr>
              <a:t>PARES DE ACPX</a:t>
            </a:r>
          </a:p>
        </p:txBody>
      </p:sp>
      <p:sp>
        <p:nvSpPr>
          <p:cNvPr id="28" name="Rounded Rectangle 27"/>
          <p:cNvSpPr/>
          <p:nvPr/>
        </p:nvSpPr>
        <p:spPr>
          <a:xfrm>
            <a:off x="3390823" y="4283964"/>
            <a:ext cx="2586151" cy="1915668"/>
          </a:xfrm>
          <a:prstGeom prst="roundRect">
            <a:avLst>
              <a:gd name="adj" fmla="val 6682"/>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Rectangle 28"/>
          <p:cNvSpPr/>
          <p:nvPr/>
        </p:nvSpPr>
        <p:spPr>
          <a:xfrm>
            <a:off x="3646855" y="4558284"/>
            <a:ext cx="640080" cy="45720"/>
          </a:xfrm>
          <a:prstGeom prst="rect">
            <a:avLst/>
          </a:prstGeom>
          <a:solidFill>
            <a:srgbClr val="D957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3591991" y="4668012"/>
            <a:ext cx="2183815" cy="946404"/>
          </a:xfrm>
          <a:prstGeom prst="rect">
            <a:avLst/>
          </a:prstGeom>
          <a:noFill/>
        </p:spPr>
        <p:txBody>
          <a:bodyPr wrap="square" lIns="45720" rIns="45720" tIns="27432" bIns="27432" anchor="ctr">
            <a:noAutofit/>
          </a:bodyPr>
          <a:lstStyle/>
          <a:p>
            <a:pPr algn="l">
              <a:lnSpc>
                <a:spcPct val="100000"/>
              </a:lnSpc>
            </a:pPr>
            <a:r>
              <a:rPr sz="4600" b="1" i="0">
                <a:solidFill>
                  <a:srgbClr val="F7F2E8"/>
                </a:solidFill>
                <a:latin typeface="Palatino Linotype"/>
              </a:rPr>
              <a:t>220</a:t>
            </a:r>
          </a:p>
        </p:txBody>
      </p:sp>
      <p:sp>
        <p:nvSpPr>
          <p:cNvPr id="31" name="TextBox 30"/>
          <p:cNvSpPr txBox="1"/>
          <p:nvPr/>
        </p:nvSpPr>
        <p:spPr>
          <a:xfrm>
            <a:off x="3610279" y="5650992"/>
            <a:ext cx="2147239" cy="402336"/>
          </a:xfrm>
          <a:prstGeom prst="rect">
            <a:avLst/>
          </a:prstGeom>
          <a:noFill/>
        </p:spPr>
        <p:txBody>
          <a:bodyPr wrap="square" lIns="45720" rIns="45720" tIns="27432" bIns="27432" anchor="t">
            <a:noAutofit/>
          </a:bodyPr>
          <a:lstStyle/>
          <a:p>
            <a:pPr algn="l">
              <a:lnSpc>
                <a:spcPct val="100000"/>
              </a:lnSpc>
            </a:pPr>
            <a:r>
              <a:rPr sz="1150" b="0" i="0" spc="160">
                <a:solidFill>
                  <a:srgbClr val="D9576B"/>
                </a:solidFill>
                <a:latin typeface="Segoe UI Semibold"/>
              </a:rPr>
              <a:t>MIGRACIONES</a:t>
            </a:r>
          </a:p>
        </p:txBody>
      </p:sp>
      <p:sp>
        <p:nvSpPr>
          <p:cNvPr id="32" name="Rounded Rectangle 31"/>
          <p:cNvSpPr/>
          <p:nvPr/>
        </p:nvSpPr>
        <p:spPr>
          <a:xfrm>
            <a:off x="6214719" y="4283964"/>
            <a:ext cx="2586151" cy="1915668"/>
          </a:xfrm>
          <a:prstGeom prst="roundRect">
            <a:avLst>
              <a:gd name="adj" fmla="val 6682"/>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Rectangle 32"/>
          <p:cNvSpPr/>
          <p:nvPr/>
        </p:nvSpPr>
        <p:spPr>
          <a:xfrm>
            <a:off x="6470751" y="4558284"/>
            <a:ext cx="640080" cy="45720"/>
          </a:xfrm>
          <a:prstGeom prst="rect">
            <a:avLst/>
          </a:prstGeom>
          <a:solidFill>
            <a:srgbClr val="3BBE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6415887" y="4668012"/>
            <a:ext cx="2183815" cy="946404"/>
          </a:xfrm>
          <a:prstGeom prst="rect">
            <a:avLst/>
          </a:prstGeom>
          <a:noFill/>
        </p:spPr>
        <p:txBody>
          <a:bodyPr wrap="square" lIns="45720" rIns="45720" tIns="27432" bIns="27432" anchor="ctr">
            <a:noAutofit/>
          </a:bodyPr>
          <a:lstStyle/>
          <a:p>
            <a:pPr algn="l">
              <a:lnSpc>
                <a:spcPct val="100000"/>
              </a:lnSpc>
            </a:pPr>
            <a:r>
              <a:rPr sz="4600" b="1" i="0">
                <a:solidFill>
                  <a:srgbClr val="F7F2E8"/>
                </a:solidFill>
                <a:latin typeface="Palatino Linotype"/>
              </a:rPr>
              <a:t>2,119</a:t>
            </a:r>
          </a:p>
        </p:txBody>
      </p:sp>
      <p:sp>
        <p:nvSpPr>
          <p:cNvPr id="35" name="TextBox 34"/>
          <p:cNvSpPr txBox="1"/>
          <p:nvPr/>
        </p:nvSpPr>
        <p:spPr>
          <a:xfrm>
            <a:off x="6434175" y="5650992"/>
            <a:ext cx="2147239" cy="402336"/>
          </a:xfrm>
          <a:prstGeom prst="rect">
            <a:avLst/>
          </a:prstGeom>
          <a:noFill/>
        </p:spPr>
        <p:txBody>
          <a:bodyPr wrap="square" lIns="45720" rIns="45720" tIns="27432" bIns="27432" anchor="t">
            <a:noAutofit/>
          </a:bodyPr>
          <a:lstStyle/>
          <a:p>
            <a:pPr algn="l">
              <a:lnSpc>
                <a:spcPct val="100000"/>
              </a:lnSpc>
            </a:pPr>
            <a:r>
              <a:rPr sz="1150" b="0" i="0" spc="160">
                <a:solidFill>
                  <a:srgbClr val="3BBE93"/>
                </a:solidFill>
                <a:latin typeface="Segoe UI Semibold"/>
              </a:rPr>
              <a:t>ARCHIVOS EN GIT</a:t>
            </a:r>
          </a:p>
        </p:txBody>
      </p:sp>
      <p:sp>
        <p:nvSpPr>
          <p:cNvPr id="36" name="Rounded Rectangle 35"/>
          <p:cNvSpPr/>
          <p:nvPr/>
        </p:nvSpPr>
        <p:spPr>
          <a:xfrm>
            <a:off x="9038615" y="4283964"/>
            <a:ext cx="2586151" cy="1915668"/>
          </a:xfrm>
          <a:prstGeom prst="roundRect">
            <a:avLst>
              <a:gd name="adj" fmla="val 6682"/>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Rectangle 36"/>
          <p:cNvSpPr/>
          <p:nvPr/>
        </p:nvSpPr>
        <p:spPr>
          <a:xfrm>
            <a:off x="9294647" y="4558284"/>
            <a:ext cx="640080" cy="45720"/>
          </a:xfrm>
          <a:prstGeom prst="rect">
            <a:avLst/>
          </a:prstGeom>
          <a:solidFill>
            <a:srgbClr val="C984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8" name="TextBox 37"/>
          <p:cNvSpPr txBox="1"/>
          <p:nvPr/>
        </p:nvSpPr>
        <p:spPr>
          <a:xfrm>
            <a:off x="9239783" y="4668012"/>
            <a:ext cx="2183815" cy="946404"/>
          </a:xfrm>
          <a:prstGeom prst="rect">
            <a:avLst/>
          </a:prstGeom>
          <a:noFill/>
        </p:spPr>
        <p:txBody>
          <a:bodyPr wrap="square" lIns="45720" rIns="45720" tIns="27432" bIns="27432" anchor="ctr">
            <a:noAutofit/>
          </a:bodyPr>
          <a:lstStyle/>
          <a:p>
            <a:pPr algn="l">
              <a:lnSpc>
                <a:spcPct val="100000"/>
              </a:lnSpc>
            </a:pPr>
            <a:r>
              <a:rPr sz="4600" b="1" i="0">
                <a:solidFill>
                  <a:srgbClr val="F7F2E8"/>
                </a:solidFill>
                <a:latin typeface="Palatino Linotype"/>
              </a:rPr>
              <a:t>544,489</a:t>
            </a:r>
          </a:p>
        </p:txBody>
      </p:sp>
      <p:sp>
        <p:nvSpPr>
          <p:cNvPr id="39" name="TextBox 38"/>
          <p:cNvSpPr txBox="1"/>
          <p:nvPr/>
        </p:nvSpPr>
        <p:spPr>
          <a:xfrm>
            <a:off x="9258071" y="5650992"/>
            <a:ext cx="2147239" cy="402336"/>
          </a:xfrm>
          <a:prstGeom prst="rect">
            <a:avLst/>
          </a:prstGeom>
          <a:noFill/>
        </p:spPr>
        <p:txBody>
          <a:bodyPr wrap="square" lIns="45720" rIns="45720" tIns="27432" bIns="27432" anchor="t">
            <a:noAutofit/>
          </a:bodyPr>
          <a:lstStyle/>
          <a:p>
            <a:pPr algn="l">
              <a:lnSpc>
                <a:spcPct val="100000"/>
              </a:lnSpc>
            </a:pPr>
            <a:r>
              <a:rPr sz="1150" b="0" i="0" spc="160">
                <a:solidFill>
                  <a:srgbClr val="C98457"/>
                </a:solidFill>
                <a:latin typeface="Segoe UI Semibold"/>
              </a:rPr>
              <a:t>LÍNEAS EFECTIVAS</a:t>
            </a:r>
          </a:p>
        </p:txBody>
      </p:sp>
      <p:cxnSp>
        <p:nvCxnSpPr>
          <p:cNvPr id="40" name="Connector 39"/>
          <p:cNvCxnSpPr/>
          <p:nvPr/>
        </p:nvCxnSpPr>
        <p:spPr>
          <a:xfrm>
            <a:off x="566928" y="6373368"/>
            <a:ext cx="11057839" cy="0"/>
          </a:xfrm>
          <a:prstGeom prst="line">
            <a:avLst/>
          </a:prstGeom>
          <a:ln w="7620">
            <a:solidFill>
              <a:srgbClr val="2A3A40"/>
            </a:solidFill>
          </a:ln>
        </p:spPr>
        <p:style>
          <a:lnRef idx="2">
            <a:schemeClr val="accent1"/>
          </a:lnRef>
          <a:fillRef idx="0">
            <a:schemeClr val="accent1"/>
          </a:fillRef>
          <a:effectRef idx="1">
            <a:schemeClr val="accent1"/>
          </a:effectRef>
          <a:fontRef idx="minor">
            <a:schemeClr val="tx1"/>
          </a:fontRef>
        </p:style>
      </p:cxnSp>
      <p:sp>
        <p:nvSpPr>
          <p:cNvPr id="41" name="TextBox 40"/>
          <p:cNvSpPr txBox="1"/>
          <p:nvPr/>
        </p:nvSpPr>
        <p:spPr>
          <a:xfrm>
            <a:off x="566928" y="6419088"/>
            <a:ext cx="6858000" cy="274320"/>
          </a:xfrm>
          <a:prstGeom prst="rect">
            <a:avLst/>
          </a:prstGeom>
          <a:noFill/>
        </p:spPr>
        <p:txBody>
          <a:bodyPr wrap="square" lIns="45720" rIns="45720" tIns="27432" bIns="27432" anchor="t">
            <a:noAutofit/>
          </a:bodyPr>
          <a:lstStyle/>
          <a:p>
            <a:pPr algn="l">
              <a:lnSpc>
                <a:spcPct val="100000"/>
              </a:lnSpc>
            </a:pPr>
            <a:r>
              <a:rPr sz="850" b="0" i="0" spc="120">
                <a:solidFill>
                  <a:srgbClr val="A7B2B0"/>
                </a:solidFill>
                <a:latin typeface="Segoe UI Semibold"/>
              </a:rPr>
              <a:t>TLAMATINI  ·  I · QUIÉN ES ELLA</a:t>
            </a:r>
          </a:p>
        </p:txBody>
      </p:sp>
      <p:sp>
        <p:nvSpPr>
          <p:cNvPr id="42" name="TextBox 41"/>
          <p:cNvSpPr txBox="1"/>
          <p:nvPr/>
        </p:nvSpPr>
        <p:spPr>
          <a:xfrm>
            <a:off x="8698687" y="6419088"/>
            <a:ext cx="2926080" cy="274320"/>
          </a:xfrm>
          <a:prstGeom prst="rect">
            <a:avLst/>
          </a:prstGeom>
          <a:noFill/>
        </p:spPr>
        <p:txBody>
          <a:bodyPr wrap="square" lIns="45720" rIns="45720" tIns="27432" bIns="27432" anchor="t">
            <a:noAutofit/>
          </a:bodyPr>
          <a:lstStyle/>
          <a:p>
            <a:pPr algn="r">
              <a:lnSpc>
                <a:spcPct val="100000"/>
              </a:lnSpc>
            </a:pPr>
            <a:r>
              <a:rPr sz="850" b="0" i="0" spc="100">
                <a:solidFill>
                  <a:srgbClr val="A7B2B0"/>
                </a:solidFill>
                <a:latin typeface="Segoe UI Semibold"/>
              </a:rPr>
              <a:t>v1.91.1   ·   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divider.png"/>
          <p:cNvPicPr>
            <a:picLocks noChangeAspect="1"/>
          </p:cNvPicPr>
          <p:nvPr/>
        </p:nvPicPr>
        <p:blipFill>
          <a:blip r:embed="rId2"/>
          <a:stretch>
            <a:fillRect/>
          </a:stretch>
        </p:blipFill>
        <p:spPr>
          <a:xfrm>
            <a:off x="0" y="0"/>
            <a:ext cx="12191695" cy="6858000"/>
          </a:xfrm>
          <a:prstGeom prst="rect">
            <a:avLst/>
          </a:prstGeom>
        </p:spPr>
      </p:pic>
      <p:sp>
        <p:nvSpPr>
          <p:cNvPr id="3" name="TextBox 2"/>
          <p:cNvSpPr txBox="1"/>
          <p:nvPr/>
        </p:nvSpPr>
        <p:spPr>
          <a:xfrm>
            <a:off x="822960" y="868680"/>
            <a:ext cx="4572000" cy="365760"/>
          </a:xfrm>
          <a:prstGeom prst="rect">
            <a:avLst/>
          </a:prstGeom>
          <a:noFill/>
        </p:spPr>
        <p:txBody>
          <a:bodyPr wrap="square" lIns="45720" rIns="45720" tIns="27432" bIns="27432" anchor="t">
            <a:noAutofit/>
          </a:bodyPr>
          <a:lstStyle/>
          <a:p>
            <a:pPr algn="l">
              <a:lnSpc>
                <a:spcPct val="100000"/>
              </a:lnSpc>
            </a:pPr>
            <a:r>
              <a:rPr sz="1300" b="0" i="0" spc="340">
                <a:solidFill>
                  <a:srgbClr val="C98457"/>
                </a:solidFill>
                <a:latin typeface="Segoe UI Semibold"/>
              </a:rPr>
              <a:t>CHAPTER</a:t>
            </a:r>
          </a:p>
        </p:txBody>
      </p:sp>
      <p:sp>
        <p:nvSpPr>
          <p:cNvPr id="4" name="TextBox 3"/>
          <p:cNvSpPr txBox="1"/>
          <p:nvPr/>
        </p:nvSpPr>
        <p:spPr>
          <a:xfrm>
            <a:off x="749808" y="1261872"/>
            <a:ext cx="5029200" cy="1691640"/>
          </a:xfrm>
          <a:prstGeom prst="rect">
            <a:avLst/>
          </a:prstGeom>
          <a:noFill/>
        </p:spPr>
        <p:txBody>
          <a:bodyPr wrap="square" lIns="45720" rIns="45720" tIns="27432" bIns="27432" anchor="t">
            <a:noAutofit/>
          </a:bodyPr>
          <a:lstStyle/>
          <a:p>
            <a:pPr algn="l">
              <a:lnSpc>
                <a:spcPct val="100000"/>
              </a:lnSpc>
            </a:pPr>
            <a:r>
              <a:rPr sz="10550" b="0" i="0">
                <a:solidFill>
                  <a:srgbClr val="C98457"/>
                </a:solidFill>
                <a:latin typeface="Palatino Linotype"/>
              </a:rPr>
              <a:t>II</a:t>
            </a:r>
          </a:p>
        </p:txBody>
      </p:sp>
      <p:sp>
        <p:nvSpPr>
          <p:cNvPr id="5" name="TextBox 4"/>
          <p:cNvSpPr txBox="1"/>
          <p:nvPr/>
        </p:nvSpPr>
        <p:spPr>
          <a:xfrm>
            <a:off x="822960" y="2971800"/>
            <a:ext cx="6766560" cy="1280160"/>
          </a:xfrm>
          <a:prstGeom prst="rect">
            <a:avLst/>
          </a:prstGeom>
          <a:noFill/>
        </p:spPr>
        <p:txBody>
          <a:bodyPr wrap="square" lIns="45720" rIns="45720" tIns="27432" bIns="27432" anchor="t">
            <a:noAutofit/>
          </a:bodyPr>
          <a:lstStyle/>
          <a:p>
            <a:pPr algn="l">
              <a:lnSpc>
                <a:spcPct val="100000"/>
              </a:lnSpc>
            </a:pPr>
            <a:r>
              <a:rPr sz="4600" b="0" i="0">
                <a:solidFill>
                  <a:srgbClr val="F7F2E8"/>
                </a:solidFill>
                <a:latin typeface="Palatino Linotype"/>
              </a:rPr>
              <a:t>Cómo funciona</a:t>
            </a:r>
          </a:p>
        </p:txBody>
      </p:sp>
      <p:sp>
        <p:nvSpPr>
          <p:cNvPr id="6" name="Rectangle 5"/>
          <p:cNvSpPr/>
          <p:nvPr/>
        </p:nvSpPr>
        <p:spPr>
          <a:xfrm>
            <a:off x="841248" y="4315968"/>
            <a:ext cx="1005840" cy="45720"/>
          </a:xfrm>
          <a:prstGeom prst="rect">
            <a:avLst/>
          </a:prstGeom>
          <a:solidFill>
            <a:srgbClr val="C984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822960" y="4443984"/>
            <a:ext cx="6400800" cy="731520"/>
          </a:xfrm>
          <a:prstGeom prst="rect">
            <a:avLst/>
          </a:prstGeom>
          <a:noFill/>
        </p:spPr>
        <p:txBody>
          <a:bodyPr wrap="square" lIns="45720" rIns="45720" tIns="27432" bIns="27432" anchor="t">
            <a:noAutofit/>
          </a:bodyPr>
          <a:lstStyle/>
          <a:p>
            <a:pPr algn="l">
              <a:lnSpc>
                <a:spcPct val="100000"/>
              </a:lnSpc>
            </a:pPr>
            <a:r>
              <a:rPr sz="1800" b="0" i="0">
                <a:solidFill>
                  <a:srgbClr val="ECE7DC"/>
                </a:solidFill>
                <a:latin typeface="Segoe UI Light"/>
              </a:rPr>
              <a:t>De una tecla en el browser a un resultado verificado en el disco: las capas, el ciclo y el veredicto.</a:t>
            </a:r>
          </a:p>
        </p:txBody>
      </p:sp>
      <p:cxnSp>
        <p:nvCxnSpPr>
          <p:cNvPr id="8" name="Connector 7"/>
          <p:cNvCxnSpPr/>
          <p:nvPr/>
        </p:nvCxnSpPr>
        <p:spPr>
          <a:xfrm>
            <a:off x="566928" y="6373368"/>
            <a:ext cx="11057839" cy="0"/>
          </a:xfrm>
          <a:prstGeom prst="line">
            <a:avLst/>
          </a:prstGeom>
          <a:ln w="7620">
            <a:solidFill>
              <a:srgbClr val="2A3A40"/>
            </a:solidFill>
          </a:ln>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566928" y="6419088"/>
            <a:ext cx="6858000" cy="274320"/>
          </a:xfrm>
          <a:prstGeom prst="rect">
            <a:avLst/>
          </a:prstGeom>
          <a:noFill/>
        </p:spPr>
        <p:txBody>
          <a:bodyPr wrap="square" lIns="45720" rIns="45720" tIns="27432" bIns="27432" anchor="t">
            <a:noAutofit/>
          </a:bodyPr>
          <a:lstStyle/>
          <a:p>
            <a:pPr algn="l">
              <a:lnSpc>
                <a:spcPct val="100000"/>
              </a:lnSpc>
            </a:pPr>
            <a:r>
              <a:rPr sz="850" b="0" i="0" spc="120">
                <a:solidFill>
                  <a:srgbClr val="A7B2B0"/>
                </a:solidFill>
                <a:latin typeface="Segoe UI Semibold"/>
              </a:rPr>
              <a:t>TLAMATINI  ·  CAPÍTULO II</a:t>
            </a:r>
          </a:p>
        </p:txBody>
      </p:sp>
      <p:sp>
        <p:nvSpPr>
          <p:cNvPr id="10" name="TextBox 9"/>
          <p:cNvSpPr txBox="1"/>
          <p:nvPr/>
        </p:nvSpPr>
        <p:spPr>
          <a:xfrm>
            <a:off x="8698687" y="6419088"/>
            <a:ext cx="2926080" cy="274320"/>
          </a:xfrm>
          <a:prstGeom prst="rect">
            <a:avLst/>
          </a:prstGeom>
          <a:noFill/>
        </p:spPr>
        <p:txBody>
          <a:bodyPr wrap="square" lIns="45720" rIns="45720" tIns="27432" bIns="27432" anchor="t">
            <a:noAutofit/>
          </a:bodyPr>
          <a:lstStyle/>
          <a:p>
            <a:pPr algn="r">
              <a:lnSpc>
                <a:spcPct val="100000"/>
              </a:lnSpc>
            </a:pPr>
            <a:r>
              <a:rPr sz="850" b="0" i="0" spc="100">
                <a:solidFill>
                  <a:srgbClr val="A7B2B0"/>
                </a:solidFill>
                <a:latin typeface="Segoe UI Semibold"/>
              </a:rPr>
              <a:t>v1.91.1   ·   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content.png"/>
          <p:cNvPicPr>
            <a:picLocks noChangeAspect="1"/>
          </p:cNvPicPr>
          <p:nvPr/>
        </p:nvPicPr>
        <p:blipFill>
          <a:blip r:embed="rId2"/>
          <a:stretch>
            <a:fillRect/>
          </a:stretch>
        </p:blipFill>
        <p:spPr>
          <a:xfrm>
            <a:off x="0" y="0"/>
            <a:ext cx="12191695" cy="6858000"/>
          </a:xfrm>
          <a:prstGeom prst="rect">
            <a:avLst/>
          </a:prstGeom>
        </p:spPr>
      </p:pic>
      <p:sp>
        <p:nvSpPr>
          <p:cNvPr id="3" name="Diamond 2"/>
          <p:cNvSpPr/>
          <p:nvPr/>
        </p:nvSpPr>
        <p:spPr>
          <a:xfrm>
            <a:off x="566928" y="457200"/>
            <a:ext cx="100584" cy="100584"/>
          </a:xfrm>
          <a:prstGeom prst="diamond">
            <a:avLst/>
          </a:prstGeom>
          <a:solidFill>
            <a:srgbClr val="C984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49808" y="365760"/>
            <a:ext cx="8229600" cy="292608"/>
          </a:xfrm>
          <a:prstGeom prst="rect">
            <a:avLst/>
          </a:prstGeom>
          <a:noFill/>
        </p:spPr>
        <p:txBody>
          <a:bodyPr wrap="square" lIns="45720" rIns="45720" tIns="27432" bIns="27432" anchor="t">
            <a:noAutofit/>
          </a:bodyPr>
          <a:lstStyle/>
          <a:p>
            <a:pPr algn="l">
              <a:lnSpc>
                <a:spcPct val="100000"/>
              </a:lnSpc>
            </a:pPr>
            <a:r>
              <a:rPr sz="1100" b="0" i="0" spc="240">
                <a:solidFill>
                  <a:srgbClr val="C98457"/>
                </a:solidFill>
                <a:latin typeface="Segoe UI Semibold"/>
              </a:rPr>
              <a:t>PUENTE DEL LIVE EDITOR</a:t>
            </a:r>
          </a:p>
        </p:txBody>
      </p:sp>
      <p:sp>
        <p:nvSpPr>
          <p:cNvPr id="5" name="TextBox 4"/>
          <p:cNvSpPr txBox="1"/>
          <p:nvPr/>
        </p:nvSpPr>
        <p:spPr>
          <a:xfrm>
            <a:off x="539496" y="676656"/>
            <a:ext cx="11057839" cy="658368"/>
          </a:xfrm>
          <a:prstGeom prst="rect">
            <a:avLst/>
          </a:prstGeom>
          <a:noFill/>
        </p:spPr>
        <p:txBody>
          <a:bodyPr wrap="square" lIns="45720" rIns="45720" tIns="27432" bIns="27432" anchor="t">
            <a:noAutofit/>
          </a:bodyPr>
          <a:lstStyle/>
          <a:p>
            <a:pPr algn="l">
              <a:lnSpc>
                <a:spcPct val="100000"/>
              </a:lnSpc>
            </a:pPr>
            <a:r>
              <a:rPr sz="3100" b="0" i="0">
                <a:solidFill>
                  <a:srgbClr val="F7F2E8"/>
                </a:solidFill>
                <a:latin typeface="Palatino Linotype"/>
              </a:rPr>
              <a:t>Una pestaña autenticada, un buffer exacto</a:t>
            </a:r>
          </a:p>
        </p:txBody>
      </p:sp>
      <p:sp>
        <p:nvSpPr>
          <p:cNvPr id="6" name="Rectangle 5"/>
          <p:cNvSpPr/>
          <p:nvPr/>
        </p:nvSpPr>
        <p:spPr>
          <a:xfrm>
            <a:off x="566928" y="1344168"/>
            <a:ext cx="822960" cy="36576"/>
          </a:xfrm>
          <a:prstGeom prst="rect">
            <a:avLst/>
          </a:prstGeom>
          <a:solidFill>
            <a:srgbClr val="C984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566928" y="1444752"/>
            <a:ext cx="10692079" cy="585216"/>
          </a:xfrm>
          <a:prstGeom prst="rect">
            <a:avLst/>
          </a:prstGeom>
          <a:noFill/>
        </p:spPr>
        <p:txBody>
          <a:bodyPr wrap="square" lIns="45720" rIns="45720" tIns="27432" bIns="27432" anchor="t">
            <a:noAutofit/>
          </a:bodyPr>
          <a:lstStyle/>
          <a:p>
            <a:pPr algn="l">
              <a:lnSpc>
                <a:spcPct val="100000"/>
              </a:lnSpc>
            </a:pPr>
            <a:r>
              <a:rPr sz="1450" b="0" i="0">
                <a:solidFill>
                  <a:srgbClr val="A7B2B0"/>
                </a:solidFill>
                <a:latin typeface="Segoe UI Semilight"/>
              </a:rPr>
              <a:t>El editor del browser y el ciclo síncrono de tools comparten un puente ligado a la cuenta/sesión.</a:t>
            </a:r>
          </a:p>
        </p:txBody>
      </p:sp>
      <p:sp>
        <p:nvSpPr>
          <p:cNvPr id="8" name="Rounded Rectangle 7"/>
          <p:cNvSpPr/>
          <p:nvPr/>
        </p:nvSpPr>
        <p:spPr>
          <a:xfrm>
            <a:off x="566928" y="2084831"/>
            <a:ext cx="11057839" cy="579120"/>
          </a:xfrm>
          <a:prstGeom prst="roundRect">
            <a:avLst>
              <a:gd name="adj" fmla="val 15789"/>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Diamond 8"/>
          <p:cNvSpPr/>
          <p:nvPr/>
        </p:nvSpPr>
        <p:spPr>
          <a:xfrm>
            <a:off x="768096" y="2310384"/>
            <a:ext cx="128016" cy="128016"/>
          </a:xfrm>
          <a:prstGeom prst="diamond">
            <a:avLst/>
          </a:prstGeom>
          <a:solidFill>
            <a:srgbClr val="3BBE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1024128" y="2139696"/>
            <a:ext cx="2651760" cy="469392"/>
          </a:xfrm>
          <a:prstGeom prst="rect">
            <a:avLst/>
          </a:prstGeom>
          <a:noFill/>
        </p:spPr>
        <p:txBody>
          <a:bodyPr wrap="square" lIns="45720" rIns="45720" tIns="27432" bIns="27432" anchor="ctr">
            <a:noAutofit/>
          </a:bodyPr>
          <a:lstStyle/>
          <a:p>
            <a:pPr algn="l">
              <a:lnSpc>
                <a:spcPct val="100000"/>
              </a:lnSpc>
            </a:pPr>
            <a:r>
              <a:rPr sz="1600" b="0" i="0">
                <a:solidFill>
                  <a:srgbClr val="F7F2E8"/>
                </a:solidFill>
                <a:latin typeface="Segoe UI Semibold"/>
              </a:rPr>
              <a:t>Browser</a:t>
            </a:r>
          </a:p>
        </p:txBody>
      </p:sp>
      <p:sp>
        <p:nvSpPr>
          <p:cNvPr id="11" name="TextBox 10"/>
          <p:cNvSpPr txBox="1"/>
          <p:nvPr/>
        </p:nvSpPr>
        <p:spPr>
          <a:xfrm>
            <a:off x="3767328" y="2139696"/>
            <a:ext cx="7720279" cy="469392"/>
          </a:xfrm>
          <a:prstGeom prst="rect">
            <a:avLst/>
          </a:prstGeom>
          <a:noFill/>
        </p:spPr>
        <p:txBody>
          <a:bodyPr wrap="square" lIns="45720" rIns="45720" tIns="27432" bIns="27432" anchor="ctr">
            <a:noAutofit/>
          </a:bodyPr>
          <a:lstStyle/>
          <a:p>
            <a:pPr algn="l">
              <a:lnSpc>
                <a:spcPct val="100000"/>
              </a:lnSpc>
            </a:pPr>
            <a:r>
              <a:rPr sz="1300" b="0" i="0">
                <a:solidFill>
                  <a:srgbClr val="A7B2B0"/>
                </a:solidFill>
                <a:latin typeface="Segoe UI"/>
              </a:rPr>
              <a:t>CodeMirror es la autoridad; bridge.js envía recibos/acceso/detener, no comandos con paths del host.</a:t>
            </a:r>
          </a:p>
        </p:txBody>
      </p:sp>
      <p:sp>
        <p:nvSpPr>
          <p:cNvPr id="12" name="Rounded Rectangle 11"/>
          <p:cNvSpPr/>
          <p:nvPr/>
        </p:nvSpPr>
        <p:spPr>
          <a:xfrm>
            <a:off x="566928" y="2791968"/>
            <a:ext cx="11057839" cy="579120"/>
          </a:xfrm>
          <a:prstGeom prst="roundRect">
            <a:avLst>
              <a:gd name="adj" fmla="val 15789"/>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Diamond 12"/>
          <p:cNvSpPr/>
          <p:nvPr/>
        </p:nvSpPr>
        <p:spPr>
          <a:xfrm>
            <a:off x="768096" y="3017520"/>
            <a:ext cx="128016" cy="128016"/>
          </a:xfrm>
          <a:prstGeom prst="diamond">
            <a:avLst/>
          </a:prstGeom>
          <a:solidFill>
            <a:srgbClr val="C984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1024128" y="2846832"/>
            <a:ext cx="2651760" cy="469392"/>
          </a:xfrm>
          <a:prstGeom prst="rect">
            <a:avLst/>
          </a:prstGeom>
          <a:noFill/>
        </p:spPr>
        <p:txBody>
          <a:bodyPr wrap="square" lIns="45720" rIns="45720" tIns="27432" bIns="27432" anchor="ctr">
            <a:noAutofit/>
          </a:bodyPr>
          <a:lstStyle/>
          <a:p>
            <a:pPr algn="l">
              <a:lnSpc>
                <a:spcPct val="100000"/>
              </a:lnSpc>
            </a:pPr>
            <a:r>
              <a:rPr sz="1600" b="0" i="0">
                <a:solidFill>
                  <a:srgbClr val="F7F2E8"/>
                </a:solidFill>
                <a:latin typeface="Segoe UI Semibold"/>
              </a:rPr>
              <a:t>Transporte</a:t>
            </a:r>
          </a:p>
        </p:txBody>
      </p:sp>
      <p:sp>
        <p:nvSpPr>
          <p:cNvPr id="15" name="TextBox 14"/>
          <p:cNvSpPr txBox="1"/>
          <p:nvPr/>
        </p:nvSpPr>
        <p:spPr>
          <a:xfrm>
            <a:off x="3767328" y="2846832"/>
            <a:ext cx="7720279" cy="469392"/>
          </a:xfrm>
          <a:prstGeom prst="rect">
            <a:avLst/>
          </a:prstGeom>
          <a:noFill/>
        </p:spPr>
        <p:txBody>
          <a:bodyPr wrap="square" lIns="45720" rIns="45720" tIns="27432" bIns="27432" anchor="ctr">
            <a:noAutofit/>
          </a:bodyPr>
          <a:lstStyle/>
          <a:p>
            <a:pPr algn="l">
              <a:lnSpc>
                <a:spcPct val="100000"/>
              </a:lnSpc>
            </a:pPr>
            <a:r>
              <a:rPr sz="1300" b="0" i="0">
                <a:solidFill>
                  <a:srgbClr val="A7B2B0"/>
                </a:solidFill>
                <a:latin typeface="Segoe UI"/>
              </a:rPr>
              <a:t>ws/interactor/ autentica la sesión y el Origin/Host exactos; el servidor asigna la identidad de la pestaña.</a:t>
            </a:r>
          </a:p>
        </p:txBody>
      </p:sp>
      <p:sp>
        <p:nvSpPr>
          <p:cNvPr id="16" name="Rounded Rectangle 15"/>
          <p:cNvSpPr/>
          <p:nvPr/>
        </p:nvSpPr>
        <p:spPr>
          <a:xfrm>
            <a:off x="566928" y="3499103"/>
            <a:ext cx="11057839" cy="579120"/>
          </a:xfrm>
          <a:prstGeom prst="roundRect">
            <a:avLst>
              <a:gd name="adj" fmla="val 15789"/>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Diamond 16"/>
          <p:cNvSpPr/>
          <p:nvPr/>
        </p:nvSpPr>
        <p:spPr>
          <a:xfrm>
            <a:off x="768096" y="3724655"/>
            <a:ext cx="128016" cy="128016"/>
          </a:xfrm>
          <a:prstGeom prst="diamond">
            <a:avLst/>
          </a:prstGeom>
          <a:solidFill>
            <a:srgbClr val="E2B4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1024128" y="3553967"/>
            <a:ext cx="2651760" cy="469392"/>
          </a:xfrm>
          <a:prstGeom prst="rect">
            <a:avLst/>
          </a:prstGeom>
          <a:noFill/>
        </p:spPr>
        <p:txBody>
          <a:bodyPr wrap="square" lIns="45720" rIns="45720" tIns="27432" bIns="27432" anchor="ctr">
            <a:noAutofit/>
          </a:bodyPr>
          <a:lstStyle/>
          <a:p>
            <a:pPr algn="l">
              <a:lnSpc>
                <a:spcPct val="100000"/>
              </a:lnSpc>
            </a:pPr>
            <a:r>
              <a:rPr sz="1600" b="0" i="0">
                <a:solidFill>
                  <a:srgbClr val="F7F2E8"/>
                </a:solidFill>
                <a:latin typeface="Segoe UI Semibold"/>
              </a:rPr>
              <a:t>Contexto del tool</a:t>
            </a:r>
          </a:p>
        </p:txBody>
      </p:sp>
      <p:sp>
        <p:nvSpPr>
          <p:cNvPr id="19" name="TextBox 18"/>
          <p:cNvSpPr txBox="1"/>
          <p:nvPr/>
        </p:nvSpPr>
        <p:spPr>
          <a:xfrm>
            <a:off x="3767328" y="3553967"/>
            <a:ext cx="7720279" cy="469392"/>
          </a:xfrm>
          <a:prstGeom prst="rect">
            <a:avLst/>
          </a:prstGeom>
          <a:noFill/>
        </p:spPr>
        <p:txBody>
          <a:bodyPr wrap="square" lIns="45720" rIns="45720" tIns="27432" bIns="27432" anchor="ctr">
            <a:noAutofit/>
          </a:bodyPr>
          <a:lstStyle/>
          <a:p>
            <a:pPr algn="l">
              <a:lnSpc>
                <a:spcPct val="100000"/>
              </a:lnSpc>
            </a:pPr>
            <a:r>
              <a:rPr sz="1300" b="0" i="0">
                <a:solidFill>
                  <a:srgbClr val="A7B2B0"/>
                </a:solidFill>
                <a:latin typeface="Segoe UI"/>
              </a:rPr>
              <a:t>ContextVar lleva la identidad de pestaña/cuenta/sesión a los workers; read obtiene el buffer vivo.</a:t>
            </a:r>
          </a:p>
        </p:txBody>
      </p:sp>
      <p:sp>
        <p:nvSpPr>
          <p:cNvPr id="20" name="Rounded Rectangle 19"/>
          <p:cNvSpPr/>
          <p:nvPr/>
        </p:nvSpPr>
        <p:spPr>
          <a:xfrm>
            <a:off x="566928" y="4206240"/>
            <a:ext cx="11057839" cy="579120"/>
          </a:xfrm>
          <a:prstGeom prst="roundRect">
            <a:avLst>
              <a:gd name="adj" fmla="val 15789"/>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Diamond 20"/>
          <p:cNvSpPr/>
          <p:nvPr/>
        </p:nvSpPr>
        <p:spPr>
          <a:xfrm>
            <a:off x="768096" y="4431791"/>
            <a:ext cx="128016" cy="128016"/>
          </a:xfrm>
          <a:prstGeom prst="diamond">
            <a:avLst/>
          </a:prstGeom>
          <a:solidFill>
            <a:srgbClr val="46D2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1024128" y="4261103"/>
            <a:ext cx="2651760" cy="469392"/>
          </a:xfrm>
          <a:prstGeom prst="rect">
            <a:avLst/>
          </a:prstGeom>
          <a:noFill/>
        </p:spPr>
        <p:txBody>
          <a:bodyPr wrap="square" lIns="45720" rIns="45720" tIns="27432" bIns="27432" anchor="ctr">
            <a:noAutofit/>
          </a:bodyPr>
          <a:lstStyle/>
          <a:p>
            <a:pPr algn="l">
              <a:lnSpc>
                <a:spcPct val="100000"/>
              </a:lnSpc>
            </a:pPr>
            <a:r>
              <a:rPr sz="1600" b="0" i="0">
                <a:solidFill>
                  <a:srgbClr val="F7F2E8"/>
                </a:solidFill>
                <a:latin typeface="Segoe UI Semibold"/>
              </a:rPr>
              <a:t>Hub</a:t>
            </a:r>
          </a:p>
        </p:txBody>
      </p:sp>
      <p:sp>
        <p:nvSpPr>
          <p:cNvPr id="23" name="TextBox 22"/>
          <p:cNvSpPr txBox="1"/>
          <p:nvPr/>
        </p:nvSpPr>
        <p:spPr>
          <a:xfrm>
            <a:off x="3767328" y="4261103"/>
            <a:ext cx="7720279" cy="469392"/>
          </a:xfrm>
          <a:prstGeom prst="rect">
            <a:avLst/>
          </a:prstGeom>
          <a:noFill/>
        </p:spPr>
        <p:txBody>
          <a:bodyPr wrap="square" lIns="45720" rIns="45720" tIns="27432" bIns="27432" anchor="ctr">
            <a:noAutofit/>
          </a:bodyPr>
          <a:lstStyle/>
          <a:p>
            <a:pPr algn="l">
              <a:lnSpc>
                <a:spcPct val="100000"/>
              </a:lnSpc>
            </a:pPr>
            <a:r>
              <a:rPr sz="1300" b="0" i="0">
                <a:solidFill>
                  <a:srgbClr val="A7B2B0"/>
                </a:solidFill>
                <a:latin typeface="Segoe UI"/>
              </a:rPr>
              <a:t>Colas acotadas, IDs de comandos, plazos, revisiones de la revisión y verificación del buffer completo.</a:t>
            </a:r>
          </a:p>
        </p:txBody>
      </p:sp>
      <p:sp>
        <p:nvSpPr>
          <p:cNvPr id="24" name="Rounded Rectangle 23"/>
          <p:cNvSpPr/>
          <p:nvPr/>
        </p:nvSpPr>
        <p:spPr>
          <a:xfrm>
            <a:off x="566928" y="4913376"/>
            <a:ext cx="11057839" cy="579120"/>
          </a:xfrm>
          <a:prstGeom prst="roundRect">
            <a:avLst>
              <a:gd name="adj" fmla="val 15789"/>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Diamond 24"/>
          <p:cNvSpPr/>
          <p:nvPr/>
        </p:nvSpPr>
        <p:spPr>
          <a:xfrm>
            <a:off x="768096" y="5138927"/>
            <a:ext cx="128016" cy="128016"/>
          </a:xfrm>
          <a:prstGeom prst="diamond">
            <a:avLst/>
          </a:prstGeom>
          <a:solidFill>
            <a:srgbClr val="D25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1024128" y="4968239"/>
            <a:ext cx="2651760" cy="469392"/>
          </a:xfrm>
          <a:prstGeom prst="rect">
            <a:avLst/>
          </a:prstGeom>
          <a:noFill/>
        </p:spPr>
        <p:txBody>
          <a:bodyPr wrap="square" lIns="45720" rIns="45720" tIns="27432" bIns="27432" anchor="ctr">
            <a:noAutofit/>
          </a:bodyPr>
          <a:lstStyle/>
          <a:p>
            <a:pPr algn="l">
              <a:lnSpc>
                <a:spcPct val="100000"/>
              </a:lnSpc>
            </a:pPr>
            <a:r>
              <a:rPr sz="1600" b="0" i="0">
                <a:solidFill>
                  <a:srgbClr val="F7F2E8"/>
                </a:solidFill>
                <a:latin typeface="Segoe UI Semibold"/>
              </a:rPr>
              <a:t>Persistencia</a:t>
            </a:r>
          </a:p>
        </p:txBody>
      </p:sp>
      <p:sp>
        <p:nvSpPr>
          <p:cNvPr id="27" name="TextBox 26"/>
          <p:cNvSpPr txBox="1"/>
          <p:nvPr/>
        </p:nvSpPr>
        <p:spPr>
          <a:xfrm>
            <a:off x="3767328" y="4968239"/>
            <a:ext cx="7720279" cy="469392"/>
          </a:xfrm>
          <a:prstGeom prst="rect">
            <a:avLst/>
          </a:prstGeom>
          <a:noFill/>
        </p:spPr>
        <p:txBody>
          <a:bodyPr wrap="square" lIns="45720" rIns="45720" tIns="27432" bIns="27432" anchor="ctr">
            <a:noAutofit/>
          </a:bodyPr>
          <a:lstStyle/>
          <a:p>
            <a:pPr algn="l">
              <a:lnSpc>
                <a:spcPct val="100000"/>
              </a:lnSpc>
            </a:pPr>
            <a:r>
              <a:rPr sz="1300" b="0" i="0">
                <a:solidFill>
                  <a:srgbClr val="A7B2B0"/>
                </a:solidFill>
                <a:latin typeface="Segoe UI"/>
              </a:rPr>
              <a:t>Ask Execs controla new/save; el acceso al host por loopback usa las protecciones existentes de paths y de capacidades de archivo.</a:t>
            </a:r>
          </a:p>
        </p:txBody>
      </p:sp>
      <p:sp>
        <p:nvSpPr>
          <p:cNvPr id="28" name="Rounded Rectangle 27"/>
          <p:cNvSpPr/>
          <p:nvPr/>
        </p:nvSpPr>
        <p:spPr>
          <a:xfrm>
            <a:off x="566928" y="5620512"/>
            <a:ext cx="11057839" cy="579120"/>
          </a:xfrm>
          <a:prstGeom prst="roundRect">
            <a:avLst>
              <a:gd name="adj" fmla="val 15789"/>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Diamond 28"/>
          <p:cNvSpPr/>
          <p:nvPr/>
        </p:nvSpPr>
        <p:spPr>
          <a:xfrm>
            <a:off x="768096" y="5846063"/>
            <a:ext cx="128016" cy="128016"/>
          </a:xfrm>
          <a:prstGeom prst="diamond">
            <a:avLst/>
          </a:prstGeom>
          <a:solidFill>
            <a:srgbClr val="D957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1024128" y="5675375"/>
            <a:ext cx="2651760" cy="469392"/>
          </a:xfrm>
          <a:prstGeom prst="rect">
            <a:avLst/>
          </a:prstGeom>
          <a:noFill/>
        </p:spPr>
        <p:txBody>
          <a:bodyPr wrap="square" lIns="45720" rIns="45720" tIns="27432" bIns="27432" anchor="ctr">
            <a:noAutofit/>
          </a:bodyPr>
          <a:lstStyle/>
          <a:p>
            <a:pPr algn="l">
              <a:lnSpc>
                <a:spcPct val="100000"/>
              </a:lnSpc>
            </a:pPr>
            <a:r>
              <a:rPr sz="1600" b="0" i="0">
                <a:solidFill>
                  <a:srgbClr val="F7F2E8"/>
                </a:solidFill>
                <a:latin typeface="Segoe UI Semibold"/>
              </a:rPr>
              <a:t>Transporte al release</a:t>
            </a:r>
          </a:p>
        </p:txBody>
      </p:sp>
      <p:sp>
        <p:nvSpPr>
          <p:cNvPr id="31" name="TextBox 30"/>
          <p:cNvSpPr txBox="1"/>
          <p:nvPr/>
        </p:nvSpPr>
        <p:spPr>
          <a:xfrm>
            <a:off x="3767328" y="5675375"/>
            <a:ext cx="7720279" cy="469392"/>
          </a:xfrm>
          <a:prstGeom prst="rect">
            <a:avLst/>
          </a:prstGeom>
          <a:noFill/>
        </p:spPr>
        <p:txBody>
          <a:bodyPr wrap="square" lIns="45720" rIns="45720" tIns="27432" bIns="27432" anchor="ctr">
            <a:noAutofit/>
          </a:bodyPr>
          <a:lstStyle/>
          <a:p>
            <a:pPr algn="l">
              <a:lnSpc>
                <a:spcPct val="100000"/>
              </a:lnSpc>
            </a:pPr>
            <a:r>
              <a:rPr sz="1300" b="0" i="0">
                <a:solidFill>
                  <a:srgbClr val="A7B2B0"/>
                </a:solidFill>
                <a:latin typeface="Segoe UI"/>
              </a:rPr>
              <a:t>Migración 0218, tool_gate_table, reglas del prompt, módulos congelados e inventarios sin conexión de source/estáticos.</a:t>
            </a:r>
          </a:p>
        </p:txBody>
      </p:sp>
      <p:cxnSp>
        <p:nvCxnSpPr>
          <p:cNvPr id="32" name="Connector 31"/>
          <p:cNvCxnSpPr/>
          <p:nvPr/>
        </p:nvCxnSpPr>
        <p:spPr>
          <a:xfrm>
            <a:off x="566928" y="6373368"/>
            <a:ext cx="11057839" cy="0"/>
          </a:xfrm>
          <a:prstGeom prst="line">
            <a:avLst/>
          </a:prstGeom>
          <a:ln w="7620">
            <a:solidFill>
              <a:srgbClr val="2A3A40"/>
            </a:solidFill>
          </a:ln>
        </p:spPr>
        <p:style>
          <a:lnRef idx="2">
            <a:schemeClr val="accent1"/>
          </a:lnRef>
          <a:fillRef idx="0">
            <a:schemeClr val="accent1"/>
          </a:fillRef>
          <a:effectRef idx="1">
            <a:schemeClr val="accent1"/>
          </a:effectRef>
          <a:fontRef idx="minor">
            <a:schemeClr val="tx1"/>
          </a:fontRef>
        </p:style>
      </p:cxnSp>
      <p:sp>
        <p:nvSpPr>
          <p:cNvPr id="33" name="TextBox 32"/>
          <p:cNvSpPr txBox="1"/>
          <p:nvPr/>
        </p:nvSpPr>
        <p:spPr>
          <a:xfrm>
            <a:off x="566928" y="6419088"/>
            <a:ext cx="6858000" cy="274320"/>
          </a:xfrm>
          <a:prstGeom prst="rect">
            <a:avLst/>
          </a:prstGeom>
          <a:noFill/>
        </p:spPr>
        <p:txBody>
          <a:bodyPr wrap="square" lIns="45720" rIns="45720" tIns="27432" bIns="27432" anchor="t">
            <a:noAutofit/>
          </a:bodyPr>
          <a:lstStyle/>
          <a:p>
            <a:pPr algn="l">
              <a:lnSpc>
                <a:spcPct val="100000"/>
              </a:lnSpc>
            </a:pPr>
            <a:r>
              <a:rPr sz="850" b="0" i="0" spc="120">
                <a:solidFill>
                  <a:srgbClr val="A7B2B0"/>
                </a:solidFill>
                <a:latin typeface="Segoe UI Semibold"/>
              </a:rPr>
              <a:t>TLAMATINI  ·  II · CÓMO FUNCIONA</a:t>
            </a:r>
          </a:p>
        </p:txBody>
      </p:sp>
      <p:sp>
        <p:nvSpPr>
          <p:cNvPr id="34" name="TextBox 33"/>
          <p:cNvSpPr txBox="1"/>
          <p:nvPr/>
        </p:nvSpPr>
        <p:spPr>
          <a:xfrm>
            <a:off x="8698687" y="6419088"/>
            <a:ext cx="2926080" cy="274320"/>
          </a:xfrm>
          <a:prstGeom prst="rect">
            <a:avLst/>
          </a:prstGeom>
          <a:noFill/>
        </p:spPr>
        <p:txBody>
          <a:bodyPr wrap="square" lIns="45720" rIns="45720" tIns="27432" bIns="27432" anchor="t">
            <a:noAutofit/>
          </a:bodyPr>
          <a:lstStyle/>
          <a:p>
            <a:pPr algn="r">
              <a:lnSpc>
                <a:spcPct val="100000"/>
              </a:lnSpc>
            </a:pPr>
            <a:r>
              <a:rPr sz="850" b="0" i="0" spc="100">
                <a:solidFill>
                  <a:srgbClr val="A7B2B0"/>
                </a:solidFill>
                <a:latin typeface="Segoe UI Semibold"/>
              </a:rPr>
              <a:t>v1.91.1   ·   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content.png"/>
          <p:cNvPicPr>
            <a:picLocks noChangeAspect="1"/>
          </p:cNvPicPr>
          <p:nvPr/>
        </p:nvPicPr>
        <p:blipFill>
          <a:blip r:embed="rId2"/>
          <a:stretch>
            <a:fillRect/>
          </a:stretch>
        </p:blipFill>
        <p:spPr>
          <a:xfrm>
            <a:off x="0" y="0"/>
            <a:ext cx="12191695" cy="6858000"/>
          </a:xfrm>
          <a:prstGeom prst="rect">
            <a:avLst/>
          </a:prstGeom>
        </p:spPr>
      </p:pic>
      <p:sp>
        <p:nvSpPr>
          <p:cNvPr id="3" name="Diamond 2"/>
          <p:cNvSpPr/>
          <p:nvPr/>
        </p:nvSpPr>
        <p:spPr>
          <a:xfrm>
            <a:off x="566928" y="457200"/>
            <a:ext cx="100584" cy="100584"/>
          </a:xfrm>
          <a:prstGeom prst="diamond">
            <a:avLst/>
          </a:prstGeom>
          <a:solidFill>
            <a:srgbClr val="C984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49808" y="365760"/>
            <a:ext cx="8229600" cy="292608"/>
          </a:xfrm>
          <a:prstGeom prst="rect">
            <a:avLst/>
          </a:prstGeom>
          <a:noFill/>
        </p:spPr>
        <p:txBody>
          <a:bodyPr wrap="square" lIns="45720" rIns="45720" tIns="27432" bIns="27432" anchor="t">
            <a:noAutofit/>
          </a:bodyPr>
          <a:lstStyle/>
          <a:p>
            <a:pPr algn="l">
              <a:lnSpc>
                <a:spcPct val="100000"/>
              </a:lnSpc>
            </a:pPr>
            <a:r>
              <a:rPr sz="1100" b="0" i="0" spc="240">
                <a:solidFill>
                  <a:srgbClr val="C98457"/>
                </a:solidFill>
                <a:latin typeface="Segoe UI Semibold"/>
              </a:rPr>
              <a:t>ARQUITECTURA</a:t>
            </a:r>
          </a:p>
        </p:txBody>
      </p:sp>
      <p:sp>
        <p:nvSpPr>
          <p:cNvPr id="5" name="TextBox 4"/>
          <p:cNvSpPr txBox="1"/>
          <p:nvPr/>
        </p:nvSpPr>
        <p:spPr>
          <a:xfrm>
            <a:off x="539496" y="676656"/>
            <a:ext cx="11057839" cy="658368"/>
          </a:xfrm>
          <a:prstGeom prst="rect">
            <a:avLst/>
          </a:prstGeom>
          <a:noFill/>
        </p:spPr>
        <p:txBody>
          <a:bodyPr wrap="square" lIns="45720" rIns="45720" tIns="27432" bIns="27432" anchor="t">
            <a:noAutofit/>
          </a:bodyPr>
          <a:lstStyle/>
          <a:p>
            <a:pPr algn="l">
              <a:lnSpc>
                <a:spcPct val="100000"/>
              </a:lnSpc>
            </a:pPr>
            <a:r>
              <a:rPr sz="3100" b="0" i="0">
                <a:solidFill>
                  <a:srgbClr val="F7F2E8"/>
                </a:solidFill>
                <a:latin typeface="Palatino Linotype"/>
              </a:rPr>
              <a:t>Cinco capas, de la casilla al tool</a:t>
            </a:r>
          </a:p>
        </p:txBody>
      </p:sp>
      <p:sp>
        <p:nvSpPr>
          <p:cNvPr id="6" name="Rectangle 5"/>
          <p:cNvSpPr/>
          <p:nvPr/>
        </p:nvSpPr>
        <p:spPr>
          <a:xfrm>
            <a:off x="566928" y="1344168"/>
            <a:ext cx="822960" cy="36576"/>
          </a:xfrm>
          <a:prstGeom prst="rect">
            <a:avLst/>
          </a:prstGeom>
          <a:solidFill>
            <a:srgbClr val="C984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566928" y="1444752"/>
            <a:ext cx="10692079" cy="585216"/>
          </a:xfrm>
          <a:prstGeom prst="rect">
            <a:avLst/>
          </a:prstGeom>
          <a:noFill/>
        </p:spPr>
        <p:txBody>
          <a:bodyPr wrap="square" lIns="45720" rIns="45720" tIns="27432" bIns="27432" anchor="t">
            <a:noAutofit/>
          </a:bodyPr>
          <a:lstStyle/>
          <a:p>
            <a:pPr algn="l">
              <a:lnSpc>
                <a:spcPct val="100000"/>
              </a:lnSpc>
            </a:pPr>
            <a:r>
              <a:rPr sz="1450" b="0" i="0">
                <a:solidFill>
                  <a:srgbClr val="A7B2B0"/>
                </a:solidFill>
                <a:latin typeface="Segoe UI Semilight"/>
              </a:rPr>
              <a:t>Una solicitud pasa por cinco capas, cada una con una responsabilidad, entre el browser de arriba y los back-ends de modelo de abajo.</a:t>
            </a:r>
          </a:p>
        </p:txBody>
      </p:sp>
      <p:sp>
        <p:nvSpPr>
          <p:cNvPr id="8" name="Rounded Rectangle 7"/>
          <p:cNvSpPr/>
          <p:nvPr/>
        </p:nvSpPr>
        <p:spPr>
          <a:xfrm>
            <a:off x="566928" y="2084831"/>
            <a:ext cx="11057839" cy="365760"/>
          </a:xfrm>
          <a:prstGeom prst="roundRect">
            <a:avLst>
              <a:gd name="adj" fmla="val 20000"/>
            </a:avLst>
          </a:prstGeom>
          <a:solidFill>
            <a:srgbClr val="151F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749808" y="2084831"/>
            <a:ext cx="10692079" cy="365760"/>
          </a:xfrm>
          <a:prstGeom prst="rect">
            <a:avLst/>
          </a:prstGeom>
          <a:noFill/>
        </p:spPr>
        <p:txBody>
          <a:bodyPr wrap="square" lIns="45720" rIns="45720" tIns="27432" bIns="27432" anchor="ctr">
            <a:noAutofit/>
          </a:bodyPr>
          <a:lstStyle/>
          <a:p>
            <a:pPr algn="l">
              <a:lnSpc>
                <a:spcPct val="100000"/>
              </a:lnSpc>
            </a:pPr>
            <a:r>
              <a:rPr sz="1100" b="0" i="0" spc="160">
                <a:solidFill>
                  <a:srgbClr val="E2B462"/>
                </a:solidFill>
                <a:latin typeface="Segoe UI Semibold"/>
              </a:rPr>
              <a:t>BROWSER   </a:t>
            </a:r>
            <a:r>
              <a:rPr sz="1300" b="0" i="0">
                <a:solidFill>
                  <a:srgbClr val="ECE7DC"/>
                </a:solidFill>
                <a:latin typeface="Segoe UI"/>
              </a:rPr>
              <a:t>Página del chat  ·  Agentic Control Panel  ·  Prompt Flow Panel  ·  WebSockets</a:t>
            </a:r>
          </a:p>
        </p:txBody>
      </p:sp>
      <p:sp>
        <p:nvSpPr>
          <p:cNvPr id="10" name="Rounded Rectangle 9"/>
          <p:cNvSpPr/>
          <p:nvPr/>
        </p:nvSpPr>
        <p:spPr>
          <a:xfrm>
            <a:off x="566928" y="2542032"/>
            <a:ext cx="11057839" cy="566928"/>
          </a:xfrm>
          <a:prstGeom prst="roundRect">
            <a:avLst>
              <a:gd name="adj" fmla="val 12903"/>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Rounded Rectangle 10"/>
          <p:cNvSpPr/>
          <p:nvPr/>
        </p:nvSpPr>
        <p:spPr>
          <a:xfrm>
            <a:off x="566928" y="2542032"/>
            <a:ext cx="566928" cy="566928"/>
          </a:xfrm>
          <a:prstGeom prst="roundRect">
            <a:avLst>
              <a:gd name="adj" fmla="val 12903"/>
            </a:avLst>
          </a:prstGeom>
          <a:solidFill>
            <a:srgbClr val="3BBE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566928" y="2542032"/>
            <a:ext cx="566928" cy="566928"/>
          </a:xfrm>
          <a:prstGeom prst="rect">
            <a:avLst/>
          </a:prstGeom>
          <a:noFill/>
        </p:spPr>
        <p:txBody>
          <a:bodyPr wrap="square" lIns="45720" rIns="45720" tIns="27432" bIns="27432" anchor="ctr">
            <a:noAutofit/>
          </a:bodyPr>
          <a:lstStyle/>
          <a:p>
            <a:pPr algn="ctr">
              <a:lnSpc>
                <a:spcPct val="100000"/>
              </a:lnSpc>
            </a:pPr>
            <a:r>
              <a:rPr sz="2200" b="1" i="0">
                <a:solidFill>
                  <a:srgbClr val="090E10"/>
                </a:solidFill>
                <a:latin typeface="Palatino Linotype"/>
              </a:rPr>
              <a:t>1</a:t>
            </a:r>
          </a:p>
        </p:txBody>
      </p:sp>
      <p:sp>
        <p:nvSpPr>
          <p:cNvPr id="13" name="TextBox 12"/>
          <p:cNvSpPr txBox="1"/>
          <p:nvPr/>
        </p:nvSpPr>
        <p:spPr>
          <a:xfrm>
            <a:off x="1298448" y="2578608"/>
            <a:ext cx="2834640" cy="493776"/>
          </a:xfrm>
          <a:prstGeom prst="rect">
            <a:avLst/>
          </a:prstGeom>
          <a:noFill/>
        </p:spPr>
        <p:txBody>
          <a:bodyPr wrap="square" lIns="45720" rIns="45720" tIns="27432" bIns="27432" anchor="ctr">
            <a:noAutofit/>
          </a:bodyPr>
          <a:lstStyle/>
          <a:p>
            <a:pPr algn="l">
              <a:lnSpc>
                <a:spcPct val="100000"/>
              </a:lnSpc>
            </a:pPr>
            <a:r>
              <a:rPr sz="1650" b="0" i="0">
                <a:solidFill>
                  <a:srgbClr val="F7F2E8"/>
                </a:solidFill>
                <a:latin typeface="Segoe UI Semibold"/>
              </a:rPr>
              <a:t>Casillas persistentes</a:t>
            </a:r>
          </a:p>
        </p:txBody>
      </p:sp>
      <p:sp>
        <p:nvSpPr>
          <p:cNvPr id="14" name="TextBox 13"/>
          <p:cNvSpPr txBox="1"/>
          <p:nvPr/>
        </p:nvSpPr>
        <p:spPr>
          <a:xfrm>
            <a:off x="4224528" y="2578608"/>
            <a:ext cx="7217359" cy="493776"/>
          </a:xfrm>
          <a:prstGeom prst="rect">
            <a:avLst/>
          </a:prstGeom>
          <a:noFill/>
        </p:spPr>
        <p:txBody>
          <a:bodyPr wrap="square" lIns="45720" rIns="45720" tIns="27432" bIns="27432" anchor="ctr">
            <a:noAutofit/>
          </a:bodyPr>
          <a:lstStyle/>
          <a:p>
            <a:pPr algn="l">
              <a:lnSpc>
                <a:spcPct val="100000"/>
              </a:lnSpc>
            </a:pPr>
            <a:r>
              <a:rPr sz="1400" b="0" i="0">
                <a:solidFill>
                  <a:srgbClr val="A7B2B0"/>
                </a:solidFill>
                <a:latin typeface="Segoe UI"/>
              </a:rPr>
              <a:t>Las filas de Mcp, Tool, Agent y Skill deciden qué está habilitado; los diálogos de Configurar los cambian.</a:t>
            </a:r>
          </a:p>
        </p:txBody>
      </p:sp>
      <p:sp>
        <p:nvSpPr>
          <p:cNvPr id="15" name="Rounded Rectangle 14"/>
          <p:cNvSpPr/>
          <p:nvPr/>
        </p:nvSpPr>
        <p:spPr>
          <a:xfrm>
            <a:off x="566928" y="3200400"/>
            <a:ext cx="11057839" cy="566928"/>
          </a:xfrm>
          <a:prstGeom prst="roundRect">
            <a:avLst>
              <a:gd name="adj" fmla="val 12903"/>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ounded Rectangle 15"/>
          <p:cNvSpPr/>
          <p:nvPr/>
        </p:nvSpPr>
        <p:spPr>
          <a:xfrm>
            <a:off x="566928" y="3200400"/>
            <a:ext cx="566928" cy="566928"/>
          </a:xfrm>
          <a:prstGeom prst="roundRect">
            <a:avLst>
              <a:gd name="adj" fmla="val 12903"/>
            </a:avLst>
          </a:prstGeom>
          <a:solidFill>
            <a:srgbClr val="C984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566928" y="3200400"/>
            <a:ext cx="566928" cy="566928"/>
          </a:xfrm>
          <a:prstGeom prst="rect">
            <a:avLst/>
          </a:prstGeom>
          <a:noFill/>
        </p:spPr>
        <p:txBody>
          <a:bodyPr wrap="square" lIns="45720" rIns="45720" tIns="27432" bIns="27432" anchor="ctr">
            <a:noAutofit/>
          </a:bodyPr>
          <a:lstStyle/>
          <a:p>
            <a:pPr algn="ctr">
              <a:lnSpc>
                <a:spcPct val="100000"/>
              </a:lnSpc>
            </a:pPr>
            <a:r>
              <a:rPr sz="2200" b="1" i="0">
                <a:solidFill>
                  <a:srgbClr val="090E10"/>
                </a:solidFill>
                <a:latin typeface="Palatino Linotype"/>
              </a:rPr>
              <a:t>2</a:t>
            </a:r>
          </a:p>
        </p:txBody>
      </p:sp>
      <p:sp>
        <p:nvSpPr>
          <p:cNvPr id="18" name="TextBox 17"/>
          <p:cNvSpPr txBox="1"/>
          <p:nvPr/>
        </p:nvSpPr>
        <p:spPr>
          <a:xfrm>
            <a:off x="1298448" y="3236976"/>
            <a:ext cx="2834640" cy="493776"/>
          </a:xfrm>
          <a:prstGeom prst="rect">
            <a:avLst/>
          </a:prstGeom>
          <a:noFill/>
        </p:spPr>
        <p:txBody>
          <a:bodyPr wrap="square" lIns="45720" rIns="45720" tIns="27432" bIns="27432" anchor="ctr">
            <a:noAutofit/>
          </a:bodyPr>
          <a:lstStyle/>
          <a:p>
            <a:pPr algn="l">
              <a:lnSpc>
                <a:spcPct val="100000"/>
              </a:lnSpc>
            </a:pPr>
            <a:r>
              <a:rPr sz="1650" b="0" i="0">
                <a:solidFill>
                  <a:srgbClr val="F7F2E8"/>
                </a:solidFill>
                <a:latin typeface="Segoe UI Semibold"/>
              </a:rPr>
              <a:t>Servicios MCP</a:t>
            </a:r>
          </a:p>
        </p:txBody>
      </p:sp>
      <p:sp>
        <p:nvSpPr>
          <p:cNvPr id="19" name="TextBox 18"/>
          <p:cNvSpPr txBox="1"/>
          <p:nvPr/>
        </p:nvSpPr>
        <p:spPr>
          <a:xfrm>
            <a:off x="4224528" y="3236976"/>
            <a:ext cx="7217359" cy="493776"/>
          </a:xfrm>
          <a:prstGeom prst="rect">
            <a:avLst/>
          </a:prstGeom>
          <a:noFill/>
        </p:spPr>
        <p:txBody>
          <a:bodyPr wrap="square" lIns="45720" rIns="45720" tIns="27432" bIns="27432" anchor="ctr">
            <a:noAutofit/>
          </a:bodyPr>
          <a:lstStyle/>
          <a:p>
            <a:pPr algn="l">
              <a:lnSpc>
                <a:spcPct val="100000"/>
              </a:lnSpc>
            </a:pPr>
            <a:r>
              <a:rPr sz="1400" b="0" i="0">
                <a:solidFill>
                  <a:srgbClr val="A7B2B0"/>
                </a:solidFill>
                <a:latin typeface="Segoe UI"/>
              </a:rPr>
              <a:t>System-Metrics (WebSocket :8765) y Files-Search (gRPC :50051) arrancan con la aplicación.</a:t>
            </a:r>
          </a:p>
        </p:txBody>
      </p:sp>
      <p:sp>
        <p:nvSpPr>
          <p:cNvPr id="20" name="Rounded Rectangle 19"/>
          <p:cNvSpPr/>
          <p:nvPr/>
        </p:nvSpPr>
        <p:spPr>
          <a:xfrm>
            <a:off x="566928" y="3858768"/>
            <a:ext cx="11057839" cy="566928"/>
          </a:xfrm>
          <a:prstGeom prst="roundRect">
            <a:avLst>
              <a:gd name="adj" fmla="val 12903"/>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ounded Rectangle 20"/>
          <p:cNvSpPr/>
          <p:nvPr/>
        </p:nvSpPr>
        <p:spPr>
          <a:xfrm>
            <a:off x="566928" y="3858768"/>
            <a:ext cx="566928" cy="566928"/>
          </a:xfrm>
          <a:prstGeom prst="roundRect">
            <a:avLst>
              <a:gd name="adj" fmla="val 12903"/>
            </a:avLst>
          </a:prstGeom>
          <a:solidFill>
            <a:srgbClr val="E2B4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566928" y="3858768"/>
            <a:ext cx="566928" cy="566928"/>
          </a:xfrm>
          <a:prstGeom prst="rect">
            <a:avLst/>
          </a:prstGeom>
          <a:noFill/>
        </p:spPr>
        <p:txBody>
          <a:bodyPr wrap="square" lIns="45720" rIns="45720" tIns="27432" bIns="27432" anchor="ctr">
            <a:noAutofit/>
          </a:bodyPr>
          <a:lstStyle/>
          <a:p>
            <a:pPr algn="ctr">
              <a:lnSpc>
                <a:spcPct val="100000"/>
              </a:lnSpc>
            </a:pPr>
            <a:r>
              <a:rPr sz="2200" b="1" i="0">
                <a:solidFill>
                  <a:srgbClr val="090E10"/>
                </a:solidFill>
                <a:latin typeface="Palatino Linotype"/>
              </a:rPr>
              <a:t>3</a:t>
            </a:r>
          </a:p>
        </p:txBody>
      </p:sp>
      <p:sp>
        <p:nvSpPr>
          <p:cNvPr id="23" name="TextBox 22"/>
          <p:cNvSpPr txBox="1"/>
          <p:nvPr/>
        </p:nvSpPr>
        <p:spPr>
          <a:xfrm>
            <a:off x="1298448" y="3895344"/>
            <a:ext cx="2834640" cy="493776"/>
          </a:xfrm>
          <a:prstGeom prst="rect">
            <a:avLst/>
          </a:prstGeom>
          <a:noFill/>
        </p:spPr>
        <p:txBody>
          <a:bodyPr wrap="square" lIns="45720" rIns="45720" tIns="27432" bIns="27432" anchor="ctr">
            <a:noAutofit/>
          </a:bodyPr>
          <a:lstStyle/>
          <a:p>
            <a:pPr algn="l">
              <a:lnSpc>
                <a:spcPct val="100000"/>
              </a:lnSpc>
            </a:pPr>
            <a:r>
              <a:rPr sz="1650" b="0" i="0">
                <a:solidFill>
                  <a:srgbClr val="F7F2E8"/>
                </a:solidFill>
                <a:latin typeface="Segoe UI Semibold"/>
              </a:rPr>
              <a:t>Sidecars de contexto</a:t>
            </a:r>
          </a:p>
        </p:txBody>
      </p:sp>
      <p:sp>
        <p:nvSpPr>
          <p:cNvPr id="24" name="TextBox 23"/>
          <p:cNvSpPr txBox="1"/>
          <p:nvPr/>
        </p:nvSpPr>
        <p:spPr>
          <a:xfrm>
            <a:off x="4224528" y="3895344"/>
            <a:ext cx="7217359" cy="493776"/>
          </a:xfrm>
          <a:prstGeom prst="rect">
            <a:avLst/>
          </a:prstGeom>
          <a:noFill/>
        </p:spPr>
        <p:txBody>
          <a:bodyPr wrap="square" lIns="45720" rIns="45720" tIns="27432" bIns="27432" anchor="ctr">
            <a:noAutofit/>
          </a:bodyPr>
          <a:lstStyle/>
          <a:p>
            <a:pPr algn="l">
              <a:lnSpc>
                <a:spcPct val="100000"/>
              </a:lnSpc>
            </a:pPr>
            <a:r>
              <a:rPr sz="1400" b="0" i="0">
                <a:solidFill>
                  <a:srgbClr val="A7B2B0"/>
                </a:solidFill>
                <a:latin typeface="Segoe UI"/>
              </a:rPr>
              <a:t>Chains que deciden si se necesita contexto de sistema o de archivo e lo inyectan en el payload.</a:t>
            </a:r>
          </a:p>
        </p:txBody>
      </p:sp>
      <p:sp>
        <p:nvSpPr>
          <p:cNvPr id="25" name="Rounded Rectangle 24"/>
          <p:cNvSpPr/>
          <p:nvPr/>
        </p:nvSpPr>
        <p:spPr>
          <a:xfrm>
            <a:off x="566928" y="4517136"/>
            <a:ext cx="11057839" cy="566928"/>
          </a:xfrm>
          <a:prstGeom prst="roundRect">
            <a:avLst>
              <a:gd name="adj" fmla="val 12903"/>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Rounded Rectangle 25"/>
          <p:cNvSpPr/>
          <p:nvPr/>
        </p:nvSpPr>
        <p:spPr>
          <a:xfrm>
            <a:off x="566928" y="4517136"/>
            <a:ext cx="566928" cy="566928"/>
          </a:xfrm>
          <a:prstGeom prst="roundRect">
            <a:avLst>
              <a:gd name="adj" fmla="val 12903"/>
            </a:avLst>
          </a:prstGeom>
          <a:solidFill>
            <a:srgbClr val="46D2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566928" y="4517136"/>
            <a:ext cx="566928" cy="566928"/>
          </a:xfrm>
          <a:prstGeom prst="rect">
            <a:avLst/>
          </a:prstGeom>
          <a:noFill/>
        </p:spPr>
        <p:txBody>
          <a:bodyPr wrap="square" lIns="45720" rIns="45720" tIns="27432" bIns="27432" anchor="ctr">
            <a:noAutofit/>
          </a:bodyPr>
          <a:lstStyle/>
          <a:p>
            <a:pPr algn="ctr">
              <a:lnSpc>
                <a:spcPct val="100000"/>
              </a:lnSpc>
            </a:pPr>
            <a:r>
              <a:rPr sz="2200" b="1" i="0">
                <a:solidFill>
                  <a:srgbClr val="090E10"/>
                </a:solidFill>
                <a:latin typeface="Palatino Linotype"/>
              </a:rPr>
              <a:t>4</a:t>
            </a:r>
          </a:p>
        </p:txBody>
      </p:sp>
      <p:sp>
        <p:nvSpPr>
          <p:cNvPr id="28" name="TextBox 27"/>
          <p:cNvSpPr txBox="1"/>
          <p:nvPr/>
        </p:nvSpPr>
        <p:spPr>
          <a:xfrm>
            <a:off x="1298448" y="4553712"/>
            <a:ext cx="2834640" cy="493776"/>
          </a:xfrm>
          <a:prstGeom prst="rect">
            <a:avLst/>
          </a:prstGeom>
          <a:noFill/>
        </p:spPr>
        <p:txBody>
          <a:bodyPr wrap="square" lIns="45720" rIns="45720" tIns="27432" bIns="27432" anchor="ctr">
            <a:noAutofit/>
          </a:bodyPr>
          <a:lstStyle/>
          <a:p>
            <a:pPr algn="l">
              <a:lnSpc>
                <a:spcPct val="100000"/>
              </a:lnSpc>
            </a:pPr>
            <a:r>
              <a:rPr sz="1650" b="0" i="0">
                <a:solidFill>
                  <a:srgbClr val="F7F2E8"/>
                </a:solidFill>
                <a:latin typeface="Segoe UI Semibold"/>
              </a:rPr>
              <a:t>Chains de respuesta</a:t>
            </a:r>
          </a:p>
        </p:txBody>
      </p:sp>
      <p:sp>
        <p:nvSpPr>
          <p:cNvPr id="29" name="TextBox 28"/>
          <p:cNvSpPr txBox="1"/>
          <p:nvPr/>
        </p:nvSpPr>
        <p:spPr>
          <a:xfrm>
            <a:off x="4224528" y="4553712"/>
            <a:ext cx="7217359" cy="493776"/>
          </a:xfrm>
          <a:prstGeom prst="rect">
            <a:avLst/>
          </a:prstGeom>
          <a:noFill/>
        </p:spPr>
        <p:txBody>
          <a:bodyPr wrap="square" lIns="45720" rIns="45720" tIns="27432" bIns="27432" anchor="ctr">
            <a:noAutofit/>
          </a:bodyPr>
          <a:lstStyle/>
          <a:p>
            <a:pPr algn="l">
              <a:lnSpc>
                <a:spcPct val="100000"/>
              </a:lnSpc>
            </a:pPr>
            <a:r>
              <a:rPr sz="1400" b="0" i="0">
                <a:solidFill>
                  <a:srgbClr val="A7B2B0"/>
                </a:solidFill>
                <a:latin typeface="Segoe UI"/>
              </a:rPr>
              <a:t>Los chains Basic, history-aware RAG y unified-agent componen el prompt y producen la respuesta.</a:t>
            </a:r>
          </a:p>
        </p:txBody>
      </p:sp>
      <p:sp>
        <p:nvSpPr>
          <p:cNvPr id="30" name="Rounded Rectangle 29"/>
          <p:cNvSpPr/>
          <p:nvPr/>
        </p:nvSpPr>
        <p:spPr>
          <a:xfrm>
            <a:off x="566928" y="5175503"/>
            <a:ext cx="11057839" cy="566928"/>
          </a:xfrm>
          <a:prstGeom prst="roundRect">
            <a:avLst>
              <a:gd name="adj" fmla="val 12903"/>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Rounded Rectangle 30"/>
          <p:cNvSpPr/>
          <p:nvPr/>
        </p:nvSpPr>
        <p:spPr>
          <a:xfrm>
            <a:off x="566928" y="5175503"/>
            <a:ext cx="566928" cy="566928"/>
          </a:xfrm>
          <a:prstGeom prst="roundRect">
            <a:avLst>
              <a:gd name="adj" fmla="val 12903"/>
            </a:avLst>
          </a:prstGeom>
          <a:solidFill>
            <a:srgbClr val="D25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TextBox 31"/>
          <p:cNvSpPr txBox="1"/>
          <p:nvPr/>
        </p:nvSpPr>
        <p:spPr>
          <a:xfrm>
            <a:off x="566928" y="5175503"/>
            <a:ext cx="566928" cy="566928"/>
          </a:xfrm>
          <a:prstGeom prst="rect">
            <a:avLst/>
          </a:prstGeom>
          <a:noFill/>
        </p:spPr>
        <p:txBody>
          <a:bodyPr wrap="square" lIns="45720" rIns="45720" tIns="27432" bIns="27432" anchor="ctr">
            <a:noAutofit/>
          </a:bodyPr>
          <a:lstStyle/>
          <a:p>
            <a:pPr algn="ctr">
              <a:lnSpc>
                <a:spcPct val="100000"/>
              </a:lnSpc>
            </a:pPr>
            <a:r>
              <a:rPr sz="2200" b="1" i="0">
                <a:solidFill>
                  <a:srgbClr val="090E10"/>
                </a:solidFill>
                <a:latin typeface="Palatino Linotype"/>
              </a:rPr>
              <a:t>5</a:t>
            </a:r>
          </a:p>
        </p:txBody>
      </p:sp>
      <p:sp>
        <p:nvSpPr>
          <p:cNvPr id="33" name="TextBox 32"/>
          <p:cNvSpPr txBox="1"/>
          <p:nvPr/>
        </p:nvSpPr>
        <p:spPr>
          <a:xfrm>
            <a:off x="1298448" y="5212079"/>
            <a:ext cx="2834640" cy="493776"/>
          </a:xfrm>
          <a:prstGeom prst="rect">
            <a:avLst/>
          </a:prstGeom>
          <a:noFill/>
        </p:spPr>
        <p:txBody>
          <a:bodyPr wrap="square" lIns="45720" rIns="45720" tIns="27432" bIns="27432" anchor="ctr">
            <a:noAutofit/>
          </a:bodyPr>
          <a:lstStyle/>
          <a:p>
            <a:pPr algn="l">
              <a:lnSpc>
                <a:spcPct val="100000"/>
              </a:lnSpc>
            </a:pPr>
            <a:r>
              <a:rPr sz="1650" b="0" i="0">
                <a:solidFill>
                  <a:srgbClr val="F7F2E8"/>
                </a:solidFill>
                <a:latin typeface="Segoe UI Semibold"/>
              </a:rPr>
              <a:t>Tools de unified-agent</a:t>
            </a:r>
          </a:p>
        </p:txBody>
      </p:sp>
      <p:sp>
        <p:nvSpPr>
          <p:cNvPr id="34" name="TextBox 33"/>
          <p:cNvSpPr txBox="1"/>
          <p:nvPr/>
        </p:nvSpPr>
        <p:spPr>
          <a:xfrm>
            <a:off x="4224528" y="5212079"/>
            <a:ext cx="7217359" cy="493776"/>
          </a:xfrm>
          <a:prstGeom prst="rect">
            <a:avLst/>
          </a:prstGeom>
          <a:noFill/>
        </p:spPr>
        <p:txBody>
          <a:bodyPr wrap="square" lIns="45720" rIns="45720" tIns="27432" bIns="27432" anchor="ctr">
            <a:noAutofit/>
          </a:bodyPr>
          <a:lstStyle/>
          <a:p>
            <a:pPr algn="l">
              <a:lnSpc>
                <a:spcPct val="100000"/>
              </a:lnSpc>
            </a:pPr>
            <a:r>
              <a:rPr sz="1400" b="0" i="0">
                <a:solidFill>
                  <a:srgbClr val="A7B2B0"/>
                </a:solidFill>
                <a:latin typeface="Segoe UI"/>
              </a:rPr>
              <a:t>21 core, 67 agents wrapped, 12 tools de ACPX/Skill y 10 tools supervisores de External-MCP.</a:t>
            </a:r>
          </a:p>
        </p:txBody>
      </p:sp>
      <p:sp>
        <p:nvSpPr>
          <p:cNvPr id="35" name="Rounded Rectangle 34"/>
          <p:cNvSpPr/>
          <p:nvPr/>
        </p:nvSpPr>
        <p:spPr>
          <a:xfrm>
            <a:off x="566928" y="5833871"/>
            <a:ext cx="11057839" cy="365760"/>
          </a:xfrm>
          <a:prstGeom prst="roundRect">
            <a:avLst>
              <a:gd name="adj" fmla="val 20000"/>
            </a:avLst>
          </a:prstGeom>
          <a:solidFill>
            <a:srgbClr val="151F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6" name="TextBox 35"/>
          <p:cNvSpPr txBox="1"/>
          <p:nvPr/>
        </p:nvSpPr>
        <p:spPr>
          <a:xfrm>
            <a:off x="749808" y="5833871"/>
            <a:ext cx="10692079" cy="365760"/>
          </a:xfrm>
          <a:prstGeom prst="rect">
            <a:avLst/>
          </a:prstGeom>
          <a:noFill/>
        </p:spPr>
        <p:txBody>
          <a:bodyPr wrap="square" lIns="45720" rIns="45720" tIns="27432" bIns="27432" anchor="ctr">
            <a:noAutofit/>
          </a:bodyPr>
          <a:lstStyle/>
          <a:p>
            <a:pPr algn="l">
              <a:lnSpc>
                <a:spcPct val="100000"/>
              </a:lnSpc>
            </a:pPr>
            <a:r>
              <a:rPr sz="1100" b="0" i="0" spc="160">
                <a:solidFill>
                  <a:srgbClr val="E2B462"/>
                </a:solidFill>
                <a:latin typeface="Segoe UI Semibold"/>
              </a:rPr>
              <a:t>MODELOS   </a:t>
            </a:r>
            <a:r>
              <a:rPr sz="1300" b="0" i="0">
                <a:solidFill>
                  <a:srgbClr val="ECE7DC"/>
                </a:solidFill>
                <a:latin typeface="Segoe UI"/>
              </a:rPr>
              <a:t>Ollama (local y en la nube)  ·  Anthropic Claude  ·  visión de Qwen vision</a:t>
            </a:r>
          </a:p>
        </p:txBody>
      </p:sp>
      <p:cxnSp>
        <p:nvCxnSpPr>
          <p:cNvPr id="37" name="Connector 36"/>
          <p:cNvCxnSpPr/>
          <p:nvPr/>
        </p:nvCxnSpPr>
        <p:spPr>
          <a:xfrm>
            <a:off x="566928" y="6373368"/>
            <a:ext cx="11057839" cy="0"/>
          </a:xfrm>
          <a:prstGeom prst="line">
            <a:avLst/>
          </a:prstGeom>
          <a:ln w="7620">
            <a:solidFill>
              <a:srgbClr val="2A3A40"/>
            </a:solidFill>
          </a:ln>
        </p:spPr>
        <p:style>
          <a:lnRef idx="2">
            <a:schemeClr val="accent1"/>
          </a:lnRef>
          <a:fillRef idx="0">
            <a:schemeClr val="accent1"/>
          </a:fillRef>
          <a:effectRef idx="1">
            <a:schemeClr val="accent1"/>
          </a:effectRef>
          <a:fontRef idx="minor">
            <a:schemeClr val="tx1"/>
          </a:fontRef>
        </p:style>
      </p:cxnSp>
      <p:sp>
        <p:nvSpPr>
          <p:cNvPr id="38" name="TextBox 37"/>
          <p:cNvSpPr txBox="1"/>
          <p:nvPr/>
        </p:nvSpPr>
        <p:spPr>
          <a:xfrm>
            <a:off x="566928" y="6419088"/>
            <a:ext cx="6858000" cy="274320"/>
          </a:xfrm>
          <a:prstGeom prst="rect">
            <a:avLst/>
          </a:prstGeom>
          <a:noFill/>
        </p:spPr>
        <p:txBody>
          <a:bodyPr wrap="square" lIns="45720" rIns="45720" tIns="27432" bIns="27432" anchor="t">
            <a:noAutofit/>
          </a:bodyPr>
          <a:lstStyle/>
          <a:p>
            <a:pPr algn="l">
              <a:lnSpc>
                <a:spcPct val="100000"/>
              </a:lnSpc>
            </a:pPr>
            <a:r>
              <a:rPr sz="850" b="0" i="0" spc="120">
                <a:solidFill>
                  <a:srgbClr val="A7B2B0"/>
                </a:solidFill>
                <a:latin typeface="Segoe UI Semibold"/>
              </a:rPr>
              <a:t>TLAMATINI  ·  II · CÓMO FUNCIONA</a:t>
            </a:r>
          </a:p>
        </p:txBody>
      </p:sp>
      <p:sp>
        <p:nvSpPr>
          <p:cNvPr id="39" name="TextBox 38"/>
          <p:cNvSpPr txBox="1"/>
          <p:nvPr/>
        </p:nvSpPr>
        <p:spPr>
          <a:xfrm>
            <a:off x="8698687" y="6419088"/>
            <a:ext cx="2926080" cy="274320"/>
          </a:xfrm>
          <a:prstGeom prst="rect">
            <a:avLst/>
          </a:prstGeom>
          <a:noFill/>
        </p:spPr>
        <p:txBody>
          <a:bodyPr wrap="square" lIns="45720" rIns="45720" tIns="27432" bIns="27432" anchor="t">
            <a:noAutofit/>
          </a:bodyPr>
          <a:lstStyle/>
          <a:p>
            <a:pPr algn="r">
              <a:lnSpc>
                <a:spcPct val="100000"/>
              </a:lnSpc>
            </a:pPr>
            <a:r>
              <a:rPr sz="850" b="0" i="0" spc="100">
                <a:solidFill>
                  <a:srgbClr val="A7B2B0"/>
                </a:solidFill>
                <a:latin typeface="Segoe UI Semibold"/>
              </a:rPr>
              <a:t>v1.91.1   ·   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content.png"/>
          <p:cNvPicPr>
            <a:picLocks noChangeAspect="1"/>
          </p:cNvPicPr>
          <p:nvPr/>
        </p:nvPicPr>
        <p:blipFill>
          <a:blip r:embed="rId2"/>
          <a:stretch>
            <a:fillRect/>
          </a:stretch>
        </p:blipFill>
        <p:spPr>
          <a:xfrm>
            <a:off x="0" y="0"/>
            <a:ext cx="12191695" cy="6858000"/>
          </a:xfrm>
          <a:prstGeom prst="rect">
            <a:avLst/>
          </a:prstGeom>
        </p:spPr>
      </p:pic>
      <p:sp>
        <p:nvSpPr>
          <p:cNvPr id="3" name="Diamond 2"/>
          <p:cNvSpPr/>
          <p:nvPr/>
        </p:nvSpPr>
        <p:spPr>
          <a:xfrm>
            <a:off x="566928" y="457200"/>
            <a:ext cx="100584" cy="100584"/>
          </a:xfrm>
          <a:prstGeom prst="diamond">
            <a:avLst/>
          </a:prstGeom>
          <a:solidFill>
            <a:srgbClr val="C984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49808" y="365760"/>
            <a:ext cx="8229600" cy="292608"/>
          </a:xfrm>
          <a:prstGeom prst="rect">
            <a:avLst/>
          </a:prstGeom>
          <a:noFill/>
        </p:spPr>
        <p:txBody>
          <a:bodyPr wrap="square" lIns="45720" rIns="45720" tIns="27432" bIns="27432" anchor="t">
            <a:noAutofit/>
          </a:bodyPr>
          <a:lstStyle/>
          <a:p>
            <a:pPr algn="l">
              <a:lnSpc>
                <a:spcPct val="100000"/>
              </a:lnSpc>
            </a:pPr>
            <a:r>
              <a:rPr sz="1100" b="0" i="0" spc="240">
                <a:solidFill>
                  <a:srgbClr val="C98457"/>
                </a:solidFill>
                <a:latin typeface="Segoe UI Semibold"/>
              </a:rPr>
              <a:t>RECORRIDO DE UNA SOLICITUD</a:t>
            </a:r>
          </a:p>
        </p:txBody>
      </p:sp>
      <p:sp>
        <p:nvSpPr>
          <p:cNvPr id="5" name="TextBox 4"/>
          <p:cNvSpPr txBox="1"/>
          <p:nvPr/>
        </p:nvSpPr>
        <p:spPr>
          <a:xfrm>
            <a:off x="539496" y="676656"/>
            <a:ext cx="11057839" cy="658368"/>
          </a:xfrm>
          <a:prstGeom prst="rect">
            <a:avLst/>
          </a:prstGeom>
          <a:noFill/>
        </p:spPr>
        <p:txBody>
          <a:bodyPr wrap="square" lIns="45720" rIns="45720" tIns="27432" bIns="27432" anchor="t">
            <a:noAutofit/>
          </a:bodyPr>
          <a:lstStyle/>
          <a:p>
            <a:pPr algn="l">
              <a:lnSpc>
                <a:spcPct val="100000"/>
              </a:lnSpc>
            </a:pPr>
            <a:r>
              <a:rPr sz="3100" b="0" i="0">
                <a:solidFill>
                  <a:srgbClr val="F7F2E8"/>
                </a:solidFill>
                <a:latin typeface="Palatino Linotype"/>
              </a:rPr>
              <a:t>La vida de un mensaje</a:t>
            </a:r>
          </a:p>
        </p:txBody>
      </p:sp>
      <p:sp>
        <p:nvSpPr>
          <p:cNvPr id="6" name="Rectangle 5"/>
          <p:cNvSpPr/>
          <p:nvPr/>
        </p:nvSpPr>
        <p:spPr>
          <a:xfrm>
            <a:off x="566928" y="1344168"/>
            <a:ext cx="822960" cy="36576"/>
          </a:xfrm>
          <a:prstGeom prst="rect">
            <a:avLst/>
          </a:prstGeom>
          <a:solidFill>
            <a:srgbClr val="C984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566928" y="1444752"/>
            <a:ext cx="10692079" cy="585216"/>
          </a:xfrm>
          <a:prstGeom prst="rect">
            <a:avLst/>
          </a:prstGeom>
          <a:noFill/>
        </p:spPr>
        <p:txBody>
          <a:bodyPr wrap="square" lIns="45720" rIns="45720" tIns="27432" bIns="27432" anchor="t">
            <a:noAutofit/>
          </a:bodyPr>
          <a:lstStyle/>
          <a:p>
            <a:pPr algn="l">
              <a:lnSpc>
                <a:spcPct val="100000"/>
              </a:lnSpc>
            </a:pPr>
            <a:r>
              <a:rPr sz="1450" b="0" i="0">
                <a:solidFill>
                  <a:srgbClr val="A7B2B0"/>
                </a:solidFill>
                <a:latin typeface="Segoe UI Semilight"/>
              </a:rPr>
              <a:t>Once pasos llevan un mensaje del browser a un resultado verificado y reportado.</a:t>
            </a:r>
          </a:p>
        </p:txBody>
      </p:sp>
      <p:sp>
        <p:nvSpPr>
          <p:cNvPr id="8" name="Rounded Rectangle 7"/>
          <p:cNvSpPr/>
          <p:nvPr/>
        </p:nvSpPr>
        <p:spPr>
          <a:xfrm>
            <a:off x="566928" y="2084831"/>
            <a:ext cx="2531287" cy="1261872"/>
          </a:xfrm>
          <a:prstGeom prst="roundRect">
            <a:avLst>
              <a:gd name="adj" fmla="val 8695"/>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694944" y="2194560"/>
            <a:ext cx="384048" cy="384048"/>
          </a:xfrm>
          <a:prstGeom prst="ellipse">
            <a:avLst/>
          </a:prstGeom>
          <a:solidFill>
            <a:srgbClr val="151F23"/>
          </a:solidFill>
          <a:ln w="12700">
            <a:solidFill>
              <a:srgbClr val="E2B462"/>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694944" y="2194560"/>
            <a:ext cx="384048" cy="384048"/>
          </a:xfrm>
          <a:prstGeom prst="rect">
            <a:avLst/>
          </a:prstGeom>
          <a:noFill/>
        </p:spPr>
        <p:txBody>
          <a:bodyPr wrap="square" lIns="45720" rIns="45720" tIns="27432" bIns="27432" anchor="ctr">
            <a:noAutofit/>
          </a:bodyPr>
          <a:lstStyle/>
          <a:p>
            <a:pPr algn="ctr">
              <a:lnSpc>
                <a:spcPct val="100000"/>
              </a:lnSpc>
            </a:pPr>
            <a:r>
              <a:rPr sz="1400" b="1" i="0">
                <a:solidFill>
                  <a:srgbClr val="E2B462"/>
                </a:solidFill>
                <a:latin typeface="Palatino Linotype"/>
              </a:rPr>
              <a:t>1</a:t>
            </a:r>
          </a:p>
        </p:txBody>
      </p:sp>
      <p:sp>
        <p:nvSpPr>
          <p:cNvPr id="11" name="TextBox 10"/>
          <p:cNvSpPr txBox="1"/>
          <p:nvPr/>
        </p:nvSpPr>
        <p:spPr>
          <a:xfrm>
            <a:off x="1152144" y="2157984"/>
            <a:ext cx="1836343" cy="457200"/>
          </a:xfrm>
          <a:prstGeom prst="rect">
            <a:avLst/>
          </a:prstGeom>
          <a:noFill/>
        </p:spPr>
        <p:txBody>
          <a:bodyPr wrap="square" lIns="45720" rIns="45720" tIns="27432" bIns="27432" anchor="ctr">
            <a:noAutofit/>
          </a:bodyPr>
          <a:lstStyle/>
          <a:p>
            <a:pPr algn="l">
              <a:lnSpc>
                <a:spcPct val="100000"/>
              </a:lnSpc>
            </a:pPr>
            <a:r>
              <a:rPr sz="1600" b="0" i="0">
                <a:solidFill>
                  <a:srgbClr val="F7F2E8"/>
                </a:solidFill>
                <a:latin typeface="Segoe UI Semibold"/>
              </a:rPr>
              <a:t>Enviar</a:t>
            </a:r>
          </a:p>
        </p:txBody>
      </p:sp>
      <p:sp>
        <p:nvSpPr>
          <p:cNvPr id="12" name="TextBox 11"/>
          <p:cNvSpPr txBox="1"/>
          <p:nvPr/>
        </p:nvSpPr>
        <p:spPr>
          <a:xfrm>
            <a:off x="694944" y="2651760"/>
            <a:ext cx="2293543" cy="621792"/>
          </a:xfrm>
          <a:prstGeom prst="rect">
            <a:avLst/>
          </a:prstGeom>
          <a:noFill/>
        </p:spPr>
        <p:txBody>
          <a:bodyPr wrap="square" lIns="45720" rIns="45720" tIns="27432" bIns="27432" anchor="t">
            <a:noAutofit/>
          </a:bodyPr>
          <a:lstStyle/>
          <a:p>
            <a:pPr algn="l">
              <a:lnSpc>
                <a:spcPct val="100000"/>
              </a:lnSpc>
            </a:pPr>
            <a:r>
              <a:rPr sz="1100" b="0" i="0">
                <a:solidFill>
                  <a:srgbClr val="A7B2B0"/>
                </a:solidFill>
                <a:latin typeface="Segoe UI"/>
              </a:rPr>
              <a:t>El browser envía el texto y sus flags de la barra de herramientas sobre el WebSocket del chat.</a:t>
            </a:r>
          </a:p>
        </p:txBody>
      </p:sp>
      <p:cxnSp>
        <p:nvCxnSpPr>
          <p:cNvPr id="13" name="Connector 12"/>
          <p:cNvCxnSpPr/>
          <p:nvPr/>
        </p:nvCxnSpPr>
        <p:spPr>
          <a:xfrm>
            <a:off x="3134791" y="2441448"/>
            <a:ext cx="237744" cy="0"/>
          </a:xfrm>
          <a:prstGeom prst="line">
            <a:avLst/>
          </a:prstGeom>
          <a:ln w="17780">
            <a:solidFill>
              <a:srgbClr val="C98457"/>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3409111" y="2084831"/>
            <a:ext cx="2531287" cy="1261872"/>
          </a:xfrm>
          <a:prstGeom prst="roundRect">
            <a:avLst>
              <a:gd name="adj" fmla="val 8695"/>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Oval 14"/>
          <p:cNvSpPr/>
          <p:nvPr/>
        </p:nvSpPr>
        <p:spPr>
          <a:xfrm>
            <a:off x="3537127" y="2194560"/>
            <a:ext cx="384048" cy="384048"/>
          </a:xfrm>
          <a:prstGeom prst="ellipse">
            <a:avLst/>
          </a:prstGeom>
          <a:solidFill>
            <a:srgbClr val="151F23"/>
          </a:solidFill>
          <a:ln w="12700">
            <a:solidFill>
              <a:srgbClr val="E2B462"/>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3537127" y="2194560"/>
            <a:ext cx="384048" cy="384048"/>
          </a:xfrm>
          <a:prstGeom prst="rect">
            <a:avLst/>
          </a:prstGeom>
          <a:noFill/>
        </p:spPr>
        <p:txBody>
          <a:bodyPr wrap="square" lIns="45720" rIns="45720" tIns="27432" bIns="27432" anchor="ctr">
            <a:noAutofit/>
          </a:bodyPr>
          <a:lstStyle/>
          <a:p>
            <a:pPr algn="ctr">
              <a:lnSpc>
                <a:spcPct val="100000"/>
              </a:lnSpc>
            </a:pPr>
            <a:r>
              <a:rPr sz="1400" b="1" i="0">
                <a:solidFill>
                  <a:srgbClr val="E2B462"/>
                </a:solidFill>
                <a:latin typeface="Palatino Linotype"/>
              </a:rPr>
              <a:t>2</a:t>
            </a:r>
          </a:p>
        </p:txBody>
      </p:sp>
      <p:sp>
        <p:nvSpPr>
          <p:cNvPr id="17" name="TextBox 16"/>
          <p:cNvSpPr txBox="1"/>
          <p:nvPr/>
        </p:nvSpPr>
        <p:spPr>
          <a:xfrm>
            <a:off x="3994327" y="2157984"/>
            <a:ext cx="1836343" cy="457200"/>
          </a:xfrm>
          <a:prstGeom prst="rect">
            <a:avLst/>
          </a:prstGeom>
          <a:noFill/>
        </p:spPr>
        <p:txBody>
          <a:bodyPr wrap="square" lIns="45720" rIns="45720" tIns="27432" bIns="27432" anchor="ctr">
            <a:noAutofit/>
          </a:bodyPr>
          <a:lstStyle/>
          <a:p>
            <a:pPr algn="l">
              <a:lnSpc>
                <a:spcPct val="100000"/>
              </a:lnSpc>
            </a:pPr>
            <a:r>
              <a:rPr sz="1600" b="0" i="0">
                <a:solidFill>
                  <a:srgbClr val="F7F2E8"/>
                </a:solidFill>
                <a:latin typeface="Segoe UI Semibold"/>
              </a:rPr>
              <a:t>Rutear</a:t>
            </a:r>
          </a:p>
        </p:txBody>
      </p:sp>
      <p:sp>
        <p:nvSpPr>
          <p:cNvPr id="18" name="TextBox 17"/>
          <p:cNvSpPr txBox="1"/>
          <p:nvPr/>
        </p:nvSpPr>
        <p:spPr>
          <a:xfrm>
            <a:off x="3537127" y="2651760"/>
            <a:ext cx="2293543" cy="621792"/>
          </a:xfrm>
          <a:prstGeom prst="rect">
            <a:avLst/>
          </a:prstGeom>
          <a:noFill/>
        </p:spPr>
        <p:txBody>
          <a:bodyPr wrap="square" lIns="45720" rIns="45720" tIns="27432" bIns="27432" anchor="t">
            <a:noAutofit/>
          </a:bodyPr>
          <a:lstStyle/>
          <a:p>
            <a:pPr algn="l">
              <a:lnSpc>
                <a:spcPct val="100000"/>
              </a:lnSpc>
            </a:pPr>
            <a:r>
              <a:rPr sz="1200" b="0" i="0">
                <a:solidFill>
                  <a:srgbClr val="A7B2B0"/>
                </a:solidFill>
                <a:latin typeface="Segoe UI"/>
              </a:rPr>
              <a:t>AgentConsumer la recibe, la atribuye al usuario y encola la recuperación.</a:t>
            </a:r>
          </a:p>
        </p:txBody>
      </p:sp>
      <p:cxnSp>
        <p:nvCxnSpPr>
          <p:cNvPr id="19" name="Connector 18"/>
          <p:cNvCxnSpPr/>
          <p:nvPr/>
        </p:nvCxnSpPr>
        <p:spPr>
          <a:xfrm>
            <a:off x="5976975" y="2441448"/>
            <a:ext cx="237744" cy="0"/>
          </a:xfrm>
          <a:prstGeom prst="line">
            <a:avLst/>
          </a:prstGeom>
          <a:ln w="17780">
            <a:solidFill>
              <a:srgbClr val="C98457"/>
            </a:solidFill>
            <a:tailEnd type="triangle" w="med" len="med"/>
          </a:ln>
        </p:spPr>
        <p:style>
          <a:lnRef idx="2">
            <a:schemeClr val="accent1"/>
          </a:lnRef>
          <a:fillRef idx="0">
            <a:schemeClr val="accent1"/>
          </a:fillRef>
          <a:effectRef idx="1">
            <a:schemeClr val="accent1"/>
          </a:effectRef>
          <a:fontRef idx="minor">
            <a:schemeClr val="tx1"/>
          </a:fontRef>
        </p:style>
      </p:cxnSp>
      <p:sp>
        <p:nvSpPr>
          <p:cNvPr id="20" name="Rounded Rectangle 19"/>
          <p:cNvSpPr/>
          <p:nvPr/>
        </p:nvSpPr>
        <p:spPr>
          <a:xfrm>
            <a:off x="6251295" y="2084831"/>
            <a:ext cx="2531287" cy="1261872"/>
          </a:xfrm>
          <a:prstGeom prst="roundRect">
            <a:avLst>
              <a:gd name="adj" fmla="val 8695"/>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Oval 20"/>
          <p:cNvSpPr/>
          <p:nvPr/>
        </p:nvSpPr>
        <p:spPr>
          <a:xfrm>
            <a:off x="6379311" y="2194560"/>
            <a:ext cx="384048" cy="384048"/>
          </a:xfrm>
          <a:prstGeom prst="ellipse">
            <a:avLst/>
          </a:prstGeom>
          <a:solidFill>
            <a:srgbClr val="151F23"/>
          </a:solidFill>
          <a:ln w="12700">
            <a:solidFill>
              <a:srgbClr val="E2B462"/>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6379311" y="2194560"/>
            <a:ext cx="384048" cy="384048"/>
          </a:xfrm>
          <a:prstGeom prst="rect">
            <a:avLst/>
          </a:prstGeom>
          <a:noFill/>
        </p:spPr>
        <p:txBody>
          <a:bodyPr wrap="square" lIns="45720" rIns="45720" tIns="27432" bIns="27432" anchor="ctr">
            <a:noAutofit/>
          </a:bodyPr>
          <a:lstStyle/>
          <a:p>
            <a:pPr algn="ctr">
              <a:lnSpc>
                <a:spcPct val="100000"/>
              </a:lnSpc>
            </a:pPr>
            <a:r>
              <a:rPr sz="1400" b="1" i="0">
                <a:solidFill>
                  <a:srgbClr val="E2B462"/>
                </a:solidFill>
                <a:latin typeface="Palatino Linotype"/>
              </a:rPr>
              <a:t>3</a:t>
            </a:r>
          </a:p>
        </p:txBody>
      </p:sp>
      <p:sp>
        <p:nvSpPr>
          <p:cNvPr id="23" name="TextBox 22"/>
          <p:cNvSpPr txBox="1"/>
          <p:nvPr/>
        </p:nvSpPr>
        <p:spPr>
          <a:xfrm>
            <a:off x="6836511" y="2157984"/>
            <a:ext cx="1836343" cy="457200"/>
          </a:xfrm>
          <a:prstGeom prst="rect">
            <a:avLst/>
          </a:prstGeom>
          <a:noFill/>
        </p:spPr>
        <p:txBody>
          <a:bodyPr wrap="square" lIns="45720" rIns="45720" tIns="27432" bIns="27432" anchor="ctr">
            <a:noAutofit/>
          </a:bodyPr>
          <a:lstStyle/>
          <a:p>
            <a:pPr algn="l">
              <a:lnSpc>
                <a:spcPct val="100000"/>
              </a:lnSpc>
            </a:pPr>
            <a:r>
              <a:rPr sz="1600" b="0" i="0">
                <a:solidFill>
                  <a:srgbClr val="F7F2E8"/>
                </a:solidFill>
                <a:latin typeface="Segoe UI Semibold"/>
              </a:rPr>
              <a:t>Contexto</a:t>
            </a:r>
          </a:p>
        </p:txBody>
      </p:sp>
      <p:sp>
        <p:nvSpPr>
          <p:cNvPr id="24" name="TextBox 23"/>
          <p:cNvSpPr txBox="1"/>
          <p:nvPr/>
        </p:nvSpPr>
        <p:spPr>
          <a:xfrm>
            <a:off x="6379311" y="2651760"/>
            <a:ext cx="2293543" cy="621792"/>
          </a:xfrm>
          <a:prstGeom prst="rect">
            <a:avLst/>
          </a:prstGeom>
          <a:noFill/>
        </p:spPr>
        <p:txBody>
          <a:bodyPr wrap="square" lIns="45720" rIns="45720" tIns="27432" bIns="27432" anchor="t">
            <a:noAutofit/>
          </a:bodyPr>
          <a:lstStyle/>
          <a:p>
            <a:pPr algn="l">
              <a:lnSpc>
                <a:spcPct val="100000"/>
              </a:lnSpc>
            </a:pPr>
            <a:r>
              <a:rPr sz="1200" b="0" i="0">
                <a:solidFill>
                  <a:srgbClr val="A7B2B0"/>
                </a:solidFill>
                <a:latin typeface="Segoe UI"/>
              </a:rPr>
              <a:t>Decide si se carga contexto RAG y si se necesita búsqueda web.</a:t>
            </a:r>
          </a:p>
        </p:txBody>
      </p:sp>
      <p:cxnSp>
        <p:nvCxnSpPr>
          <p:cNvPr id="25" name="Connector 24"/>
          <p:cNvCxnSpPr/>
          <p:nvPr/>
        </p:nvCxnSpPr>
        <p:spPr>
          <a:xfrm>
            <a:off x="8819159" y="2441448"/>
            <a:ext cx="237744" cy="0"/>
          </a:xfrm>
          <a:prstGeom prst="line">
            <a:avLst/>
          </a:prstGeom>
          <a:ln w="17780">
            <a:solidFill>
              <a:srgbClr val="C98457"/>
            </a:solidFill>
            <a:tailEnd type="triangle" w="med" len="med"/>
          </a:ln>
        </p:spPr>
        <p:style>
          <a:lnRef idx="2">
            <a:schemeClr val="accent1"/>
          </a:lnRef>
          <a:fillRef idx="0">
            <a:schemeClr val="accent1"/>
          </a:fillRef>
          <a:effectRef idx="1">
            <a:schemeClr val="accent1"/>
          </a:effectRef>
          <a:fontRef idx="minor">
            <a:schemeClr val="tx1"/>
          </a:fontRef>
        </p:style>
      </p:cxnSp>
      <p:sp>
        <p:nvSpPr>
          <p:cNvPr id="26" name="Rounded Rectangle 25"/>
          <p:cNvSpPr/>
          <p:nvPr/>
        </p:nvSpPr>
        <p:spPr>
          <a:xfrm>
            <a:off x="9093479" y="2084831"/>
            <a:ext cx="2531287" cy="1261872"/>
          </a:xfrm>
          <a:prstGeom prst="roundRect">
            <a:avLst>
              <a:gd name="adj" fmla="val 8695"/>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Oval 26"/>
          <p:cNvSpPr/>
          <p:nvPr/>
        </p:nvSpPr>
        <p:spPr>
          <a:xfrm>
            <a:off x="9221495" y="2194560"/>
            <a:ext cx="384048" cy="384048"/>
          </a:xfrm>
          <a:prstGeom prst="ellipse">
            <a:avLst/>
          </a:prstGeom>
          <a:solidFill>
            <a:srgbClr val="151F23"/>
          </a:solidFill>
          <a:ln w="12700">
            <a:solidFill>
              <a:srgbClr val="E2B462"/>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TextBox 27"/>
          <p:cNvSpPr txBox="1"/>
          <p:nvPr/>
        </p:nvSpPr>
        <p:spPr>
          <a:xfrm>
            <a:off x="9221495" y="2194560"/>
            <a:ext cx="384048" cy="384048"/>
          </a:xfrm>
          <a:prstGeom prst="rect">
            <a:avLst/>
          </a:prstGeom>
          <a:noFill/>
        </p:spPr>
        <p:txBody>
          <a:bodyPr wrap="square" lIns="45720" rIns="45720" tIns="27432" bIns="27432" anchor="ctr">
            <a:noAutofit/>
          </a:bodyPr>
          <a:lstStyle/>
          <a:p>
            <a:pPr algn="ctr">
              <a:lnSpc>
                <a:spcPct val="100000"/>
              </a:lnSpc>
            </a:pPr>
            <a:r>
              <a:rPr sz="1400" b="1" i="0">
                <a:solidFill>
                  <a:srgbClr val="E2B462"/>
                </a:solidFill>
                <a:latin typeface="Palatino Linotype"/>
              </a:rPr>
              <a:t>4</a:t>
            </a:r>
          </a:p>
        </p:txBody>
      </p:sp>
      <p:sp>
        <p:nvSpPr>
          <p:cNvPr id="29" name="TextBox 28"/>
          <p:cNvSpPr txBox="1"/>
          <p:nvPr/>
        </p:nvSpPr>
        <p:spPr>
          <a:xfrm>
            <a:off x="9678695" y="2157984"/>
            <a:ext cx="1836343" cy="457200"/>
          </a:xfrm>
          <a:prstGeom prst="rect">
            <a:avLst/>
          </a:prstGeom>
          <a:noFill/>
        </p:spPr>
        <p:txBody>
          <a:bodyPr wrap="square" lIns="45720" rIns="45720" tIns="27432" bIns="27432" anchor="ctr">
            <a:noAutofit/>
          </a:bodyPr>
          <a:lstStyle/>
          <a:p>
            <a:pPr algn="l">
              <a:lnSpc>
                <a:spcPct val="100000"/>
              </a:lnSpc>
            </a:pPr>
            <a:r>
              <a:rPr sz="1600" b="0" i="0">
                <a:solidFill>
                  <a:srgbClr val="F7F2E8"/>
                </a:solidFill>
                <a:latin typeface="Segoe UI Semibold"/>
              </a:rPr>
              <a:t>Cadena</a:t>
            </a:r>
          </a:p>
        </p:txBody>
      </p:sp>
      <p:sp>
        <p:nvSpPr>
          <p:cNvPr id="30" name="TextBox 29"/>
          <p:cNvSpPr txBox="1"/>
          <p:nvPr/>
        </p:nvSpPr>
        <p:spPr>
          <a:xfrm>
            <a:off x="9221495" y="2651760"/>
            <a:ext cx="2293543" cy="621792"/>
          </a:xfrm>
          <a:prstGeom prst="rect">
            <a:avLst/>
          </a:prstGeom>
          <a:noFill/>
        </p:spPr>
        <p:txBody>
          <a:bodyPr wrap="square" lIns="45720" rIns="45720" tIns="27432" bIns="27432" anchor="t">
            <a:noAutofit/>
          </a:bodyPr>
          <a:lstStyle/>
          <a:p>
            <a:pPr algn="l">
              <a:lnSpc>
                <a:spcPct val="100000"/>
              </a:lnSpc>
            </a:pPr>
            <a:r>
              <a:rPr sz="1200" b="0" i="0">
                <a:solidFill>
                  <a:srgbClr val="A7B2B0"/>
                </a:solidFill>
                <a:latin typeface="Segoe UI"/>
              </a:rPr>
              <a:t>Se elige el chain RAG, Basic o Unified-Agent y se ajusta al modelo.</a:t>
            </a:r>
          </a:p>
        </p:txBody>
      </p:sp>
      <p:sp>
        <p:nvSpPr>
          <p:cNvPr id="31" name="Rounded Rectangle 30"/>
          <p:cNvSpPr/>
          <p:nvPr/>
        </p:nvSpPr>
        <p:spPr>
          <a:xfrm>
            <a:off x="566928" y="3511296"/>
            <a:ext cx="2531287" cy="1261872"/>
          </a:xfrm>
          <a:prstGeom prst="roundRect">
            <a:avLst>
              <a:gd name="adj" fmla="val 8695"/>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Oval 31"/>
          <p:cNvSpPr/>
          <p:nvPr/>
        </p:nvSpPr>
        <p:spPr>
          <a:xfrm>
            <a:off x="694944" y="3621024"/>
            <a:ext cx="384048" cy="384048"/>
          </a:xfrm>
          <a:prstGeom prst="ellipse">
            <a:avLst/>
          </a:prstGeom>
          <a:solidFill>
            <a:srgbClr val="151F23"/>
          </a:solidFill>
          <a:ln w="12700">
            <a:solidFill>
              <a:srgbClr val="E2B462"/>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TextBox 32"/>
          <p:cNvSpPr txBox="1"/>
          <p:nvPr/>
        </p:nvSpPr>
        <p:spPr>
          <a:xfrm>
            <a:off x="694944" y="3621024"/>
            <a:ext cx="384048" cy="384048"/>
          </a:xfrm>
          <a:prstGeom prst="rect">
            <a:avLst/>
          </a:prstGeom>
          <a:noFill/>
        </p:spPr>
        <p:txBody>
          <a:bodyPr wrap="square" lIns="45720" rIns="45720" tIns="27432" bIns="27432" anchor="ctr">
            <a:noAutofit/>
          </a:bodyPr>
          <a:lstStyle/>
          <a:p>
            <a:pPr algn="ctr">
              <a:lnSpc>
                <a:spcPct val="100000"/>
              </a:lnSpc>
            </a:pPr>
            <a:r>
              <a:rPr sz="1400" b="1" i="0">
                <a:solidFill>
                  <a:srgbClr val="E2B462"/>
                </a:solidFill>
                <a:latin typeface="Palatino Linotype"/>
              </a:rPr>
              <a:t>5</a:t>
            </a:r>
          </a:p>
        </p:txBody>
      </p:sp>
      <p:sp>
        <p:nvSpPr>
          <p:cNvPr id="34" name="TextBox 33"/>
          <p:cNvSpPr txBox="1"/>
          <p:nvPr/>
        </p:nvSpPr>
        <p:spPr>
          <a:xfrm>
            <a:off x="1152144" y="3584448"/>
            <a:ext cx="1836343" cy="457200"/>
          </a:xfrm>
          <a:prstGeom prst="rect">
            <a:avLst/>
          </a:prstGeom>
          <a:noFill/>
        </p:spPr>
        <p:txBody>
          <a:bodyPr wrap="square" lIns="45720" rIns="45720" tIns="27432" bIns="27432" anchor="ctr">
            <a:noAutofit/>
          </a:bodyPr>
          <a:lstStyle/>
          <a:p>
            <a:pPr algn="l">
              <a:lnSpc>
                <a:spcPct val="100000"/>
              </a:lnSpc>
            </a:pPr>
            <a:r>
              <a:rPr sz="1600" b="0" i="0">
                <a:solidFill>
                  <a:srgbClr val="F7F2E8"/>
                </a:solidFill>
                <a:latin typeface="Segoe UI Semibold"/>
              </a:rPr>
              <a:t>Compuerta</a:t>
            </a:r>
          </a:p>
        </p:txBody>
      </p:sp>
      <p:sp>
        <p:nvSpPr>
          <p:cNvPr id="35" name="TextBox 34"/>
          <p:cNvSpPr txBox="1"/>
          <p:nvPr/>
        </p:nvSpPr>
        <p:spPr>
          <a:xfrm>
            <a:off x="694944" y="4078224"/>
            <a:ext cx="2293543" cy="621792"/>
          </a:xfrm>
          <a:prstGeom prst="rect">
            <a:avLst/>
          </a:prstGeom>
          <a:noFill/>
        </p:spPr>
        <p:txBody>
          <a:bodyPr wrap="square" lIns="45720" rIns="45720" tIns="27432" bIns="27432" anchor="t">
            <a:noAutofit/>
          </a:bodyPr>
          <a:lstStyle/>
          <a:p>
            <a:pPr algn="l">
              <a:lnSpc>
                <a:spcPct val="100000"/>
              </a:lnSpc>
            </a:pPr>
            <a:r>
              <a:rPr sz="1200" b="0" i="0">
                <a:solidFill>
                  <a:srgbClr val="A7B2B0"/>
                </a:solidFill>
                <a:latin typeface="Segoe UI"/>
              </a:rPr>
              <a:t>Multi-Turn elige la ejecución planeada; ACPX filtra sus doce tools dentro o fuera.</a:t>
            </a:r>
          </a:p>
        </p:txBody>
      </p:sp>
      <p:cxnSp>
        <p:nvCxnSpPr>
          <p:cNvPr id="36" name="Connector 35"/>
          <p:cNvCxnSpPr/>
          <p:nvPr/>
        </p:nvCxnSpPr>
        <p:spPr>
          <a:xfrm>
            <a:off x="3134791" y="3867911"/>
            <a:ext cx="237744" cy="0"/>
          </a:xfrm>
          <a:prstGeom prst="line">
            <a:avLst/>
          </a:prstGeom>
          <a:ln w="17780">
            <a:solidFill>
              <a:srgbClr val="C98457"/>
            </a:solidFill>
            <a:tailEnd type="triangle" w="med" len="med"/>
          </a:ln>
        </p:spPr>
        <p:style>
          <a:lnRef idx="2">
            <a:schemeClr val="accent1"/>
          </a:lnRef>
          <a:fillRef idx="0">
            <a:schemeClr val="accent1"/>
          </a:fillRef>
          <a:effectRef idx="1">
            <a:schemeClr val="accent1"/>
          </a:effectRef>
          <a:fontRef idx="minor">
            <a:schemeClr val="tx1"/>
          </a:fontRef>
        </p:style>
      </p:cxnSp>
      <p:sp>
        <p:nvSpPr>
          <p:cNvPr id="37" name="Rounded Rectangle 36"/>
          <p:cNvSpPr/>
          <p:nvPr/>
        </p:nvSpPr>
        <p:spPr>
          <a:xfrm>
            <a:off x="3409111" y="3511296"/>
            <a:ext cx="2531287" cy="1261872"/>
          </a:xfrm>
          <a:prstGeom prst="roundRect">
            <a:avLst>
              <a:gd name="adj" fmla="val 8695"/>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8" name="Oval 37"/>
          <p:cNvSpPr/>
          <p:nvPr/>
        </p:nvSpPr>
        <p:spPr>
          <a:xfrm>
            <a:off x="3537127" y="3621024"/>
            <a:ext cx="384048" cy="384048"/>
          </a:xfrm>
          <a:prstGeom prst="ellipse">
            <a:avLst/>
          </a:prstGeom>
          <a:solidFill>
            <a:srgbClr val="151F23"/>
          </a:solidFill>
          <a:ln w="12700">
            <a:solidFill>
              <a:srgbClr val="E2B462"/>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9" name="TextBox 38"/>
          <p:cNvSpPr txBox="1"/>
          <p:nvPr/>
        </p:nvSpPr>
        <p:spPr>
          <a:xfrm>
            <a:off x="3537127" y="3621024"/>
            <a:ext cx="384048" cy="384048"/>
          </a:xfrm>
          <a:prstGeom prst="rect">
            <a:avLst/>
          </a:prstGeom>
          <a:noFill/>
        </p:spPr>
        <p:txBody>
          <a:bodyPr wrap="square" lIns="45720" rIns="45720" tIns="27432" bIns="27432" anchor="ctr">
            <a:noAutofit/>
          </a:bodyPr>
          <a:lstStyle/>
          <a:p>
            <a:pPr algn="ctr">
              <a:lnSpc>
                <a:spcPct val="100000"/>
              </a:lnSpc>
            </a:pPr>
            <a:r>
              <a:rPr sz="1400" b="1" i="0">
                <a:solidFill>
                  <a:srgbClr val="E2B462"/>
                </a:solidFill>
                <a:latin typeface="Palatino Linotype"/>
              </a:rPr>
              <a:t>6</a:t>
            </a:r>
          </a:p>
        </p:txBody>
      </p:sp>
      <p:sp>
        <p:nvSpPr>
          <p:cNvPr id="40" name="TextBox 39"/>
          <p:cNvSpPr txBox="1"/>
          <p:nvPr/>
        </p:nvSpPr>
        <p:spPr>
          <a:xfrm>
            <a:off x="3994327" y="3584448"/>
            <a:ext cx="1836343" cy="457200"/>
          </a:xfrm>
          <a:prstGeom prst="rect">
            <a:avLst/>
          </a:prstGeom>
          <a:noFill/>
        </p:spPr>
        <p:txBody>
          <a:bodyPr wrap="square" lIns="45720" rIns="45720" tIns="27432" bIns="27432" anchor="ctr">
            <a:noAutofit/>
          </a:bodyPr>
          <a:lstStyle/>
          <a:p>
            <a:pPr algn="l">
              <a:lnSpc>
                <a:spcPct val="100000"/>
              </a:lnSpc>
            </a:pPr>
            <a:r>
              <a:rPr sz="1600" b="0" i="0">
                <a:solidFill>
                  <a:srgbClr val="F7F2E8"/>
                </a:solidFill>
                <a:latin typeface="Segoe UI Semibold"/>
              </a:rPr>
              <a:t>Permiso</a:t>
            </a:r>
          </a:p>
        </p:txBody>
      </p:sp>
      <p:sp>
        <p:nvSpPr>
          <p:cNvPr id="41" name="TextBox 40"/>
          <p:cNvSpPr txBox="1"/>
          <p:nvPr/>
        </p:nvSpPr>
        <p:spPr>
          <a:xfrm>
            <a:off x="3537127" y="4078224"/>
            <a:ext cx="2293543" cy="621792"/>
          </a:xfrm>
          <a:prstGeom prst="rect">
            <a:avLst/>
          </a:prstGeom>
          <a:noFill/>
        </p:spPr>
        <p:txBody>
          <a:bodyPr wrap="square" lIns="45720" rIns="45720" tIns="27432" bIns="27432" anchor="t">
            <a:noAutofit/>
          </a:bodyPr>
          <a:lstStyle/>
          <a:p>
            <a:pPr algn="l">
              <a:lnSpc>
                <a:spcPct val="100000"/>
              </a:lnSpc>
            </a:pPr>
            <a:r>
              <a:rPr sz="1200" b="0" i="0">
                <a:solidFill>
                  <a:srgbClr val="A7B2B0"/>
                </a:solidFill>
                <a:latin typeface="Segoe UI"/>
              </a:rPr>
              <a:t>Con Ask Execs activado, un tool riesgoso espera Permitir o Denegar.</a:t>
            </a:r>
          </a:p>
        </p:txBody>
      </p:sp>
      <p:cxnSp>
        <p:nvCxnSpPr>
          <p:cNvPr id="42" name="Connector 41"/>
          <p:cNvCxnSpPr/>
          <p:nvPr/>
        </p:nvCxnSpPr>
        <p:spPr>
          <a:xfrm>
            <a:off x="5976975" y="3867911"/>
            <a:ext cx="237744" cy="0"/>
          </a:xfrm>
          <a:prstGeom prst="line">
            <a:avLst/>
          </a:prstGeom>
          <a:ln w="17780">
            <a:solidFill>
              <a:srgbClr val="C98457"/>
            </a:solidFill>
            <a:tailEnd type="triangle" w="med" len="med"/>
          </a:ln>
        </p:spPr>
        <p:style>
          <a:lnRef idx="2">
            <a:schemeClr val="accent1"/>
          </a:lnRef>
          <a:fillRef idx="0">
            <a:schemeClr val="accent1"/>
          </a:fillRef>
          <a:effectRef idx="1">
            <a:schemeClr val="accent1"/>
          </a:effectRef>
          <a:fontRef idx="minor">
            <a:schemeClr val="tx1"/>
          </a:fontRef>
        </p:style>
      </p:cxnSp>
      <p:sp>
        <p:nvSpPr>
          <p:cNvPr id="43" name="Rounded Rectangle 42"/>
          <p:cNvSpPr/>
          <p:nvPr/>
        </p:nvSpPr>
        <p:spPr>
          <a:xfrm>
            <a:off x="6251295" y="3511296"/>
            <a:ext cx="2531287" cy="1261872"/>
          </a:xfrm>
          <a:prstGeom prst="roundRect">
            <a:avLst>
              <a:gd name="adj" fmla="val 8695"/>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4" name="Oval 43"/>
          <p:cNvSpPr/>
          <p:nvPr/>
        </p:nvSpPr>
        <p:spPr>
          <a:xfrm>
            <a:off x="6379311" y="3621024"/>
            <a:ext cx="384048" cy="384048"/>
          </a:xfrm>
          <a:prstGeom prst="ellipse">
            <a:avLst/>
          </a:prstGeom>
          <a:solidFill>
            <a:srgbClr val="151F23"/>
          </a:solidFill>
          <a:ln w="12700">
            <a:solidFill>
              <a:srgbClr val="E2B462"/>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5" name="TextBox 44"/>
          <p:cNvSpPr txBox="1"/>
          <p:nvPr/>
        </p:nvSpPr>
        <p:spPr>
          <a:xfrm>
            <a:off x="6379311" y="3621024"/>
            <a:ext cx="384048" cy="384048"/>
          </a:xfrm>
          <a:prstGeom prst="rect">
            <a:avLst/>
          </a:prstGeom>
          <a:noFill/>
        </p:spPr>
        <p:txBody>
          <a:bodyPr wrap="square" lIns="45720" rIns="45720" tIns="27432" bIns="27432" anchor="ctr">
            <a:noAutofit/>
          </a:bodyPr>
          <a:lstStyle/>
          <a:p>
            <a:pPr algn="ctr">
              <a:lnSpc>
                <a:spcPct val="100000"/>
              </a:lnSpc>
            </a:pPr>
            <a:r>
              <a:rPr sz="1400" b="1" i="0">
                <a:solidFill>
                  <a:srgbClr val="E2B462"/>
                </a:solidFill>
                <a:latin typeface="Palatino Linotype"/>
              </a:rPr>
              <a:t>7</a:t>
            </a:r>
          </a:p>
        </p:txBody>
      </p:sp>
      <p:sp>
        <p:nvSpPr>
          <p:cNvPr id="46" name="TextBox 45"/>
          <p:cNvSpPr txBox="1"/>
          <p:nvPr/>
        </p:nvSpPr>
        <p:spPr>
          <a:xfrm>
            <a:off x="6836511" y="3584448"/>
            <a:ext cx="1836343" cy="457200"/>
          </a:xfrm>
          <a:prstGeom prst="rect">
            <a:avLst/>
          </a:prstGeom>
          <a:noFill/>
        </p:spPr>
        <p:txBody>
          <a:bodyPr wrap="square" lIns="45720" rIns="45720" tIns="27432" bIns="27432" anchor="ctr">
            <a:noAutofit/>
          </a:bodyPr>
          <a:lstStyle/>
          <a:p>
            <a:pPr algn="l">
              <a:lnSpc>
                <a:spcPct val="100000"/>
              </a:lnSpc>
            </a:pPr>
            <a:r>
              <a:rPr sz="1600" b="0" i="0">
                <a:solidFill>
                  <a:srgbClr val="F7F2E8"/>
                </a:solidFill>
                <a:latin typeface="Segoe UI Semibold"/>
              </a:rPr>
              <a:t>Precarga</a:t>
            </a:r>
          </a:p>
        </p:txBody>
      </p:sp>
      <p:sp>
        <p:nvSpPr>
          <p:cNvPr id="47" name="TextBox 46"/>
          <p:cNvSpPr txBox="1"/>
          <p:nvPr/>
        </p:nvSpPr>
        <p:spPr>
          <a:xfrm>
            <a:off x="6379311" y="4078224"/>
            <a:ext cx="2293543" cy="621792"/>
          </a:xfrm>
          <a:prstGeom prst="rect">
            <a:avLst/>
          </a:prstGeom>
          <a:noFill/>
        </p:spPr>
        <p:txBody>
          <a:bodyPr wrap="square" lIns="45720" rIns="45720" tIns="27432" bIns="27432" anchor="t">
            <a:noAutofit/>
          </a:bodyPr>
          <a:lstStyle/>
          <a:p>
            <a:pPr algn="l">
              <a:lnSpc>
                <a:spcPct val="100000"/>
              </a:lnSpc>
            </a:pPr>
            <a:r>
              <a:rPr sz="1200" b="0" i="0">
                <a:solidFill>
                  <a:srgbClr val="A7B2B0"/>
                </a:solidFill>
                <a:latin typeface="Segoe UI"/>
              </a:rPr>
              <a:t>Los sidecars de System-metrics y file-search agregan contexto cuando ayuda.</a:t>
            </a:r>
          </a:p>
        </p:txBody>
      </p:sp>
      <p:cxnSp>
        <p:nvCxnSpPr>
          <p:cNvPr id="48" name="Connector 47"/>
          <p:cNvCxnSpPr/>
          <p:nvPr/>
        </p:nvCxnSpPr>
        <p:spPr>
          <a:xfrm>
            <a:off x="8819159" y="3867911"/>
            <a:ext cx="237744" cy="0"/>
          </a:xfrm>
          <a:prstGeom prst="line">
            <a:avLst/>
          </a:prstGeom>
          <a:ln w="17780">
            <a:solidFill>
              <a:srgbClr val="C98457"/>
            </a:solidFill>
            <a:tailEnd type="triangle" w="med" len="med"/>
          </a:ln>
        </p:spPr>
        <p:style>
          <a:lnRef idx="2">
            <a:schemeClr val="accent1"/>
          </a:lnRef>
          <a:fillRef idx="0">
            <a:schemeClr val="accent1"/>
          </a:fillRef>
          <a:effectRef idx="1">
            <a:schemeClr val="accent1"/>
          </a:effectRef>
          <a:fontRef idx="minor">
            <a:schemeClr val="tx1"/>
          </a:fontRef>
        </p:style>
      </p:cxnSp>
      <p:sp>
        <p:nvSpPr>
          <p:cNvPr id="49" name="Rounded Rectangle 48"/>
          <p:cNvSpPr/>
          <p:nvPr/>
        </p:nvSpPr>
        <p:spPr>
          <a:xfrm>
            <a:off x="9093479" y="3511296"/>
            <a:ext cx="2531287" cy="1261872"/>
          </a:xfrm>
          <a:prstGeom prst="roundRect">
            <a:avLst>
              <a:gd name="adj" fmla="val 8695"/>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0" name="Oval 49"/>
          <p:cNvSpPr/>
          <p:nvPr/>
        </p:nvSpPr>
        <p:spPr>
          <a:xfrm>
            <a:off x="9221495" y="3621024"/>
            <a:ext cx="384048" cy="384048"/>
          </a:xfrm>
          <a:prstGeom prst="ellipse">
            <a:avLst/>
          </a:prstGeom>
          <a:solidFill>
            <a:srgbClr val="151F23"/>
          </a:solidFill>
          <a:ln w="12700">
            <a:solidFill>
              <a:srgbClr val="E2B462"/>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1" name="TextBox 50"/>
          <p:cNvSpPr txBox="1"/>
          <p:nvPr/>
        </p:nvSpPr>
        <p:spPr>
          <a:xfrm>
            <a:off x="9221495" y="3621024"/>
            <a:ext cx="384048" cy="384048"/>
          </a:xfrm>
          <a:prstGeom prst="rect">
            <a:avLst/>
          </a:prstGeom>
          <a:noFill/>
        </p:spPr>
        <p:txBody>
          <a:bodyPr wrap="square" lIns="45720" rIns="45720" tIns="27432" bIns="27432" anchor="ctr">
            <a:noAutofit/>
          </a:bodyPr>
          <a:lstStyle/>
          <a:p>
            <a:pPr algn="ctr">
              <a:lnSpc>
                <a:spcPct val="100000"/>
              </a:lnSpc>
            </a:pPr>
            <a:r>
              <a:rPr sz="1400" b="1" i="0">
                <a:solidFill>
                  <a:srgbClr val="E2B462"/>
                </a:solidFill>
                <a:latin typeface="Palatino Linotype"/>
              </a:rPr>
              <a:t>8</a:t>
            </a:r>
          </a:p>
        </p:txBody>
      </p:sp>
      <p:sp>
        <p:nvSpPr>
          <p:cNvPr id="52" name="TextBox 51"/>
          <p:cNvSpPr txBox="1"/>
          <p:nvPr/>
        </p:nvSpPr>
        <p:spPr>
          <a:xfrm>
            <a:off x="9678695" y="3584448"/>
            <a:ext cx="1836343" cy="457200"/>
          </a:xfrm>
          <a:prstGeom prst="rect">
            <a:avLst/>
          </a:prstGeom>
          <a:noFill/>
        </p:spPr>
        <p:txBody>
          <a:bodyPr wrap="square" lIns="45720" rIns="45720" tIns="27432" bIns="27432" anchor="ctr">
            <a:noAutofit/>
          </a:bodyPr>
          <a:lstStyle/>
          <a:p>
            <a:pPr algn="l">
              <a:lnSpc>
                <a:spcPct val="100000"/>
              </a:lnSpc>
            </a:pPr>
            <a:r>
              <a:rPr sz="1600" b="0" i="0">
                <a:solidFill>
                  <a:srgbClr val="F7F2E8"/>
                </a:solidFill>
                <a:latin typeface="Segoe UI Semibold"/>
              </a:rPr>
              <a:t>Ciclo</a:t>
            </a:r>
          </a:p>
        </p:txBody>
      </p:sp>
      <p:sp>
        <p:nvSpPr>
          <p:cNvPr id="53" name="TextBox 52"/>
          <p:cNvSpPr txBox="1"/>
          <p:nvPr/>
        </p:nvSpPr>
        <p:spPr>
          <a:xfrm>
            <a:off x="9221495" y="4078224"/>
            <a:ext cx="2293543" cy="621792"/>
          </a:xfrm>
          <a:prstGeom prst="rect">
            <a:avLst/>
          </a:prstGeom>
          <a:noFill/>
        </p:spPr>
        <p:txBody>
          <a:bodyPr wrap="square" lIns="45720" rIns="45720" tIns="27432" bIns="27432" anchor="t">
            <a:noAutofit/>
          </a:bodyPr>
          <a:lstStyle/>
          <a:p>
            <a:pPr algn="l">
              <a:lnSpc>
                <a:spcPct val="100000"/>
              </a:lnSpc>
            </a:pPr>
            <a:r>
              <a:rPr sz="1150" b="0" i="0">
                <a:solidFill>
                  <a:srgbClr val="A7B2B0"/>
                </a:solidFill>
                <a:latin typeface="Segoe UI"/>
              </a:rPr>
              <a:t>Las llamadas a tools corren, los agents wrapped se lanzan, cada paso del modelo se auto-sana.</a:t>
            </a:r>
          </a:p>
        </p:txBody>
      </p:sp>
      <p:sp>
        <p:nvSpPr>
          <p:cNvPr id="54" name="Rounded Rectangle 53"/>
          <p:cNvSpPr/>
          <p:nvPr/>
        </p:nvSpPr>
        <p:spPr>
          <a:xfrm>
            <a:off x="566928" y="4937759"/>
            <a:ext cx="2531287" cy="1261872"/>
          </a:xfrm>
          <a:prstGeom prst="roundRect">
            <a:avLst>
              <a:gd name="adj" fmla="val 8695"/>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5" name="Oval 54"/>
          <p:cNvSpPr/>
          <p:nvPr/>
        </p:nvSpPr>
        <p:spPr>
          <a:xfrm>
            <a:off x="694944" y="5047488"/>
            <a:ext cx="384048" cy="384048"/>
          </a:xfrm>
          <a:prstGeom prst="ellipse">
            <a:avLst/>
          </a:prstGeom>
          <a:solidFill>
            <a:srgbClr val="151F23"/>
          </a:solidFill>
          <a:ln w="12700">
            <a:solidFill>
              <a:srgbClr val="E2B462"/>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6" name="TextBox 55"/>
          <p:cNvSpPr txBox="1"/>
          <p:nvPr/>
        </p:nvSpPr>
        <p:spPr>
          <a:xfrm>
            <a:off x="694944" y="5047488"/>
            <a:ext cx="384048" cy="384048"/>
          </a:xfrm>
          <a:prstGeom prst="rect">
            <a:avLst/>
          </a:prstGeom>
          <a:noFill/>
        </p:spPr>
        <p:txBody>
          <a:bodyPr wrap="square" lIns="45720" rIns="45720" tIns="27432" bIns="27432" anchor="ctr">
            <a:noAutofit/>
          </a:bodyPr>
          <a:lstStyle/>
          <a:p>
            <a:pPr algn="ctr">
              <a:lnSpc>
                <a:spcPct val="100000"/>
              </a:lnSpc>
            </a:pPr>
            <a:r>
              <a:rPr sz="1400" b="1" i="0">
                <a:solidFill>
                  <a:srgbClr val="E2B462"/>
                </a:solidFill>
                <a:latin typeface="Palatino Linotype"/>
              </a:rPr>
              <a:t>9</a:t>
            </a:r>
          </a:p>
        </p:txBody>
      </p:sp>
      <p:sp>
        <p:nvSpPr>
          <p:cNvPr id="57" name="TextBox 56"/>
          <p:cNvSpPr txBox="1"/>
          <p:nvPr/>
        </p:nvSpPr>
        <p:spPr>
          <a:xfrm>
            <a:off x="1152144" y="5010912"/>
            <a:ext cx="1836343" cy="457200"/>
          </a:xfrm>
          <a:prstGeom prst="rect">
            <a:avLst/>
          </a:prstGeom>
          <a:noFill/>
        </p:spPr>
        <p:txBody>
          <a:bodyPr wrap="square" lIns="45720" rIns="45720" tIns="27432" bIns="27432" anchor="ctr">
            <a:noAutofit/>
          </a:bodyPr>
          <a:lstStyle/>
          <a:p>
            <a:pPr algn="l">
              <a:lnSpc>
                <a:spcPct val="100000"/>
              </a:lnSpc>
            </a:pPr>
            <a:r>
              <a:rPr sz="1600" b="0" i="0">
                <a:solidFill>
                  <a:srgbClr val="F7F2E8"/>
                </a:solidFill>
                <a:latin typeface="Segoe UI Semibold"/>
              </a:rPr>
              <a:t>Veredicto</a:t>
            </a:r>
          </a:p>
        </p:txBody>
      </p:sp>
      <p:sp>
        <p:nvSpPr>
          <p:cNvPr id="58" name="TextBox 57"/>
          <p:cNvSpPr txBox="1"/>
          <p:nvPr/>
        </p:nvSpPr>
        <p:spPr>
          <a:xfrm>
            <a:off x="694944" y="5504688"/>
            <a:ext cx="2293543" cy="621792"/>
          </a:xfrm>
          <a:prstGeom prst="rect">
            <a:avLst/>
          </a:prstGeom>
          <a:noFill/>
        </p:spPr>
        <p:txBody>
          <a:bodyPr wrap="square" lIns="45720" rIns="45720" tIns="27432" bIns="27432" anchor="t">
            <a:noAutofit/>
          </a:bodyPr>
          <a:lstStyle/>
          <a:p>
            <a:pPr algn="l">
              <a:lnSpc>
                <a:spcPct val="100000"/>
              </a:lnSpc>
            </a:pPr>
            <a:r>
              <a:rPr sz="1250" b="0" i="0">
                <a:solidFill>
                  <a:srgbClr val="A7B2B0"/>
                </a:solidFill>
                <a:latin typeface="Segoe UI"/>
              </a:rPr>
              <a:t>El auto-reporte de cada agent decide SUCCESS o FAILED.</a:t>
            </a:r>
          </a:p>
        </p:txBody>
      </p:sp>
      <p:cxnSp>
        <p:nvCxnSpPr>
          <p:cNvPr id="59" name="Connector 58"/>
          <p:cNvCxnSpPr/>
          <p:nvPr/>
        </p:nvCxnSpPr>
        <p:spPr>
          <a:xfrm>
            <a:off x="3134791" y="5294375"/>
            <a:ext cx="237744" cy="0"/>
          </a:xfrm>
          <a:prstGeom prst="line">
            <a:avLst/>
          </a:prstGeom>
          <a:ln w="17780">
            <a:solidFill>
              <a:srgbClr val="C98457"/>
            </a:solidFill>
            <a:tailEnd type="triangle" w="med" len="med"/>
          </a:ln>
        </p:spPr>
        <p:style>
          <a:lnRef idx="2">
            <a:schemeClr val="accent1"/>
          </a:lnRef>
          <a:fillRef idx="0">
            <a:schemeClr val="accent1"/>
          </a:fillRef>
          <a:effectRef idx="1">
            <a:schemeClr val="accent1"/>
          </a:effectRef>
          <a:fontRef idx="minor">
            <a:schemeClr val="tx1"/>
          </a:fontRef>
        </p:style>
      </p:cxnSp>
      <p:sp>
        <p:nvSpPr>
          <p:cNvPr id="60" name="Rounded Rectangle 59"/>
          <p:cNvSpPr/>
          <p:nvPr/>
        </p:nvSpPr>
        <p:spPr>
          <a:xfrm>
            <a:off x="3409111" y="4937759"/>
            <a:ext cx="2531287" cy="1261872"/>
          </a:xfrm>
          <a:prstGeom prst="roundRect">
            <a:avLst>
              <a:gd name="adj" fmla="val 8695"/>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1" name="Oval 60"/>
          <p:cNvSpPr/>
          <p:nvPr/>
        </p:nvSpPr>
        <p:spPr>
          <a:xfrm>
            <a:off x="3537127" y="5047488"/>
            <a:ext cx="384048" cy="384048"/>
          </a:xfrm>
          <a:prstGeom prst="ellipse">
            <a:avLst/>
          </a:prstGeom>
          <a:solidFill>
            <a:srgbClr val="151F23"/>
          </a:solidFill>
          <a:ln w="12700">
            <a:solidFill>
              <a:srgbClr val="E2B462"/>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2" name="TextBox 61"/>
          <p:cNvSpPr txBox="1"/>
          <p:nvPr/>
        </p:nvSpPr>
        <p:spPr>
          <a:xfrm>
            <a:off x="3537127" y="5047488"/>
            <a:ext cx="384048" cy="384048"/>
          </a:xfrm>
          <a:prstGeom prst="rect">
            <a:avLst/>
          </a:prstGeom>
          <a:noFill/>
        </p:spPr>
        <p:txBody>
          <a:bodyPr wrap="square" lIns="45720" rIns="45720" tIns="27432" bIns="27432" anchor="ctr">
            <a:noAutofit/>
          </a:bodyPr>
          <a:lstStyle/>
          <a:p>
            <a:pPr algn="ctr">
              <a:lnSpc>
                <a:spcPct val="100000"/>
              </a:lnSpc>
            </a:pPr>
            <a:r>
              <a:rPr sz="1400" b="1" i="0">
                <a:solidFill>
                  <a:srgbClr val="E2B462"/>
                </a:solidFill>
                <a:latin typeface="Palatino Linotype"/>
              </a:rPr>
              <a:t>10</a:t>
            </a:r>
          </a:p>
        </p:txBody>
      </p:sp>
      <p:sp>
        <p:nvSpPr>
          <p:cNvPr id="63" name="TextBox 62"/>
          <p:cNvSpPr txBox="1"/>
          <p:nvPr/>
        </p:nvSpPr>
        <p:spPr>
          <a:xfrm>
            <a:off x="3994327" y="5010912"/>
            <a:ext cx="1836343" cy="457200"/>
          </a:xfrm>
          <a:prstGeom prst="rect">
            <a:avLst/>
          </a:prstGeom>
          <a:noFill/>
        </p:spPr>
        <p:txBody>
          <a:bodyPr wrap="square" lIns="45720" rIns="45720" tIns="27432" bIns="27432" anchor="ctr">
            <a:noAutofit/>
          </a:bodyPr>
          <a:lstStyle/>
          <a:p>
            <a:pPr algn="l">
              <a:lnSpc>
                <a:spcPct val="100000"/>
              </a:lnSpc>
            </a:pPr>
            <a:r>
              <a:rPr sz="1600" b="0" i="0">
                <a:solidFill>
                  <a:srgbClr val="F7F2E8"/>
                </a:solidFill>
                <a:latin typeface="Segoe UI Semibold"/>
              </a:rPr>
              <a:t>Respuesta</a:t>
            </a:r>
          </a:p>
        </p:txBody>
      </p:sp>
      <p:sp>
        <p:nvSpPr>
          <p:cNvPr id="64" name="TextBox 63"/>
          <p:cNvSpPr txBox="1"/>
          <p:nvPr/>
        </p:nvSpPr>
        <p:spPr>
          <a:xfrm>
            <a:off x="3537127" y="5504688"/>
            <a:ext cx="2293543" cy="621792"/>
          </a:xfrm>
          <a:prstGeom prst="rect">
            <a:avLst/>
          </a:prstGeom>
          <a:noFill/>
        </p:spPr>
        <p:txBody>
          <a:bodyPr wrap="square" lIns="45720" rIns="45720" tIns="27432" bIns="27432" anchor="t">
            <a:noAutofit/>
          </a:bodyPr>
          <a:lstStyle/>
          <a:p>
            <a:pPr algn="l">
              <a:lnSpc>
                <a:spcPct val="100000"/>
              </a:lnSpc>
            </a:pPr>
            <a:r>
              <a:rPr sz="1200" b="0" i="0">
                <a:solidFill>
                  <a:srgbClr val="A7B2B0"/>
                </a:solidFill>
                <a:latin typeface="Segoe UI"/>
              </a:rPr>
              <a:t>La respuesta regresa en streaming con las tablas del Exec Report y Create Flow.</a:t>
            </a:r>
          </a:p>
        </p:txBody>
      </p:sp>
      <p:cxnSp>
        <p:nvCxnSpPr>
          <p:cNvPr id="65" name="Connector 64"/>
          <p:cNvCxnSpPr/>
          <p:nvPr/>
        </p:nvCxnSpPr>
        <p:spPr>
          <a:xfrm>
            <a:off x="5976975" y="5294375"/>
            <a:ext cx="237744" cy="0"/>
          </a:xfrm>
          <a:prstGeom prst="line">
            <a:avLst/>
          </a:prstGeom>
          <a:ln w="17780">
            <a:solidFill>
              <a:srgbClr val="C98457"/>
            </a:solidFill>
            <a:tailEnd type="triangle" w="med" len="med"/>
          </a:ln>
        </p:spPr>
        <p:style>
          <a:lnRef idx="2">
            <a:schemeClr val="accent1"/>
          </a:lnRef>
          <a:fillRef idx="0">
            <a:schemeClr val="accent1"/>
          </a:fillRef>
          <a:effectRef idx="1">
            <a:schemeClr val="accent1"/>
          </a:effectRef>
          <a:fontRef idx="minor">
            <a:schemeClr val="tx1"/>
          </a:fontRef>
        </p:style>
      </p:cxnSp>
      <p:sp>
        <p:nvSpPr>
          <p:cNvPr id="66" name="Rounded Rectangle 65"/>
          <p:cNvSpPr/>
          <p:nvPr/>
        </p:nvSpPr>
        <p:spPr>
          <a:xfrm>
            <a:off x="6251295" y="4937759"/>
            <a:ext cx="2531287" cy="1261872"/>
          </a:xfrm>
          <a:prstGeom prst="roundRect">
            <a:avLst>
              <a:gd name="adj" fmla="val 8695"/>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7" name="Oval 66"/>
          <p:cNvSpPr/>
          <p:nvPr/>
        </p:nvSpPr>
        <p:spPr>
          <a:xfrm>
            <a:off x="6379311" y="5047488"/>
            <a:ext cx="384048" cy="384048"/>
          </a:xfrm>
          <a:prstGeom prst="ellipse">
            <a:avLst/>
          </a:prstGeom>
          <a:solidFill>
            <a:srgbClr val="151F23"/>
          </a:solidFill>
          <a:ln w="12700">
            <a:solidFill>
              <a:srgbClr val="E2B462"/>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8" name="TextBox 67"/>
          <p:cNvSpPr txBox="1"/>
          <p:nvPr/>
        </p:nvSpPr>
        <p:spPr>
          <a:xfrm>
            <a:off x="6379311" y="5047488"/>
            <a:ext cx="384048" cy="384048"/>
          </a:xfrm>
          <a:prstGeom prst="rect">
            <a:avLst/>
          </a:prstGeom>
          <a:noFill/>
        </p:spPr>
        <p:txBody>
          <a:bodyPr wrap="square" lIns="45720" rIns="45720" tIns="27432" bIns="27432" anchor="ctr">
            <a:noAutofit/>
          </a:bodyPr>
          <a:lstStyle/>
          <a:p>
            <a:pPr algn="ctr">
              <a:lnSpc>
                <a:spcPct val="100000"/>
              </a:lnSpc>
            </a:pPr>
            <a:r>
              <a:rPr sz="1400" b="1" i="0">
                <a:solidFill>
                  <a:srgbClr val="E2B462"/>
                </a:solidFill>
                <a:latin typeface="Palatino Linotype"/>
              </a:rPr>
              <a:t>11</a:t>
            </a:r>
          </a:p>
        </p:txBody>
      </p:sp>
      <p:sp>
        <p:nvSpPr>
          <p:cNvPr id="69" name="TextBox 68"/>
          <p:cNvSpPr txBox="1"/>
          <p:nvPr/>
        </p:nvSpPr>
        <p:spPr>
          <a:xfrm>
            <a:off x="6836511" y="5010912"/>
            <a:ext cx="1836343" cy="457200"/>
          </a:xfrm>
          <a:prstGeom prst="rect">
            <a:avLst/>
          </a:prstGeom>
          <a:noFill/>
        </p:spPr>
        <p:txBody>
          <a:bodyPr wrap="square" lIns="45720" rIns="45720" tIns="27432" bIns="27432" anchor="ctr">
            <a:noAutofit/>
          </a:bodyPr>
          <a:lstStyle/>
          <a:p>
            <a:pPr algn="l">
              <a:lnSpc>
                <a:spcPct val="100000"/>
              </a:lnSpc>
            </a:pPr>
            <a:r>
              <a:rPr sz="1600" b="0" i="0">
                <a:solidFill>
                  <a:srgbClr val="F7F2E8"/>
                </a:solidFill>
                <a:latin typeface="Segoe UI Semibold"/>
              </a:rPr>
              <a:t>Limpieza</a:t>
            </a:r>
          </a:p>
        </p:txBody>
      </p:sp>
      <p:sp>
        <p:nvSpPr>
          <p:cNvPr id="70" name="TextBox 69"/>
          <p:cNvSpPr txBox="1"/>
          <p:nvPr/>
        </p:nvSpPr>
        <p:spPr>
          <a:xfrm>
            <a:off x="6379311" y="5504688"/>
            <a:ext cx="2293543" cy="621792"/>
          </a:xfrm>
          <a:prstGeom prst="rect">
            <a:avLst/>
          </a:prstGeom>
          <a:noFill/>
        </p:spPr>
        <p:txBody>
          <a:bodyPr wrap="square" lIns="45720" rIns="45720" tIns="27432" bIns="27432" anchor="t">
            <a:noAutofit/>
          </a:bodyPr>
          <a:lstStyle/>
          <a:p>
            <a:pPr algn="l">
              <a:lnSpc>
                <a:spcPct val="100000"/>
              </a:lnSpc>
            </a:pPr>
            <a:r>
              <a:rPr sz="1200" b="0" i="0">
                <a:solidFill>
                  <a:srgbClr val="A7B2B0"/>
                </a:solidFill>
                <a:latin typeface="Segoe UI"/>
              </a:rPr>
              <a:t>El orphan reaper barre los console hosts que dejan los procesos hijos.</a:t>
            </a:r>
          </a:p>
        </p:txBody>
      </p:sp>
      <p:cxnSp>
        <p:nvCxnSpPr>
          <p:cNvPr id="71" name="Connector 70"/>
          <p:cNvCxnSpPr/>
          <p:nvPr/>
        </p:nvCxnSpPr>
        <p:spPr>
          <a:xfrm>
            <a:off x="566928" y="6373368"/>
            <a:ext cx="11057839" cy="0"/>
          </a:xfrm>
          <a:prstGeom prst="line">
            <a:avLst/>
          </a:prstGeom>
          <a:ln w="7620">
            <a:solidFill>
              <a:srgbClr val="2A3A40"/>
            </a:solidFill>
          </a:ln>
        </p:spPr>
        <p:style>
          <a:lnRef idx="2">
            <a:schemeClr val="accent1"/>
          </a:lnRef>
          <a:fillRef idx="0">
            <a:schemeClr val="accent1"/>
          </a:fillRef>
          <a:effectRef idx="1">
            <a:schemeClr val="accent1"/>
          </a:effectRef>
          <a:fontRef idx="minor">
            <a:schemeClr val="tx1"/>
          </a:fontRef>
        </p:style>
      </p:cxnSp>
      <p:sp>
        <p:nvSpPr>
          <p:cNvPr id="72" name="TextBox 71"/>
          <p:cNvSpPr txBox="1"/>
          <p:nvPr/>
        </p:nvSpPr>
        <p:spPr>
          <a:xfrm>
            <a:off x="566928" y="6419088"/>
            <a:ext cx="6858000" cy="274320"/>
          </a:xfrm>
          <a:prstGeom prst="rect">
            <a:avLst/>
          </a:prstGeom>
          <a:noFill/>
        </p:spPr>
        <p:txBody>
          <a:bodyPr wrap="square" lIns="45720" rIns="45720" tIns="27432" bIns="27432" anchor="t">
            <a:noAutofit/>
          </a:bodyPr>
          <a:lstStyle/>
          <a:p>
            <a:pPr algn="l">
              <a:lnSpc>
                <a:spcPct val="100000"/>
              </a:lnSpc>
            </a:pPr>
            <a:r>
              <a:rPr sz="850" b="0" i="0" spc="120">
                <a:solidFill>
                  <a:srgbClr val="A7B2B0"/>
                </a:solidFill>
                <a:latin typeface="Segoe UI Semibold"/>
              </a:rPr>
              <a:t>TLAMATINI  ·  II · CÓMO FUNCIONA</a:t>
            </a:r>
          </a:p>
        </p:txBody>
      </p:sp>
      <p:sp>
        <p:nvSpPr>
          <p:cNvPr id="73" name="TextBox 72"/>
          <p:cNvSpPr txBox="1"/>
          <p:nvPr/>
        </p:nvSpPr>
        <p:spPr>
          <a:xfrm>
            <a:off x="8698687" y="6419088"/>
            <a:ext cx="2926080" cy="274320"/>
          </a:xfrm>
          <a:prstGeom prst="rect">
            <a:avLst/>
          </a:prstGeom>
          <a:noFill/>
        </p:spPr>
        <p:txBody>
          <a:bodyPr wrap="square" lIns="45720" rIns="45720" tIns="27432" bIns="27432" anchor="t">
            <a:noAutofit/>
          </a:bodyPr>
          <a:lstStyle/>
          <a:p>
            <a:pPr algn="r">
              <a:lnSpc>
                <a:spcPct val="100000"/>
              </a:lnSpc>
            </a:pPr>
            <a:r>
              <a:rPr sz="850" b="0" i="0" spc="100">
                <a:solidFill>
                  <a:srgbClr val="A7B2B0"/>
                </a:solidFill>
                <a:latin typeface="Segoe UI Semibold"/>
              </a:rPr>
              <a:t>v1.91.1   ·   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content.png"/>
          <p:cNvPicPr>
            <a:picLocks noChangeAspect="1"/>
          </p:cNvPicPr>
          <p:nvPr/>
        </p:nvPicPr>
        <p:blipFill>
          <a:blip r:embed="rId2"/>
          <a:stretch>
            <a:fillRect/>
          </a:stretch>
        </p:blipFill>
        <p:spPr>
          <a:xfrm>
            <a:off x="0" y="0"/>
            <a:ext cx="12191695" cy="6858000"/>
          </a:xfrm>
          <a:prstGeom prst="rect">
            <a:avLst/>
          </a:prstGeom>
        </p:spPr>
      </p:pic>
      <p:sp>
        <p:nvSpPr>
          <p:cNvPr id="3" name="Diamond 2"/>
          <p:cNvSpPr/>
          <p:nvPr/>
        </p:nvSpPr>
        <p:spPr>
          <a:xfrm>
            <a:off x="566928" y="457200"/>
            <a:ext cx="100584" cy="100584"/>
          </a:xfrm>
          <a:prstGeom prst="diamond">
            <a:avLst/>
          </a:prstGeom>
          <a:solidFill>
            <a:srgbClr val="C984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49808" y="365760"/>
            <a:ext cx="8229600" cy="292608"/>
          </a:xfrm>
          <a:prstGeom prst="rect">
            <a:avLst/>
          </a:prstGeom>
          <a:noFill/>
        </p:spPr>
        <p:txBody>
          <a:bodyPr wrap="square" lIns="45720" rIns="45720" tIns="27432" bIns="27432" anchor="t">
            <a:noAutofit/>
          </a:bodyPr>
          <a:lstStyle/>
          <a:p>
            <a:pPr algn="l">
              <a:lnSpc>
                <a:spcPct val="100000"/>
              </a:lnSpc>
            </a:pPr>
            <a:r>
              <a:rPr sz="1100" b="0" i="0" spc="240">
                <a:solidFill>
                  <a:srgbClr val="C98457"/>
                </a:solidFill>
                <a:latin typeface="Segoe UI Semibold"/>
              </a:rPr>
              <a:t>MULTI-TURN</a:t>
            </a:r>
          </a:p>
        </p:txBody>
      </p:sp>
      <p:sp>
        <p:nvSpPr>
          <p:cNvPr id="5" name="TextBox 4"/>
          <p:cNvSpPr txBox="1"/>
          <p:nvPr/>
        </p:nvSpPr>
        <p:spPr>
          <a:xfrm>
            <a:off x="539496" y="676656"/>
            <a:ext cx="11057839" cy="658368"/>
          </a:xfrm>
          <a:prstGeom prst="rect">
            <a:avLst/>
          </a:prstGeom>
          <a:noFill/>
        </p:spPr>
        <p:txBody>
          <a:bodyPr wrap="square" lIns="45720" rIns="45720" tIns="27432" bIns="27432" anchor="t">
            <a:noAutofit/>
          </a:bodyPr>
          <a:lstStyle/>
          <a:p>
            <a:pPr algn="l">
              <a:lnSpc>
                <a:spcPct val="100000"/>
              </a:lnSpc>
            </a:pPr>
            <a:r>
              <a:rPr sz="3100" b="0" i="0">
                <a:solidFill>
                  <a:srgbClr val="F7F2E8"/>
                </a:solidFill>
                <a:latin typeface="Palatino Linotype"/>
              </a:rPr>
              <a:t>El loop del operador</a:t>
            </a:r>
          </a:p>
        </p:txBody>
      </p:sp>
      <p:sp>
        <p:nvSpPr>
          <p:cNvPr id="6" name="Rectangle 5"/>
          <p:cNvSpPr/>
          <p:nvPr/>
        </p:nvSpPr>
        <p:spPr>
          <a:xfrm>
            <a:off x="566928" y="1344168"/>
            <a:ext cx="822960" cy="36576"/>
          </a:xfrm>
          <a:prstGeom prst="rect">
            <a:avLst/>
          </a:prstGeom>
          <a:solidFill>
            <a:srgbClr val="C984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566928" y="1444752"/>
            <a:ext cx="10692079" cy="585216"/>
          </a:xfrm>
          <a:prstGeom prst="rect">
            <a:avLst/>
          </a:prstGeom>
          <a:noFill/>
        </p:spPr>
        <p:txBody>
          <a:bodyPr wrap="square" lIns="45720" rIns="45720" tIns="27432" bIns="27432" anchor="t">
            <a:noAutofit/>
          </a:bodyPr>
          <a:lstStyle/>
          <a:p>
            <a:pPr algn="l">
              <a:lnSpc>
                <a:spcPct val="100000"/>
              </a:lnSpc>
            </a:pPr>
            <a:r>
              <a:rPr sz="1450" b="0" i="0">
                <a:solidFill>
                  <a:srgbClr val="A7B2B0"/>
                </a:solidFill>
                <a:latin typeface="Segoe UI Semilight"/>
              </a:rPr>
              <a:t>Con Multi-Turn marcado, Tlamatini deja de ser una asesora y se vuelve una operadora: planea, llama tools, lee sus resultados y continúa hasta que la tarea está hecha.</a:t>
            </a:r>
          </a:p>
        </p:txBody>
      </p:sp>
      <p:sp>
        <p:nvSpPr>
          <p:cNvPr id="8" name="Rounded Rectangle 7"/>
          <p:cNvSpPr/>
          <p:nvPr/>
        </p:nvSpPr>
        <p:spPr>
          <a:xfrm>
            <a:off x="566928" y="2084831"/>
            <a:ext cx="5212080" cy="932688"/>
          </a:xfrm>
          <a:prstGeom prst="roundRect">
            <a:avLst>
              <a:gd name="adj" fmla="val 9803"/>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Diamond 8"/>
          <p:cNvSpPr/>
          <p:nvPr/>
        </p:nvSpPr>
        <p:spPr>
          <a:xfrm>
            <a:off x="768096" y="2487168"/>
            <a:ext cx="128016" cy="128016"/>
          </a:xfrm>
          <a:prstGeom prst="diamond">
            <a:avLst/>
          </a:prstGeom>
          <a:solidFill>
            <a:srgbClr val="3BBE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1024128" y="2139696"/>
            <a:ext cx="1554480" cy="822960"/>
          </a:xfrm>
          <a:prstGeom prst="rect">
            <a:avLst/>
          </a:prstGeom>
          <a:noFill/>
        </p:spPr>
        <p:txBody>
          <a:bodyPr wrap="square" lIns="45720" rIns="45720" tIns="27432" bIns="27432" anchor="ctr">
            <a:noAutofit/>
          </a:bodyPr>
          <a:lstStyle/>
          <a:p>
            <a:pPr algn="l">
              <a:lnSpc>
                <a:spcPct val="100000"/>
              </a:lnSpc>
            </a:pPr>
            <a:r>
              <a:rPr sz="1600" b="0" i="0">
                <a:solidFill>
                  <a:srgbClr val="F7F2E8"/>
                </a:solidFill>
                <a:latin typeface="Segoe UI Semibold"/>
              </a:rPr>
              <a:t>Paso a paso</a:t>
            </a:r>
          </a:p>
        </p:txBody>
      </p:sp>
      <p:sp>
        <p:nvSpPr>
          <p:cNvPr id="11" name="TextBox 10"/>
          <p:cNvSpPr txBox="1"/>
          <p:nvPr/>
        </p:nvSpPr>
        <p:spPr>
          <a:xfrm>
            <a:off x="2670048" y="2139696"/>
            <a:ext cx="2971800" cy="822960"/>
          </a:xfrm>
          <a:prstGeom prst="rect">
            <a:avLst/>
          </a:prstGeom>
          <a:noFill/>
        </p:spPr>
        <p:txBody>
          <a:bodyPr wrap="square" lIns="45720" rIns="45720" tIns="27432" bIns="27432" anchor="ctr">
            <a:noAutofit/>
          </a:bodyPr>
          <a:lstStyle/>
          <a:p>
            <a:pPr algn="l">
              <a:lnSpc>
                <a:spcPct val="100000"/>
              </a:lnSpc>
            </a:pPr>
            <a:r>
              <a:rPr sz="1400" b="0" i="0">
                <a:solidFill>
                  <a:srgbClr val="A7B2B0"/>
                </a:solidFill>
                <a:latin typeface="Segoe UI"/>
              </a:rPr>
              <a:t>Una acción concreta a la vez; espera tu READY o tu output.</a:t>
            </a:r>
          </a:p>
        </p:txBody>
      </p:sp>
      <p:sp>
        <p:nvSpPr>
          <p:cNvPr id="12" name="Rounded Rectangle 11"/>
          <p:cNvSpPr/>
          <p:nvPr/>
        </p:nvSpPr>
        <p:spPr>
          <a:xfrm>
            <a:off x="566928" y="3145536"/>
            <a:ext cx="5212080" cy="932688"/>
          </a:xfrm>
          <a:prstGeom prst="roundRect">
            <a:avLst>
              <a:gd name="adj" fmla="val 9803"/>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Diamond 12"/>
          <p:cNvSpPr/>
          <p:nvPr/>
        </p:nvSpPr>
        <p:spPr>
          <a:xfrm>
            <a:off x="768096" y="3547872"/>
            <a:ext cx="128016" cy="128016"/>
          </a:xfrm>
          <a:prstGeom prst="diamond">
            <a:avLst/>
          </a:prstGeom>
          <a:solidFill>
            <a:srgbClr val="C984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1024128" y="3200400"/>
            <a:ext cx="1554480" cy="822960"/>
          </a:xfrm>
          <a:prstGeom prst="rect">
            <a:avLst/>
          </a:prstGeom>
          <a:noFill/>
        </p:spPr>
        <p:txBody>
          <a:bodyPr wrap="square" lIns="45720" rIns="45720" tIns="27432" bIns="27432" anchor="ctr">
            <a:noAutofit/>
          </a:bodyPr>
          <a:lstStyle/>
          <a:p>
            <a:pPr algn="l">
              <a:lnSpc>
                <a:spcPct val="100000"/>
              </a:lnSpc>
            </a:pPr>
            <a:r>
              <a:rPr sz="1600" b="0" i="0">
                <a:solidFill>
                  <a:srgbClr val="F7F2E8"/>
                </a:solidFill>
                <a:latin typeface="Segoe UI Semibold"/>
              </a:rPr>
              <a:t>Ask Execs</a:t>
            </a:r>
          </a:p>
        </p:txBody>
      </p:sp>
      <p:sp>
        <p:nvSpPr>
          <p:cNvPr id="15" name="TextBox 14"/>
          <p:cNvSpPr txBox="1"/>
          <p:nvPr/>
        </p:nvSpPr>
        <p:spPr>
          <a:xfrm>
            <a:off x="2670048" y="3200400"/>
            <a:ext cx="2971800" cy="822960"/>
          </a:xfrm>
          <a:prstGeom prst="rect">
            <a:avLst/>
          </a:prstGeom>
          <a:noFill/>
        </p:spPr>
        <p:txBody>
          <a:bodyPr wrap="square" lIns="45720" rIns="45720" tIns="27432" bIns="27432" anchor="ctr">
            <a:noAutofit/>
          </a:bodyPr>
          <a:lstStyle/>
          <a:p>
            <a:pPr algn="l">
              <a:lnSpc>
                <a:spcPct val="100000"/>
              </a:lnSpc>
            </a:pPr>
            <a:r>
              <a:rPr sz="1400" b="0" i="0">
                <a:solidFill>
                  <a:srgbClr val="A7B2B0"/>
                </a:solidFill>
                <a:latin typeface="Segoe UI"/>
              </a:rPr>
              <a:t>Una compuerta humana de Permitir/Denegar antes de cada paso riesgoso.</a:t>
            </a:r>
          </a:p>
        </p:txBody>
      </p:sp>
      <p:sp>
        <p:nvSpPr>
          <p:cNvPr id="16" name="Rounded Rectangle 15"/>
          <p:cNvSpPr/>
          <p:nvPr/>
        </p:nvSpPr>
        <p:spPr>
          <a:xfrm>
            <a:off x="566928" y="4206240"/>
            <a:ext cx="5212080" cy="932688"/>
          </a:xfrm>
          <a:prstGeom prst="roundRect">
            <a:avLst>
              <a:gd name="adj" fmla="val 9803"/>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Diamond 16"/>
          <p:cNvSpPr/>
          <p:nvPr/>
        </p:nvSpPr>
        <p:spPr>
          <a:xfrm>
            <a:off x="768096" y="4608575"/>
            <a:ext cx="128016" cy="128016"/>
          </a:xfrm>
          <a:prstGeom prst="diamond">
            <a:avLst/>
          </a:prstGeom>
          <a:solidFill>
            <a:srgbClr val="E2B4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1024128" y="4261103"/>
            <a:ext cx="1554480" cy="822960"/>
          </a:xfrm>
          <a:prstGeom prst="rect">
            <a:avLst/>
          </a:prstGeom>
          <a:noFill/>
        </p:spPr>
        <p:txBody>
          <a:bodyPr wrap="square" lIns="45720" rIns="45720" tIns="27432" bIns="27432" anchor="ctr">
            <a:noAutofit/>
          </a:bodyPr>
          <a:lstStyle/>
          <a:p>
            <a:pPr algn="l">
              <a:lnSpc>
                <a:spcPct val="100000"/>
              </a:lnSpc>
            </a:pPr>
            <a:r>
              <a:rPr sz="1600" b="0" i="0">
                <a:solidFill>
                  <a:srgbClr val="F7F2E8"/>
                </a:solidFill>
                <a:latin typeface="Segoe UI Semibold"/>
              </a:rPr>
              <a:t>Exec Report</a:t>
            </a:r>
          </a:p>
        </p:txBody>
      </p:sp>
      <p:sp>
        <p:nvSpPr>
          <p:cNvPr id="19" name="TextBox 18"/>
          <p:cNvSpPr txBox="1"/>
          <p:nvPr/>
        </p:nvSpPr>
        <p:spPr>
          <a:xfrm>
            <a:off x="2670048" y="4261103"/>
            <a:ext cx="2971800" cy="822960"/>
          </a:xfrm>
          <a:prstGeom prst="rect">
            <a:avLst/>
          </a:prstGeom>
          <a:noFill/>
        </p:spPr>
        <p:txBody>
          <a:bodyPr wrap="square" lIns="45720" rIns="45720" tIns="27432" bIns="27432" anchor="ctr">
            <a:noAutofit/>
          </a:bodyPr>
          <a:lstStyle/>
          <a:p>
            <a:pPr algn="l">
              <a:lnSpc>
                <a:spcPct val="100000"/>
              </a:lnSpc>
            </a:pPr>
            <a:r>
              <a:rPr sz="1400" b="0" i="0">
                <a:solidFill>
                  <a:srgbClr val="A7B2B0"/>
                </a:solidFill>
                <a:latin typeface="Segoe UI"/>
              </a:rPr>
              <a:t>Una tabla por familia de agent, una fila por cada llamada real a un tool.</a:t>
            </a:r>
          </a:p>
        </p:txBody>
      </p:sp>
      <p:sp>
        <p:nvSpPr>
          <p:cNvPr id="20" name="Rounded Rectangle 19"/>
          <p:cNvSpPr/>
          <p:nvPr/>
        </p:nvSpPr>
        <p:spPr>
          <a:xfrm>
            <a:off x="566928" y="5266944"/>
            <a:ext cx="5212080" cy="932688"/>
          </a:xfrm>
          <a:prstGeom prst="roundRect">
            <a:avLst>
              <a:gd name="adj" fmla="val 9803"/>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Diamond 20"/>
          <p:cNvSpPr/>
          <p:nvPr/>
        </p:nvSpPr>
        <p:spPr>
          <a:xfrm>
            <a:off x="768096" y="5669279"/>
            <a:ext cx="128016" cy="128016"/>
          </a:xfrm>
          <a:prstGeom prst="diamond">
            <a:avLst/>
          </a:prstGeom>
          <a:solidFill>
            <a:srgbClr val="46D2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1024128" y="5321807"/>
            <a:ext cx="1554480" cy="822960"/>
          </a:xfrm>
          <a:prstGeom prst="rect">
            <a:avLst/>
          </a:prstGeom>
          <a:noFill/>
        </p:spPr>
        <p:txBody>
          <a:bodyPr wrap="square" lIns="45720" rIns="45720" tIns="27432" bIns="27432" anchor="ctr">
            <a:noAutofit/>
          </a:bodyPr>
          <a:lstStyle/>
          <a:p>
            <a:pPr algn="l">
              <a:lnSpc>
                <a:spcPct val="100000"/>
              </a:lnSpc>
            </a:pPr>
            <a:r>
              <a:rPr sz="1600" b="0" i="0">
                <a:solidFill>
                  <a:srgbClr val="F7F2E8"/>
                </a:solidFill>
                <a:latin typeface="Segoe UI Semibold"/>
              </a:rPr>
              <a:t>ACPX</a:t>
            </a:r>
          </a:p>
        </p:txBody>
      </p:sp>
      <p:sp>
        <p:nvSpPr>
          <p:cNvPr id="23" name="TextBox 22"/>
          <p:cNvSpPr txBox="1"/>
          <p:nvPr/>
        </p:nvSpPr>
        <p:spPr>
          <a:xfrm>
            <a:off x="2670048" y="5321807"/>
            <a:ext cx="2971800" cy="822960"/>
          </a:xfrm>
          <a:prstGeom prst="rect">
            <a:avLst/>
          </a:prstGeom>
          <a:noFill/>
        </p:spPr>
        <p:txBody>
          <a:bodyPr wrap="square" lIns="45720" rIns="45720" tIns="27432" bIns="27432" anchor="ctr">
            <a:noAutofit/>
          </a:bodyPr>
          <a:lstStyle/>
          <a:p>
            <a:pPr algn="l">
              <a:lnSpc>
                <a:spcPct val="100000"/>
              </a:lnSpc>
            </a:pPr>
            <a:r>
              <a:rPr sz="1400" b="0" i="0">
                <a:solidFill>
                  <a:srgbClr val="A7B2B0"/>
                </a:solidFill>
                <a:latin typeface="Segoe UI"/>
              </a:rPr>
              <a:t>Agrega los tools de coding-agent externo y de Skill a la superficie.</a:t>
            </a:r>
          </a:p>
        </p:txBody>
      </p:sp>
      <p:sp>
        <p:nvSpPr>
          <p:cNvPr id="24" name="Rounded Rectangle 23"/>
          <p:cNvSpPr/>
          <p:nvPr/>
        </p:nvSpPr>
        <p:spPr>
          <a:xfrm>
            <a:off x="6144768" y="2084831"/>
            <a:ext cx="5479999" cy="4114800"/>
          </a:xfrm>
          <a:prstGeom prst="roundRect">
            <a:avLst>
              <a:gd name="adj" fmla="val 2666"/>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TextBox 24"/>
          <p:cNvSpPr txBox="1"/>
          <p:nvPr/>
        </p:nvSpPr>
        <p:spPr>
          <a:xfrm>
            <a:off x="6419088" y="2313432"/>
            <a:ext cx="4931359" cy="3657600"/>
          </a:xfrm>
          <a:prstGeom prst="rect">
            <a:avLst/>
          </a:prstGeom>
          <a:noFill/>
        </p:spPr>
        <p:txBody>
          <a:bodyPr wrap="square" lIns="45720" rIns="45720" tIns="27432" bIns="27432" anchor="t">
            <a:noAutofit/>
          </a:bodyPr>
          <a:lstStyle/>
          <a:p>
            <a:pPr algn="l">
              <a:lnSpc>
                <a:spcPct val="100000"/>
              </a:lnSpc>
            </a:pPr>
            <a:r>
              <a:rPr sz="1250" b="0" i="0">
                <a:solidFill>
                  <a:srgbClr val="ECE7DC"/>
                </a:solidFill>
                <a:latin typeface="Segoe UI"/>
              </a:rPr>
              <a:t>Un planner de ejecución global construye un plan con alcance de solicitud y pistas de capacidad, pero el executor ata la </a:t>
            </a:r>
            <a:r>
              <a:rPr sz="1250" b="0" i="0">
                <a:solidFill>
                  <a:srgbClr val="ECE7DC"/>
                </a:solidFill>
                <a:latin typeface="Segoe UI Semibold"/>
              </a:rPr>
              <a:t>superficie completa de tools habilitada</a:t>
            </a:r>
            <a:r>
              <a:rPr sz="1250" b="0" i="0">
                <a:solidFill>
                  <a:srgbClr val="ECE7DC"/>
                </a:solidFill>
                <a:latin typeface="Segoe UI"/>
              </a:rPr>
              <a:t>: cada tool, agent wrapped y skill habilitado, con ACPX todavía filtrado por su propia casilla. Un diseño anterior ataba sólo un subconjunto estrecho del planner y podía dejar al loop sin el único tool que necesitaba.</a:t>
            </a:r>
          </a:p>
          <a:p>
            <a:pPr algn="l">
              <a:lnSpc>
                <a:spcPct val="100000"/>
              </a:lnSpc>
              <a:spcBef>
                <a:spcPts val="939"/>
              </a:spcBef>
            </a:pPr>
            <a:r>
              <a:rPr sz="1250" b="0" i="0">
                <a:solidFill>
                  <a:srgbClr val="ECE7DC"/>
                </a:solidFill>
                <a:latin typeface="Segoe UI"/>
              </a:rPr>
              <a:t>El loop corre hasta 4,096 iteraciones. Las llamadas idénticas a un agent wrapped en una solicitud se deduplican, un rompedor de repetición empuja a un modelo que da vueltas, y cada agent wrapped corre en su propia carpeta de runtime aislada, así que las plantillas nunca se modifican.</a:t>
            </a:r>
          </a:p>
          <a:p>
            <a:pPr algn="l">
              <a:lnSpc>
                <a:spcPct val="100000"/>
              </a:lnSpc>
              <a:spcBef>
                <a:spcPts val="939"/>
              </a:spcBef>
            </a:pPr>
            <a:r>
              <a:rPr sz="1250" b="0" i="0">
                <a:solidFill>
                  <a:srgbClr val="ECE7DC"/>
                </a:solidFill>
                <a:latin typeface="Segoe UI"/>
              </a:rPr>
              <a:t>Cuando al menos un agent tuvo éxito, la respuesta trae un botón </a:t>
            </a:r>
            <a:r>
              <a:rPr sz="1250" b="0" i="0">
                <a:solidFill>
                  <a:srgbClr val="ECE7DC"/>
                </a:solidFill>
                <a:latin typeface="Segoe UI Semibold"/>
              </a:rPr>
              <a:t>Create Flow</a:t>
            </a:r>
            <a:r>
              <a:rPr sz="1250" b="0" i="0">
                <a:solidFill>
                  <a:srgbClr val="ECE7DC"/>
                </a:solidFill>
                <a:latin typeface="Segoe UI"/>
              </a:rPr>
              <a:t>. Convierte exactamente las llamadas a tools exitosas en un workflow </a:t>
            </a:r>
            <a:r>
              <a:rPr sz="1150" b="0" i="0">
                <a:solidFill>
                  <a:srgbClr val="E2B462"/>
                </a:solidFill>
                <a:latin typeface="Consolas"/>
              </a:rPr>
              <a:t>.flw</a:t>
            </a:r>
            <a:r>
              <a:rPr sz="1250" b="0" i="0">
                <a:solidFill>
                  <a:srgbClr val="ECE7DC"/>
                </a:solidFill>
                <a:latin typeface="Segoe UI"/>
              </a:rPr>
              <a:t> cargable en el canvas, normalizado y con secretos redactados por el backend, así que una conversación puede volverse un workflow reutilizable.</a:t>
            </a:r>
          </a:p>
        </p:txBody>
      </p:sp>
      <p:cxnSp>
        <p:nvCxnSpPr>
          <p:cNvPr id="26" name="Connector 25"/>
          <p:cNvCxnSpPr/>
          <p:nvPr/>
        </p:nvCxnSpPr>
        <p:spPr>
          <a:xfrm>
            <a:off x="566928" y="6373368"/>
            <a:ext cx="11057839" cy="0"/>
          </a:xfrm>
          <a:prstGeom prst="line">
            <a:avLst/>
          </a:prstGeom>
          <a:ln w="7620">
            <a:solidFill>
              <a:srgbClr val="2A3A40"/>
            </a:solidFill>
          </a:ln>
        </p:spPr>
        <p:style>
          <a:lnRef idx="2">
            <a:schemeClr val="accent1"/>
          </a:lnRef>
          <a:fillRef idx="0">
            <a:schemeClr val="accent1"/>
          </a:fillRef>
          <a:effectRef idx="1">
            <a:schemeClr val="accent1"/>
          </a:effectRef>
          <a:fontRef idx="minor">
            <a:schemeClr val="tx1"/>
          </a:fontRef>
        </p:style>
      </p:cxnSp>
      <p:sp>
        <p:nvSpPr>
          <p:cNvPr id="27" name="TextBox 26"/>
          <p:cNvSpPr txBox="1"/>
          <p:nvPr/>
        </p:nvSpPr>
        <p:spPr>
          <a:xfrm>
            <a:off x="566928" y="6419088"/>
            <a:ext cx="6858000" cy="274320"/>
          </a:xfrm>
          <a:prstGeom prst="rect">
            <a:avLst/>
          </a:prstGeom>
          <a:noFill/>
        </p:spPr>
        <p:txBody>
          <a:bodyPr wrap="square" lIns="45720" rIns="45720" tIns="27432" bIns="27432" anchor="t">
            <a:noAutofit/>
          </a:bodyPr>
          <a:lstStyle/>
          <a:p>
            <a:pPr algn="l">
              <a:lnSpc>
                <a:spcPct val="100000"/>
              </a:lnSpc>
            </a:pPr>
            <a:r>
              <a:rPr sz="850" b="0" i="0" spc="120">
                <a:solidFill>
                  <a:srgbClr val="A7B2B0"/>
                </a:solidFill>
                <a:latin typeface="Segoe UI Semibold"/>
              </a:rPr>
              <a:t>TLAMATINI  ·  II · CÓMO FUNCIONA</a:t>
            </a:r>
          </a:p>
        </p:txBody>
      </p:sp>
      <p:sp>
        <p:nvSpPr>
          <p:cNvPr id="28" name="TextBox 27"/>
          <p:cNvSpPr txBox="1"/>
          <p:nvPr/>
        </p:nvSpPr>
        <p:spPr>
          <a:xfrm>
            <a:off x="8698687" y="6419088"/>
            <a:ext cx="2926080" cy="274320"/>
          </a:xfrm>
          <a:prstGeom prst="rect">
            <a:avLst/>
          </a:prstGeom>
          <a:noFill/>
        </p:spPr>
        <p:txBody>
          <a:bodyPr wrap="square" lIns="45720" rIns="45720" tIns="27432" bIns="27432" anchor="t">
            <a:noAutofit/>
          </a:bodyPr>
          <a:lstStyle/>
          <a:p>
            <a:pPr algn="r">
              <a:lnSpc>
                <a:spcPct val="100000"/>
              </a:lnSpc>
            </a:pPr>
            <a:r>
              <a:rPr sz="850" b="0" i="0" spc="100">
                <a:solidFill>
                  <a:srgbClr val="A7B2B0"/>
                </a:solidFill>
                <a:latin typeface="Segoe UI Semibold"/>
              </a:rPr>
              <a:t>v1.91.1   ·   13</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content.png"/>
          <p:cNvPicPr>
            <a:picLocks noChangeAspect="1"/>
          </p:cNvPicPr>
          <p:nvPr/>
        </p:nvPicPr>
        <p:blipFill>
          <a:blip r:embed="rId2"/>
          <a:stretch>
            <a:fillRect/>
          </a:stretch>
        </p:blipFill>
        <p:spPr>
          <a:xfrm>
            <a:off x="0" y="0"/>
            <a:ext cx="12191695" cy="6858000"/>
          </a:xfrm>
          <a:prstGeom prst="rect">
            <a:avLst/>
          </a:prstGeom>
        </p:spPr>
      </p:pic>
      <p:sp>
        <p:nvSpPr>
          <p:cNvPr id="3" name="Diamond 2"/>
          <p:cNvSpPr/>
          <p:nvPr/>
        </p:nvSpPr>
        <p:spPr>
          <a:xfrm>
            <a:off x="566928" y="457200"/>
            <a:ext cx="100584" cy="100584"/>
          </a:xfrm>
          <a:prstGeom prst="diamond">
            <a:avLst/>
          </a:prstGeom>
          <a:solidFill>
            <a:srgbClr val="C984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49808" y="365760"/>
            <a:ext cx="8229600" cy="292608"/>
          </a:xfrm>
          <a:prstGeom prst="rect">
            <a:avLst/>
          </a:prstGeom>
          <a:noFill/>
        </p:spPr>
        <p:txBody>
          <a:bodyPr wrap="square" lIns="45720" rIns="45720" tIns="27432" bIns="27432" anchor="t">
            <a:noAutofit/>
          </a:bodyPr>
          <a:lstStyle/>
          <a:p>
            <a:pPr algn="l">
              <a:lnSpc>
                <a:spcPct val="100000"/>
              </a:lnSpc>
            </a:pPr>
            <a:r>
              <a:rPr sz="1100" b="0" i="0" spc="240">
                <a:solidFill>
                  <a:srgbClr val="C98457"/>
                </a:solidFill>
                <a:latin typeface="Segoe UI Semibold"/>
              </a:rPr>
              <a:t>AUTO-SANACIÓN</a:t>
            </a:r>
          </a:p>
        </p:txBody>
      </p:sp>
      <p:sp>
        <p:nvSpPr>
          <p:cNvPr id="5" name="TextBox 4"/>
          <p:cNvSpPr txBox="1"/>
          <p:nvPr/>
        </p:nvSpPr>
        <p:spPr>
          <a:xfrm>
            <a:off x="539496" y="676656"/>
            <a:ext cx="11057839" cy="658368"/>
          </a:xfrm>
          <a:prstGeom prst="rect">
            <a:avLst/>
          </a:prstGeom>
          <a:noFill/>
        </p:spPr>
        <p:txBody>
          <a:bodyPr wrap="square" lIns="45720" rIns="45720" tIns="27432" bIns="27432" anchor="t">
            <a:noAutofit/>
          </a:bodyPr>
          <a:lstStyle/>
          <a:p>
            <a:pPr algn="l">
              <a:lnSpc>
                <a:spcPct val="100000"/>
              </a:lnSpc>
            </a:pPr>
            <a:r>
              <a:rPr sz="3100" b="0" i="0">
                <a:solidFill>
                  <a:srgbClr val="F7F2E8"/>
                </a:solidFill>
                <a:latin typeface="Palatino Linotype"/>
              </a:rPr>
              <a:t>Nunca colgarse, nunca descartar, nunca mentir</a:t>
            </a:r>
          </a:p>
        </p:txBody>
      </p:sp>
      <p:sp>
        <p:nvSpPr>
          <p:cNvPr id="6" name="Rectangle 5"/>
          <p:cNvSpPr/>
          <p:nvPr/>
        </p:nvSpPr>
        <p:spPr>
          <a:xfrm>
            <a:off x="566928" y="1344168"/>
            <a:ext cx="822960" cy="36576"/>
          </a:xfrm>
          <a:prstGeom prst="rect">
            <a:avLst/>
          </a:prstGeom>
          <a:solidFill>
            <a:srgbClr val="C984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566928" y="1444752"/>
            <a:ext cx="10692079" cy="585216"/>
          </a:xfrm>
          <a:prstGeom prst="rect">
            <a:avLst/>
          </a:prstGeom>
          <a:noFill/>
        </p:spPr>
        <p:txBody>
          <a:bodyPr wrap="square" lIns="45720" rIns="45720" tIns="27432" bIns="27432" anchor="t">
            <a:noAutofit/>
          </a:bodyPr>
          <a:lstStyle/>
          <a:p>
            <a:pPr algn="l">
              <a:lnSpc>
                <a:spcPct val="100000"/>
              </a:lnSpc>
            </a:pPr>
            <a:r>
              <a:rPr sz="1450" b="0" i="0">
                <a:solidFill>
                  <a:srgbClr val="A7B2B0"/>
                </a:solidFill>
                <a:latin typeface="Segoe UI Semilight"/>
              </a:rPr>
              <a:t>Cada llamada al modelo dentro del loop pasa por un invocador auto-sanador por solicitud que cambia a una táctica genuinamente distinta cada vez que ocurre una falla transitoria.</a:t>
            </a:r>
          </a:p>
        </p:txBody>
      </p:sp>
      <p:sp>
        <p:nvSpPr>
          <p:cNvPr id="8" name="Rounded Rectangle 7"/>
          <p:cNvSpPr/>
          <p:nvPr/>
        </p:nvSpPr>
        <p:spPr>
          <a:xfrm>
            <a:off x="877824" y="2084831"/>
            <a:ext cx="5035143" cy="1286255"/>
          </a:xfrm>
          <a:prstGeom prst="roundRect">
            <a:avLst>
              <a:gd name="adj" fmla="val 7109"/>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566928" y="2490215"/>
            <a:ext cx="475488" cy="475488"/>
          </a:xfrm>
          <a:prstGeom prst="ellipse">
            <a:avLst/>
          </a:prstGeom>
          <a:solidFill>
            <a:srgbClr val="151F23"/>
          </a:solidFill>
          <a:ln w="15240">
            <a:solidFill>
              <a:srgbClr val="3BBE9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566928" y="2490215"/>
            <a:ext cx="475488" cy="475488"/>
          </a:xfrm>
          <a:prstGeom prst="rect">
            <a:avLst/>
          </a:prstGeom>
          <a:noFill/>
        </p:spPr>
        <p:txBody>
          <a:bodyPr wrap="square" lIns="45720" rIns="45720" tIns="27432" bIns="27432" anchor="ctr">
            <a:noAutofit/>
          </a:bodyPr>
          <a:lstStyle/>
          <a:p>
            <a:pPr algn="ctr">
              <a:lnSpc>
                <a:spcPct val="100000"/>
              </a:lnSpc>
            </a:pPr>
            <a:r>
              <a:rPr sz="1500" b="1" i="0">
                <a:solidFill>
                  <a:srgbClr val="E2B462"/>
                </a:solidFill>
                <a:latin typeface="Palatino Linotype"/>
              </a:rPr>
              <a:t>1</a:t>
            </a:r>
          </a:p>
        </p:txBody>
      </p:sp>
      <p:sp>
        <p:nvSpPr>
          <p:cNvPr id="11" name="TextBox 10"/>
          <p:cNvSpPr txBox="1"/>
          <p:nvPr/>
        </p:nvSpPr>
        <p:spPr>
          <a:xfrm>
            <a:off x="1133856" y="2121408"/>
            <a:ext cx="1783080" cy="1213103"/>
          </a:xfrm>
          <a:prstGeom prst="rect">
            <a:avLst/>
          </a:prstGeom>
          <a:noFill/>
        </p:spPr>
        <p:txBody>
          <a:bodyPr wrap="square" lIns="45720" rIns="45720" tIns="27432" bIns="27432" anchor="ctr">
            <a:noAutofit/>
          </a:bodyPr>
          <a:lstStyle/>
          <a:p>
            <a:pPr algn="l">
              <a:lnSpc>
                <a:spcPct val="100000"/>
              </a:lnSpc>
            </a:pPr>
            <a:r>
              <a:rPr sz="1450" b="1" i="0">
                <a:solidFill>
                  <a:srgbClr val="3BBE93"/>
                </a:solidFill>
                <a:latin typeface="Consolas"/>
              </a:rPr>
              <a:t>normal</a:t>
            </a:r>
          </a:p>
        </p:txBody>
      </p:sp>
      <p:sp>
        <p:nvSpPr>
          <p:cNvPr id="12" name="TextBox 11"/>
          <p:cNvSpPr txBox="1"/>
          <p:nvPr/>
        </p:nvSpPr>
        <p:spPr>
          <a:xfrm>
            <a:off x="2944368" y="2121408"/>
            <a:ext cx="2858871" cy="1213103"/>
          </a:xfrm>
          <a:prstGeom prst="rect">
            <a:avLst/>
          </a:prstGeom>
          <a:noFill/>
        </p:spPr>
        <p:txBody>
          <a:bodyPr wrap="square" lIns="45720" rIns="45720" tIns="27432" bIns="27432" anchor="ctr">
            <a:noAutofit/>
          </a:bodyPr>
          <a:lstStyle/>
          <a:p>
            <a:pPr algn="l">
              <a:lnSpc>
                <a:spcPct val="100000"/>
              </a:lnSpc>
            </a:pPr>
            <a:r>
              <a:rPr sz="1300" b="0" i="0">
                <a:solidFill>
                  <a:srgbClr val="A7B2B0"/>
                </a:solidFill>
                <a:latin typeface="Segoe UI"/>
              </a:rPr>
              <a:t>La solicitud completa otra vez.</a:t>
            </a:r>
          </a:p>
        </p:txBody>
      </p:sp>
      <p:sp>
        <p:nvSpPr>
          <p:cNvPr id="13" name="Rounded Rectangle 12"/>
          <p:cNvSpPr/>
          <p:nvPr/>
        </p:nvSpPr>
        <p:spPr>
          <a:xfrm>
            <a:off x="877824" y="3499103"/>
            <a:ext cx="5035143" cy="1286255"/>
          </a:xfrm>
          <a:prstGeom prst="roundRect">
            <a:avLst>
              <a:gd name="adj" fmla="val 7109"/>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Oval 13"/>
          <p:cNvSpPr/>
          <p:nvPr/>
        </p:nvSpPr>
        <p:spPr>
          <a:xfrm>
            <a:off x="566928" y="3904487"/>
            <a:ext cx="475488" cy="475488"/>
          </a:xfrm>
          <a:prstGeom prst="ellipse">
            <a:avLst/>
          </a:prstGeom>
          <a:solidFill>
            <a:srgbClr val="151F23"/>
          </a:solidFill>
          <a:ln w="15240">
            <a:solidFill>
              <a:srgbClr val="3BBE9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566928" y="3904487"/>
            <a:ext cx="475488" cy="475488"/>
          </a:xfrm>
          <a:prstGeom prst="rect">
            <a:avLst/>
          </a:prstGeom>
          <a:noFill/>
        </p:spPr>
        <p:txBody>
          <a:bodyPr wrap="square" lIns="45720" rIns="45720" tIns="27432" bIns="27432" anchor="ctr">
            <a:noAutofit/>
          </a:bodyPr>
          <a:lstStyle/>
          <a:p>
            <a:pPr algn="ctr">
              <a:lnSpc>
                <a:spcPct val="100000"/>
              </a:lnSpc>
            </a:pPr>
            <a:r>
              <a:rPr sz="1500" b="1" i="0">
                <a:solidFill>
                  <a:srgbClr val="E2B462"/>
                </a:solidFill>
                <a:latin typeface="Palatino Linotype"/>
              </a:rPr>
              <a:t>2</a:t>
            </a:r>
          </a:p>
        </p:txBody>
      </p:sp>
      <p:sp>
        <p:nvSpPr>
          <p:cNvPr id="16" name="TextBox 15"/>
          <p:cNvSpPr txBox="1"/>
          <p:nvPr/>
        </p:nvSpPr>
        <p:spPr>
          <a:xfrm>
            <a:off x="1133856" y="3535679"/>
            <a:ext cx="1783080" cy="1213103"/>
          </a:xfrm>
          <a:prstGeom prst="rect">
            <a:avLst/>
          </a:prstGeom>
          <a:noFill/>
        </p:spPr>
        <p:txBody>
          <a:bodyPr wrap="square" lIns="45720" rIns="45720" tIns="27432" bIns="27432" anchor="ctr">
            <a:noAutofit/>
          </a:bodyPr>
          <a:lstStyle/>
          <a:p>
            <a:pPr algn="l">
              <a:lnSpc>
                <a:spcPct val="100000"/>
              </a:lnSpc>
            </a:pPr>
            <a:r>
              <a:rPr sz="1450" b="1" i="0">
                <a:solidFill>
                  <a:srgbClr val="3BBE93"/>
                </a:solidFill>
                <a:latin typeface="Consolas"/>
              </a:rPr>
              <a:t>reintento</a:t>
            </a:r>
          </a:p>
        </p:txBody>
      </p:sp>
      <p:sp>
        <p:nvSpPr>
          <p:cNvPr id="17" name="TextBox 16"/>
          <p:cNvSpPr txBox="1"/>
          <p:nvPr/>
        </p:nvSpPr>
        <p:spPr>
          <a:xfrm>
            <a:off x="2944368" y="3535679"/>
            <a:ext cx="2858871" cy="1213103"/>
          </a:xfrm>
          <a:prstGeom prst="rect">
            <a:avLst/>
          </a:prstGeom>
          <a:noFill/>
        </p:spPr>
        <p:txBody>
          <a:bodyPr wrap="square" lIns="45720" rIns="45720" tIns="27432" bIns="27432" anchor="ctr">
            <a:noAutofit/>
          </a:bodyPr>
          <a:lstStyle/>
          <a:p>
            <a:pPr algn="l">
              <a:lnSpc>
                <a:spcPct val="100000"/>
              </a:lnSpc>
            </a:pPr>
            <a:r>
              <a:rPr sz="1300" b="0" i="0">
                <a:solidFill>
                  <a:srgbClr val="A7B2B0"/>
                </a:solidFill>
                <a:latin typeface="Segoe UI"/>
              </a:rPr>
              <a:t>La misma solicitud con tools atados; la mayoría de los parpadeos se resuelven aquí.</a:t>
            </a:r>
          </a:p>
        </p:txBody>
      </p:sp>
      <p:sp>
        <p:nvSpPr>
          <p:cNvPr id="18" name="Rounded Rectangle 17"/>
          <p:cNvSpPr/>
          <p:nvPr/>
        </p:nvSpPr>
        <p:spPr>
          <a:xfrm>
            <a:off x="877824" y="4913376"/>
            <a:ext cx="5035143" cy="1286255"/>
          </a:xfrm>
          <a:prstGeom prst="roundRect">
            <a:avLst>
              <a:gd name="adj" fmla="val 7109"/>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Oval 18"/>
          <p:cNvSpPr/>
          <p:nvPr/>
        </p:nvSpPr>
        <p:spPr>
          <a:xfrm>
            <a:off x="566928" y="5318760"/>
            <a:ext cx="475488" cy="475488"/>
          </a:xfrm>
          <a:prstGeom prst="ellipse">
            <a:avLst/>
          </a:prstGeom>
          <a:solidFill>
            <a:srgbClr val="151F23"/>
          </a:solidFill>
          <a:ln w="15240">
            <a:solidFill>
              <a:srgbClr val="3BBE9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566928" y="5318760"/>
            <a:ext cx="475488" cy="475488"/>
          </a:xfrm>
          <a:prstGeom prst="rect">
            <a:avLst/>
          </a:prstGeom>
          <a:noFill/>
        </p:spPr>
        <p:txBody>
          <a:bodyPr wrap="square" lIns="45720" rIns="45720" tIns="27432" bIns="27432" anchor="ctr">
            <a:noAutofit/>
          </a:bodyPr>
          <a:lstStyle/>
          <a:p>
            <a:pPr algn="ctr">
              <a:lnSpc>
                <a:spcPct val="100000"/>
              </a:lnSpc>
            </a:pPr>
            <a:r>
              <a:rPr sz="1500" b="1" i="0">
                <a:solidFill>
                  <a:srgbClr val="E2B462"/>
                </a:solidFill>
                <a:latin typeface="Palatino Linotype"/>
              </a:rPr>
              <a:t>3</a:t>
            </a:r>
          </a:p>
        </p:txBody>
      </p:sp>
      <p:sp>
        <p:nvSpPr>
          <p:cNvPr id="21" name="TextBox 20"/>
          <p:cNvSpPr txBox="1"/>
          <p:nvPr/>
        </p:nvSpPr>
        <p:spPr>
          <a:xfrm>
            <a:off x="1133856" y="4949952"/>
            <a:ext cx="1783080" cy="1213103"/>
          </a:xfrm>
          <a:prstGeom prst="rect">
            <a:avLst/>
          </a:prstGeom>
          <a:noFill/>
        </p:spPr>
        <p:txBody>
          <a:bodyPr wrap="square" lIns="45720" rIns="45720" tIns="27432" bIns="27432" anchor="ctr">
            <a:noAutofit/>
          </a:bodyPr>
          <a:lstStyle/>
          <a:p>
            <a:pPr algn="l">
              <a:lnSpc>
                <a:spcPct val="100000"/>
              </a:lnSpc>
            </a:pPr>
            <a:r>
              <a:rPr sz="1450" b="1" i="0">
                <a:solidFill>
                  <a:srgbClr val="3BBE93"/>
                </a:solidFill>
                <a:latin typeface="Consolas"/>
              </a:rPr>
              <a:t>reintento paciente</a:t>
            </a:r>
          </a:p>
        </p:txBody>
      </p:sp>
      <p:sp>
        <p:nvSpPr>
          <p:cNvPr id="22" name="TextBox 21"/>
          <p:cNvSpPr txBox="1"/>
          <p:nvPr/>
        </p:nvSpPr>
        <p:spPr>
          <a:xfrm>
            <a:off x="2944368" y="4949952"/>
            <a:ext cx="2858871" cy="1213103"/>
          </a:xfrm>
          <a:prstGeom prst="rect">
            <a:avLst/>
          </a:prstGeom>
          <a:noFill/>
        </p:spPr>
        <p:txBody>
          <a:bodyPr wrap="square" lIns="45720" rIns="45720" tIns="27432" bIns="27432" anchor="ctr">
            <a:noAutofit/>
          </a:bodyPr>
          <a:lstStyle/>
          <a:p>
            <a:pPr algn="l">
              <a:lnSpc>
                <a:spcPct val="100000"/>
              </a:lnSpc>
            </a:pPr>
            <a:r>
              <a:rPr sz="1300" b="0" i="0">
                <a:solidFill>
                  <a:srgbClr val="A7B2B0"/>
                </a:solidFill>
                <a:latin typeface="Segoe UI"/>
              </a:rPr>
              <a:t>Espera, luego reintenta con paciencia extra.</a:t>
            </a:r>
          </a:p>
        </p:txBody>
      </p:sp>
      <p:sp>
        <p:nvSpPr>
          <p:cNvPr id="23" name="Rounded Rectangle 22"/>
          <p:cNvSpPr/>
          <p:nvPr/>
        </p:nvSpPr>
        <p:spPr>
          <a:xfrm>
            <a:off x="6589623" y="2084831"/>
            <a:ext cx="5035143" cy="1286255"/>
          </a:xfrm>
          <a:prstGeom prst="roundRect">
            <a:avLst>
              <a:gd name="adj" fmla="val 7109"/>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Oval 23"/>
          <p:cNvSpPr/>
          <p:nvPr/>
        </p:nvSpPr>
        <p:spPr>
          <a:xfrm>
            <a:off x="6278727" y="2490215"/>
            <a:ext cx="475488" cy="475488"/>
          </a:xfrm>
          <a:prstGeom prst="ellipse">
            <a:avLst/>
          </a:prstGeom>
          <a:solidFill>
            <a:srgbClr val="151F23"/>
          </a:solidFill>
          <a:ln w="15240">
            <a:solidFill>
              <a:srgbClr val="3BBE9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TextBox 24"/>
          <p:cNvSpPr txBox="1"/>
          <p:nvPr/>
        </p:nvSpPr>
        <p:spPr>
          <a:xfrm>
            <a:off x="6278727" y="2490215"/>
            <a:ext cx="475488" cy="475488"/>
          </a:xfrm>
          <a:prstGeom prst="rect">
            <a:avLst/>
          </a:prstGeom>
          <a:noFill/>
        </p:spPr>
        <p:txBody>
          <a:bodyPr wrap="square" lIns="45720" rIns="45720" tIns="27432" bIns="27432" anchor="ctr">
            <a:noAutofit/>
          </a:bodyPr>
          <a:lstStyle/>
          <a:p>
            <a:pPr algn="ctr">
              <a:lnSpc>
                <a:spcPct val="100000"/>
              </a:lnSpc>
            </a:pPr>
            <a:r>
              <a:rPr sz="1500" b="1" i="0">
                <a:solidFill>
                  <a:srgbClr val="E2B462"/>
                </a:solidFill>
                <a:latin typeface="Palatino Linotype"/>
              </a:rPr>
              <a:t>4</a:t>
            </a:r>
          </a:p>
        </p:txBody>
      </p:sp>
      <p:sp>
        <p:nvSpPr>
          <p:cNvPr id="26" name="TextBox 25"/>
          <p:cNvSpPr txBox="1"/>
          <p:nvPr/>
        </p:nvSpPr>
        <p:spPr>
          <a:xfrm>
            <a:off x="6845655" y="2121408"/>
            <a:ext cx="1783080" cy="1213103"/>
          </a:xfrm>
          <a:prstGeom prst="rect">
            <a:avLst/>
          </a:prstGeom>
          <a:noFill/>
        </p:spPr>
        <p:txBody>
          <a:bodyPr wrap="square" lIns="45720" rIns="45720" tIns="27432" bIns="27432" anchor="ctr">
            <a:noAutofit/>
          </a:bodyPr>
          <a:lstStyle/>
          <a:p>
            <a:pPr algn="l">
              <a:lnSpc>
                <a:spcPct val="100000"/>
              </a:lnSpc>
            </a:pPr>
            <a:r>
              <a:rPr sz="1450" b="1" i="0">
                <a:solidFill>
                  <a:srgbClr val="3BBE93"/>
                </a:solidFill>
                <a:latin typeface="Consolas"/>
              </a:rPr>
              <a:t>recortar contexto</a:t>
            </a:r>
          </a:p>
        </p:txBody>
      </p:sp>
      <p:sp>
        <p:nvSpPr>
          <p:cNvPr id="27" name="TextBox 26"/>
          <p:cNvSpPr txBox="1"/>
          <p:nvPr/>
        </p:nvSpPr>
        <p:spPr>
          <a:xfrm>
            <a:off x="8656167" y="2121408"/>
            <a:ext cx="2858871" cy="1213103"/>
          </a:xfrm>
          <a:prstGeom prst="rect">
            <a:avLst/>
          </a:prstGeom>
          <a:noFill/>
        </p:spPr>
        <p:txBody>
          <a:bodyPr wrap="square" lIns="45720" rIns="45720" tIns="27432" bIns="27432" anchor="ctr">
            <a:noAutofit/>
          </a:bodyPr>
          <a:lstStyle/>
          <a:p>
            <a:pPr algn="l">
              <a:lnSpc>
                <a:spcPct val="100000"/>
              </a:lnSpc>
            </a:pPr>
            <a:r>
              <a:rPr sz="1300" b="0" i="0">
                <a:solidFill>
                  <a:srgbClr val="A7B2B0"/>
                </a:solidFill>
                <a:latin typeface="Segoe UI"/>
              </a:rPr>
              <a:t>Conserva los mensajes de sistema y los últimos doce.</a:t>
            </a:r>
          </a:p>
        </p:txBody>
      </p:sp>
      <p:sp>
        <p:nvSpPr>
          <p:cNvPr id="28" name="Rounded Rectangle 27"/>
          <p:cNvSpPr/>
          <p:nvPr/>
        </p:nvSpPr>
        <p:spPr>
          <a:xfrm>
            <a:off x="6589623" y="3499103"/>
            <a:ext cx="5035143" cy="1286255"/>
          </a:xfrm>
          <a:prstGeom prst="roundRect">
            <a:avLst>
              <a:gd name="adj" fmla="val 7109"/>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Oval 28"/>
          <p:cNvSpPr/>
          <p:nvPr/>
        </p:nvSpPr>
        <p:spPr>
          <a:xfrm>
            <a:off x="6278727" y="3904487"/>
            <a:ext cx="475488" cy="475488"/>
          </a:xfrm>
          <a:prstGeom prst="ellipse">
            <a:avLst/>
          </a:prstGeom>
          <a:solidFill>
            <a:srgbClr val="151F23"/>
          </a:solidFill>
          <a:ln w="15240">
            <a:solidFill>
              <a:srgbClr val="3BBE9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6278727" y="3904487"/>
            <a:ext cx="475488" cy="475488"/>
          </a:xfrm>
          <a:prstGeom prst="rect">
            <a:avLst/>
          </a:prstGeom>
          <a:noFill/>
        </p:spPr>
        <p:txBody>
          <a:bodyPr wrap="square" lIns="45720" rIns="45720" tIns="27432" bIns="27432" anchor="ctr">
            <a:noAutofit/>
          </a:bodyPr>
          <a:lstStyle/>
          <a:p>
            <a:pPr algn="ctr">
              <a:lnSpc>
                <a:spcPct val="100000"/>
              </a:lnSpc>
            </a:pPr>
            <a:r>
              <a:rPr sz="1500" b="1" i="0">
                <a:solidFill>
                  <a:srgbClr val="E2B462"/>
                </a:solidFill>
                <a:latin typeface="Palatino Linotype"/>
              </a:rPr>
              <a:t>5</a:t>
            </a:r>
          </a:p>
        </p:txBody>
      </p:sp>
      <p:sp>
        <p:nvSpPr>
          <p:cNvPr id="31" name="TextBox 30"/>
          <p:cNvSpPr txBox="1"/>
          <p:nvPr/>
        </p:nvSpPr>
        <p:spPr>
          <a:xfrm>
            <a:off x="6845655" y="3535679"/>
            <a:ext cx="1783080" cy="1213103"/>
          </a:xfrm>
          <a:prstGeom prst="rect">
            <a:avLst/>
          </a:prstGeom>
          <a:noFill/>
        </p:spPr>
        <p:txBody>
          <a:bodyPr wrap="square" lIns="45720" rIns="45720" tIns="27432" bIns="27432" anchor="ctr">
            <a:noAutofit/>
          </a:bodyPr>
          <a:lstStyle/>
          <a:p>
            <a:pPr algn="l">
              <a:lnSpc>
                <a:spcPct val="100000"/>
              </a:lnSpc>
            </a:pPr>
            <a:r>
              <a:rPr sz="1450" b="1" i="0">
                <a:solidFill>
                  <a:srgbClr val="3BBE93"/>
                </a:solidFill>
                <a:latin typeface="Consolas"/>
              </a:rPr>
              <a:t>mínimo</a:t>
            </a:r>
          </a:p>
        </p:txBody>
      </p:sp>
      <p:sp>
        <p:nvSpPr>
          <p:cNvPr id="32" name="TextBox 31"/>
          <p:cNvSpPr txBox="1"/>
          <p:nvPr/>
        </p:nvSpPr>
        <p:spPr>
          <a:xfrm>
            <a:off x="8656167" y="3535679"/>
            <a:ext cx="2858871" cy="1213103"/>
          </a:xfrm>
          <a:prstGeom prst="rect">
            <a:avLst/>
          </a:prstGeom>
          <a:noFill/>
        </p:spPr>
        <p:txBody>
          <a:bodyPr wrap="square" lIns="45720" rIns="45720" tIns="27432" bIns="27432" anchor="ctr">
            <a:noAutofit/>
          </a:bodyPr>
          <a:lstStyle/>
          <a:p>
            <a:pPr algn="l">
              <a:lnSpc>
                <a:spcPct val="100000"/>
              </a:lnSpc>
            </a:pPr>
            <a:r>
              <a:rPr sz="1300" b="0" i="0">
                <a:solidFill>
                  <a:srgbClr val="A7B2B0"/>
                </a:solidFill>
                <a:latin typeface="Segoe UI"/>
              </a:rPr>
              <a:t>Conserva los últimos seis mensajes; los tools quedan atados.</a:t>
            </a:r>
          </a:p>
        </p:txBody>
      </p:sp>
      <p:sp>
        <p:nvSpPr>
          <p:cNvPr id="33" name="Rounded Rectangle 32"/>
          <p:cNvSpPr/>
          <p:nvPr/>
        </p:nvSpPr>
        <p:spPr>
          <a:xfrm>
            <a:off x="6589623" y="4913376"/>
            <a:ext cx="5035143" cy="1286255"/>
          </a:xfrm>
          <a:prstGeom prst="roundRect">
            <a:avLst>
              <a:gd name="adj" fmla="val 7109"/>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Oval 33"/>
          <p:cNvSpPr/>
          <p:nvPr/>
        </p:nvSpPr>
        <p:spPr>
          <a:xfrm>
            <a:off x="6278727" y="5318760"/>
            <a:ext cx="475488" cy="475488"/>
          </a:xfrm>
          <a:prstGeom prst="ellipse">
            <a:avLst/>
          </a:prstGeom>
          <a:solidFill>
            <a:srgbClr val="151F23"/>
          </a:solidFill>
          <a:ln w="15240">
            <a:solidFill>
              <a:srgbClr val="3BBE9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TextBox 34"/>
          <p:cNvSpPr txBox="1"/>
          <p:nvPr/>
        </p:nvSpPr>
        <p:spPr>
          <a:xfrm>
            <a:off x="6278727" y="5318760"/>
            <a:ext cx="475488" cy="475488"/>
          </a:xfrm>
          <a:prstGeom prst="rect">
            <a:avLst/>
          </a:prstGeom>
          <a:noFill/>
        </p:spPr>
        <p:txBody>
          <a:bodyPr wrap="square" lIns="45720" rIns="45720" tIns="27432" bIns="27432" anchor="ctr">
            <a:noAutofit/>
          </a:bodyPr>
          <a:lstStyle/>
          <a:p>
            <a:pPr algn="ctr">
              <a:lnSpc>
                <a:spcPct val="100000"/>
              </a:lnSpc>
            </a:pPr>
            <a:r>
              <a:rPr sz="1500" b="1" i="0">
                <a:solidFill>
                  <a:srgbClr val="E2B462"/>
                </a:solidFill>
                <a:latin typeface="Palatino Linotype"/>
              </a:rPr>
              <a:t>6</a:t>
            </a:r>
          </a:p>
        </p:txBody>
      </p:sp>
      <p:sp>
        <p:nvSpPr>
          <p:cNvPr id="36" name="TextBox 35"/>
          <p:cNvSpPr txBox="1"/>
          <p:nvPr/>
        </p:nvSpPr>
        <p:spPr>
          <a:xfrm>
            <a:off x="6845655" y="4949952"/>
            <a:ext cx="1783080" cy="1213103"/>
          </a:xfrm>
          <a:prstGeom prst="rect">
            <a:avLst/>
          </a:prstGeom>
          <a:noFill/>
        </p:spPr>
        <p:txBody>
          <a:bodyPr wrap="square" lIns="45720" rIns="45720" tIns="27432" bIns="27432" anchor="ctr">
            <a:noAutofit/>
          </a:bodyPr>
          <a:lstStyle/>
          <a:p>
            <a:pPr algn="l">
              <a:lnSpc>
                <a:spcPct val="100000"/>
              </a:lnSpc>
            </a:pPr>
            <a:r>
              <a:rPr sz="1450" b="1" i="0">
                <a:solidFill>
                  <a:srgbClr val="3BBE93"/>
                </a:solidFill>
                <a:latin typeface="Consolas"/>
              </a:rPr>
              <a:t>resumen simple</a:t>
            </a:r>
          </a:p>
        </p:txBody>
      </p:sp>
      <p:sp>
        <p:nvSpPr>
          <p:cNvPr id="37" name="TextBox 36"/>
          <p:cNvSpPr txBox="1"/>
          <p:nvPr/>
        </p:nvSpPr>
        <p:spPr>
          <a:xfrm>
            <a:off x="8656167" y="4949952"/>
            <a:ext cx="2858871" cy="1213103"/>
          </a:xfrm>
          <a:prstGeom prst="rect">
            <a:avLst/>
          </a:prstGeom>
          <a:noFill/>
        </p:spPr>
        <p:txBody>
          <a:bodyPr wrap="square" lIns="45720" rIns="45720" tIns="27432" bIns="27432" anchor="ctr">
            <a:noAutofit/>
          </a:bodyPr>
          <a:lstStyle/>
          <a:p>
            <a:pPr algn="l">
              <a:lnSpc>
                <a:spcPct val="100000"/>
              </a:lnSpc>
            </a:pPr>
            <a:r>
              <a:rPr sz="1300" b="0" i="0">
                <a:solidFill>
                  <a:srgbClr val="A7B2B0"/>
                </a:solidFill>
                <a:latin typeface="Segoe UI"/>
              </a:rPr>
              <a:t>Último recurso: resume con la verdad lo que se reunió.</a:t>
            </a:r>
          </a:p>
        </p:txBody>
      </p:sp>
      <p:cxnSp>
        <p:nvCxnSpPr>
          <p:cNvPr id="38" name="Connector 37"/>
          <p:cNvCxnSpPr/>
          <p:nvPr/>
        </p:nvCxnSpPr>
        <p:spPr>
          <a:xfrm>
            <a:off x="566928" y="6373368"/>
            <a:ext cx="11057839" cy="0"/>
          </a:xfrm>
          <a:prstGeom prst="line">
            <a:avLst/>
          </a:prstGeom>
          <a:ln w="7620">
            <a:solidFill>
              <a:srgbClr val="2A3A40"/>
            </a:solidFill>
          </a:ln>
        </p:spPr>
        <p:style>
          <a:lnRef idx="2">
            <a:schemeClr val="accent1"/>
          </a:lnRef>
          <a:fillRef idx="0">
            <a:schemeClr val="accent1"/>
          </a:fillRef>
          <a:effectRef idx="1">
            <a:schemeClr val="accent1"/>
          </a:effectRef>
          <a:fontRef idx="minor">
            <a:schemeClr val="tx1"/>
          </a:fontRef>
        </p:style>
      </p:cxnSp>
      <p:sp>
        <p:nvSpPr>
          <p:cNvPr id="39" name="TextBox 38"/>
          <p:cNvSpPr txBox="1"/>
          <p:nvPr/>
        </p:nvSpPr>
        <p:spPr>
          <a:xfrm>
            <a:off x="566928" y="6419088"/>
            <a:ext cx="6858000" cy="274320"/>
          </a:xfrm>
          <a:prstGeom prst="rect">
            <a:avLst/>
          </a:prstGeom>
          <a:noFill/>
        </p:spPr>
        <p:txBody>
          <a:bodyPr wrap="square" lIns="45720" rIns="45720" tIns="27432" bIns="27432" anchor="t">
            <a:noAutofit/>
          </a:bodyPr>
          <a:lstStyle/>
          <a:p>
            <a:pPr algn="l">
              <a:lnSpc>
                <a:spcPct val="100000"/>
              </a:lnSpc>
            </a:pPr>
            <a:r>
              <a:rPr sz="850" b="0" i="0" spc="120">
                <a:solidFill>
                  <a:srgbClr val="A7B2B0"/>
                </a:solidFill>
                <a:latin typeface="Segoe UI Semibold"/>
              </a:rPr>
              <a:t>TLAMATINI  ·  II · CÓMO FUNCIONA</a:t>
            </a:r>
          </a:p>
        </p:txBody>
      </p:sp>
      <p:sp>
        <p:nvSpPr>
          <p:cNvPr id="40" name="TextBox 39"/>
          <p:cNvSpPr txBox="1"/>
          <p:nvPr/>
        </p:nvSpPr>
        <p:spPr>
          <a:xfrm>
            <a:off x="8698687" y="6419088"/>
            <a:ext cx="2926080" cy="274320"/>
          </a:xfrm>
          <a:prstGeom prst="rect">
            <a:avLst/>
          </a:prstGeom>
          <a:noFill/>
        </p:spPr>
        <p:txBody>
          <a:bodyPr wrap="square" lIns="45720" rIns="45720" tIns="27432" bIns="27432" anchor="t">
            <a:noAutofit/>
          </a:bodyPr>
          <a:lstStyle/>
          <a:p>
            <a:pPr algn="r">
              <a:lnSpc>
                <a:spcPct val="100000"/>
              </a:lnSpc>
            </a:pPr>
            <a:r>
              <a:rPr sz="850" b="0" i="0" spc="100">
                <a:solidFill>
                  <a:srgbClr val="A7B2B0"/>
                </a:solidFill>
                <a:latin typeface="Segoe UI Semibold"/>
              </a:rPr>
              <a:t>v1.91.1   ·   14</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content.png"/>
          <p:cNvPicPr>
            <a:picLocks noChangeAspect="1"/>
          </p:cNvPicPr>
          <p:nvPr/>
        </p:nvPicPr>
        <p:blipFill>
          <a:blip r:embed="rId2"/>
          <a:stretch>
            <a:fillRect/>
          </a:stretch>
        </p:blipFill>
        <p:spPr>
          <a:xfrm>
            <a:off x="0" y="0"/>
            <a:ext cx="12191695" cy="6858000"/>
          </a:xfrm>
          <a:prstGeom prst="rect">
            <a:avLst/>
          </a:prstGeom>
        </p:spPr>
      </p:pic>
      <p:sp>
        <p:nvSpPr>
          <p:cNvPr id="3" name="Diamond 2"/>
          <p:cNvSpPr/>
          <p:nvPr/>
        </p:nvSpPr>
        <p:spPr>
          <a:xfrm>
            <a:off x="566928" y="457200"/>
            <a:ext cx="100584" cy="100584"/>
          </a:xfrm>
          <a:prstGeom prst="diamond">
            <a:avLst/>
          </a:prstGeom>
          <a:solidFill>
            <a:srgbClr val="C984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49808" y="365760"/>
            <a:ext cx="8229600" cy="292608"/>
          </a:xfrm>
          <a:prstGeom prst="rect">
            <a:avLst/>
          </a:prstGeom>
          <a:noFill/>
        </p:spPr>
        <p:txBody>
          <a:bodyPr wrap="square" lIns="45720" rIns="45720" tIns="27432" bIns="27432" anchor="t">
            <a:noAutofit/>
          </a:bodyPr>
          <a:lstStyle/>
          <a:p>
            <a:pPr algn="l">
              <a:lnSpc>
                <a:spcPct val="100000"/>
              </a:lnSpc>
            </a:pPr>
            <a:r>
              <a:rPr sz="1100" b="0" i="0" spc="240">
                <a:solidFill>
                  <a:srgbClr val="C98457"/>
                </a:solidFill>
                <a:latin typeface="Segoe UI Semibold"/>
              </a:rPr>
              <a:t>AUTO-SANACIÓN</a:t>
            </a:r>
          </a:p>
        </p:txBody>
      </p:sp>
      <p:sp>
        <p:nvSpPr>
          <p:cNvPr id="5" name="TextBox 4"/>
          <p:cNvSpPr txBox="1"/>
          <p:nvPr/>
        </p:nvSpPr>
        <p:spPr>
          <a:xfrm>
            <a:off x="539496" y="676656"/>
            <a:ext cx="11057839" cy="658368"/>
          </a:xfrm>
          <a:prstGeom prst="rect">
            <a:avLst/>
          </a:prstGeom>
          <a:noFill/>
        </p:spPr>
        <p:txBody>
          <a:bodyPr wrap="square" lIns="45720" rIns="45720" tIns="27432" bIns="27432" anchor="t">
            <a:noAutofit/>
          </a:bodyPr>
          <a:lstStyle/>
          <a:p>
            <a:pPr algn="l">
              <a:lnSpc>
                <a:spcPct val="100000"/>
              </a:lnSpc>
            </a:pPr>
            <a:r>
              <a:rPr sz="3100" b="0" i="0">
                <a:solidFill>
                  <a:srgbClr val="F7F2E8"/>
                </a:solidFill>
                <a:latin typeface="Palatino Linotype"/>
              </a:rPr>
              <a:t>Los bugs reales no se ocultan</a:t>
            </a:r>
          </a:p>
        </p:txBody>
      </p:sp>
      <p:sp>
        <p:nvSpPr>
          <p:cNvPr id="6" name="Rectangle 5"/>
          <p:cNvSpPr/>
          <p:nvPr/>
        </p:nvSpPr>
        <p:spPr>
          <a:xfrm>
            <a:off x="566928" y="1344168"/>
            <a:ext cx="822960" cy="36576"/>
          </a:xfrm>
          <a:prstGeom prst="rect">
            <a:avLst/>
          </a:prstGeom>
          <a:solidFill>
            <a:srgbClr val="C984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ounded Rectangle 6"/>
          <p:cNvSpPr/>
          <p:nvPr/>
        </p:nvSpPr>
        <p:spPr>
          <a:xfrm>
            <a:off x="566928" y="1810511"/>
            <a:ext cx="11057839" cy="3291840"/>
          </a:xfrm>
          <a:prstGeom prst="roundRect">
            <a:avLst>
              <a:gd name="adj" fmla="val 4444"/>
            </a:avLst>
          </a:prstGeom>
          <a:solidFill>
            <a:srgbClr val="121A1D"/>
          </a:solidFill>
          <a:ln w="19050">
            <a:solidFill>
              <a:srgbClr val="C98457"/>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ectangle 7"/>
          <p:cNvSpPr/>
          <p:nvPr/>
        </p:nvSpPr>
        <p:spPr>
          <a:xfrm>
            <a:off x="566928" y="1810511"/>
            <a:ext cx="109728" cy="3291840"/>
          </a:xfrm>
          <a:prstGeom prst="rect">
            <a:avLst/>
          </a:prstGeom>
          <a:solidFill>
            <a:srgbClr val="C984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115568" y="2039112"/>
            <a:ext cx="9960559" cy="2834640"/>
          </a:xfrm>
          <a:prstGeom prst="rect">
            <a:avLst/>
          </a:prstGeom>
          <a:noFill/>
        </p:spPr>
        <p:txBody>
          <a:bodyPr wrap="square" lIns="45720" rIns="45720" tIns="27432" bIns="27432" anchor="ctr">
            <a:noAutofit/>
          </a:bodyPr>
          <a:lstStyle/>
          <a:p>
            <a:pPr algn="l">
              <a:lnSpc>
                <a:spcPct val="100000"/>
              </a:lnSpc>
            </a:pPr>
            <a:r>
              <a:rPr sz="2600" b="0" i="0">
                <a:solidFill>
                  <a:srgbClr val="F7F2E8"/>
                </a:solidFill>
                <a:latin typeface="Segoe UI Light"/>
              </a:rPr>
              <a:t>Sólo las fallas transitorias — timeouts, resets, HTTP 429 y 5xx — disparan nuevas tácticas. Un error determinista como un schema malo se lanza de inmediato para que se arregle.</a:t>
            </a:r>
          </a:p>
        </p:txBody>
      </p:sp>
      <p:sp>
        <p:nvSpPr>
          <p:cNvPr id="10" name="TextBox 9"/>
          <p:cNvSpPr txBox="1"/>
          <p:nvPr/>
        </p:nvSpPr>
        <p:spPr>
          <a:xfrm>
            <a:off x="566928" y="5230368"/>
            <a:ext cx="11057839" cy="457200"/>
          </a:xfrm>
          <a:prstGeom prst="rect">
            <a:avLst/>
          </a:prstGeom>
          <a:noFill/>
        </p:spPr>
        <p:txBody>
          <a:bodyPr wrap="square" lIns="45720" rIns="45720" tIns="27432" bIns="27432" anchor="t">
            <a:noAutofit/>
          </a:bodyPr>
          <a:lstStyle/>
          <a:p>
            <a:pPr algn="l">
              <a:lnSpc>
                <a:spcPct val="100000"/>
              </a:lnSpc>
            </a:pPr>
            <a:r>
              <a:rPr sz="1300" b="0" i="1">
                <a:solidFill>
                  <a:srgbClr val="A7B2B0"/>
                </a:solidFill>
                <a:latin typeface="Segoe UI"/>
              </a:rPr>
              <a:t>De “Nunca colgarse, nunca descartar, nunca mentir”</a:t>
            </a:r>
          </a:p>
        </p:txBody>
      </p:sp>
      <p:cxnSp>
        <p:nvCxnSpPr>
          <p:cNvPr id="11" name="Connector 10"/>
          <p:cNvCxnSpPr/>
          <p:nvPr/>
        </p:nvCxnSpPr>
        <p:spPr>
          <a:xfrm>
            <a:off x="566928" y="6373368"/>
            <a:ext cx="11057839" cy="0"/>
          </a:xfrm>
          <a:prstGeom prst="line">
            <a:avLst/>
          </a:prstGeom>
          <a:ln w="7620">
            <a:solidFill>
              <a:srgbClr val="2A3A40"/>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566928" y="6419088"/>
            <a:ext cx="6858000" cy="274320"/>
          </a:xfrm>
          <a:prstGeom prst="rect">
            <a:avLst/>
          </a:prstGeom>
          <a:noFill/>
        </p:spPr>
        <p:txBody>
          <a:bodyPr wrap="square" lIns="45720" rIns="45720" tIns="27432" bIns="27432" anchor="t">
            <a:noAutofit/>
          </a:bodyPr>
          <a:lstStyle/>
          <a:p>
            <a:pPr algn="l">
              <a:lnSpc>
                <a:spcPct val="100000"/>
              </a:lnSpc>
            </a:pPr>
            <a:r>
              <a:rPr sz="850" b="0" i="0" spc="120">
                <a:solidFill>
                  <a:srgbClr val="A7B2B0"/>
                </a:solidFill>
                <a:latin typeface="Segoe UI Semibold"/>
              </a:rPr>
              <a:t>TLAMATINI  ·  II · CÓMO FUNCIONA</a:t>
            </a:r>
          </a:p>
        </p:txBody>
      </p:sp>
      <p:sp>
        <p:nvSpPr>
          <p:cNvPr id="13" name="TextBox 12"/>
          <p:cNvSpPr txBox="1"/>
          <p:nvPr/>
        </p:nvSpPr>
        <p:spPr>
          <a:xfrm>
            <a:off x="8698687" y="6419088"/>
            <a:ext cx="2926080" cy="274320"/>
          </a:xfrm>
          <a:prstGeom prst="rect">
            <a:avLst/>
          </a:prstGeom>
          <a:noFill/>
        </p:spPr>
        <p:txBody>
          <a:bodyPr wrap="square" lIns="45720" rIns="45720" tIns="27432" bIns="27432" anchor="t">
            <a:noAutofit/>
          </a:bodyPr>
          <a:lstStyle/>
          <a:p>
            <a:pPr algn="r">
              <a:lnSpc>
                <a:spcPct val="100000"/>
              </a:lnSpc>
            </a:pPr>
            <a:r>
              <a:rPr sz="850" b="0" i="0" spc="100">
                <a:solidFill>
                  <a:srgbClr val="A7B2B0"/>
                </a:solidFill>
                <a:latin typeface="Segoe UI Semibold"/>
              </a:rPr>
              <a:t>v1.91.1   ·   15</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content.png"/>
          <p:cNvPicPr>
            <a:picLocks noChangeAspect="1"/>
          </p:cNvPicPr>
          <p:nvPr/>
        </p:nvPicPr>
        <p:blipFill>
          <a:blip r:embed="rId2"/>
          <a:stretch>
            <a:fillRect/>
          </a:stretch>
        </p:blipFill>
        <p:spPr>
          <a:xfrm>
            <a:off x="0" y="0"/>
            <a:ext cx="12191695" cy="6858000"/>
          </a:xfrm>
          <a:prstGeom prst="rect">
            <a:avLst/>
          </a:prstGeom>
        </p:spPr>
      </p:pic>
      <p:sp>
        <p:nvSpPr>
          <p:cNvPr id="3" name="Diamond 2"/>
          <p:cNvSpPr/>
          <p:nvPr/>
        </p:nvSpPr>
        <p:spPr>
          <a:xfrm>
            <a:off x="566928" y="457200"/>
            <a:ext cx="100584" cy="100584"/>
          </a:xfrm>
          <a:prstGeom prst="diamond">
            <a:avLst/>
          </a:prstGeom>
          <a:solidFill>
            <a:srgbClr val="C984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49808" y="365760"/>
            <a:ext cx="8229600" cy="292608"/>
          </a:xfrm>
          <a:prstGeom prst="rect">
            <a:avLst/>
          </a:prstGeom>
          <a:noFill/>
        </p:spPr>
        <p:txBody>
          <a:bodyPr wrap="square" lIns="45720" rIns="45720" tIns="27432" bIns="27432" anchor="t">
            <a:noAutofit/>
          </a:bodyPr>
          <a:lstStyle/>
          <a:p>
            <a:pPr algn="l">
              <a:lnSpc>
                <a:spcPct val="100000"/>
              </a:lnSpc>
            </a:pPr>
            <a:r>
              <a:rPr sz="1100" b="0" i="0" spc="240">
                <a:solidFill>
                  <a:srgbClr val="C98457"/>
                </a:solidFill>
                <a:latin typeface="Segoe UI Semibold"/>
              </a:rPr>
              <a:t>COMPACT MODE</a:t>
            </a:r>
          </a:p>
        </p:txBody>
      </p:sp>
      <p:sp>
        <p:nvSpPr>
          <p:cNvPr id="5" name="TextBox 4"/>
          <p:cNvSpPr txBox="1"/>
          <p:nvPr/>
        </p:nvSpPr>
        <p:spPr>
          <a:xfrm>
            <a:off x="539496" y="676656"/>
            <a:ext cx="11057839" cy="658368"/>
          </a:xfrm>
          <a:prstGeom prst="rect">
            <a:avLst/>
          </a:prstGeom>
          <a:noFill/>
        </p:spPr>
        <p:txBody>
          <a:bodyPr wrap="square" lIns="45720" rIns="45720" tIns="27432" bIns="27432" anchor="t">
            <a:noAutofit/>
          </a:bodyPr>
          <a:lstStyle/>
          <a:p>
            <a:pPr algn="l">
              <a:lnSpc>
                <a:spcPct val="100000"/>
              </a:lnSpc>
            </a:pPr>
            <a:r>
              <a:rPr sz="3100" b="0" i="0">
                <a:solidFill>
                  <a:srgbClr val="F7F2E8"/>
                </a:solidFill>
                <a:latin typeface="Palatino Linotype"/>
              </a:rPr>
              <a:t>Cada solicitud cabe en el modelo al que se envía</a:t>
            </a:r>
          </a:p>
        </p:txBody>
      </p:sp>
      <p:sp>
        <p:nvSpPr>
          <p:cNvPr id="6" name="Rectangle 5"/>
          <p:cNvSpPr/>
          <p:nvPr/>
        </p:nvSpPr>
        <p:spPr>
          <a:xfrm>
            <a:off x="566928" y="1344168"/>
            <a:ext cx="822960" cy="36576"/>
          </a:xfrm>
          <a:prstGeom prst="rect">
            <a:avLst/>
          </a:prstGeom>
          <a:solidFill>
            <a:srgbClr val="C984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566928" y="1444752"/>
            <a:ext cx="10692079" cy="585216"/>
          </a:xfrm>
          <a:prstGeom prst="rect">
            <a:avLst/>
          </a:prstGeom>
          <a:noFill/>
        </p:spPr>
        <p:txBody>
          <a:bodyPr wrap="square" lIns="45720" rIns="45720" tIns="27432" bIns="27432" anchor="t">
            <a:noAutofit/>
          </a:bodyPr>
          <a:lstStyle/>
          <a:p>
            <a:pPr algn="l">
              <a:lnSpc>
                <a:spcPct val="100000"/>
              </a:lnSpc>
            </a:pPr>
            <a:r>
              <a:rPr sz="1450" b="0" i="0">
                <a:solidFill>
                  <a:srgbClr val="A7B2B0"/>
                </a:solidFill>
                <a:latin typeface="Segoe UI Semilight"/>
              </a:rPr>
              <a:t>Un modelo cuya ventana real no puede contener la solicitud completa recibe una compacta; un modelo que sí puede contenerla recibe exactamente la solicitud que siempre recibió.</a:t>
            </a:r>
          </a:p>
        </p:txBody>
      </p:sp>
      <p:sp>
        <p:nvSpPr>
          <p:cNvPr id="8" name="Rounded Rectangle 7"/>
          <p:cNvSpPr/>
          <p:nvPr/>
        </p:nvSpPr>
        <p:spPr>
          <a:xfrm>
            <a:off x="566928" y="2084831"/>
            <a:ext cx="5428335" cy="1956816"/>
          </a:xfrm>
          <a:prstGeom prst="roundRect">
            <a:avLst>
              <a:gd name="adj" fmla="val 5607"/>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ectangle 8"/>
          <p:cNvSpPr/>
          <p:nvPr/>
        </p:nvSpPr>
        <p:spPr>
          <a:xfrm>
            <a:off x="731520" y="2212848"/>
            <a:ext cx="502920" cy="45720"/>
          </a:xfrm>
          <a:prstGeom prst="rect">
            <a:avLst/>
          </a:prstGeom>
          <a:solidFill>
            <a:srgbClr val="3BBE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694944" y="2304287"/>
            <a:ext cx="5172303" cy="353568"/>
          </a:xfrm>
          <a:prstGeom prst="rect">
            <a:avLst/>
          </a:prstGeom>
          <a:noFill/>
        </p:spPr>
        <p:txBody>
          <a:bodyPr wrap="square" lIns="45720" rIns="45720" tIns="27432" bIns="27432" anchor="t">
            <a:noAutofit/>
          </a:bodyPr>
          <a:lstStyle/>
          <a:p>
            <a:pPr algn="l">
              <a:lnSpc>
                <a:spcPct val="100000"/>
              </a:lnSpc>
            </a:pPr>
            <a:r>
              <a:rPr sz="1600" b="0" i="0">
                <a:solidFill>
                  <a:srgbClr val="F7F2E8"/>
                </a:solidFill>
                <a:latin typeface="Segoe UI Semibold"/>
              </a:rPr>
              <a:t>Completo</a:t>
            </a:r>
          </a:p>
        </p:txBody>
      </p:sp>
      <p:sp>
        <p:nvSpPr>
          <p:cNvPr id="11" name="TextBox 10"/>
          <p:cNvSpPr txBox="1"/>
          <p:nvPr/>
        </p:nvSpPr>
        <p:spPr>
          <a:xfrm>
            <a:off x="694944" y="2657855"/>
            <a:ext cx="5172303" cy="1292352"/>
          </a:xfrm>
          <a:prstGeom prst="rect">
            <a:avLst/>
          </a:prstGeom>
          <a:noFill/>
        </p:spPr>
        <p:txBody>
          <a:bodyPr wrap="square" lIns="45720" rIns="45720" tIns="27432" bIns="27432" anchor="t">
            <a:noAutofit/>
          </a:bodyPr>
          <a:lstStyle/>
          <a:p>
            <a:pPr algn="l">
              <a:lnSpc>
                <a:spcPct val="100000"/>
              </a:lnSpc>
            </a:pPr>
            <a:r>
              <a:rPr sz="1300" b="0" i="0">
                <a:solidFill>
                  <a:srgbClr val="A7B2B0"/>
                </a:solidFill>
                <a:latin typeface="Segoe UI"/>
              </a:rPr>
              <a:t>Un modelo que puede contener la solicitud la recibe sin cambios, byte por byte.</a:t>
            </a:r>
          </a:p>
        </p:txBody>
      </p:sp>
      <p:sp>
        <p:nvSpPr>
          <p:cNvPr id="12" name="Rounded Rectangle 11"/>
          <p:cNvSpPr/>
          <p:nvPr/>
        </p:nvSpPr>
        <p:spPr>
          <a:xfrm>
            <a:off x="6196431" y="2084831"/>
            <a:ext cx="5428335" cy="1956816"/>
          </a:xfrm>
          <a:prstGeom prst="roundRect">
            <a:avLst>
              <a:gd name="adj" fmla="val 5607"/>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6361023" y="2212848"/>
            <a:ext cx="502920" cy="45720"/>
          </a:xfrm>
          <a:prstGeom prst="rect">
            <a:avLst/>
          </a:prstGeom>
          <a:solidFill>
            <a:srgbClr val="C984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324447" y="2304287"/>
            <a:ext cx="5172303" cy="353568"/>
          </a:xfrm>
          <a:prstGeom prst="rect">
            <a:avLst/>
          </a:prstGeom>
          <a:noFill/>
        </p:spPr>
        <p:txBody>
          <a:bodyPr wrap="square" lIns="45720" rIns="45720" tIns="27432" bIns="27432" anchor="t">
            <a:noAutofit/>
          </a:bodyPr>
          <a:lstStyle/>
          <a:p>
            <a:pPr algn="l">
              <a:lnSpc>
                <a:spcPct val="100000"/>
              </a:lnSpc>
            </a:pPr>
            <a:r>
              <a:rPr sz="1600" b="0" i="0">
                <a:solidFill>
                  <a:srgbClr val="F7F2E8"/>
                </a:solidFill>
                <a:latin typeface="Segoe UI Semibold"/>
              </a:rPr>
              <a:t>Compact</a:t>
            </a:r>
          </a:p>
        </p:txBody>
      </p:sp>
      <p:sp>
        <p:nvSpPr>
          <p:cNvPr id="15" name="TextBox 14"/>
          <p:cNvSpPr txBox="1"/>
          <p:nvPr/>
        </p:nvSpPr>
        <p:spPr>
          <a:xfrm>
            <a:off x="6324447" y="2657855"/>
            <a:ext cx="5172303" cy="1292352"/>
          </a:xfrm>
          <a:prstGeom prst="rect">
            <a:avLst/>
          </a:prstGeom>
          <a:noFill/>
        </p:spPr>
        <p:txBody>
          <a:bodyPr wrap="square" lIns="45720" rIns="45720" tIns="27432" bIns="27432" anchor="t">
            <a:noAutofit/>
          </a:bodyPr>
          <a:lstStyle/>
          <a:p>
            <a:pPr algn="l">
              <a:lnSpc>
                <a:spcPct val="100000"/>
              </a:lnSpc>
            </a:pPr>
            <a:r>
              <a:rPr sz="1300" b="0" i="0">
                <a:solidFill>
                  <a:srgbClr val="A7B2B0"/>
                </a:solidFill>
                <a:latin typeface="Segoe UI"/>
              </a:rPr>
              <a:t>Un switch de la barra de herramientas: sólo se atan las filas que marcas, cada una con su precio.</a:t>
            </a:r>
          </a:p>
        </p:txBody>
      </p:sp>
      <p:sp>
        <p:nvSpPr>
          <p:cNvPr id="16" name="Rounded Rectangle 15"/>
          <p:cNvSpPr/>
          <p:nvPr/>
        </p:nvSpPr>
        <p:spPr>
          <a:xfrm>
            <a:off x="566928" y="4242816"/>
            <a:ext cx="5428335" cy="1956816"/>
          </a:xfrm>
          <a:prstGeom prst="roundRect">
            <a:avLst>
              <a:gd name="adj" fmla="val 5607"/>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31520" y="4370832"/>
            <a:ext cx="502920" cy="45720"/>
          </a:xfrm>
          <a:prstGeom prst="rect">
            <a:avLst/>
          </a:prstGeom>
          <a:solidFill>
            <a:srgbClr val="E2B4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694944" y="4462272"/>
            <a:ext cx="5172303" cy="353568"/>
          </a:xfrm>
          <a:prstGeom prst="rect">
            <a:avLst/>
          </a:prstGeom>
          <a:noFill/>
        </p:spPr>
        <p:txBody>
          <a:bodyPr wrap="square" lIns="45720" rIns="45720" tIns="27432" bIns="27432" anchor="t">
            <a:noAutofit/>
          </a:bodyPr>
          <a:lstStyle/>
          <a:p>
            <a:pPr algn="l">
              <a:lnSpc>
                <a:spcPct val="100000"/>
              </a:lnSpc>
            </a:pPr>
            <a:r>
              <a:rPr sz="1600" b="0" i="0">
                <a:solidFill>
                  <a:srgbClr val="F7F2E8"/>
                </a:solidFill>
                <a:latin typeface="Segoe UI Semibold"/>
              </a:rPr>
              <a:t>Bloqueado</a:t>
            </a:r>
          </a:p>
        </p:txBody>
      </p:sp>
      <p:sp>
        <p:nvSpPr>
          <p:cNvPr id="19" name="TextBox 18"/>
          <p:cNvSpPr txBox="1"/>
          <p:nvPr/>
        </p:nvSpPr>
        <p:spPr>
          <a:xfrm>
            <a:off x="694944" y="4815840"/>
            <a:ext cx="5172303" cy="1292352"/>
          </a:xfrm>
          <a:prstGeom prst="rect">
            <a:avLst/>
          </a:prstGeom>
          <a:noFill/>
        </p:spPr>
        <p:txBody>
          <a:bodyPr wrap="square" lIns="45720" rIns="45720" tIns="27432" bIns="27432" anchor="t">
            <a:noAutofit/>
          </a:bodyPr>
          <a:lstStyle/>
          <a:p>
            <a:pPr algn="l">
              <a:lnSpc>
                <a:spcPct val="100000"/>
              </a:lnSpc>
            </a:pPr>
            <a:r>
              <a:rPr sz="1300" b="0" i="0">
                <a:solidFill>
                  <a:srgbClr val="A7B2B0"/>
                </a:solidFill>
                <a:latin typeface="Segoe UI"/>
              </a:rPr>
              <a:t>Un modelo demasiado pequeño para todo activa Compact por sí mismo y lo bloquea.</a:t>
            </a:r>
          </a:p>
        </p:txBody>
      </p:sp>
      <p:sp>
        <p:nvSpPr>
          <p:cNvPr id="20" name="Rounded Rectangle 19"/>
          <p:cNvSpPr/>
          <p:nvPr/>
        </p:nvSpPr>
        <p:spPr>
          <a:xfrm>
            <a:off x="6196431" y="4242816"/>
            <a:ext cx="5428335" cy="1956816"/>
          </a:xfrm>
          <a:prstGeom prst="roundRect">
            <a:avLst>
              <a:gd name="adj" fmla="val 5607"/>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ectangle 20"/>
          <p:cNvSpPr/>
          <p:nvPr/>
        </p:nvSpPr>
        <p:spPr>
          <a:xfrm>
            <a:off x="6361023" y="4370832"/>
            <a:ext cx="502920" cy="45720"/>
          </a:xfrm>
          <a:prstGeom prst="rect">
            <a:avLst/>
          </a:prstGeom>
          <a:solidFill>
            <a:srgbClr val="46D2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6324447" y="4462272"/>
            <a:ext cx="5172303" cy="353568"/>
          </a:xfrm>
          <a:prstGeom prst="rect">
            <a:avLst/>
          </a:prstGeom>
          <a:noFill/>
        </p:spPr>
        <p:txBody>
          <a:bodyPr wrap="square" lIns="45720" rIns="45720" tIns="27432" bIns="27432" anchor="t">
            <a:noAutofit/>
          </a:bodyPr>
          <a:lstStyle/>
          <a:p>
            <a:pPr algn="l">
              <a:lnSpc>
                <a:spcPct val="100000"/>
              </a:lnSpc>
            </a:pPr>
            <a:r>
              <a:rPr sz="1600" b="0" i="0">
                <a:solidFill>
                  <a:srgbClr val="F7F2E8"/>
                </a:solidFill>
                <a:latin typeface="Segoe UI Semibold"/>
              </a:rPr>
              <a:t>Tu decisión</a:t>
            </a:r>
          </a:p>
        </p:txBody>
      </p:sp>
      <p:sp>
        <p:nvSpPr>
          <p:cNvPr id="23" name="TextBox 22"/>
          <p:cNvSpPr txBox="1"/>
          <p:nvPr/>
        </p:nvSpPr>
        <p:spPr>
          <a:xfrm>
            <a:off x="6324447" y="4815840"/>
            <a:ext cx="5172303" cy="1292352"/>
          </a:xfrm>
          <a:prstGeom prst="rect">
            <a:avLst/>
          </a:prstGeom>
          <a:noFill/>
        </p:spPr>
        <p:txBody>
          <a:bodyPr wrap="square" lIns="45720" rIns="45720" tIns="27432" bIns="27432" anchor="t">
            <a:noAutofit/>
          </a:bodyPr>
          <a:lstStyle/>
          <a:p>
            <a:pPr algn="l">
              <a:lnSpc>
                <a:spcPct val="100000"/>
              </a:lnSpc>
            </a:pPr>
            <a:r>
              <a:rPr sz="1200" b="0" i="0">
                <a:solidFill>
                  <a:srgbClr val="E2B462"/>
                </a:solidFill>
                <a:latin typeface="Consolas"/>
              </a:rPr>
              <a:t>context_compact_mode</a:t>
            </a:r>
            <a:r>
              <a:rPr sz="1300" b="0" i="0">
                <a:solidFill>
                  <a:srgbClr val="A7B2B0"/>
                </a:solidFill>
                <a:latin typeface="Segoe UI"/>
              </a:rPr>
              <a:t> es auto de forma predeterminada, o always o never, obedecido exactamente.</a:t>
            </a:r>
          </a:p>
        </p:txBody>
      </p:sp>
      <p:cxnSp>
        <p:nvCxnSpPr>
          <p:cNvPr id="24" name="Connector 23"/>
          <p:cNvCxnSpPr/>
          <p:nvPr/>
        </p:nvCxnSpPr>
        <p:spPr>
          <a:xfrm>
            <a:off x="566928" y="6373368"/>
            <a:ext cx="11057839" cy="0"/>
          </a:xfrm>
          <a:prstGeom prst="line">
            <a:avLst/>
          </a:prstGeom>
          <a:ln w="7620">
            <a:solidFill>
              <a:srgbClr val="2A3A40"/>
            </a:solidFill>
          </a:ln>
        </p:spPr>
        <p:style>
          <a:lnRef idx="2">
            <a:schemeClr val="accent1"/>
          </a:lnRef>
          <a:fillRef idx="0">
            <a:schemeClr val="accent1"/>
          </a:fillRef>
          <a:effectRef idx="1">
            <a:schemeClr val="accent1"/>
          </a:effectRef>
          <a:fontRef idx="minor">
            <a:schemeClr val="tx1"/>
          </a:fontRef>
        </p:style>
      </p:cxnSp>
      <p:sp>
        <p:nvSpPr>
          <p:cNvPr id="25" name="TextBox 24"/>
          <p:cNvSpPr txBox="1"/>
          <p:nvPr/>
        </p:nvSpPr>
        <p:spPr>
          <a:xfrm>
            <a:off x="566928" y="6419088"/>
            <a:ext cx="6858000" cy="274320"/>
          </a:xfrm>
          <a:prstGeom prst="rect">
            <a:avLst/>
          </a:prstGeom>
          <a:noFill/>
        </p:spPr>
        <p:txBody>
          <a:bodyPr wrap="square" lIns="45720" rIns="45720" tIns="27432" bIns="27432" anchor="t">
            <a:noAutofit/>
          </a:bodyPr>
          <a:lstStyle/>
          <a:p>
            <a:pPr algn="l">
              <a:lnSpc>
                <a:spcPct val="100000"/>
              </a:lnSpc>
            </a:pPr>
            <a:r>
              <a:rPr sz="850" b="0" i="0" spc="120">
                <a:solidFill>
                  <a:srgbClr val="A7B2B0"/>
                </a:solidFill>
                <a:latin typeface="Segoe UI Semibold"/>
              </a:rPr>
              <a:t>TLAMATINI  ·  II · CÓMO FUNCIONA</a:t>
            </a:r>
          </a:p>
        </p:txBody>
      </p:sp>
      <p:sp>
        <p:nvSpPr>
          <p:cNvPr id="26" name="TextBox 25"/>
          <p:cNvSpPr txBox="1"/>
          <p:nvPr/>
        </p:nvSpPr>
        <p:spPr>
          <a:xfrm>
            <a:off x="8698687" y="6419088"/>
            <a:ext cx="2926080" cy="274320"/>
          </a:xfrm>
          <a:prstGeom prst="rect">
            <a:avLst/>
          </a:prstGeom>
          <a:noFill/>
        </p:spPr>
        <p:txBody>
          <a:bodyPr wrap="square" lIns="45720" rIns="45720" tIns="27432" bIns="27432" anchor="t">
            <a:noAutofit/>
          </a:bodyPr>
          <a:lstStyle/>
          <a:p>
            <a:pPr algn="r">
              <a:lnSpc>
                <a:spcPct val="100000"/>
              </a:lnSpc>
            </a:pPr>
            <a:r>
              <a:rPr sz="850" b="0" i="0" spc="100">
                <a:solidFill>
                  <a:srgbClr val="A7B2B0"/>
                </a:solidFill>
                <a:latin typeface="Segoe UI Semibold"/>
              </a:rPr>
              <a:t>v1.91.1   ·   16</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content.png"/>
          <p:cNvPicPr>
            <a:picLocks noChangeAspect="1"/>
          </p:cNvPicPr>
          <p:nvPr/>
        </p:nvPicPr>
        <p:blipFill>
          <a:blip r:embed="rId2"/>
          <a:stretch>
            <a:fillRect/>
          </a:stretch>
        </p:blipFill>
        <p:spPr>
          <a:xfrm>
            <a:off x="0" y="0"/>
            <a:ext cx="12191695" cy="6858000"/>
          </a:xfrm>
          <a:prstGeom prst="rect">
            <a:avLst/>
          </a:prstGeom>
        </p:spPr>
      </p:pic>
      <p:sp>
        <p:nvSpPr>
          <p:cNvPr id="3" name="Diamond 2"/>
          <p:cNvSpPr/>
          <p:nvPr/>
        </p:nvSpPr>
        <p:spPr>
          <a:xfrm>
            <a:off x="566928" y="457200"/>
            <a:ext cx="100584" cy="100584"/>
          </a:xfrm>
          <a:prstGeom prst="diamond">
            <a:avLst/>
          </a:prstGeom>
          <a:solidFill>
            <a:srgbClr val="C984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49808" y="365760"/>
            <a:ext cx="8229600" cy="292608"/>
          </a:xfrm>
          <a:prstGeom prst="rect">
            <a:avLst/>
          </a:prstGeom>
          <a:noFill/>
        </p:spPr>
        <p:txBody>
          <a:bodyPr wrap="square" lIns="45720" rIns="45720" tIns="27432" bIns="27432" anchor="t">
            <a:noAutofit/>
          </a:bodyPr>
          <a:lstStyle/>
          <a:p>
            <a:pPr algn="l">
              <a:lnSpc>
                <a:spcPct val="100000"/>
              </a:lnSpc>
            </a:pPr>
            <a:r>
              <a:rPr sz="1100" b="0" i="0" spc="240">
                <a:solidFill>
                  <a:srgbClr val="C98457"/>
                </a:solidFill>
                <a:latin typeface="Segoe UI Semibold"/>
              </a:rPr>
              <a:t>COMPACT MODE</a:t>
            </a:r>
          </a:p>
        </p:txBody>
      </p:sp>
      <p:sp>
        <p:nvSpPr>
          <p:cNvPr id="5" name="TextBox 4"/>
          <p:cNvSpPr txBox="1"/>
          <p:nvPr/>
        </p:nvSpPr>
        <p:spPr>
          <a:xfrm>
            <a:off x="539496" y="676656"/>
            <a:ext cx="11057839" cy="658368"/>
          </a:xfrm>
          <a:prstGeom prst="rect">
            <a:avLst/>
          </a:prstGeom>
          <a:noFill/>
        </p:spPr>
        <p:txBody>
          <a:bodyPr wrap="square" lIns="45720" rIns="45720" tIns="27432" bIns="27432" anchor="t">
            <a:noAutofit/>
          </a:bodyPr>
          <a:lstStyle/>
          <a:p>
            <a:pPr algn="l">
              <a:lnSpc>
                <a:spcPct val="100000"/>
              </a:lnSpc>
            </a:pPr>
            <a:r>
              <a:rPr sz="3100" b="0" i="0">
                <a:solidFill>
                  <a:srgbClr val="F7F2E8"/>
                </a:solidFill>
                <a:latin typeface="Palatino Linotype"/>
              </a:rPr>
              <a:t>Falla hacia la solicitud completa</a:t>
            </a:r>
          </a:p>
        </p:txBody>
      </p:sp>
      <p:sp>
        <p:nvSpPr>
          <p:cNvPr id="6" name="Rectangle 5"/>
          <p:cNvSpPr/>
          <p:nvPr/>
        </p:nvSpPr>
        <p:spPr>
          <a:xfrm>
            <a:off x="566928" y="1344168"/>
            <a:ext cx="822960" cy="36576"/>
          </a:xfrm>
          <a:prstGeom prst="rect">
            <a:avLst/>
          </a:prstGeom>
          <a:solidFill>
            <a:srgbClr val="C984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ounded Rectangle 6"/>
          <p:cNvSpPr/>
          <p:nvPr/>
        </p:nvSpPr>
        <p:spPr>
          <a:xfrm>
            <a:off x="566928" y="1810511"/>
            <a:ext cx="11057839" cy="3291840"/>
          </a:xfrm>
          <a:prstGeom prst="roundRect">
            <a:avLst>
              <a:gd name="adj" fmla="val 4444"/>
            </a:avLst>
          </a:prstGeom>
          <a:solidFill>
            <a:srgbClr val="121A1D"/>
          </a:solidFill>
          <a:ln w="19050">
            <a:solidFill>
              <a:srgbClr val="C98457"/>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ectangle 7"/>
          <p:cNvSpPr/>
          <p:nvPr/>
        </p:nvSpPr>
        <p:spPr>
          <a:xfrm>
            <a:off x="566928" y="1810511"/>
            <a:ext cx="109728" cy="3291840"/>
          </a:xfrm>
          <a:prstGeom prst="rect">
            <a:avLst/>
          </a:prstGeom>
          <a:solidFill>
            <a:srgbClr val="C984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115568" y="2039112"/>
            <a:ext cx="9960559" cy="2834640"/>
          </a:xfrm>
          <a:prstGeom prst="rect">
            <a:avLst/>
          </a:prstGeom>
          <a:noFill/>
        </p:spPr>
        <p:txBody>
          <a:bodyPr wrap="square" lIns="45720" rIns="45720" tIns="27432" bIns="27432" anchor="ctr">
            <a:noAutofit/>
          </a:bodyPr>
          <a:lstStyle/>
          <a:p>
            <a:pPr algn="l">
              <a:lnSpc>
                <a:spcPct val="100000"/>
              </a:lnSpc>
            </a:pPr>
            <a:r>
              <a:rPr sz="2600" b="0" i="0">
                <a:solidFill>
                  <a:srgbClr val="F7F2E8"/>
                </a:solidFill>
                <a:latin typeface="Segoe UI Light"/>
              </a:rPr>
              <a:t>Cada parte del ajustador falla abierto: cuando algo es incierto, la solicitud completa se envía exactamente como antes.</a:t>
            </a:r>
          </a:p>
        </p:txBody>
      </p:sp>
      <p:sp>
        <p:nvSpPr>
          <p:cNvPr id="10" name="TextBox 9"/>
          <p:cNvSpPr txBox="1"/>
          <p:nvPr/>
        </p:nvSpPr>
        <p:spPr>
          <a:xfrm>
            <a:off x="566928" y="5230368"/>
            <a:ext cx="11057839" cy="457200"/>
          </a:xfrm>
          <a:prstGeom prst="rect">
            <a:avLst/>
          </a:prstGeom>
          <a:noFill/>
        </p:spPr>
        <p:txBody>
          <a:bodyPr wrap="square" lIns="45720" rIns="45720" tIns="27432" bIns="27432" anchor="t">
            <a:noAutofit/>
          </a:bodyPr>
          <a:lstStyle/>
          <a:p>
            <a:pPr algn="l">
              <a:lnSpc>
                <a:spcPct val="100000"/>
              </a:lnSpc>
            </a:pPr>
            <a:r>
              <a:rPr sz="1300" b="0" i="1">
                <a:solidFill>
                  <a:srgbClr val="A7B2B0"/>
                </a:solidFill>
                <a:latin typeface="Segoe UI"/>
              </a:rPr>
              <a:t>De “Cada solicitud cabe en el modelo al que se envía”</a:t>
            </a:r>
          </a:p>
        </p:txBody>
      </p:sp>
      <p:cxnSp>
        <p:nvCxnSpPr>
          <p:cNvPr id="11" name="Connector 10"/>
          <p:cNvCxnSpPr/>
          <p:nvPr/>
        </p:nvCxnSpPr>
        <p:spPr>
          <a:xfrm>
            <a:off x="566928" y="6373368"/>
            <a:ext cx="11057839" cy="0"/>
          </a:xfrm>
          <a:prstGeom prst="line">
            <a:avLst/>
          </a:prstGeom>
          <a:ln w="7620">
            <a:solidFill>
              <a:srgbClr val="2A3A40"/>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566928" y="6419088"/>
            <a:ext cx="6858000" cy="274320"/>
          </a:xfrm>
          <a:prstGeom prst="rect">
            <a:avLst/>
          </a:prstGeom>
          <a:noFill/>
        </p:spPr>
        <p:txBody>
          <a:bodyPr wrap="square" lIns="45720" rIns="45720" tIns="27432" bIns="27432" anchor="t">
            <a:noAutofit/>
          </a:bodyPr>
          <a:lstStyle/>
          <a:p>
            <a:pPr algn="l">
              <a:lnSpc>
                <a:spcPct val="100000"/>
              </a:lnSpc>
            </a:pPr>
            <a:r>
              <a:rPr sz="850" b="0" i="0" spc="120">
                <a:solidFill>
                  <a:srgbClr val="A7B2B0"/>
                </a:solidFill>
                <a:latin typeface="Segoe UI Semibold"/>
              </a:rPr>
              <a:t>TLAMATINI  ·  II · CÓMO FUNCIONA</a:t>
            </a:r>
          </a:p>
        </p:txBody>
      </p:sp>
      <p:sp>
        <p:nvSpPr>
          <p:cNvPr id="13" name="TextBox 12"/>
          <p:cNvSpPr txBox="1"/>
          <p:nvPr/>
        </p:nvSpPr>
        <p:spPr>
          <a:xfrm>
            <a:off x="8698687" y="6419088"/>
            <a:ext cx="2926080" cy="274320"/>
          </a:xfrm>
          <a:prstGeom prst="rect">
            <a:avLst/>
          </a:prstGeom>
          <a:noFill/>
        </p:spPr>
        <p:txBody>
          <a:bodyPr wrap="square" lIns="45720" rIns="45720" tIns="27432" bIns="27432" anchor="t">
            <a:noAutofit/>
          </a:bodyPr>
          <a:lstStyle/>
          <a:p>
            <a:pPr algn="r">
              <a:lnSpc>
                <a:spcPct val="100000"/>
              </a:lnSpc>
            </a:pPr>
            <a:r>
              <a:rPr sz="850" b="0" i="0" spc="100">
                <a:solidFill>
                  <a:srgbClr val="A7B2B0"/>
                </a:solidFill>
                <a:latin typeface="Segoe UI Semibold"/>
              </a:rPr>
              <a:t>v1.91.1   ·   17</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content.png"/>
          <p:cNvPicPr>
            <a:picLocks noChangeAspect="1"/>
          </p:cNvPicPr>
          <p:nvPr/>
        </p:nvPicPr>
        <p:blipFill>
          <a:blip r:embed="rId2"/>
          <a:stretch>
            <a:fillRect/>
          </a:stretch>
        </p:blipFill>
        <p:spPr>
          <a:xfrm>
            <a:off x="0" y="0"/>
            <a:ext cx="12191695" cy="6858000"/>
          </a:xfrm>
          <a:prstGeom prst="rect">
            <a:avLst/>
          </a:prstGeom>
        </p:spPr>
      </p:pic>
      <p:sp>
        <p:nvSpPr>
          <p:cNvPr id="3" name="Diamond 2"/>
          <p:cNvSpPr/>
          <p:nvPr/>
        </p:nvSpPr>
        <p:spPr>
          <a:xfrm>
            <a:off x="566928" y="457200"/>
            <a:ext cx="100584" cy="100584"/>
          </a:xfrm>
          <a:prstGeom prst="diamond">
            <a:avLst/>
          </a:prstGeom>
          <a:solidFill>
            <a:srgbClr val="C984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49808" y="365760"/>
            <a:ext cx="8229600" cy="292608"/>
          </a:xfrm>
          <a:prstGeom prst="rect">
            <a:avLst/>
          </a:prstGeom>
          <a:noFill/>
        </p:spPr>
        <p:txBody>
          <a:bodyPr wrap="square" lIns="45720" rIns="45720" tIns="27432" bIns="27432" anchor="t">
            <a:noAutofit/>
          </a:bodyPr>
          <a:lstStyle/>
          <a:p>
            <a:pPr algn="l">
              <a:lnSpc>
                <a:spcPct val="100000"/>
              </a:lnSpc>
            </a:pPr>
            <a:r>
              <a:rPr sz="1100" b="0" i="0" spc="240">
                <a:solidFill>
                  <a:srgbClr val="C98457"/>
                </a:solidFill>
                <a:latin typeface="Segoe UI Semibold"/>
              </a:rPr>
              <a:t>MODEL BRAIN</a:t>
            </a:r>
          </a:p>
        </p:txBody>
      </p:sp>
      <p:sp>
        <p:nvSpPr>
          <p:cNvPr id="5" name="TextBox 4"/>
          <p:cNvSpPr txBox="1"/>
          <p:nvPr/>
        </p:nvSpPr>
        <p:spPr>
          <a:xfrm>
            <a:off x="539496" y="676656"/>
            <a:ext cx="11057839" cy="658368"/>
          </a:xfrm>
          <a:prstGeom prst="rect">
            <a:avLst/>
          </a:prstGeom>
          <a:noFill/>
        </p:spPr>
        <p:txBody>
          <a:bodyPr wrap="square" lIns="45720" rIns="45720" tIns="27432" bIns="27432" anchor="t">
            <a:noAutofit/>
          </a:bodyPr>
          <a:lstStyle/>
          <a:p>
            <a:pPr algn="l">
              <a:lnSpc>
                <a:spcPct val="100000"/>
              </a:lnSpc>
            </a:pPr>
            <a:r>
              <a:rPr sz="3100" b="0" i="0">
                <a:solidFill>
                  <a:srgbClr val="F7F2E8"/>
                </a:solidFill>
                <a:latin typeface="Palatino Linotype"/>
              </a:rPr>
              <a:t>Cada modelo afinado desde fuentes formales</a:t>
            </a:r>
          </a:p>
        </p:txBody>
      </p:sp>
      <p:sp>
        <p:nvSpPr>
          <p:cNvPr id="6" name="Rectangle 5"/>
          <p:cNvSpPr/>
          <p:nvPr/>
        </p:nvSpPr>
        <p:spPr>
          <a:xfrm>
            <a:off x="566928" y="1344168"/>
            <a:ext cx="822960" cy="36576"/>
          </a:xfrm>
          <a:prstGeom prst="rect">
            <a:avLst/>
          </a:prstGeom>
          <a:solidFill>
            <a:srgbClr val="C984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566928" y="1444752"/>
            <a:ext cx="10692079" cy="585216"/>
          </a:xfrm>
          <a:prstGeom prst="rect">
            <a:avLst/>
          </a:prstGeom>
          <a:noFill/>
        </p:spPr>
        <p:txBody>
          <a:bodyPr wrap="square" lIns="45720" rIns="45720" tIns="27432" bIns="27432" anchor="t">
            <a:noAutofit/>
          </a:bodyPr>
          <a:lstStyle/>
          <a:p>
            <a:pPr algn="l">
              <a:lnSpc>
                <a:spcPct val="100000"/>
              </a:lnSpc>
            </a:pPr>
            <a:r>
              <a:rPr sz="1450" b="0" i="0">
                <a:solidFill>
                  <a:srgbClr val="A7B2B0"/>
                </a:solidFill>
                <a:latin typeface="Segoe UI Semilight"/>
              </a:rPr>
              <a:t>Desde v1.76.0 cada modelo recibe su propio sampling, nivel de thinking y tamaño de contexto, tomados de fuentes formales, en vez de un conjunto fijo de valores para cada modelo.</a:t>
            </a:r>
          </a:p>
        </p:txBody>
      </p:sp>
      <p:sp>
        <p:nvSpPr>
          <p:cNvPr id="8" name="Rounded Rectangle 7"/>
          <p:cNvSpPr/>
          <p:nvPr/>
        </p:nvSpPr>
        <p:spPr>
          <a:xfrm>
            <a:off x="566928" y="2084831"/>
            <a:ext cx="3551834" cy="1956816"/>
          </a:xfrm>
          <a:prstGeom prst="roundRect">
            <a:avLst>
              <a:gd name="adj" fmla="val 5607"/>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ectangle 8"/>
          <p:cNvSpPr/>
          <p:nvPr/>
        </p:nvSpPr>
        <p:spPr>
          <a:xfrm>
            <a:off x="731520" y="2212848"/>
            <a:ext cx="502920" cy="45720"/>
          </a:xfrm>
          <a:prstGeom prst="rect">
            <a:avLst/>
          </a:prstGeom>
          <a:solidFill>
            <a:srgbClr val="3BBE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694944" y="2304287"/>
            <a:ext cx="3295802" cy="353568"/>
          </a:xfrm>
          <a:prstGeom prst="rect">
            <a:avLst/>
          </a:prstGeom>
          <a:noFill/>
        </p:spPr>
        <p:txBody>
          <a:bodyPr wrap="square" lIns="45720" rIns="45720" tIns="27432" bIns="27432" anchor="t">
            <a:noAutofit/>
          </a:bodyPr>
          <a:lstStyle/>
          <a:p>
            <a:pPr algn="l">
              <a:lnSpc>
                <a:spcPct val="100000"/>
              </a:lnSpc>
            </a:pPr>
            <a:r>
              <a:rPr sz="1600" b="0" i="0">
                <a:solidFill>
                  <a:srgbClr val="F7F2E8"/>
                </a:solidFill>
                <a:latin typeface="Segoe UI Semibold"/>
              </a:rPr>
              <a:t>Fuentes formales</a:t>
            </a:r>
          </a:p>
        </p:txBody>
      </p:sp>
      <p:sp>
        <p:nvSpPr>
          <p:cNvPr id="11" name="TextBox 10"/>
          <p:cNvSpPr txBox="1"/>
          <p:nvPr/>
        </p:nvSpPr>
        <p:spPr>
          <a:xfrm>
            <a:off x="694944" y="2657855"/>
            <a:ext cx="3295802" cy="1292352"/>
          </a:xfrm>
          <a:prstGeom prst="rect">
            <a:avLst/>
          </a:prstGeom>
          <a:noFill/>
        </p:spPr>
        <p:txBody>
          <a:bodyPr wrap="square" lIns="45720" rIns="45720" tIns="27432" bIns="27432" anchor="t">
            <a:noAutofit/>
          </a:bodyPr>
          <a:lstStyle/>
          <a:p>
            <a:pPr algn="l">
              <a:lnSpc>
                <a:spcPct val="100000"/>
              </a:lnSpc>
            </a:pPr>
            <a:r>
              <a:rPr sz="1300" b="0" i="0">
                <a:solidFill>
                  <a:srgbClr val="A7B2B0"/>
                </a:solidFill>
                <a:latin typeface="Segoe UI"/>
              </a:rPr>
              <a:t>Tus overrides, perfiles citados, perfiles aprendidos, Ollama, valores predeterminados del modelo.</a:t>
            </a:r>
          </a:p>
        </p:txBody>
      </p:sp>
      <p:sp>
        <p:nvSpPr>
          <p:cNvPr id="12" name="Rounded Rectangle 11"/>
          <p:cNvSpPr/>
          <p:nvPr/>
        </p:nvSpPr>
        <p:spPr>
          <a:xfrm>
            <a:off x="4319930" y="2084831"/>
            <a:ext cx="3551834" cy="1956816"/>
          </a:xfrm>
          <a:prstGeom prst="roundRect">
            <a:avLst>
              <a:gd name="adj" fmla="val 5607"/>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4484522" y="2212848"/>
            <a:ext cx="502920" cy="45720"/>
          </a:xfrm>
          <a:prstGeom prst="rect">
            <a:avLst/>
          </a:prstGeom>
          <a:solidFill>
            <a:srgbClr val="C984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4447946" y="2304287"/>
            <a:ext cx="3295802" cy="353568"/>
          </a:xfrm>
          <a:prstGeom prst="rect">
            <a:avLst/>
          </a:prstGeom>
          <a:noFill/>
        </p:spPr>
        <p:txBody>
          <a:bodyPr wrap="square" lIns="45720" rIns="45720" tIns="27432" bIns="27432" anchor="t">
            <a:noAutofit/>
          </a:bodyPr>
          <a:lstStyle/>
          <a:p>
            <a:pPr algn="l">
              <a:lnSpc>
                <a:spcPct val="100000"/>
              </a:lnSpc>
            </a:pPr>
            <a:r>
              <a:rPr sz="1600" b="0" i="0">
                <a:solidFill>
                  <a:srgbClr val="F7F2E8"/>
                </a:solidFill>
                <a:latin typeface="Segoe UI Semibold"/>
              </a:rPr>
              <a:t>Contexto real</a:t>
            </a:r>
          </a:p>
        </p:txBody>
      </p:sp>
      <p:sp>
        <p:nvSpPr>
          <p:cNvPr id="15" name="TextBox 14"/>
          <p:cNvSpPr txBox="1"/>
          <p:nvPr/>
        </p:nvSpPr>
        <p:spPr>
          <a:xfrm>
            <a:off x="4447946" y="2657855"/>
            <a:ext cx="3295802" cy="1292352"/>
          </a:xfrm>
          <a:prstGeom prst="rect">
            <a:avLst/>
          </a:prstGeom>
          <a:noFill/>
        </p:spPr>
        <p:txBody>
          <a:bodyPr wrap="square" lIns="45720" rIns="45720" tIns="27432" bIns="27432" anchor="t">
            <a:noAutofit/>
          </a:bodyPr>
          <a:lstStyle/>
          <a:p>
            <a:pPr algn="l">
              <a:lnSpc>
                <a:spcPct val="100000"/>
              </a:lnSpc>
            </a:pPr>
            <a:r>
              <a:rPr sz="1300" b="0" i="0">
                <a:solidFill>
                  <a:srgbClr val="A7B2B0"/>
                </a:solidFill>
                <a:latin typeface="Segoe UI"/>
              </a:rPr>
              <a:t>La ventana solicitada nunca excede lo que el modelo puede leer.</a:t>
            </a:r>
          </a:p>
        </p:txBody>
      </p:sp>
      <p:sp>
        <p:nvSpPr>
          <p:cNvPr id="16" name="Rounded Rectangle 15"/>
          <p:cNvSpPr/>
          <p:nvPr/>
        </p:nvSpPr>
        <p:spPr>
          <a:xfrm>
            <a:off x="8072932" y="2084831"/>
            <a:ext cx="3551834" cy="1956816"/>
          </a:xfrm>
          <a:prstGeom prst="roundRect">
            <a:avLst>
              <a:gd name="adj" fmla="val 5607"/>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8237524" y="2212848"/>
            <a:ext cx="502920" cy="45720"/>
          </a:xfrm>
          <a:prstGeom prst="rect">
            <a:avLst/>
          </a:prstGeom>
          <a:solidFill>
            <a:srgbClr val="E2B4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200948" y="2304287"/>
            <a:ext cx="3295802" cy="353568"/>
          </a:xfrm>
          <a:prstGeom prst="rect">
            <a:avLst/>
          </a:prstGeom>
          <a:noFill/>
        </p:spPr>
        <p:txBody>
          <a:bodyPr wrap="square" lIns="45720" rIns="45720" tIns="27432" bIns="27432" anchor="t">
            <a:noAutofit/>
          </a:bodyPr>
          <a:lstStyle/>
          <a:p>
            <a:pPr algn="l">
              <a:lnSpc>
                <a:spcPct val="100000"/>
              </a:lnSpc>
            </a:pPr>
            <a:r>
              <a:rPr sz="1600" b="0" i="0">
                <a:solidFill>
                  <a:srgbClr val="F7F2E8"/>
                </a:solidFill>
                <a:latin typeface="Segoe UI Semibold"/>
              </a:rPr>
              <a:t>Razonamiento conservado</a:t>
            </a:r>
          </a:p>
        </p:txBody>
      </p:sp>
      <p:sp>
        <p:nvSpPr>
          <p:cNvPr id="19" name="TextBox 18"/>
          <p:cNvSpPr txBox="1"/>
          <p:nvPr/>
        </p:nvSpPr>
        <p:spPr>
          <a:xfrm>
            <a:off x="8200948" y="2657855"/>
            <a:ext cx="3295802" cy="1292352"/>
          </a:xfrm>
          <a:prstGeom prst="rect">
            <a:avLst/>
          </a:prstGeom>
          <a:noFill/>
        </p:spPr>
        <p:txBody>
          <a:bodyPr wrap="square" lIns="45720" rIns="45720" tIns="27432" bIns="27432" anchor="t">
            <a:noAutofit/>
          </a:bodyPr>
          <a:lstStyle/>
          <a:p>
            <a:pPr algn="l">
              <a:lnSpc>
                <a:spcPct val="100000"/>
              </a:lnSpc>
            </a:pPr>
            <a:r>
              <a:rPr sz="1300" b="0" i="0">
                <a:solidFill>
                  <a:srgbClr val="A7B2B0"/>
                </a:solidFill>
                <a:latin typeface="Segoe UI"/>
              </a:rPr>
              <a:t>Los modelos que piensan conservan su hilo de pensamiento entre llamadas a tools.</a:t>
            </a:r>
          </a:p>
        </p:txBody>
      </p:sp>
      <p:sp>
        <p:nvSpPr>
          <p:cNvPr id="20" name="Rounded Rectangle 19"/>
          <p:cNvSpPr/>
          <p:nvPr/>
        </p:nvSpPr>
        <p:spPr>
          <a:xfrm>
            <a:off x="566928" y="4242816"/>
            <a:ext cx="3551834" cy="1956816"/>
          </a:xfrm>
          <a:prstGeom prst="roundRect">
            <a:avLst>
              <a:gd name="adj" fmla="val 5607"/>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ectangle 20"/>
          <p:cNvSpPr/>
          <p:nvPr/>
        </p:nvSpPr>
        <p:spPr>
          <a:xfrm>
            <a:off x="731520" y="4370832"/>
            <a:ext cx="502920" cy="45720"/>
          </a:xfrm>
          <a:prstGeom prst="rect">
            <a:avLst/>
          </a:prstGeom>
          <a:solidFill>
            <a:srgbClr val="46D2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694944" y="4462272"/>
            <a:ext cx="3295802" cy="353568"/>
          </a:xfrm>
          <a:prstGeom prst="rect">
            <a:avLst/>
          </a:prstGeom>
          <a:noFill/>
        </p:spPr>
        <p:txBody>
          <a:bodyPr wrap="square" lIns="45720" rIns="45720" tIns="27432" bIns="27432" anchor="t">
            <a:noAutofit/>
          </a:bodyPr>
          <a:lstStyle/>
          <a:p>
            <a:pPr algn="l">
              <a:lnSpc>
                <a:spcPct val="100000"/>
              </a:lnSpc>
            </a:pPr>
            <a:r>
              <a:rPr sz="1600" b="0" i="0">
                <a:solidFill>
                  <a:srgbClr val="F7F2E8"/>
                </a:solidFill>
                <a:latin typeface="Segoe UI Semibold"/>
              </a:rPr>
              <a:t>Auto-tuning</a:t>
            </a:r>
          </a:p>
        </p:txBody>
      </p:sp>
      <p:sp>
        <p:nvSpPr>
          <p:cNvPr id="23" name="TextBox 22"/>
          <p:cNvSpPr txBox="1"/>
          <p:nvPr/>
        </p:nvSpPr>
        <p:spPr>
          <a:xfrm>
            <a:off x="694944" y="4815840"/>
            <a:ext cx="3295802" cy="1292352"/>
          </a:xfrm>
          <a:prstGeom prst="rect">
            <a:avLst/>
          </a:prstGeom>
          <a:noFill/>
        </p:spPr>
        <p:txBody>
          <a:bodyPr wrap="square" lIns="45720" rIns="45720" tIns="27432" bIns="27432" anchor="t">
            <a:noAutofit/>
          </a:bodyPr>
          <a:lstStyle/>
          <a:p>
            <a:pPr algn="l">
              <a:lnSpc>
                <a:spcPct val="100000"/>
              </a:lnSpc>
            </a:pPr>
            <a:r>
              <a:rPr sz="1300" b="0" i="0">
                <a:solidFill>
                  <a:srgbClr val="A7B2B0"/>
                </a:solidFill>
                <a:latin typeface="Segoe UI"/>
              </a:rPr>
              <a:t>Config </a:t>
            </a:r>
            <a:r>
              <a:rPr sz="1300" b="0" i="0">
                <a:solidFill>
                  <a:srgbClr val="A7B2B0"/>
                </a:solidFill>
                <a:latin typeface="Segoe UI Symbol"/>
              </a:rPr>
              <a:t>▸</a:t>
            </a:r>
            <a:r>
              <a:rPr sz="1300" b="0" i="0">
                <a:solidFill>
                  <a:srgbClr val="A7B2B0"/>
                </a:solidFill>
                <a:latin typeface="Segoe UI"/>
              </a:rPr>
              <a:t> Models </a:t>
            </a:r>
            <a:r>
              <a:rPr sz="1300" b="0" i="0">
                <a:solidFill>
                  <a:srgbClr val="A7B2B0"/>
                </a:solidFill>
                <a:latin typeface="Segoe UI Symbol"/>
              </a:rPr>
              <a:t>▸</a:t>
            </a:r>
            <a:r>
              <a:rPr sz="1300" b="0" i="0">
                <a:solidFill>
                  <a:srgbClr val="A7B2B0"/>
                </a:solidFill>
                <a:latin typeface="Segoe UI"/>
              </a:rPr>
              <a:t> Guardar muestra cada modelo afinado, con sus fuentes.</a:t>
            </a:r>
          </a:p>
        </p:txBody>
      </p:sp>
      <p:sp>
        <p:nvSpPr>
          <p:cNvPr id="24" name="Rounded Rectangle 23"/>
          <p:cNvSpPr/>
          <p:nvPr/>
        </p:nvSpPr>
        <p:spPr>
          <a:xfrm>
            <a:off x="4319930" y="4242816"/>
            <a:ext cx="3551834" cy="1956816"/>
          </a:xfrm>
          <a:prstGeom prst="roundRect">
            <a:avLst>
              <a:gd name="adj" fmla="val 5607"/>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ectangle 24"/>
          <p:cNvSpPr/>
          <p:nvPr/>
        </p:nvSpPr>
        <p:spPr>
          <a:xfrm>
            <a:off x="4484522" y="4370832"/>
            <a:ext cx="502920" cy="45720"/>
          </a:xfrm>
          <a:prstGeom prst="rect">
            <a:avLst/>
          </a:prstGeom>
          <a:solidFill>
            <a:srgbClr val="D25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4447946" y="4462272"/>
            <a:ext cx="3295802" cy="353568"/>
          </a:xfrm>
          <a:prstGeom prst="rect">
            <a:avLst/>
          </a:prstGeom>
          <a:noFill/>
        </p:spPr>
        <p:txBody>
          <a:bodyPr wrap="square" lIns="45720" rIns="45720" tIns="27432" bIns="27432" anchor="t">
            <a:noAutofit/>
          </a:bodyPr>
          <a:lstStyle/>
          <a:p>
            <a:pPr algn="l">
              <a:lnSpc>
                <a:spcPct val="100000"/>
              </a:lnSpc>
            </a:pPr>
            <a:r>
              <a:rPr sz="1600" b="0" i="0">
                <a:solidFill>
                  <a:srgbClr val="F7F2E8"/>
                </a:solidFill>
                <a:latin typeface="Segoe UI Semibold"/>
              </a:rPr>
              <a:t>Sin relojes de estancamiento</a:t>
            </a:r>
          </a:p>
        </p:txBody>
      </p:sp>
      <p:sp>
        <p:nvSpPr>
          <p:cNvPr id="27" name="TextBox 26"/>
          <p:cNvSpPr txBox="1"/>
          <p:nvPr/>
        </p:nvSpPr>
        <p:spPr>
          <a:xfrm>
            <a:off x="4447946" y="4815840"/>
            <a:ext cx="3295802" cy="1292352"/>
          </a:xfrm>
          <a:prstGeom prst="rect">
            <a:avLst/>
          </a:prstGeom>
          <a:noFill/>
        </p:spPr>
        <p:txBody>
          <a:bodyPr wrap="square" lIns="45720" rIns="45720" tIns="27432" bIns="27432" anchor="t">
            <a:noAutofit/>
          </a:bodyPr>
          <a:lstStyle/>
          <a:p>
            <a:pPr algn="l">
              <a:lnSpc>
                <a:spcPct val="100000"/>
              </a:lnSpc>
            </a:pPr>
            <a:r>
              <a:rPr sz="1300" b="0" i="0">
                <a:solidFill>
                  <a:srgbClr val="A7B2B0"/>
                </a:solidFill>
                <a:latin typeface="Segoe UI"/>
              </a:rPr>
              <a:t>Un modelo lento nunca se tira y se reinicia.</a:t>
            </a:r>
          </a:p>
        </p:txBody>
      </p:sp>
      <p:sp>
        <p:nvSpPr>
          <p:cNvPr id="28" name="Rounded Rectangle 27"/>
          <p:cNvSpPr/>
          <p:nvPr/>
        </p:nvSpPr>
        <p:spPr>
          <a:xfrm>
            <a:off x="8072932" y="4242816"/>
            <a:ext cx="3551834" cy="1956816"/>
          </a:xfrm>
          <a:prstGeom prst="roundRect">
            <a:avLst>
              <a:gd name="adj" fmla="val 5607"/>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Rectangle 28"/>
          <p:cNvSpPr/>
          <p:nvPr/>
        </p:nvSpPr>
        <p:spPr>
          <a:xfrm>
            <a:off x="8237524" y="4370832"/>
            <a:ext cx="502920" cy="45720"/>
          </a:xfrm>
          <a:prstGeom prst="rect">
            <a:avLst/>
          </a:prstGeom>
          <a:solidFill>
            <a:srgbClr val="D957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8200948" y="4462272"/>
            <a:ext cx="3295802" cy="353568"/>
          </a:xfrm>
          <a:prstGeom prst="rect">
            <a:avLst/>
          </a:prstGeom>
          <a:noFill/>
        </p:spPr>
        <p:txBody>
          <a:bodyPr wrap="square" lIns="45720" rIns="45720" tIns="27432" bIns="27432" anchor="t">
            <a:noAutofit/>
          </a:bodyPr>
          <a:lstStyle/>
          <a:p>
            <a:pPr algn="l">
              <a:lnSpc>
                <a:spcPct val="100000"/>
              </a:lnSpc>
            </a:pPr>
            <a:r>
              <a:rPr sz="1600" b="0" i="0">
                <a:solidFill>
                  <a:srgbClr val="F7F2E8"/>
                </a:solidFill>
                <a:latin typeface="Segoe UI Semibold"/>
              </a:rPr>
              <a:t>Tu decisión</a:t>
            </a:r>
          </a:p>
        </p:txBody>
      </p:sp>
      <p:sp>
        <p:nvSpPr>
          <p:cNvPr id="31" name="TextBox 30"/>
          <p:cNvSpPr txBox="1"/>
          <p:nvPr/>
        </p:nvSpPr>
        <p:spPr>
          <a:xfrm>
            <a:off x="8200948" y="4815840"/>
            <a:ext cx="3295802" cy="1292352"/>
          </a:xfrm>
          <a:prstGeom prst="rect">
            <a:avLst/>
          </a:prstGeom>
          <a:noFill/>
        </p:spPr>
        <p:txBody>
          <a:bodyPr wrap="square" lIns="45720" rIns="45720" tIns="27432" bIns="27432" anchor="t">
            <a:noAutofit/>
          </a:bodyPr>
          <a:lstStyle/>
          <a:p>
            <a:pPr algn="l">
              <a:lnSpc>
                <a:spcPct val="100000"/>
              </a:lnSpc>
            </a:pPr>
            <a:r>
              <a:rPr sz="1200" b="0" i="0">
                <a:solidFill>
                  <a:srgbClr val="E2B462"/>
                </a:solidFill>
                <a:latin typeface="Consolas"/>
              </a:rPr>
              <a:t>model_brain: off</a:t>
            </a:r>
            <a:r>
              <a:rPr sz="1300" b="0" i="0">
                <a:solidFill>
                  <a:srgbClr val="A7B2B0"/>
                </a:solidFill>
                <a:latin typeface="Segoe UI"/>
              </a:rPr>
              <a:t> restaura el sampler fijo heredado exactamente.</a:t>
            </a:r>
          </a:p>
        </p:txBody>
      </p:sp>
      <p:cxnSp>
        <p:nvCxnSpPr>
          <p:cNvPr id="32" name="Connector 31"/>
          <p:cNvCxnSpPr/>
          <p:nvPr/>
        </p:nvCxnSpPr>
        <p:spPr>
          <a:xfrm>
            <a:off x="566928" y="6373368"/>
            <a:ext cx="11057839" cy="0"/>
          </a:xfrm>
          <a:prstGeom prst="line">
            <a:avLst/>
          </a:prstGeom>
          <a:ln w="7620">
            <a:solidFill>
              <a:srgbClr val="2A3A40"/>
            </a:solidFill>
          </a:ln>
        </p:spPr>
        <p:style>
          <a:lnRef idx="2">
            <a:schemeClr val="accent1"/>
          </a:lnRef>
          <a:fillRef idx="0">
            <a:schemeClr val="accent1"/>
          </a:fillRef>
          <a:effectRef idx="1">
            <a:schemeClr val="accent1"/>
          </a:effectRef>
          <a:fontRef idx="minor">
            <a:schemeClr val="tx1"/>
          </a:fontRef>
        </p:style>
      </p:cxnSp>
      <p:sp>
        <p:nvSpPr>
          <p:cNvPr id="33" name="TextBox 32"/>
          <p:cNvSpPr txBox="1"/>
          <p:nvPr/>
        </p:nvSpPr>
        <p:spPr>
          <a:xfrm>
            <a:off x="566928" y="6419088"/>
            <a:ext cx="6858000" cy="274320"/>
          </a:xfrm>
          <a:prstGeom prst="rect">
            <a:avLst/>
          </a:prstGeom>
          <a:noFill/>
        </p:spPr>
        <p:txBody>
          <a:bodyPr wrap="square" lIns="45720" rIns="45720" tIns="27432" bIns="27432" anchor="t">
            <a:noAutofit/>
          </a:bodyPr>
          <a:lstStyle/>
          <a:p>
            <a:pPr algn="l">
              <a:lnSpc>
                <a:spcPct val="100000"/>
              </a:lnSpc>
            </a:pPr>
            <a:r>
              <a:rPr sz="850" b="0" i="0" spc="120">
                <a:solidFill>
                  <a:srgbClr val="A7B2B0"/>
                </a:solidFill>
                <a:latin typeface="Segoe UI Semibold"/>
              </a:rPr>
              <a:t>TLAMATINI  ·  II · CÓMO FUNCIONA</a:t>
            </a:r>
          </a:p>
        </p:txBody>
      </p:sp>
      <p:sp>
        <p:nvSpPr>
          <p:cNvPr id="34" name="TextBox 33"/>
          <p:cNvSpPr txBox="1"/>
          <p:nvPr/>
        </p:nvSpPr>
        <p:spPr>
          <a:xfrm>
            <a:off x="8698687" y="6419088"/>
            <a:ext cx="2926080" cy="274320"/>
          </a:xfrm>
          <a:prstGeom prst="rect">
            <a:avLst/>
          </a:prstGeom>
          <a:noFill/>
        </p:spPr>
        <p:txBody>
          <a:bodyPr wrap="square" lIns="45720" rIns="45720" tIns="27432" bIns="27432" anchor="t">
            <a:noAutofit/>
          </a:bodyPr>
          <a:lstStyle/>
          <a:p>
            <a:pPr algn="r">
              <a:lnSpc>
                <a:spcPct val="100000"/>
              </a:lnSpc>
            </a:pPr>
            <a:r>
              <a:rPr sz="850" b="0" i="0" spc="100">
                <a:solidFill>
                  <a:srgbClr val="A7B2B0"/>
                </a:solidFill>
                <a:latin typeface="Segoe UI Semibold"/>
              </a:rPr>
              <a:t>v1.91.1   ·   18</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content.png"/>
          <p:cNvPicPr>
            <a:picLocks noChangeAspect="1"/>
          </p:cNvPicPr>
          <p:nvPr/>
        </p:nvPicPr>
        <p:blipFill>
          <a:blip r:embed="rId2"/>
          <a:stretch>
            <a:fillRect/>
          </a:stretch>
        </p:blipFill>
        <p:spPr>
          <a:xfrm>
            <a:off x="0" y="0"/>
            <a:ext cx="12191695" cy="6858000"/>
          </a:xfrm>
          <a:prstGeom prst="rect">
            <a:avLst/>
          </a:prstGeom>
        </p:spPr>
      </p:pic>
      <p:sp>
        <p:nvSpPr>
          <p:cNvPr id="3" name="Diamond 2"/>
          <p:cNvSpPr/>
          <p:nvPr/>
        </p:nvSpPr>
        <p:spPr>
          <a:xfrm>
            <a:off x="566928" y="457200"/>
            <a:ext cx="100584" cy="100584"/>
          </a:xfrm>
          <a:prstGeom prst="diamond">
            <a:avLst/>
          </a:prstGeom>
          <a:solidFill>
            <a:srgbClr val="C984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49808" y="365760"/>
            <a:ext cx="8229600" cy="292608"/>
          </a:xfrm>
          <a:prstGeom prst="rect">
            <a:avLst/>
          </a:prstGeom>
          <a:noFill/>
        </p:spPr>
        <p:txBody>
          <a:bodyPr wrap="square" lIns="45720" rIns="45720" tIns="27432" bIns="27432" anchor="t">
            <a:noAutofit/>
          </a:bodyPr>
          <a:lstStyle/>
          <a:p>
            <a:pPr algn="l">
              <a:lnSpc>
                <a:spcPct val="100000"/>
              </a:lnSpc>
            </a:pPr>
            <a:r>
              <a:rPr sz="1100" b="0" i="0" spc="240">
                <a:solidFill>
                  <a:srgbClr val="C98457"/>
                </a:solidFill>
                <a:latin typeface="Segoe UI Semibold"/>
              </a:rPr>
              <a:t>MODEL BRAIN</a:t>
            </a:r>
          </a:p>
        </p:txBody>
      </p:sp>
      <p:sp>
        <p:nvSpPr>
          <p:cNvPr id="5" name="TextBox 4"/>
          <p:cNvSpPr txBox="1"/>
          <p:nvPr/>
        </p:nvSpPr>
        <p:spPr>
          <a:xfrm>
            <a:off x="539496" y="676656"/>
            <a:ext cx="11057839" cy="658368"/>
          </a:xfrm>
          <a:prstGeom prst="rect">
            <a:avLst/>
          </a:prstGeom>
          <a:noFill/>
        </p:spPr>
        <p:txBody>
          <a:bodyPr wrap="square" lIns="45720" rIns="45720" tIns="27432" bIns="27432" anchor="t">
            <a:noAutofit/>
          </a:bodyPr>
          <a:lstStyle/>
          <a:p>
            <a:pPr algn="l">
              <a:lnSpc>
                <a:spcPct val="100000"/>
              </a:lnSpc>
            </a:pPr>
            <a:r>
              <a:rPr sz="3100" b="0" i="0">
                <a:solidFill>
                  <a:srgbClr val="F7F2E8"/>
                </a:solidFill>
                <a:latin typeface="Palatino Linotype"/>
              </a:rPr>
              <a:t>Ningún nombre de modelo en el código</a:t>
            </a:r>
          </a:p>
        </p:txBody>
      </p:sp>
      <p:sp>
        <p:nvSpPr>
          <p:cNvPr id="6" name="Rectangle 5"/>
          <p:cNvSpPr/>
          <p:nvPr/>
        </p:nvSpPr>
        <p:spPr>
          <a:xfrm>
            <a:off x="566928" y="1344168"/>
            <a:ext cx="822960" cy="36576"/>
          </a:xfrm>
          <a:prstGeom prst="rect">
            <a:avLst/>
          </a:prstGeom>
          <a:solidFill>
            <a:srgbClr val="C984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ounded Rectangle 6"/>
          <p:cNvSpPr/>
          <p:nvPr/>
        </p:nvSpPr>
        <p:spPr>
          <a:xfrm>
            <a:off x="566928" y="1810511"/>
            <a:ext cx="11057839" cy="3291840"/>
          </a:xfrm>
          <a:prstGeom prst="roundRect">
            <a:avLst>
              <a:gd name="adj" fmla="val 4444"/>
            </a:avLst>
          </a:prstGeom>
          <a:solidFill>
            <a:srgbClr val="121A1D"/>
          </a:solidFill>
          <a:ln w="19050">
            <a:solidFill>
              <a:srgbClr val="C98457"/>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ectangle 7"/>
          <p:cNvSpPr/>
          <p:nvPr/>
        </p:nvSpPr>
        <p:spPr>
          <a:xfrm>
            <a:off x="566928" y="1810511"/>
            <a:ext cx="109728" cy="3291840"/>
          </a:xfrm>
          <a:prstGeom prst="rect">
            <a:avLst/>
          </a:prstGeom>
          <a:solidFill>
            <a:srgbClr val="C984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115568" y="2039112"/>
            <a:ext cx="9960559" cy="2834640"/>
          </a:xfrm>
          <a:prstGeom prst="rect">
            <a:avLst/>
          </a:prstGeom>
          <a:noFill/>
        </p:spPr>
        <p:txBody>
          <a:bodyPr wrap="square" lIns="45720" rIns="45720" tIns="27432" bIns="27432" anchor="ctr">
            <a:noAutofit/>
          </a:bodyPr>
          <a:lstStyle/>
          <a:p>
            <a:pPr algn="l">
              <a:lnSpc>
                <a:spcPct val="100000"/>
              </a:lnSpc>
            </a:pPr>
            <a:r>
              <a:rPr sz="2600" b="0" i="0">
                <a:solidFill>
                  <a:srgbClr val="F7F2E8"/>
                </a:solidFill>
                <a:latin typeface="Segoe UI Light"/>
              </a:rPr>
              <a:t>Un modelo nuevo obtiene sus valores de la base de conocimiento, la investigación, Ollama o sus propios valores predeterminados, nunca de un branch escrito para un nombre de modelo, y un valor que tú estableces siempre gana.</a:t>
            </a:r>
          </a:p>
        </p:txBody>
      </p:sp>
      <p:sp>
        <p:nvSpPr>
          <p:cNvPr id="10" name="TextBox 9"/>
          <p:cNvSpPr txBox="1"/>
          <p:nvPr/>
        </p:nvSpPr>
        <p:spPr>
          <a:xfrm>
            <a:off x="566928" y="5230368"/>
            <a:ext cx="11057839" cy="457200"/>
          </a:xfrm>
          <a:prstGeom prst="rect">
            <a:avLst/>
          </a:prstGeom>
          <a:noFill/>
        </p:spPr>
        <p:txBody>
          <a:bodyPr wrap="square" lIns="45720" rIns="45720" tIns="27432" bIns="27432" anchor="t">
            <a:noAutofit/>
          </a:bodyPr>
          <a:lstStyle/>
          <a:p>
            <a:pPr algn="l">
              <a:lnSpc>
                <a:spcPct val="100000"/>
              </a:lnSpc>
            </a:pPr>
            <a:r>
              <a:rPr sz="1300" b="0" i="1">
                <a:solidFill>
                  <a:srgbClr val="A7B2B0"/>
                </a:solidFill>
                <a:latin typeface="Segoe UI"/>
              </a:rPr>
              <a:t>De “Cada modelo afinado desde fuentes formales”</a:t>
            </a:r>
          </a:p>
        </p:txBody>
      </p:sp>
      <p:cxnSp>
        <p:nvCxnSpPr>
          <p:cNvPr id="11" name="Connector 10"/>
          <p:cNvCxnSpPr/>
          <p:nvPr/>
        </p:nvCxnSpPr>
        <p:spPr>
          <a:xfrm>
            <a:off x="566928" y="6373368"/>
            <a:ext cx="11057839" cy="0"/>
          </a:xfrm>
          <a:prstGeom prst="line">
            <a:avLst/>
          </a:prstGeom>
          <a:ln w="7620">
            <a:solidFill>
              <a:srgbClr val="2A3A40"/>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566928" y="6419088"/>
            <a:ext cx="6858000" cy="274320"/>
          </a:xfrm>
          <a:prstGeom prst="rect">
            <a:avLst/>
          </a:prstGeom>
          <a:noFill/>
        </p:spPr>
        <p:txBody>
          <a:bodyPr wrap="square" lIns="45720" rIns="45720" tIns="27432" bIns="27432" anchor="t">
            <a:noAutofit/>
          </a:bodyPr>
          <a:lstStyle/>
          <a:p>
            <a:pPr algn="l">
              <a:lnSpc>
                <a:spcPct val="100000"/>
              </a:lnSpc>
            </a:pPr>
            <a:r>
              <a:rPr sz="850" b="0" i="0" spc="120">
                <a:solidFill>
                  <a:srgbClr val="A7B2B0"/>
                </a:solidFill>
                <a:latin typeface="Segoe UI Semibold"/>
              </a:rPr>
              <a:t>TLAMATINI  ·  II · CÓMO FUNCIONA</a:t>
            </a:r>
          </a:p>
        </p:txBody>
      </p:sp>
      <p:sp>
        <p:nvSpPr>
          <p:cNvPr id="13" name="TextBox 12"/>
          <p:cNvSpPr txBox="1"/>
          <p:nvPr/>
        </p:nvSpPr>
        <p:spPr>
          <a:xfrm>
            <a:off x="8698687" y="6419088"/>
            <a:ext cx="2926080" cy="274320"/>
          </a:xfrm>
          <a:prstGeom prst="rect">
            <a:avLst/>
          </a:prstGeom>
          <a:noFill/>
        </p:spPr>
        <p:txBody>
          <a:bodyPr wrap="square" lIns="45720" rIns="45720" tIns="27432" bIns="27432" anchor="t">
            <a:noAutofit/>
          </a:bodyPr>
          <a:lstStyle/>
          <a:p>
            <a:pPr algn="r">
              <a:lnSpc>
                <a:spcPct val="100000"/>
              </a:lnSpc>
            </a:pPr>
            <a:r>
              <a:rPr sz="850" b="0" i="0" spc="100">
                <a:solidFill>
                  <a:srgbClr val="A7B2B0"/>
                </a:solidFill>
                <a:latin typeface="Segoe UI Semibold"/>
              </a:rPr>
              <a:t>v1.91.1   ·   19</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content.png"/>
          <p:cNvPicPr>
            <a:picLocks noChangeAspect="1"/>
          </p:cNvPicPr>
          <p:nvPr/>
        </p:nvPicPr>
        <p:blipFill>
          <a:blip r:embed="rId2"/>
          <a:stretch>
            <a:fillRect/>
          </a:stretch>
        </p:blipFill>
        <p:spPr>
          <a:xfrm>
            <a:off x="0" y="0"/>
            <a:ext cx="12191695" cy="6858000"/>
          </a:xfrm>
          <a:prstGeom prst="rect">
            <a:avLst/>
          </a:prstGeom>
        </p:spPr>
      </p:pic>
      <p:sp>
        <p:nvSpPr>
          <p:cNvPr id="3" name="Diamond 2"/>
          <p:cNvSpPr/>
          <p:nvPr/>
        </p:nvSpPr>
        <p:spPr>
          <a:xfrm>
            <a:off x="566928" y="457200"/>
            <a:ext cx="100584" cy="100584"/>
          </a:xfrm>
          <a:prstGeom prst="diamond">
            <a:avLst/>
          </a:prstGeom>
          <a:solidFill>
            <a:srgbClr val="C984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49808" y="365760"/>
            <a:ext cx="8229600" cy="292608"/>
          </a:xfrm>
          <a:prstGeom prst="rect">
            <a:avLst/>
          </a:prstGeom>
          <a:noFill/>
        </p:spPr>
        <p:txBody>
          <a:bodyPr wrap="square" lIns="45720" rIns="45720" tIns="27432" bIns="27432" anchor="t">
            <a:noAutofit/>
          </a:bodyPr>
          <a:lstStyle/>
          <a:p>
            <a:pPr algn="l">
              <a:lnSpc>
                <a:spcPct val="100000"/>
              </a:lnSpc>
            </a:pPr>
            <a:r>
              <a:rPr sz="1100" b="0" i="0" spc="240">
                <a:solidFill>
                  <a:srgbClr val="C98457"/>
                </a:solidFill>
                <a:latin typeface="Segoe UI Semibold"/>
              </a:rPr>
              <a:t>EXEC REPORT</a:t>
            </a:r>
          </a:p>
        </p:txBody>
      </p:sp>
      <p:sp>
        <p:nvSpPr>
          <p:cNvPr id="5" name="TextBox 4"/>
          <p:cNvSpPr txBox="1"/>
          <p:nvPr/>
        </p:nvSpPr>
        <p:spPr>
          <a:xfrm>
            <a:off x="539496" y="676656"/>
            <a:ext cx="11057839" cy="658368"/>
          </a:xfrm>
          <a:prstGeom prst="rect">
            <a:avLst/>
          </a:prstGeom>
          <a:noFill/>
        </p:spPr>
        <p:txBody>
          <a:bodyPr wrap="square" lIns="45720" rIns="45720" tIns="27432" bIns="27432" anchor="t">
            <a:noAutofit/>
          </a:bodyPr>
          <a:lstStyle/>
          <a:p>
            <a:pPr algn="l">
              <a:lnSpc>
                <a:spcPct val="100000"/>
              </a:lnSpc>
            </a:pPr>
            <a:r>
              <a:rPr sz="3100" b="0" i="0">
                <a:solidFill>
                  <a:srgbClr val="F7F2E8"/>
                </a:solidFill>
                <a:latin typeface="Palatino Linotype"/>
              </a:rPr>
              <a:t>Un veredicto en el que puedes confiar</a:t>
            </a:r>
          </a:p>
        </p:txBody>
      </p:sp>
      <p:sp>
        <p:nvSpPr>
          <p:cNvPr id="6" name="Rectangle 5"/>
          <p:cNvSpPr/>
          <p:nvPr/>
        </p:nvSpPr>
        <p:spPr>
          <a:xfrm>
            <a:off x="566928" y="1344168"/>
            <a:ext cx="822960" cy="36576"/>
          </a:xfrm>
          <a:prstGeom prst="rect">
            <a:avLst/>
          </a:prstGeom>
          <a:solidFill>
            <a:srgbClr val="C984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566928" y="1444752"/>
            <a:ext cx="10692079" cy="585216"/>
          </a:xfrm>
          <a:prstGeom prst="rect">
            <a:avLst/>
          </a:prstGeom>
          <a:noFill/>
        </p:spPr>
        <p:txBody>
          <a:bodyPr wrap="square" lIns="45720" rIns="45720" tIns="27432" bIns="27432" anchor="t">
            <a:noAutofit/>
          </a:bodyPr>
          <a:lstStyle/>
          <a:p>
            <a:pPr algn="l">
              <a:lnSpc>
                <a:spcPct val="100000"/>
              </a:lnSpc>
            </a:pPr>
            <a:r>
              <a:rPr sz="1450" b="0" i="0">
                <a:solidFill>
                  <a:srgbClr val="A7B2B0"/>
                </a:solidFill>
                <a:latin typeface="Segoe UI Semilight"/>
              </a:rPr>
              <a:t>Un código de salida es un bit. El auto-reporte estructurado del propio agent es un registro tipado, y supera al código de salida.</a:t>
            </a:r>
          </a:p>
        </p:txBody>
      </p:sp>
      <p:sp>
        <p:nvSpPr>
          <p:cNvPr id="8" name="Rounded Rectangle 7"/>
          <p:cNvSpPr/>
          <p:nvPr/>
        </p:nvSpPr>
        <p:spPr>
          <a:xfrm>
            <a:off x="566928" y="2084831"/>
            <a:ext cx="11057839" cy="4088892"/>
          </a:xfrm>
          <a:prstGeom prst="roundRect">
            <a:avLst>
              <a:gd name="adj" fmla="val 1789"/>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ounded Rectangle 8"/>
          <p:cNvSpPr/>
          <p:nvPr/>
        </p:nvSpPr>
        <p:spPr>
          <a:xfrm>
            <a:off x="566928" y="2084831"/>
            <a:ext cx="11057839" cy="384048"/>
          </a:xfrm>
          <a:prstGeom prst="roundRect">
            <a:avLst>
              <a:gd name="adj" fmla="val 19047"/>
            </a:avLst>
          </a:prstGeom>
          <a:solidFill>
            <a:srgbClr val="151F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640080" y="2121408"/>
            <a:ext cx="959479" cy="310896"/>
          </a:xfrm>
          <a:prstGeom prst="rect">
            <a:avLst/>
          </a:prstGeom>
          <a:noFill/>
        </p:spPr>
        <p:txBody>
          <a:bodyPr wrap="square" lIns="45720" rIns="45720" tIns="27432" bIns="27432" anchor="ctr">
            <a:noAutofit/>
          </a:bodyPr>
          <a:lstStyle/>
          <a:p>
            <a:pPr algn="l">
              <a:lnSpc>
                <a:spcPct val="100000"/>
              </a:lnSpc>
            </a:pPr>
            <a:r>
              <a:rPr sz="1000" b="0" i="0" spc="120">
                <a:solidFill>
                  <a:srgbClr val="E2B462"/>
                </a:solidFill>
                <a:latin typeface="Segoe UI Semibold"/>
              </a:rPr>
              <a:t>REGLA</a:t>
            </a:r>
          </a:p>
        </p:txBody>
      </p:sp>
      <p:sp>
        <p:nvSpPr>
          <p:cNvPr id="11" name="TextBox 10"/>
          <p:cNvSpPr txBox="1"/>
          <p:nvPr/>
        </p:nvSpPr>
        <p:spPr>
          <a:xfrm>
            <a:off x="1745863" y="2121408"/>
            <a:ext cx="7151869" cy="310896"/>
          </a:xfrm>
          <a:prstGeom prst="rect">
            <a:avLst/>
          </a:prstGeom>
          <a:noFill/>
        </p:spPr>
        <p:txBody>
          <a:bodyPr wrap="square" lIns="45720" rIns="45720" tIns="27432" bIns="27432" anchor="ctr">
            <a:noAutofit/>
          </a:bodyPr>
          <a:lstStyle/>
          <a:p>
            <a:pPr algn="l">
              <a:lnSpc>
                <a:spcPct val="100000"/>
              </a:lnSpc>
            </a:pPr>
            <a:r>
              <a:rPr sz="1000" b="0" i="0" spc="120">
                <a:solidFill>
                  <a:srgbClr val="E2B462"/>
                </a:solidFill>
                <a:latin typeface="Segoe UI Semibold"/>
              </a:rPr>
              <a:t>SE DISPARA CUANDO</a:t>
            </a:r>
          </a:p>
        </p:txBody>
      </p:sp>
      <p:sp>
        <p:nvSpPr>
          <p:cNvPr id="12" name="TextBox 11"/>
          <p:cNvSpPr txBox="1"/>
          <p:nvPr/>
        </p:nvSpPr>
        <p:spPr>
          <a:xfrm>
            <a:off x="9044037" y="2121408"/>
            <a:ext cx="2507577" cy="310896"/>
          </a:xfrm>
          <a:prstGeom prst="rect">
            <a:avLst/>
          </a:prstGeom>
          <a:noFill/>
        </p:spPr>
        <p:txBody>
          <a:bodyPr wrap="square" lIns="45720" rIns="45720" tIns="27432" bIns="27432" anchor="ctr">
            <a:noAutofit/>
          </a:bodyPr>
          <a:lstStyle/>
          <a:p>
            <a:pPr algn="l">
              <a:lnSpc>
                <a:spcPct val="100000"/>
              </a:lnSpc>
            </a:pPr>
            <a:r>
              <a:rPr sz="1000" b="0" i="0" spc="120">
                <a:solidFill>
                  <a:srgbClr val="E2B462"/>
                </a:solidFill>
                <a:latin typeface="Segoe UI Semibold"/>
              </a:rPr>
              <a:t>VEREDICTO</a:t>
            </a:r>
          </a:p>
        </p:txBody>
      </p:sp>
      <p:sp>
        <p:nvSpPr>
          <p:cNvPr id="13" name="TextBox 12"/>
          <p:cNvSpPr txBox="1"/>
          <p:nvPr/>
        </p:nvSpPr>
        <p:spPr>
          <a:xfrm>
            <a:off x="640080" y="2505456"/>
            <a:ext cx="959479" cy="263652"/>
          </a:xfrm>
          <a:prstGeom prst="rect">
            <a:avLst/>
          </a:prstGeom>
          <a:noFill/>
        </p:spPr>
        <p:txBody>
          <a:bodyPr wrap="square" lIns="45720" rIns="45720" tIns="27432" bIns="27432" anchor="ctr">
            <a:noAutofit/>
          </a:bodyPr>
          <a:lstStyle/>
          <a:p>
            <a:pPr algn="l">
              <a:lnSpc>
                <a:spcPct val="100000"/>
              </a:lnSpc>
            </a:pPr>
            <a:r>
              <a:rPr sz="1250" b="0" i="0">
                <a:solidFill>
                  <a:srgbClr val="F7F2E8"/>
                </a:solidFill>
                <a:latin typeface="Segoe UI Semibold"/>
              </a:rPr>
              <a:t>R1</a:t>
            </a:r>
          </a:p>
        </p:txBody>
      </p:sp>
      <p:sp>
        <p:nvSpPr>
          <p:cNvPr id="14" name="TextBox 13"/>
          <p:cNvSpPr txBox="1"/>
          <p:nvPr/>
        </p:nvSpPr>
        <p:spPr>
          <a:xfrm>
            <a:off x="1745863" y="2505456"/>
            <a:ext cx="7151869" cy="263652"/>
          </a:xfrm>
          <a:prstGeom prst="rect">
            <a:avLst/>
          </a:prstGeom>
          <a:noFill/>
        </p:spPr>
        <p:txBody>
          <a:bodyPr wrap="square" lIns="45720" rIns="45720" tIns="27432" bIns="27432" anchor="ctr">
            <a:noAutofit/>
          </a:bodyPr>
          <a:lstStyle/>
          <a:p>
            <a:pPr algn="l">
              <a:lnSpc>
                <a:spcPct val="100000"/>
              </a:lnSpc>
            </a:pPr>
            <a:r>
              <a:rPr sz="1250" b="0" i="0">
                <a:solidFill>
                  <a:srgbClr val="A7B2B0"/>
                </a:solidFill>
                <a:latin typeface="Segoe UI"/>
              </a:rPr>
              <a:t>El agent no escribió auto-reporte</a:t>
            </a:r>
          </a:p>
        </p:txBody>
      </p:sp>
      <p:sp>
        <p:nvSpPr>
          <p:cNvPr id="15" name="TextBox 14"/>
          <p:cNvSpPr txBox="1"/>
          <p:nvPr/>
        </p:nvSpPr>
        <p:spPr>
          <a:xfrm>
            <a:off x="9044037" y="2505456"/>
            <a:ext cx="2507577" cy="263652"/>
          </a:xfrm>
          <a:prstGeom prst="rect">
            <a:avLst/>
          </a:prstGeom>
          <a:noFill/>
        </p:spPr>
        <p:txBody>
          <a:bodyPr wrap="square" lIns="45720" rIns="45720" tIns="27432" bIns="27432" anchor="ctr">
            <a:noAutofit/>
          </a:bodyPr>
          <a:lstStyle/>
          <a:p>
            <a:pPr algn="l">
              <a:lnSpc>
                <a:spcPct val="100000"/>
              </a:lnSpc>
            </a:pPr>
            <a:r>
              <a:rPr sz="1250" b="0" i="0">
                <a:solidFill>
                  <a:srgbClr val="A7B2B0"/>
                </a:solidFill>
                <a:latin typeface="Segoe UI"/>
              </a:rPr>
              <a:t>Decide el código de salida</a:t>
            </a:r>
          </a:p>
        </p:txBody>
      </p:sp>
      <p:sp>
        <p:nvSpPr>
          <p:cNvPr id="16" name="Rectangle 15"/>
          <p:cNvSpPr/>
          <p:nvPr/>
        </p:nvSpPr>
        <p:spPr>
          <a:xfrm>
            <a:off x="585216" y="2805683"/>
            <a:ext cx="11021263" cy="336804"/>
          </a:xfrm>
          <a:prstGeom prst="rect">
            <a:avLst/>
          </a:prstGeom>
          <a:solidFill>
            <a:srgbClr val="1824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640080" y="2842259"/>
            <a:ext cx="959479" cy="263652"/>
          </a:xfrm>
          <a:prstGeom prst="rect">
            <a:avLst/>
          </a:prstGeom>
          <a:noFill/>
        </p:spPr>
        <p:txBody>
          <a:bodyPr wrap="square" lIns="45720" rIns="45720" tIns="27432" bIns="27432" anchor="ctr">
            <a:noAutofit/>
          </a:bodyPr>
          <a:lstStyle/>
          <a:p>
            <a:pPr algn="l">
              <a:lnSpc>
                <a:spcPct val="100000"/>
              </a:lnSpc>
            </a:pPr>
            <a:r>
              <a:rPr sz="1250" b="0" i="0">
                <a:solidFill>
                  <a:srgbClr val="F7F2E8"/>
                </a:solidFill>
                <a:latin typeface="Segoe UI Semibold"/>
              </a:rPr>
              <a:t>R2</a:t>
            </a:r>
          </a:p>
        </p:txBody>
      </p:sp>
      <p:sp>
        <p:nvSpPr>
          <p:cNvPr id="18" name="TextBox 17"/>
          <p:cNvSpPr txBox="1"/>
          <p:nvPr/>
        </p:nvSpPr>
        <p:spPr>
          <a:xfrm>
            <a:off x="1745863" y="2842259"/>
            <a:ext cx="7151869" cy="263652"/>
          </a:xfrm>
          <a:prstGeom prst="rect">
            <a:avLst/>
          </a:prstGeom>
          <a:noFill/>
        </p:spPr>
        <p:txBody>
          <a:bodyPr wrap="square" lIns="45720" rIns="45720" tIns="27432" bIns="27432" anchor="ctr">
            <a:noAutofit/>
          </a:bodyPr>
          <a:lstStyle/>
          <a:p>
            <a:pPr algn="l">
              <a:lnSpc>
                <a:spcPct val="100000"/>
              </a:lnSpc>
            </a:pPr>
            <a:r>
              <a:rPr sz="1250" b="0" i="0">
                <a:solidFill>
                  <a:srgbClr val="A7B2B0"/>
                </a:solidFill>
                <a:latin typeface="Segoe UI"/>
              </a:rPr>
              <a:t>El agent declara error o failed</a:t>
            </a:r>
          </a:p>
        </p:txBody>
      </p:sp>
      <p:sp>
        <p:nvSpPr>
          <p:cNvPr id="19" name="TextBox 18"/>
          <p:cNvSpPr txBox="1"/>
          <p:nvPr/>
        </p:nvSpPr>
        <p:spPr>
          <a:xfrm>
            <a:off x="9044037" y="2842259"/>
            <a:ext cx="2507577" cy="263652"/>
          </a:xfrm>
          <a:prstGeom prst="rect">
            <a:avLst/>
          </a:prstGeom>
          <a:noFill/>
        </p:spPr>
        <p:txBody>
          <a:bodyPr wrap="square" lIns="45720" rIns="45720" tIns="27432" bIns="27432" anchor="ctr">
            <a:noAutofit/>
          </a:bodyPr>
          <a:lstStyle/>
          <a:p>
            <a:pPr algn="l">
              <a:lnSpc>
                <a:spcPct val="100000"/>
              </a:lnSpc>
            </a:pPr>
            <a:r>
              <a:rPr sz="1250" b="0" i="0">
                <a:solidFill>
                  <a:srgbClr val="A7B2B0"/>
                </a:solidFill>
                <a:latin typeface="Segoe UI"/>
              </a:rPr>
              <a:t>FAILED</a:t>
            </a:r>
          </a:p>
        </p:txBody>
      </p:sp>
      <p:sp>
        <p:nvSpPr>
          <p:cNvPr id="20" name="TextBox 19"/>
          <p:cNvSpPr txBox="1"/>
          <p:nvPr/>
        </p:nvSpPr>
        <p:spPr>
          <a:xfrm>
            <a:off x="640080" y="3179063"/>
            <a:ext cx="959479" cy="263652"/>
          </a:xfrm>
          <a:prstGeom prst="rect">
            <a:avLst/>
          </a:prstGeom>
          <a:noFill/>
        </p:spPr>
        <p:txBody>
          <a:bodyPr wrap="square" lIns="45720" rIns="45720" tIns="27432" bIns="27432" anchor="ctr">
            <a:noAutofit/>
          </a:bodyPr>
          <a:lstStyle/>
          <a:p>
            <a:pPr algn="l">
              <a:lnSpc>
                <a:spcPct val="100000"/>
              </a:lnSpc>
            </a:pPr>
            <a:r>
              <a:rPr sz="1250" b="0" i="0">
                <a:solidFill>
                  <a:srgbClr val="F7F2E8"/>
                </a:solidFill>
                <a:latin typeface="Segoe UI Semibold"/>
              </a:rPr>
              <a:t>R3</a:t>
            </a:r>
          </a:p>
        </p:txBody>
      </p:sp>
      <p:sp>
        <p:nvSpPr>
          <p:cNvPr id="21" name="TextBox 20"/>
          <p:cNvSpPr txBox="1"/>
          <p:nvPr/>
        </p:nvSpPr>
        <p:spPr>
          <a:xfrm>
            <a:off x="1745863" y="3179063"/>
            <a:ext cx="7151869" cy="263652"/>
          </a:xfrm>
          <a:prstGeom prst="rect">
            <a:avLst/>
          </a:prstGeom>
          <a:noFill/>
        </p:spPr>
        <p:txBody>
          <a:bodyPr wrap="square" lIns="45720" rIns="45720" tIns="27432" bIns="27432" anchor="ctr">
            <a:noAutofit/>
          </a:bodyPr>
          <a:lstStyle/>
          <a:p>
            <a:pPr algn="l">
              <a:lnSpc>
                <a:spcPct val="100000"/>
              </a:lnSpc>
            </a:pPr>
            <a:r>
              <a:rPr sz="1250" b="0" i="0">
                <a:solidFill>
                  <a:srgbClr val="A7B2B0"/>
                </a:solidFill>
                <a:latin typeface="Segoe UI"/>
              </a:rPr>
              <a:t>Trabajo no hecho: refused, not_found, engine_unavailable …</a:t>
            </a:r>
          </a:p>
        </p:txBody>
      </p:sp>
      <p:sp>
        <p:nvSpPr>
          <p:cNvPr id="22" name="TextBox 21"/>
          <p:cNvSpPr txBox="1"/>
          <p:nvPr/>
        </p:nvSpPr>
        <p:spPr>
          <a:xfrm>
            <a:off x="9044037" y="3179063"/>
            <a:ext cx="2507577" cy="263652"/>
          </a:xfrm>
          <a:prstGeom prst="rect">
            <a:avLst/>
          </a:prstGeom>
          <a:noFill/>
        </p:spPr>
        <p:txBody>
          <a:bodyPr wrap="square" lIns="45720" rIns="45720" tIns="27432" bIns="27432" anchor="ctr">
            <a:noAutofit/>
          </a:bodyPr>
          <a:lstStyle/>
          <a:p>
            <a:pPr algn="l">
              <a:lnSpc>
                <a:spcPct val="100000"/>
              </a:lnSpc>
            </a:pPr>
            <a:r>
              <a:rPr sz="1250" b="0" i="0">
                <a:solidFill>
                  <a:srgbClr val="A7B2B0"/>
                </a:solidFill>
                <a:latin typeface="Segoe UI"/>
              </a:rPr>
              <a:t>FAILED</a:t>
            </a:r>
          </a:p>
        </p:txBody>
      </p:sp>
      <p:sp>
        <p:nvSpPr>
          <p:cNvPr id="23" name="Rectangle 22"/>
          <p:cNvSpPr/>
          <p:nvPr/>
        </p:nvSpPr>
        <p:spPr>
          <a:xfrm>
            <a:off x="585216" y="3479291"/>
            <a:ext cx="11021263" cy="336804"/>
          </a:xfrm>
          <a:prstGeom prst="rect">
            <a:avLst/>
          </a:prstGeom>
          <a:solidFill>
            <a:srgbClr val="1824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640080" y="3515867"/>
            <a:ext cx="959479" cy="263652"/>
          </a:xfrm>
          <a:prstGeom prst="rect">
            <a:avLst/>
          </a:prstGeom>
          <a:noFill/>
        </p:spPr>
        <p:txBody>
          <a:bodyPr wrap="square" lIns="45720" rIns="45720" tIns="27432" bIns="27432" anchor="ctr">
            <a:noAutofit/>
          </a:bodyPr>
          <a:lstStyle/>
          <a:p>
            <a:pPr algn="l">
              <a:lnSpc>
                <a:spcPct val="100000"/>
              </a:lnSpc>
            </a:pPr>
            <a:r>
              <a:rPr sz="1250" b="0" i="0">
                <a:solidFill>
                  <a:srgbClr val="F7F2E8"/>
                </a:solidFill>
                <a:latin typeface="Segoe UI Semibold"/>
              </a:rPr>
              <a:t>R3b</a:t>
            </a:r>
          </a:p>
        </p:txBody>
      </p:sp>
      <p:sp>
        <p:nvSpPr>
          <p:cNvPr id="25" name="TextBox 24"/>
          <p:cNvSpPr txBox="1"/>
          <p:nvPr/>
        </p:nvSpPr>
        <p:spPr>
          <a:xfrm>
            <a:off x="1745863" y="3515867"/>
            <a:ext cx="7151869" cy="263652"/>
          </a:xfrm>
          <a:prstGeom prst="rect">
            <a:avLst/>
          </a:prstGeom>
          <a:noFill/>
        </p:spPr>
        <p:txBody>
          <a:bodyPr wrap="square" lIns="45720" rIns="45720" tIns="27432" bIns="27432" anchor="ctr">
            <a:noAutofit/>
          </a:bodyPr>
          <a:lstStyle/>
          <a:p>
            <a:pPr algn="l">
              <a:lnSpc>
                <a:spcPct val="100000"/>
              </a:lnSpc>
            </a:pPr>
            <a:r>
              <a:rPr sz="1250" b="0" i="0">
                <a:solidFill>
                  <a:srgbClr val="A7B2B0"/>
                </a:solidFill>
                <a:latin typeface="Segoe UI"/>
              </a:rPr>
              <a:t>Degradado: tokens_only, compiled_with_errors, operator_required …</a:t>
            </a:r>
          </a:p>
        </p:txBody>
      </p:sp>
      <p:sp>
        <p:nvSpPr>
          <p:cNvPr id="26" name="TextBox 25"/>
          <p:cNvSpPr txBox="1"/>
          <p:nvPr/>
        </p:nvSpPr>
        <p:spPr>
          <a:xfrm>
            <a:off x="9044037" y="3515867"/>
            <a:ext cx="2507577" cy="263652"/>
          </a:xfrm>
          <a:prstGeom prst="rect">
            <a:avLst/>
          </a:prstGeom>
          <a:noFill/>
        </p:spPr>
        <p:txBody>
          <a:bodyPr wrap="square" lIns="45720" rIns="45720" tIns="27432" bIns="27432" anchor="ctr">
            <a:noAutofit/>
          </a:bodyPr>
          <a:lstStyle/>
          <a:p>
            <a:pPr algn="l">
              <a:lnSpc>
                <a:spcPct val="100000"/>
              </a:lnSpc>
            </a:pPr>
            <a:r>
              <a:rPr sz="1250" b="0" i="0">
                <a:solidFill>
                  <a:srgbClr val="A7B2B0"/>
                </a:solidFill>
                <a:latin typeface="Segoe UI"/>
              </a:rPr>
              <a:t>FAILED</a:t>
            </a:r>
          </a:p>
        </p:txBody>
      </p:sp>
      <p:sp>
        <p:nvSpPr>
          <p:cNvPr id="27" name="TextBox 26"/>
          <p:cNvSpPr txBox="1"/>
          <p:nvPr/>
        </p:nvSpPr>
        <p:spPr>
          <a:xfrm>
            <a:off x="640080" y="3852671"/>
            <a:ext cx="959479" cy="263652"/>
          </a:xfrm>
          <a:prstGeom prst="rect">
            <a:avLst/>
          </a:prstGeom>
          <a:noFill/>
        </p:spPr>
        <p:txBody>
          <a:bodyPr wrap="square" lIns="45720" rIns="45720" tIns="27432" bIns="27432" anchor="ctr">
            <a:noAutofit/>
          </a:bodyPr>
          <a:lstStyle/>
          <a:p>
            <a:pPr algn="l">
              <a:lnSpc>
                <a:spcPct val="100000"/>
              </a:lnSpc>
            </a:pPr>
            <a:r>
              <a:rPr sz="1250" b="0" i="0">
                <a:solidFill>
                  <a:srgbClr val="F7F2E8"/>
                </a:solidFill>
                <a:latin typeface="Segoe UI Semibold"/>
              </a:rPr>
              <a:t>R4</a:t>
            </a:r>
          </a:p>
        </p:txBody>
      </p:sp>
      <p:sp>
        <p:nvSpPr>
          <p:cNvPr id="28" name="TextBox 27"/>
          <p:cNvSpPr txBox="1"/>
          <p:nvPr/>
        </p:nvSpPr>
        <p:spPr>
          <a:xfrm>
            <a:off x="1745863" y="3852671"/>
            <a:ext cx="7151869" cy="263652"/>
          </a:xfrm>
          <a:prstGeom prst="rect">
            <a:avLst/>
          </a:prstGeom>
          <a:noFill/>
        </p:spPr>
        <p:txBody>
          <a:bodyPr wrap="square" lIns="45720" rIns="45720" tIns="27432" bIns="27432" anchor="ctr">
            <a:noAutofit/>
          </a:bodyPr>
          <a:lstStyle/>
          <a:p>
            <a:pPr algn="l">
              <a:lnSpc>
                <a:spcPct val="100000"/>
              </a:lnSpc>
            </a:pPr>
            <a:r>
              <a:rPr sz="1250" b="0" i="0">
                <a:solidFill>
                  <a:srgbClr val="A7B2B0"/>
                </a:solidFill>
                <a:latin typeface="Segoe UI"/>
              </a:rPr>
              <a:t>Un diagnóstico terminó: invalid, findings, no_matches, listed …</a:t>
            </a:r>
          </a:p>
        </p:txBody>
      </p:sp>
      <p:sp>
        <p:nvSpPr>
          <p:cNvPr id="29" name="TextBox 28"/>
          <p:cNvSpPr txBox="1"/>
          <p:nvPr/>
        </p:nvSpPr>
        <p:spPr>
          <a:xfrm>
            <a:off x="9044037" y="3852671"/>
            <a:ext cx="2507577" cy="263652"/>
          </a:xfrm>
          <a:prstGeom prst="rect">
            <a:avLst/>
          </a:prstGeom>
          <a:noFill/>
        </p:spPr>
        <p:txBody>
          <a:bodyPr wrap="square" lIns="45720" rIns="45720" tIns="27432" bIns="27432" anchor="ctr">
            <a:noAutofit/>
          </a:bodyPr>
          <a:lstStyle/>
          <a:p>
            <a:pPr algn="l">
              <a:lnSpc>
                <a:spcPct val="100000"/>
              </a:lnSpc>
            </a:pPr>
            <a:r>
              <a:rPr sz="1250" b="0" i="0">
                <a:solidFill>
                  <a:srgbClr val="A7B2B0"/>
                </a:solidFill>
                <a:latin typeface="Segoe UI"/>
              </a:rPr>
              <a:t>SUCCESS</a:t>
            </a:r>
          </a:p>
        </p:txBody>
      </p:sp>
      <p:sp>
        <p:nvSpPr>
          <p:cNvPr id="30" name="Rectangle 29"/>
          <p:cNvSpPr/>
          <p:nvPr/>
        </p:nvSpPr>
        <p:spPr>
          <a:xfrm>
            <a:off x="585216" y="4152899"/>
            <a:ext cx="11021263" cy="336804"/>
          </a:xfrm>
          <a:prstGeom prst="rect">
            <a:avLst/>
          </a:prstGeom>
          <a:solidFill>
            <a:srgbClr val="1824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TextBox 30"/>
          <p:cNvSpPr txBox="1"/>
          <p:nvPr/>
        </p:nvSpPr>
        <p:spPr>
          <a:xfrm>
            <a:off x="640080" y="4189475"/>
            <a:ext cx="959479" cy="263652"/>
          </a:xfrm>
          <a:prstGeom prst="rect">
            <a:avLst/>
          </a:prstGeom>
          <a:noFill/>
        </p:spPr>
        <p:txBody>
          <a:bodyPr wrap="square" lIns="45720" rIns="45720" tIns="27432" bIns="27432" anchor="ctr">
            <a:noAutofit/>
          </a:bodyPr>
          <a:lstStyle/>
          <a:p>
            <a:pPr algn="l">
              <a:lnSpc>
                <a:spcPct val="100000"/>
              </a:lnSpc>
            </a:pPr>
            <a:r>
              <a:rPr sz="1250" b="0" i="0">
                <a:solidFill>
                  <a:srgbClr val="F7F2E8"/>
                </a:solidFill>
                <a:latin typeface="Segoe UI Semibold"/>
              </a:rPr>
              <a:t>R5</a:t>
            </a:r>
          </a:p>
        </p:txBody>
      </p:sp>
      <p:sp>
        <p:nvSpPr>
          <p:cNvPr id="32" name="TextBox 31"/>
          <p:cNvSpPr txBox="1"/>
          <p:nvPr/>
        </p:nvSpPr>
        <p:spPr>
          <a:xfrm>
            <a:off x="1745863" y="4189475"/>
            <a:ext cx="7151869" cy="263652"/>
          </a:xfrm>
          <a:prstGeom prst="rect">
            <a:avLst/>
          </a:prstGeom>
          <a:noFill/>
        </p:spPr>
        <p:txBody>
          <a:bodyPr wrap="square" lIns="45720" rIns="45720" tIns="27432" bIns="27432" anchor="ctr">
            <a:noAutofit/>
          </a:bodyPr>
          <a:lstStyle/>
          <a:p>
            <a:pPr algn="l">
              <a:lnSpc>
                <a:spcPct val="100000"/>
              </a:lnSpc>
            </a:pPr>
            <a:r>
              <a:rPr sz="1250" b="0" i="0">
                <a:solidFill>
                  <a:srgbClr val="A7B2B0"/>
                </a:solidFill>
                <a:latin typeface="Segoe UI"/>
              </a:rPr>
              <a:t>Un flag explícito de success u ok</a:t>
            </a:r>
          </a:p>
        </p:txBody>
      </p:sp>
      <p:sp>
        <p:nvSpPr>
          <p:cNvPr id="33" name="TextBox 32"/>
          <p:cNvSpPr txBox="1"/>
          <p:nvPr/>
        </p:nvSpPr>
        <p:spPr>
          <a:xfrm>
            <a:off x="9044037" y="4189475"/>
            <a:ext cx="2507577" cy="263652"/>
          </a:xfrm>
          <a:prstGeom prst="rect">
            <a:avLst/>
          </a:prstGeom>
          <a:noFill/>
        </p:spPr>
        <p:txBody>
          <a:bodyPr wrap="square" lIns="45720" rIns="45720" tIns="27432" bIns="27432" anchor="ctr">
            <a:noAutofit/>
          </a:bodyPr>
          <a:lstStyle/>
          <a:p>
            <a:pPr algn="l">
              <a:lnSpc>
                <a:spcPct val="100000"/>
              </a:lnSpc>
            </a:pPr>
            <a:r>
              <a:rPr sz="1250" b="0" i="0">
                <a:solidFill>
                  <a:srgbClr val="A7B2B0"/>
                </a:solidFill>
                <a:latin typeface="Segoe UI"/>
              </a:rPr>
              <a:t>Ese flag</a:t>
            </a:r>
          </a:p>
        </p:txBody>
      </p:sp>
      <p:sp>
        <p:nvSpPr>
          <p:cNvPr id="34" name="TextBox 33"/>
          <p:cNvSpPr txBox="1"/>
          <p:nvPr/>
        </p:nvSpPr>
        <p:spPr>
          <a:xfrm>
            <a:off x="640080" y="4526279"/>
            <a:ext cx="959479" cy="263652"/>
          </a:xfrm>
          <a:prstGeom prst="rect">
            <a:avLst/>
          </a:prstGeom>
          <a:noFill/>
        </p:spPr>
        <p:txBody>
          <a:bodyPr wrap="square" lIns="45720" rIns="45720" tIns="27432" bIns="27432" anchor="ctr">
            <a:noAutofit/>
          </a:bodyPr>
          <a:lstStyle/>
          <a:p>
            <a:pPr algn="l">
              <a:lnSpc>
                <a:spcPct val="100000"/>
              </a:lnSpc>
            </a:pPr>
            <a:r>
              <a:rPr sz="1250" b="0" i="0">
                <a:solidFill>
                  <a:srgbClr val="F7F2E8"/>
                </a:solidFill>
                <a:latin typeface="Segoe UI Semibold"/>
              </a:rPr>
              <a:t>R6</a:t>
            </a:r>
          </a:p>
        </p:txBody>
      </p:sp>
      <p:sp>
        <p:nvSpPr>
          <p:cNvPr id="35" name="TextBox 34"/>
          <p:cNvSpPr txBox="1"/>
          <p:nvPr/>
        </p:nvSpPr>
        <p:spPr>
          <a:xfrm>
            <a:off x="1745863" y="4526279"/>
            <a:ext cx="7151869" cy="263652"/>
          </a:xfrm>
          <a:prstGeom prst="rect">
            <a:avLst/>
          </a:prstGeom>
          <a:noFill/>
        </p:spPr>
        <p:txBody>
          <a:bodyPr wrap="square" lIns="45720" rIns="45720" tIns="27432" bIns="27432" anchor="ctr">
            <a:noAutofit/>
          </a:bodyPr>
          <a:lstStyle/>
          <a:p>
            <a:pPr algn="l">
              <a:lnSpc>
                <a:spcPct val="100000"/>
              </a:lnSpc>
            </a:pPr>
            <a:r>
              <a:rPr sz="1250" b="0" i="0">
                <a:solidFill>
                  <a:srgbClr val="A7B2B0"/>
                </a:solidFill>
                <a:latin typeface="Segoe UI"/>
              </a:rPr>
              <a:t>Un conteo de errors distinto de cero</a:t>
            </a:r>
          </a:p>
        </p:txBody>
      </p:sp>
      <p:sp>
        <p:nvSpPr>
          <p:cNvPr id="36" name="TextBox 35"/>
          <p:cNvSpPr txBox="1"/>
          <p:nvPr/>
        </p:nvSpPr>
        <p:spPr>
          <a:xfrm>
            <a:off x="9044037" y="4526279"/>
            <a:ext cx="2507577" cy="263652"/>
          </a:xfrm>
          <a:prstGeom prst="rect">
            <a:avLst/>
          </a:prstGeom>
          <a:noFill/>
        </p:spPr>
        <p:txBody>
          <a:bodyPr wrap="square" lIns="45720" rIns="45720" tIns="27432" bIns="27432" anchor="ctr">
            <a:noAutofit/>
          </a:bodyPr>
          <a:lstStyle/>
          <a:p>
            <a:pPr algn="l">
              <a:lnSpc>
                <a:spcPct val="100000"/>
              </a:lnSpc>
            </a:pPr>
            <a:r>
              <a:rPr sz="1250" b="0" i="0">
                <a:solidFill>
                  <a:srgbClr val="A7B2B0"/>
                </a:solidFill>
                <a:latin typeface="Segoe UI"/>
              </a:rPr>
              <a:t>FAILED</a:t>
            </a:r>
          </a:p>
        </p:txBody>
      </p:sp>
      <p:sp>
        <p:nvSpPr>
          <p:cNvPr id="37" name="Rectangle 36"/>
          <p:cNvSpPr/>
          <p:nvPr/>
        </p:nvSpPr>
        <p:spPr>
          <a:xfrm>
            <a:off x="585216" y="4826507"/>
            <a:ext cx="11021263" cy="336804"/>
          </a:xfrm>
          <a:prstGeom prst="rect">
            <a:avLst/>
          </a:prstGeom>
          <a:solidFill>
            <a:srgbClr val="1824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8" name="TextBox 37"/>
          <p:cNvSpPr txBox="1"/>
          <p:nvPr/>
        </p:nvSpPr>
        <p:spPr>
          <a:xfrm>
            <a:off x="640080" y="4863083"/>
            <a:ext cx="959479" cy="263652"/>
          </a:xfrm>
          <a:prstGeom prst="rect">
            <a:avLst/>
          </a:prstGeom>
          <a:noFill/>
        </p:spPr>
        <p:txBody>
          <a:bodyPr wrap="square" lIns="45720" rIns="45720" tIns="27432" bIns="27432" anchor="ctr">
            <a:noAutofit/>
          </a:bodyPr>
          <a:lstStyle/>
          <a:p>
            <a:pPr algn="l">
              <a:lnSpc>
                <a:spcPct val="100000"/>
              </a:lnSpc>
            </a:pPr>
            <a:r>
              <a:rPr sz="1250" b="0" i="0">
                <a:solidFill>
                  <a:srgbClr val="F7F2E8"/>
                </a:solidFill>
                <a:latin typeface="Segoe UI Semibold"/>
              </a:rPr>
              <a:t>R7</a:t>
            </a:r>
          </a:p>
        </p:txBody>
      </p:sp>
      <p:sp>
        <p:nvSpPr>
          <p:cNvPr id="39" name="TextBox 38"/>
          <p:cNvSpPr txBox="1"/>
          <p:nvPr/>
        </p:nvSpPr>
        <p:spPr>
          <a:xfrm>
            <a:off x="1745863" y="4863083"/>
            <a:ext cx="7151869" cy="263652"/>
          </a:xfrm>
          <a:prstGeom prst="rect">
            <a:avLst/>
          </a:prstGeom>
          <a:noFill/>
        </p:spPr>
        <p:txBody>
          <a:bodyPr wrap="square" lIns="45720" rIns="45720" tIns="27432" bIns="27432" anchor="ctr">
            <a:noAutofit/>
          </a:bodyPr>
          <a:lstStyle/>
          <a:p>
            <a:pPr algn="l">
              <a:lnSpc>
                <a:spcPct val="100000"/>
              </a:lnSpc>
            </a:pPr>
            <a:r>
              <a:rPr sz="1250" b="0" i="0">
                <a:solidFill>
                  <a:srgbClr val="A7B2B0"/>
                </a:solidFill>
                <a:latin typeface="Segoe UI"/>
              </a:rPr>
              <a:t>Nada decisivo y un código de salida distinto de cero</a:t>
            </a:r>
          </a:p>
        </p:txBody>
      </p:sp>
      <p:sp>
        <p:nvSpPr>
          <p:cNvPr id="40" name="TextBox 39"/>
          <p:cNvSpPr txBox="1"/>
          <p:nvPr/>
        </p:nvSpPr>
        <p:spPr>
          <a:xfrm>
            <a:off x="9044037" y="4863083"/>
            <a:ext cx="2507577" cy="263652"/>
          </a:xfrm>
          <a:prstGeom prst="rect">
            <a:avLst/>
          </a:prstGeom>
          <a:noFill/>
        </p:spPr>
        <p:txBody>
          <a:bodyPr wrap="square" lIns="45720" rIns="45720" tIns="27432" bIns="27432" anchor="ctr">
            <a:noAutofit/>
          </a:bodyPr>
          <a:lstStyle/>
          <a:p>
            <a:pPr algn="l">
              <a:lnSpc>
                <a:spcPct val="100000"/>
              </a:lnSpc>
            </a:pPr>
            <a:r>
              <a:rPr sz="1250" b="0" i="0">
                <a:solidFill>
                  <a:srgbClr val="A7B2B0"/>
                </a:solidFill>
                <a:latin typeface="Segoe UI"/>
              </a:rPr>
              <a:t>FAILED</a:t>
            </a:r>
          </a:p>
        </p:txBody>
      </p:sp>
      <p:sp>
        <p:nvSpPr>
          <p:cNvPr id="41" name="TextBox 40"/>
          <p:cNvSpPr txBox="1"/>
          <p:nvPr/>
        </p:nvSpPr>
        <p:spPr>
          <a:xfrm>
            <a:off x="640080" y="5199887"/>
            <a:ext cx="959479" cy="263652"/>
          </a:xfrm>
          <a:prstGeom prst="rect">
            <a:avLst/>
          </a:prstGeom>
          <a:noFill/>
        </p:spPr>
        <p:txBody>
          <a:bodyPr wrap="square" lIns="45720" rIns="45720" tIns="27432" bIns="27432" anchor="ctr">
            <a:noAutofit/>
          </a:bodyPr>
          <a:lstStyle/>
          <a:p>
            <a:pPr algn="l">
              <a:lnSpc>
                <a:spcPct val="100000"/>
              </a:lnSpc>
            </a:pPr>
            <a:r>
              <a:rPr sz="1250" b="0" i="0">
                <a:solidFill>
                  <a:srgbClr val="F7F2E8"/>
                </a:solidFill>
                <a:latin typeface="Segoe UI Semibold"/>
              </a:rPr>
              <a:t>R7b</a:t>
            </a:r>
          </a:p>
        </p:txBody>
      </p:sp>
      <p:sp>
        <p:nvSpPr>
          <p:cNvPr id="42" name="TextBox 41"/>
          <p:cNvSpPr txBox="1"/>
          <p:nvPr/>
        </p:nvSpPr>
        <p:spPr>
          <a:xfrm>
            <a:off x="1745863" y="5199887"/>
            <a:ext cx="7151869" cy="263652"/>
          </a:xfrm>
          <a:prstGeom prst="rect">
            <a:avLst/>
          </a:prstGeom>
          <a:noFill/>
        </p:spPr>
        <p:txBody>
          <a:bodyPr wrap="square" lIns="45720" rIns="45720" tIns="27432" bIns="27432" anchor="ctr">
            <a:noAutofit/>
          </a:bodyPr>
          <a:lstStyle/>
          <a:p>
            <a:pPr algn="l">
              <a:lnSpc>
                <a:spcPct val="100000"/>
              </a:lnSpc>
            </a:pPr>
            <a:r>
              <a:rPr sz="1250" b="0" i="0">
                <a:solidFill>
                  <a:srgbClr val="A7B2B0"/>
                </a:solidFill>
                <a:latin typeface="Segoe UI"/>
              </a:rPr>
              <a:t>Una terminación nombrada: ok, created, sent …</a:t>
            </a:r>
          </a:p>
        </p:txBody>
      </p:sp>
      <p:sp>
        <p:nvSpPr>
          <p:cNvPr id="43" name="TextBox 42"/>
          <p:cNvSpPr txBox="1"/>
          <p:nvPr/>
        </p:nvSpPr>
        <p:spPr>
          <a:xfrm>
            <a:off x="9044037" y="5199887"/>
            <a:ext cx="2507577" cy="263652"/>
          </a:xfrm>
          <a:prstGeom prst="rect">
            <a:avLst/>
          </a:prstGeom>
          <a:noFill/>
        </p:spPr>
        <p:txBody>
          <a:bodyPr wrap="square" lIns="45720" rIns="45720" tIns="27432" bIns="27432" anchor="ctr">
            <a:noAutofit/>
          </a:bodyPr>
          <a:lstStyle/>
          <a:p>
            <a:pPr algn="l">
              <a:lnSpc>
                <a:spcPct val="100000"/>
              </a:lnSpc>
            </a:pPr>
            <a:r>
              <a:rPr sz="1250" b="0" i="0">
                <a:solidFill>
                  <a:srgbClr val="A7B2B0"/>
                </a:solidFill>
                <a:latin typeface="Segoe UI"/>
              </a:rPr>
              <a:t>SUCCESS</a:t>
            </a:r>
          </a:p>
        </p:txBody>
      </p:sp>
      <p:sp>
        <p:nvSpPr>
          <p:cNvPr id="44" name="Rectangle 43"/>
          <p:cNvSpPr/>
          <p:nvPr/>
        </p:nvSpPr>
        <p:spPr>
          <a:xfrm>
            <a:off x="585216" y="5500115"/>
            <a:ext cx="11021263" cy="336804"/>
          </a:xfrm>
          <a:prstGeom prst="rect">
            <a:avLst/>
          </a:prstGeom>
          <a:solidFill>
            <a:srgbClr val="1824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5" name="TextBox 44"/>
          <p:cNvSpPr txBox="1"/>
          <p:nvPr/>
        </p:nvSpPr>
        <p:spPr>
          <a:xfrm>
            <a:off x="640080" y="5536691"/>
            <a:ext cx="959479" cy="263652"/>
          </a:xfrm>
          <a:prstGeom prst="rect">
            <a:avLst/>
          </a:prstGeom>
          <a:noFill/>
        </p:spPr>
        <p:txBody>
          <a:bodyPr wrap="square" lIns="45720" rIns="45720" tIns="27432" bIns="27432" anchor="ctr">
            <a:noAutofit/>
          </a:bodyPr>
          <a:lstStyle/>
          <a:p>
            <a:pPr algn="l">
              <a:lnSpc>
                <a:spcPct val="100000"/>
              </a:lnSpc>
            </a:pPr>
            <a:r>
              <a:rPr sz="1250" b="0" i="0">
                <a:solidFill>
                  <a:srgbClr val="F7F2E8"/>
                </a:solidFill>
                <a:latin typeface="Segoe UI Semibold"/>
              </a:rPr>
              <a:t>R8b</a:t>
            </a:r>
          </a:p>
        </p:txBody>
      </p:sp>
      <p:sp>
        <p:nvSpPr>
          <p:cNvPr id="46" name="TextBox 45"/>
          <p:cNvSpPr txBox="1"/>
          <p:nvPr/>
        </p:nvSpPr>
        <p:spPr>
          <a:xfrm>
            <a:off x="1745863" y="5536691"/>
            <a:ext cx="7151869" cy="263652"/>
          </a:xfrm>
          <a:prstGeom prst="rect">
            <a:avLst/>
          </a:prstGeom>
          <a:noFill/>
        </p:spPr>
        <p:txBody>
          <a:bodyPr wrap="square" lIns="45720" rIns="45720" tIns="27432" bIns="27432" anchor="ctr">
            <a:noAutofit/>
          </a:bodyPr>
          <a:lstStyle/>
          <a:p>
            <a:pPr algn="l">
              <a:lnSpc>
                <a:spcPct val="100000"/>
              </a:lnSpc>
            </a:pPr>
            <a:r>
              <a:rPr sz="1250" b="0" i="0">
                <a:solidFill>
                  <a:srgbClr val="A7B2B0"/>
                </a:solidFill>
                <a:latin typeface="Segoe UI"/>
              </a:rPr>
              <a:t>Un token de status fuera del vocabulario</a:t>
            </a:r>
          </a:p>
        </p:txBody>
      </p:sp>
      <p:sp>
        <p:nvSpPr>
          <p:cNvPr id="47" name="TextBox 46"/>
          <p:cNvSpPr txBox="1"/>
          <p:nvPr/>
        </p:nvSpPr>
        <p:spPr>
          <a:xfrm>
            <a:off x="9044037" y="5536691"/>
            <a:ext cx="2507577" cy="263652"/>
          </a:xfrm>
          <a:prstGeom prst="rect">
            <a:avLst/>
          </a:prstGeom>
          <a:noFill/>
        </p:spPr>
        <p:txBody>
          <a:bodyPr wrap="square" lIns="45720" rIns="45720" tIns="27432" bIns="27432" anchor="ctr">
            <a:noAutofit/>
          </a:bodyPr>
          <a:lstStyle/>
          <a:p>
            <a:pPr algn="l">
              <a:lnSpc>
                <a:spcPct val="100000"/>
              </a:lnSpc>
            </a:pPr>
            <a:r>
              <a:rPr sz="1250" b="0" i="0">
                <a:solidFill>
                  <a:srgbClr val="A7B2B0"/>
                </a:solidFill>
                <a:latin typeface="Segoe UI"/>
              </a:rPr>
              <a:t>SUCCESS, marcado</a:t>
            </a:r>
          </a:p>
        </p:txBody>
      </p:sp>
      <p:sp>
        <p:nvSpPr>
          <p:cNvPr id="48" name="TextBox 47"/>
          <p:cNvSpPr txBox="1"/>
          <p:nvPr/>
        </p:nvSpPr>
        <p:spPr>
          <a:xfrm>
            <a:off x="640080" y="5873495"/>
            <a:ext cx="959479" cy="263652"/>
          </a:xfrm>
          <a:prstGeom prst="rect">
            <a:avLst/>
          </a:prstGeom>
          <a:noFill/>
        </p:spPr>
        <p:txBody>
          <a:bodyPr wrap="square" lIns="45720" rIns="45720" tIns="27432" bIns="27432" anchor="ctr">
            <a:noAutofit/>
          </a:bodyPr>
          <a:lstStyle/>
          <a:p>
            <a:pPr algn="l">
              <a:lnSpc>
                <a:spcPct val="100000"/>
              </a:lnSpc>
            </a:pPr>
            <a:r>
              <a:rPr sz="1250" b="0" i="0">
                <a:solidFill>
                  <a:srgbClr val="F7F2E8"/>
                </a:solidFill>
                <a:latin typeface="Segoe UI Semibold"/>
              </a:rPr>
              <a:t>R8</a:t>
            </a:r>
          </a:p>
        </p:txBody>
      </p:sp>
      <p:sp>
        <p:nvSpPr>
          <p:cNvPr id="49" name="TextBox 48"/>
          <p:cNvSpPr txBox="1"/>
          <p:nvPr/>
        </p:nvSpPr>
        <p:spPr>
          <a:xfrm>
            <a:off x="1745863" y="5873495"/>
            <a:ext cx="7151869" cy="263652"/>
          </a:xfrm>
          <a:prstGeom prst="rect">
            <a:avLst/>
          </a:prstGeom>
          <a:noFill/>
        </p:spPr>
        <p:txBody>
          <a:bodyPr wrap="square" lIns="45720" rIns="45720" tIns="27432" bIns="27432" anchor="ctr">
            <a:noAutofit/>
          </a:bodyPr>
          <a:lstStyle/>
          <a:p>
            <a:pPr algn="l">
              <a:lnSpc>
                <a:spcPct val="100000"/>
              </a:lnSpc>
            </a:pPr>
            <a:r>
              <a:rPr sz="1250" b="0" i="0">
                <a:solidFill>
                  <a:srgbClr val="A7B2B0"/>
                </a:solidFill>
                <a:latin typeface="Segoe UI"/>
              </a:rPr>
              <a:t>Ninguna señal de falla en absoluto</a:t>
            </a:r>
          </a:p>
        </p:txBody>
      </p:sp>
      <p:sp>
        <p:nvSpPr>
          <p:cNvPr id="50" name="TextBox 49"/>
          <p:cNvSpPr txBox="1"/>
          <p:nvPr/>
        </p:nvSpPr>
        <p:spPr>
          <a:xfrm>
            <a:off x="9044037" y="5873495"/>
            <a:ext cx="2507577" cy="263652"/>
          </a:xfrm>
          <a:prstGeom prst="rect">
            <a:avLst/>
          </a:prstGeom>
          <a:noFill/>
        </p:spPr>
        <p:txBody>
          <a:bodyPr wrap="square" lIns="45720" rIns="45720" tIns="27432" bIns="27432" anchor="ctr">
            <a:noAutofit/>
          </a:bodyPr>
          <a:lstStyle/>
          <a:p>
            <a:pPr algn="l">
              <a:lnSpc>
                <a:spcPct val="100000"/>
              </a:lnSpc>
            </a:pPr>
            <a:r>
              <a:rPr sz="1250" b="0" i="0">
                <a:solidFill>
                  <a:srgbClr val="A7B2B0"/>
                </a:solidFill>
                <a:latin typeface="Segoe UI"/>
              </a:rPr>
              <a:t>SUCCESS</a:t>
            </a:r>
          </a:p>
        </p:txBody>
      </p:sp>
      <p:cxnSp>
        <p:nvCxnSpPr>
          <p:cNvPr id="51" name="Connector 50"/>
          <p:cNvCxnSpPr/>
          <p:nvPr/>
        </p:nvCxnSpPr>
        <p:spPr>
          <a:xfrm>
            <a:off x="566928" y="6373368"/>
            <a:ext cx="11057839" cy="0"/>
          </a:xfrm>
          <a:prstGeom prst="line">
            <a:avLst/>
          </a:prstGeom>
          <a:ln w="7620">
            <a:solidFill>
              <a:srgbClr val="2A3A40"/>
            </a:solidFill>
          </a:ln>
        </p:spPr>
        <p:style>
          <a:lnRef idx="2">
            <a:schemeClr val="accent1"/>
          </a:lnRef>
          <a:fillRef idx="0">
            <a:schemeClr val="accent1"/>
          </a:fillRef>
          <a:effectRef idx="1">
            <a:schemeClr val="accent1"/>
          </a:effectRef>
          <a:fontRef idx="minor">
            <a:schemeClr val="tx1"/>
          </a:fontRef>
        </p:style>
      </p:cxnSp>
      <p:sp>
        <p:nvSpPr>
          <p:cNvPr id="52" name="TextBox 51"/>
          <p:cNvSpPr txBox="1"/>
          <p:nvPr/>
        </p:nvSpPr>
        <p:spPr>
          <a:xfrm>
            <a:off x="566928" y="6419088"/>
            <a:ext cx="6858000" cy="274320"/>
          </a:xfrm>
          <a:prstGeom prst="rect">
            <a:avLst/>
          </a:prstGeom>
          <a:noFill/>
        </p:spPr>
        <p:txBody>
          <a:bodyPr wrap="square" lIns="45720" rIns="45720" tIns="27432" bIns="27432" anchor="t">
            <a:noAutofit/>
          </a:bodyPr>
          <a:lstStyle/>
          <a:p>
            <a:pPr algn="l">
              <a:lnSpc>
                <a:spcPct val="100000"/>
              </a:lnSpc>
            </a:pPr>
            <a:r>
              <a:rPr sz="850" b="0" i="0" spc="120">
                <a:solidFill>
                  <a:srgbClr val="A7B2B0"/>
                </a:solidFill>
                <a:latin typeface="Segoe UI Semibold"/>
              </a:rPr>
              <a:t>TLAMATINI  ·  II · CÓMO FUNCIONA</a:t>
            </a:r>
          </a:p>
        </p:txBody>
      </p:sp>
      <p:sp>
        <p:nvSpPr>
          <p:cNvPr id="53" name="TextBox 52"/>
          <p:cNvSpPr txBox="1"/>
          <p:nvPr/>
        </p:nvSpPr>
        <p:spPr>
          <a:xfrm>
            <a:off x="8698687" y="6419088"/>
            <a:ext cx="2926080" cy="274320"/>
          </a:xfrm>
          <a:prstGeom prst="rect">
            <a:avLst/>
          </a:prstGeom>
          <a:noFill/>
        </p:spPr>
        <p:txBody>
          <a:bodyPr wrap="square" lIns="45720" rIns="45720" tIns="27432" bIns="27432" anchor="t">
            <a:noAutofit/>
          </a:bodyPr>
          <a:lstStyle/>
          <a:p>
            <a:pPr algn="r">
              <a:lnSpc>
                <a:spcPct val="100000"/>
              </a:lnSpc>
            </a:pPr>
            <a:r>
              <a:rPr sz="850" b="0" i="0" spc="100">
                <a:solidFill>
                  <a:srgbClr val="A7B2B0"/>
                </a:solidFill>
                <a:latin typeface="Segoe UI Semibold"/>
              </a:rPr>
              <a:t>v1.91.1   ·   20</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content.png"/>
          <p:cNvPicPr>
            <a:picLocks noChangeAspect="1"/>
          </p:cNvPicPr>
          <p:nvPr/>
        </p:nvPicPr>
        <p:blipFill>
          <a:blip r:embed="rId2"/>
          <a:stretch>
            <a:fillRect/>
          </a:stretch>
        </p:blipFill>
        <p:spPr>
          <a:xfrm>
            <a:off x="0" y="0"/>
            <a:ext cx="12191695" cy="6858000"/>
          </a:xfrm>
          <a:prstGeom prst="rect">
            <a:avLst/>
          </a:prstGeom>
        </p:spPr>
      </p:pic>
      <p:sp>
        <p:nvSpPr>
          <p:cNvPr id="3" name="Diamond 2"/>
          <p:cNvSpPr/>
          <p:nvPr/>
        </p:nvSpPr>
        <p:spPr>
          <a:xfrm>
            <a:off x="566928" y="457200"/>
            <a:ext cx="100584" cy="100584"/>
          </a:xfrm>
          <a:prstGeom prst="diamond">
            <a:avLst/>
          </a:prstGeom>
          <a:solidFill>
            <a:srgbClr val="C984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49808" y="365760"/>
            <a:ext cx="8229600" cy="292608"/>
          </a:xfrm>
          <a:prstGeom prst="rect">
            <a:avLst/>
          </a:prstGeom>
          <a:noFill/>
        </p:spPr>
        <p:txBody>
          <a:bodyPr wrap="square" lIns="45720" rIns="45720" tIns="27432" bIns="27432" anchor="t">
            <a:noAutofit/>
          </a:bodyPr>
          <a:lstStyle/>
          <a:p>
            <a:pPr algn="l">
              <a:lnSpc>
                <a:spcPct val="100000"/>
              </a:lnSpc>
            </a:pPr>
            <a:r>
              <a:rPr sz="1100" b="0" i="0" spc="240">
                <a:solidFill>
                  <a:srgbClr val="C98457"/>
                </a:solidFill>
                <a:latin typeface="Segoe UI Semibold"/>
              </a:rPr>
              <a:t>EXEC REPORT</a:t>
            </a:r>
          </a:p>
        </p:txBody>
      </p:sp>
      <p:sp>
        <p:nvSpPr>
          <p:cNvPr id="5" name="TextBox 4"/>
          <p:cNvSpPr txBox="1"/>
          <p:nvPr/>
        </p:nvSpPr>
        <p:spPr>
          <a:xfrm>
            <a:off x="539496" y="676656"/>
            <a:ext cx="11057839" cy="658368"/>
          </a:xfrm>
          <a:prstGeom prst="rect">
            <a:avLst/>
          </a:prstGeom>
          <a:noFill/>
        </p:spPr>
        <p:txBody>
          <a:bodyPr wrap="square" lIns="45720" rIns="45720" tIns="27432" bIns="27432" anchor="t">
            <a:noAutofit/>
          </a:bodyPr>
          <a:lstStyle/>
          <a:p>
            <a:pPr algn="l">
              <a:lnSpc>
                <a:spcPct val="100000"/>
              </a:lnSpc>
            </a:pPr>
            <a:r>
              <a:rPr sz="3100" b="0" i="0">
                <a:solidFill>
                  <a:srgbClr val="F7F2E8"/>
                </a:solidFill>
                <a:latin typeface="Palatino Linotype"/>
              </a:rPr>
              <a:t>Por qué R4 supera a R5 y R6</a:t>
            </a:r>
          </a:p>
        </p:txBody>
      </p:sp>
      <p:sp>
        <p:nvSpPr>
          <p:cNvPr id="6" name="Rectangle 5"/>
          <p:cNvSpPr/>
          <p:nvPr/>
        </p:nvSpPr>
        <p:spPr>
          <a:xfrm>
            <a:off x="566928" y="1344168"/>
            <a:ext cx="822960" cy="36576"/>
          </a:xfrm>
          <a:prstGeom prst="rect">
            <a:avLst/>
          </a:prstGeom>
          <a:solidFill>
            <a:srgbClr val="C984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ounded Rectangle 6"/>
          <p:cNvSpPr/>
          <p:nvPr/>
        </p:nvSpPr>
        <p:spPr>
          <a:xfrm>
            <a:off x="566928" y="1810511"/>
            <a:ext cx="11057839" cy="3291840"/>
          </a:xfrm>
          <a:prstGeom prst="roundRect">
            <a:avLst>
              <a:gd name="adj" fmla="val 4444"/>
            </a:avLst>
          </a:prstGeom>
          <a:solidFill>
            <a:srgbClr val="121A1D"/>
          </a:solidFill>
          <a:ln w="19050">
            <a:solidFill>
              <a:srgbClr val="C98457"/>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ectangle 7"/>
          <p:cNvSpPr/>
          <p:nvPr/>
        </p:nvSpPr>
        <p:spPr>
          <a:xfrm>
            <a:off x="566928" y="1810511"/>
            <a:ext cx="109728" cy="3291840"/>
          </a:xfrm>
          <a:prstGeom prst="rect">
            <a:avLst/>
          </a:prstGeom>
          <a:solidFill>
            <a:srgbClr val="C984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115568" y="2039112"/>
            <a:ext cx="9960559" cy="2834640"/>
          </a:xfrm>
          <a:prstGeom prst="rect">
            <a:avLst/>
          </a:prstGeom>
          <a:noFill/>
        </p:spPr>
        <p:txBody>
          <a:bodyPr wrap="square" lIns="45720" rIns="45720" tIns="27432" bIns="27432" anchor="ctr">
            <a:noAutofit/>
          </a:bodyPr>
          <a:lstStyle/>
          <a:p>
            <a:pPr algn="l">
              <a:lnSpc>
                <a:spcPct val="100000"/>
              </a:lnSpc>
            </a:pPr>
            <a:r>
              <a:rPr sz="2600" b="0" i="0">
                <a:solidFill>
                  <a:srgbClr val="F7F2E8"/>
                </a:solidFill>
                <a:latin typeface="Segoe UI Light"/>
              </a:rPr>
              <a:t>Un linter que funcionó perfectamente reporta </a:t>
            </a:r>
            <a:r>
              <a:rPr sz="2400" b="0" i="0">
                <a:solidFill>
                  <a:srgbClr val="E2B462"/>
                </a:solidFill>
                <a:latin typeface="Consolas"/>
              </a:rPr>
              <a:t>status: invalid</a:t>
            </a:r>
            <a:r>
              <a:rPr sz="2600" b="0" i="0">
                <a:solidFill>
                  <a:srgbClr val="F7F2E8"/>
                </a:solidFill>
                <a:latin typeface="Segoe UI Light"/>
              </a:rPr>
              <a:t>, </a:t>
            </a:r>
            <a:r>
              <a:rPr sz="2400" b="0" i="0">
                <a:solidFill>
                  <a:srgbClr val="E2B462"/>
                </a:solidFill>
                <a:latin typeface="Consolas"/>
              </a:rPr>
              <a:t>success: False</a:t>
            </a:r>
            <a:r>
              <a:rPr sz="2600" b="0" i="0">
                <a:solidFill>
                  <a:srgbClr val="F7F2E8"/>
                </a:solidFill>
                <a:latin typeface="Segoe UI Light"/>
              </a:rPr>
              <a:t> y </a:t>
            </a:r>
            <a:r>
              <a:rPr sz="2400" b="0" i="0">
                <a:solidFill>
                  <a:srgbClr val="E2B462"/>
                </a:solidFill>
                <a:latin typeface="Consolas"/>
              </a:rPr>
              <a:t>errors: 2</a:t>
            </a:r>
            <a:r>
              <a:rPr sz="2600" b="0" i="0">
                <a:solidFill>
                  <a:srgbClr val="F7F2E8"/>
                </a:solidFill>
                <a:latin typeface="Segoe UI Light"/>
              </a:rPr>
              <a:t> juntos. Los últimos dos describen el documento, no el agent.</a:t>
            </a:r>
          </a:p>
        </p:txBody>
      </p:sp>
      <p:sp>
        <p:nvSpPr>
          <p:cNvPr id="10" name="TextBox 9"/>
          <p:cNvSpPr txBox="1"/>
          <p:nvPr/>
        </p:nvSpPr>
        <p:spPr>
          <a:xfrm>
            <a:off x="566928" y="5230368"/>
            <a:ext cx="11057839" cy="457200"/>
          </a:xfrm>
          <a:prstGeom prst="rect">
            <a:avLst/>
          </a:prstGeom>
          <a:noFill/>
        </p:spPr>
        <p:txBody>
          <a:bodyPr wrap="square" lIns="45720" rIns="45720" tIns="27432" bIns="27432" anchor="t">
            <a:noAutofit/>
          </a:bodyPr>
          <a:lstStyle/>
          <a:p>
            <a:pPr algn="l">
              <a:lnSpc>
                <a:spcPct val="100000"/>
              </a:lnSpc>
            </a:pPr>
            <a:r>
              <a:rPr sz="1300" b="0" i="1">
                <a:solidFill>
                  <a:srgbClr val="A7B2B0"/>
                </a:solidFill>
                <a:latin typeface="Segoe UI"/>
              </a:rPr>
              <a:t>De “Un veredicto en el que puedes confiar”</a:t>
            </a:r>
          </a:p>
        </p:txBody>
      </p:sp>
      <p:cxnSp>
        <p:nvCxnSpPr>
          <p:cNvPr id="11" name="Connector 10"/>
          <p:cNvCxnSpPr/>
          <p:nvPr/>
        </p:nvCxnSpPr>
        <p:spPr>
          <a:xfrm>
            <a:off x="566928" y="6373368"/>
            <a:ext cx="11057839" cy="0"/>
          </a:xfrm>
          <a:prstGeom prst="line">
            <a:avLst/>
          </a:prstGeom>
          <a:ln w="7620">
            <a:solidFill>
              <a:srgbClr val="2A3A40"/>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566928" y="6419088"/>
            <a:ext cx="6858000" cy="274320"/>
          </a:xfrm>
          <a:prstGeom prst="rect">
            <a:avLst/>
          </a:prstGeom>
          <a:noFill/>
        </p:spPr>
        <p:txBody>
          <a:bodyPr wrap="square" lIns="45720" rIns="45720" tIns="27432" bIns="27432" anchor="t">
            <a:noAutofit/>
          </a:bodyPr>
          <a:lstStyle/>
          <a:p>
            <a:pPr algn="l">
              <a:lnSpc>
                <a:spcPct val="100000"/>
              </a:lnSpc>
            </a:pPr>
            <a:r>
              <a:rPr sz="850" b="0" i="0" spc="120">
                <a:solidFill>
                  <a:srgbClr val="A7B2B0"/>
                </a:solidFill>
                <a:latin typeface="Segoe UI Semibold"/>
              </a:rPr>
              <a:t>TLAMATINI  ·  II · CÓMO FUNCIONA</a:t>
            </a:r>
          </a:p>
        </p:txBody>
      </p:sp>
      <p:sp>
        <p:nvSpPr>
          <p:cNvPr id="13" name="TextBox 12"/>
          <p:cNvSpPr txBox="1"/>
          <p:nvPr/>
        </p:nvSpPr>
        <p:spPr>
          <a:xfrm>
            <a:off x="8698687" y="6419088"/>
            <a:ext cx="2926080" cy="274320"/>
          </a:xfrm>
          <a:prstGeom prst="rect">
            <a:avLst/>
          </a:prstGeom>
          <a:noFill/>
        </p:spPr>
        <p:txBody>
          <a:bodyPr wrap="square" lIns="45720" rIns="45720" tIns="27432" bIns="27432" anchor="t">
            <a:noAutofit/>
          </a:bodyPr>
          <a:lstStyle/>
          <a:p>
            <a:pPr algn="r">
              <a:lnSpc>
                <a:spcPct val="100000"/>
              </a:lnSpc>
            </a:pPr>
            <a:r>
              <a:rPr sz="850" b="0" i="0" spc="100">
                <a:solidFill>
                  <a:srgbClr val="A7B2B0"/>
                </a:solidFill>
                <a:latin typeface="Segoe UI Semibold"/>
              </a:rPr>
              <a:t>v1.91.1   ·   21</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content.png"/>
          <p:cNvPicPr>
            <a:picLocks noChangeAspect="1"/>
          </p:cNvPicPr>
          <p:nvPr/>
        </p:nvPicPr>
        <p:blipFill>
          <a:blip r:embed="rId2"/>
          <a:stretch>
            <a:fillRect/>
          </a:stretch>
        </p:blipFill>
        <p:spPr>
          <a:xfrm>
            <a:off x="0" y="0"/>
            <a:ext cx="12191695" cy="6858000"/>
          </a:xfrm>
          <a:prstGeom prst="rect">
            <a:avLst/>
          </a:prstGeom>
        </p:spPr>
      </p:pic>
      <p:sp>
        <p:nvSpPr>
          <p:cNvPr id="3" name="Diamond 2"/>
          <p:cNvSpPr/>
          <p:nvPr/>
        </p:nvSpPr>
        <p:spPr>
          <a:xfrm>
            <a:off x="566928" y="457200"/>
            <a:ext cx="100584" cy="100584"/>
          </a:xfrm>
          <a:prstGeom prst="diamond">
            <a:avLst/>
          </a:prstGeom>
          <a:solidFill>
            <a:srgbClr val="C984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49808" y="365760"/>
            <a:ext cx="8229600" cy="292608"/>
          </a:xfrm>
          <a:prstGeom prst="rect">
            <a:avLst/>
          </a:prstGeom>
          <a:noFill/>
        </p:spPr>
        <p:txBody>
          <a:bodyPr wrap="square" lIns="45720" rIns="45720" tIns="27432" bIns="27432" anchor="t">
            <a:noAutofit/>
          </a:bodyPr>
          <a:lstStyle/>
          <a:p>
            <a:pPr algn="l">
              <a:lnSpc>
                <a:spcPct val="100000"/>
              </a:lnSpc>
            </a:pPr>
            <a:r>
              <a:rPr sz="1100" b="0" i="0" spc="240">
                <a:solidFill>
                  <a:srgbClr val="C98457"/>
                </a:solidFill>
                <a:latin typeface="Segoe UI Semibold"/>
              </a:rPr>
              <a:t>PERMISO</a:t>
            </a:r>
          </a:p>
        </p:txBody>
      </p:sp>
      <p:sp>
        <p:nvSpPr>
          <p:cNvPr id="5" name="TextBox 4"/>
          <p:cNvSpPr txBox="1"/>
          <p:nvPr/>
        </p:nvSpPr>
        <p:spPr>
          <a:xfrm>
            <a:off x="539496" y="676656"/>
            <a:ext cx="11057839" cy="658368"/>
          </a:xfrm>
          <a:prstGeom prst="rect">
            <a:avLst/>
          </a:prstGeom>
          <a:noFill/>
        </p:spPr>
        <p:txBody>
          <a:bodyPr wrap="square" lIns="45720" rIns="45720" tIns="27432" bIns="27432" anchor="t">
            <a:noAutofit/>
          </a:bodyPr>
          <a:lstStyle/>
          <a:p>
            <a:pPr algn="l">
              <a:lnSpc>
                <a:spcPct val="100000"/>
              </a:lnSpc>
            </a:pPr>
            <a:r>
              <a:rPr sz="3100" b="0" i="0">
                <a:solidFill>
                  <a:srgbClr val="F7F2E8"/>
                </a:solidFill>
                <a:latin typeface="Palatino Linotype"/>
              </a:rPr>
              <a:t>Ask Execs: una compuerta humana antes de pasos riesgosos</a:t>
            </a:r>
          </a:p>
        </p:txBody>
      </p:sp>
      <p:sp>
        <p:nvSpPr>
          <p:cNvPr id="6" name="Rectangle 5"/>
          <p:cNvSpPr/>
          <p:nvPr/>
        </p:nvSpPr>
        <p:spPr>
          <a:xfrm>
            <a:off x="566928" y="1344168"/>
            <a:ext cx="822960" cy="36576"/>
          </a:xfrm>
          <a:prstGeom prst="rect">
            <a:avLst/>
          </a:prstGeom>
          <a:solidFill>
            <a:srgbClr val="C984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566928" y="1444752"/>
            <a:ext cx="10692079" cy="585216"/>
          </a:xfrm>
          <a:prstGeom prst="rect">
            <a:avLst/>
          </a:prstGeom>
          <a:noFill/>
        </p:spPr>
        <p:txBody>
          <a:bodyPr wrap="square" lIns="45720" rIns="45720" tIns="27432" bIns="27432" anchor="t">
            <a:noAutofit/>
          </a:bodyPr>
          <a:lstStyle/>
          <a:p>
            <a:pPr algn="l">
              <a:lnSpc>
                <a:spcPct val="100000"/>
              </a:lnSpc>
            </a:pPr>
            <a:r>
              <a:rPr sz="1450" b="0" i="0">
                <a:solidFill>
                  <a:srgbClr val="A7B2B0"/>
                </a:solidFill>
                <a:latin typeface="Segoe UI Semilight"/>
              </a:rPr>
              <a:t>Con Ask Execs activado, el executor se bloquea antes de cada tool riesgoso y espera Permitir o Denegar en el browser. Un solo Denegar detiene toda la cadena y deja un banner rojo “Execution interrupted”.</a:t>
            </a:r>
          </a:p>
        </p:txBody>
      </p:sp>
      <p:sp>
        <p:nvSpPr>
          <p:cNvPr id="8" name="Rounded Rectangle 7"/>
          <p:cNvSpPr/>
          <p:nvPr/>
        </p:nvSpPr>
        <p:spPr>
          <a:xfrm>
            <a:off x="566928" y="2084831"/>
            <a:ext cx="11057839" cy="3776472"/>
          </a:xfrm>
          <a:prstGeom prst="roundRect">
            <a:avLst>
              <a:gd name="adj" fmla="val 1937"/>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ounded Rectangle 8"/>
          <p:cNvSpPr/>
          <p:nvPr/>
        </p:nvSpPr>
        <p:spPr>
          <a:xfrm>
            <a:off x="566928" y="2084831"/>
            <a:ext cx="11057839" cy="384048"/>
          </a:xfrm>
          <a:prstGeom prst="roundRect">
            <a:avLst>
              <a:gd name="adj" fmla="val 19047"/>
            </a:avLst>
          </a:prstGeom>
          <a:solidFill>
            <a:srgbClr val="151F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640080" y="2121408"/>
            <a:ext cx="2728734" cy="310896"/>
          </a:xfrm>
          <a:prstGeom prst="rect">
            <a:avLst/>
          </a:prstGeom>
          <a:noFill/>
        </p:spPr>
        <p:txBody>
          <a:bodyPr wrap="square" lIns="45720" rIns="45720" tIns="27432" bIns="27432" anchor="ctr">
            <a:noAutofit/>
          </a:bodyPr>
          <a:lstStyle/>
          <a:p>
            <a:pPr algn="l">
              <a:lnSpc>
                <a:spcPct val="100000"/>
              </a:lnSpc>
            </a:pPr>
            <a:r>
              <a:rPr sz="1000" b="0" i="0" spc="120">
                <a:solidFill>
                  <a:srgbClr val="E2B462"/>
                </a:solidFill>
                <a:latin typeface="Segoe UI Semibold"/>
              </a:rPr>
              <a:t>NIVEL</a:t>
            </a:r>
          </a:p>
        </p:txBody>
      </p:sp>
      <p:sp>
        <p:nvSpPr>
          <p:cNvPr id="11" name="TextBox 10"/>
          <p:cNvSpPr txBox="1"/>
          <p:nvPr/>
        </p:nvSpPr>
        <p:spPr>
          <a:xfrm>
            <a:off x="3515118" y="2121408"/>
            <a:ext cx="1622950" cy="310896"/>
          </a:xfrm>
          <a:prstGeom prst="rect">
            <a:avLst/>
          </a:prstGeom>
          <a:noFill/>
        </p:spPr>
        <p:txBody>
          <a:bodyPr wrap="square" lIns="45720" rIns="45720" tIns="27432" bIns="27432" anchor="ctr">
            <a:noAutofit/>
          </a:bodyPr>
          <a:lstStyle/>
          <a:p>
            <a:pPr algn="l">
              <a:lnSpc>
                <a:spcPct val="100000"/>
              </a:lnSpc>
            </a:pPr>
            <a:r>
              <a:rPr sz="1000" b="0" i="0" spc="120">
                <a:solidFill>
                  <a:srgbClr val="E2B462"/>
                </a:solidFill>
                <a:latin typeface="Segoe UI Semibold"/>
              </a:rPr>
              <a:t>¿PREGUNTA?</a:t>
            </a:r>
          </a:p>
        </p:txBody>
      </p:sp>
      <p:sp>
        <p:nvSpPr>
          <p:cNvPr id="12" name="TextBox 11"/>
          <p:cNvSpPr txBox="1"/>
          <p:nvPr/>
        </p:nvSpPr>
        <p:spPr>
          <a:xfrm>
            <a:off x="5284372" y="2121408"/>
            <a:ext cx="6267242" cy="310896"/>
          </a:xfrm>
          <a:prstGeom prst="rect">
            <a:avLst/>
          </a:prstGeom>
          <a:noFill/>
        </p:spPr>
        <p:txBody>
          <a:bodyPr wrap="square" lIns="45720" rIns="45720" tIns="27432" bIns="27432" anchor="ctr">
            <a:noAutofit/>
          </a:bodyPr>
          <a:lstStyle/>
          <a:p>
            <a:pPr algn="l">
              <a:lnSpc>
                <a:spcPct val="100000"/>
              </a:lnSpc>
            </a:pPr>
            <a:r>
              <a:rPr sz="1000" b="0" i="0" spc="120">
                <a:solidFill>
                  <a:srgbClr val="E2B462"/>
                </a:solidFill>
                <a:latin typeface="Segoe UI Semibold"/>
              </a:rPr>
              <a:t>AGENTS</a:t>
            </a:r>
          </a:p>
        </p:txBody>
      </p:sp>
      <p:sp>
        <p:nvSpPr>
          <p:cNvPr id="13" name="TextBox 12"/>
          <p:cNvSpPr txBox="1"/>
          <p:nvPr/>
        </p:nvSpPr>
        <p:spPr>
          <a:xfrm>
            <a:off x="640080" y="2505456"/>
            <a:ext cx="2728734" cy="530352"/>
          </a:xfrm>
          <a:prstGeom prst="rect">
            <a:avLst/>
          </a:prstGeom>
          <a:noFill/>
        </p:spPr>
        <p:txBody>
          <a:bodyPr wrap="square" lIns="45720" rIns="45720" tIns="27432" bIns="27432" anchor="ctr">
            <a:noAutofit/>
          </a:bodyPr>
          <a:lstStyle/>
          <a:p>
            <a:pPr algn="l">
              <a:lnSpc>
                <a:spcPct val="100000"/>
              </a:lnSpc>
            </a:pPr>
            <a:r>
              <a:rPr sz="1500" b="0" i="0">
                <a:solidFill>
                  <a:srgbClr val="F7F2E8"/>
                </a:solidFill>
                <a:latin typeface="Segoe UI Semibold"/>
              </a:rPr>
              <a:t>Comandos y runners de script</a:t>
            </a:r>
          </a:p>
        </p:txBody>
      </p:sp>
      <p:sp>
        <p:nvSpPr>
          <p:cNvPr id="14" name="TextBox 13"/>
          <p:cNvSpPr txBox="1"/>
          <p:nvPr/>
        </p:nvSpPr>
        <p:spPr>
          <a:xfrm>
            <a:off x="3515118" y="2505456"/>
            <a:ext cx="1622950" cy="530352"/>
          </a:xfrm>
          <a:prstGeom prst="rect">
            <a:avLst/>
          </a:prstGeom>
          <a:noFill/>
        </p:spPr>
        <p:txBody>
          <a:bodyPr wrap="square" lIns="45720" rIns="45720" tIns="27432" bIns="27432" anchor="ctr">
            <a:noAutofit/>
          </a:bodyPr>
          <a:lstStyle/>
          <a:p>
            <a:pPr algn="l">
              <a:lnSpc>
                <a:spcPct val="100000"/>
              </a:lnSpc>
            </a:pPr>
            <a:r>
              <a:rPr sz="1500" b="0" i="0">
                <a:solidFill>
                  <a:srgbClr val="A7B2B0"/>
                </a:solidFill>
                <a:latin typeface="Segoe UI"/>
              </a:rPr>
              <a:t>Sí</a:t>
            </a:r>
          </a:p>
        </p:txBody>
      </p:sp>
      <p:sp>
        <p:nvSpPr>
          <p:cNvPr id="15" name="TextBox 14"/>
          <p:cNvSpPr txBox="1"/>
          <p:nvPr/>
        </p:nvSpPr>
        <p:spPr>
          <a:xfrm>
            <a:off x="5284372" y="2505456"/>
            <a:ext cx="6267242" cy="530352"/>
          </a:xfrm>
          <a:prstGeom prst="rect">
            <a:avLst/>
          </a:prstGeom>
          <a:noFill/>
        </p:spPr>
        <p:txBody>
          <a:bodyPr wrap="square" lIns="45720" rIns="45720" tIns="27432" bIns="27432" anchor="ctr">
            <a:noAutofit/>
          </a:bodyPr>
          <a:lstStyle/>
          <a:p>
            <a:pPr algn="l">
              <a:lnSpc>
                <a:spcPct val="100000"/>
              </a:lnSpc>
            </a:pPr>
            <a:r>
              <a:rPr sz="1500" b="0" i="0">
                <a:solidFill>
                  <a:srgbClr val="A7B2B0"/>
                </a:solidFill>
                <a:latin typeface="Segoe UI"/>
              </a:rPr>
              <a:t>Terminater, Executer, Pythonxer, SSHer, Kalier, Dockerer, Kuberneter, SQLer, Mongoxer, Gitter, Jenkinser, PSer, J-Decompiler</a:t>
            </a:r>
          </a:p>
        </p:txBody>
      </p:sp>
      <p:sp>
        <p:nvSpPr>
          <p:cNvPr id="16" name="Rectangle 15"/>
          <p:cNvSpPr/>
          <p:nvPr/>
        </p:nvSpPr>
        <p:spPr>
          <a:xfrm>
            <a:off x="585216" y="3072384"/>
            <a:ext cx="11021263" cy="603504"/>
          </a:xfrm>
          <a:prstGeom prst="rect">
            <a:avLst/>
          </a:prstGeom>
          <a:solidFill>
            <a:srgbClr val="1824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640080" y="3108960"/>
            <a:ext cx="2728734" cy="530352"/>
          </a:xfrm>
          <a:prstGeom prst="rect">
            <a:avLst/>
          </a:prstGeom>
          <a:noFill/>
        </p:spPr>
        <p:txBody>
          <a:bodyPr wrap="square" lIns="45720" rIns="45720" tIns="27432" bIns="27432" anchor="ctr">
            <a:noAutofit/>
          </a:bodyPr>
          <a:lstStyle/>
          <a:p>
            <a:pPr algn="l">
              <a:lnSpc>
                <a:spcPct val="100000"/>
              </a:lnSpc>
            </a:pPr>
            <a:r>
              <a:rPr sz="1500" b="0" i="0">
                <a:solidFill>
                  <a:srgbClr val="F7F2E8"/>
                </a:solidFill>
                <a:latin typeface="Segoe UI Semibold"/>
              </a:rPr>
              <a:t>Persistencia del Editor</a:t>
            </a:r>
          </a:p>
        </p:txBody>
      </p:sp>
      <p:sp>
        <p:nvSpPr>
          <p:cNvPr id="18" name="TextBox 17"/>
          <p:cNvSpPr txBox="1"/>
          <p:nvPr/>
        </p:nvSpPr>
        <p:spPr>
          <a:xfrm>
            <a:off x="3515118" y="3108960"/>
            <a:ext cx="1622950" cy="530352"/>
          </a:xfrm>
          <a:prstGeom prst="rect">
            <a:avLst/>
          </a:prstGeom>
          <a:noFill/>
        </p:spPr>
        <p:txBody>
          <a:bodyPr wrap="square" lIns="45720" rIns="45720" tIns="27432" bIns="27432" anchor="ctr">
            <a:noAutofit/>
          </a:bodyPr>
          <a:lstStyle/>
          <a:p>
            <a:pPr algn="l">
              <a:lnSpc>
                <a:spcPct val="100000"/>
              </a:lnSpc>
            </a:pPr>
            <a:r>
              <a:rPr sz="1500" b="0" i="0">
                <a:solidFill>
                  <a:srgbClr val="A7B2B0"/>
                </a:solidFill>
                <a:latin typeface="Segoe UI"/>
              </a:rPr>
              <a:t>Sí</a:t>
            </a:r>
          </a:p>
        </p:txBody>
      </p:sp>
      <p:sp>
        <p:nvSpPr>
          <p:cNvPr id="19" name="TextBox 18"/>
          <p:cNvSpPr txBox="1"/>
          <p:nvPr/>
        </p:nvSpPr>
        <p:spPr>
          <a:xfrm>
            <a:off x="5284372" y="3108960"/>
            <a:ext cx="6267242" cy="530352"/>
          </a:xfrm>
          <a:prstGeom prst="rect">
            <a:avLst/>
          </a:prstGeom>
          <a:noFill/>
        </p:spPr>
        <p:txBody>
          <a:bodyPr wrap="square" lIns="45720" rIns="45720" tIns="27432" bIns="27432" anchor="ctr">
            <a:noAutofit/>
          </a:bodyPr>
          <a:lstStyle/>
          <a:p>
            <a:pPr algn="l">
              <a:lnSpc>
                <a:spcPct val="100000"/>
              </a:lnSpc>
            </a:pPr>
            <a:r>
              <a:rPr sz="1500" b="0" i="0">
                <a:solidFill>
                  <a:srgbClr val="A7B2B0"/>
                </a:solidFill>
                <a:latin typeface="Segoe UI"/>
              </a:rPr>
              <a:t>Interactor nuevo/guardar; las lecturas y la escritura guiada no persisten un archivo.</a:t>
            </a:r>
          </a:p>
        </p:txBody>
      </p:sp>
      <p:sp>
        <p:nvSpPr>
          <p:cNvPr id="20" name="TextBox 19"/>
          <p:cNvSpPr txBox="1"/>
          <p:nvPr/>
        </p:nvSpPr>
        <p:spPr>
          <a:xfrm>
            <a:off x="640080" y="3712463"/>
            <a:ext cx="2728734" cy="530352"/>
          </a:xfrm>
          <a:prstGeom prst="rect">
            <a:avLst/>
          </a:prstGeom>
          <a:noFill/>
        </p:spPr>
        <p:txBody>
          <a:bodyPr wrap="square" lIns="45720" rIns="45720" tIns="27432" bIns="27432" anchor="ctr">
            <a:noAutofit/>
          </a:bodyPr>
          <a:lstStyle/>
          <a:p>
            <a:pPr algn="l">
              <a:lnSpc>
                <a:spcPct val="100000"/>
              </a:lnSpc>
            </a:pPr>
            <a:r>
              <a:rPr sz="1500" b="0" i="0">
                <a:solidFill>
                  <a:srgbClr val="F7F2E8"/>
                </a:solidFill>
                <a:latin typeface="Segoe UI Semibold"/>
              </a:rPr>
              <a:t>A · destruye o sobrescribe</a:t>
            </a:r>
          </a:p>
        </p:txBody>
      </p:sp>
      <p:sp>
        <p:nvSpPr>
          <p:cNvPr id="21" name="TextBox 20"/>
          <p:cNvSpPr txBox="1"/>
          <p:nvPr/>
        </p:nvSpPr>
        <p:spPr>
          <a:xfrm>
            <a:off x="3515118" y="3712463"/>
            <a:ext cx="1622950" cy="530352"/>
          </a:xfrm>
          <a:prstGeom prst="rect">
            <a:avLst/>
          </a:prstGeom>
          <a:noFill/>
        </p:spPr>
        <p:txBody>
          <a:bodyPr wrap="square" lIns="45720" rIns="45720" tIns="27432" bIns="27432" anchor="ctr">
            <a:noAutofit/>
          </a:bodyPr>
          <a:lstStyle/>
          <a:p>
            <a:pPr algn="l">
              <a:lnSpc>
                <a:spcPct val="100000"/>
              </a:lnSpc>
            </a:pPr>
            <a:r>
              <a:rPr sz="1500" b="0" i="0">
                <a:solidFill>
                  <a:srgbClr val="A7B2B0"/>
                </a:solidFill>
                <a:latin typeface="Segoe UI"/>
              </a:rPr>
              <a:t>Sí</a:t>
            </a:r>
          </a:p>
        </p:txBody>
      </p:sp>
      <p:sp>
        <p:nvSpPr>
          <p:cNvPr id="22" name="TextBox 21"/>
          <p:cNvSpPr txBox="1"/>
          <p:nvPr/>
        </p:nvSpPr>
        <p:spPr>
          <a:xfrm>
            <a:off x="5284372" y="3712463"/>
            <a:ext cx="6267242" cy="530352"/>
          </a:xfrm>
          <a:prstGeom prst="rect">
            <a:avLst/>
          </a:prstGeom>
          <a:noFill/>
        </p:spPr>
        <p:txBody>
          <a:bodyPr wrap="square" lIns="45720" rIns="45720" tIns="27432" bIns="27432" anchor="ctr">
            <a:noAutofit/>
          </a:bodyPr>
          <a:lstStyle/>
          <a:p>
            <a:pPr algn="l">
              <a:lnSpc>
                <a:spcPct val="100000"/>
              </a:lnSpc>
            </a:pPr>
            <a:r>
              <a:rPr sz="1500" b="0" i="0">
                <a:solidFill>
                  <a:srgbClr val="A7B2B0"/>
                </a:solidFill>
                <a:latin typeface="Segoe UI"/>
              </a:rPr>
              <a:t>Deleter, Mover, File-Creator, Editor, De-Compresser, unzip, PDFer, LaTeXer</a:t>
            </a:r>
          </a:p>
        </p:txBody>
      </p:sp>
      <p:sp>
        <p:nvSpPr>
          <p:cNvPr id="23" name="Rectangle 22"/>
          <p:cNvSpPr/>
          <p:nvPr/>
        </p:nvSpPr>
        <p:spPr>
          <a:xfrm>
            <a:off x="585216" y="4279392"/>
            <a:ext cx="11021263" cy="374904"/>
          </a:xfrm>
          <a:prstGeom prst="rect">
            <a:avLst/>
          </a:prstGeom>
          <a:solidFill>
            <a:srgbClr val="1824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640080" y="4315968"/>
            <a:ext cx="2728734" cy="301752"/>
          </a:xfrm>
          <a:prstGeom prst="rect">
            <a:avLst/>
          </a:prstGeom>
          <a:noFill/>
        </p:spPr>
        <p:txBody>
          <a:bodyPr wrap="square" lIns="45720" rIns="45720" tIns="27432" bIns="27432" anchor="ctr">
            <a:noAutofit/>
          </a:bodyPr>
          <a:lstStyle/>
          <a:p>
            <a:pPr algn="l">
              <a:lnSpc>
                <a:spcPct val="100000"/>
              </a:lnSpc>
            </a:pPr>
            <a:r>
              <a:rPr sz="1500" b="0" i="0">
                <a:solidFill>
                  <a:srgbClr val="F7F2E8"/>
                </a:solidFill>
                <a:latin typeface="Segoe UI Semibold"/>
              </a:rPr>
              <a:t>D · sistemas remotos</a:t>
            </a:r>
          </a:p>
        </p:txBody>
      </p:sp>
      <p:sp>
        <p:nvSpPr>
          <p:cNvPr id="25" name="TextBox 24"/>
          <p:cNvSpPr txBox="1"/>
          <p:nvPr/>
        </p:nvSpPr>
        <p:spPr>
          <a:xfrm>
            <a:off x="3515118" y="4315968"/>
            <a:ext cx="1622950" cy="301752"/>
          </a:xfrm>
          <a:prstGeom prst="rect">
            <a:avLst/>
          </a:prstGeom>
          <a:noFill/>
        </p:spPr>
        <p:txBody>
          <a:bodyPr wrap="square" lIns="45720" rIns="45720" tIns="27432" bIns="27432" anchor="ctr">
            <a:noAutofit/>
          </a:bodyPr>
          <a:lstStyle/>
          <a:p>
            <a:pPr algn="l">
              <a:lnSpc>
                <a:spcPct val="100000"/>
              </a:lnSpc>
            </a:pPr>
            <a:r>
              <a:rPr sz="1500" b="0" i="0">
                <a:solidFill>
                  <a:srgbClr val="A7B2B0"/>
                </a:solidFill>
                <a:latin typeface="Segoe UI"/>
              </a:rPr>
              <a:t>Sí</a:t>
            </a:r>
          </a:p>
        </p:txBody>
      </p:sp>
      <p:sp>
        <p:nvSpPr>
          <p:cNvPr id="26" name="TextBox 25"/>
          <p:cNvSpPr txBox="1"/>
          <p:nvPr/>
        </p:nvSpPr>
        <p:spPr>
          <a:xfrm>
            <a:off x="5284372" y="4315968"/>
            <a:ext cx="6267242" cy="301752"/>
          </a:xfrm>
          <a:prstGeom prst="rect">
            <a:avLst/>
          </a:prstGeom>
          <a:noFill/>
        </p:spPr>
        <p:txBody>
          <a:bodyPr wrap="square" lIns="45720" rIns="45720" tIns="27432" bIns="27432" anchor="ctr">
            <a:noAutofit/>
          </a:bodyPr>
          <a:lstStyle/>
          <a:p>
            <a:pPr algn="l">
              <a:lnSpc>
                <a:spcPct val="100000"/>
              </a:lnSpc>
            </a:pPr>
            <a:r>
              <a:rPr sz="1500" b="0" i="0">
                <a:solidFill>
                  <a:srgbClr val="A7B2B0"/>
                </a:solidFill>
                <a:latin typeface="Segoe UI"/>
              </a:rPr>
              <a:t>SCPer, Apirer, Nmapper, Discoverer, Crawler, NetSpeed-Calculator</a:t>
            </a:r>
          </a:p>
        </p:txBody>
      </p:sp>
      <p:sp>
        <p:nvSpPr>
          <p:cNvPr id="27" name="TextBox 26"/>
          <p:cNvSpPr txBox="1"/>
          <p:nvPr/>
        </p:nvSpPr>
        <p:spPr>
          <a:xfrm>
            <a:off x="640080" y="4690872"/>
            <a:ext cx="2728734" cy="530352"/>
          </a:xfrm>
          <a:prstGeom prst="rect">
            <a:avLst/>
          </a:prstGeom>
          <a:noFill/>
        </p:spPr>
        <p:txBody>
          <a:bodyPr wrap="square" lIns="45720" rIns="45720" tIns="27432" bIns="27432" anchor="ctr">
            <a:noAutofit/>
          </a:bodyPr>
          <a:lstStyle/>
          <a:p>
            <a:pPr algn="l">
              <a:lnSpc>
                <a:spcPct val="100000"/>
              </a:lnSpc>
            </a:pPr>
            <a:r>
              <a:rPr sz="1500" b="0" i="0">
                <a:solidFill>
                  <a:srgbClr val="F7F2E8"/>
                </a:solidFill>
                <a:latin typeface="Segoe UI Semibold"/>
              </a:rPr>
              <a:t>B · mensajería</a:t>
            </a:r>
          </a:p>
        </p:txBody>
      </p:sp>
      <p:sp>
        <p:nvSpPr>
          <p:cNvPr id="28" name="TextBox 27"/>
          <p:cNvSpPr txBox="1"/>
          <p:nvPr/>
        </p:nvSpPr>
        <p:spPr>
          <a:xfrm>
            <a:off x="3515118" y="4690872"/>
            <a:ext cx="1622950" cy="530352"/>
          </a:xfrm>
          <a:prstGeom prst="rect">
            <a:avLst/>
          </a:prstGeom>
          <a:noFill/>
        </p:spPr>
        <p:txBody>
          <a:bodyPr wrap="square" lIns="45720" rIns="45720" tIns="27432" bIns="27432" anchor="ctr">
            <a:noAutofit/>
          </a:bodyPr>
          <a:lstStyle/>
          <a:p>
            <a:pPr algn="l">
              <a:lnSpc>
                <a:spcPct val="100000"/>
              </a:lnSpc>
            </a:pPr>
            <a:r>
              <a:rPr sz="1500" b="0" i="0">
                <a:solidFill>
                  <a:srgbClr val="A7B2B0"/>
                </a:solidFill>
                <a:latin typeface="Segoe UI"/>
              </a:rPr>
              <a:t>No</a:t>
            </a:r>
          </a:p>
        </p:txBody>
      </p:sp>
      <p:sp>
        <p:nvSpPr>
          <p:cNvPr id="29" name="TextBox 28"/>
          <p:cNvSpPr txBox="1"/>
          <p:nvPr/>
        </p:nvSpPr>
        <p:spPr>
          <a:xfrm>
            <a:off x="5284372" y="4690872"/>
            <a:ext cx="6267242" cy="530352"/>
          </a:xfrm>
          <a:prstGeom prst="rect">
            <a:avLst/>
          </a:prstGeom>
          <a:noFill/>
        </p:spPr>
        <p:txBody>
          <a:bodyPr wrap="square" lIns="45720" rIns="45720" tIns="27432" bIns="27432" anchor="ctr">
            <a:noAutofit/>
          </a:bodyPr>
          <a:lstStyle/>
          <a:p>
            <a:pPr algn="l">
              <a:lnSpc>
                <a:spcPct val="100000"/>
              </a:lnSpc>
            </a:pPr>
            <a:r>
              <a:rPr sz="1500" b="0" i="0">
                <a:solidFill>
                  <a:srgbClr val="A7B2B0"/>
                </a:solidFill>
                <a:latin typeface="Segoe UI"/>
              </a:rPr>
              <a:t>Emailer, Whatsapper, Telegrammer, Instant Messaging Doctor: todavía se requiere autorización del usuario</a:t>
            </a:r>
          </a:p>
        </p:txBody>
      </p:sp>
      <p:sp>
        <p:nvSpPr>
          <p:cNvPr id="30" name="Rectangle 29"/>
          <p:cNvSpPr/>
          <p:nvPr/>
        </p:nvSpPr>
        <p:spPr>
          <a:xfrm>
            <a:off x="585216" y="5257800"/>
            <a:ext cx="11021263" cy="603504"/>
          </a:xfrm>
          <a:prstGeom prst="rect">
            <a:avLst/>
          </a:prstGeom>
          <a:solidFill>
            <a:srgbClr val="1824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TextBox 30"/>
          <p:cNvSpPr txBox="1"/>
          <p:nvPr/>
        </p:nvSpPr>
        <p:spPr>
          <a:xfrm>
            <a:off x="640080" y="5294376"/>
            <a:ext cx="2728734" cy="530352"/>
          </a:xfrm>
          <a:prstGeom prst="rect">
            <a:avLst/>
          </a:prstGeom>
          <a:noFill/>
        </p:spPr>
        <p:txBody>
          <a:bodyPr wrap="square" lIns="45720" rIns="45720" tIns="27432" bIns="27432" anchor="ctr">
            <a:noAutofit/>
          </a:bodyPr>
          <a:lstStyle/>
          <a:p>
            <a:pPr algn="l">
              <a:lnSpc>
                <a:spcPct val="100000"/>
              </a:lnSpc>
            </a:pPr>
            <a:r>
              <a:rPr sz="1500" b="0" i="0">
                <a:solidFill>
                  <a:srgbClr val="F7F2E8"/>
                </a:solidFill>
                <a:latin typeface="Segoe UI Semibold"/>
              </a:rPr>
              <a:t>C · escritorio y hardware</a:t>
            </a:r>
          </a:p>
        </p:txBody>
      </p:sp>
      <p:sp>
        <p:nvSpPr>
          <p:cNvPr id="32" name="TextBox 31"/>
          <p:cNvSpPr txBox="1"/>
          <p:nvPr/>
        </p:nvSpPr>
        <p:spPr>
          <a:xfrm>
            <a:off x="3515118" y="5294376"/>
            <a:ext cx="1622950" cy="530352"/>
          </a:xfrm>
          <a:prstGeom prst="rect">
            <a:avLst/>
          </a:prstGeom>
          <a:noFill/>
        </p:spPr>
        <p:txBody>
          <a:bodyPr wrap="square" lIns="45720" rIns="45720" tIns="27432" bIns="27432" anchor="ctr">
            <a:noAutofit/>
          </a:bodyPr>
          <a:lstStyle/>
          <a:p>
            <a:pPr algn="l">
              <a:lnSpc>
                <a:spcPct val="100000"/>
              </a:lnSpc>
            </a:pPr>
            <a:r>
              <a:rPr sz="1500" b="0" i="0">
                <a:solidFill>
                  <a:srgbClr val="A7B2B0"/>
                </a:solidFill>
                <a:latin typeface="Segoe UI"/>
              </a:rPr>
              <a:t>No</a:t>
            </a:r>
          </a:p>
        </p:txBody>
      </p:sp>
      <p:sp>
        <p:nvSpPr>
          <p:cNvPr id="33" name="TextBox 32"/>
          <p:cNvSpPr txBox="1"/>
          <p:nvPr/>
        </p:nvSpPr>
        <p:spPr>
          <a:xfrm>
            <a:off x="5284372" y="5294376"/>
            <a:ext cx="6267242" cy="530352"/>
          </a:xfrm>
          <a:prstGeom prst="rect">
            <a:avLst/>
          </a:prstGeom>
          <a:noFill/>
        </p:spPr>
        <p:txBody>
          <a:bodyPr wrap="square" lIns="45720" rIns="45720" tIns="27432" bIns="27432" anchor="ctr">
            <a:noAutofit/>
          </a:bodyPr>
          <a:lstStyle/>
          <a:p>
            <a:pPr algn="l">
              <a:lnSpc>
                <a:spcPct val="100000"/>
              </a:lnSpc>
            </a:pPr>
            <a:r>
              <a:rPr sz="1500" b="0" i="0">
                <a:solidFill>
                  <a:srgbClr val="A7B2B0"/>
                </a:solidFill>
                <a:latin typeface="Segoe UI"/>
              </a:rPr>
              <a:t>Keyboarder, Mouser, Windower, Playwrighter, agents de firmware, Blenderer, Unrealer: visibles mientras actúan</a:t>
            </a:r>
          </a:p>
        </p:txBody>
      </p:sp>
      <p:cxnSp>
        <p:nvCxnSpPr>
          <p:cNvPr id="34" name="Connector 33"/>
          <p:cNvCxnSpPr/>
          <p:nvPr/>
        </p:nvCxnSpPr>
        <p:spPr>
          <a:xfrm>
            <a:off x="566928" y="6373368"/>
            <a:ext cx="11057839" cy="0"/>
          </a:xfrm>
          <a:prstGeom prst="line">
            <a:avLst/>
          </a:prstGeom>
          <a:ln w="7620">
            <a:solidFill>
              <a:srgbClr val="2A3A40"/>
            </a:solidFill>
          </a:ln>
        </p:spPr>
        <p:style>
          <a:lnRef idx="2">
            <a:schemeClr val="accent1"/>
          </a:lnRef>
          <a:fillRef idx="0">
            <a:schemeClr val="accent1"/>
          </a:fillRef>
          <a:effectRef idx="1">
            <a:schemeClr val="accent1"/>
          </a:effectRef>
          <a:fontRef idx="minor">
            <a:schemeClr val="tx1"/>
          </a:fontRef>
        </p:style>
      </p:cxnSp>
      <p:sp>
        <p:nvSpPr>
          <p:cNvPr id="35" name="TextBox 34"/>
          <p:cNvSpPr txBox="1"/>
          <p:nvPr/>
        </p:nvSpPr>
        <p:spPr>
          <a:xfrm>
            <a:off x="566928" y="6419088"/>
            <a:ext cx="6858000" cy="274320"/>
          </a:xfrm>
          <a:prstGeom prst="rect">
            <a:avLst/>
          </a:prstGeom>
          <a:noFill/>
        </p:spPr>
        <p:txBody>
          <a:bodyPr wrap="square" lIns="45720" rIns="45720" tIns="27432" bIns="27432" anchor="t">
            <a:noAutofit/>
          </a:bodyPr>
          <a:lstStyle/>
          <a:p>
            <a:pPr algn="l">
              <a:lnSpc>
                <a:spcPct val="100000"/>
              </a:lnSpc>
            </a:pPr>
            <a:r>
              <a:rPr sz="850" b="0" i="0" spc="120">
                <a:solidFill>
                  <a:srgbClr val="A7B2B0"/>
                </a:solidFill>
                <a:latin typeface="Segoe UI Semibold"/>
              </a:rPr>
              <a:t>TLAMATINI  ·  II · CÓMO FUNCIONA</a:t>
            </a:r>
          </a:p>
        </p:txBody>
      </p:sp>
      <p:sp>
        <p:nvSpPr>
          <p:cNvPr id="36" name="TextBox 35"/>
          <p:cNvSpPr txBox="1"/>
          <p:nvPr/>
        </p:nvSpPr>
        <p:spPr>
          <a:xfrm>
            <a:off x="8698687" y="6419088"/>
            <a:ext cx="2926080" cy="274320"/>
          </a:xfrm>
          <a:prstGeom prst="rect">
            <a:avLst/>
          </a:prstGeom>
          <a:noFill/>
        </p:spPr>
        <p:txBody>
          <a:bodyPr wrap="square" lIns="45720" rIns="45720" tIns="27432" bIns="27432" anchor="t">
            <a:noAutofit/>
          </a:bodyPr>
          <a:lstStyle/>
          <a:p>
            <a:pPr algn="r">
              <a:lnSpc>
                <a:spcPct val="100000"/>
              </a:lnSpc>
            </a:pPr>
            <a:r>
              <a:rPr sz="850" b="0" i="0" spc="100">
                <a:solidFill>
                  <a:srgbClr val="A7B2B0"/>
                </a:solidFill>
                <a:latin typeface="Segoe UI Semibold"/>
              </a:rPr>
              <a:t>v1.91.1   ·   22</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content.png"/>
          <p:cNvPicPr>
            <a:picLocks noChangeAspect="1"/>
          </p:cNvPicPr>
          <p:nvPr/>
        </p:nvPicPr>
        <p:blipFill>
          <a:blip r:embed="rId2"/>
          <a:stretch>
            <a:fillRect/>
          </a:stretch>
        </p:blipFill>
        <p:spPr>
          <a:xfrm>
            <a:off x="0" y="0"/>
            <a:ext cx="12191695" cy="6858000"/>
          </a:xfrm>
          <a:prstGeom prst="rect">
            <a:avLst/>
          </a:prstGeom>
        </p:spPr>
      </p:pic>
      <p:sp>
        <p:nvSpPr>
          <p:cNvPr id="3" name="Diamond 2"/>
          <p:cNvSpPr/>
          <p:nvPr/>
        </p:nvSpPr>
        <p:spPr>
          <a:xfrm>
            <a:off x="566928" y="457200"/>
            <a:ext cx="100584" cy="100584"/>
          </a:xfrm>
          <a:prstGeom prst="diamond">
            <a:avLst/>
          </a:prstGeom>
          <a:solidFill>
            <a:srgbClr val="C984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49808" y="365760"/>
            <a:ext cx="8229600" cy="292608"/>
          </a:xfrm>
          <a:prstGeom prst="rect">
            <a:avLst/>
          </a:prstGeom>
          <a:noFill/>
        </p:spPr>
        <p:txBody>
          <a:bodyPr wrap="square" lIns="45720" rIns="45720" tIns="27432" bIns="27432" anchor="t">
            <a:noAutofit/>
          </a:bodyPr>
          <a:lstStyle/>
          <a:p>
            <a:pPr algn="l">
              <a:lnSpc>
                <a:spcPct val="100000"/>
              </a:lnSpc>
            </a:pPr>
            <a:r>
              <a:rPr sz="1100" b="0" i="0" spc="240">
                <a:solidFill>
                  <a:srgbClr val="C98457"/>
                </a:solidFill>
                <a:latin typeface="Segoe UI Semibold"/>
              </a:rPr>
              <a:t>RECUPERACIÓN</a:t>
            </a:r>
          </a:p>
        </p:txBody>
      </p:sp>
      <p:sp>
        <p:nvSpPr>
          <p:cNvPr id="5" name="TextBox 4"/>
          <p:cNvSpPr txBox="1"/>
          <p:nvPr/>
        </p:nvSpPr>
        <p:spPr>
          <a:xfrm>
            <a:off x="539496" y="676656"/>
            <a:ext cx="11057839" cy="658368"/>
          </a:xfrm>
          <a:prstGeom prst="rect">
            <a:avLst/>
          </a:prstGeom>
          <a:noFill/>
        </p:spPr>
        <p:txBody>
          <a:bodyPr wrap="square" lIns="45720" rIns="45720" tIns="27432" bIns="27432" anchor="t">
            <a:noAutofit/>
          </a:bodyPr>
          <a:lstStyle/>
          <a:p>
            <a:pPr algn="l">
              <a:lnSpc>
                <a:spcPct val="100000"/>
              </a:lnSpc>
            </a:pPr>
            <a:r>
              <a:rPr sz="3100" b="0" i="0">
                <a:solidFill>
                  <a:srgbClr val="F7F2E8"/>
                </a:solidFill>
                <a:latin typeface="Palatino Linotype"/>
              </a:rPr>
              <a:t>Anclada en tu proyecto, y sólo en su texto</a:t>
            </a:r>
          </a:p>
        </p:txBody>
      </p:sp>
      <p:sp>
        <p:nvSpPr>
          <p:cNvPr id="6" name="Rectangle 5"/>
          <p:cNvSpPr/>
          <p:nvPr/>
        </p:nvSpPr>
        <p:spPr>
          <a:xfrm>
            <a:off x="566928" y="1344168"/>
            <a:ext cx="822960" cy="36576"/>
          </a:xfrm>
          <a:prstGeom prst="rect">
            <a:avLst/>
          </a:prstGeom>
          <a:solidFill>
            <a:srgbClr val="C984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566928" y="1444752"/>
            <a:ext cx="10692079" cy="585216"/>
          </a:xfrm>
          <a:prstGeom prst="rect">
            <a:avLst/>
          </a:prstGeom>
          <a:noFill/>
        </p:spPr>
        <p:txBody>
          <a:bodyPr wrap="square" lIns="45720" rIns="45720" tIns="27432" bIns="27432" anchor="t">
            <a:noAutofit/>
          </a:bodyPr>
          <a:lstStyle/>
          <a:p>
            <a:pPr algn="l">
              <a:lnSpc>
                <a:spcPct val="100000"/>
              </a:lnSpc>
            </a:pPr>
            <a:r>
              <a:rPr sz="1450" b="0" i="0">
                <a:solidFill>
                  <a:srgbClr val="A7B2B0"/>
                </a:solidFill>
                <a:latin typeface="Segoe UI Semilight"/>
              </a:rPr>
              <a:t>La recuperación híbrida combina vectores FAISS con palabras clave BM25, extrae metadatos, presupuesta el contexto y cae con gracia cuando un chain no puede recuperar.</a:t>
            </a:r>
          </a:p>
        </p:txBody>
      </p:sp>
      <p:sp>
        <p:nvSpPr>
          <p:cNvPr id="8" name="Rounded Rectangle 7"/>
          <p:cNvSpPr/>
          <p:nvPr/>
        </p:nvSpPr>
        <p:spPr>
          <a:xfrm>
            <a:off x="566928" y="2267712"/>
            <a:ext cx="2531287" cy="1143000"/>
          </a:xfrm>
          <a:prstGeom prst="roundRect">
            <a:avLst>
              <a:gd name="adj" fmla="val 9600"/>
            </a:avLst>
          </a:prstGeom>
          <a:solidFill>
            <a:srgbClr val="121A1D"/>
          </a:solidFill>
          <a:ln w="17780">
            <a:solidFill>
              <a:srgbClr val="C98457"/>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731520" y="2395728"/>
            <a:ext cx="2202103" cy="457200"/>
          </a:xfrm>
          <a:prstGeom prst="rect">
            <a:avLst/>
          </a:prstGeom>
          <a:noFill/>
        </p:spPr>
        <p:txBody>
          <a:bodyPr wrap="square" lIns="45720" rIns="45720" tIns="27432" bIns="27432" anchor="t">
            <a:noAutofit/>
          </a:bodyPr>
          <a:lstStyle/>
          <a:p>
            <a:pPr algn="l">
              <a:lnSpc>
                <a:spcPct val="100000"/>
              </a:lnSpc>
            </a:pPr>
            <a:r>
              <a:rPr sz="1600" b="1" i="0">
                <a:solidFill>
                  <a:srgbClr val="C98457"/>
                </a:solidFill>
                <a:latin typeface="Palatino Linotype"/>
              </a:rPr>
              <a:t>1   </a:t>
            </a:r>
            <a:r>
              <a:rPr sz="1600" b="0" i="0">
                <a:solidFill>
                  <a:srgbClr val="F7F2E8"/>
                </a:solidFill>
                <a:latin typeface="Segoe UI Semibold"/>
              </a:rPr>
              <a:t>Extensión</a:t>
            </a:r>
          </a:p>
        </p:txBody>
      </p:sp>
      <p:sp>
        <p:nvSpPr>
          <p:cNvPr id="10" name="TextBox 9"/>
          <p:cNvSpPr txBox="1"/>
          <p:nvPr/>
        </p:nvSpPr>
        <p:spPr>
          <a:xfrm>
            <a:off x="731520" y="2871216"/>
            <a:ext cx="2202103" cy="429768"/>
          </a:xfrm>
          <a:prstGeom prst="rect">
            <a:avLst/>
          </a:prstGeom>
          <a:noFill/>
        </p:spPr>
        <p:txBody>
          <a:bodyPr wrap="square" lIns="45720" rIns="45720" tIns="27432" bIns="27432" anchor="t">
            <a:noAutofit/>
          </a:bodyPr>
          <a:lstStyle/>
          <a:p>
            <a:pPr algn="l">
              <a:lnSpc>
                <a:spcPct val="100000"/>
              </a:lnSpc>
            </a:pPr>
            <a:r>
              <a:rPr sz="1200" b="0" i="0">
                <a:solidFill>
                  <a:srgbClr val="A7B2B0"/>
                </a:solidFill>
                <a:latin typeface="Segoe UI"/>
              </a:rPr>
              <a:t>Sufijo binario conocido, sin I/O</a:t>
            </a:r>
          </a:p>
        </p:txBody>
      </p:sp>
      <p:cxnSp>
        <p:nvCxnSpPr>
          <p:cNvPr id="11" name="Connector 10"/>
          <p:cNvCxnSpPr/>
          <p:nvPr/>
        </p:nvCxnSpPr>
        <p:spPr>
          <a:xfrm>
            <a:off x="3134791" y="2839212"/>
            <a:ext cx="237744" cy="0"/>
          </a:xfrm>
          <a:prstGeom prst="line">
            <a:avLst/>
          </a:prstGeom>
          <a:ln w="17780">
            <a:solidFill>
              <a:srgbClr val="C98457"/>
            </a:solidFill>
            <a:tailEnd type="triangle" w="med" len="med"/>
          </a:ln>
        </p:spPr>
        <p:style>
          <a:lnRef idx="2">
            <a:schemeClr val="accent1"/>
          </a:lnRef>
          <a:fillRef idx="0">
            <a:schemeClr val="accent1"/>
          </a:fillRef>
          <a:effectRef idx="1">
            <a:schemeClr val="accent1"/>
          </a:effectRef>
          <a:fontRef idx="minor">
            <a:schemeClr val="tx1"/>
          </a:fontRef>
        </p:style>
      </p:cxnSp>
      <p:sp>
        <p:nvSpPr>
          <p:cNvPr id="12" name="Rounded Rectangle 11"/>
          <p:cNvSpPr/>
          <p:nvPr/>
        </p:nvSpPr>
        <p:spPr>
          <a:xfrm>
            <a:off x="3409111" y="2267712"/>
            <a:ext cx="2531287" cy="1143000"/>
          </a:xfrm>
          <a:prstGeom prst="roundRect">
            <a:avLst>
              <a:gd name="adj" fmla="val 9600"/>
            </a:avLst>
          </a:prstGeom>
          <a:solidFill>
            <a:srgbClr val="121A1D"/>
          </a:solidFill>
          <a:ln w="17780">
            <a:solidFill>
              <a:srgbClr val="E2B462"/>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3573703" y="2395728"/>
            <a:ext cx="2202103" cy="457200"/>
          </a:xfrm>
          <a:prstGeom prst="rect">
            <a:avLst/>
          </a:prstGeom>
          <a:noFill/>
        </p:spPr>
        <p:txBody>
          <a:bodyPr wrap="square" lIns="45720" rIns="45720" tIns="27432" bIns="27432" anchor="t">
            <a:noAutofit/>
          </a:bodyPr>
          <a:lstStyle/>
          <a:p>
            <a:pPr algn="l">
              <a:lnSpc>
                <a:spcPct val="100000"/>
              </a:lnSpc>
            </a:pPr>
            <a:r>
              <a:rPr sz="1600" b="1" i="0">
                <a:solidFill>
                  <a:srgbClr val="E2B462"/>
                </a:solidFill>
                <a:latin typeface="Palatino Linotype"/>
              </a:rPr>
              <a:t>2   </a:t>
            </a:r>
            <a:r>
              <a:rPr sz="1600" b="0" i="0">
                <a:solidFill>
                  <a:srgbClr val="F7F2E8"/>
                </a:solidFill>
                <a:latin typeface="Segoe UI Semibold"/>
              </a:rPr>
              <a:t>Muestra</a:t>
            </a:r>
          </a:p>
        </p:txBody>
      </p:sp>
      <p:sp>
        <p:nvSpPr>
          <p:cNvPr id="14" name="TextBox 13"/>
          <p:cNvSpPr txBox="1"/>
          <p:nvPr/>
        </p:nvSpPr>
        <p:spPr>
          <a:xfrm>
            <a:off x="3573703" y="2871216"/>
            <a:ext cx="2202103" cy="429768"/>
          </a:xfrm>
          <a:prstGeom prst="rect">
            <a:avLst/>
          </a:prstGeom>
          <a:noFill/>
        </p:spPr>
        <p:txBody>
          <a:bodyPr wrap="square" lIns="45720" rIns="45720" tIns="27432" bIns="27432" anchor="t">
            <a:noAutofit/>
          </a:bodyPr>
          <a:lstStyle/>
          <a:p>
            <a:pPr algn="l">
              <a:lnSpc>
                <a:spcPct val="100000"/>
              </a:lnSpc>
            </a:pPr>
            <a:r>
              <a:rPr sz="1300" b="0" i="0">
                <a:solidFill>
                  <a:srgbClr val="A7B2B0"/>
                </a:solidFill>
                <a:latin typeface="Segoe UI"/>
              </a:rPr>
              <a:t>Una lectura de 8 KiB</a:t>
            </a:r>
          </a:p>
        </p:txBody>
      </p:sp>
      <p:cxnSp>
        <p:nvCxnSpPr>
          <p:cNvPr id="15" name="Connector 14"/>
          <p:cNvCxnSpPr/>
          <p:nvPr/>
        </p:nvCxnSpPr>
        <p:spPr>
          <a:xfrm>
            <a:off x="5976975" y="2839212"/>
            <a:ext cx="237744" cy="0"/>
          </a:xfrm>
          <a:prstGeom prst="line">
            <a:avLst/>
          </a:prstGeom>
          <a:ln w="17780">
            <a:solidFill>
              <a:srgbClr val="C98457"/>
            </a:solidFill>
            <a:tailEnd type="triangle" w="med" len="med"/>
          </a:ln>
        </p:spPr>
        <p:style>
          <a:lnRef idx="2">
            <a:schemeClr val="accent1"/>
          </a:lnRef>
          <a:fillRef idx="0">
            <a:schemeClr val="accent1"/>
          </a:fillRef>
          <a:effectRef idx="1">
            <a:schemeClr val="accent1"/>
          </a:effectRef>
          <a:fontRef idx="minor">
            <a:schemeClr val="tx1"/>
          </a:fontRef>
        </p:style>
      </p:cxnSp>
      <p:sp>
        <p:nvSpPr>
          <p:cNvPr id="16" name="Rounded Rectangle 15"/>
          <p:cNvSpPr/>
          <p:nvPr/>
        </p:nvSpPr>
        <p:spPr>
          <a:xfrm>
            <a:off x="6251295" y="2267712"/>
            <a:ext cx="2531287" cy="1143000"/>
          </a:xfrm>
          <a:prstGeom prst="roundRect">
            <a:avLst>
              <a:gd name="adj" fmla="val 9600"/>
            </a:avLst>
          </a:prstGeom>
          <a:solidFill>
            <a:srgbClr val="121A1D"/>
          </a:solidFill>
          <a:ln w="17780">
            <a:solidFill>
              <a:srgbClr val="3BBE9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6415887" y="2395728"/>
            <a:ext cx="2202103" cy="457200"/>
          </a:xfrm>
          <a:prstGeom prst="rect">
            <a:avLst/>
          </a:prstGeom>
          <a:noFill/>
        </p:spPr>
        <p:txBody>
          <a:bodyPr wrap="square" lIns="45720" rIns="45720" tIns="27432" bIns="27432" anchor="t">
            <a:noAutofit/>
          </a:bodyPr>
          <a:lstStyle/>
          <a:p>
            <a:pPr algn="l">
              <a:lnSpc>
                <a:spcPct val="100000"/>
              </a:lnSpc>
            </a:pPr>
            <a:r>
              <a:rPr sz="1600" b="1" i="0">
                <a:solidFill>
                  <a:srgbClr val="3BBE93"/>
                </a:solidFill>
                <a:latin typeface="Palatino Linotype"/>
              </a:rPr>
              <a:t>3   </a:t>
            </a:r>
            <a:r>
              <a:rPr sz="1600" b="0" i="0">
                <a:solidFill>
                  <a:srgbClr val="F7F2E8"/>
                </a:solidFill>
                <a:latin typeface="Segoe UI Semibold"/>
              </a:rPr>
              <a:t>Vacío</a:t>
            </a:r>
          </a:p>
        </p:txBody>
      </p:sp>
      <p:sp>
        <p:nvSpPr>
          <p:cNvPr id="18" name="TextBox 17"/>
          <p:cNvSpPr txBox="1"/>
          <p:nvPr/>
        </p:nvSpPr>
        <p:spPr>
          <a:xfrm>
            <a:off x="6415887" y="2871216"/>
            <a:ext cx="2202103" cy="429768"/>
          </a:xfrm>
          <a:prstGeom prst="rect">
            <a:avLst/>
          </a:prstGeom>
          <a:noFill/>
        </p:spPr>
        <p:txBody>
          <a:bodyPr wrap="square" lIns="45720" rIns="45720" tIns="27432" bIns="27432" anchor="t">
            <a:noAutofit/>
          </a:bodyPr>
          <a:lstStyle/>
          <a:p>
            <a:pPr algn="l">
              <a:lnSpc>
                <a:spcPct val="100000"/>
              </a:lnSpc>
            </a:pPr>
            <a:r>
              <a:rPr sz="1300" b="0" i="0">
                <a:solidFill>
                  <a:srgbClr val="A7B2B0"/>
                </a:solidFill>
                <a:latin typeface="Segoe UI"/>
              </a:rPr>
              <a:t>Nada que incrustar</a:t>
            </a:r>
          </a:p>
        </p:txBody>
      </p:sp>
      <p:cxnSp>
        <p:nvCxnSpPr>
          <p:cNvPr id="19" name="Connector 18"/>
          <p:cNvCxnSpPr/>
          <p:nvPr/>
        </p:nvCxnSpPr>
        <p:spPr>
          <a:xfrm>
            <a:off x="8819159" y="2839212"/>
            <a:ext cx="237744" cy="0"/>
          </a:xfrm>
          <a:prstGeom prst="line">
            <a:avLst/>
          </a:prstGeom>
          <a:ln w="17780">
            <a:solidFill>
              <a:srgbClr val="C98457"/>
            </a:solidFill>
            <a:tailEnd type="triangle" w="med" len="med"/>
          </a:ln>
        </p:spPr>
        <p:style>
          <a:lnRef idx="2">
            <a:schemeClr val="accent1"/>
          </a:lnRef>
          <a:fillRef idx="0">
            <a:schemeClr val="accent1"/>
          </a:fillRef>
          <a:effectRef idx="1">
            <a:schemeClr val="accent1"/>
          </a:effectRef>
          <a:fontRef idx="minor">
            <a:schemeClr val="tx1"/>
          </a:fontRef>
        </p:style>
      </p:cxnSp>
      <p:sp>
        <p:nvSpPr>
          <p:cNvPr id="20" name="Rounded Rectangle 19"/>
          <p:cNvSpPr/>
          <p:nvPr/>
        </p:nvSpPr>
        <p:spPr>
          <a:xfrm>
            <a:off x="9093479" y="2267712"/>
            <a:ext cx="2531287" cy="1143000"/>
          </a:xfrm>
          <a:prstGeom prst="roundRect">
            <a:avLst>
              <a:gd name="adj" fmla="val 9600"/>
            </a:avLst>
          </a:prstGeom>
          <a:solidFill>
            <a:srgbClr val="121A1D"/>
          </a:solidFill>
          <a:ln w="17780">
            <a:solidFill>
              <a:srgbClr val="3BBE9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9258071" y="2395728"/>
            <a:ext cx="2202103" cy="457200"/>
          </a:xfrm>
          <a:prstGeom prst="rect">
            <a:avLst/>
          </a:prstGeom>
          <a:noFill/>
        </p:spPr>
        <p:txBody>
          <a:bodyPr wrap="square" lIns="45720" rIns="45720" tIns="27432" bIns="27432" anchor="t">
            <a:noAutofit/>
          </a:bodyPr>
          <a:lstStyle/>
          <a:p>
            <a:pPr algn="l">
              <a:lnSpc>
                <a:spcPct val="100000"/>
              </a:lnSpc>
            </a:pPr>
            <a:r>
              <a:rPr sz="1600" b="1" i="0">
                <a:solidFill>
                  <a:srgbClr val="3BBE93"/>
                </a:solidFill>
                <a:latin typeface="Palatino Linotype"/>
              </a:rPr>
              <a:t>4   </a:t>
            </a:r>
            <a:r>
              <a:rPr sz="1600" b="0" i="0">
                <a:solidFill>
                  <a:srgbClr val="F7F2E8"/>
                </a:solidFill>
                <a:latin typeface="Segoe UI Semibold"/>
              </a:rPr>
              <a:t>BOM</a:t>
            </a:r>
          </a:p>
        </p:txBody>
      </p:sp>
      <p:sp>
        <p:nvSpPr>
          <p:cNvPr id="22" name="TextBox 21"/>
          <p:cNvSpPr txBox="1"/>
          <p:nvPr/>
        </p:nvSpPr>
        <p:spPr>
          <a:xfrm>
            <a:off x="9258071" y="2871216"/>
            <a:ext cx="2202103" cy="429768"/>
          </a:xfrm>
          <a:prstGeom prst="rect">
            <a:avLst/>
          </a:prstGeom>
          <a:noFill/>
        </p:spPr>
        <p:txBody>
          <a:bodyPr wrap="square" lIns="45720" rIns="45720" tIns="27432" bIns="27432" anchor="t">
            <a:noAutofit/>
          </a:bodyPr>
          <a:lstStyle/>
          <a:p>
            <a:pPr algn="l">
              <a:lnSpc>
                <a:spcPct val="100000"/>
              </a:lnSpc>
            </a:pPr>
            <a:r>
              <a:rPr sz="1300" b="0" i="0">
                <a:solidFill>
                  <a:srgbClr val="A7B2B0"/>
                </a:solidFill>
                <a:latin typeface="Segoe UI"/>
              </a:rPr>
              <a:t>UTF-8/16/32 es texto</a:t>
            </a:r>
          </a:p>
        </p:txBody>
      </p:sp>
      <p:sp>
        <p:nvSpPr>
          <p:cNvPr id="23" name="Rounded Rectangle 22"/>
          <p:cNvSpPr/>
          <p:nvPr/>
        </p:nvSpPr>
        <p:spPr>
          <a:xfrm>
            <a:off x="566928" y="3913632"/>
            <a:ext cx="2531287" cy="1143000"/>
          </a:xfrm>
          <a:prstGeom prst="roundRect">
            <a:avLst>
              <a:gd name="adj" fmla="val 9600"/>
            </a:avLst>
          </a:prstGeom>
          <a:solidFill>
            <a:srgbClr val="121A1D"/>
          </a:solidFill>
          <a:ln w="17780">
            <a:solidFill>
              <a:srgbClr val="C98457"/>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731520" y="4041648"/>
            <a:ext cx="2202103" cy="457200"/>
          </a:xfrm>
          <a:prstGeom prst="rect">
            <a:avLst/>
          </a:prstGeom>
          <a:noFill/>
        </p:spPr>
        <p:txBody>
          <a:bodyPr wrap="square" lIns="45720" rIns="45720" tIns="27432" bIns="27432" anchor="t">
            <a:noAutofit/>
          </a:bodyPr>
          <a:lstStyle/>
          <a:p>
            <a:pPr algn="l">
              <a:lnSpc>
                <a:spcPct val="100000"/>
              </a:lnSpc>
            </a:pPr>
            <a:r>
              <a:rPr sz="1600" b="1" i="0">
                <a:solidFill>
                  <a:srgbClr val="C98457"/>
                </a:solidFill>
                <a:latin typeface="Palatino Linotype"/>
              </a:rPr>
              <a:t>5   </a:t>
            </a:r>
            <a:r>
              <a:rPr sz="1600" b="0" i="0">
                <a:solidFill>
                  <a:srgbClr val="F7F2E8"/>
                </a:solidFill>
                <a:latin typeface="Segoe UI Semibold"/>
              </a:rPr>
              <a:t>Firma</a:t>
            </a:r>
          </a:p>
        </p:txBody>
      </p:sp>
      <p:sp>
        <p:nvSpPr>
          <p:cNvPr id="25" name="TextBox 24"/>
          <p:cNvSpPr txBox="1"/>
          <p:nvPr/>
        </p:nvSpPr>
        <p:spPr>
          <a:xfrm>
            <a:off x="731520" y="4517136"/>
            <a:ext cx="2202103" cy="429768"/>
          </a:xfrm>
          <a:prstGeom prst="rect">
            <a:avLst/>
          </a:prstGeom>
          <a:noFill/>
        </p:spPr>
        <p:txBody>
          <a:bodyPr wrap="square" lIns="45720" rIns="45720" tIns="27432" bIns="27432" anchor="t">
            <a:noAutofit/>
          </a:bodyPr>
          <a:lstStyle/>
          <a:p>
            <a:pPr algn="l">
              <a:lnSpc>
                <a:spcPct val="100000"/>
              </a:lnSpc>
            </a:pPr>
            <a:r>
              <a:rPr sz="1300" b="0" i="0">
                <a:solidFill>
                  <a:srgbClr val="A7B2B0"/>
                </a:solidFill>
                <a:latin typeface="Segoe UI"/>
              </a:rPr>
              <a:t>45 números mágicos</a:t>
            </a:r>
          </a:p>
        </p:txBody>
      </p:sp>
      <p:cxnSp>
        <p:nvCxnSpPr>
          <p:cNvPr id="26" name="Connector 25"/>
          <p:cNvCxnSpPr/>
          <p:nvPr/>
        </p:nvCxnSpPr>
        <p:spPr>
          <a:xfrm>
            <a:off x="3134791" y="4485132"/>
            <a:ext cx="237744" cy="0"/>
          </a:xfrm>
          <a:prstGeom prst="line">
            <a:avLst/>
          </a:prstGeom>
          <a:ln w="17780">
            <a:solidFill>
              <a:srgbClr val="C98457"/>
            </a:solidFill>
            <a:tailEnd type="triangle" w="med" len="med"/>
          </a:ln>
        </p:spPr>
        <p:style>
          <a:lnRef idx="2">
            <a:schemeClr val="accent1"/>
          </a:lnRef>
          <a:fillRef idx="0">
            <a:schemeClr val="accent1"/>
          </a:fillRef>
          <a:effectRef idx="1">
            <a:schemeClr val="accent1"/>
          </a:effectRef>
          <a:fontRef idx="minor">
            <a:schemeClr val="tx1"/>
          </a:fontRef>
        </p:style>
      </p:cxnSp>
      <p:sp>
        <p:nvSpPr>
          <p:cNvPr id="27" name="Rounded Rectangle 26"/>
          <p:cNvSpPr/>
          <p:nvPr/>
        </p:nvSpPr>
        <p:spPr>
          <a:xfrm>
            <a:off x="3409111" y="3913632"/>
            <a:ext cx="2531287" cy="1143000"/>
          </a:xfrm>
          <a:prstGeom prst="roundRect">
            <a:avLst>
              <a:gd name="adj" fmla="val 9600"/>
            </a:avLst>
          </a:prstGeom>
          <a:solidFill>
            <a:srgbClr val="121A1D"/>
          </a:solidFill>
          <a:ln w="17780">
            <a:solidFill>
              <a:srgbClr val="C98457"/>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TextBox 27"/>
          <p:cNvSpPr txBox="1"/>
          <p:nvPr/>
        </p:nvSpPr>
        <p:spPr>
          <a:xfrm>
            <a:off x="3573703" y="4041648"/>
            <a:ext cx="2202103" cy="457200"/>
          </a:xfrm>
          <a:prstGeom prst="rect">
            <a:avLst/>
          </a:prstGeom>
          <a:noFill/>
        </p:spPr>
        <p:txBody>
          <a:bodyPr wrap="square" lIns="45720" rIns="45720" tIns="27432" bIns="27432" anchor="t">
            <a:noAutofit/>
          </a:bodyPr>
          <a:lstStyle/>
          <a:p>
            <a:pPr algn="l">
              <a:lnSpc>
                <a:spcPct val="100000"/>
              </a:lnSpc>
            </a:pPr>
            <a:r>
              <a:rPr sz="1600" b="1" i="0">
                <a:solidFill>
                  <a:srgbClr val="C98457"/>
                </a:solidFill>
                <a:latin typeface="Palatino Linotype"/>
              </a:rPr>
              <a:t>6   </a:t>
            </a:r>
            <a:r>
              <a:rPr sz="1600" b="0" i="0">
                <a:solidFill>
                  <a:srgbClr val="F7F2E8"/>
                </a:solidFill>
                <a:latin typeface="Segoe UI Semibold"/>
              </a:rPr>
              <a:t>Byte NUL</a:t>
            </a:r>
          </a:p>
        </p:txBody>
      </p:sp>
      <p:sp>
        <p:nvSpPr>
          <p:cNvPr id="29" name="TextBox 28"/>
          <p:cNvSpPr txBox="1"/>
          <p:nvPr/>
        </p:nvSpPr>
        <p:spPr>
          <a:xfrm>
            <a:off x="3573703" y="4517136"/>
            <a:ext cx="2202103" cy="429768"/>
          </a:xfrm>
          <a:prstGeom prst="rect">
            <a:avLst/>
          </a:prstGeom>
          <a:noFill/>
        </p:spPr>
        <p:txBody>
          <a:bodyPr wrap="square" lIns="45720" rIns="45720" tIns="27432" bIns="27432" anchor="t">
            <a:noAutofit/>
          </a:bodyPr>
          <a:lstStyle/>
          <a:p>
            <a:pPr algn="l">
              <a:lnSpc>
                <a:spcPct val="100000"/>
              </a:lnSpc>
            </a:pPr>
            <a:r>
              <a:rPr sz="1300" b="0" i="0">
                <a:solidFill>
                  <a:srgbClr val="A7B2B0"/>
                </a:solidFill>
                <a:latin typeface="Segoe UI"/>
              </a:rPr>
              <a:t>Prueba binaria clásica</a:t>
            </a:r>
          </a:p>
        </p:txBody>
      </p:sp>
      <p:cxnSp>
        <p:nvCxnSpPr>
          <p:cNvPr id="30" name="Connector 29"/>
          <p:cNvCxnSpPr/>
          <p:nvPr/>
        </p:nvCxnSpPr>
        <p:spPr>
          <a:xfrm>
            <a:off x="5976975" y="4485132"/>
            <a:ext cx="237744" cy="0"/>
          </a:xfrm>
          <a:prstGeom prst="line">
            <a:avLst/>
          </a:prstGeom>
          <a:ln w="17780">
            <a:solidFill>
              <a:srgbClr val="C98457"/>
            </a:solidFill>
            <a:tailEnd type="triangle" w="med" len="med"/>
          </a:ln>
        </p:spPr>
        <p:style>
          <a:lnRef idx="2">
            <a:schemeClr val="accent1"/>
          </a:lnRef>
          <a:fillRef idx="0">
            <a:schemeClr val="accent1"/>
          </a:fillRef>
          <a:effectRef idx="1">
            <a:schemeClr val="accent1"/>
          </a:effectRef>
          <a:fontRef idx="minor">
            <a:schemeClr val="tx1"/>
          </a:fontRef>
        </p:style>
      </p:cxnSp>
      <p:sp>
        <p:nvSpPr>
          <p:cNvPr id="31" name="Rounded Rectangle 30"/>
          <p:cNvSpPr/>
          <p:nvPr/>
        </p:nvSpPr>
        <p:spPr>
          <a:xfrm>
            <a:off x="6251295" y="3913632"/>
            <a:ext cx="2531287" cy="1143000"/>
          </a:xfrm>
          <a:prstGeom prst="roundRect">
            <a:avLst>
              <a:gd name="adj" fmla="val 9600"/>
            </a:avLst>
          </a:prstGeom>
          <a:solidFill>
            <a:srgbClr val="121A1D"/>
          </a:solidFill>
          <a:ln w="17780">
            <a:solidFill>
              <a:srgbClr val="C98457"/>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TextBox 31"/>
          <p:cNvSpPr txBox="1"/>
          <p:nvPr/>
        </p:nvSpPr>
        <p:spPr>
          <a:xfrm>
            <a:off x="6415887" y="4041648"/>
            <a:ext cx="2202103" cy="457200"/>
          </a:xfrm>
          <a:prstGeom prst="rect">
            <a:avLst/>
          </a:prstGeom>
          <a:noFill/>
        </p:spPr>
        <p:txBody>
          <a:bodyPr wrap="square" lIns="45720" rIns="45720" tIns="27432" bIns="27432" anchor="t">
            <a:noAutofit/>
          </a:bodyPr>
          <a:lstStyle/>
          <a:p>
            <a:pPr algn="l">
              <a:lnSpc>
                <a:spcPct val="100000"/>
              </a:lnSpc>
            </a:pPr>
            <a:r>
              <a:rPr sz="1400" b="1" i="0">
                <a:solidFill>
                  <a:srgbClr val="C98457"/>
                </a:solidFill>
                <a:latin typeface="Palatino Linotype"/>
              </a:rPr>
              <a:t>7   </a:t>
            </a:r>
            <a:r>
              <a:rPr sz="1400" b="0" i="0">
                <a:solidFill>
                  <a:srgbClr val="F7F2E8"/>
                </a:solidFill>
                <a:latin typeface="Segoe UI Semibold"/>
              </a:rPr>
              <a:t>Proporción de control</a:t>
            </a:r>
          </a:p>
        </p:txBody>
      </p:sp>
      <p:sp>
        <p:nvSpPr>
          <p:cNvPr id="33" name="TextBox 32"/>
          <p:cNvSpPr txBox="1"/>
          <p:nvPr/>
        </p:nvSpPr>
        <p:spPr>
          <a:xfrm>
            <a:off x="6415887" y="4517136"/>
            <a:ext cx="2202103" cy="429768"/>
          </a:xfrm>
          <a:prstGeom prst="rect">
            <a:avLst/>
          </a:prstGeom>
          <a:noFill/>
        </p:spPr>
        <p:txBody>
          <a:bodyPr wrap="square" lIns="45720" rIns="45720" tIns="27432" bIns="27432" anchor="t">
            <a:noAutofit/>
          </a:bodyPr>
          <a:lstStyle/>
          <a:p>
            <a:pPr algn="l">
              <a:lnSpc>
                <a:spcPct val="100000"/>
              </a:lnSpc>
            </a:pPr>
            <a:r>
              <a:rPr sz="1200" b="0" i="0">
                <a:solidFill>
                  <a:srgbClr val="A7B2B0"/>
                </a:solidFill>
                <a:latin typeface="Segoe UI"/>
              </a:rPr>
              <a:t>Proporción de bytes no-texto</a:t>
            </a:r>
          </a:p>
        </p:txBody>
      </p:sp>
      <p:cxnSp>
        <p:nvCxnSpPr>
          <p:cNvPr id="34" name="Connector 33"/>
          <p:cNvCxnSpPr/>
          <p:nvPr/>
        </p:nvCxnSpPr>
        <p:spPr>
          <a:xfrm>
            <a:off x="8819159" y="4485132"/>
            <a:ext cx="237744" cy="0"/>
          </a:xfrm>
          <a:prstGeom prst="line">
            <a:avLst/>
          </a:prstGeom>
          <a:ln w="17780">
            <a:solidFill>
              <a:srgbClr val="C98457"/>
            </a:solidFill>
            <a:tailEnd type="triangle" w="med" len="med"/>
          </a:ln>
        </p:spPr>
        <p:style>
          <a:lnRef idx="2">
            <a:schemeClr val="accent1"/>
          </a:lnRef>
          <a:fillRef idx="0">
            <a:schemeClr val="accent1"/>
          </a:fillRef>
          <a:effectRef idx="1">
            <a:schemeClr val="accent1"/>
          </a:effectRef>
          <a:fontRef idx="minor">
            <a:schemeClr val="tx1"/>
          </a:fontRef>
        </p:style>
      </p:cxnSp>
      <p:sp>
        <p:nvSpPr>
          <p:cNvPr id="35" name="Rounded Rectangle 34"/>
          <p:cNvSpPr/>
          <p:nvPr/>
        </p:nvSpPr>
        <p:spPr>
          <a:xfrm>
            <a:off x="9093479" y="3913632"/>
            <a:ext cx="2531287" cy="1143000"/>
          </a:xfrm>
          <a:prstGeom prst="roundRect">
            <a:avLst>
              <a:gd name="adj" fmla="val 9600"/>
            </a:avLst>
          </a:prstGeom>
          <a:solidFill>
            <a:srgbClr val="121A1D"/>
          </a:solidFill>
          <a:ln w="17780">
            <a:solidFill>
              <a:srgbClr val="C98457"/>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6" name="TextBox 35"/>
          <p:cNvSpPr txBox="1"/>
          <p:nvPr/>
        </p:nvSpPr>
        <p:spPr>
          <a:xfrm>
            <a:off x="9258071" y="4041648"/>
            <a:ext cx="2202103" cy="457200"/>
          </a:xfrm>
          <a:prstGeom prst="rect">
            <a:avLst/>
          </a:prstGeom>
          <a:noFill/>
        </p:spPr>
        <p:txBody>
          <a:bodyPr wrap="square" lIns="45720" rIns="45720" tIns="27432" bIns="27432" anchor="t">
            <a:noAutofit/>
          </a:bodyPr>
          <a:lstStyle/>
          <a:p>
            <a:pPr algn="l">
              <a:lnSpc>
                <a:spcPct val="100000"/>
              </a:lnSpc>
            </a:pPr>
            <a:r>
              <a:rPr sz="1600" b="1" i="0">
                <a:solidFill>
                  <a:srgbClr val="C98457"/>
                </a:solidFill>
                <a:latin typeface="Palatino Linotype"/>
              </a:rPr>
              <a:t>8   </a:t>
            </a:r>
            <a:r>
              <a:rPr sz="1600" b="0" i="0">
                <a:solidFill>
                  <a:srgbClr val="F7F2E8"/>
                </a:solidFill>
                <a:latin typeface="Segoe UI Semibold"/>
              </a:rPr>
              <a:t>UTF-8</a:t>
            </a:r>
          </a:p>
        </p:txBody>
      </p:sp>
      <p:sp>
        <p:nvSpPr>
          <p:cNvPr id="37" name="TextBox 36"/>
          <p:cNvSpPr txBox="1"/>
          <p:nvPr/>
        </p:nvSpPr>
        <p:spPr>
          <a:xfrm>
            <a:off x="9258071" y="4517136"/>
            <a:ext cx="2202103" cy="429768"/>
          </a:xfrm>
          <a:prstGeom prst="rect">
            <a:avLst/>
          </a:prstGeom>
          <a:noFill/>
        </p:spPr>
        <p:txBody>
          <a:bodyPr wrap="square" lIns="45720" rIns="45720" tIns="27432" bIns="27432" anchor="t">
            <a:noAutofit/>
          </a:bodyPr>
          <a:lstStyle/>
          <a:p>
            <a:pPr algn="l">
              <a:lnSpc>
                <a:spcPct val="100000"/>
              </a:lnSpc>
            </a:pPr>
            <a:r>
              <a:rPr sz="1300" b="0" i="0">
                <a:solidFill>
                  <a:srgbClr val="A7B2B0"/>
                </a:solidFill>
                <a:latin typeface="Segoe UI"/>
              </a:rPr>
              <a:t>Indescodificable y sucio</a:t>
            </a:r>
          </a:p>
        </p:txBody>
      </p:sp>
      <p:sp>
        <p:nvSpPr>
          <p:cNvPr id="38" name="TextBox 37"/>
          <p:cNvSpPr txBox="1"/>
          <p:nvPr/>
        </p:nvSpPr>
        <p:spPr>
          <a:xfrm>
            <a:off x="566928" y="5696712"/>
            <a:ext cx="11057839" cy="457200"/>
          </a:xfrm>
          <a:prstGeom prst="rect">
            <a:avLst/>
          </a:prstGeom>
          <a:noFill/>
        </p:spPr>
        <p:txBody>
          <a:bodyPr wrap="square" lIns="45720" rIns="45720" tIns="27432" bIns="27432" anchor="t">
            <a:noAutofit/>
          </a:bodyPr>
          <a:lstStyle/>
          <a:p>
            <a:pPr algn="l">
              <a:lnSpc>
                <a:spcPct val="100000"/>
              </a:lnSpc>
            </a:pPr>
            <a:r>
              <a:rPr sz="1250" b="0" i="1">
                <a:solidFill>
                  <a:srgbClr val="A7B2B0"/>
                </a:solidFill>
                <a:latin typeface="Segoe UI"/>
              </a:rPr>
              <a:t>Las etapas cobrizas pueden quitar un archivo binario; las etapas de jade sólo pueden conservarlo como texto. Ante cualquier duda, el archivo se conserva, y cada omisión se registra con </a:t>
            </a:r>
            <a:r>
              <a:rPr sz="1150" b="0" i="0">
                <a:solidFill>
                  <a:srgbClr val="E2B462"/>
                </a:solidFill>
                <a:latin typeface="Consolas"/>
              </a:rPr>
              <a:t>--- [BINARY-GUARD]</a:t>
            </a:r>
            <a:r>
              <a:rPr sz="1250" b="0" i="1">
                <a:solidFill>
                  <a:srgbClr val="A7B2B0"/>
                </a:solidFill>
                <a:latin typeface="Segoe UI"/>
              </a:rPr>
              <a:t>.</a:t>
            </a:r>
          </a:p>
        </p:txBody>
      </p:sp>
      <p:cxnSp>
        <p:nvCxnSpPr>
          <p:cNvPr id="39" name="Connector 38"/>
          <p:cNvCxnSpPr/>
          <p:nvPr/>
        </p:nvCxnSpPr>
        <p:spPr>
          <a:xfrm>
            <a:off x="566928" y="6373368"/>
            <a:ext cx="11057839" cy="0"/>
          </a:xfrm>
          <a:prstGeom prst="line">
            <a:avLst/>
          </a:prstGeom>
          <a:ln w="7620">
            <a:solidFill>
              <a:srgbClr val="2A3A40"/>
            </a:solidFill>
          </a:ln>
        </p:spPr>
        <p:style>
          <a:lnRef idx="2">
            <a:schemeClr val="accent1"/>
          </a:lnRef>
          <a:fillRef idx="0">
            <a:schemeClr val="accent1"/>
          </a:fillRef>
          <a:effectRef idx="1">
            <a:schemeClr val="accent1"/>
          </a:effectRef>
          <a:fontRef idx="minor">
            <a:schemeClr val="tx1"/>
          </a:fontRef>
        </p:style>
      </p:cxnSp>
      <p:sp>
        <p:nvSpPr>
          <p:cNvPr id="40" name="TextBox 39"/>
          <p:cNvSpPr txBox="1"/>
          <p:nvPr/>
        </p:nvSpPr>
        <p:spPr>
          <a:xfrm>
            <a:off x="566928" y="6419088"/>
            <a:ext cx="6858000" cy="274320"/>
          </a:xfrm>
          <a:prstGeom prst="rect">
            <a:avLst/>
          </a:prstGeom>
          <a:noFill/>
        </p:spPr>
        <p:txBody>
          <a:bodyPr wrap="square" lIns="45720" rIns="45720" tIns="27432" bIns="27432" anchor="t">
            <a:noAutofit/>
          </a:bodyPr>
          <a:lstStyle/>
          <a:p>
            <a:pPr algn="l">
              <a:lnSpc>
                <a:spcPct val="100000"/>
              </a:lnSpc>
            </a:pPr>
            <a:r>
              <a:rPr sz="850" b="0" i="0" spc="120">
                <a:solidFill>
                  <a:srgbClr val="A7B2B0"/>
                </a:solidFill>
                <a:latin typeface="Segoe UI Semibold"/>
              </a:rPr>
              <a:t>TLAMATINI  ·  II · CÓMO FUNCIONA</a:t>
            </a:r>
          </a:p>
        </p:txBody>
      </p:sp>
      <p:sp>
        <p:nvSpPr>
          <p:cNvPr id="41" name="TextBox 40"/>
          <p:cNvSpPr txBox="1"/>
          <p:nvPr/>
        </p:nvSpPr>
        <p:spPr>
          <a:xfrm>
            <a:off x="8698687" y="6419088"/>
            <a:ext cx="2926080" cy="274320"/>
          </a:xfrm>
          <a:prstGeom prst="rect">
            <a:avLst/>
          </a:prstGeom>
          <a:noFill/>
        </p:spPr>
        <p:txBody>
          <a:bodyPr wrap="square" lIns="45720" rIns="45720" tIns="27432" bIns="27432" anchor="t">
            <a:noAutofit/>
          </a:bodyPr>
          <a:lstStyle/>
          <a:p>
            <a:pPr algn="r">
              <a:lnSpc>
                <a:spcPct val="100000"/>
              </a:lnSpc>
            </a:pPr>
            <a:r>
              <a:rPr sz="850" b="0" i="0" spc="100">
                <a:solidFill>
                  <a:srgbClr val="A7B2B0"/>
                </a:solidFill>
                <a:latin typeface="Segoe UI Semibold"/>
              </a:rPr>
              <a:t>v1.91.1   ·   23</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content.png"/>
          <p:cNvPicPr>
            <a:picLocks noChangeAspect="1"/>
          </p:cNvPicPr>
          <p:nvPr/>
        </p:nvPicPr>
        <p:blipFill>
          <a:blip r:embed="rId2"/>
          <a:stretch>
            <a:fillRect/>
          </a:stretch>
        </p:blipFill>
        <p:spPr>
          <a:xfrm>
            <a:off x="0" y="0"/>
            <a:ext cx="12191695" cy="6858000"/>
          </a:xfrm>
          <a:prstGeom prst="rect">
            <a:avLst/>
          </a:prstGeom>
        </p:spPr>
      </p:pic>
      <p:sp>
        <p:nvSpPr>
          <p:cNvPr id="3" name="Diamond 2"/>
          <p:cNvSpPr/>
          <p:nvPr/>
        </p:nvSpPr>
        <p:spPr>
          <a:xfrm>
            <a:off x="566928" y="457200"/>
            <a:ext cx="100584" cy="100584"/>
          </a:xfrm>
          <a:prstGeom prst="diamond">
            <a:avLst/>
          </a:prstGeom>
          <a:solidFill>
            <a:srgbClr val="C984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49808" y="365760"/>
            <a:ext cx="8229600" cy="292608"/>
          </a:xfrm>
          <a:prstGeom prst="rect">
            <a:avLst/>
          </a:prstGeom>
          <a:noFill/>
        </p:spPr>
        <p:txBody>
          <a:bodyPr wrap="square" lIns="45720" rIns="45720" tIns="27432" bIns="27432" anchor="t">
            <a:noAutofit/>
          </a:bodyPr>
          <a:lstStyle/>
          <a:p>
            <a:pPr algn="l">
              <a:lnSpc>
                <a:spcPct val="100000"/>
              </a:lnSpc>
            </a:pPr>
            <a:r>
              <a:rPr sz="1100" b="0" i="0" spc="240">
                <a:solidFill>
                  <a:srgbClr val="C98457"/>
                </a:solidFill>
                <a:latin typeface="Segoe UI Semibold"/>
              </a:rPr>
              <a:t>COMPILADOR DE FLOW</a:t>
            </a:r>
          </a:p>
        </p:txBody>
      </p:sp>
      <p:sp>
        <p:nvSpPr>
          <p:cNvPr id="5" name="TextBox 4"/>
          <p:cNvSpPr txBox="1"/>
          <p:nvPr/>
        </p:nvSpPr>
        <p:spPr>
          <a:xfrm>
            <a:off x="539496" y="676656"/>
            <a:ext cx="11057839" cy="658368"/>
          </a:xfrm>
          <a:prstGeom prst="rect">
            <a:avLst/>
          </a:prstGeom>
          <a:noFill/>
        </p:spPr>
        <p:txBody>
          <a:bodyPr wrap="square" lIns="45720" rIns="45720" tIns="27432" bIns="27432" anchor="t">
            <a:noAutofit/>
          </a:bodyPr>
          <a:lstStyle/>
          <a:p>
            <a:pPr algn="l">
              <a:lnSpc>
                <a:spcPct val="100000"/>
              </a:lnSpc>
            </a:pPr>
            <a:r>
              <a:rPr sz="3100" b="0" i="0">
                <a:solidFill>
                  <a:srgbClr val="F7F2E8"/>
                </a:solidFill>
                <a:latin typeface="Palatino Linotype"/>
              </a:rPr>
              <a:t>Un compilador para el canvas y el chat</a:t>
            </a:r>
          </a:p>
        </p:txBody>
      </p:sp>
      <p:sp>
        <p:nvSpPr>
          <p:cNvPr id="6" name="Rectangle 5"/>
          <p:cNvSpPr/>
          <p:nvPr/>
        </p:nvSpPr>
        <p:spPr>
          <a:xfrm>
            <a:off x="566928" y="1344168"/>
            <a:ext cx="822960" cy="36576"/>
          </a:xfrm>
          <a:prstGeom prst="rect">
            <a:avLst/>
          </a:prstGeom>
          <a:solidFill>
            <a:srgbClr val="C984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566928" y="1444752"/>
            <a:ext cx="10692079" cy="585216"/>
          </a:xfrm>
          <a:prstGeom prst="rect">
            <a:avLst/>
          </a:prstGeom>
          <a:noFill/>
        </p:spPr>
        <p:txBody>
          <a:bodyPr wrap="square" lIns="45720" rIns="45720" tIns="27432" bIns="27432" anchor="t">
            <a:noAutofit/>
          </a:bodyPr>
          <a:lstStyle/>
          <a:p>
            <a:pPr algn="l">
              <a:lnSpc>
                <a:spcPct val="100000"/>
              </a:lnSpc>
            </a:pPr>
            <a:r>
              <a:rPr sz="1450" b="0" i="0">
                <a:solidFill>
                  <a:srgbClr val="A7B2B0"/>
                </a:solidFill>
                <a:latin typeface="Segoe UI Semilight"/>
              </a:rPr>
              <a:t>Los snapshots del canvas y los borradores generados en el chat compilan a través del mismo registro de Agent Contract antes de que cualquier archivo llegue al pool de sesión.</a:t>
            </a:r>
          </a:p>
        </p:txBody>
      </p:sp>
      <p:sp>
        <p:nvSpPr>
          <p:cNvPr id="8" name="Rounded Rectangle 7"/>
          <p:cNvSpPr/>
          <p:nvPr/>
        </p:nvSpPr>
        <p:spPr>
          <a:xfrm>
            <a:off x="566928" y="2084831"/>
            <a:ext cx="5212080" cy="932688"/>
          </a:xfrm>
          <a:prstGeom prst="roundRect">
            <a:avLst>
              <a:gd name="adj" fmla="val 9803"/>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Diamond 8"/>
          <p:cNvSpPr/>
          <p:nvPr/>
        </p:nvSpPr>
        <p:spPr>
          <a:xfrm>
            <a:off x="768096" y="2487168"/>
            <a:ext cx="128016" cy="128016"/>
          </a:xfrm>
          <a:prstGeom prst="diamond">
            <a:avLst/>
          </a:prstGeom>
          <a:solidFill>
            <a:srgbClr val="3BBE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1024128" y="2139696"/>
            <a:ext cx="1554480" cy="822960"/>
          </a:xfrm>
          <a:prstGeom prst="rect">
            <a:avLst/>
          </a:prstGeom>
          <a:noFill/>
        </p:spPr>
        <p:txBody>
          <a:bodyPr wrap="square" lIns="45720" rIns="45720" tIns="27432" bIns="27432" anchor="ctr">
            <a:noAutofit/>
          </a:bodyPr>
          <a:lstStyle/>
          <a:p>
            <a:pPr algn="l">
              <a:lnSpc>
                <a:spcPct val="100000"/>
              </a:lnSpc>
            </a:pPr>
            <a:r>
              <a:rPr sz="1600" b="0" i="0">
                <a:solidFill>
                  <a:srgbClr val="F7F2E8"/>
                </a:solidFill>
                <a:latin typeface="Segoe UI Semibold"/>
              </a:rPr>
              <a:t>Contratos</a:t>
            </a:r>
          </a:p>
        </p:txBody>
      </p:sp>
      <p:sp>
        <p:nvSpPr>
          <p:cNvPr id="11" name="TextBox 10"/>
          <p:cNvSpPr txBox="1"/>
          <p:nvPr/>
        </p:nvSpPr>
        <p:spPr>
          <a:xfrm>
            <a:off x="2670048" y="2139696"/>
            <a:ext cx="2971800" cy="822960"/>
          </a:xfrm>
          <a:prstGeom prst="rect">
            <a:avLst/>
          </a:prstGeom>
          <a:noFill/>
        </p:spPr>
        <p:txBody>
          <a:bodyPr wrap="square" lIns="45720" rIns="45720" tIns="27432" bIns="27432" anchor="ctr">
            <a:noAutofit/>
          </a:bodyPr>
          <a:lstStyle/>
          <a:p>
            <a:pPr algn="l">
              <a:lnSpc>
                <a:spcPct val="100000"/>
              </a:lnSpc>
            </a:pPr>
            <a:r>
              <a:rPr sz="1400" b="0" i="0">
                <a:solidFill>
                  <a:srgbClr val="A7B2B0"/>
                </a:solidFill>
                <a:latin typeface="Segoe UI"/>
              </a:rPr>
              <a:t>Slots de conexión, campos de Parametrizer, paths secretos, flags de ciclo de vida.</a:t>
            </a:r>
          </a:p>
        </p:txBody>
      </p:sp>
      <p:sp>
        <p:nvSpPr>
          <p:cNvPr id="12" name="Rounded Rectangle 11"/>
          <p:cNvSpPr/>
          <p:nvPr/>
        </p:nvSpPr>
        <p:spPr>
          <a:xfrm>
            <a:off x="566928" y="3145536"/>
            <a:ext cx="5212080" cy="932688"/>
          </a:xfrm>
          <a:prstGeom prst="roundRect">
            <a:avLst>
              <a:gd name="adj" fmla="val 9803"/>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Diamond 12"/>
          <p:cNvSpPr/>
          <p:nvPr/>
        </p:nvSpPr>
        <p:spPr>
          <a:xfrm>
            <a:off x="768096" y="3547872"/>
            <a:ext cx="128016" cy="128016"/>
          </a:xfrm>
          <a:prstGeom prst="diamond">
            <a:avLst/>
          </a:prstGeom>
          <a:solidFill>
            <a:srgbClr val="C984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1024128" y="3200400"/>
            <a:ext cx="1554480" cy="822960"/>
          </a:xfrm>
          <a:prstGeom prst="rect">
            <a:avLst/>
          </a:prstGeom>
          <a:noFill/>
        </p:spPr>
        <p:txBody>
          <a:bodyPr wrap="square" lIns="45720" rIns="45720" tIns="27432" bIns="27432" anchor="ctr">
            <a:noAutofit/>
          </a:bodyPr>
          <a:lstStyle/>
          <a:p>
            <a:pPr algn="l">
              <a:lnSpc>
                <a:spcPct val="100000"/>
              </a:lnSpc>
            </a:pPr>
            <a:r>
              <a:rPr sz="1600" b="0" i="0">
                <a:solidFill>
                  <a:srgbClr val="F7F2E8"/>
                </a:solidFill>
                <a:latin typeface="Segoe UI Semibold"/>
              </a:rPr>
              <a:t>Iniciar</a:t>
            </a:r>
          </a:p>
        </p:txBody>
      </p:sp>
      <p:sp>
        <p:nvSpPr>
          <p:cNvPr id="15" name="TextBox 14"/>
          <p:cNvSpPr txBox="1"/>
          <p:nvPr/>
        </p:nvSpPr>
        <p:spPr>
          <a:xfrm>
            <a:off x="2670048" y="3200400"/>
            <a:ext cx="2971800" cy="822960"/>
          </a:xfrm>
          <a:prstGeom prst="rect">
            <a:avLst/>
          </a:prstGeom>
          <a:noFill/>
        </p:spPr>
        <p:txBody>
          <a:bodyPr wrap="square" lIns="45720" rIns="45720" tIns="27432" bIns="27432" anchor="ctr">
            <a:noAutofit/>
          </a:bodyPr>
          <a:lstStyle/>
          <a:p>
            <a:pPr algn="l">
              <a:lnSpc>
                <a:spcPct val="100000"/>
              </a:lnSpc>
            </a:pPr>
            <a:r>
              <a:rPr sz="1400" b="0" i="0">
                <a:solidFill>
                  <a:srgbClr val="A7B2B0"/>
                </a:solidFill>
                <a:latin typeface="Segoe UI"/>
              </a:rPr>
              <a:t>Compila el canvas en vivo en modo escritura antes de que corra cualquier agent.</a:t>
            </a:r>
          </a:p>
        </p:txBody>
      </p:sp>
      <p:sp>
        <p:nvSpPr>
          <p:cNvPr id="16" name="Rounded Rectangle 15"/>
          <p:cNvSpPr/>
          <p:nvPr/>
        </p:nvSpPr>
        <p:spPr>
          <a:xfrm>
            <a:off x="566928" y="4206240"/>
            <a:ext cx="5212080" cy="932688"/>
          </a:xfrm>
          <a:prstGeom prst="roundRect">
            <a:avLst>
              <a:gd name="adj" fmla="val 9803"/>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Diamond 16"/>
          <p:cNvSpPr/>
          <p:nvPr/>
        </p:nvSpPr>
        <p:spPr>
          <a:xfrm>
            <a:off x="768096" y="4608575"/>
            <a:ext cx="128016" cy="128016"/>
          </a:xfrm>
          <a:prstGeom prst="diamond">
            <a:avLst/>
          </a:prstGeom>
          <a:solidFill>
            <a:srgbClr val="E2B4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1024128" y="4261103"/>
            <a:ext cx="1554480" cy="822960"/>
          </a:xfrm>
          <a:prstGeom prst="rect">
            <a:avLst/>
          </a:prstGeom>
          <a:noFill/>
        </p:spPr>
        <p:txBody>
          <a:bodyPr wrap="square" lIns="45720" rIns="45720" tIns="27432" bIns="27432" anchor="ctr">
            <a:noAutofit/>
          </a:bodyPr>
          <a:lstStyle/>
          <a:p>
            <a:pPr algn="l">
              <a:lnSpc>
                <a:spcPct val="100000"/>
              </a:lnSpc>
            </a:pPr>
            <a:r>
              <a:rPr sz="1600" b="0" i="0">
                <a:solidFill>
                  <a:srgbClr val="F7F2E8"/>
                </a:solidFill>
                <a:latin typeface="Segoe UI Semibold"/>
              </a:rPr>
              <a:t>Validar</a:t>
            </a:r>
          </a:p>
        </p:txBody>
      </p:sp>
      <p:sp>
        <p:nvSpPr>
          <p:cNvPr id="19" name="TextBox 18"/>
          <p:cNvSpPr txBox="1"/>
          <p:nvPr/>
        </p:nvSpPr>
        <p:spPr>
          <a:xfrm>
            <a:off x="2670048" y="4261103"/>
            <a:ext cx="2971800" cy="822960"/>
          </a:xfrm>
          <a:prstGeom prst="rect">
            <a:avLst/>
          </a:prstGeom>
          <a:noFill/>
        </p:spPr>
        <p:txBody>
          <a:bodyPr wrap="square" lIns="45720" rIns="45720" tIns="27432" bIns="27432" anchor="ctr">
            <a:noAutofit/>
          </a:bodyPr>
          <a:lstStyle/>
          <a:p>
            <a:pPr algn="l">
              <a:lnSpc>
                <a:spcPct val="100000"/>
              </a:lnSpc>
            </a:pPr>
            <a:r>
              <a:rPr sz="1400" b="0" i="0">
                <a:solidFill>
                  <a:srgbClr val="A7B2B0"/>
                </a:solidFill>
                <a:latin typeface="Segoe UI"/>
              </a:rPr>
              <a:t>Un dry run que previsualiza la configuración compilada.</a:t>
            </a:r>
          </a:p>
        </p:txBody>
      </p:sp>
      <p:sp>
        <p:nvSpPr>
          <p:cNvPr id="20" name="Rounded Rectangle 19"/>
          <p:cNvSpPr/>
          <p:nvPr/>
        </p:nvSpPr>
        <p:spPr>
          <a:xfrm>
            <a:off x="566928" y="5266944"/>
            <a:ext cx="5212080" cy="932688"/>
          </a:xfrm>
          <a:prstGeom prst="roundRect">
            <a:avLst>
              <a:gd name="adj" fmla="val 9803"/>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Diamond 20"/>
          <p:cNvSpPr/>
          <p:nvPr/>
        </p:nvSpPr>
        <p:spPr>
          <a:xfrm>
            <a:off x="768096" y="5669279"/>
            <a:ext cx="128016" cy="128016"/>
          </a:xfrm>
          <a:prstGeom prst="diamond">
            <a:avLst/>
          </a:prstGeom>
          <a:solidFill>
            <a:srgbClr val="46D2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1024128" y="5321807"/>
            <a:ext cx="1554480" cy="822960"/>
          </a:xfrm>
          <a:prstGeom prst="rect">
            <a:avLst/>
          </a:prstGeom>
          <a:noFill/>
        </p:spPr>
        <p:txBody>
          <a:bodyPr wrap="square" lIns="45720" rIns="45720" tIns="27432" bIns="27432" anchor="ctr">
            <a:noAutofit/>
          </a:bodyPr>
          <a:lstStyle/>
          <a:p>
            <a:pPr algn="l">
              <a:lnSpc>
                <a:spcPct val="100000"/>
              </a:lnSpc>
            </a:pPr>
            <a:r>
              <a:rPr sz="1600" b="0" i="0">
                <a:solidFill>
                  <a:srgbClr val="F7F2E8"/>
                </a:solidFill>
                <a:latin typeface="Segoe UI Semibold"/>
              </a:rPr>
              <a:t>Create Flow</a:t>
            </a:r>
          </a:p>
        </p:txBody>
      </p:sp>
      <p:sp>
        <p:nvSpPr>
          <p:cNvPr id="23" name="TextBox 22"/>
          <p:cNvSpPr txBox="1"/>
          <p:nvPr/>
        </p:nvSpPr>
        <p:spPr>
          <a:xfrm>
            <a:off x="2670048" y="5321807"/>
            <a:ext cx="2971800" cy="822960"/>
          </a:xfrm>
          <a:prstGeom prst="rect">
            <a:avLst/>
          </a:prstGeom>
          <a:noFill/>
        </p:spPr>
        <p:txBody>
          <a:bodyPr wrap="square" lIns="45720" rIns="45720" tIns="27432" bIns="27432" anchor="ctr">
            <a:noAutofit/>
          </a:bodyPr>
          <a:lstStyle/>
          <a:p>
            <a:pPr algn="l">
              <a:lnSpc>
                <a:spcPct val="100000"/>
              </a:lnSpc>
            </a:pPr>
            <a:r>
              <a:rPr sz="1400" b="0" i="0">
                <a:solidFill>
                  <a:srgbClr val="A7B2B0"/>
                </a:solidFill>
                <a:latin typeface="Segoe UI"/>
              </a:rPr>
              <a:t>Los borradores del chat pasan el mismo normalizador y redacción.</a:t>
            </a:r>
          </a:p>
        </p:txBody>
      </p:sp>
      <p:sp>
        <p:nvSpPr>
          <p:cNvPr id="24" name="Rounded Rectangle 23"/>
          <p:cNvSpPr/>
          <p:nvPr/>
        </p:nvSpPr>
        <p:spPr>
          <a:xfrm>
            <a:off x="6144768" y="2084831"/>
            <a:ext cx="5479999" cy="4114800"/>
          </a:xfrm>
          <a:prstGeom prst="roundRect">
            <a:avLst>
              <a:gd name="adj" fmla="val 2666"/>
            </a:avLst>
          </a:prstGeom>
          <a:solidFill>
            <a:srgbClr val="090E10"/>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Oval 24"/>
          <p:cNvSpPr/>
          <p:nvPr/>
        </p:nvSpPr>
        <p:spPr>
          <a:xfrm>
            <a:off x="6345936" y="2249424"/>
            <a:ext cx="118872" cy="118872"/>
          </a:xfrm>
          <a:prstGeom prst="ellipse">
            <a:avLst/>
          </a:prstGeom>
          <a:solidFill>
            <a:srgbClr val="D957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Oval 25"/>
          <p:cNvSpPr/>
          <p:nvPr/>
        </p:nvSpPr>
        <p:spPr>
          <a:xfrm>
            <a:off x="6565392" y="2249424"/>
            <a:ext cx="118872" cy="118872"/>
          </a:xfrm>
          <a:prstGeom prst="ellipse">
            <a:avLst/>
          </a:prstGeom>
          <a:solidFill>
            <a:srgbClr val="E2B4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Oval 26"/>
          <p:cNvSpPr/>
          <p:nvPr/>
        </p:nvSpPr>
        <p:spPr>
          <a:xfrm>
            <a:off x="6784848" y="2249424"/>
            <a:ext cx="118872" cy="118872"/>
          </a:xfrm>
          <a:prstGeom prst="ellipse">
            <a:avLst/>
          </a:prstGeom>
          <a:solidFill>
            <a:srgbClr val="3BBE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TextBox 27"/>
          <p:cNvSpPr txBox="1"/>
          <p:nvPr/>
        </p:nvSpPr>
        <p:spPr>
          <a:xfrm>
            <a:off x="6373368" y="2468879"/>
            <a:ext cx="5022799" cy="3602736"/>
          </a:xfrm>
          <a:prstGeom prst="rect">
            <a:avLst/>
          </a:prstGeom>
          <a:noFill/>
        </p:spPr>
        <p:txBody>
          <a:bodyPr wrap="none" lIns="45720" rIns="45720" tIns="27432" bIns="27432" anchor="t">
            <a:noAutofit/>
          </a:bodyPr>
          <a:lstStyle/>
          <a:p>
            <a:pPr algn="l">
              <a:lnSpc>
                <a:spcPct val="100000"/>
              </a:lnSpc>
            </a:pPr>
            <a:r>
              <a:rPr sz="1300" b="0" i="0">
                <a:solidFill>
                  <a:srgbClr val="E2B462"/>
                </a:solidFill>
                <a:latin typeface="Consolas"/>
              </a:rPr>
              <a:t>INI_SECTION_APIRER&lt;&lt;&lt;</a:t>
            </a:r>
          </a:p>
          <a:p>
            <a:pPr algn="l">
              <a:lnSpc>
                <a:spcPct val="100000"/>
              </a:lnSpc>
            </a:pPr>
            <a:r>
              <a:rPr sz="1300" b="0" i="0">
                <a:solidFill>
                  <a:srgbClr val="ECE7DC"/>
                </a:solidFill>
                <a:latin typeface="Consolas"/>
              </a:rPr>
              <a:t>url: https://example.org/status</a:t>
            </a:r>
          </a:p>
          <a:p>
            <a:pPr algn="l">
              <a:lnSpc>
                <a:spcPct val="100000"/>
              </a:lnSpc>
            </a:pPr>
            <a:r>
              <a:rPr sz="1300" b="0" i="0">
                <a:solidFill>
                  <a:srgbClr val="ECE7DC"/>
                </a:solidFill>
                <a:latin typeface="Consolas"/>
              </a:rPr>
              <a:t>status: 200</a:t>
            </a:r>
          </a:p>
          <a:p>
            <a:pPr algn="l">
              <a:lnSpc>
                <a:spcPct val="100000"/>
              </a:lnSpc>
            </a:pPr>
            <a:r>
              <a:rPr sz="1300" b="0" i="0">
                <a:solidFill>
                  <a:srgbClr val="ECE7DC"/>
                </a:solidFill>
                <a:latin typeface="Consolas"/>
              </a:rPr>
              <a:t> </a:t>
            </a:r>
          </a:p>
          <a:p>
            <a:pPr algn="l">
              <a:lnSpc>
                <a:spcPct val="100000"/>
              </a:lnSpc>
            </a:pPr>
            <a:r>
              <a:rPr sz="1300" b="0" i="0">
                <a:solidFill>
                  <a:srgbClr val="ECE7DC"/>
                </a:solidFill>
                <a:latin typeface="Consolas"/>
              </a:rPr>
              <a:t>{"service": "ok"}</a:t>
            </a:r>
          </a:p>
          <a:p>
            <a:pPr algn="l">
              <a:lnSpc>
                <a:spcPct val="100000"/>
              </a:lnSpc>
            </a:pPr>
            <a:r>
              <a:rPr sz="1300" b="0" i="0">
                <a:solidFill>
                  <a:srgbClr val="E2B462"/>
                </a:solidFill>
                <a:latin typeface="Consolas"/>
              </a:rPr>
              <a:t>&gt;&gt;&gt;END_SECTION_APIRER</a:t>
            </a:r>
          </a:p>
        </p:txBody>
      </p:sp>
      <p:cxnSp>
        <p:nvCxnSpPr>
          <p:cNvPr id="29" name="Connector 28"/>
          <p:cNvCxnSpPr/>
          <p:nvPr/>
        </p:nvCxnSpPr>
        <p:spPr>
          <a:xfrm>
            <a:off x="566928" y="6373368"/>
            <a:ext cx="11057839" cy="0"/>
          </a:xfrm>
          <a:prstGeom prst="line">
            <a:avLst/>
          </a:prstGeom>
          <a:ln w="7620">
            <a:solidFill>
              <a:srgbClr val="2A3A40"/>
            </a:solidFill>
          </a:ln>
        </p:spPr>
        <p:style>
          <a:lnRef idx="2">
            <a:schemeClr val="accent1"/>
          </a:lnRef>
          <a:fillRef idx="0">
            <a:schemeClr val="accent1"/>
          </a:fillRef>
          <a:effectRef idx="1">
            <a:schemeClr val="accent1"/>
          </a:effectRef>
          <a:fontRef idx="minor">
            <a:schemeClr val="tx1"/>
          </a:fontRef>
        </p:style>
      </p:cxnSp>
      <p:sp>
        <p:nvSpPr>
          <p:cNvPr id="30" name="TextBox 29"/>
          <p:cNvSpPr txBox="1"/>
          <p:nvPr/>
        </p:nvSpPr>
        <p:spPr>
          <a:xfrm>
            <a:off x="566928" y="6419088"/>
            <a:ext cx="6858000" cy="274320"/>
          </a:xfrm>
          <a:prstGeom prst="rect">
            <a:avLst/>
          </a:prstGeom>
          <a:noFill/>
        </p:spPr>
        <p:txBody>
          <a:bodyPr wrap="square" lIns="45720" rIns="45720" tIns="27432" bIns="27432" anchor="t">
            <a:noAutofit/>
          </a:bodyPr>
          <a:lstStyle/>
          <a:p>
            <a:pPr algn="l">
              <a:lnSpc>
                <a:spcPct val="100000"/>
              </a:lnSpc>
            </a:pPr>
            <a:r>
              <a:rPr sz="850" b="0" i="0" spc="120">
                <a:solidFill>
                  <a:srgbClr val="A7B2B0"/>
                </a:solidFill>
                <a:latin typeface="Segoe UI Semibold"/>
              </a:rPr>
              <a:t>TLAMATINI  ·  II · CÓMO FUNCIONA</a:t>
            </a:r>
          </a:p>
        </p:txBody>
      </p:sp>
      <p:sp>
        <p:nvSpPr>
          <p:cNvPr id="31" name="TextBox 30"/>
          <p:cNvSpPr txBox="1"/>
          <p:nvPr/>
        </p:nvSpPr>
        <p:spPr>
          <a:xfrm>
            <a:off x="8698687" y="6419088"/>
            <a:ext cx="2926080" cy="274320"/>
          </a:xfrm>
          <a:prstGeom prst="rect">
            <a:avLst/>
          </a:prstGeom>
          <a:noFill/>
        </p:spPr>
        <p:txBody>
          <a:bodyPr wrap="square" lIns="45720" rIns="45720" tIns="27432" bIns="27432" anchor="t">
            <a:noAutofit/>
          </a:bodyPr>
          <a:lstStyle/>
          <a:p>
            <a:pPr algn="r">
              <a:lnSpc>
                <a:spcPct val="100000"/>
              </a:lnSpc>
            </a:pPr>
            <a:r>
              <a:rPr sz="850" b="0" i="0" spc="100">
                <a:solidFill>
                  <a:srgbClr val="A7B2B0"/>
                </a:solidFill>
                <a:latin typeface="Segoe UI Semibold"/>
              </a:rPr>
              <a:t>v1.91.1   ·   24</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content.png"/>
          <p:cNvPicPr>
            <a:picLocks noChangeAspect="1"/>
          </p:cNvPicPr>
          <p:nvPr/>
        </p:nvPicPr>
        <p:blipFill>
          <a:blip r:embed="rId2"/>
          <a:stretch>
            <a:fillRect/>
          </a:stretch>
        </p:blipFill>
        <p:spPr>
          <a:xfrm>
            <a:off x="0" y="0"/>
            <a:ext cx="12191695" cy="6858000"/>
          </a:xfrm>
          <a:prstGeom prst="rect">
            <a:avLst/>
          </a:prstGeom>
        </p:spPr>
      </p:pic>
      <p:sp>
        <p:nvSpPr>
          <p:cNvPr id="3" name="Diamond 2"/>
          <p:cNvSpPr/>
          <p:nvPr/>
        </p:nvSpPr>
        <p:spPr>
          <a:xfrm>
            <a:off x="566928" y="457200"/>
            <a:ext cx="100584" cy="100584"/>
          </a:xfrm>
          <a:prstGeom prst="diamond">
            <a:avLst/>
          </a:prstGeom>
          <a:solidFill>
            <a:srgbClr val="C984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49808" y="365760"/>
            <a:ext cx="8229600" cy="292608"/>
          </a:xfrm>
          <a:prstGeom prst="rect">
            <a:avLst/>
          </a:prstGeom>
          <a:noFill/>
        </p:spPr>
        <p:txBody>
          <a:bodyPr wrap="square" lIns="45720" rIns="45720" tIns="27432" bIns="27432" anchor="t">
            <a:noAutofit/>
          </a:bodyPr>
          <a:lstStyle/>
          <a:p>
            <a:pPr algn="l">
              <a:lnSpc>
                <a:spcPct val="100000"/>
              </a:lnSpc>
            </a:pPr>
            <a:r>
              <a:rPr sz="1100" b="0" i="0" spc="240">
                <a:solidFill>
                  <a:srgbClr val="C98457"/>
                </a:solidFill>
                <a:latin typeface="Segoe UI Semibold"/>
              </a:rPr>
              <a:t>CONFIABILIDAD</a:t>
            </a:r>
          </a:p>
        </p:txBody>
      </p:sp>
      <p:sp>
        <p:nvSpPr>
          <p:cNvPr id="5" name="TextBox 4"/>
          <p:cNvSpPr txBox="1"/>
          <p:nvPr/>
        </p:nvSpPr>
        <p:spPr>
          <a:xfrm>
            <a:off x="539496" y="676656"/>
            <a:ext cx="11057839" cy="658368"/>
          </a:xfrm>
          <a:prstGeom prst="rect">
            <a:avLst/>
          </a:prstGeom>
          <a:noFill/>
        </p:spPr>
        <p:txBody>
          <a:bodyPr wrap="square" lIns="45720" rIns="45720" tIns="27432" bIns="27432" anchor="t">
            <a:noAutofit/>
          </a:bodyPr>
          <a:lstStyle/>
          <a:p>
            <a:pPr algn="l">
              <a:lnSpc>
                <a:spcPct val="100000"/>
              </a:lnSpc>
            </a:pPr>
            <a:r>
              <a:rPr sz="3100" b="0" i="0">
                <a:solidFill>
                  <a:srgbClr val="F7F2E8"/>
                </a:solidFill>
                <a:latin typeface="Palatino Linotype"/>
              </a:rPr>
              <a:t>Construida para seguir corriendo</a:t>
            </a:r>
          </a:p>
        </p:txBody>
      </p:sp>
      <p:sp>
        <p:nvSpPr>
          <p:cNvPr id="6" name="Rectangle 5"/>
          <p:cNvSpPr/>
          <p:nvPr/>
        </p:nvSpPr>
        <p:spPr>
          <a:xfrm>
            <a:off x="566928" y="1344168"/>
            <a:ext cx="822960" cy="36576"/>
          </a:xfrm>
          <a:prstGeom prst="rect">
            <a:avLst/>
          </a:prstGeom>
          <a:solidFill>
            <a:srgbClr val="C984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566928" y="1444752"/>
            <a:ext cx="10692079" cy="585216"/>
          </a:xfrm>
          <a:prstGeom prst="rect">
            <a:avLst/>
          </a:prstGeom>
          <a:noFill/>
        </p:spPr>
        <p:txBody>
          <a:bodyPr wrap="square" lIns="45720" rIns="45720" tIns="27432" bIns="27432" anchor="t">
            <a:noAutofit/>
          </a:bodyPr>
          <a:lstStyle/>
          <a:p>
            <a:pPr algn="l">
              <a:lnSpc>
                <a:spcPct val="100000"/>
              </a:lnSpc>
            </a:pPr>
            <a:r>
              <a:rPr sz="1450" b="0" i="0">
                <a:solidFill>
                  <a:srgbClr val="A7B2B0"/>
                </a:solidFill>
                <a:latin typeface="Segoe UI Semilight"/>
              </a:rPr>
              <a:t>Mecanismos pequeños y deliberados mantienen vivo el core bajo las condiciones que antes lo detenían.</a:t>
            </a:r>
          </a:p>
        </p:txBody>
      </p:sp>
      <p:sp>
        <p:nvSpPr>
          <p:cNvPr id="8" name="Rounded Rectangle 7"/>
          <p:cNvSpPr/>
          <p:nvPr/>
        </p:nvSpPr>
        <p:spPr>
          <a:xfrm>
            <a:off x="566928" y="2084831"/>
            <a:ext cx="3551834" cy="1956816"/>
          </a:xfrm>
          <a:prstGeom prst="roundRect">
            <a:avLst>
              <a:gd name="adj" fmla="val 5607"/>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ectangle 8"/>
          <p:cNvSpPr/>
          <p:nvPr/>
        </p:nvSpPr>
        <p:spPr>
          <a:xfrm>
            <a:off x="731520" y="2212848"/>
            <a:ext cx="502920" cy="45720"/>
          </a:xfrm>
          <a:prstGeom prst="rect">
            <a:avLst/>
          </a:prstGeom>
          <a:solidFill>
            <a:srgbClr val="3BBE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694944" y="2304287"/>
            <a:ext cx="3295802" cy="353568"/>
          </a:xfrm>
          <a:prstGeom prst="rect">
            <a:avLst/>
          </a:prstGeom>
          <a:noFill/>
        </p:spPr>
        <p:txBody>
          <a:bodyPr wrap="square" lIns="45720" rIns="45720" tIns="27432" bIns="27432" anchor="t">
            <a:noAutofit/>
          </a:bodyPr>
          <a:lstStyle/>
          <a:p>
            <a:pPr algn="l">
              <a:lnSpc>
                <a:spcPct val="100000"/>
              </a:lnSpc>
            </a:pPr>
            <a:r>
              <a:rPr sz="1600" b="0" i="0">
                <a:solidFill>
                  <a:srgbClr val="F7F2E8"/>
                </a:solidFill>
                <a:latin typeface="Segoe UI Semibold"/>
              </a:rPr>
              <a:t>Escudo de consola</a:t>
            </a:r>
          </a:p>
        </p:txBody>
      </p:sp>
      <p:sp>
        <p:nvSpPr>
          <p:cNvPr id="11" name="TextBox 10"/>
          <p:cNvSpPr txBox="1"/>
          <p:nvPr/>
        </p:nvSpPr>
        <p:spPr>
          <a:xfrm>
            <a:off x="694944" y="2657855"/>
            <a:ext cx="3295802" cy="1292352"/>
          </a:xfrm>
          <a:prstGeom prst="rect">
            <a:avLst/>
          </a:prstGeom>
          <a:noFill/>
        </p:spPr>
        <p:txBody>
          <a:bodyPr wrap="square" lIns="45720" rIns="45720" tIns="27432" bIns="27432" anchor="t">
            <a:noAutofit/>
          </a:bodyPr>
          <a:lstStyle/>
          <a:p>
            <a:pPr algn="l">
              <a:lnSpc>
                <a:spcPct val="100000"/>
              </a:lnSpc>
            </a:pPr>
            <a:r>
              <a:rPr sz="1300" b="0" i="0">
                <a:solidFill>
                  <a:srgbClr val="A7B2B0"/>
                </a:solidFill>
                <a:latin typeface="Segoe UI"/>
              </a:rPr>
              <a:t>El archivo de log se escribe primero; la salida de consola pasa por una cola acotada, así que hacer clic en la consola no puede congelarla. Desde v1.76.0 las líneas se colorean por nivel.</a:t>
            </a:r>
          </a:p>
        </p:txBody>
      </p:sp>
      <p:sp>
        <p:nvSpPr>
          <p:cNvPr id="12" name="Rounded Rectangle 11"/>
          <p:cNvSpPr/>
          <p:nvPr/>
        </p:nvSpPr>
        <p:spPr>
          <a:xfrm>
            <a:off x="4319930" y="2084831"/>
            <a:ext cx="3551834" cy="1956816"/>
          </a:xfrm>
          <a:prstGeom prst="roundRect">
            <a:avLst>
              <a:gd name="adj" fmla="val 5607"/>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4484522" y="2212848"/>
            <a:ext cx="502920" cy="45720"/>
          </a:xfrm>
          <a:prstGeom prst="rect">
            <a:avLst/>
          </a:prstGeom>
          <a:solidFill>
            <a:srgbClr val="C984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4447946" y="2304287"/>
            <a:ext cx="3295802" cy="353568"/>
          </a:xfrm>
          <a:prstGeom prst="rect">
            <a:avLst/>
          </a:prstGeom>
          <a:noFill/>
        </p:spPr>
        <p:txBody>
          <a:bodyPr wrap="square" lIns="45720" rIns="45720" tIns="27432" bIns="27432" anchor="t">
            <a:noAutofit/>
          </a:bodyPr>
          <a:lstStyle/>
          <a:p>
            <a:pPr algn="l">
              <a:lnSpc>
                <a:spcPct val="100000"/>
              </a:lnSpc>
            </a:pPr>
            <a:r>
              <a:rPr sz="1600" b="0" i="0">
                <a:solidFill>
                  <a:srgbClr val="F7F2E8"/>
                </a:solidFill>
                <a:latin typeface="Segoe UI Semibold"/>
              </a:rPr>
              <a:t>Limpiador de huérfanos</a:t>
            </a:r>
          </a:p>
        </p:txBody>
      </p:sp>
      <p:sp>
        <p:nvSpPr>
          <p:cNvPr id="15" name="TextBox 14"/>
          <p:cNvSpPr txBox="1"/>
          <p:nvPr/>
        </p:nvSpPr>
        <p:spPr>
          <a:xfrm>
            <a:off x="4447946" y="2657855"/>
            <a:ext cx="3295802" cy="1292352"/>
          </a:xfrm>
          <a:prstGeom prst="rect">
            <a:avLst/>
          </a:prstGeom>
          <a:noFill/>
        </p:spPr>
        <p:txBody>
          <a:bodyPr wrap="square" lIns="45720" rIns="45720" tIns="27432" bIns="27432" anchor="t">
            <a:noAutofit/>
          </a:bodyPr>
          <a:lstStyle/>
          <a:p>
            <a:pPr algn="l">
              <a:lnSpc>
                <a:spcPct val="100000"/>
              </a:lnSpc>
            </a:pPr>
            <a:r>
              <a:rPr sz="1300" b="0" i="0">
                <a:solidFill>
                  <a:srgbClr val="A7B2B0"/>
                </a:solidFill>
                <a:latin typeface="Segoe UI"/>
              </a:rPr>
              <a:t>Tres niveles barren descendientes muertos y console hosts huérfanos después de los tools, después de las respuestas y al apagar, sin nunca lanzar una excepción al chat.</a:t>
            </a:r>
          </a:p>
        </p:txBody>
      </p:sp>
      <p:sp>
        <p:nvSpPr>
          <p:cNvPr id="16" name="Rounded Rectangle 15"/>
          <p:cNvSpPr/>
          <p:nvPr/>
        </p:nvSpPr>
        <p:spPr>
          <a:xfrm>
            <a:off x="8072932" y="2084831"/>
            <a:ext cx="3551834" cy="1956816"/>
          </a:xfrm>
          <a:prstGeom prst="roundRect">
            <a:avLst>
              <a:gd name="adj" fmla="val 5607"/>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8237524" y="2212848"/>
            <a:ext cx="502920" cy="45720"/>
          </a:xfrm>
          <a:prstGeom prst="rect">
            <a:avLst/>
          </a:prstGeom>
          <a:solidFill>
            <a:srgbClr val="E2B4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200948" y="2304287"/>
            <a:ext cx="3295802" cy="353568"/>
          </a:xfrm>
          <a:prstGeom prst="rect">
            <a:avLst/>
          </a:prstGeom>
          <a:noFill/>
        </p:spPr>
        <p:txBody>
          <a:bodyPr wrap="square" lIns="45720" rIns="45720" tIns="27432" bIns="27432" anchor="t">
            <a:noAutofit/>
          </a:bodyPr>
          <a:lstStyle/>
          <a:p>
            <a:pPr algn="l">
              <a:lnSpc>
                <a:spcPct val="100000"/>
              </a:lnSpc>
            </a:pPr>
            <a:r>
              <a:rPr sz="1600" b="0" i="0">
                <a:solidFill>
                  <a:srgbClr val="F7F2E8"/>
                </a:solidFill>
                <a:latin typeface="Segoe UI Semibold"/>
              </a:rPr>
              <a:t>Líneas de log por usuario</a:t>
            </a:r>
          </a:p>
        </p:txBody>
      </p:sp>
      <p:sp>
        <p:nvSpPr>
          <p:cNvPr id="19" name="TextBox 18"/>
          <p:cNvSpPr txBox="1"/>
          <p:nvPr/>
        </p:nvSpPr>
        <p:spPr>
          <a:xfrm>
            <a:off x="8200948" y="2657855"/>
            <a:ext cx="3295802" cy="1292352"/>
          </a:xfrm>
          <a:prstGeom prst="rect">
            <a:avLst/>
          </a:prstGeom>
          <a:noFill/>
        </p:spPr>
        <p:txBody>
          <a:bodyPr wrap="square" lIns="45720" rIns="45720" tIns="27432" bIns="27432" anchor="t">
            <a:noAutofit/>
          </a:bodyPr>
          <a:lstStyle/>
          <a:p>
            <a:pPr algn="l">
              <a:lnSpc>
                <a:spcPct val="100000"/>
              </a:lnSpc>
            </a:pPr>
            <a:r>
              <a:rPr sz="1300" b="0" i="0">
                <a:solidFill>
                  <a:srgbClr val="A7B2B0"/>
                </a:solidFill>
                <a:latin typeface="Segoe UI"/>
              </a:rPr>
              <a:t>Las líneas llevan una etiqueta de cinco caracteres como [a3] para que los usuarios y turnos concurrentes nunca se confundan.</a:t>
            </a:r>
          </a:p>
        </p:txBody>
      </p:sp>
      <p:sp>
        <p:nvSpPr>
          <p:cNvPr id="20" name="Rounded Rectangle 19"/>
          <p:cNvSpPr/>
          <p:nvPr/>
        </p:nvSpPr>
        <p:spPr>
          <a:xfrm>
            <a:off x="566928" y="4242816"/>
            <a:ext cx="3551834" cy="1956816"/>
          </a:xfrm>
          <a:prstGeom prst="roundRect">
            <a:avLst>
              <a:gd name="adj" fmla="val 5607"/>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ectangle 20"/>
          <p:cNvSpPr/>
          <p:nvPr/>
        </p:nvSpPr>
        <p:spPr>
          <a:xfrm>
            <a:off x="731520" y="4370832"/>
            <a:ext cx="502920" cy="45720"/>
          </a:xfrm>
          <a:prstGeom prst="rect">
            <a:avLst/>
          </a:prstGeom>
          <a:solidFill>
            <a:srgbClr val="46D2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694944" y="4462272"/>
            <a:ext cx="3295802" cy="353568"/>
          </a:xfrm>
          <a:prstGeom prst="rect">
            <a:avLst/>
          </a:prstGeom>
          <a:noFill/>
        </p:spPr>
        <p:txBody>
          <a:bodyPr wrap="square" lIns="45720" rIns="45720" tIns="27432" bIns="27432" anchor="t">
            <a:noAutofit/>
          </a:bodyPr>
          <a:lstStyle/>
          <a:p>
            <a:pPr algn="l">
              <a:lnSpc>
                <a:spcPct val="100000"/>
              </a:lnSpc>
            </a:pPr>
            <a:r>
              <a:rPr sz="1600" b="0" i="0">
                <a:solidFill>
                  <a:srgbClr val="F7F2E8"/>
                </a:solidFill>
                <a:latin typeface="Segoe UI Semibold"/>
              </a:rPr>
              <a:t>Ctrl+C limpio</a:t>
            </a:r>
          </a:p>
        </p:txBody>
      </p:sp>
      <p:sp>
        <p:nvSpPr>
          <p:cNvPr id="23" name="TextBox 22"/>
          <p:cNvSpPr txBox="1"/>
          <p:nvPr/>
        </p:nvSpPr>
        <p:spPr>
          <a:xfrm>
            <a:off x="694944" y="4815840"/>
            <a:ext cx="3295802" cy="1292352"/>
          </a:xfrm>
          <a:prstGeom prst="rect">
            <a:avLst/>
          </a:prstGeom>
          <a:noFill/>
        </p:spPr>
        <p:txBody>
          <a:bodyPr wrap="square" lIns="45720" rIns="45720" tIns="27432" bIns="27432" anchor="t">
            <a:noAutofit/>
          </a:bodyPr>
          <a:lstStyle/>
          <a:p>
            <a:pPr algn="l">
              <a:lnSpc>
                <a:spcPct val="100000"/>
              </a:lnSpc>
            </a:pPr>
            <a:r>
              <a:rPr sz="1300" b="0" i="0">
                <a:solidFill>
                  <a:srgbClr val="A7B2B0"/>
                </a:solidFill>
                <a:latin typeface="Segoe UI"/>
              </a:rPr>
              <a:t>El manejador de señal sólo pone un evento; un worker limpia, un watchdog garantiza la salida, y un segundo Ctrl+C sale de inmediato.</a:t>
            </a:r>
          </a:p>
        </p:txBody>
      </p:sp>
      <p:sp>
        <p:nvSpPr>
          <p:cNvPr id="24" name="Rounded Rectangle 23"/>
          <p:cNvSpPr/>
          <p:nvPr/>
        </p:nvSpPr>
        <p:spPr>
          <a:xfrm>
            <a:off x="4319930" y="4242816"/>
            <a:ext cx="3551834" cy="1956816"/>
          </a:xfrm>
          <a:prstGeom prst="roundRect">
            <a:avLst>
              <a:gd name="adj" fmla="val 5607"/>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ectangle 24"/>
          <p:cNvSpPr/>
          <p:nvPr/>
        </p:nvSpPr>
        <p:spPr>
          <a:xfrm>
            <a:off x="4484522" y="4370832"/>
            <a:ext cx="502920" cy="45720"/>
          </a:xfrm>
          <a:prstGeom prst="rect">
            <a:avLst/>
          </a:prstGeom>
          <a:solidFill>
            <a:srgbClr val="D25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4447946" y="4462272"/>
            <a:ext cx="3295802" cy="353568"/>
          </a:xfrm>
          <a:prstGeom prst="rect">
            <a:avLst/>
          </a:prstGeom>
          <a:noFill/>
        </p:spPr>
        <p:txBody>
          <a:bodyPr wrap="square" lIns="45720" rIns="45720" tIns="27432" bIns="27432" anchor="t">
            <a:noAutofit/>
          </a:bodyPr>
          <a:lstStyle/>
          <a:p>
            <a:pPr algn="l">
              <a:lnSpc>
                <a:spcPct val="100000"/>
              </a:lnSpc>
            </a:pPr>
            <a:r>
              <a:rPr sz="1600" b="0" i="0">
                <a:solidFill>
                  <a:srgbClr val="F7F2E8"/>
                </a:solidFill>
                <a:latin typeface="Segoe UI Semibold"/>
              </a:rPr>
              <a:t>Puerto configurable</a:t>
            </a:r>
          </a:p>
        </p:txBody>
      </p:sp>
      <p:sp>
        <p:nvSpPr>
          <p:cNvPr id="27" name="TextBox 26"/>
          <p:cNvSpPr txBox="1"/>
          <p:nvPr/>
        </p:nvSpPr>
        <p:spPr>
          <a:xfrm>
            <a:off x="4447946" y="4815840"/>
            <a:ext cx="3295802" cy="1292352"/>
          </a:xfrm>
          <a:prstGeom prst="rect">
            <a:avLst/>
          </a:prstGeom>
          <a:noFill/>
        </p:spPr>
        <p:txBody>
          <a:bodyPr wrap="square" lIns="45720" rIns="45720" tIns="27432" bIns="27432" anchor="t">
            <a:noAutofit/>
          </a:bodyPr>
          <a:lstStyle/>
          <a:p>
            <a:pPr algn="l">
              <a:lnSpc>
                <a:spcPct val="100000"/>
              </a:lnSpc>
            </a:pPr>
            <a:r>
              <a:rPr sz="1200" b="0" i="0">
                <a:solidFill>
                  <a:srgbClr val="E2B462"/>
                </a:solidFill>
                <a:latin typeface="Consolas"/>
              </a:rPr>
              <a:t>django_port</a:t>
            </a:r>
            <a:r>
              <a:rPr sz="1300" b="0" i="0">
                <a:solidFill>
                  <a:srgbClr val="A7B2B0"/>
                </a:solidFill>
                <a:latin typeface="Segoe UI"/>
              </a:rPr>
              <a:t> mueve el puerto web sin recompilar y cae de vuelta a 8000 ante cualquier valor malo.</a:t>
            </a:r>
          </a:p>
        </p:txBody>
      </p:sp>
      <p:sp>
        <p:nvSpPr>
          <p:cNvPr id="28" name="Rounded Rectangle 27"/>
          <p:cNvSpPr/>
          <p:nvPr/>
        </p:nvSpPr>
        <p:spPr>
          <a:xfrm>
            <a:off x="8072932" y="4242816"/>
            <a:ext cx="3551834" cy="1956816"/>
          </a:xfrm>
          <a:prstGeom prst="roundRect">
            <a:avLst>
              <a:gd name="adj" fmla="val 5607"/>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Rectangle 28"/>
          <p:cNvSpPr/>
          <p:nvPr/>
        </p:nvSpPr>
        <p:spPr>
          <a:xfrm>
            <a:off x="8237524" y="4370832"/>
            <a:ext cx="502920" cy="45720"/>
          </a:xfrm>
          <a:prstGeom prst="rect">
            <a:avLst/>
          </a:prstGeom>
          <a:solidFill>
            <a:srgbClr val="D957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8200948" y="4462272"/>
            <a:ext cx="3295802" cy="353568"/>
          </a:xfrm>
          <a:prstGeom prst="rect">
            <a:avLst/>
          </a:prstGeom>
          <a:noFill/>
        </p:spPr>
        <p:txBody>
          <a:bodyPr wrap="square" lIns="45720" rIns="45720" tIns="27432" bIns="27432" anchor="t">
            <a:noAutofit/>
          </a:bodyPr>
          <a:lstStyle/>
          <a:p>
            <a:pPr algn="l">
              <a:lnSpc>
                <a:spcPct val="100000"/>
              </a:lnSpc>
            </a:pPr>
            <a:r>
              <a:rPr sz="1600" b="0" i="0">
                <a:solidFill>
                  <a:srgbClr val="F7F2E8"/>
                </a:solidFill>
                <a:latin typeface="Segoe UI Semibold"/>
              </a:rPr>
              <a:t>Temp y Templates</a:t>
            </a:r>
          </a:p>
        </p:txBody>
      </p:sp>
      <p:sp>
        <p:nvSpPr>
          <p:cNvPr id="31" name="TextBox 30"/>
          <p:cNvSpPr txBox="1"/>
          <p:nvPr/>
        </p:nvSpPr>
        <p:spPr>
          <a:xfrm>
            <a:off x="8200948" y="4815840"/>
            <a:ext cx="3295802" cy="1292352"/>
          </a:xfrm>
          <a:prstGeom prst="rect">
            <a:avLst/>
          </a:prstGeom>
          <a:noFill/>
        </p:spPr>
        <p:txBody>
          <a:bodyPr wrap="square" lIns="45720" rIns="45720" tIns="27432" bIns="27432" anchor="t">
            <a:noAutofit/>
          </a:bodyPr>
          <a:lstStyle/>
          <a:p>
            <a:pPr algn="l">
              <a:lnSpc>
                <a:spcPct val="100000"/>
              </a:lnSpc>
            </a:pPr>
            <a:r>
              <a:rPr sz="1300" b="0" i="0">
                <a:solidFill>
                  <a:srgbClr val="A7B2B0"/>
                </a:solidFill>
                <a:latin typeface="Segoe UI"/>
              </a:rPr>
              <a:t>Los archivos temporales viven bajo la carpeta Temp de la aplicación; los proyectos generados usan de forma predeterminada su carpeta Templates.</a:t>
            </a:r>
          </a:p>
        </p:txBody>
      </p:sp>
      <p:cxnSp>
        <p:nvCxnSpPr>
          <p:cNvPr id="32" name="Connector 31"/>
          <p:cNvCxnSpPr/>
          <p:nvPr/>
        </p:nvCxnSpPr>
        <p:spPr>
          <a:xfrm>
            <a:off x="566928" y="6373368"/>
            <a:ext cx="11057839" cy="0"/>
          </a:xfrm>
          <a:prstGeom prst="line">
            <a:avLst/>
          </a:prstGeom>
          <a:ln w="7620">
            <a:solidFill>
              <a:srgbClr val="2A3A40"/>
            </a:solidFill>
          </a:ln>
        </p:spPr>
        <p:style>
          <a:lnRef idx="2">
            <a:schemeClr val="accent1"/>
          </a:lnRef>
          <a:fillRef idx="0">
            <a:schemeClr val="accent1"/>
          </a:fillRef>
          <a:effectRef idx="1">
            <a:schemeClr val="accent1"/>
          </a:effectRef>
          <a:fontRef idx="minor">
            <a:schemeClr val="tx1"/>
          </a:fontRef>
        </p:style>
      </p:cxnSp>
      <p:sp>
        <p:nvSpPr>
          <p:cNvPr id="33" name="TextBox 32"/>
          <p:cNvSpPr txBox="1"/>
          <p:nvPr/>
        </p:nvSpPr>
        <p:spPr>
          <a:xfrm>
            <a:off x="566928" y="6419088"/>
            <a:ext cx="6858000" cy="274320"/>
          </a:xfrm>
          <a:prstGeom prst="rect">
            <a:avLst/>
          </a:prstGeom>
          <a:noFill/>
        </p:spPr>
        <p:txBody>
          <a:bodyPr wrap="square" lIns="45720" rIns="45720" tIns="27432" bIns="27432" anchor="t">
            <a:noAutofit/>
          </a:bodyPr>
          <a:lstStyle/>
          <a:p>
            <a:pPr algn="l">
              <a:lnSpc>
                <a:spcPct val="100000"/>
              </a:lnSpc>
            </a:pPr>
            <a:r>
              <a:rPr sz="850" b="0" i="0" spc="120">
                <a:solidFill>
                  <a:srgbClr val="A7B2B0"/>
                </a:solidFill>
                <a:latin typeface="Segoe UI Semibold"/>
              </a:rPr>
              <a:t>TLAMATINI  ·  II · CÓMO FUNCIONA</a:t>
            </a:r>
          </a:p>
        </p:txBody>
      </p:sp>
      <p:sp>
        <p:nvSpPr>
          <p:cNvPr id="34" name="TextBox 33"/>
          <p:cNvSpPr txBox="1"/>
          <p:nvPr/>
        </p:nvSpPr>
        <p:spPr>
          <a:xfrm>
            <a:off x="8698687" y="6419088"/>
            <a:ext cx="2926080" cy="274320"/>
          </a:xfrm>
          <a:prstGeom prst="rect">
            <a:avLst/>
          </a:prstGeom>
          <a:noFill/>
        </p:spPr>
        <p:txBody>
          <a:bodyPr wrap="square" lIns="45720" rIns="45720" tIns="27432" bIns="27432" anchor="t">
            <a:noAutofit/>
          </a:bodyPr>
          <a:lstStyle/>
          <a:p>
            <a:pPr algn="r">
              <a:lnSpc>
                <a:spcPct val="100000"/>
              </a:lnSpc>
            </a:pPr>
            <a:r>
              <a:rPr sz="850" b="0" i="0" spc="100">
                <a:solidFill>
                  <a:srgbClr val="A7B2B0"/>
                </a:solidFill>
                <a:latin typeface="Segoe UI Semibold"/>
              </a:rPr>
              <a:t>v1.91.1   ·   25</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divider.png"/>
          <p:cNvPicPr>
            <a:picLocks noChangeAspect="1"/>
          </p:cNvPicPr>
          <p:nvPr/>
        </p:nvPicPr>
        <p:blipFill>
          <a:blip r:embed="rId2"/>
          <a:stretch>
            <a:fillRect/>
          </a:stretch>
        </p:blipFill>
        <p:spPr>
          <a:xfrm>
            <a:off x="0" y="0"/>
            <a:ext cx="12191695" cy="6858000"/>
          </a:xfrm>
          <a:prstGeom prst="rect">
            <a:avLst/>
          </a:prstGeom>
        </p:spPr>
      </p:pic>
      <p:sp>
        <p:nvSpPr>
          <p:cNvPr id="3" name="TextBox 2"/>
          <p:cNvSpPr txBox="1"/>
          <p:nvPr/>
        </p:nvSpPr>
        <p:spPr>
          <a:xfrm>
            <a:off x="822960" y="868680"/>
            <a:ext cx="4572000" cy="365760"/>
          </a:xfrm>
          <a:prstGeom prst="rect">
            <a:avLst/>
          </a:prstGeom>
          <a:noFill/>
        </p:spPr>
        <p:txBody>
          <a:bodyPr wrap="square" lIns="45720" rIns="45720" tIns="27432" bIns="27432" anchor="t">
            <a:noAutofit/>
          </a:bodyPr>
          <a:lstStyle/>
          <a:p>
            <a:pPr algn="l">
              <a:lnSpc>
                <a:spcPct val="100000"/>
              </a:lnSpc>
            </a:pPr>
            <a:r>
              <a:rPr sz="1300" b="0" i="0" spc="340">
                <a:solidFill>
                  <a:srgbClr val="E2B462"/>
                </a:solidFill>
                <a:latin typeface="Segoe UI Semibold"/>
              </a:rPr>
              <a:t>CHAPTER</a:t>
            </a:r>
          </a:p>
        </p:txBody>
      </p:sp>
      <p:sp>
        <p:nvSpPr>
          <p:cNvPr id="4" name="TextBox 3"/>
          <p:cNvSpPr txBox="1"/>
          <p:nvPr/>
        </p:nvSpPr>
        <p:spPr>
          <a:xfrm>
            <a:off x="749808" y="1261872"/>
            <a:ext cx="5029200" cy="1691640"/>
          </a:xfrm>
          <a:prstGeom prst="rect">
            <a:avLst/>
          </a:prstGeom>
          <a:noFill/>
        </p:spPr>
        <p:txBody>
          <a:bodyPr wrap="square" lIns="45720" rIns="45720" tIns="27432" bIns="27432" anchor="t">
            <a:noAutofit/>
          </a:bodyPr>
          <a:lstStyle/>
          <a:p>
            <a:pPr algn="l">
              <a:lnSpc>
                <a:spcPct val="100000"/>
              </a:lnSpc>
            </a:pPr>
            <a:r>
              <a:rPr sz="10550" b="0" i="0">
                <a:solidFill>
                  <a:srgbClr val="C98457"/>
                </a:solidFill>
                <a:latin typeface="Palatino Linotype"/>
              </a:rPr>
              <a:t>III</a:t>
            </a:r>
          </a:p>
        </p:txBody>
      </p:sp>
      <p:sp>
        <p:nvSpPr>
          <p:cNvPr id="5" name="TextBox 4"/>
          <p:cNvSpPr txBox="1"/>
          <p:nvPr/>
        </p:nvSpPr>
        <p:spPr>
          <a:xfrm>
            <a:off x="822960" y="2971800"/>
            <a:ext cx="6766560" cy="1280160"/>
          </a:xfrm>
          <a:prstGeom prst="rect">
            <a:avLst/>
          </a:prstGeom>
          <a:noFill/>
        </p:spPr>
        <p:txBody>
          <a:bodyPr wrap="square" lIns="45720" rIns="45720" tIns="27432" bIns="27432" anchor="t">
            <a:noAutofit/>
          </a:bodyPr>
          <a:lstStyle/>
          <a:p>
            <a:pPr algn="l">
              <a:lnSpc>
                <a:spcPct val="100000"/>
              </a:lnSpc>
            </a:pPr>
            <a:r>
              <a:rPr sz="4600" b="0" i="0">
                <a:solidFill>
                  <a:srgbClr val="F7F2E8"/>
                </a:solidFill>
                <a:latin typeface="Palatino Linotype"/>
              </a:rPr>
              <a:t>Dónde trabajas con ella</a:t>
            </a:r>
          </a:p>
        </p:txBody>
      </p:sp>
      <p:sp>
        <p:nvSpPr>
          <p:cNvPr id="6" name="Rectangle 5"/>
          <p:cNvSpPr/>
          <p:nvPr/>
        </p:nvSpPr>
        <p:spPr>
          <a:xfrm>
            <a:off x="841248" y="4315968"/>
            <a:ext cx="1005840" cy="45720"/>
          </a:xfrm>
          <a:prstGeom prst="rect">
            <a:avLst/>
          </a:prstGeom>
          <a:solidFill>
            <a:srgbClr val="E2B4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822960" y="4443984"/>
            <a:ext cx="6400800" cy="731520"/>
          </a:xfrm>
          <a:prstGeom prst="rect">
            <a:avLst/>
          </a:prstGeom>
          <a:noFill/>
        </p:spPr>
        <p:txBody>
          <a:bodyPr wrap="square" lIns="45720" rIns="45720" tIns="27432" bIns="27432" anchor="t">
            <a:noAutofit/>
          </a:bodyPr>
          <a:lstStyle/>
          <a:p>
            <a:pPr algn="l">
              <a:lnSpc>
                <a:spcPct val="100000"/>
              </a:lnSpc>
            </a:pPr>
            <a:r>
              <a:rPr sz="1800" b="0" i="0">
                <a:solidFill>
                  <a:srgbClr val="ECE7DC"/>
                </a:solidFill>
                <a:latin typeface="Segoe UI Light"/>
              </a:rPr>
              <a:t>El chat, los dos canvases, el catálogo y los diálogos que operan todo lo demás.</a:t>
            </a:r>
          </a:p>
        </p:txBody>
      </p:sp>
      <p:cxnSp>
        <p:nvCxnSpPr>
          <p:cNvPr id="8" name="Connector 7"/>
          <p:cNvCxnSpPr/>
          <p:nvPr/>
        </p:nvCxnSpPr>
        <p:spPr>
          <a:xfrm>
            <a:off x="566928" y="6373368"/>
            <a:ext cx="11057839" cy="0"/>
          </a:xfrm>
          <a:prstGeom prst="line">
            <a:avLst/>
          </a:prstGeom>
          <a:ln w="7620">
            <a:solidFill>
              <a:srgbClr val="2A3A40"/>
            </a:solidFill>
          </a:ln>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566928" y="6419088"/>
            <a:ext cx="6858000" cy="274320"/>
          </a:xfrm>
          <a:prstGeom prst="rect">
            <a:avLst/>
          </a:prstGeom>
          <a:noFill/>
        </p:spPr>
        <p:txBody>
          <a:bodyPr wrap="square" lIns="45720" rIns="45720" tIns="27432" bIns="27432" anchor="t">
            <a:noAutofit/>
          </a:bodyPr>
          <a:lstStyle/>
          <a:p>
            <a:pPr algn="l">
              <a:lnSpc>
                <a:spcPct val="100000"/>
              </a:lnSpc>
            </a:pPr>
            <a:r>
              <a:rPr sz="850" b="0" i="0" spc="120">
                <a:solidFill>
                  <a:srgbClr val="A7B2B0"/>
                </a:solidFill>
                <a:latin typeface="Segoe UI Semibold"/>
              </a:rPr>
              <a:t>TLAMATINI  ·  CAPÍTULO III</a:t>
            </a:r>
          </a:p>
        </p:txBody>
      </p:sp>
      <p:sp>
        <p:nvSpPr>
          <p:cNvPr id="10" name="TextBox 9"/>
          <p:cNvSpPr txBox="1"/>
          <p:nvPr/>
        </p:nvSpPr>
        <p:spPr>
          <a:xfrm>
            <a:off x="8698687" y="6419088"/>
            <a:ext cx="2926080" cy="274320"/>
          </a:xfrm>
          <a:prstGeom prst="rect">
            <a:avLst/>
          </a:prstGeom>
          <a:noFill/>
        </p:spPr>
        <p:txBody>
          <a:bodyPr wrap="square" lIns="45720" rIns="45720" tIns="27432" bIns="27432" anchor="t">
            <a:noAutofit/>
          </a:bodyPr>
          <a:lstStyle/>
          <a:p>
            <a:pPr algn="r">
              <a:lnSpc>
                <a:spcPct val="100000"/>
              </a:lnSpc>
            </a:pPr>
            <a:r>
              <a:rPr sz="850" b="0" i="0" spc="100">
                <a:solidFill>
                  <a:srgbClr val="A7B2B0"/>
                </a:solidFill>
                <a:latin typeface="Segoe UI Semibold"/>
              </a:rPr>
              <a:t>v1.91.1   ·   26</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content.png"/>
          <p:cNvPicPr>
            <a:picLocks noChangeAspect="1"/>
          </p:cNvPicPr>
          <p:nvPr/>
        </p:nvPicPr>
        <p:blipFill>
          <a:blip r:embed="rId2"/>
          <a:stretch>
            <a:fillRect/>
          </a:stretch>
        </p:blipFill>
        <p:spPr>
          <a:xfrm>
            <a:off x="0" y="0"/>
            <a:ext cx="12191695" cy="6858000"/>
          </a:xfrm>
          <a:prstGeom prst="rect">
            <a:avLst/>
          </a:prstGeom>
        </p:spPr>
      </p:pic>
      <p:sp>
        <p:nvSpPr>
          <p:cNvPr id="3" name="Diamond 2"/>
          <p:cNvSpPr/>
          <p:nvPr/>
        </p:nvSpPr>
        <p:spPr>
          <a:xfrm>
            <a:off x="566928" y="457200"/>
            <a:ext cx="100584" cy="100584"/>
          </a:xfrm>
          <a:prstGeom prst="diamond">
            <a:avLst/>
          </a:prstGeom>
          <a:solidFill>
            <a:srgbClr val="E2B4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49808" y="365760"/>
            <a:ext cx="8229600" cy="292608"/>
          </a:xfrm>
          <a:prstGeom prst="rect">
            <a:avLst/>
          </a:prstGeom>
          <a:noFill/>
        </p:spPr>
        <p:txBody>
          <a:bodyPr wrap="square" lIns="45720" rIns="45720" tIns="27432" bIns="27432" anchor="t">
            <a:noAutofit/>
          </a:bodyPr>
          <a:lstStyle/>
          <a:p>
            <a:pPr algn="l">
              <a:lnSpc>
                <a:spcPct val="100000"/>
              </a:lnSpc>
            </a:pPr>
            <a:r>
              <a:rPr sz="1100" b="0" i="0" spc="240">
                <a:solidFill>
                  <a:srgbClr val="C98457"/>
                </a:solidFill>
                <a:latin typeface="Segoe UI Semibold"/>
              </a:rPr>
              <a:t>CONFIGURACIÓN · v1.91.0</a:t>
            </a:r>
          </a:p>
        </p:txBody>
      </p:sp>
      <p:sp>
        <p:nvSpPr>
          <p:cNvPr id="5" name="TextBox 4"/>
          <p:cNvSpPr txBox="1"/>
          <p:nvPr/>
        </p:nvSpPr>
        <p:spPr>
          <a:xfrm>
            <a:off x="539496" y="676656"/>
            <a:ext cx="11057839" cy="658368"/>
          </a:xfrm>
          <a:prstGeom prst="rect">
            <a:avLst/>
          </a:prstGeom>
          <a:noFill/>
        </p:spPr>
        <p:txBody>
          <a:bodyPr wrap="square" lIns="45720" rIns="45720" tIns="27432" bIns="27432" anchor="t">
            <a:noAutofit/>
          </a:bodyPr>
          <a:lstStyle/>
          <a:p>
            <a:pPr algn="l">
              <a:lnSpc>
                <a:spcPct val="100000"/>
              </a:lnSpc>
            </a:pPr>
            <a:r>
              <a:rPr sz="3100" b="0" i="0">
                <a:solidFill>
                  <a:srgbClr val="F7F2E8"/>
                </a:solidFill>
                <a:latin typeface="Palatino Linotype"/>
              </a:rPr>
              <a:t>Elige cómo escribe y cómo enseña</a:t>
            </a:r>
          </a:p>
        </p:txBody>
      </p:sp>
      <p:sp>
        <p:nvSpPr>
          <p:cNvPr id="6" name="Rectangle 5"/>
          <p:cNvSpPr/>
          <p:nvPr/>
        </p:nvSpPr>
        <p:spPr>
          <a:xfrm>
            <a:off x="566928" y="1344168"/>
            <a:ext cx="822960" cy="36576"/>
          </a:xfrm>
          <a:prstGeom prst="rect">
            <a:avLst/>
          </a:prstGeom>
          <a:solidFill>
            <a:srgbClr val="E2B4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566928" y="1444752"/>
            <a:ext cx="10692079" cy="585216"/>
          </a:xfrm>
          <a:prstGeom prst="rect">
            <a:avLst/>
          </a:prstGeom>
          <a:noFill/>
        </p:spPr>
        <p:txBody>
          <a:bodyPr wrap="square" lIns="45720" rIns="45720" tIns="27432" bIns="27432" anchor="t">
            <a:noAutofit/>
          </a:bodyPr>
          <a:lstStyle/>
          <a:p>
            <a:pPr algn="l">
              <a:lnSpc>
                <a:spcPct val="100000"/>
              </a:lnSpc>
            </a:pPr>
            <a:r>
              <a:rPr sz="1450" b="0" i="0">
                <a:solidFill>
                  <a:srgbClr val="A7B2B0"/>
                </a:solidFill>
                <a:latin typeface="Segoe UI Semilight"/>
              </a:rPr>
              <a:t>Config → Live Editor &amp; Terminater abre un diálogo compartido en el chat y en los paneles de control.</a:t>
            </a:r>
          </a:p>
        </p:txBody>
      </p:sp>
      <p:sp>
        <p:nvSpPr>
          <p:cNvPr id="8" name="Rounded Rectangle 7"/>
          <p:cNvSpPr/>
          <p:nvPr/>
        </p:nvSpPr>
        <p:spPr>
          <a:xfrm>
            <a:off x="566928" y="2084831"/>
            <a:ext cx="5428335" cy="1956816"/>
          </a:xfrm>
          <a:prstGeom prst="roundRect">
            <a:avLst>
              <a:gd name="adj" fmla="val 5607"/>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ectangle 8"/>
          <p:cNvSpPr/>
          <p:nvPr/>
        </p:nvSpPr>
        <p:spPr>
          <a:xfrm>
            <a:off x="731520" y="2212848"/>
            <a:ext cx="502920" cy="45720"/>
          </a:xfrm>
          <a:prstGeom prst="rect">
            <a:avLst/>
          </a:prstGeom>
          <a:solidFill>
            <a:srgbClr val="3BBE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694944" y="2304287"/>
            <a:ext cx="5172303" cy="353568"/>
          </a:xfrm>
          <a:prstGeom prst="rect">
            <a:avLst/>
          </a:prstGeom>
          <a:noFill/>
        </p:spPr>
        <p:txBody>
          <a:bodyPr wrap="square" lIns="45720" rIns="45720" tIns="27432" bIns="27432" anchor="t">
            <a:noAutofit/>
          </a:bodyPr>
          <a:lstStyle/>
          <a:p>
            <a:pPr algn="l">
              <a:lnSpc>
                <a:spcPct val="100000"/>
              </a:lnSpc>
            </a:pPr>
            <a:r>
              <a:rPr sz="1600" b="0" i="0">
                <a:solidFill>
                  <a:srgbClr val="F7F2E8"/>
                </a:solidFill>
                <a:latin typeface="Segoe UI Semibold"/>
              </a:rPr>
              <a:t>Ritmo</a:t>
            </a:r>
          </a:p>
        </p:txBody>
      </p:sp>
      <p:sp>
        <p:nvSpPr>
          <p:cNvPr id="11" name="TextBox 10"/>
          <p:cNvSpPr txBox="1"/>
          <p:nvPr/>
        </p:nvSpPr>
        <p:spPr>
          <a:xfrm>
            <a:off x="694944" y="2657855"/>
            <a:ext cx="5172303" cy="1292352"/>
          </a:xfrm>
          <a:prstGeom prst="rect">
            <a:avLst/>
          </a:prstGeom>
          <a:noFill/>
        </p:spPr>
        <p:txBody>
          <a:bodyPr wrap="square" lIns="45720" rIns="45720" tIns="27432" bIns="27432" anchor="t">
            <a:noAutofit/>
          </a:bodyPr>
          <a:lstStyle/>
          <a:p>
            <a:pPr algn="l">
              <a:lnSpc>
                <a:spcPct val="100000"/>
              </a:lnSpc>
            </a:pPr>
            <a:r>
              <a:rPr sz="1300" b="0" i="0">
                <a:solidFill>
                  <a:srgbClr val="A7B2B0"/>
                </a:solidFill>
                <a:latin typeface="Segoe UI"/>
              </a:rPr>
              <a:t>Velocidades separadas o un ajuste ligado de 40 a 160 WPM; sin escribir de golpe.</a:t>
            </a:r>
          </a:p>
        </p:txBody>
      </p:sp>
      <p:sp>
        <p:nvSpPr>
          <p:cNvPr id="12" name="Rounded Rectangle 11"/>
          <p:cNvSpPr/>
          <p:nvPr/>
        </p:nvSpPr>
        <p:spPr>
          <a:xfrm>
            <a:off x="6196431" y="2084831"/>
            <a:ext cx="5428335" cy="1956816"/>
          </a:xfrm>
          <a:prstGeom prst="roundRect">
            <a:avLst>
              <a:gd name="adj" fmla="val 5607"/>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6361023" y="2212848"/>
            <a:ext cx="502920" cy="45720"/>
          </a:xfrm>
          <a:prstGeom prst="rect">
            <a:avLst/>
          </a:prstGeom>
          <a:solidFill>
            <a:srgbClr val="C984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324447" y="2304287"/>
            <a:ext cx="5172303" cy="353568"/>
          </a:xfrm>
          <a:prstGeom prst="rect">
            <a:avLst/>
          </a:prstGeom>
          <a:noFill/>
        </p:spPr>
        <p:txBody>
          <a:bodyPr wrap="square" lIns="45720" rIns="45720" tIns="27432" bIns="27432" anchor="t">
            <a:noAutofit/>
          </a:bodyPr>
          <a:lstStyle/>
          <a:p>
            <a:pPr algn="l">
              <a:lnSpc>
                <a:spcPct val="100000"/>
              </a:lnSpc>
            </a:pPr>
            <a:r>
              <a:rPr sz="1600" b="0" i="0">
                <a:solidFill>
                  <a:srgbClr val="F7F2E8"/>
                </a:solidFill>
                <a:latin typeface="Segoe UI Semibold"/>
              </a:rPr>
              <a:t>Enseñanza</a:t>
            </a:r>
          </a:p>
        </p:txBody>
      </p:sp>
      <p:sp>
        <p:nvSpPr>
          <p:cNvPr id="15" name="TextBox 14"/>
          <p:cNvSpPr txBox="1"/>
          <p:nvPr/>
        </p:nvSpPr>
        <p:spPr>
          <a:xfrm>
            <a:off x="6324447" y="2657855"/>
            <a:ext cx="5172303" cy="1292352"/>
          </a:xfrm>
          <a:prstGeom prst="rect">
            <a:avLst/>
          </a:prstGeom>
          <a:noFill/>
        </p:spPr>
        <p:txBody>
          <a:bodyPr wrap="square" lIns="45720" rIns="45720" tIns="27432" bIns="27432" anchor="t">
            <a:noAutofit/>
          </a:bodyPr>
          <a:lstStyle/>
          <a:p>
            <a:pPr algn="l">
              <a:lnSpc>
                <a:spcPct val="100000"/>
              </a:lnSpc>
            </a:pPr>
            <a:r>
              <a:rPr sz="1300" b="0" i="0">
                <a:solidFill>
                  <a:srgbClr val="A7B2B0"/>
                </a:solidFill>
                <a:latin typeface="Segoe UI"/>
              </a:rPr>
              <a:t>Guía breve, equilibrada o detallada, con sugerencias locales opcionales.</a:t>
            </a:r>
          </a:p>
        </p:txBody>
      </p:sp>
      <p:sp>
        <p:nvSpPr>
          <p:cNvPr id="16" name="Rounded Rectangle 15"/>
          <p:cNvSpPr/>
          <p:nvPr/>
        </p:nvSpPr>
        <p:spPr>
          <a:xfrm>
            <a:off x="566928" y="4242816"/>
            <a:ext cx="5428335" cy="1956816"/>
          </a:xfrm>
          <a:prstGeom prst="roundRect">
            <a:avLst>
              <a:gd name="adj" fmla="val 5607"/>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31520" y="4370832"/>
            <a:ext cx="502920" cy="45720"/>
          </a:xfrm>
          <a:prstGeom prst="rect">
            <a:avLst/>
          </a:prstGeom>
          <a:solidFill>
            <a:srgbClr val="E2B4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694944" y="4462272"/>
            <a:ext cx="5172303" cy="353568"/>
          </a:xfrm>
          <a:prstGeom prst="rect">
            <a:avLst/>
          </a:prstGeom>
          <a:noFill/>
        </p:spPr>
        <p:txBody>
          <a:bodyPr wrap="square" lIns="45720" rIns="45720" tIns="27432" bIns="27432" anchor="t">
            <a:noAutofit/>
          </a:bodyPr>
          <a:lstStyle/>
          <a:p>
            <a:pPr algn="l">
              <a:lnSpc>
                <a:spcPct val="100000"/>
              </a:lnSpc>
            </a:pPr>
            <a:r>
              <a:rPr sz="1600" b="0" i="0">
                <a:solidFill>
                  <a:srgbClr val="F7F2E8"/>
                </a:solidFill>
                <a:latin typeface="Segoe UI Semibold"/>
              </a:rPr>
              <a:t>Apariencia</a:t>
            </a:r>
          </a:p>
        </p:txBody>
      </p:sp>
      <p:sp>
        <p:nvSpPr>
          <p:cNvPr id="19" name="TextBox 18"/>
          <p:cNvSpPr txBox="1"/>
          <p:nvPr/>
        </p:nvSpPr>
        <p:spPr>
          <a:xfrm>
            <a:off x="694944" y="4815840"/>
            <a:ext cx="5172303" cy="1292352"/>
          </a:xfrm>
          <a:prstGeom prst="rect">
            <a:avLst/>
          </a:prstGeom>
          <a:noFill/>
        </p:spPr>
        <p:txBody>
          <a:bodyPr wrap="square" lIns="45720" rIns="45720" tIns="27432" bIns="27432" anchor="t">
            <a:noAutofit/>
          </a:bodyPr>
          <a:lstStyle/>
          <a:p>
            <a:pPr algn="l">
              <a:lnSpc>
                <a:spcPct val="100000"/>
              </a:lnSpc>
            </a:pPr>
            <a:r>
              <a:rPr sz="1300" b="0" i="0">
                <a:solidFill>
                  <a:srgbClr val="A7B2B0"/>
                </a:solidFill>
                <a:latin typeface="Segoe UI"/>
              </a:rPr>
              <a:t>La presentación del editor y de la terminal se guarda por cuenta/browser.</a:t>
            </a:r>
          </a:p>
        </p:txBody>
      </p:sp>
      <p:sp>
        <p:nvSpPr>
          <p:cNvPr id="20" name="Rounded Rectangle 19"/>
          <p:cNvSpPr/>
          <p:nvPr/>
        </p:nvSpPr>
        <p:spPr>
          <a:xfrm>
            <a:off x="6196431" y="4242816"/>
            <a:ext cx="5428335" cy="1956816"/>
          </a:xfrm>
          <a:prstGeom prst="roundRect">
            <a:avLst>
              <a:gd name="adj" fmla="val 5607"/>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ectangle 20"/>
          <p:cNvSpPr/>
          <p:nvPr/>
        </p:nvSpPr>
        <p:spPr>
          <a:xfrm>
            <a:off x="6361023" y="4370832"/>
            <a:ext cx="502920" cy="45720"/>
          </a:xfrm>
          <a:prstGeom prst="rect">
            <a:avLst/>
          </a:prstGeom>
          <a:solidFill>
            <a:srgbClr val="46D2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6324447" y="4462272"/>
            <a:ext cx="5172303" cy="353568"/>
          </a:xfrm>
          <a:prstGeom prst="rect">
            <a:avLst/>
          </a:prstGeom>
          <a:noFill/>
        </p:spPr>
        <p:txBody>
          <a:bodyPr wrap="square" lIns="45720" rIns="45720" tIns="27432" bIns="27432" anchor="t">
            <a:noAutofit/>
          </a:bodyPr>
          <a:lstStyle/>
          <a:p>
            <a:pPr algn="l">
              <a:lnSpc>
                <a:spcPct val="100000"/>
              </a:lnSpc>
            </a:pPr>
            <a:r>
              <a:rPr sz="1600" b="0" i="0">
                <a:solidFill>
                  <a:srgbClr val="F7F2E8"/>
                </a:solidFill>
                <a:latin typeface="Segoe UI Semibold"/>
              </a:rPr>
              <a:t>Cuenta</a:t>
            </a:r>
          </a:p>
        </p:txBody>
      </p:sp>
      <p:sp>
        <p:nvSpPr>
          <p:cNvPr id="23" name="TextBox 22"/>
          <p:cNvSpPr txBox="1"/>
          <p:nvPr/>
        </p:nvSpPr>
        <p:spPr>
          <a:xfrm>
            <a:off x="6324447" y="4815840"/>
            <a:ext cx="5172303" cy="1292352"/>
          </a:xfrm>
          <a:prstGeom prst="rect">
            <a:avLst/>
          </a:prstGeom>
          <a:noFill/>
        </p:spPr>
        <p:txBody>
          <a:bodyPr wrap="square" lIns="45720" rIns="45720" tIns="27432" bIns="27432" anchor="t">
            <a:noAutofit/>
          </a:bodyPr>
          <a:lstStyle/>
          <a:p>
            <a:pPr algn="l">
              <a:lnSpc>
                <a:spcPct val="100000"/>
              </a:lnSpc>
            </a:pPr>
            <a:r>
              <a:rPr sz="1300" b="0" i="0">
                <a:solidFill>
                  <a:srgbClr val="A7B2B0"/>
                </a:solidFill>
                <a:latin typeface="Segoe UI"/>
              </a:rPr>
              <a:t>El comportamiento persiste en el servidor; los guardados simultáneos detectan conflictos de revisión.</a:t>
            </a:r>
          </a:p>
        </p:txBody>
      </p:sp>
      <p:cxnSp>
        <p:nvCxnSpPr>
          <p:cNvPr id="24" name="Connector 23"/>
          <p:cNvCxnSpPr/>
          <p:nvPr/>
        </p:nvCxnSpPr>
        <p:spPr>
          <a:xfrm>
            <a:off x="566928" y="6373368"/>
            <a:ext cx="11057839" cy="0"/>
          </a:xfrm>
          <a:prstGeom prst="line">
            <a:avLst/>
          </a:prstGeom>
          <a:ln w="7620">
            <a:solidFill>
              <a:srgbClr val="2A3A40"/>
            </a:solidFill>
          </a:ln>
        </p:spPr>
        <p:style>
          <a:lnRef idx="2">
            <a:schemeClr val="accent1"/>
          </a:lnRef>
          <a:fillRef idx="0">
            <a:schemeClr val="accent1"/>
          </a:fillRef>
          <a:effectRef idx="1">
            <a:schemeClr val="accent1"/>
          </a:effectRef>
          <a:fontRef idx="minor">
            <a:schemeClr val="tx1"/>
          </a:fontRef>
        </p:style>
      </p:cxnSp>
      <p:sp>
        <p:nvSpPr>
          <p:cNvPr id="25" name="TextBox 24"/>
          <p:cNvSpPr txBox="1"/>
          <p:nvPr/>
        </p:nvSpPr>
        <p:spPr>
          <a:xfrm>
            <a:off x="566928" y="6419088"/>
            <a:ext cx="6858000" cy="274320"/>
          </a:xfrm>
          <a:prstGeom prst="rect">
            <a:avLst/>
          </a:prstGeom>
          <a:noFill/>
        </p:spPr>
        <p:txBody>
          <a:bodyPr wrap="square" lIns="45720" rIns="45720" tIns="27432" bIns="27432" anchor="t">
            <a:noAutofit/>
          </a:bodyPr>
          <a:lstStyle/>
          <a:p>
            <a:pPr algn="l">
              <a:lnSpc>
                <a:spcPct val="100000"/>
              </a:lnSpc>
            </a:pPr>
            <a:r>
              <a:rPr sz="850" b="0" i="0" spc="120">
                <a:solidFill>
                  <a:srgbClr val="A7B2B0"/>
                </a:solidFill>
                <a:latin typeface="Segoe UI Semibold"/>
              </a:rPr>
              <a:t>TLAMATINI  ·  III · DÓNDE TRABAJAS CON ELLA</a:t>
            </a:r>
          </a:p>
        </p:txBody>
      </p:sp>
      <p:sp>
        <p:nvSpPr>
          <p:cNvPr id="26" name="TextBox 25"/>
          <p:cNvSpPr txBox="1"/>
          <p:nvPr/>
        </p:nvSpPr>
        <p:spPr>
          <a:xfrm>
            <a:off x="8698687" y="6419088"/>
            <a:ext cx="2926080" cy="274320"/>
          </a:xfrm>
          <a:prstGeom prst="rect">
            <a:avLst/>
          </a:prstGeom>
          <a:noFill/>
        </p:spPr>
        <p:txBody>
          <a:bodyPr wrap="square" lIns="45720" rIns="45720" tIns="27432" bIns="27432" anchor="t">
            <a:noAutofit/>
          </a:bodyPr>
          <a:lstStyle/>
          <a:p>
            <a:pPr algn="r">
              <a:lnSpc>
                <a:spcPct val="100000"/>
              </a:lnSpc>
            </a:pPr>
            <a:r>
              <a:rPr sz="850" b="0" i="0" spc="100">
                <a:solidFill>
                  <a:srgbClr val="A7B2B0"/>
                </a:solidFill>
                <a:latin typeface="Segoe UI Semibold"/>
              </a:rPr>
              <a:t>v1.91.1   ·   27</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content.png"/>
          <p:cNvPicPr>
            <a:picLocks noChangeAspect="1"/>
          </p:cNvPicPr>
          <p:nvPr/>
        </p:nvPicPr>
        <p:blipFill>
          <a:blip r:embed="rId2"/>
          <a:stretch>
            <a:fillRect/>
          </a:stretch>
        </p:blipFill>
        <p:spPr>
          <a:xfrm>
            <a:off x="0" y="0"/>
            <a:ext cx="12191695" cy="6858000"/>
          </a:xfrm>
          <a:prstGeom prst="rect">
            <a:avLst/>
          </a:prstGeom>
        </p:spPr>
      </p:pic>
      <p:sp>
        <p:nvSpPr>
          <p:cNvPr id="3" name="Diamond 2"/>
          <p:cNvSpPr/>
          <p:nvPr/>
        </p:nvSpPr>
        <p:spPr>
          <a:xfrm>
            <a:off x="566928" y="457200"/>
            <a:ext cx="100584" cy="100584"/>
          </a:xfrm>
          <a:prstGeom prst="diamond">
            <a:avLst/>
          </a:prstGeom>
          <a:solidFill>
            <a:srgbClr val="E2B4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49808" y="365760"/>
            <a:ext cx="8229600" cy="292608"/>
          </a:xfrm>
          <a:prstGeom prst="rect">
            <a:avLst/>
          </a:prstGeom>
          <a:noFill/>
        </p:spPr>
        <p:txBody>
          <a:bodyPr wrap="square" lIns="45720" rIns="45720" tIns="27432" bIns="27432" anchor="t">
            <a:noAutofit/>
          </a:bodyPr>
          <a:lstStyle/>
          <a:p>
            <a:pPr algn="l">
              <a:lnSpc>
                <a:spcPct val="100000"/>
              </a:lnSpc>
            </a:pPr>
            <a:r>
              <a:rPr sz="1100" b="0" i="0" spc="240">
                <a:solidFill>
                  <a:srgbClr val="C98457"/>
                </a:solidFill>
                <a:latin typeface="Segoe UI Semibold"/>
              </a:rPr>
              <a:t>CONFIGURACIÓN DE TERMINATER</a:t>
            </a:r>
          </a:p>
        </p:txBody>
      </p:sp>
      <p:sp>
        <p:nvSpPr>
          <p:cNvPr id="5" name="TextBox 4"/>
          <p:cNvSpPr txBox="1"/>
          <p:nvPr/>
        </p:nvSpPr>
        <p:spPr>
          <a:xfrm>
            <a:off x="539496" y="676656"/>
            <a:ext cx="11057839" cy="658368"/>
          </a:xfrm>
          <a:prstGeom prst="rect">
            <a:avLst/>
          </a:prstGeom>
          <a:noFill/>
        </p:spPr>
        <p:txBody>
          <a:bodyPr wrap="square" lIns="45720" rIns="45720" tIns="27432" bIns="27432" anchor="t">
            <a:noAutofit/>
          </a:bodyPr>
          <a:lstStyle/>
          <a:p>
            <a:pPr algn="l">
              <a:lnSpc>
                <a:spcPct val="100000"/>
              </a:lnSpc>
            </a:pPr>
            <a:r>
              <a:rPr sz="3100" b="0" i="0">
                <a:solidFill>
                  <a:srgbClr val="F7F2E8"/>
                </a:solidFill>
                <a:latin typeface="Palatino Linotype"/>
              </a:rPr>
              <a:t>Un comando sigue los controles de quien aprende</a:t>
            </a:r>
          </a:p>
        </p:txBody>
      </p:sp>
      <p:sp>
        <p:nvSpPr>
          <p:cNvPr id="6" name="Rectangle 5"/>
          <p:cNvSpPr/>
          <p:nvPr/>
        </p:nvSpPr>
        <p:spPr>
          <a:xfrm>
            <a:off x="566928" y="1344168"/>
            <a:ext cx="822960" cy="36576"/>
          </a:xfrm>
          <a:prstGeom prst="rect">
            <a:avLst/>
          </a:prstGeom>
          <a:solidFill>
            <a:srgbClr val="E2B4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566928" y="1444752"/>
            <a:ext cx="10692079" cy="585216"/>
          </a:xfrm>
          <a:prstGeom prst="rect">
            <a:avLst/>
          </a:prstGeom>
          <a:noFill/>
        </p:spPr>
        <p:txBody>
          <a:bodyPr wrap="square" lIns="45720" rIns="45720" tIns="27432" bIns="27432" anchor="t">
            <a:noAutofit/>
          </a:bodyPr>
          <a:lstStyle/>
          <a:p>
            <a:pPr algn="l">
              <a:lnSpc>
                <a:spcPct val="100000"/>
              </a:lnSpc>
            </a:pPr>
            <a:r>
              <a:rPr sz="1450" b="0" i="0">
                <a:solidFill>
                  <a:srgbClr val="A7B2B0"/>
                </a:solidFill>
                <a:latin typeface="Segoe UI Semilight"/>
              </a:rPr>
              <a:t>Un solo TerminalHub resuelve las preferencias de la cuenta en el chat, el ACP, el Prompt Flow y las acciones del browser.</a:t>
            </a:r>
          </a:p>
        </p:txBody>
      </p:sp>
      <p:sp>
        <p:nvSpPr>
          <p:cNvPr id="8" name="Rounded Rectangle 7"/>
          <p:cNvSpPr/>
          <p:nvPr/>
        </p:nvSpPr>
        <p:spPr>
          <a:xfrm>
            <a:off x="566928" y="2084831"/>
            <a:ext cx="5428335" cy="1956816"/>
          </a:xfrm>
          <a:prstGeom prst="roundRect">
            <a:avLst>
              <a:gd name="adj" fmla="val 5607"/>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ectangle 8"/>
          <p:cNvSpPr/>
          <p:nvPr/>
        </p:nvSpPr>
        <p:spPr>
          <a:xfrm>
            <a:off x="731520" y="2212848"/>
            <a:ext cx="502920" cy="45720"/>
          </a:xfrm>
          <a:prstGeom prst="rect">
            <a:avLst/>
          </a:prstGeom>
          <a:solidFill>
            <a:srgbClr val="3BBE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694944" y="2304287"/>
            <a:ext cx="5172303" cy="353568"/>
          </a:xfrm>
          <a:prstGeom prst="rect">
            <a:avLst/>
          </a:prstGeom>
          <a:noFill/>
        </p:spPr>
        <p:txBody>
          <a:bodyPr wrap="square" lIns="45720" rIns="45720" tIns="27432" bIns="27432" anchor="t">
            <a:noAutofit/>
          </a:bodyPr>
          <a:lstStyle/>
          <a:p>
            <a:pPr algn="l">
              <a:lnSpc>
                <a:spcPct val="100000"/>
              </a:lnSpc>
            </a:pPr>
            <a:r>
              <a:rPr sz="1600" b="0" i="0">
                <a:solidFill>
                  <a:srgbClr val="F7F2E8"/>
                </a:solidFill>
                <a:latin typeface="Segoe UI Semibold"/>
              </a:rPr>
              <a:t>Escribir</a:t>
            </a:r>
          </a:p>
        </p:txBody>
      </p:sp>
      <p:sp>
        <p:nvSpPr>
          <p:cNvPr id="11" name="TextBox 10"/>
          <p:cNvSpPr txBox="1"/>
          <p:nvPr/>
        </p:nvSpPr>
        <p:spPr>
          <a:xfrm>
            <a:off x="694944" y="2657855"/>
            <a:ext cx="5172303" cy="1292352"/>
          </a:xfrm>
          <a:prstGeom prst="rect">
            <a:avLst/>
          </a:prstGeom>
          <a:noFill/>
        </p:spPr>
        <p:txBody>
          <a:bodyPr wrap="square" lIns="45720" rIns="45720" tIns="27432" bIns="27432" anchor="t">
            <a:noAutofit/>
          </a:bodyPr>
          <a:lstStyle/>
          <a:p>
            <a:pPr algn="l">
              <a:lnSpc>
                <a:spcPct val="100000"/>
              </a:lnSpc>
            </a:pPr>
            <a:r>
              <a:rPr sz="1300" b="0" i="0">
                <a:solidFill>
                  <a:srgbClr val="A7B2B0"/>
                </a:solidFill>
                <a:latin typeface="Segoe UI"/>
              </a:rPr>
              <a:t>Una tecla a la vez, de 20 a 160 WPM; sin pegar ni escribir de golpe.</a:t>
            </a:r>
          </a:p>
        </p:txBody>
      </p:sp>
      <p:sp>
        <p:nvSpPr>
          <p:cNvPr id="12" name="Rounded Rectangle 11"/>
          <p:cNvSpPr/>
          <p:nvPr/>
        </p:nvSpPr>
        <p:spPr>
          <a:xfrm>
            <a:off x="6196431" y="2084831"/>
            <a:ext cx="5428335" cy="1956816"/>
          </a:xfrm>
          <a:prstGeom prst="roundRect">
            <a:avLst>
              <a:gd name="adj" fmla="val 5607"/>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6361023" y="2212848"/>
            <a:ext cx="502920" cy="45720"/>
          </a:xfrm>
          <a:prstGeom prst="rect">
            <a:avLst/>
          </a:prstGeom>
          <a:solidFill>
            <a:srgbClr val="C984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324447" y="2304287"/>
            <a:ext cx="5172303" cy="353568"/>
          </a:xfrm>
          <a:prstGeom prst="rect">
            <a:avLst/>
          </a:prstGeom>
          <a:noFill/>
        </p:spPr>
        <p:txBody>
          <a:bodyPr wrap="square" lIns="45720" rIns="45720" tIns="27432" bIns="27432" anchor="t">
            <a:noAutofit/>
          </a:bodyPr>
          <a:lstStyle/>
          <a:p>
            <a:pPr algn="l">
              <a:lnSpc>
                <a:spcPct val="100000"/>
              </a:lnSpc>
            </a:pPr>
            <a:r>
              <a:rPr sz="1600" b="0" i="0">
                <a:solidFill>
                  <a:srgbClr val="F7F2E8"/>
                </a:solidFill>
                <a:latin typeface="Segoe UI Semibold"/>
              </a:rPr>
              <a:t>Enviar</a:t>
            </a:r>
          </a:p>
        </p:txBody>
      </p:sp>
      <p:sp>
        <p:nvSpPr>
          <p:cNvPr id="15" name="TextBox 14"/>
          <p:cNvSpPr txBox="1"/>
          <p:nvPr/>
        </p:nvSpPr>
        <p:spPr>
          <a:xfrm>
            <a:off x="6324447" y="2657855"/>
            <a:ext cx="5172303" cy="1292352"/>
          </a:xfrm>
          <a:prstGeom prst="rect">
            <a:avLst/>
          </a:prstGeom>
          <a:noFill/>
        </p:spPr>
        <p:txBody>
          <a:bodyPr wrap="square" lIns="45720" rIns="45720" tIns="27432" bIns="27432" anchor="t">
            <a:noAutofit/>
          </a:bodyPr>
          <a:lstStyle/>
          <a:p>
            <a:pPr algn="l">
              <a:lnSpc>
                <a:spcPct val="100000"/>
              </a:lnSpc>
            </a:pPr>
            <a:r>
              <a:rPr sz="1300" b="0" i="0">
                <a:solidFill>
                  <a:srgbClr val="A7B2B0"/>
                </a:solidFill>
                <a:latin typeface="Segoe UI"/>
              </a:rPr>
              <a:t>Ejecución controlada por la tarea o Enter sólo del usuario, que el hub hace cumplir.</a:t>
            </a:r>
          </a:p>
        </p:txBody>
      </p:sp>
      <p:sp>
        <p:nvSpPr>
          <p:cNvPr id="16" name="Rounded Rectangle 15"/>
          <p:cNvSpPr/>
          <p:nvPr/>
        </p:nvSpPr>
        <p:spPr>
          <a:xfrm>
            <a:off x="566928" y="4242816"/>
            <a:ext cx="5428335" cy="1956816"/>
          </a:xfrm>
          <a:prstGeom prst="roundRect">
            <a:avLst>
              <a:gd name="adj" fmla="val 5607"/>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31520" y="4370832"/>
            <a:ext cx="502920" cy="45720"/>
          </a:xfrm>
          <a:prstGeom prst="rect">
            <a:avLst/>
          </a:prstGeom>
          <a:solidFill>
            <a:srgbClr val="E2B4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694944" y="4462272"/>
            <a:ext cx="5172303" cy="353568"/>
          </a:xfrm>
          <a:prstGeom prst="rect">
            <a:avLst/>
          </a:prstGeom>
          <a:noFill/>
        </p:spPr>
        <p:txBody>
          <a:bodyPr wrap="square" lIns="45720" rIns="45720" tIns="27432" bIns="27432" anchor="t">
            <a:noAutofit/>
          </a:bodyPr>
          <a:lstStyle/>
          <a:p>
            <a:pPr algn="l">
              <a:lnSpc>
                <a:spcPct val="100000"/>
              </a:lnSpc>
            </a:pPr>
            <a:r>
              <a:rPr sz="1600" b="0" i="0">
                <a:solidFill>
                  <a:srgbClr val="F7F2E8"/>
                </a:solidFill>
                <a:latin typeface="Segoe UI Semibold"/>
              </a:rPr>
              <a:t>Esperar</a:t>
            </a:r>
          </a:p>
        </p:txBody>
      </p:sp>
      <p:sp>
        <p:nvSpPr>
          <p:cNvPr id="19" name="TextBox 18"/>
          <p:cNvSpPr txBox="1"/>
          <p:nvPr/>
        </p:nvSpPr>
        <p:spPr>
          <a:xfrm>
            <a:off x="694944" y="4815840"/>
            <a:ext cx="5172303" cy="1292352"/>
          </a:xfrm>
          <a:prstGeom prst="rect">
            <a:avLst/>
          </a:prstGeom>
          <a:noFill/>
        </p:spPr>
        <p:txBody>
          <a:bodyPr wrap="square" lIns="45720" rIns="45720" tIns="27432" bIns="27432" anchor="t">
            <a:noAutofit/>
          </a:bodyPr>
          <a:lstStyle/>
          <a:p>
            <a:pPr algn="l">
              <a:lnSpc>
                <a:spcPct val="100000"/>
              </a:lnSpc>
            </a:pPr>
            <a:r>
              <a:rPr sz="1300" b="0" i="0">
                <a:solidFill>
                  <a:srgbClr val="A7B2B0"/>
                </a:solidFill>
                <a:latin typeface="Segoe UI"/>
              </a:rPr>
              <a:t>Las ventanas de comando, sin output y de entrega del teclado tienen significados distintos.</a:t>
            </a:r>
          </a:p>
        </p:txBody>
      </p:sp>
      <p:sp>
        <p:nvSpPr>
          <p:cNvPr id="20" name="Rounded Rectangle 19"/>
          <p:cNvSpPr/>
          <p:nvPr/>
        </p:nvSpPr>
        <p:spPr>
          <a:xfrm>
            <a:off x="6196431" y="4242816"/>
            <a:ext cx="5428335" cy="1956816"/>
          </a:xfrm>
          <a:prstGeom prst="roundRect">
            <a:avLst>
              <a:gd name="adj" fmla="val 5607"/>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ectangle 20"/>
          <p:cNvSpPr/>
          <p:nvPr/>
        </p:nvSpPr>
        <p:spPr>
          <a:xfrm>
            <a:off x="6361023" y="4370832"/>
            <a:ext cx="502920" cy="45720"/>
          </a:xfrm>
          <a:prstGeom prst="rect">
            <a:avLst/>
          </a:prstGeom>
          <a:solidFill>
            <a:srgbClr val="46D2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6324447" y="4462272"/>
            <a:ext cx="5172303" cy="353568"/>
          </a:xfrm>
          <a:prstGeom prst="rect">
            <a:avLst/>
          </a:prstGeom>
          <a:noFill/>
        </p:spPr>
        <p:txBody>
          <a:bodyPr wrap="square" lIns="45720" rIns="45720" tIns="27432" bIns="27432" anchor="t">
            <a:noAutofit/>
          </a:bodyPr>
          <a:lstStyle/>
          <a:p>
            <a:pPr algn="l">
              <a:lnSpc>
                <a:spcPct val="100000"/>
              </a:lnSpc>
            </a:pPr>
            <a:r>
              <a:rPr sz="1600" b="0" i="0">
                <a:solidFill>
                  <a:srgbClr val="F7F2E8"/>
                </a:solidFill>
                <a:latin typeface="Segoe UI Semibold"/>
              </a:rPr>
              <a:t>Heredar</a:t>
            </a:r>
          </a:p>
        </p:txBody>
      </p:sp>
      <p:sp>
        <p:nvSpPr>
          <p:cNvPr id="23" name="TextBox 22"/>
          <p:cNvSpPr txBox="1"/>
          <p:nvPr/>
        </p:nvSpPr>
        <p:spPr>
          <a:xfrm>
            <a:off x="6324447" y="4815840"/>
            <a:ext cx="5172303" cy="1292352"/>
          </a:xfrm>
          <a:prstGeom prst="rect">
            <a:avLst/>
          </a:prstGeom>
          <a:noFill/>
        </p:spPr>
        <p:txBody>
          <a:bodyPr wrap="square" lIns="45720" rIns="45720" tIns="27432" bIns="27432" anchor="t">
            <a:noAutofit/>
          </a:bodyPr>
          <a:lstStyle/>
          <a:p>
            <a:pPr algn="l">
              <a:lnSpc>
                <a:spcPct val="100000"/>
              </a:lnSpc>
            </a:pPr>
            <a:r>
              <a:rPr sz="1300" b="0" i="0">
                <a:solidFill>
                  <a:srgbClr val="A7B2B0"/>
                </a:solidFill>
                <a:latin typeface="Segoe UI"/>
              </a:rPr>
              <a:t>use_my_defaults aplica las preferencias de la cuenta sin reescribir flows más viejos.</a:t>
            </a:r>
          </a:p>
        </p:txBody>
      </p:sp>
      <p:cxnSp>
        <p:nvCxnSpPr>
          <p:cNvPr id="24" name="Connector 23"/>
          <p:cNvCxnSpPr/>
          <p:nvPr/>
        </p:nvCxnSpPr>
        <p:spPr>
          <a:xfrm>
            <a:off x="566928" y="6373368"/>
            <a:ext cx="11057839" cy="0"/>
          </a:xfrm>
          <a:prstGeom prst="line">
            <a:avLst/>
          </a:prstGeom>
          <a:ln w="7620">
            <a:solidFill>
              <a:srgbClr val="2A3A40"/>
            </a:solidFill>
          </a:ln>
        </p:spPr>
        <p:style>
          <a:lnRef idx="2">
            <a:schemeClr val="accent1"/>
          </a:lnRef>
          <a:fillRef idx="0">
            <a:schemeClr val="accent1"/>
          </a:fillRef>
          <a:effectRef idx="1">
            <a:schemeClr val="accent1"/>
          </a:effectRef>
          <a:fontRef idx="minor">
            <a:schemeClr val="tx1"/>
          </a:fontRef>
        </p:style>
      </p:cxnSp>
      <p:sp>
        <p:nvSpPr>
          <p:cNvPr id="25" name="TextBox 24"/>
          <p:cNvSpPr txBox="1"/>
          <p:nvPr/>
        </p:nvSpPr>
        <p:spPr>
          <a:xfrm>
            <a:off x="566928" y="6419088"/>
            <a:ext cx="6858000" cy="274320"/>
          </a:xfrm>
          <a:prstGeom prst="rect">
            <a:avLst/>
          </a:prstGeom>
          <a:noFill/>
        </p:spPr>
        <p:txBody>
          <a:bodyPr wrap="square" lIns="45720" rIns="45720" tIns="27432" bIns="27432" anchor="t">
            <a:noAutofit/>
          </a:bodyPr>
          <a:lstStyle/>
          <a:p>
            <a:pPr algn="l">
              <a:lnSpc>
                <a:spcPct val="100000"/>
              </a:lnSpc>
            </a:pPr>
            <a:r>
              <a:rPr sz="850" b="0" i="0" spc="120">
                <a:solidFill>
                  <a:srgbClr val="A7B2B0"/>
                </a:solidFill>
                <a:latin typeface="Segoe UI Semibold"/>
              </a:rPr>
              <a:t>TLAMATINI  ·  III · DÓNDE TRABAJAS CON ELLA</a:t>
            </a:r>
          </a:p>
        </p:txBody>
      </p:sp>
      <p:sp>
        <p:nvSpPr>
          <p:cNvPr id="26" name="TextBox 25"/>
          <p:cNvSpPr txBox="1"/>
          <p:nvPr/>
        </p:nvSpPr>
        <p:spPr>
          <a:xfrm>
            <a:off x="8698687" y="6419088"/>
            <a:ext cx="2926080" cy="274320"/>
          </a:xfrm>
          <a:prstGeom prst="rect">
            <a:avLst/>
          </a:prstGeom>
          <a:noFill/>
        </p:spPr>
        <p:txBody>
          <a:bodyPr wrap="square" lIns="45720" rIns="45720" tIns="27432" bIns="27432" anchor="t">
            <a:noAutofit/>
          </a:bodyPr>
          <a:lstStyle/>
          <a:p>
            <a:pPr algn="r">
              <a:lnSpc>
                <a:spcPct val="100000"/>
              </a:lnSpc>
            </a:pPr>
            <a:r>
              <a:rPr sz="850" b="0" i="0" spc="100">
                <a:solidFill>
                  <a:srgbClr val="A7B2B0"/>
                </a:solidFill>
                <a:latin typeface="Segoe UI Semibold"/>
              </a:rPr>
              <a:t>v1.91.1   ·   28</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content.png"/>
          <p:cNvPicPr>
            <a:picLocks noChangeAspect="1"/>
          </p:cNvPicPr>
          <p:nvPr/>
        </p:nvPicPr>
        <p:blipFill>
          <a:blip r:embed="rId2"/>
          <a:stretch>
            <a:fillRect/>
          </a:stretch>
        </p:blipFill>
        <p:spPr>
          <a:xfrm>
            <a:off x="0" y="0"/>
            <a:ext cx="12191695" cy="6858000"/>
          </a:xfrm>
          <a:prstGeom prst="rect">
            <a:avLst/>
          </a:prstGeom>
        </p:spPr>
      </p:pic>
      <p:sp>
        <p:nvSpPr>
          <p:cNvPr id="3" name="Diamond 2"/>
          <p:cNvSpPr/>
          <p:nvPr/>
        </p:nvSpPr>
        <p:spPr>
          <a:xfrm>
            <a:off x="566928" y="457200"/>
            <a:ext cx="100584" cy="100584"/>
          </a:xfrm>
          <a:prstGeom prst="diamond">
            <a:avLst/>
          </a:prstGeom>
          <a:solidFill>
            <a:srgbClr val="E2B4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49808" y="365760"/>
            <a:ext cx="8229600" cy="292608"/>
          </a:xfrm>
          <a:prstGeom prst="rect">
            <a:avLst/>
          </a:prstGeom>
          <a:noFill/>
        </p:spPr>
        <p:txBody>
          <a:bodyPr wrap="square" lIns="45720" rIns="45720" tIns="27432" bIns="27432" anchor="t">
            <a:noAutofit/>
          </a:bodyPr>
          <a:lstStyle/>
          <a:p>
            <a:pPr algn="l">
              <a:lnSpc>
                <a:spcPct val="100000"/>
              </a:lnSpc>
            </a:pPr>
            <a:r>
              <a:rPr sz="1100" b="0" i="0" spc="240">
                <a:solidFill>
                  <a:srgbClr val="C98457"/>
                </a:solidFill>
                <a:latin typeface="Segoe UI Semibold"/>
              </a:rPr>
              <a:t>VOZ PARA COMANDOS Y LECCIONES</a:t>
            </a:r>
          </a:p>
        </p:txBody>
      </p:sp>
      <p:sp>
        <p:nvSpPr>
          <p:cNvPr id="5" name="TextBox 4"/>
          <p:cNvSpPr txBox="1"/>
          <p:nvPr/>
        </p:nvSpPr>
        <p:spPr>
          <a:xfrm>
            <a:off x="539496" y="676656"/>
            <a:ext cx="11057839" cy="658368"/>
          </a:xfrm>
          <a:prstGeom prst="rect">
            <a:avLst/>
          </a:prstGeom>
          <a:noFill/>
        </p:spPr>
        <p:txBody>
          <a:bodyPr wrap="square" lIns="45720" rIns="45720" tIns="27432" bIns="27432" anchor="t">
            <a:noAutofit/>
          </a:bodyPr>
          <a:lstStyle/>
          <a:p>
            <a:pPr algn="l">
              <a:lnSpc>
                <a:spcPct val="100000"/>
              </a:lnSpc>
            </a:pPr>
            <a:r>
              <a:rPr sz="3100" b="0" i="0">
                <a:solidFill>
                  <a:srgbClr val="F7F2E8"/>
                </a:solidFill>
                <a:latin typeface="Palatino Linotype"/>
              </a:rPr>
              <a:t>Escucha el paso antes de la primera tecla</a:t>
            </a:r>
          </a:p>
        </p:txBody>
      </p:sp>
      <p:sp>
        <p:nvSpPr>
          <p:cNvPr id="6" name="Rectangle 5"/>
          <p:cNvSpPr/>
          <p:nvPr/>
        </p:nvSpPr>
        <p:spPr>
          <a:xfrm>
            <a:off x="566928" y="1344168"/>
            <a:ext cx="822960" cy="36576"/>
          </a:xfrm>
          <a:prstGeom prst="rect">
            <a:avLst/>
          </a:prstGeom>
          <a:solidFill>
            <a:srgbClr val="E2B4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566928" y="1444752"/>
            <a:ext cx="10692079" cy="585216"/>
          </a:xfrm>
          <a:prstGeom prst="rect">
            <a:avLst/>
          </a:prstGeom>
          <a:noFill/>
        </p:spPr>
        <p:txBody>
          <a:bodyPr wrap="square" lIns="45720" rIns="45720" tIns="27432" bIns="27432" anchor="t">
            <a:noAutofit/>
          </a:bodyPr>
          <a:lstStyle/>
          <a:p>
            <a:pPr algn="l">
              <a:lnSpc>
                <a:spcPct val="100000"/>
              </a:lnSpc>
            </a:pPr>
            <a:r>
              <a:rPr sz="1450" b="0" i="0">
                <a:solidFill>
                  <a:srgbClr val="A7B2B0"/>
                </a:solidFill>
                <a:latin typeface="Segoe UI Semilight"/>
              </a:rPr>
              <a:t>La narración usa la voz existente del browser y una cola de voz compartida y cancelable.</a:t>
            </a:r>
          </a:p>
        </p:txBody>
      </p:sp>
      <p:sp>
        <p:nvSpPr>
          <p:cNvPr id="8" name="Rounded Rectangle 7"/>
          <p:cNvSpPr/>
          <p:nvPr/>
        </p:nvSpPr>
        <p:spPr>
          <a:xfrm>
            <a:off x="566928" y="2084831"/>
            <a:ext cx="5428335" cy="1956816"/>
          </a:xfrm>
          <a:prstGeom prst="roundRect">
            <a:avLst>
              <a:gd name="adj" fmla="val 5607"/>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ectangle 8"/>
          <p:cNvSpPr/>
          <p:nvPr/>
        </p:nvSpPr>
        <p:spPr>
          <a:xfrm>
            <a:off x="731520" y="2212848"/>
            <a:ext cx="502920" cy="45720"/>
          </a:xfrm>
          <a:prstGeom prst="rect">
            <a:avLst/>
          </a:prstGeom>
          <a:solidFill>
            <a:srgbClr val="3BBE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694944" y="2304287"/>
            <a:ext cx="5172303" cy="353568"/>
          </a:xfrm>
          <a:prstGeom prst="rect">
            <a:avLst/>
          </a:prstGeom>
          <a:noFill/>
        </p:spPr>
        <p:txBody>
          <a:bodyPr wrap="square" lIns="45720" rIns="45720" tIns="27432" bIns="27432" anchor="t">
            <a:noAutofit/>
          </a:bodyPr>
          <a:lstStyle/>
          <a:p>
            <a:pPr algn="l">
              <a:lnSpc>
                <a:spcPct val="100000"/>
              </a:lnSpc>
            </a:pPr>
            <a:r>
              <a:rPr sz="1600" b="0" i="0">
                <a:solidFill>
                  <a:srgbClr val="F7F2E8"/>
                </a:solidFill>
                <a:latin typeface="Segoe UI Semibold"/>
              </a:rPr>
              <a:t>Voz compartida</a:t>
            </a:r>
          </a:p>
        </p:txBody>
      </p:sp>
      <p:sp>
        <p:nvSpPr>
          <p:cNvPr id="11" name="TextBox 10"/>
          <p:cNvSpPr txBox="1"/>
          <p:nvPr/>
        </p:nvSpPr>
        <p:spPr>
          <a:xfrm>
            <a:off x="694944" y="2657855"/>
            <a:ext cx="5172303" cy="1292352"/>
          </a:xfrm>
          <a:prstGeom prst="rect">
            <a:avLst/>
          </a:prstGeom>
          <a:noFill/>
        </p:spPr>
        <p:txBody>
          <a:bodyPr wrap="square" lIns="45720" rIns="45720" tIns="27432" bIns="27432" anchor="t">
            <a:noAutofit/>
          </a:bodyPr>
          <a:lstStyle/>
          <a:p>
            <a:pPr algn="l">
              <a:lnSpc>
                <a:spcPct val="100000"/>
              </a:lnSpc>
            </a:pPr>
            <a:r>
              <a:rPr sz="1300" b="0" i="0">
                <a:solidFill>
                  <a:srgbClr val="A7B2B0"/>
                </a:solidFill>
                <a:latin typeface="Segoe UI"/>
              </a:rPr>
              <a:t>Reutiliza la elección de voz, la velocidad, el volumen y el tono de Config → Voz.</a:t>
            </a:r>
          </a:p>
        </p:txBody>
      </p:sp>
      <p:sp>
        <p:nvSpPr>
          <p:cNvPr id="12" name="Rounded Rectangle 11"/>
          <p:cNvSpPr/>
          <p:nvPr/>
        </p:nvSpPr>
        <p:spPr>
          <a:xfrm>
            <a:off x="6196431" y="2084831"/>
            <a:ext cx="5428335" cy="1956816"/>
          </a:xfrm>
          <a:prstGeom prst="roundRect">
            <a:avLst>
              <a:gd name="adj" fmla="val 5607"/>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6361023" y="2212848"/>
            <a:ext cx="502920" cy="45720"/>
          </a:xfrm>
          <a:prstGeom prst="rect">
            <a:avLst/>
          </a:prstGeom>
          <a:solidFill>
            <a:srgbClr val="C984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324447" y="2304287"/>
            <a:ext cx="5172303" cy="353568"/>
          </a:xfrm>
          <a:prstGeom prst="rect">
            <a:avLst/>
          </a:prstGeom>
          <a:noFill/>
        </p:spPr>
        <p:txBody>
          <a:bodyPr wrap="square" lIns="45720" rIns="45720" tIns="27432" bIns="27432" anchor="t">
            <a:noAutofit/>
          </a:bodyPr>
          <a:lstStyle/>
          <a:p>
            <a:pPr algn="l">
              <a:lnSpc>
                <a:spcPct val="100000"/>
              </a:lnSpc>
            </a:pPr>
            <a:r>
              <a:rPr sz="1600" b="0" i="0">
                <a:solidFill>
                  <a:srgbClr val="F7F2E8"/>
                </a:solidFill>
                <a:latin typeface="Segoe UI Semibold"/>
              </a:rPr>
              <a:t>Prioridad</a:t>
            </a:r>
          </a:p>
        </p:txBody>
      </p:sp>
      <p:sp>
        <p:nvSpPr>
          <p:cNvPr id="15" name="TextBox 14"/>
          <p:cNvSpPr txBox="1"/>
          <p:nvPr/>
        </p:nvSpPr>
        <p:spPr>
          <a:xfrm>
            <a:off x="6324447" y="2657855"/>
            <a:ext cx="5172303" cy="1292352"/>
          </a:xfrm>
          <a:prstGeom prst="rect">
            <a:avLst/>
          </a:prstGeom>
          <a:noFill/>
        </p:spPr>
        <p:txBody>
          <a:bodyPr wrap="square" lIns="45720" rIns="45720" tIns="27432" bIns="27432" anchor="t">
            <a:noAutofit/>
          </a:bodyPr>
          <a:lstStyle/>
          <a:p>
            <a:pPr algn="l">
              <a:lnSpc>
                <a:spcPct val="100000"/>
              </a:lnSpc>
            </a:pPr>
            <a:r>
              <a:rPr sz="1300" b="0" i="0">
                <a:solidFill>
                  <a:srgbClr val="A7B2B0"/>
                </a:solidFill>
                <a:latin typeface="Segoe UI"/>
              </a:rPr>
              <a:t>El silencio global y la escucha del micrófono tienen prioridad sobre la narración.</a:t>
            </a:r>
          </a:p>
        </p:txBody>
      </p:sp>
      <p:sp>
        <p:nvSpPr>
          <p:cNvPr id="16" name="Rounded Rectangle 15"/>
          <p:cNvSpPr/>
          <p:nvPr/>
        </p:nvSpPr>
        <p:spPr>
          <a:xfrm>
            <a:off x="566928" y="4242816"/>
            <a:ext cx="5428335" cy="1956816"/>
          </a:xfrm>
          <a:prstGeom prst="roundRect">
            <a:avLst>
              <a:gd name="adj" fmla="val 5607"/>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31520" y="4370832"/>
            <a:ext cx="502920" cy="45720"/>
          </a:xfrm>
          <a:prstGeom prst="rect">
            <a:avLst/>
          </a:prstGeom>
          <a:solidFill>
            <a:srgbClr val="E2B4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694944" y="4462272"/>
            <a:ext cx="5172303" cy="353568"/>
          </a:xfrm>
          <a:prstGeom prst="rect">
            <a:avLst/>
          </a:prstGeom>
          <a:noFill/>
        </p:spPr>
        <p:txBody>
          <a:bodyPr wrap="square" lIns="45720" rIns="45720" tIns="27432" bIns="27432" anchor="t">
            <a:noAutofit/>
          </a:bodyPr>
          <a:lstStyle/>
          <a:p>
            <a:pPr algn="l">
              <a:lnSpc>
                <a:spcPct val="100000"/>
              </a:lnSpc>
            </a:pPr>
            <a:r>
              <a:rPr sz="1600" b="0" i="0">
                <a:solidFill>
                  <a:srgbClr val="F7F2E8"/>
                </a:solidFill>
                <a:latin typeface="Segoe UI Semibold"/>
              </a:rPr>
              <a:t>Momento</a:t>
            </a:r>
          </a:p>
        </p:txBody>
      </p:sp>
      <p:sp>
        <p:nvSpPr>
          <p:cNvPr id="19" name="TextBox 18"/>
          <p:cNvSpPr txBox="1"/>
          <p:nvPr/>
        </p:nvSpPr>
        <p:spPr>
          <a:xfrm>
            <a:off x="694944" y="4815840"/>
            <a:ext cx="5172303" cy="1292352"/>
          </a:xfrm>
          <a:prstGeom prst="rect">
            <a:avLst/>
          </a:prstGeom>
          <a:noFill/>
        </p:spPr>
        <p:txBody>
          <a:bodyPr wrap="square" lIns="45720" rIns="45720" tIns="27432" bIns="27432" anchor="t">
            <a:noAutofit/>
          </a:bodyPr>
          <a:lstStyle/>
          <a:p>
            <a:pPr algn="l">
              <a:lnSpc>
                <a:spcPct val="100000"/>
              </a:lnSpc>
            </a:pPr>
            <a:r>
              <a:rPr sz="1300" b="0" i="0">
                <a:solidFill>
                  <a:srgbClr val="A7B2B0"/>
                </a:solidFill>
                <a:latin typeface="Segoe UI"/>
              </a:rPr>
              <a:t>Antes/durante/después; opcionalmente, terminar antes de escribir.</a:t>
            </a:r>
          </a:p>
        </p:txBody>
      </p:sp>
      <p:sp>
        <p:nvSpPr>
          <p:cNvPr id="20" name="Rounded Rectangle 19"/>
          <p:cNvSpPr/>
          <p:nvPr/>
        </p:nvSpPr>
        <p:spPr>
          <a:xfrm>
            <a:off x="6196431" y="4242816"/>
            <a:ext cx="5428335" cy="1956816"/>
          </a:xfrm>
          <a:prstGeom prst="roundRect">
            <a:avLst>
              <a:gd name="adj" fmla="val 5607"/>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ectangle 20"/>
          <p:cNvSpPr/>
          <p:nvPr/>
        </p:nvSpPr>
        <p:spPr>
          <a:xfrm>
            <a:off x="6361023" y="4370832"/>
            <a:ext cx="502920" cy="45720"/>
          </a:xfrm>
          <a:prstGeom prst="rect">
            <a:avLst/>
          </a:prstGeom>
          <a:solidFill>
            <a:srgbClr val="46D2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6324447" y="4462272"/>
            <a:ext cx="5172303" cy="353568"/>
          </a:xfrm>
          <a:prstGeom prst="rect">
            <a:avLst/>
          </a:prstGeom>
          <a:noFill/>
        </p:spPr>
        <p:txBody>
          <a:bodyPr wrap="square" lIns="45720" rIns="45720" tIns="27432" bIns="27432" anchor="t">
            <a:noAutofit/>
          </a:bodyPr>
          <a:lstStyle/>
          <a:p>
            <a:pPr algn="l">
              <a:lnSpc>
                <a:spcPct val="100000"/>
              </a:lnSpc>
            </a:pPr>
            <a:r>
              <a:rPr sz="1600" b="0" i="0">
                <a:solidFill>
                  <a:srgbClr val="F7F2E8"/>
                </a:solidFill>
                <a:latin typeface="Segoe UI Semibold"/>
              </a:rPr>
              <a:t>Control</a:t>
            </a:r>
          </a:p>
        </p:txBody>
      </p:sp>
      <p:sp>
        <p:nvSpPr>
          <p:cNvPr id="23" name="TextBox 22"/>
          <p:cNvSpPr txBox="1"/>
          <p:nvPr/>
        </p:nvSpPr>
        <p:spPr>
          <a:xfrm>
            <a:off x="6324447" y="4815840"/>
            <a:ext cx="5172303" cy="1292352"/>
          </a:xfrm>
          <a:prstGeom prst="rect">
            <a:avLst/>
          </a:prstGeom>
          <a:noFill/>
        </p:spPr>
        <p:txBody>
          <a:bodyPr wrap="square" lIns="45720" rIns="45720" tIns="27432" bIns="27432" anchor="t">
            <a:noAutofit/>
          </a:bodyPr>
          <a:lstStyle/>
          <a:p>
            <a:pPr algn="l">
              <a:lnSpc>
                <a:spcPct val="100000"/>
              </a:lnSpc>
            </a:pPr>
            <a:r>
              <a:rPr sz="1300" b="0" i="0">
                <a:solidFill>
                  <a:srgbClr val="A7B2B0"/>
                </a:solidFill>
                <a:latin typeface="Segoe UI"/>
              </a:rPr>
              <a:t>Escape detiene la voz; Ctrl+Shift+M activa o desactiva el silencio global.</a:t>
            </a:r>
          </a:p>
        </p:txBody>
      </p:sp>
      <p:cxnSp>
        <p:nvCxnSpPr>
          <p:cNvPr id="24" name="Connector 23"/>
          <p:cNvCxnSpPr/>
          <p:nvPr/>
        </p:nvCxnSpPr>
        <p:spPr>
          <a:xfrm>
            <a:off x="566928" y="6373368"/>
            <a:ext cx="11057839" cy="0"/>
          </a:xfrm>
          <a:prstGeom prst="line">
            <a:avLst/>
          </a:prstGeom>
          <a:ln w="7620">
            <a:solidFill>
              <a:srgbClr val="2A3A40"/>
            </a:solidFill>
          </a:ln>
        </p:spPr>
        <p:style>
          <a:lnRef idx="2">
            <a:schemeClr val="accent1"/>
          </a:lnRef>
          <a:fillRef idx="0">
            <a:schemeClr val="accent1"/>
          </a:fillRef>
          <a:effectRef idx="1">
            <a:schemeClr val="accent1"/>
          </a:effectRef>
          <a:fontRef idx="minor">
            <a:schemeClr val="tx1"/>
          </a:fontRef>
        </p:style>
      </p:cxnSp>
      <p:sp>
        <p:nvSpPr>
          <p:cNvPr id="25" name="TextBox 24"/>
          <p:cNvSpPr txBox="1"/>
          <p:nvPr/>
        </p:nvSpPr>
        <p:spPr>
          <a:xfrm>
            <a:off x="566928" y="6419088"/>
            <a:ext cx="6858000" cy="274320"/>
          </a:xfrm>
          <a:prstGeom prst="rect">
            <a:avLst/>
          </a:prstGeom>
          <a:noFill/>
        </p:spPr>
        <p:txBody>
          <a:bodyPr wrap="square" lIns="45720" rIns="45720" tIns="27432" bIns="27432" anchor="t">
            <a:noAutofit/>
          </a:bodyPr>
          <a:lstStyle/>
          <a:p>
            <a:pPr algn="l">
              <a:lnSpc>
                <a:spcPct val="100000"/>
              </a:lnSpc>
            </a:pPr>
            <a:r>
              <a:rPr sz="850" b="0" i="0" spc="120">
                <a:solidFill>
                  <a:srgbClr val="A7B2B0"/>
                </a:solidFill>
                <a:latin typeface="Segoe UI Semibold"/>
              </a:rPr>
              <a:t>TLAMATINI  ·  III · DÓNDE TRABAJAS CON ELLA</a:t>
            </a:r>
          </a:p>
        </p:txBody>
      </p:sp>
      <p:sp>
        <p:nvSpPr>
          <p:cNvPr id="26" name="TextBox 25"/>
          <p:cNvSpPr txBox="1"/>
          <p:nvPr/>
        </p:nvSpPr>
        <p:spPr>
          <a:xfrm>
            <a:off x="8698687" y="6419088"/>
            <a:ext cx="2926080" cy="274320"/>
          </a:xfrm>
          <a:prstGeom prst="rect">
            <a:avLst/>
          </a:prstGeom>
          <a:noFill/>
        </p:spPr>
        <p:txBody>
          <a:bodyPr wrap="square" lIns="45720" rIns="45720" tIns="27432" bIns="27432" anchor="t">
            <a:noAutofit/>
          </a:bodyPr>
          <a:lstStyle/>
          <a:p>
            <a:pPr algn="r">
              <a:lnSpc>
                <a:spcPct val="100000"/>
              </a:lnSpc>
            </a:pPr>
            <a:r>
              <a:rPr sz="850" b="0" i="0" spc="100">
                <a:solidFill>
                  <a:srgbClr val="A7B2B0"/>
                </a:solidFill>
                <a:latin typeface="Segoe UI Semibold"/>
              </a:rPr>
              <a:t>v1.91.1   ·   29</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content.png"/>
          <p:cNvPicPr>
            <a:picLocks noChangeAspect="1"/>
          </p:cNvPicPr>
          <p:nvPr/>
        </p:nvPicPr>
        <p:blipFill>
          <a:blip r:embed="rId2"/>
          <a:stretch>
            <a:fillRect/>
          </a:stretch>
        </p:blipFill>
        <p:spPr>
          <a:xfrm>
            <a:off x="0" y="0"/>
            <a:ext cx="12191695" cy="6858000"/>
          </a:xfrm>
          <a:prstGeom prst="rect">
            <a:avLst/>
          </a:prstGeom>
        </p:spPr>
      </p:pic>
      <p:sp>
        <p:nvSpPr>
          <p:cNvPr id="3" name="Diamond 2"/>
          <p:cNvSpPr/>
          <p:nvPr/>
        </p:nvSpPr>
        <p:spPr>
          <a:xfrm>
            <a:off x="566928" y="457200"/>
            <a:ext cx="100584" cy="100584"/>
          </a:xfrm>
          <a:prstGeom prst="diamond">
            <a:avLst/>
          </a:prstGeom>
          <a:solidFill>
            <a:srgbClr val="E2B4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49808" y="365760"/>
            <a:ext cx="8229600" cy="292608"/>
          </a:xfrm>
          <a:prstGeom prst="rect">
            <a:avLst/>
          </a:prstGeom>
          <a:noFill/>
        </p:spPr>
        <p:txBody>
          <a:bodyPr wrap="square" lIns="45720" rIns="45720" tIns="27432" bIns="27432" anchor="t">
            <a:noAutofit/>
          </a:bodyPr>
          <a:lstStyle/>
          <a:p>
            <a:pPr algn="l">
              <a:lnSpc>
                <a:spcPct val="100000"/>
              </a:lnSpc>
            </a:pPr>
            <a:r>
              <a:rPr sz="1100" b="0" i="0" spc="240">
                <a:solidFill>
                  <a:srgbClr val="C98457"/>
                </a:solidFill>
                <a:latin typeface="Segoe UI Semibold"/>
              </a:rPr>
              <a:t>EDITOR DEL CANVAS · v1.89.0</a:t>
            </a:r>
          </a:p>
        </p:txBody>
      </p:sp>
      <p:sp>
        <p:nvSpPr>
          <p:cNvPr id="5" name="TextBox 4"/>
          <p:cNvSpPr txBox="1"/>
          <p:nvPr/>
        </p:nvSpPr>
        <p:spPr>
          <a:xfrm>
            <a:off x="539496" y="676656"/>
            <a:ext cx="11057839" cy="658368"/>
          </a:xfrm>
          <a:prstGeom prst="rect">
            <a:avLst/>
          </a:prstGeom>
          <a:noFill/>
        </p:spPr>
        <p:txBody>
          <a:bodyPr wrap="square" lIns="45720" rIns="45720" tIns="27432" bIns="27432" anchor="t">
            <a:noAutofit/>
          </a:bodyPr>
          <a:lstStyle/>
          <a:p>
            <a:pPr algn="l">
              <a:lnSpc>
                <a:spcPct val="100000"/>
              </a:lnSpc>
            </a:pPr>
            <a:r>
              <a:rPr sz="3100" b="0" i="0">
                <a:solidFill>
                  <a:srgbClr val="F7F2E8"/>
                </a:solidFill>
                <a:latin typeface="Palatino Linotype"/>
              </a:rPr>
              <a:t>Edita el documento del que estás hablando</a:t>
            </a:r>
          </a:p>
        </p:txBody>
      </p:sp>
      <p:sp>
        <p:nvSpPr>
          <p:cNvPr id="6" name="Rectangle 5"/>
          <p:cNvSpPr/>
          <p:nvPr/>
        </p:nvSpPr>
        <p:spPr>
          <a:xfrm>
            <a:off x="566928" y="1344168"/>
            <a:ext cx="822960" cy="36576"/>
          </a:xfrm>
          <a:prstGeom prst="rect">
            <a:avLst/>
          </a:prstGeom>
          <a:solidFill>
            <a:srgbClr val="E2B4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566928" y="1444752"/>
            <a:ext cx="10692079" cy="585216"/>
          </a:xfrm>
          <a:prstGeom prst="rect">
            <a:avLst/>
          </a:prstGeom>
          <a:noFill/>
        </p:spPr>
        <p:txBody>
          <a:bodyPr wrap="square" lIns="45720" rIns="45720" tIns="27432" bIns="27432" anchor="t">
            <a:noAutofit/>
          </a:bodyPr>
          <a:lstStyle/>
          <a:p>
            <a:pPr algn="l">
              <a:lnSpc>
                <a:spcPct val="100000"/>
              </a:lnSpc>
            </a:pPr>
            <a:r>
              <a:rPr sz="1450" b="0" i="0">
                <a:solidFill>
                  <a:srgbClr val="A7B2B0"/>
                </a:solidFill>
                <a:latin typeface="Segoe UI Semilight"/>
              </a:rPr>
              <a:t>Un editor CodeMirror 6 local mantiene editables el texto, el código, el JSON y el Source de Markdown en el canvas del chat.</a:t>
            </a:r>
          </a:p>
        </p:txBody>
      </p:sp>
      <p:sp>
        <p:nvSpPr>
          <p:cNvPr id="8" name="Rounded Rectangle 7"/>
          <p:cNvSpPr/>
          <p:nvPr/>
        </p:nvSpPr>
        <p:spPr>
          <a:xfrm>
            <a:off x="566928" y="2084831"/>
            <a:ext cx="5428335" cy="1956816"/>
          </a:xfrm>
          <a:prstGeom prst="roundRect">
            <a:avLst>
              <a:gd name="adj" fmla="val 5607"/>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ectangle 8"/>
          <p:cNvSpPr/>
          <p:nvPr/>
        </p:nvSpPr>
        <p:spPr>
          <a:xfrm>
            <a:off x="731520" y="2212848"/>
            <a:ext cx="502920" cy="45720"/>
          </a:xfrm>
          <a:prstGeom prst="rect">
            <a:avLst/>
          </a:prstGeom>
          <a:solidFill>
            <a:srgbClr val="3BBE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694944" y="2304287"/>
            <a:ext cx="5172303" cy="353568"/>
          </a:xfrm>
          <a:prstGeom prst="rect">
            <a:avLst/>
          </a:prstGeom>
          <a:noFill/>
        </p:spPr>
        <p:txBody>
          <a:bodyPr wrap="square" lIns="45720" rIns="45720" tIns="27432" bIns="27432" anchor="t">
            <a:noAutofit/>
          </a:bodyPr>
          <a:lstStyle/>
          <a:p>
            <a:pPr algn="l">
              <a:lnSpc>
                <a:spcPct val="100000"/>
              </a:lnSpc>
            </a:pPr>
            <a:r>
              <a:rPr sz="1600" b="0" i="0">
                <a:solidFill>
                  <a:srgbClr val="F7F2E8"/>
                </a:solidFill>
                <a:latin typeface="Segoe UI Semibold"/>
              </a:rPr>
              <a:t>Un solo documento</a:t>
            </a:r>
          </a:p>
        </p:txBody>
      </p:sp>
      <p:sp>
        <p:nvSpPr>
          <p:cNvPr id="11" name="TextBox 10"/>
          <p:cNvSpPr txBox="1"/>
          <p:nvPr/>
        </p:nvSpPr>
        <p:spPr>
          <a:xfrm>
            <a:off x="694944" y="2657855"/>
            <a:ext cx="5172303" cy="1292352"/>
          </a:xfrm>
          <a:prstGeom prst="rect">
            <a:avLst/>
          </a:prstGeom>
          <a:noFill/>
        </p:spPr>
        <p:txBody>
          <a:bodyPr wrap="square" lIns="45720" rIns="45720" tIns="27432" bIns="27432" anchor="t">
            <a:noAutofit/>
          </a:bodyPr>
          <a:lstStyle/>
          <a:p>
            <a:pPr algn="l">
              <a:lnSpc>
                <a:spcPct val="100000"/>
              </a:lnSpc>
            </a:pPr>
            <a:r>
              <a:rPr sz="1300" b="0" i="0">
                <a:solidFill>
                  <a:srgbClr val="A7B2B0"/>
                </a:solidFill>
                <a:latin typeface="Segoe UI"/>
              </a:rPr>
              <a:t>El código, la configuración y el texto plano comparten la misma autoridad de edición.</a:t>
            </a:r>
          </a:p>
        </p:txBody>
      </p:sp>
      <p:sp>
        <p:nvSpPr>
          <p:cNvPr id="12" name="Rounded Rectangle 11"/>
          <p:cNvSpPr/>
          <p:nvPr/>
        </p:nvSpPr>
        <p:spPr>
          <a:xfrm>
            <a:off x="6196431" y="2084831"/>
            <a:ext cx="5428335" cy="1956816"/>
          </a:xfrm>
          <a:prstGeom prst="roundRect">
            <a:avLst>
              <a:gd name="adj" fmla="val 5607"/>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6361023" y="2212848"/>
            <a:ext cx="502920" cy="45720"/>
          </a:xfrm>
          <a:prstGeom prst="rect">
            <a:avLst/>
          </a:prstGeom>
          <a:solidFill>
            <a:srgbClr val="C984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324447" y="2304287"/>
            <a:ext cx="5172303" cy="353568"/>
          </a:xfrm>
          <a:prstGeom prst="rect">
            <a:avLst/>
          </a:prstGeom>
          <a:noFill/>
        </p:spPr>
        <p:txBody>
          <a:bodyPr wrap="square" lIns="45720" rIns="45720" tIns="27432" bIns="27432" anchor="t">
            <a:noAutofit/>
          </a:bodyPr>
          <a:lstStyle/>
          <a:p>
            <a:pPr algn="l">
              <a:lnSpc>
                <a:spcPct val="100000"/>
              </a:lnSpc>
            </a:pPr>
            <a:r>
              <a:rPr sz="1600" b="0" i="0">
                <a:solidFill>
                  <a:srgbClr val="F7F2E8"/>
                </a:solidFill>
                <a:latin typeface="Segoe UI Semibold"/>
              </a:rPr>
              <a:t>Markdown</a:t>
            </a:r>
          </a:p>
        </p:txBody>
      </p:sp>
      <p:sp>
        <p:nvSpPr>
          <p:cNvPr id="15" name="TextBox 14"/>
          <p:cNvSpPr txBox="1"/>
          <p:nvPr/>
        </p:nvSpPr>
        <p:spPr>
          <a:xfrm>
            <a:off x="6324447" y="2657855"/>
            <a:ext cx="5172303" cy="1292352"/>
          </a:xfrm>
          <a:prstGeom prst="rect">
            <a:avLst/>
          </a:prstGeom>
          <a:noFill/>
        </p:spPr>
        <p:txBody>
          <a:bodyPr wrap="square" lIns="45720" rIns="45720" tIns="27432" bIns="27432" anchor="t">
            <a:noAutofit/>
          </a:bodyPr>
          <a:lstStyle/>
          <a:p>
            <a:pPr algn="l">
              <a:lnSpc>
                <a:spcPct val="100000"/>
              </a:lnSpc>
            </a:pPr>
            <a:r>
              <a:rPr sz="1300" b="0" i="0">
                <a:solidFill>
                  <a:srgbClr val="A7B2B0"/>
                </a:solidFill>
                <a:latin typeface="Segoe UI"/>
              </a:rPr>
              <a:t>El source editable y la vista previa sanitizada conservan el historial de deshacer.</a:t>
            </a:r>
          </a:p>
        </p:txBody>
      </p:sp>
      <p:sp>
        <p:nvSpPr>
          <p:cNvPr id="16" name="Rounded Rectangle 15"/>
          <p:cNvSpPr/>
          <p:nvPr/>
        </p:nvSpPr>
        <p:spPr>
          <a:xfrm>
            <a:off x="566928" y="4242816"/>
            <a:ext cx="5428335" cy="1956816"/>
          </a:xfrm>
          <a:prstGeom prst="roundRect">
            <a:avLst>
              <a:gd name="adj" fmla="val 5607"/>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31520" y="4370832"/>
            <a:ext cx="502920" cy="45720"/>
          </a:xfrm>
          <a:prstGeom prst="rect">
            <a:avLst/>
          </a:prstGeom>
          <a:solidFill>
            <a:srgbClr val="E2B4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694944" y="4462272"/>
            <a:ext cx="5172303" cy="353568"/>
          </a:xfrm>
          <a:prstGeom prst="rect">
            <a:avLst/>
          </a:prstGeom>
          <a:noFill/>
        </p:spPr>
        <p:txBody>
          <a:bodyPr wrap="square" lIns="45720" rIns="45720" tIns="27432" bIns="27432" anchor="t">
            <a:noAutofit/>
          </a:bodyPr>
          <a:lstStyle/>
          <a:p>
            <a:pPr algn="l">
              <a:lnSpc>
                <a:spcPct val="100000"/>
              </a:lnSpc>
            </a:pPr>
            <a:r>
              <a:rPr sz="1600" b="0" i="0">
                <a:solidFill>
                  <a:srgbClr val="F7F2E8"/>
                </a:solidFill>
                <a:latin typeface="Segoe UI Semibold"/>
              </a:rPr>
              <a:t>Controles</a:t>
            </a:r>
          </a:p>
        </p:txBody>
      </p:sp>
      <p:sp>
        <p:nvSpPr>
          <p:cNvPr id="19" name="TextBox 18"/>
          <p:cNvSpPr txBox="1"/>
          <p:nvPr/>
        </p:nvSpPr>
        <p:spPr>
          <a:xfrm>
            <a:off x="694944" y="4815840"/>
            <a:ext cx="5172303" cy="1292352"/>
          </a:xfrm>
          <a:prstGeom prst="rect">
            <a:avLst/>
          </a:prstGeom>
          <a:noFill/>
        </p:spPr>
        <p:txBody>
          <a:bodyPr wrap="square" lIns="45720" rIns="45720" tIns="27432" bIns="27432" anchor="t">
            <a:noAutofit/>
          </a:bodyPr>
          <a:lstStyle/>
          <a:p>
            <a:pPr algn="l">
              <a:lnSpc>
                <a:spcPct val="100000"/>
              </a:lnSpc>
            </a:pPr>
            <a:r>
              <a:rPr sz="1300" b="0" i="0">
                <a:solidFill>
                  <a:srgbClr val="A7B2B0"/>
                </a:solidFill>
                <a:latin typeface="Segoe UI"/>
              </a:rPr>
              <a:t>Guardar, Guardar como, Deshacer/Rehacer, Buscar/reemplazar y Ajustar líneas.</a:t>
            </a:r>
          </a:p>
        </p:txBody>
      </p:sp>
      <p:sp>
        <p:nvSpPr>
          <p:cNvPr id="20" name="Rounded Rectangle 19"/>
          <p:cNvSpPr/>
          <p:nvPr/>
        </p:nvSpPr>
        <p:spPr>
          <a:xfrm>
            <a:off x="6196431" y="4242816"/>
            <a:ext cx="5428335" cy="1956816"/>
          </a:xfrm>
          <a:prstGeom prst="roundRect">
            <a:avLst>
              <a:gd name="adj" fmla="val 5607"/>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ectangle 20"/>
          <p:cNvSpPr/>
          <p:nvPr/>
        </p:nvSpPr>
        <p:spPr>
          <a:xfrm>
            <a:off x="6361023" y="4370832"/>
            <a:ext cx="502920" cy="45720"/>
          </a:xfrm>
          <a:prstGeom prst="rect">
            <a:avLst/>
          </a:prstGeom>
          <a:solidFill>
            <a:srgbClr val="46D2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6324447" y="4462272"/>
            <a:ext cx="5172303" cy="353568"/>
          </a:xfrm>
          <a:prstGeom prst="rect">
            <a:avLst/>
          </a:prstGeom>
          <a:noFill/>
        </p:spPr>
        <p:txBody>
          <a:bodyPr wrap="square" lIns="45720" rIns="45720" tIns="27432" bIns="27432" anchor="t">
            <a:noAutofit/>
          </a:bodyPr>
          <a:lstStyle/>
          <a:p>
            <a:pPr algn="l">
              <a:lnSpc>
                <a:spcPct val="100000"/>
              </a:lnSpc>
            </a:pPr>
            <a:r>
              <a:rPr sz="1600" b="0" i="0">
                <a:solidFill>
                  <a:srgbClr val="F7F2E8"/>
                </a:solidFill>
                <a:latin typeface="Segoe UI Semibold"/>
              </a:rPr>
              <a:t>Distribución</a:t>
            </a:r>
          </a:p>
        </p:txBody>
      </p:sp>
      <p:sp>
        <p:nvSpPr>
          <p:cNvPr id="23" name="TextBox 22"/>
          <p:cNvSpPr txBox="1"/>
          <p:nvPr/>
        </p:nvSpPr>
        <p:spPr>
          <a:xfrm>
            <a:off x="6324447" y="4815840"/>
            <a:ext cx="5172303" cy="1292352"/>
          </a:xfrm>
          <a:prstGeom prst="rect">
            <a:avLst/>
          </a:prstGeom>
          <a:noFill/>
        </p:spPr>
        <p:txBody>
          <a:bodyPr wrap="square" lIns="45720" rIns="45720" tIns="27432" bIns="27432" anchor="t">
            <a:noAutofit/>
          </a:bodyPr>
          <a:lstStyle/>
          <a:p>
            <a:pPr algn="l">
              <a:lnSpc>
                <a:spcPct val="100000"/>
              </a:lnSpc>
            </a:pPr>
            <a:r>
              <a:rPr sz="1300" b="0" i="0">
                <a:solidFill>
                  <a:srgbClr val="A7B2B0"/>
                </a:solidFill>
                <a:latin typeface="Segoe UI"/>
              </a:rPr>
              <a:t>Un ancho reservado para el canvas y un editor que llena su altura disponible.</a:t>
            </a:r>
          </a:p>
        </p:txBody>
      </p:sp>
      <p:cxnSp>
        <p:nvCxnSpPr>
          <p:cNvPr id="24" name="Connector 23"/>
          <p:cNvCxnSpPr/>
          <p:nvPr/>
        </p:nvCxnSpPr>
        <p:spPr>
          <a:xfrm>
            <a:off x="566928" y="6373368"/>
            <a:ext cx="11057839" cy="0"/>
          </a:xfrm>
          <a:prstGeom prst="line">
            <a:avLst/>
          </a:prstGeom>
          <a:ln w="7620">
            <a:solidFill>
              <a:srgbClr val="2A3A40"/>
            </a:solidFill>
          </a:ln>
        </p:spPr>
        <p:style>
          <a:lnRef idx="2">
            <a:schemeClr val="accent1"/>
          </a:lnRef>
          <a:fillRef idx="0">
            <a:schemeClr val="accent1"/>
          </a:fillRef>
          <a:effectRef idx="1">
            <a:schemeClr val="accent1"/>
          </a:effectRef>
          <a:fontRef idx="minor">
            <a:schemeClr val="tx1"/>
          </a:fontRef>
        </p:style>
      </p:cxnSp>
      <p:sp>
        <p:nvSpPr>
          <p:cNvPr id="25" name="TextBox 24"/>
          <p:cNvSpPr txBox="1"/>
          <p:nvPr/>
        </p:nvSpPr>
        <p:spPr>
          <a:xfrm>
            <a:off x="566928" y="6419088"/>
            <a:ext cx="6858000" cy="274320"/>
          </a:xfrm>
          <a:prstGeom prst="rect">
            <a:avLst/>
          </a:prstGeom>
          <a:noFill/>
        </p:spPr>
        <p:txBody>
          <a:bodyPr wrap="square" lIns="45720" rIns="45720" tIns="27432" bIns="27432" anchor="t">
            <a:noAutofit/>
          </a:bodyPr>
          <a:lstStyle/>
          <a:p>
            <a:pPr algn="l">
              <a:lnSpc>
                <a:spcPct val="100000"/>
              </a:lnSpc>
            </a:pPr>
            <a:r>
              <a:rPr sz="850" b="0" i="0" spc="120">
                <a:solidFill>
                  <a:srgbClr val="A7B2B0"/>
                </a:solidFill>
                <a:latin typeface="Segoe UI Semibold"/>
              </a:rPr>
              <a:t>TLAMATINI  ·  III · DÓNDE TRABAJAS CON ELLA</a:t>
            </a:r>
          </a:p>
        </p:txBody>
      </p:sp>
      <p:sp>
        <p:nvSpPr>
          <p:cNvPr id="26" name="TextBox 25"/>
          <p:cNvSpPr txBox="1"/>
          <p:nvPr/>
        </p:nvSpPr>
        <p:spPr>
          <a:xfrm>
            <a:off x="8698687" y="6419088"/>
            <a:ext cx="2926080" cy="274320"/>
          </a:xfrm>
          <a:prstGeom prst="rect">
            <a:avLst/>
          </a:prstGeom>
          <a:noFill/>
        </p:spPr>
        <p:txBody>
          <a:bodyPr wrap="square" lIns="45720" rIns="45720" tIns="27432" bIns="27432" anchor="t">
            <a:noAutofit/>
          </a:bodyPr>
          <a:lstStyle/>
          <a:p>
            <a:pPr algn="r">
              <a:lnSpc>
                <a:spcPct val="100000"/>
              </a:lnSpc>
            </a:pPr>
            <a:r>
              <a:rPr sz="850" b="0" i="0" spc="100">
                <a:solidFill>
                  <a:srgbClr val="A7B2B0"/>
                </a:solidFill>
                <a:latin typeface="Segoe UI Semibold"/>
              </a:rPr>
              <a:t>v1.91.1   ·   30</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content.png"/>
          <p:cNvPicPr>
            <a:picLocks noChangeAspect="1"/>
          </p:cNvPicPr>
          <p:nvPr/>
        </p:nvPicPr>
        <p:blipFill>
          <a:blip r:embed="rId2"/>
          <a:stretch>
            <a:fillRect/>
          </a:stretch>
        </p:blipFill>
        <p:spPr>
          <a:xfrm>
            <a:off x="0" y="0"/>
            <a:ext cx="12191695" cy="6858000"/>
          </a:xfrm>
          <a:prstGeom prst="rect">
            <a:avLst/>
          </a:prstGeom>
        </p:spPr>
      </p:pic>
      <p:sp>
        <p:nvSpPr>
          <p:cNvPr id="3" name="Diamond 2"/>
          <p:cNvSpPr/>
          <p:nvPr/>
        </p:nvSpPr>
        <p:spPr>
          <a:xfrm>
            <a:off x="566928" y="457200"/>
            <a:ext cx="100584" cy="100584"/>
          </a:xfrm>
          <a:prstGeom prst="diamond">
            <a:avLst/>
          </a:prstGeom>
          <a:solidFill>
            <a:srgbClr val="E2B4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49808" y="365760"/>
            <a:ext cx="8229600" cy="292608"/>
          </a:xfrm>
          <a:prstGeom prst="rect">
            <a:avLst/>
          </a:prstGeom>
          <a:noFill/>
        </p:spPr>
        <p:txBody>
          <a:bodyPr wrap="square" lIns="45720" rIns="45720" tIns="27432" bIns="27432" anchor="t">
            <a:noAutofit/>
          </a:bodyPr>
          <a:lstStyle/>
          <a:p>
            <a:pPr algn="l">
              <a:lnSpc>
                <a:spcPct val="100000"/>
              </a:lnSpc>
            </a:pPr>
            <a:r>
              <a:rPr sz="1100" b="0" i="0" spc="240">
                <a:solidFill>
                  <a:srgbClr val="C98457"/>
                </a:solidFill>
                <a:latin typeface="Segoe UI Semibold"/>
              </a:rPr>
              <a:t>GUARDADO NATIVO</a:t>
            </a:r>
          </a:p>
        </p:txBody>
      </p:sp>
      <p:sp>
        <p:nvSpPr>
          <p:cNvPr id="5" name="TextBox 4"/>
          <p:cNvSpPr txBox="1"/>
          <p:nvPr/>
        </p:nvSpPr>
        <p:spPr>
          <a:xfrm>
            <a:off x="539496" y="676656"/>
            <a:ext cx="11057839" cy="658368"/>
          </a:xfrm>
          <a:prstGeom prst="rect">
            <a:avLst/>
          </a:prstGeom>
          <a:noFill/>
        </p:spPr>
        <p:txBody>
          <a:bodyPr wrap="square" lIns="45720" rIns="45720" tIns="27432" bIns="27432" anchor="t">
            <a:noAutofit/>
          </a:bodyPr>
          <a:lstStyle/>
          <a:p>
            <a:pPr algn="l">
              <a:lnSpc>
                <a:spcPct val="100000"/>
              </a:lnSpc>
            </a:pPr>
            <a:r>
              <a:rPr sz="3100" b="0" i="0">
                <a:solidFill>
                  <a:srgbClr val="F7F2E8"/>
                </a:solidFill>
                <a:latin typeface="Palatino Linotype"/>
              </a:rPr>
              <a:t>Guarda en la carpeta del proyecto que elijas</a:t>
            </a:r>
          </a:p>
        </p:txBody>
      </p:sp>
      <p:sp>
        <p:nvSpPr>
          <p:cNvPr id="6" name="Rectangle 5"/>
          <p:cNvSpPr/>
          <p:nvPr/>
        </p:nvSpPr>
        <p:spPr>
          <a:xfrm>
            <a:off x="566928" y="1344168"/>
            <a:ext cx="822960" cy="36576"/>
          </a:xfrm>
          <a:prstGeom prst="rect">
            <a:avLst/>
          </a:prstGeom>
          <a:solidFill>
            <a:srgbClr val="E2B4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566928" y="1444752"/>
            <a:ext cx="10692079" cy="585216"/>
          </a:xfrm>
          <a:prstGeom prst="rect">
            <a:avLst/>
          </a:prstGeom>
          <a:noFill/>
        </p:spPr>
        <p:txBody>
          <a:bodyPr wrap="square" lIns="45720" rIns="45720" tIns="27432" bIns="27432" anchor="t">
            <a:noAutofit/>
          </a:bodyPr>
          <a:lstStyle/>
          <a:p>
            <a:pPr algn="l">
              <a:lnSpc>
                <a:spcPct val="100000"/>
              </a:lnSpc>
            </a:pPr>
            <a:r>
              <a:rPr sz="1450" b="0" i="0">
                <a:solidFill>
                  <a:srgbClr val="A7B2B0"/>
                </a:solidFill>
                <a:latin typeface="Segoe UI Semilight"/>
              </a:rPr>
              <a:t>El selector nativo local de Windows hace que Descargas sea opcional.</a:t>
            </a:r>
          </a:p>
        </p:txBody>
      </p:sp>
      <p:sp>
        <p:nvSpPr>
          <p:cNvPr id="8" name="Rounded Rectangle 7"/>
          <p:cNvSpPr/>
          <p:nvPr/>
        </p:nvSpPr>
        <p:spPr>
          <a:xfrm>
            <a:off x="566928" y="2084831"/>
            <a:ext cx="5428335" cy="1956816"/>
          </a:xfrm>
          <a:prstGeom prst="roundRect">
            <a:avLst>
              <a:gd name="adj" fmla="val 5607"/>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ectangle 8"/>
          <p:cNvSpPr/>
          <p:nvPr/>
        </p:nvSpPr>
        <p:spPr>
          <a:xfrm>
            <a:off x="731520" y="2212848"/>
            <a:ext cx="502920" cy="45720"/>
          </a:xfrm>
          <a:prstGeom prst="rect">
            <a:avLst/>
          </a:prstGeom>
          <a:solidFill>
            <a:srgbClr val="3BBE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694944" y="2304287"/>
            <a:ext cx="5172303" cy="353568"/>
          </a:xfrm>
          <a:prstGeom prst="rect">
            <a:avLst/>
          </a:prstGeom>
          <a:noFill/>
        </p:spPr>
        <p:txBody>
          <a:bodyPr wrap="square" lIns="45720" rIns="45720" tIns="27432" bIns="27432" anchor="t">
            <a:noAutofit/>
          </a:bodyPr>
          <a:lstStyle/>
          <a:p>
            <a:pPr algn="l">
              <a:lnSpc>
                <a:spcPct val="100000"/>
              </a:lnSpc>
            </a:pPr>
            <a:r>
              <a:rPr sz="1600" b="0" i="0">
                <a:solidFill>
                  <a:srgbClr val="F7F2E8"/>
                </a:solidFill>
                <a:latin typeface="Segoe UI Semibold"/>
              </a:rPr>
              <a:t>Elegir</a:t>
            </a:r>
          </a:p>
        </p:txBody>
      </p:sp>
      <p:sp>
        <p:nvSpPr>
          <p:cNvPr id="11" name="TextBox 10"/>
          <p:cNvSpPr txBox="1"/>
          <p:nvPr/>
        </p:nvSpPr>
        <p:spPr>
          <a:xfrm>
            <a:off x="694944" y="2657855"/>
            <a:ext cx="5172303" cy="1292352"/>
          </a:xfrm>
          <a:prstGeom prst="rect">
            <a:avLst/>
          </a:prstGeom>
          <a:noFill/>
        </p:spPr>
        <p:txBody>
          <a:bodyPr wrap="square" lIns="45720" rIns="45720" tIns="27432" bIns="27432" anchor="t">
            <a:noAutofit/>
          </a:bodyPr>
          <a:lstStyle/>
          <a:p>
            <a:pPr algn="l">
              <a:lnSpc>
                <a:spcPct val="100000"/>
              </a:lnSpc>
            </a:pPr>
            <a:r>
              <a:rPr sz="1300" b="0" i="0">
                <a:solidFill>
                  <a:srgbClr val="A7B2B0"/>
                </a:solidFill>
                <a:latin typeface="Segoe UI"/>
              </a:rPr>
              <a:t>Guardar como nativo en cualquier carpeta local con permiso de escritura.</a:t>
            </a:r>
          </a:p>
        </p:txBody>
      </p:sp>
      <p:sp>
        <p:nvSpPr>
          <p:cNvPr id="12" name="Rounded Rectangle 11"/>
          <p:cNvSpPr/>
          <p:nvPr/>
        </p:nvSpPr>
        <p:spPr>
          <a:xfrm>
            <a:off x="6196431" y="2084831"/>
            <a:ext cx="5428335" cy="1956816"/>
          </a:xfrm>
          <a:prstGeom prst="roundRect">
            <a:avLst>
              <a:gd name="adj" fmla="val 5607"/>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6361023" y="2212848"/>
            <a:ext cx="502920" cy="45720"/>
          </a:xfrm>
          <a:prstGeom prst="rect">
            <a:avLst/>
          </a:prstGeom>
          <a:solidFill>
            <a:srgbClr val="C984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324447" y="2304287"/>
            <a:ext cx="5172303" cy="353568"/>
          </a:xfrm>
          <a:prstGeom prst="rect">
            <a:avLst/>
          </a:prstGeom>
          <a:noFill/>
        </p:spPr>
        <p:txBody>
          <a:bodyPr wrap="square" lIns="45720" rIns="45720" tIns="27432" bIns="27432" anchor="t">
            <a:noAutofit/>
          </a:bodyPr>
          <a:lstStyle/>
          <a:p>
            <a:pPr algn="l">
              <a:lnSpc>
                <a:spcPct val="100000"/>
              </a:lnSpc>
            </a:pPr>
            <a:r>
              <a:rPr sz="1600" b="0" i="0">
                <a:solidFill>
                  <a:srgbClr val="F7F2E8"/>
                </a:solidFill>
                <a:latin typeface="Segoe UI Semibold"/>
              </a:rPr>
              <a:t>Autorizar</a:t>
            </a:r>
          </a:p>
        </p:txBody>
      </p:sp>
      <p:sp>
        <p:nvSpPr>
          <p:cNvPr id="15" name="TextBox 14"/>
          <p:cNvSpPr txBox="1"/>
          <p:nvPr/>
        </p:nvSpPr>
        <p:spPr>
          <a:xfrm>
            <a:off x="6324447" y="2657855"/>
            <a:ext cx="5172303" cy="1292352"/>
          </a:xfrm>
          <a:prstGeom prst="rect">
            <a:avLst/>
          </a:prstGeom>
          <a:noFill/>
        </p:spPr>
        <p:txBody>
          <a:bodyPr wrap="square" lIns="45720" rIns="45720" tIns="27432" bIns="27432" anchor="t">
            <a:noAutofit/>
          </a:bodyPr>
          <a:lstStyle/>
          <a:p>
            <a:pPr algn="l">
              <a:lnSpc>
                <a:spcPct val="100000"/>
              </a:lnSpc>
            </a:pPr>
            <a:r>
              <a:rPr sz="1300" b="0" i="0">
                <a:solidFill>
                  <a:srgbClr val="A7B2B0"/>
                </a:solidFill>
                <a:latin typeface="Segoe UI"/>
              </a:rPr>
              <a:t>Capacidad ligada a la cuenta/sesión; 12 horas de inactividad, se pierde al reiniciar.</a:t>
            </a:r>
          </a:p>
        </p:txBody>
      </p:sp>
      <p:sp>
        <p:nvSpPr>
          <p:cNvPr id="16" name="Rounded Rectangle 15"/>
          <p:cNvSpPr/>
          <p:nvPr/>
        </p:nvSpPr>
        <p:spPr>
          <a:xfrm>
            <a:off x="566928" y="4242816"/>
            <a:ext cx="5428335" cy="1956816"/>
          </a:xfrm>
          <a:prstGeom prst="roundRect">
            <a:avLst>
              <a:gd name="adj" fmla="val 5607"/>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31520" y="4370832"/>
            <a:ext cx="502920" cy="45720"/>
          </a:xfrm>
          <a:prstGeom prst="rect">
            <a:avLst/>
          </a:prstGeom>
          <a:solidFill>
            <a:srgbClr val="E2B4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694944" y="4462272"/>
            <a:ext cx="5172303" cy="353568"/>
          </a:xfrm>
          <a:prstGeom prst="rect">
            <a:avLst/>
          </a:prstGeom>
          <a:noFill/>
        </p:spPr>
        <p:txBody>
          <a:bodyPr wrap="square" lIns="45720" rIns="45720" tIns="27432" bIns="27432" anchor="t">
            <a:noAutofit/>
          </a:bodyPr>
          <a:lstStyle/>
          <a:p>
            <a:pPr algn="l">
              <a:lnSpc>
                <a:spcPct val="100000"/>
              </a:lnSpc>
            </a:pPr>
            <a:r>
              <a:rPr sz="1600" b="0" i="0">
                <a:solidFill>
                  <a:srgbClr val="F7F2E8"/>
                </a:solidFill>
                <a:latin typeface="Segoe UI Semibold"/>
              </a:rPr>
              <a:t>Comparar</a:t>
            </a:r>
          </a:p>
        </p:txBody>
      </p:sp>
      <p:sp>
        <p:nvSpPr>
          <p:cNvPr id="19" name="TextBox 18"/>
          <p:cNvSpPr txBox="1"/>
          <p:nvPr/>
        </p:nvSpPr>
        <p:spPr>
          <a:xfrm>
            <a:off x="694944" y="4815840"/>
            <a:ext cx="5172303" cy="1292352"/>
          </a:xfrm>
          <a:prstGeom prst="rect">
            <a:avLst/>
          </a:prstGeom>
          <a:noFill/>
        </p:spPr>
        <p:txBody>
          <a:bodyPr wrap="square" lIns="45720" rIns="45720" tIns="27432" bIns="27432" anchor="t">
            <a:noAutofit/>
          </a:bodyPr>
          <a:lstStyle/>
          <a:p>
            <a:pPr algn="l">
              <a:lnSpc>
                <a:spcPct val="100000"/>
              </a:lnSpc>
            </a:pPr>
            <a:r>
              <a:rPr sz="1300" b="0" i="0">
                <a:solidFill>
                  <a:srgbClr val="A7B2B0"/>
                </a:solidFill>
                <a:latin typeface="Segoe UI"/>
              </a:rPr>
              <a:t>Los cambios externos en el disco rechazan la sobrescritura; Guardar como conserva una copia aparte.</a:t>
            </a:r>
          </a:p>
        </p:txBody>
      </p:sp>
      <p:sp>
        <p:nvSpPr>
          <p:cNvPr id="20" name="Rounded Rectangle 19"/>
          <p:cNvSpPr/>
          <p:nvPr/>
        </p:nvSpPr>
        <p:spPr>
          <a:xfrm>
            <a:off x="6196431" y="4242816"/>
            <a:ext cx="5428335" cy="1956816"/>
          </a:xfrm>
          <a:prstGeom prst="roundRect">
            <a:avLst>
              <a:gd name="adj" fmla="val 5607"/>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ectangle 20"/>
          <p:cNvSpPr/>
          <p:nvPr/>
        </p:nvSpPr>
        <p:spPr>
          <a:xfrm>
            <a:off x="6361023" y="4370832"/>
            <a:ext cx="502920" cy="45720"/>
          </a:xfrm>
          <a:prstGeom prst="rect">
            <a:avLst/>
          </a:prstGeom>
          <a:solidFill>
            <a:srgbClr val="46D2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6324447" y="4462272"/>
            <a:ext cx="5172303" cy="353568"/>
          </a:xfrm>
          <a:prstGeom prst="rect">
            <a:avLst/>
          </a:prstGeom>
          <a:noFill/>
        </p:spPr>
        <p:txBody>
          <a:bodyPr wrap="square" lIns="45720" rIns="45720" tIns="27432" bIns="27432" anchor="t">
            <a:noAutofit/>
          </a:bodyPr>
          <a:lstStyle/>
          <a:p>
            <a:pPr algn="l">
              <a:lnSpc>
                <a:spcPct val="100000"/>
              </a:lnSpc>
            </a:pPr>
            <a:r>
              <a:rPr sz="1600" b="0" i="0">
                <a:solidFill>
                  <a:srgbClr val="F7F2E8"/>
                </a:solidFill>
                <a:latin typeface="Segoe UI Semibold"/>
              </a:rPr>
              <a:t>Conservar</a:t>
            </a:r>
          </a:p>
        </p:txBody>
      </p:sp>
      <p:sp>
        <p:nvSpPr>
          <p:cNvPr id="23" name="TextBox 22"/>
          <p:cNvSpPr txBox="1"/>
          <p:nvPr/>
        </p:nvSpPr>
        <p:spPr>
          <a:xfrm>
            <a:off x="6324447" y="4815840"/>
            <a:ext cx="5172303" cy="1292352"/>
          </a:xfrm>
          <a:prstGeom prst="rect">
            <a:avLst/>
          </a:prstGeom>
          <a:noFill/>
        </p:spPr>
        <p:txBody>
          <a:bodyPr wrap="square" lIns="45720" rIns="45720" tIns="27432" bIns="27432" anchor="t">
            <a:noAutofit/>
          </a:bodyPr>
          <a:lstStyle/>
          <a:p>
            <a:pPr algn="l">
              <a:lnSpc>
                <a:spcPct val="100000"/>
              </a:lnSpc>
            </a:pPr>
            <a:r>
              <a:rPr sz="1300" b="0" i="0">
                <a:solidFill>
                  <a:srgbClr val="A7B2B0"/>
                </a:solidFill>
                <a:latin typeface="Segoe UI"/>
              </a:rPr>
              <a:t>Codificación, BOM, saltos de línea y metadatos existentes de Windows.</a:t>
            </a:r>
          </a:p>
        </p:txBody>
      </p:sp>
      <p:cxnSp>
        <p:nvCxnSpPr>
          <p:cNvPr id="24" name="Connector 23"/>
          <p:cNvCxnSpPr/>
          <p:nvPr/>
        </p:nvCxnSpPr>
        <p:spPr>
          <a:xfrm>
            <a:off x="566928" y="6373368"/>
            <a:ext cx="11057839" cy="0"/>
          </a:xfrm>
          <a:prstGeom prst="line">
            <a:avLst/>
          </a:prstGeom>
          <a:ln w="7620">
            <a:solidFill>
              <a:srgbClr val="2A3A40"/>
            </a:solidFill>
          </a:ln>
        </p:spPr>
        <p:style>
          <a:lnRef idx="2">
            <a:schemeClr val="accent1"/>
          </a:lnRef>
          <a:fillRef idx="0">
            <a:schemeClr val="accent1"/>
          </a:fillRef>
          <a:effectRef idx="1">
            <a:schemeClr val="accent1"/>
          </a:effectRef>
          <a:fontRef idx="minor">
            <a:schemeClr val="tx1"/>
          </a:fontRef>
        </p:style>
      </p:cxnSp>
      <p:sp>
        <p:nvSpPr>
          <p:cNvPr id="25" name="TextBox 24"/>
          <p:cNvSpPr txBox="1"/>
          <p:nvPr/>
        </p:nvSpPr>
        <p:spPr>
          <a:xfrm>
            <a:off x="566928" y="6419088"/>
            <a:ext cx="6858000" cy="274320"/>
          </a:xfrm>
          <a:prstGeom prst="rect">
            <a:avLst/>
          </a:prstGeom>
          <a:noFill/>
        </p:spPr>
        <p:txBody>
          <a:bodyPr wrap="square" lIns="45720" rIns="45720" tIns="27432" bIns="27432" anchor="t">
            <a:noAutofit/>
          </a:bodyPr>
          <a:lstStyle/>
          <a:p>
            <a:pPr algn="l">
              <a:lnSpc>
                <a:spcPct val="100000"/>
              </a:lnSpc>
            </a:pPr>
            <a:r>
              <a:rPr sz="850" b="0" i="0" spc="120">
                <a:solidFill>
                  <a:srgbClr val="A7B2B0"/>
                </a:solidFill>
                <a:latin typeface="Segoe UI Semibold"/>
              </a:rPr>
              <a:t>TLAMATINI  ·  III · DÓNDE TRABAJAS CON ELLA</a:t>
            </a:r>
          </a:p>
        </p:txBody>
      </p:sp>
      <p:sp>
        <p:nvSpPr>
          <p:cNvPr id="26" name="TextBox 25"/>
          <p:cNvSpPr txBox="1"/>
          <p:nvPr/>
        </p:nvSpPr>
        <p:spPr>
          <a:xfrm>
            <a:off x="8698687" y="6419088"/>
            <a:ext cx="2926080" cy="274320"/>
          </a:xfrm>
          <a:prstGeom prst="rect">
            <a:avLst/>
          </a:prstGeom>
          <a:noFill/>
        </p:spPr>
        <p:txBody>
          <a:bodyPr wrap="square" lIns="45720" rIns="45720" tIns="27432" bIns="27432" anchor="t">
            <a:noAutofit/>
          </a:bodyPr>
          <a:lstStyle/>
          <a:p>
            <a:pPr algn="r">
              <a:lnSpc>
                <a:spcPct val="100000"/>
              </a:lnSpc>
            </a:pPr>
            <a:r>
              <a:rPr sz="850" b="0" i="0" spc="100">
                <a:solidFill>
                  <a:srgbClr val="A7B2B0"/>
                </a:solidFill>
                <a:latin typeface="Segoe UI Semibold"/>
              </a:rPr>
              <a:t>v1.91.1   ·   31</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content.png"/>
          <p:cNvPicPr>
            <a:picLocks noChangeAspect="1"/>
          </p:cNvPicPr>
          <p:nvPr/>
        </p:nvPicPr>
        <p:blipFill>
          <a:blip r:embed="rId2"/>
          <a:stretch>
            <a:fillRect/>
          </a:stretch>
        </p:blipFill>
        <p:spPr>
          <a:xfrm>
            <a:off x="0" y="0"/>
            <a:ext cx="12191695" cy="6858000"/>
          </a:xfrm>
          <a:prstGeom prst="rect">
            <a:avLst/>
          </a:prstGeom>
        </p:spPr>
      </p:pic>
      <p:sp>
        <p:nvSpPr>
          <p:cNvPr id="3" name="Diamond 2"/>
          <p:cNvSpPr/>
          <p:nvPr/>
        </p:nvSpPr>
        <p:spPr>
          <a:xfrm>
            <a:off x="566928" y="457200"/>
            <a:ext cx="100584" cy="100584"/>
          </a:xfrm>
          <a:prstGeom prst="diamond">
            <a:avLst/>
          </a:prstGeom>
          <a:solidFill>
            <a:srgbClr val="E2B4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49808" y="365760"/>
            <a:ext cx="8229600" cy="292608"/>
          </a:xfrm>
          <a:prstGeom prst="rect">
            <a:avLst/>
          </a:prstGeom>
          <a:noFill/>
        </p:spPr>
        <p:txBody>
          <a:bodyPr wrap="square" lIns="45720" rIns="45720" tIns="27432" bIns="27432" anchor="t">
            <a:noAutofit/>
          </a:bodyPr>
          <a:lstStyle/>
          <a:p>
            <a:pPr algn="l">
              <a:lnSpc>
                <a:spcPct val="100000"/>
              </a:lnSpc>
            </a:pPr>
            <a:r>
              <a:rPr sz="1100" b="0" i="0" spc="240">
                <a:solidFill>
                  <a:srgbClr val="C98457"/>
                </a:solidFill>
                <a:latin typeface="Segoe UI Semibold"/>
              </a:rPr>
              <a:t>INTERACTOR · v1.90.0</a:t>
            </a:r>
          </a:p>
        </p:txBody>
      </p:sp>
      <p:sp>
        <p:nvSpPr>
          <p:cNvPr id="5" name="TextBox 4"/>
          <p:cNvSpPr txBox="1"/>
          <p:nvPr/>
        </p:nvSpPr>
        <p:spPr>
          <a:xfrm>
            <a:off x="539496" y="676656"/>
            <a:ext cx="11057839" cy="658368"/>
          </a:xfrm>
          <a:prstGeom prst="rect">
            <a:avLst/>
          </a:prstGeom>
          <a:noFill/>
        </p:spPr>
        <p:txBody>
          <a:bodyPr wrap="square" lIns="45720" rIns="45720" tIns="27432" bIns="27432" anchor="t">
            <a:noAutofit/>
          </a:bodyPr>
          <a:lstStyle/>
          <a:p>
            <a:pPr algn="l">
              <a:lnSpc>
                <a:spcPct val="100000"/>
              </a:lnSpc>
            </a:pPr>
            <a:r>
              <a:rPr sz="3100" b="0" i="0">
                <a:solidFill>
                  <a:srgbClr val="F7F2E8"/>
                </a:solidFill>
                <a:latin typeface="Palatino Linotype"/>
              </a:rPr>
              <a:t>Enseña dentro del documento vivo sin guardar</a:t>
            </a:r>
          </a:p>
        </p:txBody>
      </p:sp>
      <p:sp>
        <p:nvSpPr>
          <p:cNvPr id="6" name="Rectangle 5"/>
          <p:cNvSpPr/>
          <p:nvPr/>
        </p:nvSpPr>
        <p:spPr>
          <a:xfrm>
            <a:off x="566928" y="1344168"/>
            <a:ext cx="822960" cy="36576"/>
          </a:xfrm>
          <a:prstGeom prst="rect">
            <a:avLst/>
          </a:prstGeom>
          <a:solidFill>
            <a:srgbClr val="E2B4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566928" y="1444752"/>
            <a:ext cx="10692079" cy="585216"/>
          </a:xfrm>
          <a:prstGeom prst="rect">
            <a:avLst/>
          </a:prstGeom>
          <a:noFill/>
        </p:spPr>
        <p:txBody>
          <a:bodyPr wrap="square" lIns="45720" rIns="45720" tIns="27432" bIns="27432" anchor="t">
            <a:noAutofit/>
          </a:bodyPr>
          <a:lstStyle/>
          <a:p>
            <a:pPr algn="l">
              <a:lnSpc>
                <a:spcPct val="100000"/>
              </a:lnSpc>
            </a:pPr>
            <a:r>
              <a:rPr sz="1450" b="0" i="0">
                <a:solidFill>
                  <a:srgbClr val="A7B2B0"/>
                </a:solidFill>
                <a:latin typeface="Segoe UI Semilight"/>
              </a:rPr>
              <a:t>Interactor es un módulo y un tool integrado, no un agent de workflow ni una terminal.</a:t>
            </a:r>
          </a:p>
        </p:txBody>
      </p:sp>
      <p:sp>
        <p:nvSpPr>
          <p:cNvPr id="8" name="Rounded Rectangle 7"/>
          <p:cNvSpPr/>
          <p:nvPr/>
        </p:nvSpPr>
        <p:spPr>
          <a:xfrm>
            <a:off x="566928" y="2084831"/>
            <a:ext cx="5428335" cy="1956816"/>
          </a:xfrm>
          <a:prstGeom prst="roundRect">
            <a:avLst>
              <a:gd name="adj" fmla="val 5607"/>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ectangle 8"/>
          <p:cNvSpPr/>
          <p:nvPr/>
        </p:nvSpPr>
        <p:spPr>
          <a:xfrm>
            <a:off x="731520" y="2212848"/>
            <a:ext cx="502920" cy="45720"/>
          </a:xfrm>
          <a:prstGeom prst="rect">
            <a:avLst/>
          </a:prstGeom>
          <a:solidFill>
            <a:srgbClr val="3BBE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694944" y="2304287"/>
            <a:ext cx="5172303" cy="353568"/>
          </a:xfrm>
          <a:prstGeom prst="rect">
            <a:avLst/>
          </a:prstGeom>
          <a:noFill/>
        </p:spPr>
        <p:txBody>
          <a:bodyPr wrap="square" lIns="45720" rIns="45720" tIns="27432" bIns="27432" anchor="t">
            <a:noAutofit/>
          </a:bodyPr>
          <a:lstStyle/>
          <a:p>
            <a:pPr algn="l">
              <a:lnSpc>
                <a:spcPct val="100000"/>
              </a:lnSpc>
            </a:pPr>
            <a:r>
              <a:rPr sz="1600" b="0" i="0">
                <a:solidFill>
                  <a:srgbClr val="F7F2E8"/>
                </a:solidFill>
                <a:latin typeface="Segoe UI Semibold"/>
              </a:rPr>
              <a:t>Leer</a:t>
            </a:r>
          </a:p>
        </p:txBody>
      </p:sp>
      <p:sp>
        <p:nvSpPr>
          <p:cNvPr id="11" name="TextBox 10"/>
          <p:cNvSpPr txBox="1"/>
          <p:nvPr/>
        </p:nvSpPr>
        <p:spPr>
          <a:xfrm>
            <a:off x="694944" y="2657855"/>
            <a:ext cx="5172303" cy="1292352"/>
          </a:xfrm>
          <a:prstGeom prst="rect">
            <a:avLst/>
          </a:prstGeom>
          <a:noFill/>
        </p:spPr>
        <p:txBody>
          <a:bodyPr wrap="square" lIns="45720" rIns="45720" tIns="27432" bIns="27432" anchor="t">
            <a:noAutofit/>
          </a:bodyPr>
          <a:lstStyle/>
          <a:p>
            <a:pPr algn="l">
              <a:lnSpc>
                <a:spcPct val="100000"/>
              </a:lnSpc>
            </a:pPr>
            <a:r>
              <a:rPr sz="1300" b="0" i="0">
                <a:solidFill>
                  <a:srgbClr val="A7B2B0"/>
                </a:solidFill>
                <a:latin typeface="Segoe UI"/>
              </a:rPr>
              <a:t>Texto y selección exactos sin guardar, nunca un sustituto viejo del disco.</a:t>
            </a:r>
          </a:p>
        </p:txBody>
      </p:sp>
      <p:sp>
        <p:nvSpPr>
          <p:cNvPr id="12" name="Rounded Rectangle 11"/>
          <p:cNvSpPr/>
          <p:nvPr/>
        </p:nvSpPr>
        <p:spPr>
          <a:xfrm>
            <a:off x="6196431" y="2084831"/>
            <a:ext cx="5428335" cy="1956816"/>
          </a:xfrm>
          <a:prstGeom prst="roundRect">
            <a:avLst>
              <a:gd name="adj" fmla="val 5607"/>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6361023" y="2212848"/>
            <a:ext cx="502920" cy="45720"/>
          </a:xfrm>
          <a:prstGeom prst="rect">
            <a:avLst/>
          </a:prstGeom>
          <a:solidFill>
            <a:srgbClr val="C984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324447" y="2304287"/>
            <a:ext cx="5172303" cy="353568"/>
          </a:xfrm>
          <a:prstGeom prst="rect">
            <a:avLst/>
          </a:prstGeom>
          <a:noFill/>
        </p:spPr>
        <p:txBody>
          <a:bodyPr wrap="square" lIns="45720" rIns="45720" tIns="27432" bIns="27432" anchor="t">
            <a:noAutofit/>
          </a:bodyPr>
          <a:lstStyle/>
          <a:p>
            <a:pPr algn="l">
              <a:lnSpc>
                <a:spcPct val="100000"/>
              </a:lnSpc>
            </a:pPr>
            <a:r>
              <a:rPr sz="1600" b="0" i="0">
                <a:solidFill>
                  <a:srgbClr val="F7F2E8"/>
                </a:solidFill>
                <a:latin typeface="Segoe UI Semibold"/>
              </a:rPr>
              <a:t>Escribir</a:t>
            </a:r>
          </a:p>
        </p:txBody>
      </p:sp>
      <p:sp>
        <p:nvSpPr>
          <p:cNvPr id="15" name="TextBox 14"/>
          <p:cNvSpPr txBox="1"/>
          <p:nvPr/>
        </p:nvSpPr>
        <p:spPr>
          <a:xfrm>
            <a:off x="6324447" y="2657855"/>
            <a:ext cx="5172303" cy="1292352"/>
          </a:xfrm>
          <a:prstGeom prst="rect">
            <a:avLst/>
          </a:prstGeom>
          <a:noFill/>
        </p:spPr>
        <p:txBody>
          <a:bodyPr wrap="square" lIns="45720" rIns="45720" tIns="27432" bIns="27432" anchor="t">
            <a:noAutofit/>
          </a:bodyPr>
          <a:lstStyle/>
          <a:p>
            <a:pPr algn="l">
              <a:lnSpc>
                <a:spcPct val="100000"/>
              </a:lnSpc>
            </a:pPr>
            <a:r>
              <a:rPr sz="1300" b="0" i="0">
                <a:solidFill>
                  <a:srgbClr val="A7B2B0"/>
                </a:solidFill>
                <a:latin typeface="Segoe UI"/>
              </a:rPr>
              <a:t>Un pequeño segmento visible de enseñanza; una edición que se puede deshacer.</a:t>
            </a:r>
          </a:p>
        </p:txBody>
      </p:sp>
      <p:sp>
        <p:nvSpPr>
          <p:cNvPr id="16" name="Rounded Rectangle 15"/>
          <p:cNvSpPr/>
          <p:nvPr/>
        </p:nvSpPr>
        <p:spPr>
          <a:xfrm>
            <a:off x="566928" y="4242816"/>
            <a:ext cx="5428335" cy="1956816"/>
          </a:xfrm>
          <a:prstGeom prst="roundRect">
            <a:avLst>
              <a:gd name="adj" fmla="val 5607"/>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31520" y="4370832"/>
            <a:ext cx="502920" cy="45720"/>
          </a:xfrm>
          <a:prstGeom prst="rect">
            <a:avLst/>
          </a:prstGeom>
          <a:solidFill>
            <a:srgbClr val="E2B4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694944" y="4462272"/>
            <a:ext cx="5172303" cy="353568"/>
          </a:xfrm>
          <a:prstGeom prst="rect">
            <a:avLst/>
          </a:prstGeom>
          <a:noFill/>
        </p:spPr>
        <p:txBody>
          <a:bodyPr wrap="square" lIns="45720" rIns="45720" tIns="27432" bIns="27432" anchor="t">
            <a:noAutofit/>
          </a:bodyPr>
          <a:lstStyle/>
          <a:p>
            <a:pPr algn="l">
              <a:lnSpc>
                <a:spcPct val="100000"/>
              </a:lnSpc>
            </a:pPr>
            <a:r>
              <a:rPr sz="1600" b="0" i="0">
                <a:solidFill>
                  <a:srgbClr val="F7F2E8"/>
                </a:solidFill>
                <a:latin typeface="Segoe UI Semibold"/>
              </a:rPr>
              <a:t>Entregar</a:t>
            </a:r>
          </a:p>
        </p:txBody>
      </p:sp>
      <p:sp>
        <p:nvSpPr>
          <p:cNvPr id="19" name="TextBox 18"/>
          <p:cNvSpPr txBox="1"/>
          <p:nvPr/>
        </p:nvSpPr>
        <p:spPr>
          <a:xfrm>
            <a:off x="694944" y="4815840"/>
            <a:ext cx="5172303" cy="1292352"/>
          </a:xfrm>
          <a:prstGeom prst="rect">
            <a:avLst/>
          </a:prstGeom>
          <a:noFill/>
        </p:spPr>
        <p:txBody>
          <a:bodyPr wrap="square" lIns="45720" rIns="45720" tIns="27432" bIns="27432" anchor="t">
            <a:noAutofit/>
          </a:bodyPr>
          <a:lstStyle/>
          <a:p>
            <a:pPr algn="l">
              <a:lnSpc>
                <a:spcPct val="100000"/>
              </a:lnSpc>
            </a:pPr>
            <a:r>
              <a:rPr sz="1300" b="0" i="0">
                <a:solidFill>
                  <a:srgbClr val="A7B2B0"/>
                </a:solidFill>
                <a:latin typeface="Segoe UI"/>
              </a:rPr>
              <a:t>Explica el siguiente campo de quien aprende, y luego detiene los cambios del tool.</a:t>
            </a:r>
          </a:p>
        </p:txBody>
      </p:sp>
      <p:sp>
        <p:nvSpPr>
          <p:cNvPr id="20" name="Rounded Rectangle 19"/>
          <p:cNvSpPr/>
          <p:nvPr/>
        </p:nvSpPr>
        <p:spPr>
          <a:xfrm>
            <a:off x="6196431" y="4242816"/>
            <a:ext cx="5428335" cy="1956816"/>
          </a:xfrm>
          <a:prstGeom prst="roundRect">
            <a:avLst>
              <a:gd name="adj" fmla="val 5607"/>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ectangle 20"/>
          <p:cNvSpPr/>
          <p:nvPr/>
        </p:nvSpPr>
        <p:spPr>
          <a:xfrm>
            <a:off x="6361023" y="4370832"/>
            <a:ext cx="502920" cy="45720"/>
          </a:xfrm>
          <a:prstGeom prst="rect">
            <a:avLst/>
          </a:prstGeom>
          <a:solidFill>
            <a:srgbClr val="46D2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6324447" y="4462272"/>
            <a:ext cx="5172303" cy="353568"/>
          </a:xfrm>
          <a:prstGeom prst="rect">
            <a:avLst/>
          </a:prstGeom>
          <a:noFill/>
        </p:spPr>
        <p:txBody>
          <a:bodyPr wrap="square" lIns="45720" rIns="45720" tIns="27432" bIns="27432" anchor="t">
            <a:noAutofit/>
          </a:bodyPr>
          <a:lstStyle/>
          <a:p>
            <a:pPr algn="l">
              <a:lnSpc>
                <a:spcPct val="100000"/>
              </a:lnSpc>
            </a:pPr>
            <a:r>
              <a:rPr sz="1600" b="0" i="0">
                <a:solidFill>
                  <a:srgbClr val="F7F2E8"/>
                </a:solidFill>
                <a:latin typeface="Segoe UI Semibold"/>
              </a:rPr>
              <a:t>Revisar</a:t>
            </a:r>
          </a:p>
        </p:txBody>
      </p:sp>
      <p:sp>
        <p:nvSpPr>
          <p:cNvPr id="23" name="TextBox 22"/>
          <p:cNvSpPr txBox="1"/>
          <p:nvPr/>
        </p:nvSpPr>
        <p:spPr>
          <a:xfrm>
            <a:off x="6324447" y="4815840"/>
            <a:ext cx="5172303" cy="1292352"/>
          </a:xfrm>
          <a:prstGeom prst="rect">
            <a:avLst/>
          </a:prstGeom>
          <a:noFill/>
        </p:spPr>
        <p:txBody>
          <a:bodyPr wrap="square" lIns="45720" rIns="45720" tIns="27432" bIns="27432" anchor="t">
            <a:noAutofit/>
          </a:bodyPr>
          <a:lstStyle/>
          <a:p>
            <a:pPr algn="l">
              <a:lnSpc>
                <a:spcPct val="100000"/>
              </a:lnSpc>
            </a:pPr>
            <a:r>
              <a:rPr sz="1300" b="0" i="0">
                <a:solidFill>
                  <a:srgbClr val="A7B2B0"/>
                </a:solidFill>
                <a:latin typeface="Segoe UI"/>
              </a:rPr>
              <a:t>Continuar empieza una lectura fresca en un nuevo turno del chat.</a:t>
            </a:r>
          </a:p>
        </p:txBody>
      </p:sp>
      <p:cxnSp>
        <p:nvCxnSpPr>
          <p:cNvPr id="24" name="Connector 23"/>
          <p:cNvCxnSpPr/>
          <p:nvPr/>
        </p:nvCxnSpPr>
        <p:spPr>
          <a:xfrm>
            <a:off x="566928" y="6373368"/>
            <a:ext cx="11057839" cy="0"/>
          </a:xfrm>
          <a:prstGeom prst="line">
            <a:avLst/>
          </a:prstGeom>
          <a:ln w="7620">
            <a:solidFill>
              <a:srgbClr val="2A3A40"/>
            </a:solidFill>
          </a:ln>
        </p:spPr>
        <p:style>
          <a:lnRef idx="2">
            <a:schemeClr val="accent1"/>
          </a:lnRef>
          <a:fillRef idx="0">
            <a:schemeClr val="accent1"/>
          </a:fillRef>
          <a:effectRef idx="1">
            <a:schemeClr val="accent1"/>
          </a:effectRef>
          <a:fontRef idx="minor">
            <a:schemeClr val="tx1"/>
          </a:fontRef>
        </p:style>
      </p:cxnSp>
      <p:sp>
        <p:nvSpPr>
          <p:cNvPr id="25" name="TextBox 24"/>
          <p:cNvSpPr txBox="1"/>
          <p:nvPr/>
        </p:nvSpPr>
        <p:spPr>
          <a:xfrm>
            <a:off x="566928" y="6419088"/>
            <a:ext cx="6858000" cy="274320"/>
          </a:xfrm>
          <a:prstGeom prst="rect">
            <a:avLst/>
          </a:prstGeom>
          <a:noFill/>
        </p:spPr>
        <p:txBody>
          <a:bodyPr wrap="square" lIns="45720" rIns="45720" tIns="27432" bIns="27432" anchor="t">
            <a:noAutofit/>
          </a:bodyPr>
          <a:lstStyle/>
          <a:p>
            <a:pPr algn="l">
              <a:lnSpc>
                <a:spcPct val="100000"/>
              </a:lnSpc>
            </a:pPr>
            <a:r>
              <a:rPr sz="850" b="0" i="0" spc="120">
                <a:solidFill>
                  <a:srgbClr val="A7B2B0"/>
                </a:solidFill>
                <a:latin typeface="Segoe UI Semibold"/>
              </a:rPr>
              <a:t>TLAMATINI  ·  III · DÓNDE TRABAJAS CON ELLA</a:t>
            </a:r>
          </a:p>
        </p:txBody>
      </p:sp>
      <p:sp>
        <p:nvSpPr>
          <p:cNvPr id="26" name="TextBox 25"/>
          <p:cNvSpPr txBox="1"/>
          <p:nvPr/>
        </p:nvSpPr>
        <p:spPr>
          <a:xfrm>
            <a:off x="8698687" y="6419088"/>
            <a:ext cx="2926080" cy="274320"/>
          </a:xfrm>
          <a:prstGeom prst="rect">
            <a:avLst/>
          </a:prstGeom>
          <a:noFill/>
        </p:spPr>
        <p:txBody>
          <a:bodyPr wrap="square" lIns="45720" rIns="45720" tIns="27432" bIns="27432" anchor="t">
            <a:noAutofit/>
          </a:bodyPr>
          <a:lstStyle/>
          <a:p>
            <a:pPr algn="r">
              <a:lnSpc>
                <a:spcPct val="100000"/>
              </a:lnSpc>
            </a:pPr>
            <a:r>
              <a:rPr sz="850" b="0" i="0" spc="100">
                <a:solidFill>
                  <a:srgbClr val="A7B2B0"/>
                </a:solidFill>
                <a:latin typeface="Segoe UI Semibold"/>
              </a:rPr>
              <a:t>v1.91.1   ·   32</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content.png"/>
          <p:cNvPicPr>
            <a:picLocks noChangeAspect="1"/>
          </p:cNvPicPr>
          <p:nvPr/>
        </p:nvPicPr>
        <p:blipFill>
          <a:blip r:embed="rId2"/>
          <a:stretch>
            <a:fillRect/>
          </a:stretch>
        </p:blipFill>
        <p:spPr>
          <a:xfrm>
            <a:off x="0" y="0"/>
            <a:ext cx="12191695" cy="6858000"/>
          </a:xfrm>
          <a:prstGeom prst="rect">
            <a:avLst/>
          </a:prstGeom>
        </p:spPr>
      </p:pic>
      <p:sp>
        <p:nvSpPr>
          <p:cNvPr id="3" name="Diamond 2"/>
          <p:cNvSpPr/>
          <p:nvPr/>
        </p:nvSpPr>
        <p:spPr>
          <a:xfrm>
            <a:off x="566928" y="457200"/>
            <a:ext cx="100584" cy="100584"/>
          </a:xfrm>
          <a:prstGeom prst="diamond">
            <a:avLst/>
          </a:prstGeom>
          <a:solidFill>
            <a:srgbClr val="E2B4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49808" y="365760"/>
            <a:ext cx="8229600" cy="292608"/>
          </a:xfrm>
          <a:prstGeom prst="rect">
            <a:avLst/>
          </a:prstGeom>
          <a:noFill/>
        </p:spPr>
        <p:txBody>
          <a:bodyPr wrap="square" lIns="45720" rIns="45720" tIns="27432" bIns="27432" anchor="t">
            <a:noAutofit/>
          </a:bodyPr>
          <a:lstStyle/>
          <a:p>
            <a:pPr algn="l">
              <a:lnSpc>
                <a:spcPct val="100000"/>
              </a:lnSpc>
            </a:pPr>
            <a:r>
              <a:rPr sz="1100" b="0" i="0" spc="240">
                <a:solidFill>
                  <a:srgbClr val="C98457"/>
                </a:solidFill>
                <a:latin typeface="Segoe UI Semibold"/>
              </a:rPr>
              <a:t>COMPLETADO DEL TUTOR</a:t>
            </a:r>
          </a:p>
        </p:txBody>
      </p:sp>
      <p:sp>
        <p:nvSpPr>
          <p:cNvPr id="5" name="TextBox 4"/>
          <p:cNvSpPr txBox="1"/>
          <p:nvPr/>
        </p:nvSpPr>
        <p:spPr>
          <a:xfrm>
            <a:off x="539496" y="676656"/>
            <a:ext cx="11057839" cy="658368"/>
          </a:xfrm>
          <a:prstGeom prst="rect">
            <a:avLst/>
          </a:prstGeom>
          <a:noFill/>
        </p:spPr>
        <p:txBody>
          <a:bodyPr wrap="square" lIns="45720" rIns="45720" tIns="27432" bIns="27432" anchor="t">
            <a:noAutofit/>
          </a:bodyPr>
          <a:lstStyle/>
          <a:p>
            <a:pPr algn="l">
              <a:lnSpc>
                <a:spcPct val="100000"/>
              </a:lnSpc>
            </a:pPr>
            <a:r>
              <a:rPr sz="3100" b="0" i="0">
                <a:solidFill>
                  <a:srgbClr val="F7F2E8"/>
                </a:solidFill>
                <a:latin typeface="Palatino Linotype"/>
              </a:rPr>
              <a:t>Ayuda inmediata mientras quien aprende escribe</a:t>
            </a:r>
          </a:p>
        </p:txBody>
      </p:sp>
      <p:sp>
        <p:nvSpPr>
          <p:cNvPr id="6" name="Rectangle 5"/>
          <p:cNvSpPr/>
          <p:nvPr/>
        </p:nvSpPr>
        <p:spPr>
          <a:xfrm>
            <a:off x="566928" y="1344168"/>
            <a:ext cx="822960" cy="36576"/>
          </a:xfrm>
          <a:prstGeom prst="rect">
            <a:avLst/>
          </a:prstGeom>
          <a:solidFill>
            <a:srgbClr val="E2B4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566928" y="1444752"/>
            <a:ext cx="10692079" cy="585216"/>
          </a:xfrm>
          <a:prstGeom prst="rect">
            <a:avLst/>
          </a:prstGeom>
          <a:noFill/>
        </p:spPr>
        <p:txBody>
          <a:bodyPr wrap="square" lIns="45720" rIns="45720" tIns="27432" bIns="27432" anchor="t">
            <a:noAutofit/>
          </a:bodyPr>
          <a:lstStyle/>
          <a:p>
            <a:pPr algn="l">
              <a:lnSpc>
                <a:spcPct val="100000"/>
              </a:lnSpc>
            </a:pPr>
            <a:r>
              <a:rPr sz="1450" b="0" i="0">
                <a:solidFill>
                  <a:srgbClr val="A7B2B0"/>
                </a:solidFill>
                <a:latin typeface="Segoe UI Semilight"/>
              </a:rPr>
              <a:t>El modelo planea el siguiente campo una vez; la coincidencia local evita una solicitud al modelo en cada tecla.</a:t>
            </a:r>
          </a:p>
        </p:txBody>
      </p:sp>
      <p:sp>
        <p:nvSpPr>
          <p:cNvPr id="8" name="Rounded Rectangle 7"/>
          <p:cNvSpPr/>
          <p:nvPr/>
        </p:nvSpPr>
        <p:spPr>
          <a:xfrm>
            <a:off x="566928" y="2084831"/>
            <a:ext cx="5428335" cy="1956816"/>
          </a:xfrm>
          <a:prstGeom prst="roundRect">
            <a:avLst>
              <a:gd name="adj" fmla="val 5607"/>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ectangle 8"/>
          <p:cNvSpPr/>
          <p:nvPr/>
        </p:nvSpPr>
        <p:spPr>
          <a:xfrm>
            <a:off x="731520" y="2212848"/>
            <a:ext cx="502920" cy="45720"/>
          </a:xfrm>
          <a:prstGeom prst="rect">
            <a:avLst/>
          </a:prstGeom>
          <a:solidFill>
            <a:srgbClr val="3BBE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694944" y="2304287"/>
            <a:ext cx="5172303" cy="353568"/>
          </a:xfrm>
          <a:prstGeom prst="rect">
            <a:avLst/>
          </a:prstGeom>
          <a:noFill/>
        </p:spPr>
        <p:txBody>
          <a:bodyPr wrap="square" lIns="45720" rIns="45720" tIns="27432" bIns="27432" anchor="t">
            <a:noAutofit/>
          </a:bodyPr>
          <a:lstStyle/>
          <a:p>
            <a:pPr algn="l">
              <a:lnSpc>
                <a:spcPct val="100000"/>
              </a:lnSpc>
            </a:pPr>
            <a:r>
              <a:rPr sz="1600" b="0" i="0">
                <a:solidFill>
                  <a:srgbClr val="F7F2E8"/>
                </a:solidFill>
                <a:latin typeface="Segoe UI Semibold"/>
              </a:rPr>
              <a:t>Coincidencia local</a:t>
            </a:r>
          </a:p>
        </p:txBody>
      </p:sp>
      <p:sp>
        <p:nvSpPr>
          <p:cNvPr id="11" name="TextBox 10"/>
          <p:cNvSpPr txBox="1"/>
          <p:nvPr/>
        </p:nvSpPr>
        <p:spPr>
          <a:xfrm>
            <a:off x="694944" y="2657855"/>
            <a:ext cx="5172303" cy="1292352"/>
          </a:xfrm>
          <a:prstGeom prst="rect">
            <a:avLst/>
          </a:prstGeom>
          <a:noFill/>
        </p:spPr>
        <p:txBody>
          <a:bodyPr wrap="square" lIns="45720" rIns="45720" tIns="27432" bIns="27432" anchor="t">
            <a:noAutofit/>
          </a:bodyPr>
          <a:lstStyle/>
          <a:p>
            <a:pPr algn="l">
              <a:lnSpc>
                <a:spcPct val="100000"/>
              </a:lnSpc>
            </a:pPr>
            <a:r>
              <a:rPr sz="1300" b="0" i="0">
                <a:solidFill>
                  <a:srgbClr val="A7B2B0"/>
                </a:solidFill>
                <a:latin typeface="Segoe UI"/>
              </a:rPr>
              <a:t>Opciones de campo preparadas; sin llamada al modelo por tecla.</a:t>
            </a:r>
          </a:p>
        </p:txBody>
      </p:sp>
      <p:sp>
        <p:nvSpPr>
          <p:cNvPr id="12" name="Rounded Rectangle 11"/>
          <p:cNvSpPr/>
          <p:nvPr/>
        </p:nvSpPr>
        <p:spPr>
          <a:xfrm>
            <a:off x="6196431" y="2084831"/>
            <a:ext cx="5428335" cy="1956816"/>
          </a:xfrm>
          <a:prstGeom prst="roundRect">
            <a:avLst>
              <a:gd name="adj" fmla="val 5607"/>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6361023" y="2212848"/>
            <a:ext cx="502920" cy="45720"/>
          </a:xfrm>
          <a:prstGeom prst="rect">
            <a:avLst/>
          </a:prstGeom>
          <a:solidFill>
            <a:srgbClr val="C984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324447" y="2304287"/>
            <a:ext cx="5172303" cy="353568"/>
          </a:xfrm>
          <a:prstGeom prst="rect">
            <a:avLst/>
          </a:prstGeom>
          <a:noFill/>
        </p:spPr>
        <p:txBody>
          <a:bodyPr wrap="square" lIns="45720" rIns="45720" tIns="27432" bIns="27432" anchor="t">
            <a:noAutofit/>
          </a:bodyPr>
          <a:lstStyle/>
          <a:p>
            <a:pPr algn="l">
              <a:lnSpc>
                <a:spcPct val="100000"/>
              </a:lnSpc>
            </a:pPr>
            <a:r>
              <a:rPr sz="1600" b="0" i="0">
                <a:solidFill>
                  <a:srgbClr val="F7F2E8"/>
                </a:solidFill>
                <a:latin typeface="Segoe UI Semibold"/>
              </a:rPr>
              <a:t>Opcional</a:t>
            </a:r>
          </a:p>
        </p:txBody>
      </p:sp>
      <p:sp>
        <p:nvSpPr>
          <p:cNvPr id="15" name="TextBox 14"/>
          <p:cNvSpPr txBox="1"/>
          <p:nvPr/>
        </p:nvSpPr>
        <p:spPr>
          <a:xfrm>
            <a:off x="6324447" y="2657855"/>
            <a:ext cx="5172303" cy="1292352"/>
          </a:xfrm>
          <a:prstGeom prst="rect">
            <a:avLst/>
          </a:prstGeom>
          <a:noFill/>
        </p:spPr>
        <p:txBody>
          <a:bodyPr wrap="square" lIns="45720" rIns="45720" tIns="27432" bIns="27432" anchor="t">
            <a:noAutofit/>
          </a:bodyPr>
          <a:lstStyle/>
          <a:p>
            <a:pPr algn="l">
              <a:lnSpc>
                <a:spcPct val="100000"/>
              </a:lnSpc>
            </a:pPr>
            <a:r>
              <a:rPr sz="1300" b="0" i="0">
                <a:solidFill>
                  <a:srgbClr val="A7B2B0"/>
                </a:solidFill>
                <a:latin typeface="Segoe UI"/>
              </a:rPr>
              <a:t>Acepta una sugerencia, toma una palabra, descártala o escribe tu propio valor.</a:t>
            </a:r>
          </a:p>
        </p:txBody>
      </p:sp>
      <p:sp>
        <p:nvSpPr>
          <p:cNvPr id="16" name="Rounded Rectangle 15"/>
          <p:cNvSpPr/>
          <p:nvPr/>
        </p:nvSpPr>
        <p:spPr>
          <a:xfrm>
            <a:off x="566928" y="4242816"/>
            <a:ext cx="5428335" cy="1956816"/>
          </a:xfrm>
          <a:prstGeom prst="roundRect">
            <a:avLst>
              <a:gd name="adj" fmla="val 5607"/>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31520" y="4370832"/>
            <a:ext cx="502920" cy="45720"/>
          </a:xfrm>
          <a:prstGeom prst="rect">
            <a:avLst/>
          </a:prstGeom>
          <a:solidFill>
            <a:srgbClr val="E2B4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694944" y="4462272"/>
            <a:ext cx="5172303" cy="353568"/>
          </a:xfrm>
          <a:prstGeom prst="rect">
            <a:avLst/>
          </a:prstGeom>
          <a:noFill/>
        </p:spPr>
        <p:txBody>
          <a:bodyPr wrap="square" lIns="45720" rIns="45720" tIns="27432" bIns="27432" anchor="t">
            <a:noAutofit/>
          </a:bodyPr>
          <a:lstStyle/>
          <a:p>
            <a:pPr algn="l">
              <a:lnSpc>
                <a:spcPct val="100000"/>
              </a:lnSpc>
            </a:pPr>
            <a:r>
              <a:rPr sz="1600" b="0" i="0">
                <a:solidFill>
                  <a:srgbClr val="F7F2E8"/>
                </a:solidFill>
                <a:latin typeface="Segoe UI Semibold"/>
              </a:rPr>
              <a:t>Prioridad del usuario</a:t>
            </a:r>
          </a:p>
        </p:txBody>
      </p:sp>
      <p:sp>
        <p:nvSpPr>
          <p:cNvPr id="19" name="TextBox 18"/>
          <p:cNvSpPr txBox="1"/>
          <p:nvPr/>
        </p:nvSpPr>
        <p:spPr>
          <a:xfrm>
            <a:off x="694944" y="4815840"/>
            <a:ext cx="5172303" cy="1292352"/>
          </a:xfrm>
          <a:prstGeom prst="rect">
            <a:avLst/>
          </a:prstGeom>
          <a:noFill/>
        </p:spPr>
        <p:txBody>
          <a:bodyPr wrap="square" lIns="45720" rIns="45720" tIns="27432" bIns="27432" anchor="t">
            <a:noAutofit/>
          </a:bodyPr>
          <a:lstStyle/>
          <a:p>
            <a:pPr algn="l">
              <a:lnSpc>
                <a:spcPct val="100000"/>
              </a:lnSpc>
            </a:pPr>
            <a:r>
              <a:rPr sz="1300" b="0" i="0">
                <a:solidFill>
                  <a:srgbClr val="A7B2B0"/>
                </a:solidFill>
                <a:latin typeface="Segoe UI"/>
              </a:rPr>
              <a:t>Las interrupciones conservan el prefijo escrito e invalidan el trabajo viejo.</a:t>
            </a:r>
          </a:p>
        </p:txBody>
      </p:sp>
      <p:sp>
        <p:nvSpPr>
          <p:cNvPr id="20" name="Rounded Rectangle 19"/>
          <p:cNvSpPr/>
          <p:nvPr/>
        </p:nvSpPr>
        <p:spPr>
          <a:xfrm>
            <a:off x="6196431" y="4242816"/>
            <a:ext cx="5428335" cy="1956816"/>
          </a:xfrm>
          <a:prstGeom prst="roundRect">
            <a:avLst>
              <a:gd name="adj" fmla="val 5607"/>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ectangle 20"/>
          <p:cNvSpPr/>
          <p:nvPr/>
        </p:nvSpPr>
        <p:spPr>
          <a:xfrm>
            <a:off x="6361023" y="4370832"/>
            <a:ext cx="502920" cy="45720"/>
          </a:xfrm>
          <a:prstGeom prst="rect">
            <a:avLst/>
          </a:prstGeom>
          <a:solidFill>
            <a:srgbClr val="46D2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6324447" y="4462272"/>
            <a:ext cx="5172303" cy="353568"/>
          </a:xfrm>
          <a:prstGeom prst="rect">
            <a:avLst/>
          </a:prstGeom>
          <a:noFill/>
        </p:spPr>
        <p:txBody>
          <a:bodyPr wrap="square" lIns="45720" rIns="45720" tIns="27432" bIns="27432" anchor="t">
            <a:noAutofit/>
          </a:bodyPr>
          <a:lstStyle/>
          <a:p>
            <a:pPr algn="l">
              <a:lnSpc>
                <a:spcPct val="100000"/>
              </a:lnSpc>
            </a:pPr>
            <a:r>
              <a:rPr sz="1600" b="0" i="0">
                <a:solidFill>
                  <a:srgbClr val="F7F2E8"/>
                </a:solidFill>
                <a:latin typeface="Segoe UI Semibold"/>
              </a:rPr>
              <a:t>Latencia honesta</a:t>
            </a:r>
          </a:p>
        </p:txBody>
      </p:sp>
      <p:sp>
        <p:nvSpPr>
          <p:cNvPr id="23" name="TextBox 22"/>
          <p:cNvSpPr txBox="1"/>
          <p:nvPr/>
        </p:nvSpPr>
        <p:spPr>
          <a:xfrm>
            <a:off x="6324447" y="4815840"/>
            <a:ext cx="5172303" cy="1292352"/>
          </a:xfrm>
          <a:prstGeom prst="rect">
            <a:avLst/>
          </a:prstGeom>
          <a:noFill/>
        </p:spPr>
        <p:txBody>
          <a:bodyPr wrap="square" lIns="45720" rIns="45720" tIns="27432" bIns="27432" anchor="t">
            <a:noAutofit/>
          </a:bodyPr>
          <a:lstStyle/>
          <a:p>
            <a:pPr algn="l">
              <a:lnSpc>
                <a:spcPct val="100000"/>
              </a:lnSpc>
            </a:pPr>
            <a:r>
              <a:rPr sz="1300" b="0" i="0">
                <a:solidFill>
                  <a:srgbClr val="A7B2B0"/>
                </a:solidFill>
                <a:latin typeface="Segoe UI"/>
              </a:rPr>
              <a:t>Las preguntas nuevas todavía esperan el procesamiento del chat/modelo.</a:t>
            </a:r>
          </a:p>
        </p:txBody>
      </p:sp>
      <p:cxnSp>
        <p:nvCxnSpPr>
          <p:cNvPr id="24" name="Connector 23"/>
          <p:cNvCxnSpPr/>
          <p:nvPr/>
        </p:nvCxnSpPr>
        <p:spPr>
          <a:xfrm>
            <a:off x="566928" y="6373368"/>
            <a:ext cx="11057839" cy="0"/>
          </a:xfrm>
          <a:prstGeom prst="line">
            <a:avLst/>
          </a:prstGeom>
          <a:ln w="7620">
            <a:solidFill>
              <a:srgbClr val="2A3A40"/>
            </a:solidFill>
          </a:ln>
        </p:spPr>
        <p:style>
          <a:lnRef idx="2">
            <a:schemeClr val="accent1"/>
          </a:lnRef>
          <a:fillRef idx="0">
            <a:schemeClr val="accent1"/>
          </a:fillRef>
          <a:effectRef idx="1">
            <a:schemeClr val="accent1"/>
          </a:effectRef>
          <a:fontRef idx="minor">
            <a:schemeClr val="tx1"/>
          </a:fontRef>
        </p:style>
      </p:cxnSp>
      <p:sp>
        <p:nvSpPr>
          <p:cNvPr id="25" name="TextBox 24"/>
          <p:cNvSpPr txBox="1"/>
          <p:nvPr/>
        </p:nvSpPr>
        <p:spPr>
          <a:xfrm>
            <a:off x="566928" y="6419088"/>
            <a:ext cx="6858000" cy="274320"/>
          </a:xfrm>
          <a:prstGeom prst="rect">
            <a:avLst/>
          </a:prstGeom>
          <a:noFill/>
        </p:spPr>
        <p:txBody>
          <a:bodyPr wrap="square" lIns="45720" rIns="45720" tIns="27432" bIns="27432" anchor="t">
            <a:noAutofit/>
          </a:bodyPr>
          <a:lstStyle/>
          <a:p>
            <a:pPr algn="l">
              <a:lnSpc>
                <a:spcPct val="100000"/>
              </a:lnSpc>
            </a:pPr>
            <a:r>
              <a:rPr sz="850" b="0" i="0" spc="120">
                <a:solidFill>
                  <a:srgbClr val="A7B2B0"/>
                </a:solidFill>
                <a:latin typeface="Segoe UI Semibold"/>
              </a:rPr>
              <a:t>TLAMATINI  ·  III · DÓNDE TRABAJAS CON ELLA</a:t>
            </a:r>
          </a:p>
        </p:txBody>
      </p:sp>
      <p:sp>
        <p:nvSpPr>
          <p:cNvPr id="26" name="TextBox 25"/>
          <p:cNvSpPr txBox="1"/>
          <p:nvPr/>
        </p:nvSpPr>
        <p:spPr>
          <a:xfrm>
            <a:off x="8698687" y="6419088"/>
            <a:ext cx="2926080" cy="274320"/>
          </a:xfrm>
          <a:prstGeom prst="rect">
            <a:avLst/>
          </a:prstGeom>
          <a:noFill/>
        </p:spPr>
        <p:txBody>
          <a:bodyPr wrap="square" lIns="45720" rIns="45720" tIns="27432" bIns="27432" anchor="t">
            <a:noAutofit/>
          </a:bodyPr>
          <a:lstStyle/>
          <a:p>
            <a:pPr algn="r">
              <a:lnSpc>
                <a:spcPct val="100000"/>
              </a:lnSpc>
            </a:pPr>
            <a:r>
              <a:rPr sz="850" b="0" i="0" spc="100">
                <a:solidFill>
                  <a:srgbClr val="A7B2B0"/>
                </a:solidFill>
                <a:latin typeface="Segoe UI Semibold"/>
              </a:rPr>
              <a:t>v1.91.1   ·   33</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content.png"/>
          <p:cNvPicPr>
            <a:picLocks noChangeAspect="1"/>
          </p:cNvPicPr>
          <p:nvPr/>
        </p:nvPicPr>
        <p:blipFill>
          <a:blip r:embed="rId2"/>
          <a:stretch>
            <a:fillRect/>
          </a:stretch>
        </p:blipFill>
        <p:spPr>
          <a:xfrm>
            <a:off x="0" y="0"/>
            <a:ext cx="12191695" cy="6858000"/>
          </a:xfrm>
          <a:prstGeom prst="rect">
            <a:avLst/>
          </a:prstGeom>
        </p:spPr>
      </p:pic>
      <p:sp>
        <p:nvSpPr>
          <p:cNvPr id="3" name="Diamond 2"/>
          <p:cNvSpPr/>
          <p:nvPr/>
        </p:nvSpPr>
        <p:spPr>
          <a:xfrm>
            <a:off x="566928" y="457200"/>
            <a:ext cx="100584" cy="100584"/>
          </a:xfrm>
          <a:prstGeom prst="diamond">
            <a:avLst/>
          </a:prstGeom>
          <a:solidFill>
            <a:srgbClr val="E2B4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49808" y="365760"/>
            <a:ext cx="8229600" cy="292608"/>
          </a:xfrm>
          <a:prstGeom prst="rect">
            <a:avLst/>
          </a:prstGeom>
          <a:noFill/>
        </p:spPr>
        <p:txBody>
          <a:bodyPr wrap="square" lIns="45720" rIns="45720" tIns="27432" bIns="27432" anchor="t">
            <a:noAutofit/>
          </a:bodyPr>
          <a:lstStyle/>
          <a:p>
            <a:pPr algn="l">
              <a:lnSpc>
                <a:spcPct val="100000"/>
              </a:lnSpc>
            </a:pPr>
            <a:r>
              <a:rPr sz="1100" b="0" i="0" spc="240">
                <a:solidFill>
                  <a:srgbClr val="C98457"/>
                </a:solidFill>
                <a:latin typeface="Segoe UI Semibold"/>
              </a:rPr>
              <a:t>LA PÁGINA DEL CHAT</a:t>
            </a:r>
          </a:p>
        </p:txBody>
      </p:sp>
      <p:sp>
        <p:nvSpPr>
          <p:cNvPr id="5" name="TextBox 4"/>
          <p:cNvSpPr txBox="1"/>
          <p:nvPr/>
        </p:nvSpPr>
        <p:spPr>
          <a:xfrm>
            <a:off x="539496" y="676656"/>
            <a:ext cx="11057839" cy="658368"/>
          </a:xfrm>
          <a:prstGeom prst="rect">
            <a:avLst/>
          </a:prstGeom>
          <a:noFill/>
        </p:spPr>
        <p:txBody>
          <a:bodyPr wrap="square" lIns="45720" rIns="45720" tIns="27432" bIns="27432" anchor="t">
            <a:noAutofit/>
          </a:bodyPr>
          <a:lstStyle/>
          <a:p>
            <a:pPr algn="l">
              <a:lnSpc>
                <a:spcPct val="100000"/>
              </a:lnSpc>
            </a:pPr>
            <a:r>
              <a:rPr sz="3100" b="0" i="0">
                <a:solidFill>
                  <a:srgbClr val="F7F2E8"/>
                </a:solidFill>
                <a:latin typeface="Palatino Linotype"/>
              </a:rPr>
              <a:t>Conversación con modos</a:t>
            </a:r>
          </a:p>
        </p:txBody>
      </p:sp>
      <p:sp>
        <p:nvSpPr>
          <p:cNvPr id="6" name="Rectangle 5"/>
          <p:cNvSpPr/>
          <p:nvPr/>
        </p:nvSpPr>
        <p:spPr>
          <a:xfrm>
            <a:off x="566928" y="1344168"/>
            <a:ext cx="822960" cy="36576"/>
          </a:xfrm>
          <a:prstGeom prst="rect">
            <a:avLst/>
          </a:prstGeom>
          <a:solidFill>
            <a:srgbClr val="E2B4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566928" y="1444752"/>
            <a:ext cx="10692079" cy="585216"/>
          </a:xfrm>
          <a:prstGeom prst="rect">
            <a:avLst/>
          </a:prstGeom>
          <a:noFill/>
        </p:spPr>
        <p:txBody>
          <a:bodyPr wrap="square" lIns="45720" rIns="45720" tIns="27432" bIns="27432" anchor="t">
            <a:noAutofit/>
          </a:bodyPr>
          <a:lstStyle/>
          <a:p>
            <a:pPr algn="l">
              <a:lnSpc>
                <a:spcPct val="100000"/>
              </a:lnSpc>
            </a:pPr>
            <a:r>
              <a:rPr sz="1450" b="0" i="0">
                <a:solidFill>
                  <a:srgbClr val="A7B2B0"/>
                </a:solidFill>
                <a:latin typeface="Segoe UI Semilight"/>
              </a:rPr>
              <a:t>La página del chat es donde hablas con ella. Hasta ocho switches de la barra de herramientas deciden cómo corre cada solicitud.</a:t>
            </a:r>
          </a:p>
        </p:txBody>
      </p:sp>
      <p:sp>
        <p:nvSpPr>
          <p:cNvPr id="8" name="Rounded Rectangle 7"/>
          <p:cNvSpPr/>
          <p:nvPr/>
        </p:nvSpPr>
        <p:spPr>
          <a:xfrm>
            <a:off x="566928" y="2084831"/>
            <a:ext cx="11057839" cy="3688080"/>
          </a:xfrm>
          <a:prstGeom prst="roundRect">
            <a:avLst>
              <a:gd name="adj" fmla="val 1983"/>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ounded Rectangle 8"/>
          <p:cNvSpPr/>
          <p:nvPr/>
        </p:nvSpPr>
        <p:spPr>
          <a:xfrm>
            <a:off x="566928" y="2084831"/>
            <a:ext cx="11057839" cy="384048"/>
          </a:xfrm>
          <a:prstGeom prst="roundRect">
            <a:avLst>
              <a:gd name="adj" fmla="val 19047"/>
            </a:avLst>
          </a:prstGeom>
          <a:solidFill>
            <a:srgbClr val="151F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640080" y="2121408"/>
            <a:ext cx="2507577" cy="310896"/>
          </a:xfrm>
          <a:prstGeom prst="rect">
            <a:avLst/>
          </a:prstGeom>
          <a:noFill/>
        </p:spPr>
        <p:txBody>
          <a:bodyPr wrap="square" lIns="45720" rIns="45720" tIns="27432" bIns="27432" anchor="ctr">
            <a:noAutofit/>
          </a:bodyPr>
          <a:lstStyle/>
          <a:p>
            <a:pPr algn="l">
              <a:lnSpc>
                <a:spcPct val="100000"/>
              </a:lnSpc>
            </a:pPr>
            <a:r>
              <a:rPr sz="1000" b="0" i="0" spc="120">
                <a:solidFill>
                  <a:srgbClr val="E2B462"/>
                </a:solidFill>
                <a:latin typeface="Segoe UI Semibold"/>
              </a:rPr>
              <a:t>INTERRUPTOR</a:t>
            </a:r>
          </a:p>
        </p:txBody>
      </p:sp>
      <p:sp>
        <p:nvSpPr>
          <p:cNvPr id="11" name="TextBox 10"/>
          <p:cNvSpPr txBox="1"/>
          <p:nvPr/>
        </p:nvSpPr>
        <p:spPr>
          <a:xfrm>
            <a:off x="3293961" y="2121408"/>
            <a:ext cx="8257653" cy="310896"/>
          </a:xfrm>
          <a:prstGeom prst="rect">
            <a:avLst/>
          </a:prstGeom>
          <a:noFill/>
        </p:spPr>
        <p:txBody>
          <a:bodyPr wrap="square" lIns="45720" rIns="45720" tIns="27432" bIns="27432" anchor="ctr">
            <a:noAutofit/>
          </a:bodyPr>
          <a:lstStyle/>
          <a:p>
            <a:pPr algn="l">
              <a:lnSpc>
                <a:spcPct val="100000"/>
              </a:lnSpc>
            </a:pPr>
            <a:r>
              <a:rPr sz="1000" b="0" i="0" spc="120">
                <a:solidFill>
                  <a:srgbClr val="E2B462"/>
                </a:solidFill>
                <a:latin typeface="Segoe UI Semibold"/>
              </a:rPr>
              <a:t>QUÉ HACE</a:t>
            </a:r>
          </a:p>
        </p:txBody>
      </p:sp>
      <p:sp>
        <p:nvSpPr>
          <p:cNvPr id="12" name="TextBox 11"/>
          <p:cNvSpPr txBox="1"/>
          <p:nvPr/>
        </p:nvSpPr>
        <p:spPr>
          <a:xfrm>
            <a:off x="640080" y="2505456"/>
            <a:ext cx="2507577" cy="499872"/>
          </a:xfrm>
          <a:prstGeom prst="rect">
            <a:avLst/>
          </a:prstGeom>
          <a:noFill/>
        </p:spPr>
        <p:txBody>
          <a:bodyPr wrap="square" lIns="45720" rIns="45720" tIns="27432" bIns="27432" anchor="ctr">
            <a:noAutofit/>
          </a:bodyPr>
          <a:lstStyle/>
          <a:p>
            <a:pPr algn="l">
              <a:lnSpc>
                <a:spcPct val="100000"/>
              </a:lnSpc>
            </a:pPr>
            <a:r>
              <a:rPr sz="1400" b="0" i="0">
                <a:solidFill>
                  <a:srgbClr val="F7F2E8"/>
                </a:solidFill>
                <a:latin typeface="Segoe UI Semibold"/>
              </a:rPr>
              <a:t>Multi-Turn</a:t>
            </a:r>
          </a:p>
        </p:txBody>
      </p:sp>
      <p:sp>
        <p:nvSpPr>
          <p:cNvPr id="13" name="TextBox 12"/>
          <p:cNvSpPr txBox="1"/>
          <p:nvPr/>
        </p:nvSpPr>
        <p:spPr>
          <a:xfrm>
            <a:off x="3293961" y="2505456"/>
            <a:ext cx="8257653" cy="499872"/>
          </a:xfrm>
          <a:prstGeom prst="rect">
            <a:avLst/>
          </a:prstGeom>
          <a:noFill/>
        </p:spPr>
        <p:txBody>
          <a:bodyPr wrap="square" lIns="45720" rIns="45720" tIns="27432" bIns="27432" anchor="ctr">
            <a:noAutofit/>
          </a:bodyPr>
          <a:lstStyle/>
          <a:p>
            <a:pPr algn="l">
              <a:lnSpc>
                <a:spcPct val="100000"/>
              </a:lnSpc>
            </a:pPr>
            <a:r>
              <a:rPr sz="1400" b="0" i="0">
                <a:solidFill>
                  <a:srgbClr val="A7B2B0"/>
                </a:solidFill>
                <a:latin typeface="Segoe UI"/>
              </a:rPr>
              <a:t>Modo operador planeado con llamado de tools; sin marcar significa respuestas directas de un solo tiro.</a:t>
            </a:r>
          </a:p>
        </p:txBody>
      </p:sp>
      <p:sp>
        <p:nvSpPr>
          <p:cNvPr id="14" name="Rectangle 13"/>
          <p:cNvSpPr/>
          <p:nvPr/>
        </p:nvSpPr>
        <p:spPr>
          <a:xfrm>
            <a:off x="585216" y="3041903"/>
            <a:ext cx="11021263" cy="359664"/>
          </a:xfrm>
          <a:prstGeom prst="rect">
            <a:avLst/>
          </a:prstGeom>
          <a:solidFill>
            <a:srgbClr val="1824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640080" y="3078479"/>
            <a:ext cx="2507577" cy="286511"/>
          </a:xfrm>
          <a:prstGeom prst="rect">
            <a:avLst/>
          </a:prstGeom>
          <a:noFill/>
        </p:spPr>
        <p:txBody>
          <a:bodyPr wrap="square" lIns="45720" rIns="45720" tIns="27432" bIns="27432" anchor="ctr">
            <a:noAutofit/>
          </a:bodyPr>
          <a:lstStyle/>
          <a:p>
            <a:pPr algn="l">
              <a:lnSpc>
                <a:spcPct val="100000"/>
              </a:lnSpc>
            </a:pPr>
            <a:r>
              <a:rPr sz="1400" b="0" i="0">
                <a:solidFill>
                  <a:srgbClr val="F7F2E8"/>
                </a:solidFill>
                <a:latin typeface="Segoe UI Semibold"/>
              </a:rPr>
              <a:t>Exec Report</a:t>
            </a:r>
          </a:p>
        </p:txBody>
      </p:sp>
      <p:sp>
        <p:nvSpPr>
          <p:cNvPr id="16" name="TextBox 15"/>
          <p:cNvSpPr txBox="1"/>
          <p:nvPr/>
        </p:nvSpPr>
        <p:spPr>
          <a:xfrm>
            <a:off x="3293961" y="3078479"/>
            <a:ext cx="8257653" cy="286511"/>
          </a:xfrm>
          <a:prstGeom prst="rect">
            <a:avLst/>
          </a:prstGeom>
          <a:noFill/>
        </p:spPr>
        <p:txBody>
          <a:bodyPr wrap="square" lIns="45720" rIns="45720" tIns="27432" bIns="27432" anchor="ctr">
            <a:noAutofit/>
          </a:bodyPr>
          <a:lstStyle/>
          <a:p>
            <a:pPr algn="l">
              <a:lnSpc>
                <a:spcPct val="100000"/>
              </a:lnSpc>
            </a:pPr>
            <a:r>
              <a:rPr sz="1400" b="0" i="0">
                <a:solidFill>
                  <a:srgbClr val="A7B2B0"/>
                </a:solidFill>
                <a:latin typeface="Segoe UI"/>
              </a:rPr>
              <a:t>Agrega tablas de ejecución por agent; disponible mientras Multi-Turn está activado.</a:t>
            </a:r>
          </a:p>
        </p:txBody>
      </p:sp>
      <p:sp>
        <p:nvSpPr>
          <p:cNvPr id="17" name="TextBox 16"/>
          <p:cNvSpPr txBox="1"/>
          <p:nvPr/>
        </p:nvSpPr>
        <p:spPr>
          <a:xfrm>
            <a:off x="640080" y="3438144"/>
            <a:ext cx="2507577" cy="286511"/>
          </a:xfrm>
          <a:prstGeom prst="rect">
            <a:avLst/>
          </a:prstGeom>
          <a:noFill/>
        </p:spPr>
        <p:txBody>
          <a:bodyPr wrap="square" lIns="45720" rIns="45720" tIns="27432" bIns="27432" anchor="ctr">
            <a:noAutofit/>
          </a:bodyPr>
          <a:lstStyle/>
          <a:p>
            <a:pPr algn="l">
              <a:lnSpc>
                <a:spcPct val="100000"/>
              </a:lnSpc>
            </a:pPr>
            <a:r>
              <a:rPr sz="1400" b="0" i="0">
                <a:solidFill>
                  <a:srgbClr val="F7F2E8"/>
                </a:solidFill>
                <a:latin typeface="Segoe UI Semibold"/>
              </a:rPr>
              <a:t>ACPX</a:t>
            </a:r>
          </a:p>
        </p:txBody>
      </p:sp>
      <p:sp>
        <p:nvSpPr>
          <p:cNvPr id="18" name="TextBox 17"/>
          <p:cNvSpPr txBox="1"/>
          <p:nvPr/>
        </p:nvSpPr>
        <p:spPr>
          <a:xfrm>
            <a:off x="3293961" y="3438144"/>
            <a:ext cx="8257653" cy="286511"/>
          </a:xfrm>
          <a:prstGeom prst="rect">
            <a:avLst/>
          </a:prstGeom>
          <a:noFill/>
        </p:spPr>
        <p:txBody>
          <a:bodyPr wrap="square" lIns="45720" rIns="45720" tIns="27432" bIns="27432" anchor="ctr">
            <a:noAutofit/>
          </a:bodyPr>
          <a:lstStyle/>
          <a:p>
            <a:pPr algn="l">
              <a:lnSpc>
                <a:spcPct val="100000"/>
              </a:lnSpc>
            </a:pPr>
            <a:r>
              <a:rPr sz="1400" b="0" i="0">
                <a:solidFill>
                  <a:srgbClr val="A7B2B0"/>
                </a:solidFill>
                <a:latin typeface="Segoe UI"/>
              </a:rPr>
              <a:t>Agrega los doce tools de ACPX y Skill a la superficie atada; desactivado de forma predeterminada.</a:t>
            </a:r>
          </a:p>
        </p:txBody>
      </p:sp>
      <p:sp>
        <p:nvSpPr>
          <p:cNvPr id="19" name="Rectangle 18"/>
          <p:cNvSpPr/>
          <p:nvPr/>
        </p:nvSpPr>
        <p:spPr>
          <a:xfrm>
            <a:off x="585216" y="3761232"/>
            <a:ext cx="11021263" cy="359664"/>
          </a:xfrm>
          <a:prstGeom prst="rect">
            <a:avLst/>
          </a:prstGeom>
          <a:solidFill>
            <a:srgbClr val="1824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640080" y="3797808"/>
            <a:ext cx="2507577" cy="286511"/>
          </a:xfrm>
          <a:prstGeom prst="rect">
            <a:avLst/>
          </a:prstGeom>
          <a:noFill/>
        </p:spPr>
        <p:txBody>
          <a:bodyPr wrap="square" lIns="45720" rIns="45720" tIns="27432" bIns="27432" anchor="ctr">
            <a:noAutofit/>
          </a:bodyPr>
          <a:lstStyle/>
          <a:p>
            <a:pPr algn="l">
              <a:lnSpc>
                <a:spcPct val="100000"/>
              </a:lnSpc>
            </a:pPr>
            <a:r>
              <a:rPr sz="1400" b="0" i="0">
                <a:solidFill>
                  <a:srgbClr val="F7F2E8"/>
                </a:solidFill>
                <a:latin typeface="Segoe UI Semibold"/>
              </a:rPr>
              <a:t>Ask Execs</a:t>
            </a:r>
          </a:p>
        </p:txBody>
      </p:sp>
      <p:sp>
        <p:nvSpPr>
          <p:cNvPr id="21" name="TextBox 20"/>
          <p:cNvSpPr txBox="1"/>
          <p:nvPr/>
        </p:nvSpPr>
        <p:spPr>
          <a:xfrm>
            <a:off x="3293961" y="3797808"/>
            <a:ext cx="8257653" cy="286511"/>
          </a:xfrm>
          <a:prstGeom prst="rect">
            <a:avLst/>
          </a:prstGeom>
          <a:noFill/>
        </p:spPr>
        <p:txBody>
          <a:bodyPr wrap="square" lIns="45720" rIns="45720" tIns="27432" bIns="27432" anchor="ctr">
            <a:noAutofit/>
          </a:bodyPr>
          <a:lstStyle/>
          <a:p>
            <a:pPr algn="l">
              <a:lnSpc>
                <a:spcPct val="100000"/>
              </a:lnSpc>
            </a:pPr>
            <a:r>
              <a:rPr sz="1400" b="0" i="0">
                <a:solidFill>
                  <a:srgbClr val="A7B2B0"/>
                </a:solidFill>
                <a:latin typeface="Segoe UI"/>
              </a:rPr>
              <a:t>Permitir/Denegar antes de cada tool riesgoso; un Denegar detiene la cadena.</a:t>
            </a:r>
          </a:p>
        </p:txBody>
      </p:sp>
      <p:sp>
        <p:nvSpPr>
          <p:cNvPr id="22" name="TextBox 21"/>
          <p:cNvSpPr txBox="1"/>
          <p:nvPr/>
        </p:nvSpPr>
        <p:spPr>
          <a:xfrm>
            <a:off x="640080" y="4157472"/>
            <a:ext cx="2507577" cy="286511"/>
          </a:xfrm>
          <a:prstGeom prst="rect">
            <a:avLst/>
          </a:prstGeom>
          <a:noFill/>
        </p:spPr>
        <p:txBody>
          <a:bodyPr wrap="square" lIns="45720" rIns="45720" tIns="27432" bIns="27432" anchor="ctr">
            <a:noAutofit/>
          </a:bodyPr>
          <a:lstStyle/>
          <a:p>
            <a:pPr algn="l">
              <a:lnSpc>
                <a:spcPct val="100000"/>
              </a:lnSpc>
            </a:pPr>
            <a:r>
              <a:rPr sz="1400" b="0" i="0">
                <a:solidFill>
                  <a:srgbClr val="F7F2E8"/>
                </a:solidFill>
                <a:latin typeface="Segoe UI Semibold"/>
              </a:rPr>
              <a:t>Paso a paso</a:t>
            </a:r>
          </a:p>
        </p:txBody>
      </p:sp>
      <p:sp>
        <p:nvSpPr>
          <p:cNvPr id="23" name="TextBox 22"/>
          <p:cNvSpPr txBox="1"/>
          <p:nvPr/>
        </p:nvSpPr>
        <p:spPr>
          <a:xfrm>
            <a:off x="3293961" y="4157472"/>
            <a:ext cx="8257653" cy="286511"/>
          </a:xfrm>
          <a:prstGeom prst="rect">
            <a:avLst/>
          </a:prstGeom>
          <a:noFill/>
        </p:spPr>
        <p:txBody>
          <a:bodyPr wrap="square" lIns="45720" rIns="45720" tIns="27432" bIns="27432" anchor="ctr">
            <a:noAutofit/>
          </a:bodyPr>
          <a:lstStyle/>
          <a:p>
            <a:pPr algn="l">
              <a:lnSpc>
                <a:spcPct val="100000"/>
              </a:lnSpc>
            </a:pPr>
            <a:r>
              <a:rPr sz="1400" b="0" i="0">
                <a:solidFill>
                  <a:srgbClr val="A7B2B0"/>
                </a:solidFill>
                <a:latin typeface="Segoe UI"/>
              </a:rPr>
              <a:t>Una acción concreta a la vez, esperando tu respuesta antes de la siguiente.</a:t>
            </a:r>
          </a:p>
        </p:txBody>
      </p:sp>
      <p:sp>
        <p:nvSpPr>
          <p:cNvPr id="24" name="Rectangle 23"/>
          <p:cNvSpPr/>
          <p:nvPr/>
        </p:nvSpPr>
        <p:spPr>
          <a:xfrm>
            <a:off x="585216" y="4480560"/>
            <a:ext cx="11021263" cy="359664"/>
          </a:xfrm>
          <a:prstGeom prst="rect">
            <a:avLst/>
          </a:prstGeom>
          <a:solidFill>
            <a:srgbClr val="1824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TextBox 24"/>
          <p:cNvSpPr txBox="1"/>
          <p:nvPr/>
        </p:nvSpPr>
        <p:spPr>
          <a:xfrm>
            <a:off x="640080" y="4517136"/>
            <a:ext cx="2507577" cy="286511"/>
          </a:xfrm>
          <a:prstGeom prst="rect">
            <a:avLst/>
          </a:prstGeom>
          <a:noFill/>
        </p:spPr>
        <p:txBody>
          <a:bodyPr wrap="square" lIns="45720" rIns="45720" tIns="27432" bIns="27432" anchor="ctr">
            <a:noAutofit/>
          </a:bodyPr>
          <a:lstStyle/>
          <a:p>
            <a:pPr algn="l">
              <a:lnSpc>
                <a:spcPct val="100000"/>
              </a:lnSpc>
            </a:pPr>
            <a:r>
              <a:rPr sz="1400" b="0" i="0">
                <a:solidFill>
                  <a:srgbClr val="F7F2E8"/>
                </a:solidFill>
                <a:latin typeface="Segoe UI Semibold"/>
              </a:rPr>
              <a:t>Internet</a:t>
            </a:r>
          </a:p>
        </p:txBody>
      </p:sp>
      <p:sp>
        <p:nvSpPr>
          <p:cNvPr id="26" name="TextBox 25"/>
          <p:cNvSpPr txBox="1"/>
          <p:nvPr/>
        </p:nvSpPr>
        <p:spPr>
          <a:xfrm>
            <a:off x="3293961" y="4517136"/>
            <a:ext cx="8257653" cy="286511"/>
          </a:xfrm>
          <a:prstGeom prst="rect">
            <a:avLst/>
          </a:prstGeom>
          <a:noFill/>
        </p:spPr>
        <p:txBody>
          <a:bodyPr wrap="square" lIns="45720" rIns="45720" tIns="27432" bIns="27432" anchor="ctr">
            <a:noAutofit/>
          </a:bodyPr>
          <a:lstStyle/>
          <a:p>
            <a:pPr algn="l">
              <a:lnSpc>
                <a:spcPct val="100000"/>
              </a:lnSpc>
            </a:pPr>
            <a:r>
              <a:rPr sz="1400" b="0" i="0">
                <a:solidFill>
                  <a:srgbClr val="A7B2B0"/>
                </a:solidFill>
                <a:latin typeface="Segoe UI"/>
              </a:rPr>
              <a:t>Permite que una búsqueda web agregue contexto a la respuesta.</a:t>
            </a:r>
          </a:p>
        </p:txBody>
      </p:sp>
      <p:sp>
        <p:nvSpPr>
          <p:cNvPr id="27" name="TextBox 26"/>
          <p:cNvSpPr txBox="1"/>
          <p:nvPr/>
        </p:nvSpPr>
        <p:spPr>
          <a:xfrm>
            <a:off x="640080" y="4876800"/>
            <a:ext cx="2507577" cy="286511"/>
          </a:xfrm>
          <a:prstGeom prst="rect">
            <a:avLst/>
          </a:prstGeom>
          <a:noFill/>
        </p:spPr>
        <p:txBody>
          <a:bodyPr wrap="square" lIns="45720" rIns="45720" tIns="27432" bIns="27432" anchor="ctr">
            <a:noAutofit/>
          </a:bodyPr>
          <a:lstStyle/>
          <a:p>
            <a:pPr algn="l">
              <a:lnSpc>
                <a:spcPct val="100000"/>
              </a:lnSpc>
            </a:pPr>
            <a:r>
              <a:rPr sz="1400" b="0" i="0">
                <a:solidFill>
                  <a:srgbClr val="F7F2E8"/>
                </a:solidFill>
                <a:latin typeface="Segoe UI Semibold"/>
              </a:rPr>
              <a:t>Compact mode</a:t>
            </a:r>
          </a:p>
        </p:txBody>
      </p:sp>
      <p:sp>
        <p:nvSpPr>
          <p:cNvPr id="28" name="TextBox 27"/>
          <p:cNvSpPr txBox="1"/>
          <p:nvPr/>
        </p:nvSpPr>
        <p:spPr>
          <a:xfrm>
            <a:off x="3293961" y="4876800"/>
            <a:ext cx="8257653" cy="286511"/>
          </a:xfrm>
          <a:prstGeom prst="rect">
            <a:avLst/>
          </a:prstGeom>
          <a:noFill/>
        </p:spPr>
        <p:txBody>
          <a:bodyPr wrap="square" lIns="45720" rIns="45720" tIns="27432" bIns="27432" anchor="ctr">
            <a:noAutofit/>
          </a:bodyPr>
          <a:lstStyle/>
          <a:p>
            <a:pPr algn="l">
              <a:lnSpc>
                <a:spcPct val="100000"/>
              </a:lnSpc>
            </a:pPr>
            <a:r>
              <a:rPr sz="1400" b="0" i="0">
                <a:solidFill>
                  <a:srgbClr val="A7B2B0"/>
                </a:solidFill>
                <a:latin typeface="Segoe UI"/>
              </a:rPr>
              <a:t>Ata sólo las filas que marcas; bloqueado en activado cuando el modelo no puede contener todo.</a:t>
            </a:r>
          </a:p>
        </p:txBody>
      </p:sp>
      <p:sp>
        <p:nvSpPr>
          <p:cNvPr id="29" name="Rectangle 28"/>
          <p:cNvSpPr/>
          <p:nvPr/>
        </p:nvSpPr>
        <p:spPr>
          <a:xfrm>
            <a:off x="585216" y="5199888"/>
            <a:ext cx="11021263" cy="573024"/>
          </a:xfrm>
          <a:prstGeom prst="rect">
            <a:avLst/>
          </a:prstGeom>
          <a:solidFill>
            <a:srgbClr val="1824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640080" y="5236464"/>
            <a:ext cx="2507577" cy="499872"/>
          </a:xfrm>
          <a:prstGeom prst="rect">
            <a:avLst/>
          </a:prstGeom>
          <a:noFill/>
        </p:spPr>
        <p:txBody>
          <a:bodyPr wrap="square" lIns="45720" rIns="45720" tIns="27432" bIns="27432" anchor="ctr">
            <a:noAutofit/>
          </a:bodyPr>
          <a:lstStyle/>
          <a:p>
            <a:pPr algn="l">
              <a:lnSpc>
                <a:spcPct val="100000"/>
              </a:lnSpc>
            </a:pPr>
            <a:r>
              <a:rPr sz="1400" b="0" i="0">
                <a:solidFill>
                  <a:srgbClr val="F7F2E8"/>
                </a:solidFill>
                <a:latin typeface="Segoe UI Semibold"/>
              </a:rPr>
              <a:t>Self-modify</a:t>
            </a:r>
          </a:p>
        </p:txBody>
      </p:sp>
      <p:sp>
        <p:nvSpPr>
          <p:cNvPr id="31" name="TextBox 30"/>
          <p:cNvSpPr txBox="1"/>
          <p:nvPr/>
        </p:nvSpPr>
        <p:spPr>
          <a:xfrm>
            <a:off x="3293961" y="5236464"/>
            <a:ext cx="8257653" cy="499872"/>
          </a:xfrm>
          <a:prstGeom prst="rect">
            <a:avLst/>
          </a:prstGeom>
          <a:noFill/>
        </p:spPr>
        <p:txBody>
          <a:bodyPr wrap="square" lIns="45720" rIns="45720" tIns="27432" bIns="27432" anchor="ctr">
            <a:noAutofit/>
          </a:bodyPr>
          <a:lstStyle/>
          <a:p>
            <a:pPr algn="l">
              <a:lnSpc>
                <a:spcPct val="100000"/>
              </a:lnSpc>
            </a:pPr>
            <a:r>
              <a:rPr sz="1400" b="0" i="0">
                <a:solidFill>
                  <a:srgbClr val="A7B2B0"/>
                </a:solidFill>
                <a:latin typeface="Segoe UI"/>
              </a:rPr>
              <a:t>Ejecuciones de source y builds self-modify; envía el auto-conocimiento, bloqueado en desactivado si es muy grande.</a:t>
            </a:r>
          </a:p>
        </p:txBody>
      </p:sp>
      <p:cxnSp>
        <p:nvCxnSpPr>
          <p:cNvPr id="32" name="Connector 31"/>
          <p:cNvCxnSpPr/>
          <p:nvPr/>
        </p:nvCxnSpPr>
        <p:spPr>
          <a:xfrm>
            <a:off x="566928" y="6373368"/>
            <a:ext cx="11057839" cy="0"/>
          </a:xfrm>
          <a:prstGeom prst="line">
            <a:avLst/>
          </a:prstGeom>
          <a:ln w="7620">
            <a:solidFill>
              <a:srgbClr val="2A3A40"/>
            </a:solidFill>
          </a:ln>
        </p:spPr>
        <p:style>
          <a:lnRef idx="2">
            <a:schemeClr val="accent1"/>
          </a:lnRef>
          <a:fillRef idx="0">
            <a:schemeClr val="accent1"/>
          </a:fillRef>
          <a:effectRef idx="1">
            <a:schemeClr val="accent1"/>
          </a:effectRef>
          <a:fontRef idx="minor">
            <a:schemeClr val="tx1"/>
          </a:fontRef>
        </p:style>
      </p:cxnSp>
      <p:sp>
        <p:nvSpPr>
          <p:cNvPr id="33" name="TextBox 32"/>
          <p:cNvSpPr txBox="1"/>
          <p:nvPr/>
        </p:nvSpPr>
        <p:spPr>
          <a:xfrm>
            <a:off x="566928" y="6419088"/>
            <a:ext cx="6858000" cy="274320"/>
          </a:xfrm>
          <a:prstGeom prst="rect">
            <a:avLst/>
          </a:prstGeom>
          <a:noFill/>
        </p:spPr>
        <p:txBody>
          <a:bodyPr wrap="square" lIns="45720" rIns="45720" tIns="27432" bIns="27432" anchor="t">
            <a:noAutofit/>
          </a:bodyPr>
          <a:lstStyle/>
          <a:p>
            <a:pPr algn="l">
              <a:lnSpc>
                <a:spcPct val="100000"/>
              </a:lnSpc>
            </a:pPr>
            <a:r>
              <a:rPr sz="850" b="0" i="0" spc="120">
                <a:solidFill>
                  <a:srgbClr val="A7B2B0"/>
                </a:solidFill>
                <a:latin typeface="Segoe UI Semibold"/>
              </a:rPr>
              <a:t>TLAMATINI  ·  III · DÓNDE TRABAJAS CON ELLA</a:t>
            </a:r>
          </a:p>
        </p:txBody>
      </p:sp>
      <p:sp>
        <p:nvSpPr>
          <p:cNvPr id="34" name="TextBox 33"/>
          <p:cNvSpPr txBox="1"/>
          <p:nvPr/>
        </p:nvSpPr>
        <p:spPr>
          <a:xfrm>
            <a:off x="8698687" y="6419088"/>
            <a:ext cx="2926080" cy="274320"/>
          </a:xfrm>
          <a:prstGeom prst="rect">
            <a:avLst/>
          </a:prstGeom>
          <a:noFill/>
        </p:spPr>
        <p:txBody>
          <a:bodyPr wrap="square" lIns="45720" rIns="45720" tIns="27432" bIns="27432" anchor="t">
            <a:noAutofit/>
          </a:bodyPr>
          <a:lstStyle/>
          <a:p>
            <a:pPr algn="r">
              <a:lnSpc>
                <a:spcPct val="100000"/>
              </a:lnSpc>
            </a:pPr>
            <a:r>
              <a:rPr sz="850" b="0" i="0" spc="100">
                <a:solidFill>
                  <a:srgbClr val="A7B2B0"/>
                </a:solidFill>
                <a:latin typeface="Segoe UI Semibold"/>
              </a:rPr>
              <a:t>v1.91.1   ·   34</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content.png"/>
          <p:cNvPicPr>
            <a:picLocks noChangeAspect="1"/>
          </p:cNvPicPr>
          <p:nvPr/>
        </p:nvPicPr>
        <p:blipFill>
          <a:blip r:embed="rId2"/>
          <a:stretch>
            <a:fillRect/>
          </a:stretch>
        </p:blipFill>
        <p:spPr>
          <a:xfrm>
            <a:off x="0" y="0"/>
            <a:ext cx="12191695" cy="6858000"/>
          </a:xfrm>
          <a:prstGeom prst="rect">
            <a:avLst/>
          </a:prstGeom>
        </p:spPr>
      </p:pic>
      <p:sp>
        <p:nvSpPr>
          <p:cNvPr id="3" name="Diamond 2"/>
          <p:cNvSpPr/>
          <p:nvPr/>
        </p:nvSpPr>
        <p:spPr>
          <a:xfrm>
            <a:off x="566928" y="457200"/>
            <a:ext cx="100584" cy="100584"/>
          </a:xfrm>
          <a:prstGeom prst="diamond">
            <a:avLst/>
          </a:prstGeom>
          <a:solidFill>
            <a:srgbClr val="E2B4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49808" y="365760"/>
            <a:ext cx="8229600" cy="292608"/>
          </a:xfrm>
          <a:prstGeom prst="rect">
            <a:avLst/>
          </a:prstGeom>
          <a:noFill/>
        </p:spPr>
        <p:txBody>
          <a:bodyPr wrap="square" lIns="45720" rIns="45720" tIns="27432" bIns="27432" anchor="t">
            <a:noAutofit/>
          </a:bodyPr>
          <a:lstStyle/>
          <a:p>
            <a:pPr algn="l">
              <a:lnSpc>
                <a:spcPct val="100000"/>
              </a:lnSpc>
            </a:pPr>
            <a:r>
              <a:rPr sz="1100" b="0" i="0" spc="240">
                <a:solidFill>
                  <a:srgbClr val="C98457"/>
                </a:solidFill>
                <a:latin typeface="Segoe UI Semibold"/>
              </a:rPr>
              <a:t>EL CUADRO DE MENSAJE</a:t>
            </a:r>
          </a:p>
        </p:txBody>
      </p:sp>
      <p:sp>
        <p:nvSpPr>
          <p:cNvPr id="5" name="TextBox 4"/>
          <p:cNvSpPr txBox="1"/>
          <p:nvPr/>
        </p:nvSpPr>
        <p:spPr>
          <a:xfrm>
            <a:off x="539496" y="676656"/>
            <a:ext cx="11057839" cy="658368"/>
          </a:xfrm>
          <a:prstGeom prst="rect">
            <a:avLst/>
          </a:prstGeom>
          <a:noFill/>
        </p:spPr>
        <p:txBody>
          <a:bodyPr wrap="square" lIns="45720" rIns="45720" tIns="27432" bIns="27432" anchor="t">
            <a:noAutofit/>
          </a:bodyPr>
          <a:lstStyle/>
          <a:p>
            <a:pPr algn="l">
              <a:lnSpc>
                <a:spcPct val="100000"/>
              </a:lnSpc>
            </a:pPr>
            <a:r>
              <a:rPr sz="3100" b="0" i="0">
                <a:solidFill>
                  <a:srgbClr val="F7F2E8"/>
                </a:solidFill>
                <a:latin typeface="Palatino Linotype"/>
              </a:rPr>
              <a:t>Más espacio para escribir, o más espacio para leer</a:t>
            </a:r>
          </a:p>
        </p:txBody>
      </p:sp>
      <p:sp>
        <p:nvSpPr>
          <p:cNvPr id="6" name="Rectangle 5"/>
          <p:cNvSpPr/>
          <p:nvPr/>
        </p:nvSpPr>
        <p:spPr>
          <a:xfrm>
            <a:off x="566928" y="1344168"/>
            <a:ext cx="822960" cy="36576"/>
          </a:xfrm>
          <a:prstGeom prst="rect">
            <a:avLst/>
          </a:prstGeom>
          <a:solidFill>
            <a:srgbClr val="E2B4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566928" y="1444752"/>
            <a:ext cx="10692079" cy="585216"/>
          </a:xfrm>
          <a:prstGeom prst="rect">
            <a:avLst/>
          </a:prstGeom>
          <a:noFill/>
        </p:spPr>
        <p:txBody>
          <a:bodyPr wrap="square" lIns="45720" rIns="45720" tIns="27432" bIns="27432" anchor="t">
            <a:noAutofit/>
          </a:bodyPr>
          <a:lstStyle/>
          <a:p>
            <a:pPr algn="l">
              <a:lnSpc>
                <a:spcPct val="100000"/>
              </a:lnSpc>
            </a:pPr>
            <a:r>
              <a:rPr sz="1450" b="0" i="0">
                <a:solidFill>
                  <a:srgbClr val="A7B2B0"/>
                </a:solidFill>
                <a:latin typeface="Segoe UI Semilight"/>
              </a:rPr>
              <a:t>Arrastra el divisor arriba del cuadro de mensaje. Con su avatar desacoplado, el cuadro puede encogerse hasta sus botones.</a:t>
            </a:r>
          </a:p>
        </p:txBody>
      </p:sp>
      <p:sp>
        <p:nvSpPr>
          <p:cNvPr id="8" name="Rounded Rectangle 7"/>
          <p:cNvSpPr/>
          <p:nvPr/>
        </p:nvSpPr>
        <p:spPr>
          <a:xfrm>
            <a:off x="566928" y="2084831"/>
            <a:ext cx="5428335" cy="1956816"/>
          </a:xfrm>
          <a:prstGeom prst="roundRect">
            <a:avLst>
              <a:gd name="adj" fmla="val 5607"/>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ectangle 8"/>
          <p:cNvSpPr/>
          <p:nvPr/>
        </p:nvSpPr>
        <p:spPr>
          <a:xfrm>
            <a:off x="731520" y="2212848"/>
            <a:ext cx="502920" cy="45720"/>
          </a:xfrm>
          <a:prstGeom prst="rect">
            <a:avLst/>
          </a:prstGeom>
          <a:solidFill>
            <a:srgbClr val="3BBE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694944" y="2304287"/>
            <a:ext cx="5172303" cy="353568"/>
          </a:xfrm>
          <a:prstGeom prst="rect">
            <a:avLst/>
          </a:prstGeom>
          <a:noFill/>
        </p:spPr>
        <p:txBody>
          <a:bodyPr wrap="square" lIns="45720" rIns="45720" tIns="27432" bIns="27432" anchor="t">
            <a:noAutofit/>
          </a:bodyPr>
          <a:lstStyle/>
          <a:p>
            <a:pPr algn="l">
              <a:lnSpc>
                <a:spcPct val="100000"/>
              </a:lnSpc>
            </a:pPr>
            <a:r>
              <a:rPr sz="1600" b="0" i="0">
                <a:solidFill>
                  <a:srgbClr val="F7F2E8"/>
                </a:solidFill>
                <a:latin typeface="Segoe UI Semibold"/>
              </a:rPr>
              <a:t>Arrastra o escribe</a:t>
            </a:r>
          </a:p>
        </p:txBody>
      </p:sp>
      <p:sp>
        <p:nvSpPr>
          <p:cNvPr id="11" name="TextBox 10"/>
          <p:cNvSpPr txBox="1"/>
          <p:nvPr/>
        </p:nvSpPr>
        <p:spPr>
          <a:xfrm>
            <a:off x="694944" y="2657855"/>
            <a:ext cx="5172303" cy="1292352"/>
          </a:xfrm>
          <a:prstGeom prst="rect">
            <a:avLst/>
          </a:prstGeom>
          <a:noFill/>
        </p:spPr>
        <p:txBody>
          <a:bodyPr wrap="square" lIns="45720" rIns="45720" tIns="27432" bIns="27432" anchor="t">
            <a:noAutofit/>
          </a:bodyPr>
          <a:lstStyle/>
          <a:p>
            <a:pPr algn="l">
              <a:lnSpc>
                <a:spcPct val="100000"/>
              </a:lnSpc>
            </a:pPr>
            <a:r>
              <a:rPr sz="1300" b="0" i="0">
                <a:solidFill>
                  <a:srgbClr val="A7B2B0"/>
                </a:solidFill>
                <a:latin typeface="Segoe UI"/>
              </a:rPr>
              <a:t>El puntero, las flechas, Shift+flechas, Home y End mueven el divisor.</a:t>
            </a:r>
          </a:p>
        </p:txBody>
      </p:sp>
      <p:sp>
        <p:nvSpPr>
          <p:cNvPr id="12" name="Rounded Rectangle 11"/>
          <p:cNvSpPr/>
          <p:nvPr/>
        </p:nvSpPr>
        <p:spPr>
          <a:xfrm>
            <a:off x="6196431" y="2084831"/>
            <a:ext cx="5428335" cy="1956816"/>
          </a:xfrm>
          <a:prstGeom prst="roundRect">
            <a:avLst>
              <a:gd name="adj" fmla="val 5607"/>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6361023" y="2212848"/>
            <a:ext cx="502920" cy="45720"/>
          </a:xfrm>
          <a:prstGeom prst="rect">
            <a:avLst/>
          </a:prstGeom>
          <a:solidFill>
            <a:srgbClr val="C984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324447" y="2304287"/>
            <a:ext cx="5172303" cy="353568"/>
          </a:xfrm>
          <a:prstGeom prst="rect">
            <a:avLst/>
          </a:prstGeom>
          <a:noFill/>
        </p:spPr>
        <p:txBody>
          <a:bodyPr wrap="square" lIns="45720" rIns="45720" tIns="27432" bIns="27432" anchor="t">
            <a:noAutofit/>
          </a:bodyPr>
          <a:lstStyle/>
          <a:p>
            <a:pPr algn="l">
              <a:lnSpc>
                <a:spcPct val="100000"/>
              </a:lnSpc>
            </a:pPr>
            <a:r>
              <a:rPr sz="1600" b="0" i="0">
                <a:solidFill>
                  <a:srgbClr val="F7F2E8"/>
                </a:solidFill>
                <a:latin typeface="Segoe UI Semibold"/>
              </a:rPr>
              <a:t>Desacoplado</a:t>
            </a:r>
          </a:p>
        </p:txBody>
      </p:sp>
      <p:sp>
        <p:nvSpPr>
          <p:cNvPr id="15" name="TextBox 14"/>
          <p:cNvSpPr txBox="1"/>
          <p:nvPr/>
        </p:nvSpPr>
        <p:spPr>
          <a:xfrm>
            <a:off x="6324447" y="2657855"/>
            <a:ext cx="5172303" cy="1292352"/>
          </a:xfrm>
          <a:prstGeom prst="rect">
            <a:avLst/>
          </a:prstGeom>
          <a:noFill/>
        </p:spPr>
        <p:txBody>
          <a:bodyPr wrap="square" lIns="45720" rIns="45720" tIns="27432" bIns="27432" anchor="t">
            <a:noAutofit/>
          </a:bodyPr>
          <a:lstStyle/>
          <a:p>
            <a:pPr algn="l">
              <a:lnSpc>
                <a:spcPct val="100000"/>
              </a:lnSpc>
            </a:pPr>
            <a:r>
              <a:rPr sz="1300" b="0" i="0">
                <a:solidFill>
                  <a:srgbClr val="A7B2B0"/>
                </a:solidFill>
                <a:latin typeface="Segoe UI"/>
              </a:rPr>
              <a:t>El cuadro de mensaje puede encogerse hasta sus propios botones de acción.</a:t>
            </a:r>
          </a:p>
        </p:txBody>
      </p:sp>
      <p:sp>
        <p:nvSpPr>
          <p:cNvPr id="16" name="Rounded Rectangle 15"/>
          <p:cNvSpPr/>
          <p:nvPr/>
        </p:nvSpPr>
        <p:spPr>
          <a:xfrm>
            <a:off x="566928" y="4242816"/>
            <a:ext cx="5428335" cy="1956816"/>
          </a:xfrm>
          <a:prstGeom prst="roundRect">
            <a:avLst>
              <a:gd name="adj" fmla="val 5607"/>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31520" y="4370832"/>
            <a:ext cx="502920" cy="45720"/>
          </a:xfrm>
          <a:prstGeom prst="rect">
            <a:avLst/>
          </a:prstGeom>
          <a:solidFill>
            <a:srgbClr val="E2B4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694944" y="4462272"/>
            <a:ext cx="5172303" cy="353568"/>
          </a:xfrm>
          <a:prstGeom prst="rect">
            <a:avLst/>
          </a:prstGeom>
          <a:noFill/>
        </p:spPr>
        <p:txBody>
          <a:bodyPr wrap="square" lIns="45720" rIns="45720" tIns="27432" bIns="27432" anchor="t">
            <a:noAutofit/>
          </a:bodyPr>
          <a:lstStyle/>
          <a:p>
            <a:pPr algn="l">
              <a:lnSpc>
                <a:spcPct val="100000"/>
              </a:lnSpc>
            </a:pPr>
            <a:r>
              <a:rPr sz="1600" b="0" i="0">
                <a:solidFill>
                  <a:srgbClr val="F7F2E8"/>
                </a:solidFill>
                <a:latin typeface="Segoe UI Semibold"/>
              </a:rPr>
              <a:t>Acoplado</a:t>
            </a:r>
          </a:p>
        </p:txBody>
      </p:sp>
      <p:sp>
        <p:nvSpPr>
          <p:cNvPr id="19" name="TextBox 18"/>
          <p:cNvSpPr txBox="1"/>
          <p:nvPr/>
        </p:nvSpPr>
        <p:spPr>
          <a:xfrm>
            <a:off x="694944" y="4815840"/>
            <a:ext cx="5172303" cy="1292352"/>
          </a:xfrm>
          <a:prstGeom prst="rect">
            <a:avLst/>
          </a:prstGeom>
          <a:noFill/>
        </p:spPr>
        <p:txBody>
          <a:bodyPr wrap="square" lIns="45720" rIns="45720" tIns="27432" bIns="27432" anchor="t">
            <a:noAutofit/>
          </a:bodyPr>
          <a:lstStyle/>
          <a:p>
            <a:pPr algn="l">
              <a:lnSpc>
                <a:spcPct val="100000"/>
              </a:lnSpc>
            </a:pPr>
            <a:r>
              <a:rPr sz="1300" b="0" i="0">
                <a:solidFill>
                  <a:srgbClr val="A7B2B0"/>
                </a:solidFill>
                <a:latin typeface="Segoe UI"/>
              </a:rPr>
              <a:t>Un retrato centrado arriba de Mic a Send, hasta un cuadrado de 120 píxeles.</a:t>
            </a:r>
          </a:p>
        </p:txBody>
      </p:sp>
      <p:sp>
        <p:nvSpPr>
          <p:cNvPr id="20" name="Rounded Rectangle 19"/>
          <p:cNvSpPr/>
          <p:nvPr/>
        </p:nvSpPr>
        <p:spPr>
          <a:xfrm>
            <a:off x="6196431" y="4242816"/>
            <a:ext cx="5428335" cy="1956816"/>
          </a:xfrm>
          <a:prstGeom prst="roundRect">
            <a:avLst>
              <a:gd name="adj" fmla="val 5607"/>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ectangle 20"/>
          <p:cNvSpPr/>
          <p:nvPr/>
        </p:nvSpPr>
        <p:spPr>
          <a:xfrm>
            <a:off x="6361023" y="4370832"/>
            <a:ext cx="502920" cy="45720"/>
          </a:xfrm>
          <a:prstGeom prst="rect">
            <a:avLst/>
          </a:prstGeom>
          <a:solidFill>
            <a:srgbClr val="46D2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6324447" y="4462272"/>
            <a:ext cx="5172303" cy="353568"/>
          </a:xfrm>
          <a:prstGeom prst="rect">
            <a:avLst/>
          </a:prstGeom>
          <a:noFill/>
        </p:spPr>
        <p:txBody>
          <a:bodyPr wrap="square" lIns="45720" rIns="45720" tIns="27432" bIns="27432" anchor="t">
            <a:noAutofit/>
          </a:bodyPr>
          <a:lstStyle/>
          <a:p>
            <a:pPr algn="l">
              <a:lnSpc>
                <a:spcPct val="100000"/>
              </a:lnSpc>
            </a:pPr>
            <a:r>
              <a:rPr sz="1600" b="0" i="0">
                <a:solidFill>
                  <a:srgbClr val="F7F2E8"/>
                </a:solidFill>
                <a:latin typeface="Segoe UI Semibold"/>
              </a:rPr>
              <a:t>Ventanas chicas</a:t>
            </a:r>
          </a:p>
        </p:txBody>
      </p:sp>
      <p:sp>
        <p:nvSpPr>
          <p:cNvPr id="23" name="TextBox 22"/>
          <p:cNvSpPr txBox="1"/>
          <p:nvPr/>
        </p:nvSpPr>
        <p:spPr>
          <a:xfrm>
            <a:off x="6324447" y="4815840"/>
            <a:ext cx="5172303" cy="1292352"/>
          </a:xfrm>
          <a:prstGeom prst="rect">
            <a:avLst/>
          </a:prstGeom>
          <a:noFill/>
        </p:spPr>
        <p:txBody>
          <a:bodyPr wrap="square" lIns="45720" rIns="45720" tIns="27432" bIns="27432" anchor="t">
            <a:noAutofit/>
          </a:bodyPr>
          <a:lstStyle/>
          <a:p>
            <a:pPr algn="l">
              <a:lnSpc>
                <a:spcPct val="100000"/>
              </a:lnSpc>
            </a:pPr>
            <a:r>
              <a:rPr sz="1300" b="0" i="0">
                <a:solidFill>
                  <a:srgbClr val="A7B2B0"/>
                </a:solidFill>
                <a:latin typeface="Segoe UI"/>
              </a:rPr>
              <a:t>El cuadro se desplaza solo; los diálogos se quedan dentro de la ventana.</a:t>
            </a:r>
          </a:p>
        </p:txBody>
      </p:sp>
      <p:cxnSp>
        <p:nvCxnSpPr>
          <p:cNvPr id="24" name="Connector 23"/>
          <p:cNvCxnSpPr/>
          <p:nvPr/>
        </p:nvCxnSpPr>
        <p:spPr>
          <a:xfrm>
            <a:off x="566928" y="6373368"/>
            <a:ext cx="11057839" cy="0"/>
          </a:xfrm>
          <a:prstGeom prst="line">
            <a:avLst/>
          </a:prstGeom>
          <a:ln w="7620">
            <a:solidFill>
              <a:srgbClr val="2A3A40"/>
            </a:solidFill>
          </a:ln>
        </p:spPr>
        <p:style>
          <a:lnRef idx="2">
            <a:schemeClr val="accent1"/>
          </a:lnRef>
          <a:fillRef idx="0">
            <a:schemeClr val="accent1"/>
          </a:fillRef>
          <a:effectRef idx="1">
            <a:schemeClr val="accent1"/>
          </a:effectRef>
          <a:fontRef idx="minor">
            <a:schemeClr val="tx1"/>
          </a:fontRef>
        </p:style>
      </p:cxnSp>
      <p:sp>
        <p:nvSpPr>
          <p:cNvPr id="25" name="TextBox 24"/>
          <p:cNvSpPr txBox="1"/>
          <p:nvPr/>
        </p:nvSpPr>
        <p:spPr>
          <a:xfrm>
            <a:off x="566928" y="6419088"/>
            <a:ext cx="6858000" cy="274320"/>
          </a:xfrm>
          <a:prstGeom prst="rect">
            <a:avLst/>
          </a:prstGeom>
          <a:noFill/>
        </p:spPr>
        <p:txBody>
          <a:bodyPr wrap="square" lIns="45720" rIns="45720" tIns="27432" bIns="27432" anchor="t">
            <a:noAutofit/>
          </a:bodyPr>
          <a:lstStyle/>
          <a:p>
            <a:pPr algn="l">
              <a:lnSpc>
                <a:spcPct val="100000"/>
              </a:lnSpc>
            </a:pPr>
            <a:r>
              <a:rPr sz="850" b="0" i="0" spc="120">
                <a:solidFill>
                  <a:srgbClr val="A7B2B0"/>
                </a:solidFill>
                <a:latin typeface="Segoe UI Semibold"/>
              </a:rPr>
              <a:t>TLAMATINI  ·  III · DÓNDE TRABAJAS CON ELLA</a:t>
            </a:r>
          </a:p>
        </p:txBody>
      </p:sp>
      <p:sp>
        <p:nvSpPr>
          <p:cNvPr id="26" name="TextBox 25"/>
          <p:cNvSpPr txBox="1"/>
          <p:nvPr/>
        </p:nvSpPr>
        <p:spPr>
          <a:xfrm>
            <a:off x="8698687" y="6419088"/>
            <a:ext cx="2926080" cy="274320"/>
          </a:xfrm>
          <a:prstGeom prst="rect">
            <a:avLst/>
          </a:prstGeom>
          <a:noFill/>
        </p:spPr>
        <p:txBody>
          <a:bodyPr wrap="square" lIns="45720" rIns="45720" tIns="27432" bIns="27432" anchor="t">
            <a:noAutofit/>
          </a:bodyPr>
          <a:lstStyle/>
          <a:p>
            <a:pPr algn="r">
              <a:lnSpc>
                <a:spcPct val="100000"/>
              </a:lnSpc>
            </a:pPr>
            <a:r>
              <a:rPr sz="850" b="0" i="0" spc="100">
                <a:solidFill>
                  <a:srgbClr val="A7B2B0"/>
                </a:solidFill>
                <a:latin typeface="Segoe UI Semibold"/>
              </a:rPr>
              <a:t>v1.91.1   ·   35</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content.png"/>
          <p:cNvPicPr>
            <a:picLocks noChangeAspect="1"/>
          </p:cNvPicPr>
          <p:nvPr/>
        </p:nvPicPr>
        <p:blipFill>
          <a:blip r:embed="rId2"/>
          <a:stretch>
            <a:fillRect/>
          </a:stretch>
        </p:blipFill>
        <p:spPr>
          <a:xfrm>
            <a:off x="0" y="0"/>
            <a:ext cx="12191695" cy="6858000"/>
          </a:xfrm>
          <a:prstGeom prst="rect">
            <a:avLst/>
          </a:prstGeom>
        </p:spPr>
      </p:pic>
      <p:sp>
        <p:nvSpPr>
          <p:cNvPr id="3" name="Diamond 2"/>
          <p:cNvSpPr/>
          <p:nvPr/>
        </p:nvSpPr>
        <p:spPr>
          <a:xfrm>
            <a:off x="566928" y="457200"/>
            <a:ext cx="100584" cy="100584"/>
          </a:xfrm>
          <a:prstGeom prst="diamond">
            <a:avLst/>
          </a:prstGeom>
          <a:solidFill>
            <a:srgbClr val="E2B4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49808" y="365760"/>
            <a:ext cx="8229600" cy="292608"/>
          </a:xfrm>
          <a:prstGeom prst="rect">
            <a:avLst/>
          </a:prstGeom>
          <a:noFill/>
        </p:spPr>
        <p:txBody>
          <a:bodyPr wrap="square" lIns="45720" rIns="45720" tIns="27432" bIns="27432" anchor="t">
            <a:noAutofit/>
          </a:bodyPr>
          <a:lstStyle/>
          <a:p>
            <a:pPr algn="l">
              <a:lnSpc>
                <a:spcPct val="100000"/>
              </a:lnSpc>
            </a:pPr>
            <a:r>
              <a:rPr sz="1100" b="0" i="0" spc="240">
                <a:solidFill>
                  <a:srgbClr val="C98457"/>
                </a:solidFill>
                <a:latin typeface="Segoe UI Semibold"/>
              </a:rPr>
              <a:t>HISTORIAL DEL CHAT</a:t>
            </a:r>
          </a:p>
        </p:txBody>
      </p:sp>
      <p:sp>
        <p:nvSpPr>
          <p:cNvPr id="5" name="TextBox 4"/>
          <p:cNvSpPr txBox="1"/>
          <p:nvPr/>
        </p:nvSpPr>
        <p:spPr>
          <a:xfrm>
            <a:off x="539496" y="676656"/>
            <a:ext cx="11057839" cy="658368"/>
          </a:xfrm>
          <a:prstGeom prst="rect">
            <a:avLst/>
          </a:prstGeom>
          <a:noFill/>
        </p:spPr>
        <p:txBody>
          <a:bodyPr wrap="square" lIns="45720" rIns="45720" tIns="27432" bIns="27432" anchor="t">
            <a:noAutofit/>
          </a:bodyPr>
          <a:lstStyle/>
          <a:p>
            <a:pPr algn="l">
              <a:lnSpc>
                <a:spcPct val="100000"/>
              </a:lnSpc>
            </a:pPr>
            <a:r>
              <a:rPr sz="3100" b="0" i="0">
                <a:solidFill>
                  <a:srgbClr val="F7F2E8"/>
                </a:solidFill>
                <a:latin typeface="Palatino Linotype"/>
              </a:rPr>
              <a:t>Descarta un mensaje de la conversación</a:t>
            </a:r>
          </a:p>
        </p:txBody>
      </p:sp>
      <p:sp>
        <p:nvSpPr>
          <p:cNvPr id="6" name="Rectangle 5"/>
          <p:cNvSpPr/>
          <p:nvPr/>
        </p:nvSpPr>
        <p:spPr>
          <a:xfrm>
            <a:off x="566928" y="1344168"/>
            <a:ext cx="822960" cy="36576"/>
          </a:xfrm>
          <a:prstGeom prst="rect">
            <a:avLst/>
          </a:prstGeom>
          <a:solidFill>
            <a:srgbClr val="E2B4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566928" y="1444752"/>
            <a:ext cx="10692079" cy="585216"/>
          </a:xfrm>
          <a:prstGeom prst="rect">
            <a:avLst/>
          </a:prstGeom>
          <a:noFill/>
        </p:spPr>
        <p:txBody>
          <a:bodyPr wrap="square" lIns="45720" rIns="45720" tIns="27432" bIns="27432" anchor="t">
            <a:noAutofit/>
          </a:bodyPr>
          <a:lstStyle/>
          <a:p>
            <a:pPr algn="l">
              <a:lnSpc>
                <a:spcPct val="100000"/>
              </a:lnSpc>
            </a:pPr>
            <a:r>
              <a:rPr sz="1450" b="0" i="0">
                <a:solidFill>
                  <a:srgbClr val="A7B2B0"/>
                </a:solidFill>
                <a:latin typeface="Segoe UI Semilight"/>
              </a:rPr>
              <a:t>Cada tarjeta de mensaje tiene Descartar junto a Copiar, para tus prompts y las respuestas de Tlamatini.</a:t>
            </a:r>
          </a:p>
        </p:txBody>
      </p:sp>
      <p:sp>
        <p:nvSpPr>
          <p:cNvPr id="8" name="Rounded Rectangle 7"/>
          <p:cNvSpPr/>
          <p:nvPr/>
        </p:nvSpPr>
        <p:spPr>
          <a:xfrm>
            <a:off x="566928" y="2084831"/>
            <a:ext cx="5428335" cy="1956816"/>
          </a:xfrm>
          <a:prstGeom prst="roundRect">
            <a:avLst>
              <a:gd name="adj" fmla="val 5607"/>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ectangle 8"/>
          <p:cNvSpPr/>
          <p:nvPr/>
        </p:nvSpPr>
        <p:spPr>
          <a:xfrm>
            <a:off x="731520" y="2212848"/>
            <a:ext cx="502920" cy="45720"/>
          </a:xfrm>
          <a:prstGeom prst="rect">
            <a:avLst/>
          </a:prstGeom>
          <a:solidFill>
            <a:srgbClr val="3BBE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694944" y="2304287"/>
            <a:ext cx="5172303" cy="353568"/>
          </a:xfrm>
          <a:prstGeom prst="rect">
            <a:avLst/>
          </a:prstGeom>
          <a:noFill/>
        </p:spPr>
        <p:txBody>
          <a:bodyPr wrap="square" lIns="45720" rIns="45720" tIns="27432" bIns="27432" anchor="t">
            <a:noAutofit/>
          </a:bodyPr>
          <a:lstStyle/>
          <a:p>
            <a:pPr algn="l">
              <a:lnSpc>
                <a:spcPct val="100000"/>
              </a:lnSpc>
            </a:pPr>
            <a:r>
              <a:rPr sz="1600" b="0" i="0">
                <a:solidFill>
                  <a:srgbClr val="F7F2E8"/>
                </a:solidFill>
                <a:latin typeface="Segoe UI Semibold"/>
              </a:rPr>
              <a:t>Elegir</a:t>
            </a:r>
          </a:p>
        </p:txBody>
      </p:sp>
      <p:sp>
        <p:nvSpPr>
          <p:cNvPr id="11" name="TextBox 10"/>
          <p:cNvSpPr txBox="1"/>
          <p:nvPr/>
        </p:nvSpPr>
        <p:spPr>
          <a:xfrm>
            <a:off x="694944" y="2657855"/>
            <a:ext cx="5172303" cy="1292352"/>
          </a:xfrm>
          <a:prstGeom prst="rect">
            <a:avLst/>
          </a:prstGeom>
          <a:noFill/>
        </p:spPr>
        <p:txBody>
          <a:bodyPr wrap="square" lIns="45720" rIns="45720" tIns="27432" bIns="27432" anchor="t">
            <a:noAutofit/>
          </a:bodyPr>
          <a:lstStyle/>
          <a:p>
            <a:pPr algn="l">
              <a:lnSpc>
                <a:spcPct val="100000"/>
              </a:lnSpc>
            </a:pPr>
            <a:r>
              <a:rPr sz="1300" b="0" i="0">
                <a:solidFill>
                  <a:srgbClr val="A7B2B0"/>
                </a:solidFill>
                <a:latin typeface="Segoe UI"/>
              </a:rPr>
              <a:t>Descartar está junto a Copiar en las tarjetas de mensajes del usuario y de la asistente.</a:t>
            </a:r>
          </a:p>
        </p:txBody>
      </p:sp>
      <p:sp>
        <p:nvSpPr>
          <p:cNvPr id="12" name="Rounded Rectangle 11"/>
          <p:cNvSpPr/>
          <p:nvPr/>
        </p:nvSpPr>
        <p:spPr>
          <a:xfrm>
            <a:off x="6196431" y="2084831"/>
            <a:ext cx="5428335" cy="1956816"/>
          </a:xfrm>
          <a:prstGeom prst="roundRect">
            <a:avLst>
              <a:gd name="adj" fmla="val 5607"/>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6361023" y="2212848"/>
            <a:ext cx="502920" cy="45720"/>
          </a:xfrm>
          <a:prstGeom prst="rect">
            <a:avLst/>
          </a:prstGeom>
          <a:solidFill>
            <a:srgbClr val="C984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324447" y="2304287"/>
            <a:ext cx="5172303" cy="353568"/>
          </a:xfrm>
          <a:prstGeom prst="rect">
            <a:avLst/>
          </a:prstGeom>
          <a:noFill/>
        </p:spPr>
        <p:txBody>
          <a:bodyPr wrap="square" lIns="45720" rIns="45720" tIns="27432" bIns="27432" anchor="t">
            <a:noAutofit/>
          </a:bodyPr>
          <a:lstStyle/>
          <a:p>
            <a:pPr algn="l">
              <a:lnSpc>
                <a:spcPct val="100000"/>
              </a:lnSpc>
            </a:pPr>
            <a:r>
              <a:rPr sz="1600" b="0" i="0">
                <a:solidFill>
                  <a:srgbClr val="F7F2E8"/>
                </a:solidFill>
                <a:latin typeface="Segoe UI Semibold"/>
              </a:rPr>
              <a:t>Confirmar</a:t>
            </a:r>
          </a:p>
        </p:txBody>
      </p:sp>
      <p:sp>
        <p:nvSpPr>
          <p:cNvPr id="15" name="TextBox 14"/>
          <p:cNvSpPr txBox="1"/>
          <p:nvPr/>
        </p:nvSpPr>
        <p:spPr>
          <a:xfrm>
            <a:off x="6324447" y="2657855"/>
            <a:ext cx="5172303" cy="1292352"/>
          </a:xfrm>
          <a:prstGeom prst="rect">
            <a:avLst/>
          </a:prstGeom>
          <a:noFill/>
        </p:spPr>
        <p:txBody>
          <a:bodyPr wrap="square" lIns="45720" rIns="45720" tIns="27432" bIns="27432" anchor="t">
            <a:noAutofit/>
          </a:bodyPr>
          <a:lstStyle/>
          <a:p>
            <a:pPr algn="l">
              <a:lnSpc>
                <a:spcPct val="100000"/>
              </a:lnSpc>
            </a:pPr>
            <a:r>
              <a:rPr sz="1300" b="0" i="0">
                <a:solidFill>
                  <a:srgbClr val="A7B2B0"/>
                </a:solidFill>
                <a:latin typeface="Segoe UI"/>
              </a:rPr>
              <a:t>Cancelar empieza con el foco. Descartar en rojo confirma; Escape y cerrar cancelan.</a:t>
            </a:r>
          </a:p>
        </p:txBody>
      </p:sp>
      <p:sp>
        <p:nvSpPr>
          <p:cNvPr id="16" name="Rounded Rectangle 15"/>
          <p:cNvSpPr/>
          <p:nvPr/>
        </p:nvSpPr>
        <p:spPr>
          <a:xfrm>
            <a:off x="566928" y="4242816"/>
            <a:ext cx="5428335" cy="1956816"/>
          </a:xfrm>
          <a:prstGeom prst="roundRect">
            <a:avLst>
              <a:gd name="adj" fmla="val 5607"/>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31520" y="4370832"/>
            <a:ext cx="502920" cy="45720"/>
          </a:xfrm>
          <a:prstGeom prst="rect">
            <a:avLst/>
          </a:prstGeom>
          <a:solidFill>
            <a:srgbClr val="E2B4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694944" y="4462272"/>
            <a:ext cx="5172303" cy="353568"/>
          </a:xfrm>
          <a:prstGeom prst="rect">
            <a:avLst/>
          </a:prstGeom>
          <a:noFill/>
        </p:spPr>
        <p:txBody>
          <a:bodyPr wrap="square" lIns="45720" rIns="45720" tIns="27432" bIns="27432" anchor="t">
            <a:noAutofit/>
          </a:bodyPr>
          <a:lstStyle/>
          <a:p>
            <a:pPr algn="l">
              <a:lnSpc>
                <a:spcPct val="100000"/>
              </a:lnSpc>
            </a:pPr>
            <a:r>
              <a:rPr sz="1600" b="0" i="0">
                <a:solidFill>
                  <a:srgbClr val="F7F2E8"/>
                </a:solidFill>
                <a:latin typeface="Segoe UI Semibold"/>
              </a:rPr>
              <a:t>Quitar</a:t>
            </a:r>
          </a:p>
        </p:txBody>
      </p:sp>
      <p:sp>
        <p:nvSpPr>
          <p:cNvPr id="19" name="TextBox 18"/>
          <p:cNvSpPr txBox="1"/>
          <p:nvPr/>
        </p:nvSpPr>
        <p:spPr>
          <a:xfrm>
            <a:off x="694944" y="4815840"/>
            <a:ext cx="5172303" cy="1292352"/>
          </a:xfrm>
          <a:prstGeom prst="rect">
            <a:avLst/>
          </a:prstGeom>
          <a:noFill/>
        </p:spPr>
        <p:txBody>
          <a:bodyPr wrap="square" lIns="45720" rIns="45720" tIns="27432" bIns="27432" anchor="t">
            <a:noAutofit/>
          </a:bodyPr>
          <a:lstStyle/>
          <a:p>
            <a:pPr algn="l">
              <a:lnSpc>
                <a:spcPct val="100000"/>
              </a:lnSpc>
            </a:pPr>
            <a:r>
              <a:rPr sz="1300" b="0" i="0">
                <a:solidFill>
                  <a:srgbClr val="A7B2B0"/>
                </a:solidFill>
                <a:latin typeface="Segoe UI"/>
              </a:rPr>
              <a:t>Borra el mensaje guardado del historial del chat. Su prompt o respuesta pareada se queda.</a:t>
            </a:r>
          </a:p>
        </p:txBody>
      </p:sp>
      <p:sp>
        <p:nvSpPr>
          <p:cNvPr id="20" name="Rounded Rectangle 19"/>
          <p:cNvSpPr/>
          <p:nvPr/>
        </p:nvSpPr>
        <p:spPr>
          <a:xfrm>
            <a:off x="6196431" y="4242816"/>
            <a:ext cx="5428335" cy="1956816"/>
          </a:xfrm>
          <a:prstGeom prst="roundRect">
            <a:avLst>
              <a:gd name="adj" fmla="val 5607"/>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ectangle 20"/>
          <p:cNvSpPr/>
          <p:nvPr/>
        </p:nvSpPr>
        <p:spPr>
          <a:xfrm>
            <a:off x="6361023" y="4370832"/>
            <a:ext cx="502920" cy="45720"/>
          </a:xfrm>
          <a:prstGeom prst="rect">
            <a:avLst/>
          </a:prstGeom>
          <a:solidFill>
            <a:srgbClr val="46D2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6324447" y="4462272"/>
            <a:ext cx="5172303" cy="353568"/>
          </a:xfrm>
          <a:prstGeom prst="rect">
            <a:avLst/>
          </a:prstGeom>
          <a:noFill/>
        </p:spPr>
        <p:txBody>
          <a:bodyPr wrap="square" lIns="45720" rIns="45720" tIns="27432" bIns="27432" anchor="t">
            <a:noAutofit/>
          </a:bodyPr>
          <a:lstStyle/>
          <a:p>
            <a:pPr algn="l">
              <a:lnSpc>
                <a:spcPct val="100000"/>
              </a:lnSpc>
            </a:pPr>
            <a:r>
              <a:rPr sz="1600" b="0" i="0">
                <a:solidFill>
                  <a:srgbClr val="F7F2E8"/>
                </a:solidFill>
                <a:latin typeface="Segoe UI Semibold"/>
              </a:rPr>
              <a:t>Continuar</a:t>
            </a:r>
          </a:p>
        </p:txBody>
      </p:sp>
      <p:sp>
        <p:nvSpPr>
          <p:cNvPr id="23" name="TextBox 22"/>
          <p:cNvSpPr txBox="1"/>
          <p:nvPr/>
        </p:nvSpPr>
        <p:spPr>
          <a:xfrm>
            <a:off x="6324447" y="4815840"/>
            <a:ext cx="5172303" cy="1292352"/>
          </a:xfrm>
          <a:prstGeom prst="rect">
            <a:avLst/>
          </a:prstGeom>
          <a:noFill/>
        </p:spPr>
        <p:txBody>
          <a:bodyPr wrap="square" lIns="45720" rIns="45720" tIns="27432" bIns="27432" anchor="t">
            <a:noAutofit/>
          </a:bodyPr>
          <a:lstStyle/>
          <a:p>
            <a:pPr algn="l">
              <a:lnSpc>
                <a:spcPct val="100000"/>
              </a:lnSpc>
            </a:pPr>
            <a:r>
              <a:rPr sz="1300" b="0" i="0">
                <a:solidFill>
                  <a:srgbClr val="A7B2B0"/>
                </a:solidFill>
                <a:latin typeface="Segoe UI"/>
              </a:rPr>
              <a:t>La siguiente solicitud lee el historial actualizado sin reconectar.</a:t>
            </a:r>
          </a:p>
        </p:txBody>
      </p:sp>
      <p:cxnSp>
        <p:nvCxnSpPr>
          <p:cNvPr id="24" name="Connector 23"/>
          <p:cNvCxnSpPr/>
          <p:nvPr/>
        </p:nvCxnSpPr>
        <p:spPr>
          <a:xfrm>
            <a:off x="566928" y="6373368"/>
            <a:ext cx="11057839" cy="0"/>
          </a:xfrm>
          <a:prstGeom prst="line">
            <a:avLst/>
          </a:prstGeom>
          <a:ln w="7620">
            <a:solidFill>
              <a:srgbClr val="2A3A40"/>
            </a:solidFill>
          </a:ln>
        </p:spPr>
        <p:style>
          <a:lnRef idx="2">
            <a:schemeClr val="accent1"/>
          </a:lnRef>
          <a:fillRef idx="0">
            <a:schemeClr val="accent1"/>
          </a:fillRef>
          <a:effectRef idx="1">
            <a:schemeClr val="accent1"/>
          </a:effectRef>
          <a:fontRef idx="minor">
            <a:schemeClr val="tx1"/>
          </a:fontRef>
        </p:style>
      </p:cxnSp>
      <p:sp>
        <p:nvSpPr>
          <p:cNvPr id="25" name="TextBox 24"/>
          <p:cNvSpPr txBox="1"/>
          <p:nvPr/>
        </p:nvSpPr>
        <p:spPr>
          <a:xfrm>
            <a:off x="566928" y="6419088"/>
            <a:ext cx="6858000" cy="274320"/>
          </a:xfrm>
          <a:prstGeom prst="rect">
            <a:avLst/>
          </a:prstGeom>
          <a:noFill/>
        </p:spPr>
        <p:txBody>
          <a:bodyPr wrap="square" lIns="45720" rIns="45720" tIns="27432" bIns="27432" anchor="t">
            <a:noAutofit/>
          </a:bodyPr>
          <a:lstStyle/>
          <a:p>
            <a:pPr algn="l">
              <a:lnSpc>
                <a:spcPct val="100000"/>
              </a:lnSpc>
            </a:pPr>
            <a:r>
              <a:rPr sz="850" b="0" i="0" spc="120">
                <a:solidFill>
                  <a:srgbClr val="A7B2B0"/>
                </a:solidFill>
                <a:latin typeface="Segoe UI Semibold"/>
              </a:rPr>
              <a:t>TLAMATINI  ·  III · DÓNDE TRABAJAS CON ELLA</a:t>
            </a:r>
          </a:p>
        </p:txBody>
      </p:sp>
      <p:sp>
        <p:nvSpPr>
          <p:cNvPr id="26" name="TextBox 25"/>
          <p:cNvSpPr txBox="1"/>
          <p:nvPr/>
        </p:nvSpPr>
        <p:spPr>
          <a:xfrm>
            <a:off x="8698687" y="6419088"/>
            <a:ext cx="2926080" cy="274320"/>
          </a:xfrm>
          <a:prstGeom prst="rect">
            <a:avLst/>
          </a:prstGeom>
          <a:noFill/>
        </p:spPr>
        <p:txBody>
          <a:bodyPr wrap="square" lIns="45720" rIns="45720" tIns="27432" bIns="27432" anchor="t">
            <a:noAutofit/>
          </a:bodyPr>
          <a:lstStyle/>
          <a:p>
            <a:pPr algn="r">
              <a:lnSpc>
                <a:spcPct val="100000"/>
              </a:lnSpc>
            </a:pPr>
            <a:r>
              <a:rPr sz="850" b="0" i="0" spc="100">
                <a:solidFill>
                  <a:srgbClr val="A7B2B0"/>
                </a:solidFill>
                <a:latin typeface="Segoe UI Semibold"/>
              </a:rPr>
              <a:t>v1.91.1   ·   36</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content.png"/>
          <p:cNvPicPr>
            <a:picLocks noChangeAspect="1"/>
          </p:cNvPicPr>
          <p:nvPr/>
        </p:nvPicPr>
        <p:blipFill>
          <a:blip r:embed="rId2"/>
          <a:stretch>
            <a:fillRect/>
          </a:stretch>
        </p:blipFill>
        <p:spPr>
          <a:xfrm>
            <a:off x="0" y="0"/>
            <a:ext cx="12191695" cy="6858000"/>
          </a:xfrm>
          <a:prstGeom prst="rect">
            <a:avLst/>
          </a:prstGeom>
        </p:spPr>
      </p:pic>
      <p:sp>
        <p:nvSpPr>
          <p:cNvPr id="3" name="Diamond 2"/>
          <p:cNvSpPr/>
          <p:nvPr/>
        </p:nvSpPr>
        <p:spPr>
          <a:xfrm>
            <a:off x="566928" y="457200"/>
            <a:ext cx="100584" cy="100584"/>
          </a:xfrm>
          <a:prstGeom prst="diamond">
            <a:avLst/>
          </a:prstGeom>
          <a:solidFill>
            <a:srgbClr val="E2B4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49808" y="365760"/>
            <a:ext cx="8229600" cy="292608"/>
          </a:xfrm>
          <a:prstGeom prst="rect">
            <a:avLst/>
          </a:prstGeom>
          <a:noFill/>
        </p:spPr>
        <p:txBody>
          <a:bodyPr wrap="square" lIns="45720" rIns="45720" tIns="27432" bIns="27432" anchor="t">
            <a:noAutofit/>
          </a:bodyPr>
          <a:lstStyle/>
          <a:p>
            <a:pPr algn="l">
              <a:lnSpc>
                <a:spcPct val="100000"/>
              </a:lnSpc>
            </a:pPr>
            <a:r>
              <a:rPr sz="1100" b="0" i="0" spc="240">
                <a:solidFill>
                  <a:srgbClr val="C98457"/>
                </a:solidFill>
                <a:latin typeface="Segoe UI Semibold"/>
              </a:rPr>
              <a:t>MEMORIA Y EFECTOS</a:t>
            </a:r>
          </a:p>
        </p:txBody>
      </p:sp>
      <p:sp>
        <p:nvSpPr>
          <p:cNvPr id="5" name="TextBox 4"/>
          <p:cNvSpPr txBox="1"/>
          <p:nvPr/>
        </p:nvSpPr>
        <p:spPr>
          <a:xfrm>
            <a:off x="539496" y="676656"/>
            <a:ext cx="11057839" cy="658368"/>
          </a:xfrm>
          <a:prstGeom prst="rect">
            <a:avLst/>
          </a:prstGeom>
          <a:noFill/>
        </p:spPr>
        <p:txBody>
          <a:bodyPr wrap="square" lIns="45720" rIns="45720" tIns="27432" bIns="27432" anchor="t">
            <a:noAutofit/>
          </a:bodyPr>
          <a:lstStyle/>
          <a:p>
            <a:pPr algn="l">
              <a:lnSpc>
                <a:spcPct val="100000"/>
              </a:lnSpc>
            </a:pPr>
            <a:r>
              <a:rPr sz="3100" b="0" i="0">
                <a:solidFill>
                  <a:srgbClr val="F7F2E8"/>
                </a:solidFill>
                <a:latin typeface="Palatino Linotype"/>
              </a:rPr>
              <a:t>Qué queda después de Descartar</a:t>
            </a:r>
          </a:p>
        </p:txBody>
      </p:sp>
      <p:sp>
        <p:nvSpPr>
          <p:cNvPr id="6" name="Rectangle 5"/>
          <p:cNvSpPr/>
          <p:nvPr/>
        </p:nvSpPr>
        <p:spPr>
          <a:xfrm>
            <a:off x="566928" y="1344168"/>
            <a:ext cx="822960" cy="36576"/>
          </a:xfrm>
          <a:prstGeom prst="rect">
            <a:avLst/>
          </a:prstGeom>
          <a:solidFill>
            <a:srgbClr val="E2B4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566928" y="1444752"/>
            <a:ext cx="10692079" cy="585216"/>
          </a:xfrm>
          <a:prstGeom prst="rect">
            <a:avLst/>
          </a:prstGeom>
          <a:noFill/>
        </p:spPr>
        <p:txBody>
          <a:bodyPr wrap="square" lIns="45720" rIns="45720" tIns="27432" bIns="27432" anchor="t">
            <a:noAutofit/>
          </a:bodyPr>
          <a:lstStyle/>
          <a:p>
            <a:pPr algn="l">
              <a:lnSpc>
                <a:spcPct val="100000"/>
              </a:lnSpc>
            </a:pPr>
            <a:r>
              <a:rPr sz="1450" b="0" i="0">
                <a:solidFill>
                  <a:srgbClr val="A7B2B0"/>
                </a:solidFill>
                <a:latin typeface="Segoe UI Semilight"/>
              </a:rPr>
              <a:t>Borrar una tarjeta del chat cambia el contexto de la conversación futura. Las notas guardadas por separado y el trabajo terminado se quedan.</a:t>
            </a:r>
          </a:p>
        </p:txBody>
      </p:sp>
      <p:sp>
        <p:nvSpPr>
          <p:cNvPr id="8" name="Rounded Rectangle 7"/>
          <p:cNvSpPr/>
          <p:nvPr/>
        </p:nvSpPr>
        <p:spPr>
          <a:xfrm>
            <a:off x="566928" y="2084831"/>
            <a:ext cx="5428335" cy="1956816"/>
          </a:xfrm>
          <a:prstGeom prst="roundRect">
            <a:avLst>
              <a:gd name="adj" fmla="val 5607"/>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ectangle 8"/>
          <p:cNvSpPr/>
          <p:nvPr/>
        </p:nvSpPr>
        <p:spPr>
          <a:xfrm>
            <a:off x="731520" y="2212848"/>
            <a:ext cx="502920" cy="45720"/>
          </a:xfrm>
          <a:prstGeom prst="rect">
            <a:avLst/>
          </a:prstGeom>
          <a:solidFill>
            <a:srgbClr val="3BBE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694944" y="2304287"/>
            <a:ext cx="5172303" cy="353568"/>
          </a:xfrm>
          <a:prstGeom prst="rect">
            <a:avLst/>
          </a:prstGeom>
          <a:noFill/>
        </p:spPr>
        <p:txBody>
          <a:bodyPr wrap="square" lIns="45720" rIns="45720" tIns="27432" bIns="27432" anchor="t">
            <a:noAutofit/>
          </a:bodyPr>
          <a:lstStyle/>
          <a:p>
            <a:pPr algn="l">
              <a:lnSpc>
                <a:spcPct val="100000"/>
              </a:lnSpc>
            </a:pPr>
            <a:r>
              <a:rPr sz="1600" b="0" i="0">
                <a:solidFill>
                  <a:srgbClr val="F7F2E8"/>
                </a:solidFill>
                <a:latin typeface="Segoe UI Semibold"/>
              </a:rPr>
              <a:t>Historial</a:t>
            </a:r>
          </a:p>
        </p:txBody>
      </p:sp>
      <p:sp>
        <p:nvSpPr>
          <p:cNvPr id="11" name="TextBox 10"/>
          <p:cNvSpPr txBox="1"/>
          <p:nvPr/>
        </p:nvSpPr>
        <p:spPr>
          <a:xfrm>
            <a:off x="694944" y="2657855"/>
            <a:ext cx="5172303" cy="1292352"/>
          </a:xfrm>
          <a:prstGeom prst="rect">
            <a:avLst/>
          </a:prstGeom>
          <a:noFill/>
        </p:spPr>
        <p:txBody>
          <a:bodyPr wrap="square" lIns="45720" rIns="45720" tIns="27432" bIns="27432" anchor="t">
            <a:noAutofit/>
          </a:bodyPr>
          <a:lstStyle/>
          <a:p>
            <a:pPr algn="l">
              <a:lnSpc>
                <a:spcPct val="100000"/>
              </a:lnSpc>
            </a:pPr>
            <a:r>
              <a:rPr sz="1300" b="0" i="0">
                <a:solidFill>
                  <a:srgbClr val="A7B2B0"/>
                </a:solidFill>
                <a:latin typeface="Segoe UI"/>
              </a:rPr>
              <a:t>Cada solicitud recarga una ventana de hasta las ocho filas más nuevas de la base de datos.</a:t>
            </a:r>
          </a:p>
        </p:txBody>
      </p:sp>
      <p:sp>
        <p:nvSpPr>
          <p:cNvPr id="12" name="Rounded Rectangle 11"/>
          <p:cNvSpPr/>
          <p:nvPr/>
        </p:nvSpPr>
        <p:spPr>
          <a:xfrm>
            <a:off x="6196431" y="2084831"/>
            <a:ext cx="5428335" cy="1956816"/>
          </a:xfrm>
          <a:prstGeom prst="roundRect">
            <a:avLst>
              <a:gd name="adj" fmla="val 5607"/>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6361023" y="2212848"/>
            <a:ext cx="502920" cy="45720"/>
          </a:xfrm>
          <a:prstGeom prst="rect">
            <a:avLst/>
          </a:prstGeom>
          <a:solidFill>
            <a:srgbClr val="C984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324447" y="2304287"/>
            <a:ext cx="5172303" cy="353568"/>
          </a:xfrm>
          <a:prstGeom prst="rect">
            <a:avLst/>
          </a:prstGeom>
          <a:noFill/>
        </p:spPr>
        <p:txBody>
          <a:bodyPr wrap="square" lIns="45720" rIns="45720" tIns="27432" bIns="27432" anchor="t">
            <a:noAutofit/>
          </a:bodyPr>
          <a:lstStyle/>
          <a:p>
            <a:pPr algn="l">
              <a:lnSpc>
                <a:spcPct val="100000"/>
              </a:lnSpc>
            </a:pPr>
            <a:r>
              <a:rPr sz="1600" b="0" i="0">
                <a:solidFill>
                  <a:srgbClr val="F7F2E8"/>
                </a:solidFill>
                <a:latin typeface="Segoe UI Semibold"/>
              </a:rPr>
              <a:t>Notas guardadas</a:t>
            </a:r>
          </a:p>
        </p:txBody>
      </p:sp>
      <p:sp>
        <p:nvSpPr>
          <p:cNvPr id="15" name="TextBox 14"/>
          <p:cNvSpPr txBox="1"/>
          <p:nvPr/>
        </p:nvSpPr>
        <p:spPr>
          <a:xfrm>
            <a:off x="6324447" y="2657855"/>
            <a:ext cx="5172303" cy="1292352"/>
          </a:xfrm>
          <a:prstGeom prst="rect">
            <a:avLst/>
          </a:prstGeom>
          <a:noFill/>
        </p:spPr>
        <p:txBody>
          <a:bodyPr wrap="square" lIns="45720" rIns="45720" tIns="27432" bIns="27432" anchor="t">
            <a:noAutofit/>
          </a:bodyPr>
          <a:lstStyle/>
          <a:p>
            <a:pPr algn="l">
              <a:lnSpc>
                <a:spcPct val="100000"/>
              </a:lnSpc>
            </a:pPr>
            <a:r>
              <a:rPr sz="1300" b="0" i="0">
                <a:solidFill>
                  <a:srgbClr val="A7B2B0"/>
                </a:solidFill>
                <a:latin typeface="Segoe UI"/>
              </a:rPr>
              <a:t>La memoria de External MCP va aparte. Pídele que también olvide su nota.</a:t>
            </a:r>
          </a:p>
        </p:txBody>
      </p:sp>
      <p:sp>
        <p:nvSpPr>
          <p:cNvPr id="16" name="Rounded Rectangle 15"/>
          <p:cNvSpPr/>
          <p:nvPr/>
        </p:nvSpPr>
        <p:spPr>
          <a:xfrm>
            <a:off x="566928" y="4242816"/>
            <a:ext cx="5428335" cy="1956816"/>
          </a:xfrm>
          <a:prstGeom prst="roundRect">
            <a:avLst>
              <a:gd name="adj" fmla="val 5607"/>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31520" y="4370832"/>
            <a:ext cx="502920" cy="45720"/>
          </a:xfrm>
          <a:prstGeom prst="rect">
            <a:avLst/>
          </a:prstGeom>
          <a:solidFill>
            <a:srgbClr val="E2B4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694944" y="4462272"/>
            <a:ext cx="5172303" cy="353568"/>
          </a:xfrm>
          <a:prstGeom prst="rect">
            <a:avLst/>
          </a:prstGeom>
          <a:noFill/>
        </p:spPr>
        <p:txBody>
          <a:bodyPr wrap="square" lIns="45720" rIns="45720" tIns="27432" bIns="27432" anchor="t">
            <a:noAutofit/>
          </a:bodyPr>
          <a:lstStyle/>
          <a:p>
            <a:pPr algn="l">
              <a:lnSpc>
                <a:spcPct val="100000"/>
              </a:lnSpc>
            </a:pPr>
            <a:r>
              <a:rPr sz="1600" b="0" i="0">
                <a:solidFill>
                  <a:srgbClr val="F7F2E8"/>
                </a:solidFill>
                <a:latin typeface="Segoe UI Semibold"/>
              </a:rPr>
              <a:t>Otros mensajes</a:t>
            </a:r>
          </a:p>
        </p:txBody>
      </p:sp>
      <p:sp>
        <p:nvSpPr>
          <p:cNvPr id="19" name="TextBox 18"/>
          <p:cNvSpPr txBox="1"/>
          <p:nvPr/>
        </p:nvSpPr>
        <p:spPr>
          <a:xfrm>
            <a:off x="694944" y="4815840"/>
            <a:ext cx="5172303" cy="1292352"/>
          </a:xfrm>
          <a:prstGeom prst="rect">
            <a:avLst/>
          </a:prstGeom>
          <a:noFill/>
        </p:spPr>
        <p:txBody>
          <a:bodyPr wrap="square" lIns="45720" rIns="45720" tIns="27432" bIns="27432" anchor="t">
            <a:noAutofit/>
          </a:bodyPr>
          <a:lstStyle/>
          <a:p>
            <a:pPr algn="l">
              <a:lnSpc>
                <a:spcPct val="100000"/>
              </a:lnSpc>
            </a:pPr>
            <a:r>
              <a:rPr sz="1300" b="0" i="0">
                <a:solidFill>
                  <a:srgbClr val="A7B2B0"/>
                </a:solidFill>
                <a:latin typeface="Segoe UI"/>
              </a:rPr>
              <a:t>La respuesta o el prompt pareado se queda y puede repetir la misma información.</a:t>
            </a:r>
          </a:p>
        </p:txBody>
      </p:sp>
      <p:sp>
        <p:nvSpPr>
          <p:cNvPr id="20" name="Rounded Rectangle 19"/>
          <p:cNvSpPr/>
          <p:nvPr/>
        </p:nvSpPr>
        <p:spPr>
          <a:xfrm>
            <a:off x="6196431" y="4242816"/>
            <a:ext cx="5428335" cy="1956816"/>
          </a:xfrm>
          <a:prstGeom prst="roundRect">
            <a:avLst>
              <a:gd name="adj" fmla="val 5607"/>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ectangle 20"/>
          <p:cNvSpPr/>
          <p:nvPr/>
        </p:nvSpPr>
        <p:spPr>
          <a:xfrm>
            <a:off x="6361023" y="4370832"/>
            <a:ext cx="502920" cy="45720"/>
          </a:xfrm>
          <a:prstGeom prst="rect">
            <a:avLst/>
          </a:prstGeom>
          <a:solidFill>
            <a:srgbClr val="46D2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6324447" y="4462272"/>
            <a:ext cx="5172303" cy="353568"/>
          </a:xfrm>
          <a:prstGeom prst="rect">
            <a:avLst/>
          </a:prstGeom>
          <a:noFill/>
        </p:spPr>
        <p:txBody>
          <a:bodyPr wrap="square" lIns="45720" rIns="45720" tIns="27432" bIns="27432" anchor="t">
            <a:noAutofit/>
          </a:bodyPr>
          <a:lstStyle/>
          <a:p>
            <a:pPr algn="l">
              <a:lnSpc>
                <a:spcPct val="100000"/>
              </a:lnSpc>
            </a:pPr>
            <a:r>
              <a:rPr sz="1600" b="0" i="0">
                <a:solidFill>
                  <a:srgbClr val="F7F2E8"/>
                </a:solidFill>
                <a:latin typeface="Segoe UI Semibold"/>
              </a:rPr>
              <a:t>Trabajo terminado</a:t>
            </a:r>
          </a:p>
        </p:txBody>
      </p:sp>
      <p:sp>
        <p:nvSpPr>
          <p:cNvPr id="23" name="TextBox 22"/>
          <p:cNvSpPr txBox="1"/>
          <p:nvPr/>
        </p:nvSpPr>
        <p:spPr>
          <a:xfrm>
            <a:off x="6324447" y="4815840"/>
            <a:ext cx="5172303" cy="1292352"/>
          </a:xfrm>
          <a:prstGeom prst="rect">
            <a:avLst/>
          </a:prstGeom>
          <a:noFill/>
        </p:spPr>
        <p:txBody>
          <a:bodyPr wrap="square" lIns="45720" rIns="45720" tIns="27432" bIns="27432" anchor="t">
            <a:noAutofit/>
          </a:bodyPr>
          <a:lstStyle/>
          <a:p>
            <a:pPr algn="l">
              <a:lnSpc>
                <a:spcPct val="100000"/>
              </a:lnSpc>
            </a:pPr>
            <a:r>
              <a:rPr sz="1300" b="0" i="0">
                <a:solidFill>
                  <a:srgbClr val="A7B2B0"/>
                </a:solidFill>
                <a:latin typeface="Segoe UI"/>
              </a:rPr>
              <a:t>Los archivos y los mensajes enviados se quedan. Guarda un flow que necesites antes de descartar su tarjeta.</a:t>
            </a:r>
          </a:p>
        </p:txBody>
      </p:sp>
      <p:cxnSp>
        <p:nvCxnSpPr>
          <p:cNvPr id="24" name="Connector 23"/>
          <p:cNvCxnSpPr/>
          <p:nvPr/>
        </p:nvCxnSpPr>
        <p:spPr>
          <a:xfrm>
            <a:off x="566928" y="6373368"/>
            <a:ext cx="11057839" cy="0"/>
          </a:xfrm>
          <a:prstGeom prst="line">
            <a:avLst/>
          </a:prstGeom>
          <a:ln w="7620">
            <a:solidFill>
              <a:srgbClr val="2A3A40"/>
            </a:solidFill>
          </a:ln>
        </p:spPr>
        <p:style>
          <a:lnRef idx="2">
            <a:schemeClr val="accent1"/>
          </a:lnRef>
          <a:fillRef idx="0">
            <a:schemeClr val="accent1"/>
          </a:fillRef>
          <a:effectRef idx="1">
            <a:schemeClr val="accent1"/>
          </a:effectRef>
          <a:fontRef idx="minor">
            <a:schemeClr val="tx1"/>
          </a:fontRef>
        </p:style>
      </p:cxnSp>
      <p:sp>
        <p:nvSpPr>
          <p:cNvPr id="25" name="TextBox 24"/>
          <p:cNvSpPr txBox="1"/>
          <p:nvPr/>
        </p:nvSpPr>
        <p:spPr>
          <a:xfrm>
            <a:off x="566928" y="6419088"/>
            <a:ext cx="6858000" cy="274320"/>
          </a:xfrm>
          <a:prstGeom prst="rect">
            <a:avLst/>
          </a:prstGeom>
          <a:noFill/>
        </p:spPr>
        <p:txBody>
          <a:bodyPr wrap="square" lIns="45720" rIns="45720" tIns="27432" bIns="27432" anchor="t">
            <a:noAutofit/>
          </a:bodyPr>
          <a:lstStyle/>
          <a:p>
            <a:pPr algn="l">
              <a:lnSpc>
                <a:spcPct val="100000"/>
              </a:lnSpc>
            </a:pPr>
            <a:r>
              <a:rPr sz="850" b="0" i="0" spc="120">
                <a:solidFill>
                  <a:srgbClr val="A7B2B0"/>
                </a:solidFill>
                <a:latin typeface="Segoe UI Semibold"/>
              </a:rPr>
              <a:t>TLAMATINI  ·  III · DÓNDE TRABAJAS CON ELLA</a:t>
            </a:r>
          </a:p>
        </p:txBody>
      </p:sp>
      <p:sp>
        <p:nvSpPr>
          <p:cNvPr id="26" name="TextBox 25"/>
          <p:cNvSpPr txBox="1"/>
          <p:nvPr/>
        </p:nvSpPr>
        <p:spPr>
          <a:xfrm>
            <a:off x="8698687" y="6419088"/>
            <a:ext cx="2926080" cy="274320"/>
          </a:xfrm>
          <a:prstGeom prst="rect">
            <a:avLst/>
          </a:prstGeom>
          <a:noFill/>
        </p:spPr>
        <p:txBody>
          <a:bodyPr wrap="square" lIns="45720" rIns="45720" tIns="27432" bIns="27432" anchor="t">
            <a:noAutofit/>
          </a:bodyPr>
          <a:lstStyle/>
          <a:p>
            <a:pPr algn="r">
              <a:lnSpc>
                <a:spcPct val="100000"/>
              </a:lnSpc>
            </a:pPr>
            <a:r>
              <a:rPr sz="850" b="0" i="0" spc="100">
                <a:solidFill>
                  <a:srgbClr val="A7B2B0"/>
                </a:solidFill>
                <a:latin typeface="Segoe UI Semibold"/>
              </a:rPr>
              <a:t>v1.91.1   ·   37</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content.png"/>
          <p:cNvPicPr>
            <a:picLocks noChangeAspect="1"/>
          </p:cNvPicPr>
          <p:nvPr/>
        </p:nvPicPr>
        <p:blipFill>
          <a:blip r:embed="rId2"/>
          <a:stretch>
            <a:fillRect/>
          </a:stretch>
        </p:blipFill>
        <p:spPr>
          <a:xfrm>
            <a:off x="0" y="0"/>
            <a:ext cx="12191695" cy="6858000"/>
          </a:xfrm>
          <a:prstGeom prst="rect">
            <a:avLst/>
          </a:prstGeom>
        </p:spPr>
      </p:pic>
      <p:sp>
        <p:nvSpPr>
          <p:cNvPr id="3" name="Diamond 2"/>
          <p:cNvSpPr/>
          <p:nvPr/>
        </p:nvSpPr>
        <p:spPr>
          <a:xfrm>
            <a:off x="566928" y="457200"/>
            <a:ext cx="100584" cy="100584"/>
          </a:xfrm>
          <a:prstGeom prst="diamond">
            <a:avLst/>
          </a:prstGeom>
          <a:solidFill>
            <a:srgbClr val="E2B4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49808" y="365760"/>
            <a:ext cx="8229600" cy="292608"/>
          </a:xfrm>
          <a:prstGeom prst="rect">
            <a:avLst/>
          </a:prstGeom>
          <a:noFill/>
        </p:spPr>
        <p:txBody>
          <a:bodyPr wrap="square" lIns="45720" rIns="45720" tIns="27432" bIns="27432" anchor="t">
            <a:noAutofit/>
          </a:bodyPr>
          <a:lstStyle/>
          <a:p>
            <a:pPr algn="l">
              <a:lnSpc>
                <a:spcPct val="100000"/>
              </a:lnSpc>
            </a:pPr>
            <a:r>
              <a:rPr sz="1100" b="0" i="0" spc="240">
                <a:solidFill>
                  <a:srgbClr val="C98457"/>
                </a:solidFill>
                <a:latin typeface="Segoe UI Semibold"/>
              </a:rPr>
              <a:t>INPUT DE VOZ DIRECTO</a:t>
            </a:r>
          </a:p>
        </p:txBody>
      </p:sp>
      <p:sp>
        <p:nvSpPr>
          <p:cNvPr id="5" name="TextBox 4"/>
          <p:cNvSpPr txBox="1"/>
          <p:nvPr/>
        </p:nvSpPr>
        <p:spPr>
          <a:xfrm>
            <a:off x="539496" y="676656"/>
            <a:ext cx="11057839" cy="658368"/>
          </a:xfrm>
          <a:prstGeom prst="rect">
            <a:avLst/>
          </a:prstGeom>
          <a:noFill/>
        </p:spPr>
        <p:txBody>
          <a:bodyPr wrap="square" lIns="45720" rIns="45720" tIns="27432" bIns="27432" anchor="t">
            <a:noAutofit/>
          </a:bodyPr>
          <a:lstStyle/>
          <a:p>
            <a:pPr algn="l">
              <a:lnSpc>
                <a:spcPct val="100000"/>
              </a:lnSpc>
            </a:pPr>
            <a:r>
              <a:rPr sz="3100" b="0" i="0">
                <a:solidFill>
                  <a:srgbClr val="F7F2E8"/>
                </a:solidFill>
                <a:latin typeface="Palatino Linotype"/>
              </a:rPr>
              <a:t>Habla junto a Enviar</a:t>
            </a:r>
          </a:p>
        </p:txBody>
      </p:sp>
      <p:sp>
        <p:nvSpPr>
          <p:cNvPr id="6" name="Rectangle 5"/>
          <p:cNvSpPr/>
          <p:nvPr/>
        </p:nvSpPr>
        <p:spPr>
          <a:xfrm>
            <a:off x="566928" y="1344168"/>
            <a:ext cx="822960" cy="36576"/>
          </a:xfrm>
          <a:prstGeom prst="rect">
            <a:avLst/>
          </a:prstGeom>
          <a:solidFill>
            <a:srgbClr val="E2B4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566928" y="1444752"/>
            <a:ext cx="10692079" cy="585216"/>
          </a:xfrm>
          <a:prstGeom prst="rect">
            <a:avLst/>
          </a:prstGeom>
          <a:noFill/>
        </p:spPr>
        <p:txBody>
          <a:bodyPr wrap="square" lIns="45720" rIns="45720" tIns="27432" bIns="27432" anchor="t">
            <a:noAutofit/>
          </a:bodyPr>
          <a:lstStyle/>
          <a:p>
            <a:pPr algn="l">
              <a:lnSpc>
                <a:spcPct val="100000"/>
              </a:lnSpc>
            </a:pPr>
            <a:r>
              <a:rPr sz="1450" b="0" i="0">
                <a:solidFill>
                  <a:srgbClr val="A7B2B0"/>
                </a:solidFill>
                <a:latin typeface="Segoe UI Semilight"/>
              </a:rPr>
              <a:t>El micrófono captura primero; ningún paso de selección de tools por el modelo se interpone entre el clic y la grabación.</a:t>
            </a:r>
          </a:p>
        </p:txBody>
      </p:sp>
      <p:sp>
        <p:nvSpPr>
          <p:cNvPr id="8" name="Rounded Rectangle 7"/>
          <p:cNvSpPr/>
          <p:nvPr/>
        </p:nvSpPr>
        <p:spPr>
          <a:xfrm>
            <a:off x="566928" y="2084831"/>
            <a:ext cx="5428335" cy="1956816"/>
          </a:xfrm>
          <a:prstGeom prst="roundRect">
            <a:avLst>
              <a:gd name="adj" fmla="val 5607"/>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ectangle 8"/>
          <p:cNvSpPr/>
          <p:nvPr/>
        </p:nvSpPr>
        <p:spPr>
          <a:xfrm>
            <a:off x="731520" y="2212848"/>
            <a:ext cx="502920" cy="45720"/>
          </a:xfrm>
          <a:prstGeom prst="rect">
            <a:avLst/>
          </a:prstGeom>
          <a:solidFill>
            <a:srgbClr val="3BBE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694944" y="2304287"/>
            <a:ext cx="5172303" cy="353568"/>
          </a:xfrm>
          <a:prstGeom prst="rect">
            <a:avLst/>
          </a:prstGeom>
          <a:noFill/>
        </p:spPr>
        <p:txBody>
          <a:bodyPr wrap="square" lIns="45720" rIns="45720" tIns="27432" bIns="27432" anchor="t">
            <a:noAutofit/>
          </a:bodyPr>
          <a:lstStyle/>
          <a:p>
            <a:pPr algn="l">
              <a:lnSpc>
                <a:spcPct val="100000"/>
              </a:lnSpc>
            </a:pPr>
            <a:r>
              <a:rPr sz="1600" b="0" i="0">
                <a:solidFill>
                  <a:srgbClr val="F7F2E8"/>
                </a:solidFill>
                <a:latin typeface="Segoe UI Semibold"/>
              </a:rPr>
              <a:t>Clic</a:t>
            </a:r>
          </a:p>
        </p:txBody>
      </p:sp>
      <p:sp>
        <p:nvSpPr>
          <p:cNvPr id="11" name="TextBox 10"/>
          <p:cNvSpPr txBox="1"/>
          <p:nvPr/>
        </p:nvSpPr>
        <p:spPr>
          <a:xfrm>
            <a:off x="694944" y="2657855"/>
            <a:ext cx="5172303" cy="1292352"/>
          </a:xfrm>
          <a:prstGeom prst="rect">
            <a:avLst/>
          </a:prstGeom>
          <a:noFill/>
        </p:spPr>
        <p:txBody>
          <a:bodyPr wrap="square" lIns="45720" rIns="45720" tIns="27432" bIns="27432" anchor="t">
            <a:noAutofit/>
          </a:bodyPr>
          <a:lstStyle/>
          <a:p>
            <a:pPr algn="l">
              <a:lnSpc>
                <a:spcPct val="100000"/>
              </a:lnSpc>
            </a:pPr>
            <a:r>
              <a:rPr sz="1300" b="0" i="0">
                <a:solidFill>
                  <a:srgbClr val="A7B2B0"/>
                </a:solidFill>
                <a:latin typeface="Segoe UI"/>
              </a:rPr>
              <a:t>Inicio directo de Whisperer; el micrófono del host sólo se abre para una grabación.</a:t>
            </a:r>
          </a:p>
        </p:txBody>
      </p:sp>
      <p:sp>
        <p:nvSpPr>
          <p:cNvPr id="12" name="Rounded Rectangle 11"/>
          <p:cNvSpPr/>
          <p:nvPr/>
        </p:nvSpPr>
        <p:spPr>
          <a:xfrm>
            <a:off x="6196431" y="2084831"/>
            <a:ext cx="5428335" cy="1956816"/>
          </a:xfrm>
          <a:prstGeom prst="roundRect">
            <a:avLst>
              <a:gd name="adj" fmla="val 5607"/>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6361023" y="2212848"/>
            <a:ext cx="502920" cy="45720"/>
          </a:xfrm>
          <a:prstGeom prst="rect">
            <a:avLst/>
          </a:prstGeom>
          <a:solidFill>
            <a:srgbClr val="C984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324447" y="2304287"/>
            <a:ext cx="5172303" cy="353568"/>
          </a:xfrm>
          <a:prstGeom prst="rect">
            <a:avLst/>
          </a:prstGeom>
          <a:noFill/>
        </p:spPr>
        <p:txBody>
          <a:bodyPr wrap="square" lIns="45720" rIns="45720" tIns="27432" bIns="27432" anchor="t">
            <a:noAutofit/>
          </a:bodyPr>
          <a:lstStyle/>
          <a:p>
            <a:pPr algn="l">
              <a:lnSpc>
                <a:spcPct val="100000"/>
              </a:lnSpc>
            </a:pPr>
            <a:r>
              <a:rPr sz="1600" b="0" i="0">
                <a:solidFill>
                  <a:srgbClr val="F7F2E8"/>
                </a:solidFill>
                <a:latin typeface="Segoe UI Semibold"/>
              </a:rPr>
              <a:t>Escuchar</a:t>
            </a:r>
          </a:p>
        </p:txBody>
      </p:sp>
      <p:sp>
        <p:nvSpPr>
          <p:cNvPr id="15" name="TextBox 14"/>
          <p:cNvSpPr txBox="1"/>
          <p:nvPr/>
        </p:nvSpPr>
        <p:spPr>
          <a:xfrm>
            <a:off x="6324447" y="2657855"/>
            <a:ext cx="5172303" cy="1292352"/>
          </a:xfrm>
          <a:prstGeom prst="rect">
            <a:avLst/>
          </a:prstGeom>
          <a:noFill/>
        </p:spPr>
        <p:txBody>
          <a:bodyPr wrap="square" lIns="45720" rIns="45720" tIns="27432" bIns="27432" anchor="t">
            <a:noAutofit/>
          </a:bodyPr>
          <a:lstStyle/>
          <a:p>
            <a:pPr algn="l">
              <a:lnSpc>
                <a:spcPct val="100000"/>
              </a:lnSpc>
            </a:pPr>
            <a:r>
              <a:rPr sz="1300" b="0" i="0">
                <a:solidFill>
                  <a:srgbClr val="A7B2B0"/>
                </a:solidFill>
                <a:latin typeface="Segoe UI"/>
              </a:rPr>
              <a:t>Las muestras en vivo mueven el indicador del chat y la compuerta de silencio configurada.</a:t>
            </a:r>
          </a:p>
        </p:txBody>
      </p:sp>
      <p:sp>
        <p:nvSpPr>
          <p:cNvPr id="16" name="Rounded Rectangle 15"/>
          <p:cNvSpPr/>
          <p:nvPr/>
        </p:nvSpPr>
        <p:spPr>
          <a:xfrm>
            <a:off x="566928" y="4242816"/>
            <a:ext cx="5428335" cy="1956816"/>
          </a:xfrm>
          <a:prstGeom prst="roundRect">
            <a:avLst>
              <a:gd name="adj" fmla="val 5607"/>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31520" y="4370832"/>
            <a:ext cx="502920" cy="45720"/>
          </a:xfrm>
          <a:prstGeom prst="rect">
            <a:avLst/>
          </a:prstGeom>
          <a:solidFill>
            <a:srgbClr val="E2B4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694944" y="4462272"/>
            <a:ext cx="5172303" cy="353568"/>
          </a:xfrm>
          <a:prstGeom prst="rect">
            <a:avLst/>
          </a:prstGeom>
          <a:noFill/>
        </p:spPr>
        <p:txBody>
          <a:bodyPr wrap="square" lIns="45720" rIns="45720" tIns="27432" bIns="27432" anchor="t">
            <a:noAutofit/>
          </a:bodyPr>
          <a:lstStyle/>
          <a:p>
            <a:pPr algn="l">
              <a:lnSpc>
                <a:spcPct val="100000"/>
              </a:lnSpc>
            </a:pPr>
            <a:r>
              <a:rPr sz="1600" b="0" i="0">
                <a:solidFill>
                  <a:srgbClr val="F7F2E8"/>
                </a:solidFill>
                <a:latin typeface="Segoe UI Semibold"/>
              </a:rPr>
              <a:t>Reconocer</a:t>
            </a:r>
          </a:p>
        </p:txBody>
      </p:sp>
      <p:sp>
        <p:nvSpPr>
          <p:cNvPr id="19" name="TextBox 18"/>
          <p:cNvSpPr txBox="1"/>
          <p:nvPr/>
        </p:nvSpPr>
        <p:spPr>
          <a:xfrm>
            <a:off x="694944" y="4815840"/>
            <a:ext cx="5172303" cy="1292352"/>
          </a:xfrm>
          <a:prstGeom prst="rect">
            <a:avLst/>
          </a:prstGeom>
          <a:noFill/>
        </p:spPr>
        <p:txBody>
          <a:bodyPr wrap="square" lIns="45720" rIns="45720" tIns="27432" bIns="27432" anchor="t">
            <a:noAutofit/>
          </a:bodyPr>
          <a:lstStyle/>
          <a:p>
            <a:pPr algn="l">
              <a:lnSpc>
                <a:spcPct val="100000"/>
              </a:lnSpc>
            </a:pPr>
            <a:r>
              <a:rPr sz="1300" b="0" i="0">
                <a:solidFill>
                  <a:srgbClr val="A7B2B0"/>
                </a:solidFill>
                <a:latin typeface="Segoe UI"/>
              </a:rPr>
              <a:t>faster-whisper local o el motor de voz en la nube configurado explícitamente.</a:t>
            </a:r>
          </a:p>
        </p:txBody>
      </p:sp>
      <p:sp>
        <p:nvSpPr>
          <p:cNvPr id="20" name="Rounded Rectangle 19"/>
          <p:cNvSpPr/>
          <p:nvPr/>
        </p:nvSpPr>
        <p:spPr>
          <a:xfrm>
            <a:off x="6196431" y="4242816"/>
            <a:ext cx="5428335" cy="1956816"/>
          </a:xfrm>
          <a:prstGeom prst="roundRect">
            <a:avLst>
              <a:gd name="adj" fmla="val 5607"/>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ectangle 20"/>
          <p:cNvSpPr/>
          <p:nvPr/>
        </p:nvSpPr>
        <p:spPr>
          <a:xfrm>
            <a:off x="6361023" y="4370832"/>
            <a:ext cx="502920" cy="45720"/>
          </a:xfrm>
          <a:prstGeom prst="rect">
            <a:avLst/>
          </a:prstGeom>
          <a:solidFill>
            <a:srgbClr val="46D2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6324447" y="4462272"/>
            <a:ext cx="5172303" cy="353568"/>
          </a:xfrm>
          <a:prstGeom prst="rect">
            <a:avLst/>
          </a:prstGeom>
          <a:noFill/>
        </p:spPr>
        <p:txBody>
          <a:bodyPr wrap="square" lIns="45720" rIns="45720" tIns="27432" bIns="27432" anchor="t">
            <a:noAutofit/>
          </a:bodyPr>
          <a:lstStyle/>
          <a:p>
            <a:pPr algn="l">
              <a:lnSpc>
                <a:spcPct val="100000"/>
              </a:lnSpc>
            </a:pPr>
            <a:r>
              <a:rPr sz="1600" b="0" i="0">
                <a:solidFill>
                  <a:srgbClr val="F7F2E8"/>
                </a:solidFill>
                <a:latin typeface="Segoe UI Semibold"/>
              </a:rPr>
              <a:t>Enviar o revisar</a:t>
            </a:r>
          </a:p>
        </p:txBody>
      </p:sp>
      <p:sp>
        <p:nvSpPr>
          <p:cNvPr id="23" name="TextBox 22"/>
          <p:cNvSpPr txBox="1"/>
          <p:nvPr/>
        </p:nvSpPr>
        <p:spPr>
          <a:xfrm>
            <a:off x="6324447" y="4815840"/>
            <a:ext cx="5172303" cy="1292352"/>
          </a:xfrm>
          <a:prstGeom prst="rect">
            <a:avLst/>
          </a:prstGeom>
          <a:noFill/>
        </p:spPr>
        <p:txBody>
          <a:bodyPr wrap="square" lIns="45720" rIns="45720" tIns="27432" bIns="27432" anchor="t">
            <a:noAutofit/>
          </a:bodyPr>
          <a:lstStyle/>
          <a:p>
            <a:pPr algn="l">
              <a:lnSpc>
                <a:spcPct val="100000"/>
              </a:lnSpc>
            </a:pPr>
            <a:r>
              <a:rPr sz="1300" b="0" i="0">
                <a:solidFill>
                  <a:srgbClr val="A7B2B0"/>
                </a:solidFill>
                <a:latin typeface="Segoe UI"/>
              </a:rPr>
              <a:t>Envía una vez con los modos actuales, o revisa el borrador editable y presiona Enviar tú.</a:t>
            </a:r>
          </a:p>
        </p:txBody>
      </p:sp>
      <p:cxnSp>
        <p:nvCxnSpPr>
          <p:cNvPr id="24" name="Connector 23"/>
          <p:cNvCxnSpPr/>
          <p:nvPr/>
        </p:nvCxnSpPr>
        <p:spPr>
          <a:xfrm>
            <a:off x="566928" y="6373368"/>
            <a:ext cx="11057839" cy="0"/>
          </a:xfrm>
          <a:prstGeom prst="line">
            <a:avLst/>
          </a:prstGeom>
          <a:ln w="7620">
            <a:solidFill>
              <a:srgbClr val="2A3A40"/>
            </a:solidFill>
          </a:ln>
        </p:spPr>
        <p:style>
          <a:lnRef idx="2">
            <a:schemeClr val="accent1"/>
          </a:lnRef>
          <a:fillRef idx="0">
            <a:schemeClr val="accent1"/>
          </a:fillRef>
          <a:effectRef idx="1">
            <a:schemeClr val="accent1"/>
          </a:effectRef>
          <a:fontRef idx="minor">
            <a:schemeClr val="tx1"/>
          </a:fontRef>
        </p:style>
      </p:cxnSp>
      <p:sp>
        <p:nvSpPr>
          <p:cNvPr id="25" name="TextBox 24"/>
          <p:cNvSpPr txBox="1"/>
          <p:nvPr/>
        </p:nvSpPr>
        <p:spPr>
          <a:xfrm>
            <a:off x="566928" y="6419088"/>
            <a:ext cx="6858000" cy="274320"/>
          </a:xfrm>
          <a:prstGeom prst="rect">
            <a:avLst/>
          </a:prstGeom>
          <a:noFill/>
        </p:spPr>
        <p:txBody>
          <a:bodyPr wrap="square" lIns="45720" rIns="45720" tIns="27432" bIns="27432" anchor="t">
            <a:noAutofit/>
          </a:bodyPr>
          <a:lstStyle/>
          <a:p>
            <a:pPr algn="l">
              <a:lnSpc>
                <a:spcPct val="100000"/>
              </a:lnSpc>
            </a:pPr>
            <a:r>
              <a:rPr sz="850" b="0" i="0" spc="120">
                <a:solidFill>
                  <a:srgbClr val="A7B2B0"/>
                </a:solidFill>
                <a:latin typeface="Segoe UI Semibold"/>
              </a:rPr>
              <a:t>TLAMATINI  ·  III · DÓNDE TRABAJAS CON ELLA</a:t>
            </a:r>
          </a:p>
        </p:txBody>
      </p:sp>
      <p:sp>
        <p:nvSpPr>
          <p:cNvPr id="26" name="TextBox 25"/>
          <p:cNvSpPr txBox="1"/>
          <p:nvPr/>
        </p:nvSpPr>
        <p:spPr>
          <a:xfrm>
            <a:off x="8698687" y="6419088"/>
            <a:ext cx="2926080" cy="274320"/>
          </a:xfrm>
          <a:prstGeom prst="rect">
            <a:avLst/>
          </a:prstGeom>
          <a:noFill/>
        </p:spPr>
        <p:txBody>
          <a:bodyPr wrap="square" lIns="45720" rIns="45720" tIns="27432" bIns="27432" anchor="t">
            <a:noAutofit/>
          </a:bodyPr>
          <a:lstStyle/>
          <a:p>
            <a:pPr algn="r">
              <a:lnSpc>
                <a:spcPct val="100000"/>
              </a:lnSpc>
            </a:pPr>
            <a:r>
              <a:rPr sz="850" b="0" i="0" spc="100">
                <a:solidFill>
                  <a:srgbClr val="A7B2B0"/>
                </a:solidFill>
                <a:latin typeface="Segoe UI Semibold"/>
              </a:rPr>
              <a:t>v1.91.1   ·   38</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content.png"/>
          <p:cNvPicPr>
            <a:picLocks noChangeAspect="1"/>
          </p:cNvPicPr>
          <p:nvPr/>
        </p:nvPicPr>
        <p:blipFill>
          <a:blip r:embed="rId2"/>
          <a:stretch>
            <a:fillRect/>
          </a:stretch>
        </p:blipFill>
        <p:spPr>
          <a:xfrm>
            <a:off x="0" y="0"/>
            <a:ext cx="12191695" cy="6858000"/>
          </a:xfrm>
          <a:prstGeom prst="rect">
            <a:avLst/>
          </a:prstGeom>
        </p:spPr>
      </p:pic>
      <p:sp>
        <p:nvSpPr>
          <p:cNvPr id="3" name="Diamond 2"/>
          <p:cNvSpPr/>
          <p:nvPr/>
        </p:nvSpPr>
        <p:spPr>
          <a:xfrm>
            <a:off x="566928" y="457200"/>
            <a:ext cx="100584" cy="100584"/>
          </a:xfrm>
          <a:prstGeom prst="diamond">
            <a:avLst/>
          </a:prstGeom>
          <a:solidFill>
            <a:srgbClr val="E2B4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49808" y="365760"/>
            <a:ext cx="8229600" cy="292608"/>
          </a:xfrm>
          <a:prstGeom prst="rect">
            <a:avLst/>
          </a:prstGeom>
          <a:noFill/>
        </p:spPr>
        <p:txBody>
          <a:bodyPr wrap="square" lIns="45720" rIns="45720" tIns="27432" bIns="27432" anchor="t">
            <a:noAutofit/>
          </a:bodyPr>
          <a:lstStyle/>
          <a:p>
            <a:pPr algn="l">
              <a:lnSpc>
                <a:spcPct val="100000"/>
              </a:lnSpc>
            </a:pPr>
            <a:r>
              <a:rPr sz="1100" b="0" i="0" spc="240">
                <a:solidFill>
                  <a:srgbClr val="C98457"/>
                </a:solidFill>
                <a:latin typeface="Segoe UI Semibold"/>
              </a:rPr>
              <a:t>CONFIGURACIÓN</a:t>
            </a:r>
          </a:p>
        </p:txBody>
      </p:sp>
      <p:sp>
        <p:nvSpPr>
          <p:cNvPr id="5" name="TextBox 4"/>
          <p:cNvSpPr txBox="1"/>
          <p:nvPr/>
        </p:nvSpPr>
        <p:spPr>
          <a:xfrm>
            <a:off x="539496" y="676656"/>
            <a:ext cx="11057839" cy="658368"/>
          </a:xfrm>
          <a:prstGeom prst="rect">
            <a:avLst/>
          </a:prstGeom>
          <a:noFill/>
        </p:spPr>
        <p:txBody>
          <a:bodyPr wrap="square" lIns="45720" rIns="45720" tIns="27432" bIns="27432" anchor="t">
            <a:noAutofit/>
          </a:bodyPr>
          <a:lstStyle/>
          <a:p>
            <a:pPr algn="l">
              <a:lnSpc>
                <a:spcPct val="100000"/>
              </a:lnSpc>
            </a:pPr>
            <a:r>
              <a:rPr sz="3100" b="0" i="0">
                <a:solidFill>
                  <a:srgbClr val="F7F2E8"/>
                </a:solidFill>
                <a:latin typeface="Palatino Linotype"/>
              </a:rPr>
              <a:t>Config termina con Micrófono</a:t>
            </a:r>
          </a:p>
        </p:txBody>
      </p:sp>
      <p:sp>
        <p:nvSpPr>
          <p:cNvPr id="6" name="Rectangle 5"/>
          <p:cNvSpPr/>
          <p:nvPr/>
        </p:nvSpPr>
        <p:spPr>
          <a:xfrm>
            <a:off x="566928" y="1344168"/>
            <a:ext cx="822960" cy="36576"/>
          </a:xfrm>
          <a:prstGeom prst="rect">
            <a:avLst/>
          </a:prstGeom>
          <a:solidFill>
            <a:srgbClr val="E2B4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566928" y="1444752"/>
            <a:ext cx="10692079" cy="585216"/>
          </a:xfrm>
          <a:prstGeom prst="rect">
            <a:avLst/>
          </a:prstGeom>
          <a:noFill/>
        </p:spPr>
        <p:txBody>
          <a:bodyPr wrap="square" lIns="45720" rIns="45720" tIns="27432" bIns="27432" anchor="t">
            <a:noAutofit/>
          </a:bodyPr>
          <a:lstStyle/>
          <a:p>
            <a:pPr algn="l">
              <a:lnSpc>
                <a:spcPct val="100000"/>
              </a:lnSpc>
            </a:pPr>
            <a:r>
              <a:rPr sz="1450" b="0" i="0">
                <a:solidFill>
                  <a:srgbClr val="A7B2B0"/>
                </a:solidFill>
                <a:latin typeface="Segoe UI Semilight"/>
              </a:rPr>
              <a:t>Elige Enviar automáticamente o un borrador editable, con el mismo estilo de diálogo que el resto de Tlamatini.</a:t>
            </a:r>
          </a:p>
        </p:txBody>
      </p:sp>
      <p:sp>
        <p:nvSpPr>
          <p:cNvPr id="8" name="Rounded Rectangle 7"/>
          <p:cNvSpPr/>
          <p:nvPr/>
        </p:nvSpPr>
        <p:spPr>
          <a:xfrm>
            <a:off x="566928" y="2084831"/>
            <a:ext cx="5428335" cy="1956816"/>
          </a:xfrm>
          <a:prstGeom prst="roundRect">
            <a:avLst>
              <a:gd name="adj" fmla="val 5607"/>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ectangle 8"/>
          <p:cNvSpPr/>
          <p:nvPr/>
        </p:nvSpPr>
        <p:spPr>
          <a:xfrm>
            <a:off x="731520" y="2212848"/>
            <a:ext cx="502920" cy="45720"/>
          </a:xfrm>
          <a:prstGeom prst="rect">
            <a:avLst/>
          </a:prstGeom>
          <a:solidFill>
            <a:srgbClr val="3BBE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694944" y="2304287"/>
            <a:ext cx="5172303" cy="353568"/>
          </a:xfrm>
          <a:prstGeom prst="rect">
            <a:avLst/>
          </a:prstGeom>
          <a:noFill/>
        </p:spPr>
        <p:txBody>
          <a:bodyPr wrap="square" lIns="45720" rIns="45720" tIns="27432" bIns="27432" anchor="t">
            <a:noAutofit/>
          </a:bodyPr>
          <a:lstStyle/>
          <a:p>
            <a:pPr algn="l">
              <a:lnSpc>
                <a:spcPct val="100000"/>
              </a:lnSpc>
            </a:pPr>
            <a:r>
              <a:rPr sz="1600" b="0" i="0">
                <a:solidFill>
                  <a:srgbClr val="F7F2E8"/>
                </a:solidFill>
                <a:latin typeface="Segoe UI Semibold"/>
              </a:rPr>
              <a:t>Input</a:t>
            </a:r>
          </a:p>
        </p:txBody>
      </p:sp>
      <p:sp>
        <p:nvSpPr>
          <p:cNvPr id="11" name="TextBox 10"/>
          <p:cNvSpPr txBox="1"/>
          <p:nvPr/>
        </p:nvSpPr>
        <p:spPr>
          <a:xfrm>
            <a:off x="694944" y="2657855"/>
            <a:ext cx="5172303" cy="1292352"/>
          </a:xfrm>
          <a:prstGeom prst="rect">
            <a:avLst/>
          </a:prstGeom>
          <a:noFill/>
        </p:spPr>
        <p:txBody>
          <a:bodyPr wrap="square" lIns="45720" rIns="45720" tIns="27432" bIns="27432" anchor="t">
            <a:noAutofit/>
          </a:bodyPr>
          <a:lstStyle/>
          <a:p>
            <a:pPr algn="l">
              <a:lnSpc>
                <a:spcPct val="100000"/>
              </a:lnSpc>
            </a:pPr>
            <a:r>
              <a:rPr sz="1300" b="0" i="0">
                <a:solidFill>
                  <a:srgbClr val="A7B2B0"/>
                </a:solidFill>
                <a:latin typeface="Segoe UI"/>
              </a:rPr>
              <a:t>Dispositivo del host configurado/predeterminado/listado, actualizar y ganancia por software de 0 a 300%.</a:t>
            </a:r>
          </a:p>
        </p:txBody>
      </p:sp>
      <p:sp>
        <p:nvSpPr>
          <p:cNvPr id="12" name="Rounded Rectangle 11"/>
          <p:cNvSpPr/>
          <p:nvPr/>
        </p:nvSpPr>
        <p:spPr>
          <a:xfrm>
            <a:off x="6196431" y="2084831"/>
            <a:ext cx="5428335" cy="1956816"/>
          </a:xfrm>
          <a:prstGeom prst="roundRect">
            <a:avLst>
              <a:gd name="adj" fmla="val 5607"/>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6361023" y="2212848"/>
            <a:ext cx="502920" cy="45720"/>
          </a:xfrm>
          <a:prstGeom prst="rect">
            <a:avLst/>
          </a:prstGeom>
          <a:solidFill>
            <a:srgbClr val="C984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324447" y="2304287"/>
            <a:ext cx="5172303" cy="353568"/>
          </a:xfrm>
          <a:prstGeom prst="rect">
            <a:avLst/>
          </a:prstGeom>
          <a:noFill/>
        </p:spPr>
        <p:txBody>
          <a:bodyPr wrap="square" lIns="45720" rIns="45720" tIns="27432" bIns="27432" anchor="t">
            <a:noAutofit/>
          </a:bodyPr>
          <a:lstStyle/>
          <a:p>
            <a:pPr algn="l">
              <a:lnSpc>
                <a:spcPct val="100000"/>
              </a:lnSpc>
            </a:pPr>
            <a:r>
              <a:rPr sz="1600" b="0" i="0">
                <a:solidFill>
                  <a:srgbClr val="F7F2E8"/>
                </a:solidFill>
                <a:latin typeface="Segoe UI Semibold"/>
              </a:rPr>
              <a:t>Compuerta de sonido</a:t>
            </a:r>
          </a:p>
        </p:txBody>
      </p:sp>
      <p:sp>
        <p:nvSpPr>
          <p:cNvPr id="15" name="TextBox 14"/>
          <p:cNvSpPr txBox="1"/>
          <p:nvPr/>
        </p:nvSpPr>
        <p:spPr>
          <a:xfrm>
            <a:off x="6324447" y="2657855"/>
            <a:ext cx="5172303" cy="1292352"/>
          </a:xfrm>
          <a:prstGeom prst="rect">
            <a:avLst/>
          </a:prstGeom>
          <a:noFill/>
        </p:spPr>
        <p:txBody>
          <a:bodyPr wrap="square" lIns="45720" rIns="45720" tIns="27432" bIns="27432" anchor="t">
            <a:noAutofit/>
          </a:bodyPr>
          <a:lstStyle/>
          <a:p>
            <a:pPr algn="l">
              <a:lnSpc>
                <a:spcPct val="100000"/>
              </a:lnSpc>
            </a:pPr>
            <a:r>
              <a:rPr sz="1300" b="0" i="0">
                <a:solidFill>
                  <a:srgbClr val="A7B2B0"/>
                </a:solidFill>
                <a:latin typeface="Segoe UI"/>
              </a:rPr>
              <a:t>Silencio de 0.3-20 segundos, tope de 5-600 segundos, sensibilidad adaptativa o manual.</a:t>
            </a:r>
          </a:p>
        </p:txBody>
      </p:sp>
      <p:sp>
        <p:nvSpPr>
          <p:cNvPr id="16" name="Rounded Rectangle 15"/>
          <p:cNvSpPr/>
          <p:nvPr/>
        </p:nvSpPr>
        <p:spPr>
          <a:xfrm>
            <a:off x="566928" y="4242816"/>
            <a:ext cx="5428335" cy="1956816"/>
          </a:xfrm>
          <a:prstGeom prst="roundRect">
            <a:avLst>
              <a:gd name="adj" fmla="val 5607"/>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31520" y="4370832"/>
            <a:ext cx="502920" cy="45720"/>
          </a:xfrm>
          <a:prstGeom prst="rect">
            <a:avLst/>
          </a:prstGeom>
          <a:solidFill>
            <a:srgbClr val="E2B4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694944" y="4462272"/>
            <a:ext cx="5172303" cy="353568"/>
          </a:xfrm>
          <a:prstGeom prst="rect">
            <a:avLst/>
          </a:prstGeom>
          <a:noFill/>
        </p:spPr>
        <p:txBody>
          <a:bodyPr wrap="square" lIns="45720" rIns="45720" tIns="27432" bIns="27432" anchor="t">
            <a:noAutofit/>
          </a:bodyPr>
          <a:lstStyle/>
          <a:p>
            <a:pPr algn="l">
              <a:lnSpc>
                <a:spcPct val="100000"/>
              </a:lnSpc>
            </a:pPr>
            <a:r>
              <a:rPr sz="1600" b="0" i="0">
                <a:solidFill>
                  <a:srgbClr val="F7F2E8"/>
                </a:solidFill>
                <a:latin typeface="Segoe UI Semibold"/>
              </a:rPr>
              <a:t>Reconocimiento</a:t>
            </a:r>
          </a:p>
        </p:txBody>
      </p:sp>
      <p:sp>
        <p:nvSpPr>
          <p:cNvPr id="19" name="TextBox 18"/>
          <p:cNvSpPr txBox="1"/>
          <p:nvPr/>
        </p:nvSpPr>
        <p:spPr>
          <a:xfrm>
            <a:off x="694944" y="4815840"/>
            <a:ext cx="5172303" cy="1292352"/>
          </a:xfrm>
          <a:prstGeom prst="rect">
            <a:avLst/>
          </a:prstGeom>
          <a:noFill/>
        </p:spPr>
        <p:txBody>
          <a:bodyPr wrap="square" lIns="45720" rIns="45720" tIns="27432" bIns="27432" anchor="t">
            <a:noAutofit/>
          </a:bodyPr>
          <a:lstStyle/>
          <a:p>
            <a:pPr algn="l">
              <a:lnSpc>
                <a:spcPct val="100000"/>
              </a:lnSpc>
            </a:pPr>
            <a:r>
              <a:rPr sz="1300" b="0" i="0">
                <a:solidFill>
                  <a:srgbClr val="A7B2B0"/>
                </a:solidFill>
                <a:latin typeface="Segoe UI"/>
              </a:rPr>
              <a:t>Idioma, traducción al inglés, tasa/canales de captura, beam size local y VAD.</a:t>
            </a:r>
          </a:p>
        </p:txBody>
      </p:sp>
      <p:sp>
        <p:nvSpPr>
          <p:cNvPr id="20" name="Rounded Rectangle 19"/>
          <p:cNvSpPr/>
          <p:nvPr/>
        </p:nvSpPr>
        <p:spPr>
          <a:xfrm>
            <a:off x="6196431" y="4242816"/>
            <a:ext cx="5428335" cy="1956816"/>
          </a:xfrm>
          <a:prstGeom prst="roundRect">
            <a:avLst>
              <a:gd name="adj" fmla="val 5607"/>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ectangle 20"/>
          <p:cNvSpPr/>
          <p:nvPr/>
        </p:nvSpPr>
        <p:spPr>
          <a:xfrm>
            <a:off x="6361023" y="4370832"/>
            <a:ext cx="502920" cy="45720"/>
          </a:xfrm>
          <a:prstGeom prst="rect">
            <a:avLst/>
          </a:prstGeom>
          <a:solidFill>
            <a:srgbClr val="46D2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6324447" y="4462272"/>
            <a:ext cx="5172303" cy="353568"/>
          </a:xfrm>
          <a:prstGeom prst="rect">
            <a:avLst/>
          </a:prstGeom>
          <a:noFill/>
        </p:spPr>
        <p:txBody>
          <a:bodyPr wrap="square" lIns="45720" rIns="45720" tIns="27432" bIns="27432" anchor="t">
            <a:noAutofit/>
          </a:bodyPr>
          <a:lstStyle/>
          <a:p>
            <a:pPr algn="l">
              <a:lnSpc>
                <a:spcPct val="100000"/>
              </a:lnSpc>
            </a:pPr>
            <a:r>
              <a:rPr sz="1600" b="0" i="0">
                <a:solidFill>
                  <a:srgbClr val="F7F2E8"/>
                </a:solidFill>
                <a:latin typeface="Segoe UI Semibold"/>
              </a:rPr>
              <a:t>Barandales</a:t>
            </a:r>
          </a:p>
        </p:txBody>
      </p:sp>
      <p:sp>
        <p:nvSpPr>
          <p:cNvPr id="23" name="TextBox 22"/>
          <p:cNvSpPr txBox="1"/>
          <p:nvPr/>
        </p:nvSpPr>
        <p:spPr>
          <a:xfrm>
            <a:off x="6324447" y="4815840"/>
            <a:ext cx="5172303" cy="1292352"/>
          </a:xfrm>
          <a:prstGeom prst="rect">
            <a:avLst/>
          </a:prstGeom>
          <a:noFill/>
        </p:spPr>
        <p:txBody>
          <a:bodyPr wrap="square" lIns="45720" rIns="45720" tIns="27432" bIns="27432" anchor="t">
            <a:noAutofit/>
          </a:bodyPr>
          <a:lstStyle/>
          <a:p>
            <a:pPr algn="l">
              <a:lnSpc>
                <a:spcPct val="100000"/>
              </a:lnSpc>
            </a:pPr>
            <a:r>
              <a:rPr sz="1300" b="0" i="0">
                <a:solidFill>
                  <a:srgbClr val="A7B2B0"/>
                </a:solidFill>
                <a:latin typeface="Segoe UI"/>
              </a:rPr>
              <a:t>Valida la configuración antes de capturar; los dispositivos guardados que se quitaron o son ambiguos no pueden cambiar las entradas en silencio.</a:t>
            </a:r>
          </a:p>
        </p:txBody>
      </p:sp>
      <p:cxnSp>
        <p:nvCxnSpPr>
          <p:cNvPr id="24" name="Connector 23"/>
          <p:cNvCxnSpPr/>
          <p:nvPr/>
        </p:nvCxnSpPr>
        <p:spPr>
          <a:xfrm>
            <a:off x="566928" y="6373368"/>
            <a:ext cx="11057839" cy="0"/>
          </a:xfrm>
          <a:prstGeom prst="line">
            <a:avLst/>
          </a:prstGeom>
          <a:ln w="7620">
            <a:solidFill>
              <a:srgbClr val="2A3A40"/>
            </a:solidFill>
          </a:ln>
        </p:spPr>
        <p:style>
          <a:lnRef idx="2">
            <a:schemeClr val="accent1"/>
          </a:lnRef>
          <a:fillRef idx="0">
            <a:schemeClr val="accent1"/>
          </a:fillRef>
          <a:effectRef idx="1">
            <a:schemeClr val="accent1"/>
          </a:effectRef>
          <a:fontRef idx="minor">
            <a:schemeClr val="tx1"/>
          </a:fontRef>
        </p:style>
      </p:cxnSp>
      <p:sp>
        <p:nvSpPr>
          <p:cNvPr id="25" name="TextBox 24"/>
          <p:cNvSpPr txBox="1"/>
          <p:nvPr/>
        </p:nvSpPr>
        <p:spPr>
          <a:xfrm>
            <a:off x="566928" y="6419088"/>
            <a:ext cx="6858000" cy="274320"/>
          </a:xfrm>
          <a:prstGeom prst="rect">
            <a:avLst/>
          </a:prstGeom>
          <a:noFill/>
        </p:spPr>
        <p:txBody>
          <a:bodyPr wrap="square" lIns="45720" rIns="45720" tIns="27432" bIns="27432" anchor="t">
            <a:noAutofit/>
          </a:bodyPr>
          <a:lstStyle/>
          <a:p>
            <a:pPr algn="l">
              <a:lnSpc>
                <a:spcPct val="100000"/>
              </a:lnSpc>
            </a:pPr>
            <a:r>
              <a:rPr sz="850" b="0" i="0" spc="120">
                <a:solidFill>
                  <a:srgbClr val="A7B2B0"/>
                </a:solidFill>
                <a:latin typeface="Segoe UI Semibold"/>
              </a:rPr>
              <a:t>TLAMATINI  ·  III · DÓNDE TRABAJAS CON ELLA</a:t>
            </a:r>
          </a:p>
        </p:txBody>
      </p:sp>
      <p:sp>
        <p:nvSpPr>
          <p:cNvPr id="26" name="TextBox 25"/>
          <p:cNvSpPr txBox="1"/>
          <p:nvPr/>
        </p:nvSpPr>
        <p:spPr>
          <a:xfrm>
            <a:off x="8698687" y="6419088"/>
            <a:ext cx="2926080" cy="274320"/>
          </a:xfrm>
          <a:prstGeom prst="rect">
            <a:avLst/>
          </a:prstGeom>
          <a:noFill/>
        </p:spPr>
        <p:txBody>
          <a:bodyPr wrap="square" lIns="45720" rIns="45720" tIns="27432" bIns="27432" anchor="t">
            <a:noAutofit/>
          </a:bodyPr>
          <a:lstStyle/>
          <a:p>
            <a:pPr algn="r">
              <a:lnSpc>
                <a:spcPct val="100000"/>
              </a:lnSpc>
            </a:pPr>
            <a:r>
              <a:rPr sz="850" b="0" i="0" spc="100">
                <a:solidFill>
                  <a:srgbClr val="A7B2B0"/>
                </a:solidFill>
                <a:latin typeface="Segoe UI Semibold"/>
              </a:rPr>
              <a:t>v1.91.1   ·   39</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content.png"/>
          <p:cNvPicPr>
            <a:picLocks noChangeAspect="1"/>
          </p:cNvPicPr>
          <p:nvPr/>
        </p:nvPicPr>
        <p:blipFill>
          <a:blip r:embed="rId2"/>
          <a:stretch>
            <a:fillRect/>
          </a:stretch>
        </p:blipFill>
        <p:spPr>
          <a:xfrm>
            <a:off x="0" y="0"/>
            <a:ext cx="12191695" cy="6858000"/>
          </a:xfrm>
          <a:prstGeom prst="rect">
            <a:avLst/>
          </a:prstGeom>
        </p:spPr>
      </p:pic>
      <p:sp>
        <p:nvSpPr>
          <p:cNvPr id="3" name="Diamond 2"/>
          <p:cNvSpPr/>
          <p:nvPr/>
        </p:nvSpPr>
        <p:spPr>
          <a:xfrm>
            <a:off x="566928" y="457200"/>
            <a:ext cx="100584" cy="100584"/>
          </a:xfrm>
          <a:prstGeom prst="diamond">
            <a:avLst/>
          </a:prstGeom>
          <a:solidFill>
            <a:srgbClr val="E2B4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49808" y="365760"/>
            <a:ext cx="8229600" cy="292608"/>
          </a:xfrm>
          <a:prstGeom prst="rect">
            <a:avLst/>
          </a:prstGeom>
          <a:noFill/>
        </p:spPr>
        <p:txBody>
          <a:bodyPr wrap="square" lIns="45720" rIns="45720" tIns="27432" bIns="27432" anchor="t">
            <a:noAutofit/>
          </a:bodyPr>
          <a:lstStyle/>
          <a:p>
            <a:pPr algn="l">
              <a:lnSpc>
                <a:spcPct val="100000"/>
              </a:lnSpc>
            </a:pPr>
            <a:r>
              <a:rPr sz="1100" b="0" i="0" spc="240">
                <a:solidFill>
                  <a:srgbClr val="C98457"/>
                </a:solidFill>
                <a:latin typeface="Segoe UI Semibold"/>
              </a:rPr>
              <a:t>SERVICIO INTERNO</a:t>
            </a:r>
          </a:p>
        </p:txBody>
      </p:sp>
      <p:sp>
        <p:nvSpPr>
          <p:cNvPr id="5" name="TextBox 4"/>
          <p:cNvSpPr txBox="1"/>
          <p:nvPr/>
        </p:nvSpPr>
        <p:spPr>
          <a:xfrm>
            <a:off x="539496" y="676656"/>
            <a:ext cx="11057839" cy="658368"/>
          </a:xfrm>
          <a:prstGeom prst="rect">
            <a:avLst/>
          </a:prstGeom>
          <a:noFill/>
        </p:spPr>
        <p:txBody>
          <a:bodyPr wrap="square" lIns="45720" rIns="45720" tIns="27432" bIns="27432" anchor="t">
            <a:noAutofit/>
          </a:bodyPr>
          <a:lstStyle/>
          <a:p>
            <a:pPr algn="l">
              <a:lnSpc>
                <a:spcPct val="100000"/>
              </a:lnSpc>
            </a:pPr>
            <a:r>
              <a:rPr sz="3100" b="0" i="0">
                <a:solidFill>
                  <a:srgbClr val="F7F2E8"/>
                </a:solidFill>
                <a:latin typeface="Palatino Linotype"/>
              </a:rPr>
              <a:t>Una consola principal, sin ventanas extra</a:t>
            </a:r>
          </a:p>
        </p:txBody>
      </p:sp>
      <p:sp>
        <p:nvSpPr>
          <p:cNvPr id="6" name="Rectangle 5"/>
          <p:cNvSpPr/>
          <p:nvPr/>
        </p:nvSpPr>
        <p:spPr>
          <a:xfrm>
            <a:off x="566928" y="1344168"/>
            <a:ext cx="822960" cy="36576"/>
          </a:xfrm>
          <a:prstGeom prst="rect">
            <a:avLst/>
          </a:prstGeom>
          <a:solidFill>
            <a:srgbClr val="E2B4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566928" y="1444752"/>
            <a:ext cx="10692079" cy="585216"/>
          </a:xfrm>
          <a:prstGeom prst="rect">
            <a:avLst/>
          </a:prstGeom>
          <a:noFill/>
        </p:spPr>
        <p:txBody>
          <a:bodyPr wrap="square" lIns="45720" rIns="45720" tIns="27432" bIns="27432" anchor="t">
            <a:noAutofit/>
          </a:bodyPr>
          <a:lstStyle/>
          <a:p>
            <a:pPr algn="l">
              <a:lnSpc>
                <a:spcPct val="100000"/>
              </a:lnSpc>
            </a:pPr>
            <a:r>
              <a:rPr sz="1450" b="0" i="0">
                <a:solidFill>
                  <a:srgbClr val="A7B2B0"/>
                </a:solidFill>
                <a:latin typeface="Segoe UI Semilight"/>
              </a:rPr>
              <a:t>Los requisitos de visibilidad para desarrolladores no se convierten en ventanas adicionales del producto.</a:t>
            </a:r>
          </a:p>
        </p:txBody>
      </p:sp>
      <p:sp>
        <p:nvSpPr>
          <p:cNvPr id="8" name="Rounded Rectangle 7"/>
          <p:cNvSpPr/>
          <p:nvPr/>
        </p:nvSpPr>
        <p:spPr>
          <a:xfrm>
            <a:off x="566928" y="2084831"/>
            <a:ext cx="5428335" cy="1956816"/>
          </a:xfrm>
          <a:prstGeom prst="roundRect">
            <a:avLst>
              <a:gd name="adj" fmla="val 5607"/>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ectangle 8"/>
          <p:cNvSpPr/>
          <p:nvPr/>
        </p:nvSpPr>
        <p:spPr>
          <a:xfrm>
            <a:off x="731520" y="2212848"/>
            <a:ext cx="502920" cy="45720"/>
          </a:xfrm>
          <a:prstGeom prst="rect">
            <a:avLst/>
          </a:prstGeom>
          <a:solidFill>
            <a:srgbClr val="3BBE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694944" y="2304287"/>
            <a:ext cx="5172303" cy="353568"/>
          </a:xfrm>
          <a:prstGeom prst="rect">
            <a:avLst/>
          </a:prstGeom>
          <a:noFill/>
        </p:spPr>
        <p:txBody>
          <a:bodyPr wrap="square" lIns="45720" rIns="45720" tIns="27432" bIns="27432" anchor="t">
            <a:noAutofit/>
          </a:bodyPr>
          <a:lstStyle/>
          <a:p>
            <a:pPr algn="l">
              <a:lnSpc>
                <a:spcPct val="100000"/>
              </a:lnSpc>
            </a:pPr>
            <a:r>
              <a:rPr sz="1600" b="0" i="0">
                <a:solidFill>
                  <a:srgbClr val="F7F2E8"/>
                </a:solidFill>
                <a:latin typeface="Segoe UI Semibold"/>
              </a:rPr>
              <a:t>Dueño de la UI</a:t>
            </a:r>
          </a:p>
        </p:txBody>
      </p:sp>
      <p:sp>
        <p:nvSpPr>
          <p:cNvPr id="11" name="TextBox 10"/>
          <p:cNvSpPr txBox="1"/>
          <p:nvPr/>
        </p:nvSpPr>
        <p:spPr>
          <a:xfrm>
            <a:off x="694944" y="2657855"/>
            <a:ext cx="5172303" cy="1292352"/>
          </a:xfrm>
          <a:prstGeom prst="rect">
            <a:avLst/>
          </a:prstGeom>
          <a:noFill/>
        </p:spPr>
        <p:txBody>
          <a:bodyPr wrap="square" lIns="45720" rIns="45720" tIns="27432" bIns="27432" anchor="t">
            <a:noAutofit/>
          </a:bodyPr>
          <a:lstStyle/>
          <a:p>
            <a:pPr algn="l">
              <a:lnSpc>
                <a:spcPct val="100000"/>
              </a:lnSpc>
            </a:pPr>
            <a:r>
              <a:rPr sz="1300" b="0" i="0">
                <a:solidFill>
                  <a:srgbClr val="A7B2B0"/>
                </a:solidFill>
                <a:latin typeface="Segoe UI"/>
              </a:rPr>
              <a:t>El composer muestra la grabación y la transcripción; sin segunda consola.</a:t>
            </a:r>
          </a:p>
        </p:txBody>
      </p:sp>
      <p:sp>
        <p:nvSpPr>
          <p:cNvPr id="12" name="Rounded Rectangle 11"/>
          <p:cNvSpPr/>
          <p:nvPr/>
        </p:nvSpPr>
        <p:spPr>
          <a:xfrm>
            <a:off x="6196431" y="2084831"/>
            <a:ext cx="5428335" cy="1956816"/>
          </a:xfrm>
          <a:prstGeom prst="roundRect">
            <a:avLst>
              <a:gd name="adj" fmla="val 5607"/>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6361023" y="2212848"/>
            <a:ext cx="502920" cy="45720"/>
          </a:xfrm>
          <a:prstGeom prst="rect">
            <a:avLst/>
          </a:prstGeom>
          <a:solidFill>
            <a:srgbClr val="C984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324447" y="2304287"/>
            <a:ext cx="5172303" cy="353568"/>
          </a:xfrm>
          <a:prstGeom prst="rect">
            <a:avLst/>
          </a:prstGeom>
          <a:noFill/>
        </p:spPr>
        <p:txBody>
          <a:bodyPr wrap="square" lIns="45720" rIns="45720" tIns="27432" bIns="27432" anchor="t">
            <a:noAutofit/>
          </a:bodyPr>
          <a:lstStyle/>
          <a:p>
            <a:pPr algn="l">
              <a:lnSpc>
                <a:spcPct val="100000"/>
              </a:lnSpc>
            </a:pPr>
            <a:r>
              <a:rPr sz="1600" b="0" i="0">
                <a:solidFill>
                  <a:srgbClr val="F7F2E8"/>
                </a:solidFill>
                <a:latin typeface="Segoe UI Semibold"/>
              </a:rPr>
              <a:t>Configuración</a:t>
            </a:r>
          </a:p>
        </p:txBody>
      </p:sp>
      <p:sp>
        <p:nvSpPr>
          <p:cNvPr id="15" name="TextBox 14"/>
          <p:cNvSpPr txBox="1"/>
          <p:nvPr/>
        </p:nvSpPr>
        <p:spPr>
          <a:xfrm>
            <a:off x="6324447" y="2657855"/>
            <a:ext cx="5172303" cy="1292352"/>
          </a:xfrm>
          <a:prstGeom prst="rect">
            <a:avLst/>
          </a:prstGeom>
          <a:noFill/>
        </p:spPr>
        <p:txBody>
          <a:bodyPr wrap="square" lIns="45720" rIns="45720" tIns="27432" bIns="27432" anchor="t">
            <a:noAutofit/>
          </a:bodyPr>
          <a:lstStyle/>
          <a:p>
            <a:pPr algn="l">
              <a:lnSpc>
                <a:spcPct val="100000"/>
              </a:lnSpc>
            </a:pPr>
            <a:r>
              <a:rPr sz="1300" b="0" i="0">
                <a:solidFill>
                  <a:srgbClr val="A7B2B0"/>
                </a:solidFill>
                <a:latin typeface="Segoe UI"/>
              </a:rPr>
              <a:t>Herencia de modelo/plantilla más overrides de captura de Micrófono validados por grabación.</a:t>
            </a:r>
          </a:p>
        </p:txBody>
      </p:sp>
      <p:sp>
        <p:nvSpPr>
          <p:cNvPr id="16" name="Rounded Rectangle 15"/>
          <p:cNvSpPr/>
          <p:nvPr/>
        </p:nvSpPr>
        <p:spPr>
          <a:xfrm>
            <a:off x="566928" y="4242816"/>
            <a:ext cx="5428335" cy="1956816"/>
          </a:xfrm>
          <a:prstGeom prst="roundRect">
            <a:avLst>
              <a:gd name="adj" fmla="val 5607"/>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31520" y="4370832"/>
            <a:ext cx="502920" cy="45720"/>
          </a:xfrm>
          <a:prstGeom prst="rect">
            <a:avLst/>
          </a:prstGeom>
          <a:solidFill>
            <a:srgbClr val="E2B4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694944" y="4462272"/>
            <a:ext cx="5172303" cy="353568"/>
          </a:xfrm>
          <a:prstGeom prst="rect">
            <a:avLst/>
          </a:prstGeom>
          <a:noFill/>
        </p:spPr>
        <p:txBody>
          <a:bodyPr wrap="square" lIns="45720" rIns="45720" tIns="27432" bIns="27432" anchor="t">
            <a:noAutofit/>
          </a:bodyPr>
          <a:lstStyle/>
          <a:p>
            <a:pPr algn="l">
              <a:lnSpc>
                <a:spcPct val="100000"/>
              </a:lnSpc>
            </a:pPr>
            <a:r>
              <a:rPr sz="1600" b="0" i="0">
                <a:solidFill>
                  <a:srgbClr val="F7F2E8"/>
                </a:solidFill>
                <a:latin typeface="Segoe UI Semibold"/>
              </a:rPr>
              <a:t>Frontera</a:t>
            </a:r>
          </a:p>
        </p:txBody>
      </p:sp>
      <p:sp>
        <p:nvSpPr>
          <p:cNvPr id="19" name="TextBox 18"/>
          <p:cNvSpPr txBox="1"/>
          <p:nvPr/>
        </p:nvSpPr>
        <p:spPr>
          <a:xfrm>
            <a:off x="694944" y="4815840"/>
            <a:ext cx="5172303" cy="1292352"/>
          </a:xfrm>
          <a:prstGeom prst="rect">
            <a:avLst/>
          </a:prstGeom>
          <a:noFill/>
        </p:spPr>
        <p:txBody>
          <a:bodyPr wrap="square" lIns="45720" rIns="45720" tIns="27432" bIns="27432" anchor="t">
            <a:noAutofit/>
          </a:bodyPr>
          <a:lstStyle/>
          <a:p>
            <a:pPr algn="l">
              <a:lnSpc>
                <a:spcPct val="100000"/>
              </a:lnSpc>
            </a:pPr>
            <a:r>
              <a:rPr sz="1300" b="0" i="0">
                <a:solidFill>
                  <a:srgbClr val="A7B2B0"/>
                </a:solidFill>
                <a:latin typeface="Segoe UI"/>
              </a:rPr>
              <a:t>El botón directo es input, no un tool wrapped ni una fila del Exec Report.</a:t>
            </a:r>
          </a:p>
        </p:txBody>
      </p:sp>
      <p:sp>
        <p:nvSpPr>
          <p:cNvPr id="20" name="Rounded Rectangle 19"/>
          <p:cNvSpPr/>
          <p:nvPr/>
        </p:nvSpPr>
        <p:spPr>
          <a:xfrm>
            <a:off x="6196431" y="4242816"/>
            <a:ext cx="5428335" cy="1956816"/>
          </a:xfrm>
          <a:prstGeom prst="roundRect">
            <a:avLst>
              <a:gd name="adj" fmla="val 5607"/>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ectangle 20"/>
          <p:cNvSpPr/>
          <p:nvPr/>
        </p:nvSpPr>
        <p:spPr>
          <a:xfrm>
            <a:off x="6361023" y="4370832"/>
            <a:ext cx="502920" cy="45720"/>
          </a:xfrm>
          <a:prstGeom prst="rect">
            <a:avLst/>
          </a:prstGeom>
          <a:solidFill>
            <a:srgbClr val="46D2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6324447" y="4462272"/>
            <a:ext cx="5172303" cy="353568"/>
          </a:xfrm>
          <a:prstGeom prst="rect">
            <a:avLst/>
          </a:prstGeom>
          <a:noFill/>
        </p:spPr>
        <p:txBody>
          <a:bodyPr wrap="square" lIns="45720" rIns="45720" tIns="27432" bIns="27432" anchor="t">
            <a:noAutofit/>
          </a:bodyPr>
          <a:lstStyle/>
          <a:p>
            <a:pPr algn="l">
              <a:lnSpc>
                <a:spcPct val="100000"/>
              </a:lnSpc>
            </a:pPr>
            <a:r>
              <a:rPr sz="1600" b="0" i="0">
                <a:solidFill>
                  <a:srgbClr val="F7F2E8"/>
                </a:solidFill>
                <a:latin typeface="Segoe UI Semibold"/>
              </a:rPr>
              <a:t>Release</a:t>
            </a:r>
          </a:p>
        </p:txBody>
      </p:sp>
      <p:sp>
        <p:nvSpPr>
          <p:cNvPr id="23" name="TextBox 22"/>
          <p:cNvSpPr txBox="1"/>
          <p:nvPr/>
        </p:nvSpPr>
        <p:spPr>
          <a:xfrm>
            <a:off x="6324447" y="4815840"/>
            <a:ext cx="5172303" cy="1292352"/>
          </a:xfrm>
          <a:prstGeom prst="rect">
            <a:avLst/>
          </a:prstGeom>
          <a:noFill/>
        </p:spPr>
        <p:txBody>
          <a:bodyPr wrap="square" lIns="45720" rIns="45720" tIns="27432" bIns="27432" anchor="t">
            <a:noAutofit/>
          </a:bodyPr>
          <a:lstStyle/>
          <a:p>
            <a:pPr algn="l">
              <a:lnSpc>
                <a:spcPct val="100000"/>
              </a:lnSpc>
            </a:pPr>
            <a:r>
              <a:rPr sz="1300" b="0" i="0">
                <a:solidFill>
                  <a:srgbClr val="A7B2B0"/>
                </a:solidFill>
                <a:latin typeface="Segoe UI"/>
              </a:rPr>
              <a:t>Incluye los módulos de consumer/runtime/settings, el validador y el worker incluidos, el JS/CSS de Micrófono y la plantilla.</a:t>
            </a:r>
          </a:p>
        </p:txBody>
      </p:sp>
      <p:cxnSp>
        <p:nvCxnSpPr>
          <p:cNvPr id="24" name="Connector 23"/>
          <p:cNvCxnSpPr/>
          <p:nvPr/>
        </p:nvCxnSpPr>
        <p:spPr>
          <a:xfrm>
            <a:off x="566928" y="6373368"/>
            <a:ext cx="11057839" cy="0"/>
          </a:xfrm>
          <a:prstGeom prst="line">
            <a:avLst/>
          </a:prstGeom>
          <a:ln w="7620">
            <a:solidFill>
              <a:srgbClr val="2A3A40"/>
            </a:solidFill>
          </a:ln>
        </p:spPr>
        <p:style>
          <a:lnRef idx="2">
            <a:schemeClr val="accent1"/>
          </a:lnRef>
          <a:fillRef idx="0">
            <a:schemeClr val="accent1"/>
          </a:fillRef>
          <a:effectRef idx="1">
            <a:schemeClr val="accent1"/>
          </a:effectRef>
          <a:fontRef idx="minor">
            <a:schemeClr val="tx1"/>
          </a:fontRef>
        </p:style>
      </p:cxnSp>
      <p:sp>
        <p:nvSpPr>
          <p:cNvPr id="25" name="TextBox 24"/>
          <p:cNvSpPr txBox="1"/>
          <p:nvPr/>
        </p:nvSpPr>
        <p:spPr>
          <a:xfrm>
            <a:off x="566928" y="6419088"/>
            <a:ext cx="6858000" cy="274320"/>
          </a:xfrm>
          <a:prstGeom prst="rect">
            <a:avLst/>
          </a:prstGeom>
          <a:noFill/>
        </p:spPr>
        <p:txBody>
          <a:bodyPr wrap="square" lIns="45720" rIns="45720" tIns="27432" bIns="27432" anchor="t">
            <a:noAutofit/>
          </a:bodyPr>
          <a:lstStyle/>
          <a:p>
            <a:pPr algn="l">
              <a:lnSpc>
                <a:spcPct val="100000"/>
              </a:lnSpc>
            </a:pPr>
            <a:r>
              <a:rPr sz="850" b="0" i="0" spc="120">
                <a:solidFill>
                  <a:srgbClr val="A7B2B0"/>
                </a:solidFill>
                <a:latin typeface="Segoe UI Semibold"/>
              </a:rPr>
              <a:t>TLAMATINI  ·  III · DÓNDE TRABAJAS CON ELLA</a:t>
            </a:r>
          </a:p>
        </p:txBody>
      </p:sp>
      <p:sp>
        <p:nvSpPr>
          <p:cNvPr id="26" name="TextBox 25"/>
          <p:cNvSpPr txBox="1"/>
          <p:nvPr/>
        </p:nvSpPr>
        <p:spPr>
          <a:xfrm>
            <a:off x="8698687" y="6419088"/>
            <a:ext cx="2926080" cy="274320"/>
          </a:xfrm>
          <a:prstGeom prst="rect">
            <a:avLst/>
          </a:prstGeom>
          <a:noFill/>
        </p:spPr>
        <p:txBody>
          <a:bodyPr wrap="square" lIns="45720" rIns="45720" tIns="27432" bIns="27432" anchor="t">
            <a:noAutofit/>
          </a:bodyPr>
          <a:lstStyle/>
          <a:p>
            <a:pPr algn="r">
              <a:lnSpc>
                <a:spcPct val="100000"/>
              </a:lnSpc>
            </a:pPr>
            <a:r>
              <a:rPr sz="850" b="0" i="0" spc="100">
                <a:solidFill>
                  <a:srgbClr val="A7B2B0"/>
                </a:solidFill>
                <a:latin typeface="Segoe UI Semibold"/>
              </a:rPr>
              <a:t>v1.91.1   ·   40</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content.png"/>
          <p:cNvPicPr>
            <a:picLocks noChangeAspect="1"/>
          </p:cNvPicPr>
          <p:nvPr/>
        </p:nvPicPr>
        <p:blipFill>
          <a:blip r:embed="rId2"/>
          <a:stretch>
            <a:fillRect/>
          </a:stretch>
        </p:blipFill>
        <p:spPr>
          <a:xfrm>
            <a:off x="0" y="0"/>
            <a:ext cx="12191695" cy="6858000"/>
          </a:xfrm>
          <a:prstGeom prst="rect">
            <a:avLst/>
          </a:prstGeom>
        </p:spPr>
      </p:pic>
      <p:sp>
        <p:nvSpPr>
          <p:cNvPr id="3" name="Diamond 2"/>
          <p:cNvSpPr/>
          <p:nvPr/>
        </p:nvSpPr>
        <p:spPr>
          <a:xfrm>
            <a:off x="566928" y="457200"/>
            <a:ext cx="100584" cy="100584"/>
          </a:xfrm>
          <a:prstGeom prst="diamond">
            <a:avLst/>
          </a:prstGeom>
          <a:solidFill>
            <a:srgbClr val="E2B4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49808" y="365760"/>
            <a:ext cx="8229600" cy="292608"/>
          </a:xfrm>
          <a:prstGeom prst="rect">
            <a:avLst/>
          </a:prstGeom>
          <a:noFill/>
        </p:spPr>
        <p:txBody>
          <a:bodyPr wrap="square" lIns="45720" rIns="45720" tIns="27432" bIns="27432" anchor="t">
            <a:noAutofit/>
          </a:bodyPr>
          <a:lstStyle/>
          <a:p>
            <a:pPr algn="l">
              <a:lnSpc>
                <a:spcPct val="100000"/>
              </a:lnSpc>
            </a:pPr>
            <a:r>
              <a:rPr sz="1100" b="0" i="0" spc="240">
                <a:solidFill>
                  <a:srgbClr val="C98457"/>
                </a:solidFill>
                <a:latin typeface="Segoe UI Semibold"/>
              </a:rPr>
              <a:t>ALCANCE DE LA VERIFICACIÓN</a:t>
            </a:r>
          </a:p>
        </p:txBody>
      </p:sp>
      <p:sp>
        <p:nvSpPr>
          <p:cNvPr id="5" name="TextBox 4"/>
          <p:cNvSpPr txBox="1"/>
          <p:nvPr/>
        </p:nvSpPr>
        <p:spPr>
          <a:xfrm>
            <a:off x="539496" y="676656"/>
            <a:ext cx="11057839" cy="658368"/>
          </a:xfrm>
          <a:prstGeom prst="rect">
            <a:avLst/>
          </a:prstGeom>
          <a:noFill/>
        </p:spPr>
        <p:txBody>
          <a:bodyPr wrap="square" lIns="45720" rIns="45720" tIns="27432" bIns="27432" anchor="t">
            <a:noAutofit/>
          </a:bodyPr>
          <a:lstStyle/>
          <a:p>
            <a:pPr algn="l">
              <a:lnSpc>
                <a:spcPct val="100000"/>
              </a:lnSpc>
            </a:pPr>
            <a:r>
              <a:rPr sz="3100" b="0" i="0">
                <a:solidFill>
                  <a:srgbClr val="F7F2E8"/>
                </a:solidFill>
                <a:latin typeface="Palatino Linotype"/>
              </a:rPr>
              <a:t>Comportamiento medido del source</a:t>
            </a:r>
          </a:p>
        </p:txBody>
      </p:sp>
      <p:sp>
        <p:nvSpPr>
          <p:cNvPr id="6" name="Rectangle 5"/>
          <p:cNvSpPr/>
          <p:nvPr/>
        </p:nvSpPr>
        <p:spPr>
          <a:xfrm>
            <a:off x="566928" y="1344168"/>
            <a:ext cx="822960" cy="36576"/>
          </a:xfrm>
          <a:prstGeom prst="rect">
            <a:avLst/>
          </a:prstGeom>
          <a:solidFill>
            <a:srgbClr val="E2B4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566928" y="1444752"/>
            <a:ext cx="10692079" cy="585216"/>
          </a:xfrm>
          <a:prstGeom prst="rect">
            <a:avLst/>
          </a:prstGeom>
          <a:noFill/>
        </p:spPr>
        <p:txBody>
          <a:bodyPr wrap="square" lIns="45720" rIns="45720" tIns="27432" bIns="27432" anchor="t">
            <a:noAutofit/>
          </a:bodyPr>
          <a:lstStyle/>
          <a:p>
            <a:pPr algn="l">
              <a:lnSpc>
                <a:spcPct val="100000"/>
              </a:lnSpc>
            </a:pPr>
            <a:r>
              <a:rPr sz="1450" b="0" i="0">
                <a:solidFill>
                  <a:srgbClr val="A7B2B0"/>
                </a:solidFill>
                <a:latin typeface="Segoe UI Semilight"/>
              </a:rPr>
              <a:t>Las revisiones fechadas del source son evidencia, no la afirmación de que un instalador anterior contiene el cambio.</a:t>
            </a:r>
          </a:p>
        </p:txBody>
      </p:sp>
      <p:sp>
        <p:nvSpPr>
          <p:cNvPr id="8" name="Rounded Rectangle 7"/>
          <p:cNvSpPr/>
          <p:nvPr/>
        </p:nvSpPr>
        <p:spPr>
          <a:xfrm>
            <a:off x="566928" y="2084831"/>
            <a:ext cx="5428335" cy="1956816"/>
          </a:xfrm>
          <a:prstGeom prst="roundRect">
            <a:avLst>
              <a:gd name="adj" fmla="val 5607"/>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ectangle 8"/>
          <p:cNvSpPr/>
          <p:nvPr/>
        </p:nvSpPr>
        <p:spPr>
          <a:xfrm>
            <a:off x="731520" y="2212848"/>
            <a:ext cx="502920" cy="45720"/>
          </a:xfrm>
          <a:prstGeom prst="rect">
            <a:avLst/>
          </a:prstGeom>
          <a:solidFill>
            <a:srgbClr val="3BBE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694944" y="2304287"/>
            <a:ext cx="5172303" cy="353568"/>
          </a:xfrm>
          <a:prstGeom prst="rect">
            <a:avLst/>
          </a:prstGeom>
          <a:noFill/>
        </p:spPr>
        <p:txBody>
          <a:bodyPr wrap="square" lIns="45720" rIns="45720" tIns="27432" bIns="27432" anchor="t">
            <a:noAutofit/>
          </a:bodyPr>
          <a:lstStyle/>
          <a:p>
            <a:pPr algn="l">
              <a:lnSpc>
                <a:spcPct val="100000"/>
              </a:lnSpc>
            </a:pPr>
            <a:r>
              <a:rPr sz="1600" b="0" i="0">
                <a:solidFill>
                  <a:srgbClr val="F7F2E8"/>
                </a:solidFill>
                <a:latin typeface="Segoe UI Semibold"/>
              </a:rPr>
              <a:t>Source actual</a:t>
            </a:r>
          </a:p>
        </p:txBody>
      </p:sp>
      <p:sp>
        <p:nvSpPr>
          <p:cNvPr id="11" name="TextBox 10"/>
          <p:cNvSpPr txBox="1"/>
          <p:nvPr/>
        </p:nvSpPr>
        <p:spPr>
          <a:xfrm>
            <a:off x="694944" y="2657855"/>
            <a:ext cx="5172303" cy="1292352"/>
          </a:xfrm>
          <a:prstGeom prst="rect">
            <a:avLst/>
          </a:prstGeom>
          <a:noFill/>
        </p:spPr>
        <p:txBody>
          <a:bodyPr wrap="square" lIns="45720" rIns="45720" tIns="27432" bIns="27432" anchor="t">
            <a:noAutofit/>
          </a:bodyPr>
          <a:lstStyle/>
          <a:p>
            <a:pPr algn="l">
              <a:lnSpc>
                <a:spcPct val="100000"/>
              </a:lnSpc>
            </a:pPr>
            <a:r>
              <a:rPr sz="1300" b="0" i="0">
                <a:solidFill>
                  <a:srgbClr val="A7B2B0"/>
                </a:solidFill>
                <a:latin typeface="Segoe UI"/>
              </a:rPr>
              <a:t>108 regresiones de voz, 42 pruebas de tema y sondeos reales de metadatos/ciclo de vida del worker.</a:t>
            </a:r>
          </a:p>
        </p:txBody>
      </p:sp>
      <p:sp>
        <p:nvSpPr>
          <p:cNvPr id="12" name="Rounded Rectangle 11"/>
          <p:cNvSpPr/>
          <p:nvPr/>
        </p:nvSpPr>
        <p:spPr>
          <a:xfrm>
            <a:off x="6196431" y="2084831"/>
            <a:ext cx="5428335" cy="1956816"/>
          </a:xfrm>
          <a:prstGeom prst="roundRect">
            <a:avLst>
              <a:gd name="adj" fmla="val 5607"/>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6361023" y="2212848"/>
            <a:ext cx="502920" cy="45720"/>
          </a:xfrm>
          <a:prstGeom prst="rect">
            <a:avLst/>
          </a:prstGeom>
          <a:solidFill>
            <a:srgbClr val="C984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324447" y="2304287"/>
            <a:ext cx="5172303" cy="353568"/>
          </a:xfrm>
          <a:prstGeom prst="rect">
            <a:avLst/>
          </a:prstGeom>
          <a:noFill/>
        </p:spPr>
        <p:txBody>
          <a:bodyPr wrap="square" lIns="45720" rIns="45720" tIns="27432" bIns="27432" anchor="t">
            <a:noAutofit/>
          </a:bodyPr>
          <a:lstStyle/>
          <a:p>
            <a:pPr algn="l">
              <a:lnSpc>
                <a:spcPct val="100000"/>
              </a:lnSpc>
            </a:pPr>
            <a:r>
              <a:rPr sz="1600" b="0" i="0">
                <a:solidFill>
                  <a:srgbClr val="F7F2E8"/>
                </a:solidFill>
                <a:latin typeface="Segoe UI Semibold"/>
              </a:rPr>
              <a:t>Evidencia del browser</a:t>
            </a:r>
          </a:p>
        </p:txBody>
      </p:sp>
      <p:sp>
        <p:nvSpPr>
          <p:cNvPr id="15" name="TextBox 14"/>
          <p:cNvSpPr txBox="1"/>
          <p:nvPr/>
        </p:nvSpPr>
        <p:spPr>
          <a:xfrm>
            <a:off x="6324447" y="2657855"/>
            <a:ext cx="5172303" cy="1292352"/>
          </a:xfrm>
          <a:prstGeom prst="rect">
            <a:avLst/>
          </a:prstGeom>
          <a:noFill/>
        </p:spPr>
        <p:txBody>
          <a:bodyPr wrap="square" lIns="45720" rIns="45720" tIns="27432" bIns="27432" anchor="t">
            <a:noAutofit/>
          </a:bodyPr>
          <a:lstStyle/>
          <a:p>
            <a:pPr algn="l">
              <a:lnSpc>
                <a:spcPct val="100000"/>
              </a:lnSpc>
            </a:pPr>
            <a:r>
              <a:rPr sz="1300" b="0" i="0">
                <a:solidFill>
                  <a:srgbClr val="A7B2B0"/>
                </a:solidFill>
                <a:latin typeface="Segoe UI"/>
              </a:rPr>
              <a:t>62 revisiones visibles con transporte controlado; aparte del ASR en vivo.</a:t>
            </a:r>
          </a:p>
        </p:txBody>
      </p:sp>
      <p:sp>
        <p:nvSpPr>
          <p:cNvPr id="16" name="Rounded Rectangle 15"/>
          <p:cNvSpPr/>
          <p:nvPr/>
        </p:nvSpPr>
        <p:spPr>
          <a:xfrm>
            <a:off x="566928" y="4242816"/>
            <a:ext cx="5428335" cy="1956816"/>
          </a:xfrm>
          <a:prstGeom prst="roundRect">
            <a:avLst>
              <a:gd name="adj" fmla="val 5607"/>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31520" y="4370832"/>
            <a:ext cx="502920" cy="45720"/>
          </a:xfrm>
          <a:prstGeom prst="rect">
            <a:avLst/>
          </a:prstGeom>
          <a:solidFill>
            <a:srgbClr val="E2B4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694944" y="4462272"/>
            <a:ext cx="5172303" cy="353568"/>
          </a:xfrm>
          <a:prstGeom prst="rect">
            <a:avLst/>
          </a:prstGeom>
          <a:noFill/>
        </p:spPr>
        <p:txBody>
          <a:bodyPr wrap="square" lIns="45720" rIns="45720" tIns="27432" bIns="27432" anchor="t">
            <a:noAutofit/>
          </a:bodyPr>
          <a:lstStyle/>
          <a:p>
            <a:pPr algn="l">
              <a:lnSpc>
                <a:spcPct val="100000"/>
              </a:lnSpc>
            </a:pPr>
            <a:r>
              <a:rPr sz="1600" b="0" i="0">
                <a:solidFill>
                  <a:srgbClr val="F7F2E8"/>
                </a:solidFill>
                <a:latin typeface="Segoe UI Semibold"/>
              </a:rPr>
              <a:t>Límites</a:t>
            </a:r>
          </a:p>
        </p:txBody>
      </p:sp>
      <p:sp>
        <p:nvSpPr>
          <p:cNvPr id="19" name="TextBox 18"/>
          <p:cNvSpPr txBox="1"/>
          <p:nvPr/>
        </p:nvSpPr>
        <p:spPr>
          <a:xfrm>
            <a:off x="694944" y="4815840"/>
            <a:ext cx="5172303" cy="1292352"/>
          </a:xfrm>
          <a:prstGeom prst="rect">
            <a:avLst/>
          </a:prstGeom>
          <a:noFill/>
        </p:spPr>
        <p:txBody>
          <a:bodyPr wrap="square" lIns="45720" rIns="45720" tIns="27432" bIns="27432" anchor="t">
            <a:noAutofit/>
          </a:bodyPr>
          <a:lstStyle/>
          <a:p>
            <a:pPr algn="l">
              <a:lnSpc>
                <a:spcPct val="100000"/>
              </a:lnSpc>
            </a:pPr>
            <a:r>
              <a:rPr sz="1300" b="0" i="0">
                <a:solidFill>
                  <a:srgbClr val="A7B2B0"/>
                </a:solidFill>
                <a:latin typeface="Segoe UI"/>
              </a:rPr>
              <a:t>La carga en frío del modelo, la latencia del proveedor y el hardware varían; no hay promesa de latencia cero.</a:t>
            </a:r>
          </a:p>
        </p:txBody>
      </p:sp>
      <p:sp>
        <p:nvSpPr>
          <p:cNvPr id="20" name="Rounded Rectangle 19"/>
          <p:cNvSpPr/>
          <p:nvPr/>
        </p:nvSpPr>
        <p:spPr>
          <a:xfrm>
            <a:off x="6196431" y="4242816"/>
            <a:ext cx="5428335" cy="1956816"/>
          </a:xfrm>
          <a:prstGeom prst="roundRect">
            <a:avLst>
              <a:gd name="adj" fmla="val 5607"/>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ectangle 20"/>
          <p:cNvSpPr/>
          <p:nvPr/>
        </p:nvSpPr>
        <p:spPr>
          <a:xfrm>
            <a:off x="6361023" y="4370832"/>
            <a:ext cx="502920" cy="45720"/>
          </a:xfrm>
          <a:prstGeom prst="rect">
            <a:avLst/>
          </a:prstGeom>
          <a:solidFill>
            <a:srgbClr val="46D2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6324447" y="4462272"/>
            <a:ext cx="5172303" cy="353568"/>
          </a:xfrm>
          <a:prstGeom prst="rect">
            <a:avLst/>
          </a:prstGeom>
          <a:noFill/>
        </p:spPr>
        <p:txBody>
          <a:bodyPr wrap="square" lIns="45720" rIns="45720" tIns="27432" bIns="27432" anchor="t">
            <a:noAutofit/>
          </a:bodyPr>
          <a:lstStyle/>
          <a:p>
            <a:pPr algn="l">
              <a:lnSpc>
                <a:spcPct val="100000"/>
              </a:lnSpc>
            </a:pPr>
            <a:r>
              <a:rPr sz="1600" b="0" i="0">
                <a:solidFill>
                  <a:srgbClr val="F7F2E8"/>
                </a:solidFill>
                <a:latin typeface="Segoe UI Semibold"/>
              </a:rPr>
              <a:t>Guía detallada</a:t>
            </a:r>
          </a:p>
        </p:txBody>
      </p:sp>
      <p:sp>
        <p:nvSpPr>
          <p:cNvPr id="23" name="TextBox 22"/>
          <p:cNvSpPr txBox="1"/>
          <p:nvPr/>
        </p:nvSpPr>
        <p:spPr>
          <a:xfrm>
            <a:off x="6324447" y="4815840"/>
            <a:ext cx="5172303" cy="1292352"/>
          </a:xfrm>
          <a:prstGeom prst="rect">
            <a:avLst/>
          </a:prstGeom>
          <a:noFill/>
        </p:spPr>
        <p:txBody>
          <a:bodyPr wrap="square" lIns="45720" rIns="45720" tIns="27432" bIns="27432" anchor="t">
            <a:noAutofit/>
          </a:bodyPr>
          <a:lstStyle/>
          <a:p>
            <a:pPr algn="l">
              <a:lnSpc>
                <a:spcPct val="100000"/>
              </a:lnSpc>
            </a:pPr>
            <a:r>
              <a:rPr sz="1300" b="0" i="0">
                <a:solidFill>
                  <a:srgbClr val="A7B2B0"/>
                </a:solidFill>
                <a:latin typeface="Segoe UI"/>
              </a:rPr>
              <a:t>docs/chat-microphone-design.md registra la configuración, el protocolo y la evidencia.</a:t>
            </a:r>
          </a:p>
        </p:txBody>
      </p:sp>
      <p:cxnSp>
        <p:nvCxnSpPr>
          <p:cNvPr id="24" name="Connector 23"/>
          <p:cNvCxnSpPr/>
          <p:nvPr/>
        </p:nvCxnSpPr>
        <p:spPr>
          <a:xfrm>
            <a:off x="566928" y="6373368"/>
            <a:ext cx="11057839" cy="0"/>
          </a:xfrm>
          <a:prstGeom prst="line">
            <a:avLst/>
          </a:prstGeom>
          <a:ln w="7620">
            <a:solidFill>
              <a:srgbClr val="2A3A40"/>
            </a:solidFill>
          </a:ln>
        </p:spPr>
        <p:style>
          <a:lnRef idx="2">
            <a:schemeClr val="accent1"/>
          </a:lnRef>
          <a:fillRef idx="0">
            <a:schemeClr val="accent1"/>
          </a:fillRef>
          <a:effectRef idx="1">
            <a:schemeClr val="accent1"/>
          </a:effectRef>
          <a:fontRef idx="minor">
            <a:schemeClr val="tx1"/>
          </a:fontRef>
        </p:style>
      </p:cxnSp>
      <p:sp>
        <p:nvSpPr>
          <p:cNvPr id="25" name="TextBox 24"/>
          <p:cNvSpPr txBox="1"/>
          <p:nvPr/>
        </p:nvSpPr>
        <p:spPr>
          <a:xfrm>
            <a:off x="566928" y="6419088"/>
            <a:ext cx="6858000" cy="274320"/>
          </a:xfrm>
          <a:prstGeom prst="rect">
            <a:avLst/>
          </a:prstGeom>
          <a:noFill/>
        </p:spPr>
        <p:txBody>
          <a:bodyPr wrap="square" lIns="45720" rIns="45720" tIns="27432" bIns="27432" anchor="t">
            <a:noAutofit/>
          </a:bodyPr>
          <a:lstStyle/>
          <a:p>
            <a:pPr algn="l">
              <a:lnSpc>
                <a:spcPct val="100000"/>
              </a:lnSpc>
            </a:pPr>
            <a:r>
              <a:rPr sz="850" b="0" i="0" spc="120">
                <a:solidFill>
                  <a:srgbClr val="A7B2B0"/>
                </a:solidFill>
                <a:latin typeface="Segoe UI Semibold"/>
              </a:rPr>
              <a:t>TLAMATINI  ·  III · DÓNDE TRABAJAS CON ELLA</a:t>
            </a:r>
          </a:p>
        </p:txBody>
      </p:sp>
      <p:sp>
        <p:nvSpPr>
          <p:cNvPr id="26" name="TextBox 25"/>
          <p:cNvSpPr txBox="1"/>
          <p:nvPr/>
        </p:nvSpPr>
        <p:spPr>
          <a:xfrm>
            <a:off x="8698687" y="6419088"/>
            <a:ext cx="2926080" cy="274320"/>
          </a:xfrm>
          <a:prstGeom prst="rect">
            <a:avLst/>
          </a:prstGeom>
          <a:noFill/>
        </p:spPr>
        <p:txBody>
          <a:bodyPr wrap="square" lIns="45720" rIns="45720" tIns="27432" bIns="27432" anchor="t">
            <a:noAutofit/>
          </a:bodyPr>
          <a:lstStyle/>
          <a:p>
            <a:pPr algn="r">
              <a:lnSpc>
                <a:spcPct val="100000"/>
              </a:lnSpc>
            </a:pPr>
            <a:r>
              <a:rPr sz="850" b="0" i="0" spc="100">
                <a:solidFill>
                  <a:srgbClr val="A7B2B0"/>
                </a:solidFill>
                <a:latin typeface="Segoe UI Semibold"/>
              </a:rPr>
              <a:t>v1.91.1   ·   41</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content.png"/>
          <p:cNvPicPr>
            <a:picLocks noChangeAspect="1"/>
          </p:cNvPicPr>
          <p:nvPr/>
        </p:nvPicPr>
        <p:blipFill>
          <a:blip r:embed="rId2"/>
          <a:stretch>
            <a:fillRect/>
          </a:stretch>
        </p:blipFill>
        <p:spPr>
          <a:xfrm>
            <a:off x="0" y="0"/>
            <a:ext cx="12191695" cy="6858000"/>
          </a:xfrm>
          <a:prstGeom prst="rect">
            <a:avLst/>
          </a:prstGeom>
        </p:spPr>
      </p:pic>
      <p:sp>
        <p:nvSpPr>
          <p:cNvPr id="3" name="Diamond 2"/>
          <p:cNvSpPr/>
          <p:nvPr/>
        </p:nvSpPr>
        <p:spPr>
          <a:xfrm>
            <a:off x="566928" y="457200"/>
            <a:ext cx="100584" cy="100584"/>
          </a:xfrm>
          <a:prstGeom prst="diamond">
            <a:avLst/>
          </a:prstGeom>
          <a:solidFill>
            <a:srgbClr val="E2B4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49808" y="365760"/>
            <a:ext cx="8229600" cy="292608"/>
          </a:xfrm>
          <a:prstGeom prst="rect">
            <a:avLst/>
          </a:prstGeom>
          <a:noFill/>
        </p:spPr>
        <p:txBody>
          <a:bodyPr wrap="square" lIns="45720" rIns="45720" tIns="27432" bIns="27432" anchor="t">
            <a:noAutofit/>
          </a:bodyPr>
          <a:lstStyle/>
          <a:p>
            <a:pPr algn="l">
              <a:lnSpc>
                <a:spcPct val="100000"/>
              </a:lnSpc>
            </a:pPr>
            <a:r>
              <a:rPr sz="1100" b="0" i="0" spc="240">
                <a:solidFill>
                  <a:srgbClr val="C98457"/>
                </a:solidFill>
                <a:latin typeface="Segoe UI Semibold"/>
              </a:rPr>
              <a:t>NAVEGACIÓN</a:t>
            </a:r>
          </a:p>
        </p:txBody>
      </p:sp>
      <p:sp>
        <p:nvSpPr>
          <p:cNvPr id="5" name="TextBox 4"/>
          <p:cNvSpPr txBox="1"/>
          <p:nvPr/>
        </p:nvSpPr>
        <p:spPr>
          <a:xfrm>
            <a:off x="539496" y="676656"/>
            <a:ext cx="11057839" cy="658368"/>
          </a:xfrm>
          <a:prstGeom prst="rect">
            <a:avLst/>
          </a:prstGeom>
          <a:noFill/>
        </p:spPr>
        <p:txBody>
          <a:bodyPr wrap="square" lIns="45720" rIns="45720" tIns="27432" bIns="27432" anchor="t">
            <a:noAutofit/>
          </a:bodyPr>
          <a:lstStyle/>
          <a:p>
            <a:pPr algn="l">
              <a:lnSpc>
                <a:spcPct val="100000"/>
              </a:lnSpc>
            </a:pPr>
            <a:r>
              <a:rPr sz="3100" b="0" i="0">
                <a:solidFill>
                  <a:srgbClr val="F7F2E8"/>
                </a:solidFill>
                <a:latin typeface="Palatino Linotype"/>
              </a:rPr>
              <a:t>La barra de menús en v1.91.1</a:t>
            </a:r>
          </a:p>
        </p:txBody>
      </p:sp>
      <p:sp>
        <p:nvSpPr>
          <p:cNvPr id="6" name="Rectangle 5"/>
          <p:cNvSpPr/>
          <p:nvPr/>
        </p:nvSpPr>
        <p:spPr>
          <a:xfrm>
            <a:off x="566928" y="1344168"/>
            <a:ext cx="822960" cy="36576"/>
          </a:xfrm>
          <a:prstGeom prst="rect">
            <a:avLst/>
          </a:prstGeom>
          <a:solidFill>
            <a:srgbClr val="E2B4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566928" y="1444752"/>
            <a:ext cx="10692079" cy="585216"/>
          </a:xfrm>
          <a:prstGeom prst="rect">
            <a:avLst/>
          </a:prstGeom>
          <a:noFill/>
        </p:spPr>
        <p:txBody>
          <a:bodyPr wrap="square" lIns="45720" rIns="45720" tIns="27432" bIns="27432" anchor="t">
            <a:noAutofit/>
          </a:bodyPr>
          <a:lstStyle/>
          <a:p>
            <a:pPr algn="l">
              <a:lnSpc>
                <a:spcPct val="100000"/>
              </a:lnSpc>
            </a:pPr>
            <a:r>
              <a:rPr sz="1450" b="0" i="0">
                <a:solidFill>
                  <a:srgbClr val="A7B2B0"/>
                </a:solidFill>
                <a:latin typeface="Segoe UI Semilight"/>
              </a:rPr>
              <a:t>Vistas controla el espacio de trabajo, Paneles abre los editores de flows, y Config guarda la configuración.</a:t>
            </a:r>
          </a:p>
        </p:txBody>
      </p:sp>
      <p:sp>
        <p:nvSpPr>
          <p:cNvPr id="8" name="Rounded Rectangle 7"/>
          <p:cNvSpPr/>
          <p:nvPr/>
        </p:nvSpPr>
        <p:spPr>
          <a:xfrm>
            <a:off x="566928" y="2084831"/>
            <a:ext cx="11057839" cy="4078224"/>
          </a:xfrm>
          <a:prstGeom prst="roundRect">
            <a:avLst>
              <a:gd name="adj" fmla="val 1793"/>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ounded Rectangle 8"/>
          <p:cNvSpPr/>
          <p:nvPr/>
        </p:nvSpPr>
        <p:spPr>
          <a:xfrm>
            <a:off x="566928" y="2084831"/>
            <a:ext cx="11057839" cy="384048"/>
          </a:xfrm>
          <a:prstGeom prst="roundRect">
            <a:avLst>
              <a:gd name="adj" fmla="val 19047"/>
            </a:avLst>
          </a:prstGeom>
          <a:solidFill>
            <a:srgbClr val="151F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640080" y="2121408"/>
            <a:ext cx="2065263" cy="310896"/>
          </a:xfrm>
          <a:prstGeom prst="rect">
            <a:avLst/>
          </a:prstGeom>
          <a:noFill/>
        </p:spPr>
        <p:txBody>
          <a:bodyPr wrap="square" lIns="45720" rIns="45720" tIns="27432" bIns="27432" anchor="ctr">
            <a:noAutofit/>
          </a:bodyPr>
          <a:lstStyle/>
          <a:p>
            <a:pPr algn="l">
              <a:lnSpc>
                <a:spcPct val="100000"/>
              </a:lnSpc>
            </a:pPr>
            <a:r>
              <a:rPr sz="1000" b="0" i="0" spc="120">
                <a:solidFill>
                  <a:srgbClr val="E2B462"/>
                </a:solidFill>
                <a:latin typeface="Segoe UI Semibold"/>
              </a:rPr>
              <a:t>MENÚ</a:t>
            </a:r>
          </a:p>
        </p:txBody>
      </p:sp>
      <p:sp>
        <p:nvSpPr>
          <p:cNvPr id="11" name="TextBox 10"/>
          <p:cNvSpPr txBox="1"/>
          <p:nvPr/>
        </p:nvSpPr>
        <p:spPr>
          <a:xfrm>
            <a:off x="2851647" y="2121408"/>
            <a:ext cx="8699967" cy="310896"/>
          </a:xfrm>
          <a:prstGeom prst="rect">
            <a:avLst/>
          </a:prstGeom>
          <a:noFill/>
        </p:spPr>
        <p:txBody>
          <a:bodyPr wrap="square" lIns="45720" rIns="45720" tIns="27432" bIns="27432" anchor="ctr">
            <a:noAutofit/>
          </a:bodyPr>
          <a:lstStyle/>
          <a:p>
            <a:pPr algn="l">
              <a:lnSpc>
                <a:spcPct val="100000"/>
              </a:lnSpc>
            </a:pPr>
            <a:r>
              <a:rPr sz="1000" b="0" i="0" spc="120">
                <a:solidFill>
                  <a:srgbClr val="E2B462"/>
                </a:solidFill>
                <a:latin typeface="Segoe UI Semibold"/>
              </a:rPr>
              <a:t>QUÉ ENCUENTRAS AHÍ</a:t>
            </a:r>
          </a:p>
        </p:txBody>
      </p:sp>
      <p:sp>
        <p:nvSpPr>
          <p:cNvPr id="12" name="TextBox 11"/>
          <p:cNvSpPr txBox="1"/>
          <p:nvPr/>
        </p:nvSpPr>
        <p:spPr>
          <a:xfrm>
            <a:off x="640080" y="2505456"/>
            <a:ext cx="2065263" cy="271272"/>
          </a:xfrm>
          <a:prstGeom prst="rect">
            <a:avLst/>
          </a:prstGeom>
          <a:noFill/>
        </p:spPr>
        <p:txBody>
          <a:bodyPr wrap="square" lIns="45720" rIns="45720" tIns="27432" bIns="27432" anchor="ctr">
            <a:noAutofit/>
          </a:bodyPr>
          <a:lstStyle/>
          <a:p>
            <a:pPr algn="l">
              <a:lnSpc>
                <a:spcPct val="100000"/>
              </a:lnSpc>
            </a:pPr>
            <a:r>
              <a:rPr sz="1300" b="0" i="0">
                <a:solidFill>
                  <a:srgbClr val="F7F2E8"/>
                </a:solidFill>
                <a:latin typeface="Segoe UI Semibold"/>
              </a:rPr>
              <a:t>Abrir · Guardar</a:t>
            </a:r>
          </a:p>
        </p:txBody>
      </p:sp>
      <p:sp>
        <p:nvSpPr>
          <p:cNvPr id="13" name="TextBox 12"/>
          <p:cNvSpPr txBox="1"/>
          <p:nvPr/>
        </p:nvSpPr>
        <p:spPr>
          <a:xfrm>
            <a:off x="2851647" y="2505456"/>
            <a:ext cx="8699967" cy="271272"/>
          </a:xfrm>
          <a:prstGeom prst="rect">
            <a:avLst/>
          </a:prstGeom>
          <a:noFill/>
        </p:spPr>
        <p:txBody>
          <a:bodyPr wrap="square" lIns="45720" rIns="45720" tIns="27432" bIns="27432" anchor="ctr">
            <a:noAutofit/>
          </a:bodyPr>
          <a:lstStyle/>
          <a:p>
            <a:pPr algn="l">
              <a:lnSpc>
                <a:spcPct val="100000"/>
              </a:lnSpc>
            </a:pPr>
            <a:r>
              <a:rPr sz="1300" b="0" i="0">
                <a:solidFill>
                  <a:srgbClr val="A7B2B0"/>
                </a:solidFill>
                <a:latin typeface="Segoe UI"/>
              </a:rPr>
              <a:t>Abre un archivo en el canvas; Guardar en el menú elige un destino con el Guardar como nativo.</a:t>
            </a:r>
          </a:p>
        </p:txBody>
      </p:sp>
      <p:sp>
        <p:nvSpPr>
          <p:cNvPr id="14" name="Rectangle 13"/>
          <p:cNvSpPr/>
          <p:nvPr/>
        </p:nvSpPr>
        <p:spPr>
          <a:xfrm>
            <a:off x="585216" y="2813303"/>
            <a:ext cx="11021263" cy="344424"/>
          </a:xfrm>
          <a:prstGeom prst="rect">
            <a:avLst/>
          </a:prstGeom>
          <a:solidFill>
            <a:srgbClr val="1824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640080" y="2849879"/>
            <a:ext cx="2065263" cy="271272"/>
          </a:xfrm>
          <a:prstGeom prst="rect">
            <a:avLst/>
          </a:prstGeom>
          <a:noFill/>
        </p:spPr>
        <p:txBody>
          <a:bodyPr wrap="square" lIns="45720" rIns="45720" tIns="27432" bIns="27432" anchor="ctr">
            <a:noAutofit/>
          </a:bodyPr>
          <a:lstStyle/>
          <a:p>
            <a:pPr algn="l">
              <a:lnSpc>
                <a:spcPct val="100000"/>
              </a:lnSpc>
            </a:pPr>
            <a:r>
              <a:rPr sz="1300" b="0" i="0">
                <a:solidFill>
                  <a:srgbClr val="F7F2E8"/>
                </a:solidFill>
                <a:latin typeface="Segoe UI Semibold"/>
              </a:rPr>
              <a:t>Vistas</a:t>
            </a:r>
          </a:p>
        </p:txBody>
      </p:sp>
      <p:sp>
        <p:nvSpPr>
          <p:cNvPr id="16" name="TextBox 15"/>
          <p:cNvSpPr txBox="1"/>
          <p:nvPr/>
        </p:nvSpPr>
        <p:spPr>
          <a:xfrm>
            <a:off x="2851647" y="2849879"/>
            <a:ext cx="8699967" cy="271272"/>
          </a:xfrm>
          <a:prstGeom prst="rect">
            <a:avLst/>
          </a:prstGeom>
          <a:noFill/>
        </p:spPr>
        <p:txBody>
          <a:bodyPr wrap="square" lIns="45720" rIns="45720" tIns="27432" bIns="27432" anchor="ctr">
            <a:noAutofit/>
          </a:bodyPr>
          <a:lstStyle/>
          <a:p>
            <a:pPr algn="l">
              <a:lnSpc>
                <a:spcPct val="100000"/>
              </a:lnSpc>
            </a:pPr>
            <a:r>
              <a:rPr sz="1300" b="0" i="0">
                <a:solidFill>
                  <a:srgbClr val="A7B2B0"/>
                </a:solidFill>
                <a:latin typeface="Segoe UI"/>
              </a:rPr>
              <a:t>Muestra Canvas o Terminals; Restablecer distribución restaura el espacio de trabajo.</a:t>
            </a:r>
          </a:p>
        </p:txBody>
      </p:sp>
      <p:sp>
        <p:nvSpPr>
          <p:cNvPr id="17" name="TextBox 16"/>
          <p:cNvSpPr txBox="1"/>
          <p:nvPr/>
        </p:nvSpPr>
        <p:spPr>
          <a:xfrm>
            <a:off x="640080" y="3194304"/>
            <a:ext cx="2065263" cy="271272"/>
          </a:xfrm>
          <a:prstGeom prst="rect">
            <a:avLst/>
          </a:prstGeom>
          <a:noFill/>
        </p:spPr>
        <p:txBody>
          <a:bodyPr wrap="square" lIns="45720" rIns="45720" tIns="27432" bIns="27432" anchor="ctr">
            <a:noAutofit/>
          </a:bodyPr>
          <a:lstStyle/>
          <a:p>
            <a:pPr algn="l">
              <a:lnSpc>
                <a:spcPct val="100000"/>
              </a:lnSpc>
            </a:pPr>
            <a:r>
              <a:rPr sz="1300" b="0" i="0">
                <a:solidFill>
                  <a:srgbClr val="F7F2E8"/>
                </a:solidFill>
                <a:latin typeface="Segoe UI Semibold"/>
              </a:rPr>
              <a:t>Contexto</a:t>
            </a:r>
          </a:p>
        </p:txBody>
      </p:sp>
      <p:sp>
        <p:nvSpPr>
          <p:cNvPr id="18" name="TextBox 17"/>
          <p:cNvSpPr txBox="1"/>
          <p:nvPr/>
        </p:nvSpPr>
        <p:spPr>
          <a:xfrm>
            <a:off x="2851647" y="3194304"/>
            <a:ext cx="8699967" cy="271272"/>
          </a:xfrm>
          <a:prstGeom prst="rect">
            <a:avLst/>
          </a:prstGeom>
          <a:noFill/>
        </p:spPr>
        <p:txBody>
          <a:bodyPr wrap="square" lIns="45720" rIns="45720" tIns="27432" bIns="27432" anchor="ctr">
            <a:noAutofit/>
          </a:bodyPr>
          <a:lstStyle/>
          <a:p>
            <a:pPr algn="l">
              <a:lnSpc>
                <a:spcPct val="100000"/>
              </a:lnSpc>
            </a:pPr>
            <a:r>
              <a:rPr sz="1300" b="0" i="0">
                <a:solidFill>
                  <a:srgbClr val="A7B2B0"/>
                </a:solidFill>
                <a:latin typeface="Segoe UI"/>
              </a:rPr>
              <a:t>Carga un directorio o archivo como contexto, y fija las omisiones por tipo de archivo.</a:t>
            </a:r>
          </a:p>
        </p:txBody>
      </p:sp>
      <p:sp>
        <p:nvSpPr>
          <p:cNvPr id="19" name="Rectangle 18"/>
          <p:cNvSpPr/>
          <p:nvPr/>
        </p:nvSpPr>
        <p:spPr>
          <a:xfrm>
            <a:off x="585216" y="3502152"/>
            <a:ext cx="11021263" cy="542544"/>
          </a:xfrm>
          <a:prstGeom prst="rect">
            <a:avLst/>
          </a:prstGeom>
          <a:solidFill>
            <a:srgbClr val="1824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640080" y="3538728"/>
            <a:ext cx="2065263" cy="469392"/>
          </a:xfrm>
          <a:prstGeom prst="rect">
            <a:avLst/>
          </a:prstGeom>
          <a:noFill/>
        </p:spPr>
        <p:txBody>
          <a:bodyPr wrap="square" lIns="45720" rIns="45720" tIns="27432" bIns="27432" anchor="ctr">
            <a:noAutofit/>
          </a:bodyPr>
          <a:lstStyle/>
          <a:p>
            <a:pPr algn="l">
              <a:lnSpc>
                <a:spcPct val="100000"/>
              </a:lnSpc>
            </a:pPr>
            <a:r>
              <a:rPr sz="1300" b="0" i="0">
                <a:solidFill>
                  <a:srgbClr val="F7F2E8"/>
                </a:solidFill>
                <a:latin typeface="Segoe UI Semibold"/>
              </a:rPr>
              <a:t>Paneles</a:t>
            </a:r>
          </a:p>
        </p:txBody>
      </p:sp>
      <p:sp>
        <p:nvSpPr>
          <p:cNvPr id="21" name="TextBox 20"/>
          <p:cNvSpPr txBox="1"/>
          <p:nvPr/>
        </p:nvSpPr>
        <p:spPr>
          <a:xfrm>
            <a:off x="2851647" y="3538728"/>
            <a:ext cx="8699967" cy="469392"/>
          </a:xfrm>
          <a:prstGeom prst="rect">
            <a:avLst/>
          </a:prstGeom>
          <a:noFill/>
        </p:spPr>
        <p:txBody>
          <a:bodyPr wrap="square" lIns="45720" rIns="45720" tIns="27432" bIns="27432" anchor="ctr">
            <a:noAutofit/>
          </a:bodyPr>
          <a:lstStyle/>
          <a:p>
            <a:pPr algn="l">
              <a:lnSpc>
                <a:spcPct val="100000"/>
              </a:lnSpc>
            </a:pPr>
            <a:r>
              <a:rPr sz="1300" b="0" i="0">
                <a:solidFill>
                  <a:srgbClr val="A7B2B0"/>
                </a:solidFill>
                <a:latin typeface="Segoe UI"/>
              </a:rPr>
              <a:t>Agentic Control Panel, Prompt Flow Panel y, para el staff, el Admin Panel. Se puede usar mientras ella está ocupada.</a:t>
            </a:r>
          </a:p>
        </p:txBody>
      </p:sp>
      <p:sp>
        <p:nvSpPr>
          <p:cNvPr id="22" name="TextBox 21"/>
          <p:cNvSpPr txBox="1"/>
          <p:nvPr/>
        </p:nvSpPr>
        <p:spPr>
          <a:xfrm>
            <a:off x="640080" y="4081272"/>
            <a:ext cx="2065263" cy="271272"/>
          </a:xfrm>
          <a:prstGeom prst="rect">
            <a:avLst/>
          </a:prstGeom>
          <a:noFill/>
        </p:spPr>
        <p:txBody>
          <a:bodyPr wrap="square" lIns="45720" rIns="45720" tIns="27432" bIns="27432" anchor="ctr">
            <a:noAutofit/>
          </a:bodyPr>
          <a:lstStyle/>
          <a:p>
            <a:pPr algn="l">
              <a:lnSpc>
                <a:spcPct val="100000"/>
              </a:lnSpc>
            </a:pPr>
            <a:r>
              <a:rPr sz="1300" b="0" i="0">
                <a:solidFill>
                  <a:srgbClr val="F7F2E8"/>
                </a:solidFill>
                <a:latin typeface="Segoe UI Semibold"/>
              </a:rPr>
              <a:t>ACPX-Skills</a:t>
            </a:r>
          </a:p>
        </p:txBody>
      </p:sp>
      <p:sp>
        <p:nvSpPr>
          <p:cNvPr id="23" name="TextBox 22"/>
          <p:cNvSpPr txBox="1"/>
          <p:nvPr/>
        </p:nvSpPr>
        <p:spPr>
          <a:xfrm>
            <a:off x="2851647" y="4081272"/>
            <a:ext cx="8699967" cy="271272"/>
          </a:xfrm>
          <a:prstGeom prst="rect">
            <a:avLst/>
          </a:prstGeom>
          <a:noFill/>
        </p:spPr>
        <p:txBody>
          <a:bodyPr wrap="square" lIns="45720" rIns="45720" tIns="27432" bIns="27432" anchor="ctr">
            <a:noAutofit/>
          </a:bodyPr>
          <a:lstStyle/>
          <a:p>
            <a:pPr algn="l">
              <a:lnSpc>
                <a:spcPct val="100000"/>
              </a:lnSpc>
            </a:pPr>
            <a:r>
              <a:rPr sz="1300" b="0" i="0">
                <a:solidFill>
                  <a:srgbClr val="A7B2B0"/>
                </a:solidFill>
                <a:latin typeface="Segoe UI"/>
              </a:rPr>
              <a:t>Examina, configura, diagnostica y recarga el catálogo de skills.</a:t>
            </a:r>
          </a:p>
        </p:txBody>
      </p:sp>
      <p:sp>
        <p:nvSpPr>
          <p:cNvPr id="24" name="Rectangle 23"/>
          <p:cNvSpPr/>
          <p:nvPr/>
        </p:nvSpPr>
        <p:spPr>
          <a:xfrm>
            <a:off x="585216" y="4389120"/>
            <a:ext cx="11021263" cy="344424"/>
          </a:xfrm>
          <a:prstGeom prst="rect">
            <a:avLst/>
          </a:prstGeom>
          <a:solidFill>
            <a:srgbClr val="1824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TextBox 24"/>
          <p:cNvSpPr txBox="1"/>
          <p:nvPr/>
        </p:nvSpPr>
        <p:spPr>
          <a:xfrm>
            <a:off x="640080" y="4425696"/>
            <a:ext cx="2065263" cy="271272"/>
          </a:xfrm>
          <a:prstGeom prst="rect">
            <a:avLst/>
          </a:prstGeom>
          <a:noFill/>
        </p:spPr>
        <p:txBody>
          <a:bodyPr wrap="square" lIns="45720" rIns="45720" tIns="27432" bIns="27432" anchor="ctr">
            <a:noAutofit/>
          </a:bodyPr>
          <a:lstStyle/>
          <a:p>
            <a:pPr algn="l">
              <a:lnSpc>
                <a:spcPct val="100000"/>
              </a:lnSpc>
            </a:pPr>
            <a:r>
              <a:rPr sz="1300" b="0" i="0">
                <a:solidFill>
                  <a:srgbClr val="F7F2E8"/>
                </a:solidFill>
                <a:latin typeface="Segoe UI Semibold"/>
              </a:rPr>
              <a:t>Externos</a:t>
            </a:r>
          </a:p>
        </p:txBody>
      </p:sp>
      <p:sp>
        <p:nvSpPr>
          <p:cNvPr id="26" name="TextBox 25"/>
          <p:cNvSpPr txBox="1"/>
          <p:nvPr/>
        </p:nvSpPr>
        <p:spPr>
          <a:xfrm>
            <a:off x="2851647" y="4425696"/>
            <a:ext cx="8699967" cy="271272"/>
          </a:xfrm>
          <a:prstGeom prst="rect">
            <a:avLst/>
          </a:prstGeom>
          <a:noFill/>
        </p:spPr>
        <p:txBody>
          <a:bodyPr wrap="square" lIns="45720" rIns="45720" tIns="27432" bIns="27432" anchor="ctr">
            <a:noAutofit/>
          </a:bodyPr>
          <a:lstStyle/>
          <a:p>
            <a:pPr algn="l">
              <a:lnSpc>
                <a:spcPct val="100000"/>
              </a:lnSpc>
            </a:pPr>
            <a:r>
              <a:rPr sz="1300" b="0" i="0">
                <a:solidFill>
                  <a:srgbClr val="A7B2B0"/>
                </a:solidFill>
                <a:latin typeface="Segoe UI"/>
              </a:rPr>
              <a:t>El diálogo de External MCPs: catálogo, activación y disponibilidad de runtimes.</a:t>
            </a:r>
          </a:p>
        </p:txBody>
      </p:sp>
      <p:sp>
        <p:nvSpPr>
          <p:cNvPr id="27" name="TextBox 26"/>
          <p:cNvSpPr txBox="1"/>
          <p:nvPr/>
        </p:nvSpPr>
        <p:spPr>
          <a:xfrm>
            <a:off x="640080" y="4770120"/>
            <a:ext cx="2065263" cy="469392"/>
          </a:xfrm>
          <a:prstGeom prst="rect">
            <a:avLst/>
          </a:prstGeom>
          <a:noFill/>
        </p:spPr>
        <p:txBody>
          <a:bodyPr wrap="square" lIns="45720" rIns="45720" tIns="27432" bIns="27432" anchor="ctr">
            <a:noAutofit/>
          </a:bodyPr>
          <a:lstStyle/>
          <a:p>
            <a:pPr algn="l">
              <a:lnSpc>
                <a:spcPct val="100000"/>
              </a:lnSpc>
            </a:pPr>
            <a:r>
              <a:rPr sz="1300" b="0" i="0">
                <a:solidFill>
                  <a:srgbClr val="F7F2E8"/>
                </a:solidFill>
                <a:latin typeface="Segoe UI Semibold"/>
              </a:rPr>
              <a:t>Config</a:t>
            </a:r>
          </a:p>
        </p:txBody>
      </p:sp>
      <p:sp>
        <p:nvSpPr>
          <p:cNvPr id="28" name="TextBox 27"/>
          <p:cNvSpPr txBox="1"/>
          <p:nvPr/>
        </p:nvSpPr>
        <p:spPr>
          <a:xfrm>
            <a:off x="2851647" y="4770120"/>
            <a:ext cx="8699967" cy="469392"/>
          </a:xfrm>
          <a:prstGeom prst="rect">
            <a:avLst/>
          </a:prstGeom>
          <a:noFill/>
        </p:spPr>
        <p:txBody>
          <a:bodyPr wrap="square" lIns="45720" rIns="45720" tIns="27432" bIns="27432" anchor="ctr">
            <a:noAutofit/>
          </a:bodyPr>
          <a:lstStyle/>
          <a:p>
            <a:pPr algn="l">
              <a:lnSpc>
                <a:spcPct val="100000"/>
              </a:lnSpc>
            </a:pPr>
            <a:r>
              <a:rPr sz="1300" b="0" i="0">
                <a:solidFill>
                  <a:srgbClr val="A7B2B0"/>
                </a:solidFill>
                <a:latin typeface="Segoe UI"/>
              </a:rPr>
              <a:t>Configurar MCPs, Configurar Agents, Modelos, URLs, Contactos, Access Keys Wizard, Voz, Micrófono y Live Editor &amp; Terminater (ritmo, narración y preferencias de interacción).</a:t>
            </a:r>
          </a:p>
        </p:txBody>
      </p:sp>
      <p:sp>
        <p:nvSpPr>
          <p:cNvPr id="29" name="Rectangle 28"/>
          <p:cNvSpPr/>
          <p:nvPr/>
        </p:nvSpPr>
        <p:spPr>
          <a:xfrm>
            <a:off x="585216" y="5276088"/>
            <a:ext cx="11021263" cy="344424"/>
          </a:xfrm>
          <a:prstGeom prst="rect">
            <a:avLst/>
          </a:prstGeom>
          <a:solidFill>
            <a:srgbClr val="1824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640080" y="5312664"/>
            <a:ext cx="2065263" cy="271272"/>
          </a:xfrm>
          <a:prstGeom prst="rect">
            <a:avLst/>
          </a:prstGeom>
          <a:noFill/>
        </p:spPr>
        <p:txBody>
          <a:bodyPr wrap="square" lIns="45720" rIns="45720" tIns="27432" bIns="27432" anchor="ctr">
            <a:noAutofit/>
          </a:bodyPr>
          <a:lstStyle/>
          <a:p>
            <a:pPr algn="l">
              <a:lnSpc>
                <a:spcPct val="100000"/>
              </a:lnSpc>
            </a:pPr>
            <a:r>
              <a:rPr sz="1300" b="0" i="0">
                <a:solidFill>
                  <a:srgbClr val="F7F2E8"/>
                </a:solidFill>
                <a:latin typeface="Segoe UI Semibold"/>
              </a:rPr>
              <a:t>DB</a:t>
            </a:r>
          </a:p>
        </p:txBody>
      </p:sp>
      <p:sp>
        <p:nvSpPr>
          <p:cNvPr id="31" name="TextBox 30"/>
          <p:cNvSpPr txBox="1"/>
          <p:nvPr/>
        </p:nvSpPr>
        <p:spPr>
          <a:xfrm>
            <a:off x="2851647" y="5312664"/>
            <a:ext cx="8699967" cy="271272"/>
          </a:xfrm>
          <a:prstGeom prst="rect">
            <a:avLst/>
          </a:prstGeom>
          <a:noFill/>
        </p:spPr>
        <p:txBody>
          <a:bodyPr wrap="square" lIns="45720" rIns="45720" tIns="27432" bIns="27432" anchor="ctr">
            <a:noAutofit/>
          </a:bodyPr>
          <a:lstStyle/>
          <a:p>
            <a:pPr algn="l">
              <a:lnSpc>
                <a:spcPct val="100000"/>
              </a:lnSpc>
            </a:pPr>
            <a:r>
              <a:rPr sz="1300" b="0" i="0">
                <a:solidFill>
                  <a:srgbClr val="A7B2B0"/>
                </a:solidFill>
                <a:latin typeface="Segoe UI"/>
              </a:rPr>
              <a:t>Backup de base de datos seguro con WAL y reemplazo por etapas.</a:t>
            </a:r>
          </a:p>
        </p:txBody>
      </p:sp>
      <p:sp>
        <p:nvSpPr>
          <p:cNvPr id="32" name="TextBox 31"/>
          <p:cNvSpPr txBox="1"/>
          <p:nvPr/>
        </p:nvSpPr>
        <p:spPr>
          <a:xfrm>
            <a:off x="640080" y="5657088"/>
            <a:ext cx="2065263" cy="469392"/>
          </a:xfrm>
          <a:prstGeom prst="rect">
            <a:avLst/>
          </a:prstGeom>
          <a:noFill/>
        </p:spPr>
        <p:txBody>
          <a:bodyPr wrap="square" lIns="45720" rIns="45720" tIns="27432" bIns="27432" anchor="ctr">
            <a:noAutofit/>
          </a:bodyPr>
          <a:lstStyle/>
          <a:p>
            <a:pPr algn="l">
              <a:lnSpc>
                <a:spcPct val="100000"/>
              </a:lnSpc>
            </a:pPr>
            <a:r>
              <a:rPr sz="1300" b="0" i="0">
                <a:solidFill>
                  <a:srgbClr val="F7F2E8"/>
                </a:solidFill>
                <a:latin typeface="Segoe UI Semibold"/>
              </a:rPr>
              <a:t>Reconectar · Acerca de</a:t>
            </a:r>
          </a:p>
        </p:txBody>
      </p:sp>
      <p:sp>
        <p:nvSpPr>
          <p:cNvPr id="33" name="TextBox 32"/>
          <p:cNvSpPr txBox="1"/>
          <p:nvPr/>
        </p:nvSpPr>
        <p:spPr>
          <a:xfrm>
            <a:off x="2851647" y="5657088"/>
            <a:ext cx="8699967" cy="469392"/>
          </a:xfrm>
          <a:prstGeom prst="rect">
            <a:avLst/>
          </a:prstGeom>
          <a:noFill/>
        </p:spPr>
        <p:txBody>
          <a:bodyPr wrap="square" lIns="45720" rIns="45720" tIns="27432" bIns="27432" anchor="ctr">
            <a:noAutofit/>
          </a:bodyPr>
          <a:lstStyle/>
          <a:p>
            <a:pPr algn="l">
              <a:lnSpc>
                <a:spcPct val="100000"/>
              </a:lnSpc>
            </a:pPr>
            <a:r>
              <a:rPr sz="1300" b="0" i="0">
                <a:solidFill>
                  <a:srgbClr val="A7B2B0"/>
                </a:solidFill>
                <a:latin typeface="Segoe UI"/>
              </a:rPr>
              <a:t>Reconstruye la conexión del chat; versión, créditos de la autora y Buscar actualizaciones. Desde v1.78.0, Acerca de también abre Uso, incluso mientras ella está ocupada.</a:t>
            </a:r>
          </a:p>
        </p:txBody>
      </p:sp>
      <p:cxnSp>
        <p:nvCxnSpPr>
          <p:cNvPr id="34" name="Connector 33"/>
          <p:cNvCxnSpPr/>
          <p:nvPr/>
        </p:nvCxnSpPr>
        <p:spPr>
          <a:xfrm>
            <a:off x="566928" y="6373368"/>
            <a:ext cx="11057839" cy="0"/>
          </a:xfrm>
          <a:prstGeom prst="line">
            <a:avLst/>
          </a:prstGeom>
          <a:ln w="7620">
            <a:solidFill>
              <a:srgbClr val="2A3A40"/>
            </a:solidFill>
          </a:ln>
        </p:spPr>
        <p:style>
          <a:lnRef idx="2">
            <a:schemeClr val="accent1"/>
          </a:lnRef>
          <a:fillRef idx="0">
            <a:schemeClr val="accent1"/>
          </a:fillRef>
          <a:effectRef idx="1">
            <a:schemeClr val="accent1"/>
          </a:effectRef>
          <a:fontRef idx="minor">
            <a:schemeClr val="tx1"/>
          </a:fontRef>
        </p:style>
      </p:cxnSp>
      <p:sp>
        <p:nvSpPr>
          <p:cNvPr id="35" name="TextBox 34"/>
          <p:cNvSpPr txBox="1"/>
          <p:nvPr/>
        </p:nvSpPr>
        <p:spPr>
          <a:xfrm>
            <a:off x="566928" y="6419088"/>
            <a:ext cx="6858000" cy="274320"/>
          </a:xfrm>
          <a:prstGeom prst="rect">
            <a:avLst/>
          </a:prstGeom>
          <a:noFill/>
        </p:spPr>
        <p:txBody>
          <a:bodyPr wrap="square" lIns="45720" rIns="45720" tIns="27432" bIns="27432" anchor="t">
            <a:noAutofit/>
          </a:bodyPr>
          <a:lstStyle/>
          <a:p>
            <a:pPr algn="l">
              <a:lnSpc>
                <a:spcPct val="100000"/>
              </a:lnSpc>
            </a:pPr>
            <a:r>
              <a:rPr sz="850" b="0" i="0" spc="120">
                <a:solidFill>
                  <a:srgbClr val="A7B2B0"/>
                </a:solidFill>
                <a:latin typeface="Segoe UI Semibold"/>
              </a:rPr>
              <a:t>TLAMATINI  ·  III · DÓNDE TRABAJAS CON ELLA</a:t>
            </a:r>
          </a:p>
        </p:txBody>
      </p:sp>
      <p:sp>
        <p:nvSpPr>
          <p:cNvPr id="36" name="TextBox 35"/>
          <p:cNvSpPr txBox="1"/>
          <p:nvPr/>
        </p:nvSpPr>
        <p:spPr>
          <a:xfrm>
            <a:off x="8698687" y="6419088"/>
            <a:ext cx="2926080" cy="274320"/>
          </a:xfrm>
          <a:prstGeom prst="rect">
            <a:avLst/>
          </a:prstGeom>
          <a:noFill/>
        </p:spPr>
        <p:txBody>
          <a:bodyPr wrap="square" lIns="45720" rIns="45720" tIns="27432" bIns="27432" anchor="t">
            <a:noAutofit/>
          </a:bodyPr>
          <a:lstStyle/>
          <a:p>
            <a:pPr algn="r">
              <a:lnSpc>
                <a:spcPct val="100000"/>
              </a:lnSpc>
            </a:pPr>
            <a:r>
              <a:rPr sz="850" b="0" i="0" spc="100">
                <a:solidFill>
                  <a:srgbClr val="A7B2B0"/>
                </a:solidFill>
                <a:latin typeface="Segoe UI Semibold"/>
              </a:rPr>
              <a:t>v1.91.1   ·   42</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content.png"/>
          <p:cNvPicPr>
            <a:picLocks noChangeAspect="1"/>
          </p:cNvPicPr>
          <p:nvPr/>
        </p:nvPicPr>
        <p:blipFill>
          <a:blip r:embed="rId2"/>
          <a:stretch>
            <a:fillRect/>
          </a:stretch>
        </p:blipFill>
        <p:spPr>
          <a:xfrm>
            <a:off x="0" y="0"/>
            <a:ext cx="12191695" cy="6858000"/>
          </a:xfrm>
          <a:prstGeom prst="rect">
            <a:avLst/>
          </a:prstGeom>
        </p:spPr>
      </p:pic>
      <p:sp>
        <p:nvSpPr>
          <p:cNvPr id="3" name="Diamond 2"/>
          <p:cNvSpPr/>
          <p:nvPr/>
        </p:nvSpPr>
        <p:spPr>
          <a:xfrm>
            <a:off x="566928" y="457200"/>
            <a:ext cx="100584" cy="100584"/>
          </a:xfrm>
          <a:prstGeom prst="diamond">
            <a:avLst/>
          </a:prstGeom>
          <a:solidFill>
            <a:srgbClr val="E2B4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49808" y="365760"/>
            <a:ext cx="8229600" cy="292608"/>
          </a:xfrm>
          <a:prstGeom prst="rect">
            <a:avLst/>
          </a:prstGeom>
          <a:noFill/>
        </p:spPr>
        <p:txBody>
          <a:bodyPr wrap="square" lIns="45720" rIns="45720" tIns="27432" bIns="27432" anchor="t">
            <a:noAutofit/>
          </a:bodyPr>
          <a:lstStyle/>
          <a:p>
            <a:pPr algn="l">
              <a:lnSpc>
                <a:spcPct val="100000"/>
              </a:lnSpc>
            </a:pPr>
            <a:r>
              <a:rPr sz="1100" b="0" i="0" spc="240">
                <a:solidFill>
                  <a:srgbClr val="C98457"/>
                </a:solidFill>
                <a:latin typeface="Segoe UI Semibold"/>
              </a:rPr>
              <a:t>ACERCA DE → USO · NUEVO EN v1.78.0</a:t>
            </a:r>
          </a:p>
        </p:txBody>
      </p:sp>
      <p:sp>
        <p:nvSpPr>
          <p:cNvPr id="5" name="TextBox 4"/>
          <p:cNvSpPr txBox="1"/>
          <p:nvPr/>
        </p:nvSpPr>
        <p:spPr>
          <a:xfrm>
            <a:off x="539496" y="676656"/>
            <a:ext cx="11057839" cy="658368"/>
          </a:xfrm>
          <a:prstGeom prst="rect">
            <a:avLst/>
          </a:prstGeom>
          <a:noFill/>
        </p:spPr>
        <p:txBody>
          <a:bodyPr wrap="square" lIns="45720" rIns="45720" tIns="27432" bIns="27432" anchor="t">
            <a:noAutofit/>
          </a:bodyPr>
          <a:lstStyle/>
          <a:p>
            <a:pPr algn="l">
              <a:lnSpc>
                <a:spcPct val="100000"/>
              </a:lnSpc>
            </a:pPr>
            <a:r>
              <a:rPr sz="3100" b="0" i="0">
                <a:solidFill>
                  <a:srgbClr val="F7F2E8"/>
                </a:solidFill>
                <a:latin typeface="Palatino Linotype"/>
              </a:rPr>
              <a:t>Consulta el uso mientras trabaja</a:t>
            </a:r>
          </a:p>
        </p:txBody>
      </p:sp>
      <p:sp>
        <p:nvSpPr>
          <p:cNvPr id="6" name="Rectangle 5"/>
          <p:cNvSpPr/>
          <p:nvPr/>
        </p:nvSpPr>
        <p:spPr>
          <a:xfrm>
            <a:off x="566928" y="1344168"/>
            <a:ext cx="822960" cy="36576"/>
          </a:xfrm>
          <a:prstGeom prst="rect">
            <a:avLst/>
          </a:prstGeom>
          <a:solidFill>
            <a:srgbClr val="E2B4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566928" y="1444752"/>
            <a:ext cx="10692079" cy="585216"/>
          </a:xfrm>
          <a:prstGeom prst="rect">
            <a:avLst/>
          </a:prstGeom>
          <a:noFill/>
        </p:spPr>
        <p:txBody>
          <a:bodyPr wrap="square" lIns="45720" rIns="45720" tIns="27432" bIns="27432" anchor="t">
            <a:noAutofit/>
          </a:bodyPr>
          <a:lstStyle/>
          <a:p>
            <a:pPr algn="l">
              <a:lnSpc>
                <a:spcPct val="100000"/>
              </a:lnSpc>
            </a:pPr>
            <a:r>
              <a:rPr sz="1450" b="0" i="0">
                <a:solidFill>
                  <a:srgbClr val="A7B2B0"/>
                </a:solidFill>
                <a:latin typeface="Segoe UI Semilight"/>
              </a:rPr>
              <a:t>ACERCA DE USO sigue el tema de diálogos compartido y sigue disponible durante una respuesta larga.</a:t>
            </a:r>
          </a:p>
        </p:txBody>
      </p:sp>
      <p:sp>
        <p:nvSpPr>
          <p:cNvPr id="8" name="Rounded Rectangle 7"/>
          <p:cNvSpPr/>
          <p:nvPr/>
        </p:nvSpPr>
        <p:spPr>
          <a:xfrm>
            <a:off x="566928" y="2084831"/>
            <a:ext cx="3551834" cy="1956816"/>
          </a:xfrm>
          <a:prstGeom prst="roundRect">
            <a:avLst>
              <a:gd name="adj" fmla="val 5607"/>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ectangle 8"/>
          <p:cNvSpPr/>
          <p:nvPr/>
        </p:nvSpPr>
        <p:spPr>
          <a:xfrm>
            <a:off x="731520" y="2212848"/>
            <a:ext cx="502920" cy="45720"/>
          </a:xfrm>
          <a:prstGeom prst="rect">
            <a:avLst/>
          </a:prstGeom>
          <a:solidFill>
            <a:srgbClr val="3BBE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694944" y="2304287"/>
            <a:ext cx="3295802" cy="353568"/>
          </a:xfrm>
          <a:prstGeom prst="rect">
            <a:avLst/>
          </a:prstGeom>
          <a:noFill/>
        </p:spPr>
        <p:txBody>
          <a:bodyPr wrap="square" lIns="45720" rIns="45720" tIns="27432" bIns="27432" anchor="t">
            <a:noAutofit/>
          </a:bodyPr>
          <a:lstStyle/>
          <a:p>
            <a:pPr algn="l">
              <a:lnSpc>
                <a:spcPct val="100000"/>
              </a:lnSpc>
            </a:pPr>
            <a:r>
              <a:rPr sz="1600" b="0" i="0">
                <a:solidFill>
                  <a:srgbClr val="F7F2E8"/>
                </a:solidFill>
                <a:latin typeface="Segoe UI Semibold"/>
              </a:rPr>
              <a:t>Créditos en la nube</a:t>
            </a:r>
          </a:p>
        </p:txBody>
      </p:sp>
      <p:sp>
        <p:nvSpPr>
          <p:cNvPr id="11" name="TextBox 10"/>
          <p:cNvSpPr txBox="1"/>
          <p:nvPr/>
        </p:nvSpPr>
        <p:spPr>
          <a:xfrm>
            <a:off x="694944" y="2657855"/>
            <a:ext cx="3295802" cy="1292352"/>
          </a:xfrm>
          <a:prstGeom prst="rect">
            <a:avLst/>
          </a:prstGeom>
          <a:noFill/>
        </p:spPr>
        <p:txBody>
          <a:bodyPr wrap="square" lIns="45720" rIns="45720" tIns="27432" bIns="27432" anchor="t">
            <a:noAutofit/>
          </a:bodyPr>
          <a:lstStyle/>
          <a:p>
            <a:pPr algn="l">
              <a:lnSpc>
                <a:spcPct val="100000"/>
              </a:lnSpc>
            </a:pPr>
            <a:r>
              <a:rPr sz="1300" b="0" i="0">
                <a:solidFill>
                  <a:srgbClr val="A7B2B0"/>
                </a:solidFill>
                <a:latin typeface="Segoe UI"/>
              </a:rPr>
              <a:t>Saldo reportado, uso mensual, asignación y semanas/fecha de recarga.</a:t>
            </a:r>
          </a:p>
        </p:txBody>
      </p:sp>
      <p:sp>
        <p:nvSpPr>
          <p:cNvPr id="12" name="Rounded Rectangle 11"/>
          <p:cNvSpPr/>
          <p:nvPr/>
        </p:nvSpPr>
        <p:spPr>
          <a:xfrm>
            <a:off x="4319930" y="2084831"/>
            <a:ext cx="3551834" cy="1956816"/>
          </a:xfrm>
          <a:prstGeom prst="roundRect">
            <a:avLst>
              <a:gd name="adj" fmla="val 5607"/>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4484522" y="2212848"/>
            <a:ext cx="502920" cy="45720"/>
          </a:xfrm>
          <a:prstGeom prst="rect">
            <a:avLst/>
          </a:prstGeom>
          <a:solidFill>
            <a:srgbClr val="C984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4447946" y="2304287"/>
            <a:ext cx="3295802" cy="353568"/>
          </a:xfrm>
          <a:prstGeom prst="rect">
            <a:avLst/>
          </a:prstGeom>
          <a:noFill/>
        </p:spPr>
        <p:txBody>
          <a:bodyPr wrap="square" lIns="45720" rIns="45720" tIns="27432" bIns="27432" anchor="t">
            <a:noAutofit/>
          </a:bodyPr>
          <a:lstStyle/>
          <a:p>
            <a:pPr algn="l">
              <a:lnSpc>
                <a:spcPct val="100000"/>
              </a:lnSpc>
            </a:pPr>
            <a:r>
              <a:rPr sz="1600" b="0" i="0">
                <a:solidFill>
                  <a:srgbClr val="F7F2E8"/>
                </a:solidFill>
                <a:latin typeface="Segoe UI Semibold"/>
              </a:rPr>
              <a:t>Actividad del chat</a:t>
            </a:r>
          </a:p>
        </p:txBody>
      </p:sp>
      <p:sp>
        <p:nvSpPr>
          <p:cNvPr id="15" name="TextBox 14"/>
          <p:cNvSpPr txBox="1"/>
          <p:nvPr/>
        </p:nvSpPr>
        <p:spPr>
          <a:xfrm>
            <a:off x="4447946" y="2657855"/>
            <a:ext cx="3295802" cy="1292352"/>
          </a:xfrm>
          <a:prstGeom prst="rect">
            <a:avLst/>
          </a:prstGeom>
          <a:noFill/>
        </p:spPr>
        <p:txBody>
          <a:bodyPr wrap="square" lIns="45720" rIns="45720" tIns="27432" bIns="27432" anchor="t">
            <a:noAutofit/>
          </a:bodyPr>
          <a:lstStyle/>
          <a:p>
            <a:pPr algn="l">
              <a:lnSpc>
                <a:spcPct val="100000"/>
              </a:lnSpc>
            </a:pPr>
            <a:r>
              <a:rPr sz="1300" b="0" i="0">
                <a:solidFill>
                  <a:srgbClr val="A7B2B0"/>
                </a:solidFill>
                <a:latin typeface="Segoe UI"/>
              </a:rPr>
              <a:t>Tus llamadas medidas, tokens de input/output y tendencias diarias.</a:t>
            </a:r>
          </a:p>
        </p:txBody>
      </p:sp>
      <p:sp>
        <p:nvSpPr>
          <p:cNvPr id="16" name="Rounded Rectangle 15"/>
          <p:cNvSpPr/>
          <p:nvPr/>
        </p:nvSpPr>
        <p:spPr>
          <a:xfrm>
            <a:off x="8072932" y="2084831"/>
            <a:ext cx="3551834" cy="1956816"/>
          </a:xfrm>
          <a:prstGeom prst="roundRect">
            <a:avLst>
              <a:gd name="adj" fmla="val 5607"/>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8237524" y="2212848"/>
            <a:ext cx="502920" cy="45720"/>
          </a:xfrm>
          <a:prstGeom prst="rect">
            <a:avLst/>
          </a:prstGeom>
          <a:solidFill>
            <a:srgbClr val="E2B4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200948" y="2304287"/>
            <a:ext cx="3295802" cy="353568"/>
          </a:xfrm>
          <a:prstGeom prst="rect">
            <a:avLst/>
          </a:prstGeom>
          <a:noFill/>
        </p:spPr>
        <p:txBody>
          <a:bodyPr wrap="square" lIns="45720" rIns="45720" tIns="27432" bIns="27432" anchor="t">
            <a:noAutofit/>
          </a:bodyPr>
          <a:lstStyle/>
          <a:p>
            <a:pPr algn="l">
              <a:lnSpc>
                <a:spcPct val="100000"/>
              </a:lnSpc>
            </a:pPr>
            <a:r>
              <a:rPr sz="1600" b="0" i="0">
                <a:solidFill>
                  <a:srgbClr val="F7F2E8"/>
                </a:solidFill>
                <a:latin typeface="Segoe UI Semibold"/>
              </a:rPr>
              <a:t>Modelos</a:t>
            </a:r>
          </a:p>
        </p:txBody>
      </p:sp>
      <p:sp>
        <p:nvSpPr>
          <p:cNvPr id="19" name="TextBox 18"/>
          <p:cNvSpPr txBox="1"/>
          <p:nvPr/>
        </p:nvSpPr>
        <p:spPr>
          <a:xfrm>
            <a:off x="8200948" y="2657855"/>
            <a:ext cx="3295802" cy="1292352"/>
          </a:xfrm>
          <a:prstGeom prst="rect">
            <a:avLst/>
          </a:prstGeom>
          <a:noFill/>
        </p:spPr>
        <p:txBody>
          <a:bodyPr wrap="square" lIns="45720" rIns="45720" tIns="27432" bIns="27432" anchor="t">
            <a:noAutofit/>
          </a:bodyPr>
          <a:lstStyle/>
          <a:p>
            <a:pPr algn="l">
              <a:lnSpc>
                <a:spcPct val="100000"/>
              </a:lnSpc>
            </a:pPr>
            <a:r>
              <a:rPr sz="1300" b="0" i="0">
                <a:solidFill>
                  <a:srgbClr val="A7B2B0"/>
                </a:solidFill>
                <a:latin typeface="Segoe UI"/>
              </a:rPr>
              <a:t>Actividad registrada de modelos y fechas UTC pico; el inventario del servidor a un lado.</a:t>
            </a:r>
          </a:p>
        </p:txBody>
      </p:sp>
      <p:sp>
        <p:nvSpPr>
          <p:cNvPr id="20" name="Rounded Rectangle 19"/>
          <p:cNvSpPr/>
          <p:nvPr/>
        </p:nvSpPr>
        <p:spPr>
          <a:xfrm>
            <a:off x="566928" y="4242816"/>
            <a:ext cx="3551834" cy="1956816"/>
          </a:xfrm>
          <a:prstGeom prst="roundRect">
            <a:avLst>
              <a:gd name="adj" fmla="val 5607"/>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ectangle 20"/>
          <p:cNvSpPr/>
          <p:nvPr/>
        </p:nvSpPr>
        <p:spPr>
          <a:xfrm>
            <a:off x="731520" y="4370832"/>
            <a:ext cx="502920" cy="45720"/>
          </a:xfrm>
          <a:prstGeom prst="rect">
            <a:avLst/>
          </a:prstGeom>
          <a:solidFill>
            <a:srgbClr val="46D2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694944" y="4462272"/>
            <a:ext cx="3295802" cy="353568"/>
          </a:xfrm>
          <a:prstGeom prst="rect">
            <a:avLst/>
          </a:prstGeom>
          <a:noFill/>
        </p:spPr>
        <p:txBody>
          <a:bodyPr wrap="square" lIns="45720" rIns="45720" tIns="27432" bIns="27432" anchor="t">
            <a:noAutofit/>
          </a:bodyPr>
          <a:lstStyle/>
          <a:p>
            <a:pPr algn="l">
              <a:lnSpc>
                <a:spcPct val="100000"/>
              </a:lnSpc>
            </a:pPr>
            <a:r>
              <a:rPr sz="1600" b="0" i="0">
                <a:solidFill>
                  <a:srgbClr val="F7F2E8"/>
                </a:solidFill>
                <a:latin typeface="Segoe UI Semibold"/>
              </a:rPr>
              <a:t>Mientras está ocupada</a:t>
            </a:r>
          </a:p>
        </p:txBody>
      </p:sp>
      <p:sp>
        <p:nvSpPr>
          <p:cNvPr id="23" name="TextBox 22"/>
          <p:cNvSpPr txBox="1"/>
          <p:nvPr/>
        </p:nvSpPr>
        <p:spPr>
          <a:xfrm>
            <a:off x="694944" y="4815840"/>
            <a:ext cx="3295802" cy="1292352"/>
          </a:xfrm>
          <a:prstGeom prst="rect">
            <a:avLst/>
          </a:prstGeom>
          <a:noFill/>
        </p:spPr>
        <p:txBody>
          <a:bodyPr wrap="square" lIns="45720" rIns="45720" tIns="27432" bIns="27432" anchor="t">
            <a:noAutofit/>
          </a:bodyPr>
          <a:lstStyle/>
          <a:p>
            <a:pPr algn="l">
              <a:lnSpc>
                <a:spcPct val="100000"/>
              </a:lnSpc>
            </a:pPr>
            <a:r>
              <a:rPr sz="1300" b="0" i="0">
                <a:solidFill>
                  <a:srgbClr val="A7B2B0"/>
                </a:solidFill>
                <a:latin typeface="Segoe UI"/>
              </a:rPr>
              <a:t>Abre y actualiza sin interrumpir la solicitud al modelo.</a:t>
            </a:r>
          </a:p>
        </p:txBody>
      </p:sp>
      <p:sp>
        <p:nvSpPr>
          <p:cNvPr id="24" name="Rounded Rectangle 23"/>
          <p:cNvSpPr/>
          <p:nvPr/>
        </p:nvSpPr>
        <p:spPr>
          <a:xfrm>
            <a:off x="4319930" y="4242816"/>
            <a:ext cx="3551834" cy="1956816"/>
          </a:xfrm>
          <a:prstGeom prst="roundRect">
            <a:avLst>
              <a:gd name="adj" fmla="val 5607"/>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ectangle 24"/>
          <p:cNvSpPr/>
          <p:nvPr/>
        </p:nvSpPr>
        <p:spPr>
          <a:xfrm>
            <a:off x="4484522" y="4370832"/>
            <a:ext cx="502920" cy="45720"/>
          </a:xfrm>
          <a:prstGeom prst="rect">
            <a:avLst/>
          </a:prstGeom>
          <a:solidFill>
            <a:srgbClr val="D25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4447946" y="4462272"/>
            <a:ext cx="3295802" cy="353568"/>
          </a:xfrm>
          <a:prstGeom prst="rect">
            <a:avLst/>
          </a:prstGeom>
          <a:noFill/>
        </p:spPr>
        <p:txBody>
          <a:bodyPr wrap="square" lIns="45720" rIns="45720" tIns="27432" bIns="27432" anchor="t">
            <a:noAutofit/>
          </a:bodyPr>
          <a:lstStyle/>
          <a:p>
            <a:pPr algn="l">
              <a:lnSpc>
                <a:spcPct val="100000"/>
              </a:lnSpc>
            </a:pPr>
            <a:r>
              <a:rPr sz="1600" b="0" i="0">
                <a:solidFill>
                  <a:srgbClr val="F7F2E8"/>
                </a:solidFill>
                <a:latin typeface="Segoe UI Semibold"/>
              </a:rPr>
              <a:t>Tamaño normal</a:t>
            </a:r>
          </a:p>
        </p:txBody>
      </p:sp>
      <p:sp>
        <p:nvSpPr>
          <p:cNvPr id="27" name="TextBox 26"/>
          <p:cNvSpPr txBox="1"/>
          <p:nvPr/>
        </p:nvSpPr>
        <p:spPr>
          <a:xfrm>
            <a:off x="4447946" y="4815840"/>
            <a:ext cx="3295802" cy="1292352"/>
          </a:xfrm>
          <a:prstGeom prst="rect">
            <a:avLst/>
          </a:prstGeom>
          <a:noFill/>
        </p:spPr>
        <p:txBody>
          <a:bodyPr wrap="square" lIns="45720" rIns="45720" tIns="27432" bIns="27432" anchor="t">
            <a:noAutofit/>
          </a:bodyPr>
          <a:lstStyle/>
          <a:p>
            <a:pPr algn="l">
              <a:lnSpc>
                <a:spcPct val="100000"/>
              </a:lnSpc>
            </a:pPr>
            <a:r>
              <a:rPr sz="1300" b="0" i="0">
                <a:solidFill>
                  <a:srgbClr val="A7B2B0"/>
                </a:solidFill>
                <a:latin typeface="Segoe UI"/>
              </a:rPr>
              <a:t>Menos del 60% del área del cliente; tipografía común y botones claros.</a:t>
            </a:r>
          </a:p>
        </p:txBody>
      </p:sp>
      <p:sp>
        <p:nvSpPr>
          <p:cNvPr id="28" name="Rounded Rectangle 27"/>
          <p:cNvSpPr/>
          <p:nvPr/>
        </p:nvSpPr>
        <p:spPr>
          <a:xfrm>
            <a:off x="8072932" y="4242816"/>
            <a:ext cx="3551834" cy="1956816"/>
          </a:xfrm>
          <a:prstGeom prst="roundRect">
            <a:avLst>
              <a:gd name="adj" fmla="val 5607"/>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Rectangle 28"/>
          <p:cNvSpPr/>
          <p:nvPr/>
        </p:nvSpPr>
        <p:spPr>
          <a:xfrm>
            <a:off x="8237524" y="4370832"/>
            <a:ext cx="502920" cy="45720"/>
          </a:xfrm>
          <a:prstGeom prst="rect">
            <a:avLst/>
          </a:prstGeom>
          <a:solidFill>
            <a:srgbClr val="D957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8200948" y="4462272"/>
            <a:ext cx="3295802" cy="353568"/>
          </a:xfrm>
          <a:prstGeom prst="rect">
            <a:avLst/>
          </a:prstGeom>
          <a:noFill/>
        </p:spPr>
        <p:txBody>
          <a:bodyPr wrap="square" lIns="45720" rIns="45720" tIns="27432" bIns="27432" anchor="t">
            <a:noAutofit/>
          </a:bodyPr>
          <a:lstStyle/>
          <a:p>
            <a:pPr algn="l">
              <a:lnSpc>
                <a:spcPct val="100000"/>
              </a:lnSpc>
            </a:pPr>
            <a:r>
              <a:rPr sz="1600" b="0" i="0">
                <a:solidFill>
                  <a:srgbClr val="F7F2E8"/>
                </a:solidFill>
                <a:latin typeface="Segoe UI Semibold"/>
              </a:rPr>
              <a:t>Accesible</a:t>
            </a:r>
          </a:p>
        </p:txBody>
      </p:sp>
      <p:sp>
        <p:nvSpPr>
          <p:cNvPr id="31" name="TextBox 30"/>
          <p:cNvSpPr txBox="1"/>
          <p:nvPr/>
        </p:nvSpPr>
        <p:spPr>
          <a:xfrm>
            <a:off x="8200948" y="4815840"/>
            <a:ext cx="3295802" cy="1292352"/>
          </a:xfrm>
          <a:prstGeom prst="rect">
            <a:avLst/>
          </a:prstGeom>
          <a:noFill/>
        </p:spPr>
        <p:txBody>
          <a:bodyPr wrap="square" lIns="45720" rIns="45720" tIns="27432" bIns="27432" anchor="t">
            <a:noAutofit/>
          </a:bodyPr>
          <a:lstStyle/>
          <a:p>
            <a:pPr algn="l">
              <a:lnSpc>
                <a:spcPct val="100000"/>
              </a:lnSpc>
            </a:pPr>
            <a:r>
              <a:rPr sz="1300" b="0" i="0">
                <a:solidFill>
                  <a:srgbClr val="A7B2B0"/>
                </a:solidFill>
                <a:latin typeface="Segoe UI"/>
              </a:rPr>
              <a:t>Pestañas con teclado, tooltips en las gráficas, trampa de foco y comportamiento normal de Escape/Cerrar.</a:t>
            </a:r>
          </a:p>
        </p:txBody>
      </p:sp>
      <p:cxnSp>
        <p:nvCxnSpPr>
          <p:cNvPr id="32" name="Connector 31"/>
          <p:cNvCxnSpPr/>
          <p:nvPr/>
        </p:nvCxnSpPr>
        <p:spPr>
          <a:xfrm>
            <a:off x="566928" y="6373368"/>
            <a:ext cx="11057839" cy="0"/>
          </a:xfrm>
          <a:prstGeom prst="line">
            <a:avLst/>
          </a:prstGeom>
          <a:ln w="7620">
            <a:solidFill>
              <a:srgbClr val="2A3A40"/>
            </a:solidFill>
          </a:ln>
        </p:spPr>
        <p:style>
          <a:lnRef idx="2">
            <a:schemeClr val="accent1"/>
          </a:lnRef>
          <a:fillRef idx="0">
            <a:schemeClr val="accent1"/>
          </a:fillRef>
          <a:effectRef idx="1">
            <a:schemeClr val="accent1"/>
          </a:effectRef>
          <a:fontRef idx="minor">
            <a:schemeClr val="tx1"/>
          </a:fontRef>
        </p:style>
      </p:cxnSp>
      <p:sp>
        <p:nvSpPr>
          <p:cNvPr id="33" name="TextBox 32"/>
          <p:cNvSpPr txBox="1"/>
          <p:nvPr/>
        </p:nvSpPr>
        <p:spPr>
          <a:xfrm>
            <a:off x="566928" y="6419088"/>
            <a:ext cx="6858000" cy="274320"/>
          </a:xfrm>
          <a:prstGeom prst="rect">
            <a:avLst/>
          </a:prstGeom>
          <a:noFill/>
        </p:spPr>
        <p:txBody>
          <a:bodyPr wrap="square" lIns="45720" rIns="45720" tIns="27432" bIns="27432" anchor="t">
            <a:noAutofit/>
          </a:bodyPr>
          <a:lstStyle/>
          <a:p>
            <a:pPr algn="l">
              <a:lnSpc>
                <a:spcPct val="100000"/>
              </a:lnSpc>
            </a:pPr>
            <a:r>
              <a:rPr sz="850" b="0" i="0" spc="120">
                <a:solidFill>
                  <a:srgbClr val="A7B2B0"/>
                </a:solidFill>
                <a:latin typeface="Segoe UI Semibold"/>
              </a:rPr>
              <a:t>TLAMATINI  ·  III · DÓNDE TRABAJAS CON ELLA</a:t>
            </a:r>
          </a:p>
        </p:txBody>
      </p:sp>
      <p:sp>
        <p:nvSpPr>
          <p:cNvPr id="34" name="TextBox 33"/>
          <p:cNvSpPr txBox="1"/>
          <p:nvPr/>
        </p:nvSpPr>
        <p:spPr>
          <a:xfrm>
            <a:off x="8698687" y="6419088"/>
            <a:ext cx="2926080" cy="274320"/>
          </a:xfrm>
          <a:prstGeom prst="rect">
            <a:avLst/>
          </a:prstGeom>
          <a:noFill/>
        </p:spPr>
        <p:txBody>
          <a:bodyPr wrap="square" lIns="45720" rIns="45720" tIns="27432" bIns="27432" anchor="t">
            <a:noAutofit/>
          </a:bodyPr>
          <a:lstStyle/>
          <a:p>
            <a:pPr algn="r">
              <a:lnSpc>
                <a:spcPct val="100000"/>
              </a:lnSpc>
            </a:pPr>
            <a:r>
              <a:rPr sz="850" b="0" i="0" spc="100">
                <a:solidFill>
                  <a:srgbClr val="A7B2B0"/>
                </a:solidFill>
                <a:latin typeface="Segoe UI Semibold"/>
              </a:rPr>
              <a:t>v1.91.1   ·   43</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content.png"/>
          <p:cNvPicPr>
            <a:picLocks noChangeAspect="1"/>
          </p:cNvPicPr>
          <p:nvPr/>
        </p:nvPicPr>
        <p:blipFill>
          <a:blip r:embed="rId2"/>
          <a:stretch>
            <a:fillRect/>
          </a:stretch>
        </p:blipFill>
        <p:spPr>
          <a:xfrm>
            <a:off x="0" y="0"/>
            <a:ext cx="12191695" cy="6858000"/>
          </a:xfrm>
          <a:prstGeom prst="rect">
            <a:avLst/>
          </a:prstGeom>
        </p:spPr>
      </p:pic>
      <p:sp>
        <p:nvSpPr>
          <p:cNvPr id="3" name="Diamond 2"/>
          <p:cNvSpPr/>
          <p:nvPr/>
        </p:nvSpPr>
        <p:spPr>
          <a:xfrm>
            <a:off x="566928" y="457200"/>
            <a:ext cx="100584" cy="100584"/>
          </a:xfrm>
          <a:prstGeom prst="diamond">
            <a:avLst/>
          </a:prstGeom>
          <a:solidFill>
            <a:srgbClr val="E2B4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49808" y="365760"/>
            <a:ext cx="8229600" cy="292608"/>
          </a:xfrm>
          <a:prstGeom prst="rect">
            <a:avLst/>
          </a:prstGeom>
          <a:noFill/>
        </p:spPr>
        <p:txBody>
          <a:bodyPr wrap="square" lIns="45720" rIns="45720" tIns="27432" bIns="27432" anchor="t">
            <a:noAutofit/>
          </a:bodyPr>
          <a:lstStyle/>
          <a:p>
            <a:pPr algn="l">
              <a:lnSpc>
                <a:spcPct val="100000"/>
              </a:lnSpc>
            </a:pPr>
            <a:r>
              <a:rPr sz="1100" b="0" i="0" spc="240">
                <a:solidFill>
                  <a:srgbClr val="C98457"/>
                </a:solidFill>
                <a:latin typeface="Segoe UI Semibold"/>
              </a:rPr>
              <a:t>DATOS DE LA CUENTA</a:t>
            </a:r>
          </a:p>
        </p:txBody>
      </p:sp>
      <p:sp>
        <p:nvSpPr>
          <p:cNvPr id="5" name="TextBox 4"/>
          <p:cNvSpPr txBox="1"/>
          <p:nvPr/>
        </p:nvSpPr>
        <p:spPr>
          <a:xfrm>
            <a:off x="539496" y="676656"/>
            <a:ext cx="11057839" cy="658368"/>
          </a:xfrm>
          <a:prstGeom prst="rect">
            <a:avLst/>
          </a:prstGeom>
          <a:noFill/>
        </p:spPr>
        <p:txBody>
          <a:bodyPr wrap="square" lIns="45720" rIns="45720" tIns="27432" bIns="27432" anchor="t">
            <a:noAutofit/>
          </a:bodyPr>
          <a:lstStyle/>
          <a:p>
            <a:pPr algn="l">
              <a:lnSpc>
                <a:spcPct val="100000"/>
              </a:lnSpc>
            </a:pPr>
            <a:r>
              <a:rPr sz="3100" b="0" i="0">
                <a:solidFill>
                  <a:srgbClr val="F7F2E8"/>
                </a:solidFill>
                <a:latin typeface="Palatino Linotype"/>
              </a:rPr>
              <a:t>Alcances distintos, claramente identificados</a:t>
            </a:r>
          </a:p>
        </p:txBody>
      </p:sp>
      <p:sp>
        <p:nvSpPr>
          <p:cNvPr id="6" name="Rectangle 5"/>
          <p:cNvSpPr/>
          <p:nvPr/>
        </p:nvSpPr>
        <p:spPr>
          <a:xfrm>
            <a:off x="566928" y="1344168"/>
            <a:ext cx="822960" cy="36576"/>
          </a:xfrm>
          <a:prstGeom prst="rect">
            <a:avLst/>
          </a:prstGeom>
          <a:solidFill>
            <a:srgbClr val="E2B4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566928" y="1444752"/>
            <a:ext cx="10692079" cy="585216"/>
          </a:xfrm>
          <a:prstGeom prst="rect">
            <a:avLst/>
          </a:prstGeom>
          <a:noFill/>
        </p:spPr>
        <p:txBody>
          <a:bodyPr wrap="square" lIns="45720" rIns="45720" tIns="27432" bIns="27432" anchor="t">
            <a:noAutofit/>
          </a:bodyPr>
          <a:lstStyle/>
          <a:p>
            <a:pPr algn="l">
              <a:lnSpc>
                <a:spcPct val="100000"/>
              </a:lnSpc>
            </a:pPr>
            <a:r>
              <a:rPr sz="1450" b="0" i="0">
                <a:solidFill>
                  <a:srgbClr val="A7B2B0"/>
                </a:solidFill>
                <a:latin typeface="Segoe UI Semilight"/>
              </a:rPr>
              <a:t>Los créditos mensuales, el uso rodante en la nube y la actividad local registrada responden preguntas distintas.</a:t>
            </a:r>
          </a:p>
        </p:txBody>
      </p:sp>
      <p:sp>
        <p:nvSpPr>
          <p:cNvPr id="8" name="Rounded Rectangle 7"/>
          <p:cNvSpPr/>
          <p:nvPr/>
        </p:nvSpPr>
        <p:spPr>
          <a:xfrm>
            <a:off x="566928" y="2084831"/>
            <a:ext cx="3551834" cy="1956816"/>
          </a:xfrm>
          <a:prstGeom prst="roundRect">
            <a:avLst>
              <a:gd name="adj" fmla="val 5607"/>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ectangle 8"/>
          <p:cNvSpPr/>
          <p:nvPr/>
        </p:nvSpPr>
        <p:spPr>
          <a:xfrm>
            <a:off x="731520" y="2212848"/>
            <a:ext cx="502920" cy="45720"/>
          </a:xfrm>
          <a:prstGeom prst="rect">
            <a:avLst/>
          </a:prstGeom>
          <a:solidFill>
            <a:srgbClr val="3BBE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694944" y="2304287"/>
            <a:ext cx="3295802" cy="353568"/>
          </a:xfrm>
          <a:prstGeom prst="rect">
            <a:avLst/>
          </a:prstGeom>
          <a:noFill/>
        </p:spPr>
        <p:txBody>
          <a:bodyPr wrap="square" lIns="45720" rIns="45720" tIns="27432" bIns="27432" anchor="t">
            <a:noAutofit/>
          </a:bodyPr>
          <a:lstStyle/>
          <a:p>
            <a:pPr algn="l">
              <a:lnSpc>
                <a:spcPct val="100000"/>
              </a:lnSpc>
            </a:pPr>
            <a:r>
              <a:rPr sz="1600" b="0" i="0">
                <a:solidFill>
                  <a:srgbClr val="F7F2E8"/>
                </a:solidFill>
                <a:latin typeface="Segoe UI Semibold"/>
              </a:rPr>
              <a:t>Saldo mensual</a:t>
            </a:r>
          </a:p>
        </p:txBody>
      </p:sp>
      <p:sp>
        <p:nvSpPr>
          <p:cNvPr id="11" name="TextBox 10"/>
          <p:cNvSpPr txBox="1"/>
          <p:nvPr/>
        </p:nvSpPr>
        <p:spPr>
          <a:xfrm>
            <a:off x="694944" y="2657855"/>
            <a:ext cx="3295802" cy="1292352"/>
          </a:xfrm>
          <a:prstGeom prst="rect">
            <a:avLst/>
          </a:prstGeom>
          <a:noFill/>
        </p:spPr>
        <p:txBody>
          <a:bodyPr wrap="square" lIns="45720" rIns="45720" tIns="27432" bIns="27432" anchor="t">
            <a:noAutofit/>
          </a:bodyPr>
          <a:lstStyle/>
          <a:p>
            <a:pPr algn="l">
              <a:lnSpc>
                <a:spcPct val="100000"/>
              </a:lnSpc>
            </a:pPr>
            <a:r>
              <a:rPr sz="1300" b="0" i="0">
                <a:solidFill>
                  <a:srgbClr val="A7B2B0"/>
                </a:solidFill>
                <a:latin typeface="Segoe UI"/>
              </a:rPr>
              <a:t>Créditos incluidos y comprados reales de /api/balance.</a:t>
            </a:r>
          </a:p>
        </p:txBody>
      </p:sp>
      <p:sp>
        <p:nvSpPr>
          <p:cNvPr id="12" name="Rounded Rectangle 11"/>
          <p:cNvSpPr/>
          <p:nvPr/>
        </p:nvSpPr>
        <p:spPr>
          <a:xfrm>
            <a:off x="4319930" y="2084831"/>
            <a:ext cx="3551834" cy="1956816"/>
          </a:xfrm>
          <a:prstGeom prst="roundRect">
            <a:avLst>
              <a:gd name="adj" fmla="val 5607"/>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4484522" y="2212848"/>
            <a:ext cx="502920" cy="45720"/>
          </a:xfrm>
          <a:prstGeom prst="rect">
            <a:avLst/>
          </a:prstGeom>
          <a:solidFill>
            <a:srgbClr val="C984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4447946" y="2304287"/>
            <a:ext cx="3295802" cy="353568"/>
          </a:xfrm>
          <a:prstGeom prst="rect">
            <a:avLst/>
          </a:prstGeom>
          <a:noFill/>
        </p:spPr>
        <p:txBody>
          <a:bodyPr wrap="square" lIns="45720" rIns="45720" tIns="27432" bIns="27432" anchor="t">
            <a:noAutofit/>
          </a:bodyPr>
          <a:lstStyle/>
          <a:p>
            <a:pPr algn="l">
              <a:lnSpc>
                <a:spcPct val="100000"/>
              </a:lnSpc>
            </a:pPr>
            <a:r>
              <a:rPr sz="1600" b="0" i="0">
                <a:solidFill>
                  <a:srgbClr val="F7F2E8"/>
                </a:solidFill>
                <a:latin typeface="Segoe UI Semibold"/>
              </a:rPr>
              <a:t>Historial rodante</a:t>
            </a:r>
          </a:p>
        </p:txBody>
      </p:sp>
      <p:sp>
        <p:nvSpPr>
          <p:cNvPr id="15" name="TextBox 14"/>
          <p:cNvSpPr txBox="1"/>
          <p:nvPr/>
        </p:nvSpPr>
        <p:spPr>
          <a:xfrm>
            <a:off x="4447946" y="2657855"/>
            <a:ext cx="3295802" cy="1292352"/>
          </a:xfrm>
          <a:prstGeom prst="rect">
            <a:avLst/>
          </a:prstGeom>
          <a:noFill/>
        </p:spPr>
        <p:txBody>
          <a:bodyPr wrap="square" lIns="45720" rIns="45720" tIns="27432" bIns="27432" anchor="t">
            <a:noAutofit/>
          </a:bodyPr>
          <a:lstStyle/>
          <a:p>
            <a:pPr algn="l">
              <a:lnSpc>
                <a:spcPct val="100000"/>
              </a:lnSpc>
            </a:pPr>
            <a:r>
              <a:rPr sz="1300" b="0" i="0">
                <a:solidFill>
                  <a:srgbClr val="A7B2B0"/>
                </a:solidFill>
                <a:latin typeface="Segoe UI"/>
              </a:rPr>
              <a:t>Gasto y tokens en la nube de 7/30 días; aparte del periodo de facturación.</a:t>
            </a:r>
          </a:p>
        </p:txBody>
      </p:sp>
      <p:sp>
        <p:nvSpPr>
          <p:cNvPr id="16" name="Rounded Rectangle 15"/>
          <p:cNvSpPr/>
          <p:nvPr/>
        </p:nvSpPr>
        <p:spPr>
          <a:xfrm>
            <a:off x="8072932" y="2084831"/>
            <a:ext cx="3551834" cy="1956816"/>
          </a:xfrm>
          <a:prstGeom prst="roundRect">
            <a:avLst>
              <a:gd name="adj" fmla="val 5607"/>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8237524" y="2212848"/>
            <a:ext cx="502920" cy="45720"/>
          </a:xfrm>
          <a:prstGeom prst="rect">
            <a:avLst/>
          </a:prstGeom>
          <a:solidFill>
            <a:srgbClr val="E2B4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200948" y="2304287"/>
            <a:ext cx="3295802" cy="353568"/>
          </a:xfrm>
          <a:prstGeom prst="rect">
            <a:avLst/>
          </a:prstGeom>
          <a:noFill/>
        </p:spPr>
        <p:txBody>
          <a:bodyPr wrap="square" lIns="45720" rIns="45720" tIns="27432" bIns="27432" anchor="t">
            <a:noAutofit/>
          </a:bodyPr>
          <a:lstStyle/>
          <a:p>
            <a:pPr algn="l">
              <a:lnSpc>
                <a:spcPct val="100000"/>
              </a:lnSpc>
            </a:pPr>
            <a:r>
              <a:rPr sz="1600" b="0" i="0">
                <a:solidFill>
                  <a:srgbClr val="F7F2E8"/>
                </a:solidFill>
                <a:latin typeface="Segoe UI Semibold"/>
              </a:rPr>
              <a:t>Gráficas de modelos locales</a:t>
            </a:r>
          </a:p>
        </p:txBody>
      </p:sp>
      <p:sp>
        <p:nvSpPr>
          <p:cNvPr id="19" name="TextBox 18"/>
          <p:cNvSpPr txBox="1"/>
          <p:nvPr/>
        </p:nvSpPr>
        <p:spPr>
          <a:xfrm>
            <a:off x="8200948" y="2657855"/>
            <a:ext cx="3295802" cy="1292352"/>
          </a:xfrm>
          <a:prstGeom prst="rect">
            <a:avLst/>
          </a:prstGeom>
          <a:noFill/>
        </p:spPr>
        <p:txBody>
          <a:bodyPr wrap="square" lIns="45720" rIns="45720" tIns="27432" bIns="27432" anchor="t">
            <a:noAutofit/>
          </a:bodyPr>
          <a:lstStyle/>
          <a:p>
            <a:pPr algn="l">
              <a:lnSpc>
                <a:spcPct val="100000"/>
              </a:lnSpc>
            </a:pPr>
            <a:r>
              <a:rPr sz="1300" b="0" i="0">
                <a:solidFill>
                  <a:srgbClr val="A7B2B0"/>
                </a:solidFill>
                <a:latin typeface="Segoe UI"/>
              </a:rPr>
              <a:t>Actividad medida del chat principal de Tlamatini, no el historial de todo el sitio web.</a:t>
            </a:r>
          </a:p>
        </p:txBody>
      </p:sp>
      <p:sp>
        <p:nvSpPr>
          <p:cNvPr id="20" name="Rounded Rectangle 19"/>
          <p:cNvSpPr/>
          <p:nvPr/>
        </p:nvSpPr>
        <p:spPr>
          <a:xfrm>
            <a:off x="566928" y="4242816"/>
            <a:ext cx="3551834" cy="1956816"/>
          </a:xfrm>
          <a:prstGeom prst="roundRect">
            <a:avLst>
              <a:gd name="adj" fmla="val 5607"/>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ectangle 20"/>
          <p:cNvSpPr/>
          <p:nvPr/>
        </p:nvSpPr>
        <p:spPr>
          <a:xfrm>
            <a:off x="731520" y="4370832"/>
            <a:ext cx="502920" cy="45720"/>
          </a:xfrm>
          <a:prstGeom prst="rect">
            <a:avLst/>
          </a:prstGeom>
          <a:solidFill>
            <a:srgbClr val="46D2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694944" y="4462272"/>
            <a:ext cx="3295802" cy="353568"/>
          </a:xfrm>
          <a:prstGeom prst="rect">
            <a:avLst/>
          </a:prstGeom>
          <a:noFill/>
        </p:spPr>
        <p:txBody>
          <a:bodyPr wrap="square" lIns="45720" rIns="45720" tIns="27432" bIns="27432" anchor="t">
            <a:noAutofit/>
          </a:bodyPr>
          <a:lstStyle/>
          <a:p>
            <a:pPr algn="l">
              <a:lnSpc>
                <a:spcPct val="100000"/>
              </a:lnSpc>
            </a:pPr>
            <a:r>
              <a:rPr sz="1600" b="0" i="0">
                <a:solidFill>
                  <a:srgbClr val="F7F2E8"/>
                </a:solidFill>
                <a:latin typeface="Segoe UI Semibold"/>
              </a:rPr>
              <a:t>Actualizar</a:t>
            </a:r>
          </a:p>
        </p:txBody>
      </p:sp>
      <p:sp>
        <p:nvSpPr>
          <p:cNvPr id="23" name="TextBox 22"/>
          <p:cNvSpPr txBox="1"/>
          <p:nvPr/>
        </p:nvSpPr>
        <p:spPr>
          <a:xfrm>
            <a:off x="694944" y="4815840"/>
            <a:ext cx="3295802" cy="1292352"/>
          </a:xfrm>
          <a:prstGeom prst="rect">
            <a:avLst/>
          </a:prstGeom>
          <a:noFill/>
        </p:spPr>
        <p:txBody>
          <a:bodyPr wrap="square" lIns="45720" rIns="45720" tIns="27432" bIns="27432" anchor="t">
            <a:noAutofit/>
          </a:bodyPr>
          <a:lstStyle/>
          <a:p>
            <a:pPr algn="l">
              <a:lnSpc>
                <a:spcPct val="100000"/>
              </a:lnSpc>
            </a:pPr>
            <a:r>
              <a:rPr sz="1300" b="0" i="0">
                <a:solidFill>
                  <a:srgbClr val="A7B2B0"/>
                </a:solidFill>
                <a:latin typeface="Segoe UI"/>
              </a:rPr>
              <a:t>Los datos sanos se guardan en caché 60 s; una caída breve se reintenta después de 15 s.</a:t>
            </a:r>
          </a:p>
        </p:txBody>
      </p:sp>
      <p:sp>
        <p:nvSpPr>
          <p:cNvPr id="24" name="Rounded Rectangle 23"/>
          <p:cNvSpPr/>
          <p:nvPr/>
        </p:nvSpPr>
        <p:spPr>
          <a:xfrm>
            <a:off x="4319930" y="4242816"/>
            <a:ext cx="3551834" cy="1956816"/>
          </a:xfrm>
          <a:prstGeom prst="roundRect">
            <a:avLst>
              <a:gd name="adj" fmla="val 5607"/>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ectangle 24"/>
          <p:cNvSpPr/>
          <p:nvPr/>
        </p:nvSpPr>
        <p:spPr>
          <a:xfrm>
            <a:off x="4484522" y="4370832"/>
            <a:ext cx="502920" cy="45720"/>
          </a:xfrm>
          <a:prstGeom prst="rect">
            <a:avLst/>
          </a:prstGeom>
          <a:solidFill>
            <a:srgbClr val="D25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4447946" y="4462272"/>
            <a:ext cx="3295802" cy="353568"/>
          </a:xfrm>
          <a:prstGeom prst="rect">
            <a:avLst/>
          </a:prstGeom>
          <a:noFill/>
        </p:spPr>
        <p:txBody>
          <a:bodyPr wrap="square" lIns="45720" rIns="45720" tIns="27432" bIns="27432" anchor="t">
            <a:noAutofit/>
          </a:bodyPr>
          <a:lstStyle/>
          <a:p>
            <a:pPr algn="l">
              <a:lnSpc>
                <a:spcPct val="100000"/>
              </a:lnSpc>
            </a:pPr>
            <a:r>
              <a:rPr sz="1600" b="0" i="0">
                <a:solidFill>
                  <a:srgbClr val="F7F2E8"/>
                </a:solidFill>
                <a:latin typeface="Segoe UI Semibold"/>
              </a:rPr>
              <a:t>Datos faltantes</a:t>
            </a:r>
          </a:p>
        </p:txBody>
      </p:sp>
      <p:sp>
        <p:nvSpPr>
          <p:cNvPr id="27" name="TextBox 26"/>
          <p:cNvSpPr txBox="1"/>
          <p:nvPr/>
        </p:nvSpPr>
        <p:spPr>
          <a:xfrm>
            <a:off x="4447946" y="4815840"/>
            <a:ext cx="3295802" cy="1292352"/>
          </a:xfrm>
          <a:prstGeom prst="rect">
            <a:avLst/>
          </a:prstGeom>
          <a:noFill/>
        </p:spPr>
        <p:txBody>
          <a:bodyPr wrap="square" lIns="45720" rIns="45720" tIns="27432" bIns="27432" anchor="t">
            <a:noAutofit/>
          </a:bodyPr>
          <a:lstStyle/>
          <a:p>
            <a:pPr algn="l">
              <a:lnSpc>
                <a:spcPct val="100000"/>
              </a:lnSpc>
            </a:pPr>
            <a:r>
              <a:rPr sz="1300" b="0" i="0">
                <a:solidFill>
                  <a:srgbClr val="A7B2B0"/>
                </a:solidFill>
                <a:latin typeface="Segoe UI"/>
              </a:rPr>
              <a:t>Explica los valores no disponibles o viejos; sin saldos ni conteos de tokens adivinados.</a:t>
            </a:r>
          </a:p>
        </p:txBody>
      </p:sp>
      <p:sp>
        <p:nvSpPr>
          <p:cNvPr id="28" name="Rounded Rectangle 27"/>
          <p:cNvSpPr/>
          <p:nvPr/>
        </p:nvSpPr>
        <p:spPr>
          <a:xfrm>
            <a:off x="8072932" y="4242816"/>
            <a:ext cx="3551834" cy="1956816"/>
          </a:xfrm>
          <a:prstGeom prst="roundRect">
            <a:avLst>
              <a:gd name="adj" fmla="val 5607"/>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Rectangle 28"/>
          <p:cNvSpPr/>
          <p:nvPr/>
        </p:nvSpPr>
        <p:spPr>
          <a:xfrm>
            <a:off x="8237524" y="4370832"/>
            <a:ext cx="502920" cy="45720"/>
          </a:xfrm>
          <a:prstGeom prst="rect">
            <a:avLst/>
          </a:prstGeom>
          <a:solidFill>
            <a:srgbClr val="D957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8200948" y="4462272"/>
            <a:ext cx="3295802" cy="353568"/>
          </a:xfrm>
          <a:prstGeom prst="rect">
            <a:avLst/>
          </a:prstGeom>
          <a:noFill/>
        </p:spPr>
        <p:txBody>
          <a:bodyPr wrap="square" lIns="45720" rIns="45720" tIns="27432" bIns="27432" anchor="t">
            <a:noAutofit/>
          </a:bodyPr>
          <a:lstStyle/>
          <a:p>
            <a:pPr algn="l">
              <a:lnSpc>
                <a:spcPct val="100000"/>
              </a:lnSpc>
            </a:pPr>
            <a:r>
              <a:rPr sz="1600" b="0" i="0">
                <a:solidFill>
                  <a:srgbClr val="F7F2E8"/>
                </a:solidFill>
                <a:latin typeface="Segoe UI Semibold"/>
              </a:rPr>
              <a:t>Referencias</a:t>
            </a:r>
          </a:p>
        </p:txBody>
      </p:sp>
      <p:sp>
        <p:nvSpPr>
          <p:cNvPr id="31" name="TextBox 30"/>
          <p:cNvSpPr txBox="1"/>
          <p:nvPr/>
        </p:nvSpPr>
        <p:spPr>
          <a:xfrm>
            <a:off x="8200948" y="4815840"/>
            <a:ext cx="3295802" cy="1292352"/>
          </a:xfrm>
          <a:prstGeom prst="rect">
            <a:avLst/>
          </a:prstGeom>
          <a:noFill/>
        </p:spPr>
        <p:txBody>
          <a:bodyPr wrap="square" lIns="45720" rIns="45720" tIns="27432" bIns="27432" anchor="t">
            <a:noAutofit/>
          </a:bodyPr>
          <a:lstStyle/>
          <a:p>
            <a:pPr algn="l">
              <a:lnSpc>
                <a:spcPct val="100000"/>
              </a:lnSpc>
            </a:pPr>
            <a:r>
              <a:rPr sz="1300" b="0" i="0">
                <a:solidFill>
                  <a:srgbClr val="A7B2B0"/>
                </a:solidFill>
                <a:latin typeface="Segoe UI"/>
              </a:rPr>
              <a:t>docs.ollama.com/api/balance y /api/cloud-usage; docs/usage-dashboard.md.</a:t>
            </a:r>
          </a:p>
        </p:txBody>
      </p:sp>
      <p:cxnSp>
        <p:nvCxnSpPr>
          <p:cNvPr id="32" name="Connector 31"/>
          <p:cNvCxnSpPr/>
          <p:nvPr/>
        </p:nvCxnSpPr>
        <p:spPr>
          <a:xfrm>
            <a:off x="566928" y="6373368"/>
            <a:ext cx="11057839" cy="0"/>
          </a:xfrm>
          <a:prstGeom prst="line">
            <a:avLst/>
          </a:prstGeom>
          <a:ln w="7620">
            <a:solidFill>
              <a:srgbClr val="2A3A40"/>
            </a:solidFill>
          </a:ln>
        </p:spPr>
        <p:style>
          <a:lnRef idx="2">
            <a:schemeClr val="accent1"/>
          </a:lnRef>
          <a:fillRef idx="0">
            <a:schemeClr val="accent1"/>
          </a:fillRef>
          <a:effectRef idx="1">
            <a:schemeClr val="accent1"/>
          </a:effectRef>
          <a:fontRef idx="minor">
            <a:schemeClr val="tx1"/>
          </a:fontRef>
        </p:style>
      </p:cxnSp>
      <p:sp>
        <p:nvSpPr>
          <p:cNvPr id="33" name="TextBox 32"/>
          <p:cNvSpPr txBox="1"/>
          <p:nvPr/>
        </p:nvSpPr>
        <p:spPr>
          <a:xfrm>
            <a:off x="566928" y="6419088"/>
            <a:ext cx="6858000" cy="274320"/>
          </a:xfrm>
          <a:prstGeom prst="rect">
            <a:avLst/>
          </a:prstGeom>
          <a:noFill/>
        </p:spPr>
        <p:txBody>
          <a:bodyPr wrap="square" lIns="45720" rIns="45720" tIns="27432" bIns="27432" anchor="t">
            <a:noAutofit/>
          </a:bodyPr>
          <a:lstStyle/>
          <a:p>
            <a:pPr algn="l">
              <a:lnSpc>
                <a:spcPct val="100000"/>
              </a:lnSpc>
            </a:pPr>
            <a:r>
              <a:rPr sz="850" b="0" i="0" spc="120">
                <a:solidFill>
                  <a:srgbClr val="A7B2B0"/>
                </a:solidFill>
                <a:latin typeface="Segoe UI Semibold"/>
              </a:rPr>
              <a:t>TLAMATINI  ·  III · DÓNDE TRABAJAS CON ELLA</a:t>
            </a:r>
          </a:p>
        </p:txBody>
      </p:sp>
      <p:sp>
        <p:nvSpPr>
          <p:cNvPr id="34" name="TextBox 33"/>
          <p:cNvSpPr txBox="1"/>
          <p:nvPr/>
        </p:nvSpPr>
        <p:spPr>
          <a:xfrm>
            <a:off x="8698687" y="6419088"/>
            <a:ext cx="2926080" cy="274320"/>
          </a:xfrm>
          <a:prstGeom prst="rect">
            <a:avLst/>
          </a:prstGeom>
          <a:noFill/>
        </p:spPr>
        <p:txBody>
          <a:bodyPr wrap="square" lIns="45720" rIns="45720" tIns="27432" bIns="27432" anchor="t">
            <a:noAutofit/>
          </a:bodyPr>
          <a:lstStyle/>
          <a:p>
            <a:pPr algn="r">
              <a:lnSpc>
                <a:spcPct val="100000"/>
              </a:lnSpc>
            </a:pPr>
            <a:r>
              <a:rPr sz="850" b="0" i="0" spc="100">
                <a:solidFill>
                  <a:srgbClr val="A7B2B0"/>
                </a:solidFill>
                <a:latin typeface="Segoe UI Semibold"/>
              </a:rPr>
              <a:t>v1.91.1   ·   44</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content.png"/>
          <p:cNvPicPr>
            <a:picLocks noChangeAspect="1"/>
          </p:cNvPicPr>
          <p:nvPr/>
        </p:nvPicPr>
        <p:blipFill>
          <a:blip r:embed="rId2"/>
          <a:stretch>
            <a:fillRect/>
          </a:stretch>
        </p:blipFill>
        <p:spPr>
          <a:xfrm>
            <a:off x="0" y="0"/>
            <a:ext cx="12191695" cy="6858000"/>
          </a:xfrm>
          <a:prstGeom prst="rect">
            <a:avLst/>
          </a:prstGeom>
        </p:spPr>
      </p:pic>
      <p:sp>
        <p:nvSpPr>
          <p:cNvPr id="3" name="Diamond 2"/>
          <p:cNvSpPr/>
          <p:nvPr/>
        </p:nvSpPr>
        <p:spPr>
          <a:xfrm>
            <a:off x="566928" y="457200"/>
            <a:ext cx="100584" cy="100584"/>
          </a:xfrm>
          <a:prstGeom prst="diamond">
            <a:avLst/>
          </a:prstGeom>
          <a:solidFill>
            <a:srgbClr val="E2B4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49808" y="365760"/>
            <a:ext cx="8229600" cy="292608"/>
          </a:xfrm>
          <a:prstGeom prst="rect">
            <a:avLst/>
          </a:prstGeom>
          <a:noFill/>
        </p:spPr>
        <p:txBody>
          <a:bodyPr wrap="square" lIns="45720" rIns="45720" tIns="27432" bIns="27432" anchor="t">
            <a:noAutofit/>
          </a:bodyPr>
          <a:lstStyle/>
          <a:p>
            <a:pPr algn="l">
              <a:lnSpc>
                <a:spcPct val="100000"/>
              </a:lnSpc>
            </a:pPr>
            <a:r>
              <a:rPr sz="1100" b="0" i="0" spc="240">
                <a:solidFill>
                  <a:srgbClr val="C98457"/>
                </a:solidFill>
                <a:latin typeface="Segoe UI Semibold"/>
              </a:rPr>
              <a:t>DISTRIBUCIÓN ADAPTABLE</a:t>
            </a:r>
          </a:p>
        </p:txBody>
      </p:sp>
      <p:sp>
        <p:nvSpPr>
          <p:cNvPr id="5" name="TextBox 4"/>
          <p:cNvSpPr txBox="1"/>
          <p:nvPr/>
        </p:nvSpPr>
        <p:spPr>
          <a:xfrm>
            <a:off x="539496" y="676656"/>
            <a:ext cx="11057839" cy="658368"/>
          </a:xfrm>
          <a:prstGeom prst="rect">
            <a:avLst/>
          </a:prstGeom>
          <a:noFill/>
        </p:spPr>
        <p:txBody>
          <a:bodyPr wrap="square" lIns="45720" rIns="45720" tIns="27432" bIns="27432" anchor="t">
            <a:noAutofit/>
          </a:bodyPr>
          <a:lstStyle/>
          <a:p>
            <a:pPr algn="l">
              <a:lnSpc>
                <a:spcPct val="100000"/>
              </a:lnSpc>
            </a:pPr>
            <a:r>
              <a:rPr sz="3100" b="0" i="0">
                <a:solidFill>
                  <a:srgbClr val="F7F2E8"/>
                </a:solidFill>
                <a:latin typeface="Palatino Linotype"/>
              </a:rPr>
              <a:t>Reporta lo que da la cuenta</a:t>
            </a:r>
          </a:p>
        </p:txBody>
      </p:sp>
      <p:sp>
        <p:nvSpPr>
          <p:cNvPr id="6" name="Rectangle 5"/>
          <p:cNvSpPr/>
          <p:nvPr/>
        </p:nvSpPr>
        <p:spPr>
          <a:xfrm>
            <a:off x="566928" y="1344168"/>
            <a:ext cx="822960" cy="36576"/>
          </a:xfrm>
          <a:prstGeom prst="rect">
            <a:avLst/>
          </a:prstGeom>
          <a:solidFill>
            <a:srgbClr val="E2B4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566928" y="1444752"/>
            <a:ext cx="10692079" cy="585216"/>
          </a:xfrm>
          <a:prstGeom prst="rect">
            <a:avLst/>
          </a:prstGeom>
          <a:noFill/>
        </p:spPr>
        <p:txBody>
          <a:bodyPr wrap="square" lIns="45720" rIns="45720" tIns="27432" bIns="27432" anchor="t">
            <a:noAutofit/>
          </a:bodyPr>
          <a:lstStyle/>
          <a:p>
            <a:pPr algn="l">
              <a:lnSpc>
                <a:spcPct val="100000"/>
              </a:lnSpc>
            </a:pPr>
            <a:r>
              <a:rPr sz="1450" b="0" i="0">
                <a:solidFill>
                  <a:srgbClr val="A7B2B0"/>
                </a:solidFill>
                <a:latin typeface="Segoe UI Semilight"/>
              </a:rPr>
              <a:t>La forma de la respuesta elige la distribución; una etiqueta de plan no es un derecho a créditos.</a:t>
            </a:r>
          </a:p>
        </p:txBody>
      </p:sp>
      <p:sp>
        <p:nvSpPr>
          <p:cNvPr id="8" name="Rounded Rectangle 7"/>
          <p:cNvSpPr/>
          <p:nvPr/>
        </p:nvSpPr>
        <p:spPr>
          <a:xfrm>
            <a:off x="566928" y="2084831"/>
            <a:ext cx="3551834" cy="1956816"/>
          </a:xfrm>
          <a:prstGeom prst="roundRect">
            <a:avLst>
              <a:gd name="adj" fmla="val 5607"/>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ectangle 8"/>
          <p:cNvSpPr/>
          <p:nvPr/>
        </p:nvSpPr>
        <p:spPr>
          <a:xfrm>
            <a:off x="731520" y="2212848"/>
            <a:ext cx="502920" cy="45720"/>
          </a:xfrm>
          <a:prstGeom prst="rect">
            <a:avLst/>
          </a:prstGeom>
          <a:solidFill>
            <a:srgbClr val="3BBE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694944" y="2304287"/>
            <a:ext cx="3295802" cy="353568"/>
          </a:xfrm>
          <a:prstGeom prst="rect">
            <a:avLst/>
          </a:prstGeom>
          <a:noFill/>
        </p:spPr>
        <p:txBody>
          <a:bodyPr wrap="square" lIns="45720" rIns="45720" tIns="27432" bIns="27432" anchor="t">
            <a:noAutofit/>
          </a:bodyPr>
          <a:lstStyle/>
          <a:p>
            <a:pPr algn="l">
              <a:lnSpc>
                <a:spcPct val="100000"/>
              </a:lnSpc>
            </a:pPr>
            <a:r>
              <a:rPr sz="1600" b="0" i="0">
                <a:solidFill>
                  <a:srgbClr val="F7F2E8"/>
                </a:solidFill>
                <a:latin typeface="Segoe UI Semibold"/>
              </a:rPr>
              <a:t>Mensual</a:t>
            </a:r>
          </a:p>
        </p:txBody>
      </p:sp>
      <p:sp>
        <p:nvSpPr>
          <p:cNvPr id="11" name="TextBox 10"/>
          <p:cNvSpPr txBox="1"/>
          <p:nvPr/>
        </p:nvSpPr>
        <p:spPr>
          <a:xfrm>
            <a:off x="694944" y="2657855"/>
            <a:ext cx="3295802" cy="1292352"/>
          </a:xfrm>
          <a:prstGeom prst="rect">
            <a:avLst/>
          </a:prstGeom>
          <a:noFill/>
        </p:spPr>
        <p:txBody>
          <a:bodyPr wrap="square" lIns="45720" rIns="45720" tIns="27432" bIns="27432" anchor="t">
            <a:noAutofit/>
          </a:bodyPr>
          <a:lstStyle/>
          <a:p>
            <a:pPr algn="l">
              <a:lnSpc>
                <a:spcPct val="100000"/>
              </a:lnSpc>
            </a:pPr>
            <a:r>
              <a:rPr sz="1300" b="0" i="0">
                <a:solidFill>
                  <a:srgbClr val="A7B2B0"/>
                </a:solidFill>
                <a:latin typeface="Segoe UI"/>
              </a:rPr>
              <a:t>Asignación, saldo, créditos comprados y periodo de reinicio devueltos.</a:t>
            </a:r>
          </a:p>
        </p:txBody>
      </p:sp>
      <p:sp>
        <p:nvSpPr>
          <p:cNvPr id="12" name="Rounded Rectangle 11"/>
          <p:cNvSpPr/>
          <p:nvPr/>
        </p:nvSpPr>
        <p:spPr>
          <a:xfrm>
            <a:off x="4319930" y="2084831"/>
            <a:ext cx="3551834" cy="1956816"/>
          </a:xfrm>
          <a:prstGeom prst="roundRect">
            <a:avLst>
              <a:gd name="adj" fmla="val 5607"/>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4484522" y="2212848"/>
            <a:ext cx="502920" cy="45720"/>
          </a:xfrm>
          <a:prstGeom prst="rect">
            <a:avLst/>
          </a:prstGeom>
          <a:solidFill>
            <a:srgbClr val="C984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4447946" y="2304287"/>
            <a:ext cx="3295802" cy="353568"/>
          </a:xfrm>
          <a:prstGeom prst="rect">
            <a:avLst/>
          </a:prstGeom>
          <a:noFill/>
        </p:spPr>
        <p:txBody>
          <a:bodyPr wrap="square" lIns="45720" rIns="45720" tIns="27432" bIns="27432" anchor="t">
            <a:noAutofit/>
          </a:bodyPr>
          <a:lstStyle/>
          <a:p>
            <a:pPr algn="l">
              <a:lnSpc>
                <a:spcPct val="100000"/>
              </a:lnSpc>
            </a:pPr>
            <a:r>
              <a:rPr sz="1600" b="0" i="0">
                <a:solidFill>
                  <a:srgbClr val="F7F2E8"/>
                </a:solidFill>
                <a:latin typeface="Segoe UI Semibold"/>
              </a:rPr>
              <a:t>Heredado</a:t>
            </a:r>
          </a:p>
        </p:txBody>
      </p:sp>
      <p:sp>
        <p:nvSpPr>
          <p:cNvPr id="15" name="TextBox 14"/>
          <p:cNvSpPr txBox="1"/>
          <p:nvPr/>
        </p:nvSpPr>
        <p:spPr>
          <a:xfrm>
            <a:off x="4447946" y="2657855"/>
            <a:ext cx="3295802" cy="1292352"/>
          </a:xfrm>
          <a:prstGeom prst="rect">
            <a:avLst/>
          </a:prstGeom>
          <a:noFill/>
        </p:spPr>
        <p:txBody>
          <a:bodyPr wrap="square" lIns="45720" rIns="45720" tIns="27432" bIns="27432" anchor="t">
            <a:noAutofit/>
          </a:bodyPr>
          <a:lstStyle/>
          <a:p>
            <a:pPr algn="l">
              <a:lnSpc>
                <a:spcPct val="100000"/>
              </a:lnSpc>
            </a:pPr>
            <a:r>
              <a:rPr sz="1300" b="0" i="0">
                <a:solidFill>
                  <a:srgbClr val="A7B2B0"/>
                </a:solidFill>
                <a:latin typeface="Segoe UI"/>
              </a:rPr>
              <a:t>Porcentajes restantes de sesión/semanales; sin conversión adivinada a dólares.</a:t>
            </a:r>
          </a:p>
        </p:txBody>
      </p:sp>
      <p:sp>
        <p:nvSpPr>
          <p:cNvPr id="16" name="Rounded Rectangle 15"/>
          <p:cNvSpPr/>
          <p:nvPr/>
        </p:nvSpPr>
        <p:spPr>
          <a:xfrm>
            <a:off x="8072932" y="2084831"/>
            <a:ext cx="3551834" cy="1956816"/>
          </a:xfrm>
          <a:prstGeom prst="roundRect">
            <a:avLst>
              <a:gd name="adj" fmla="val 5607"/>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8237524" y="2212848"/>
            <a:ext cx="502920" cy="45720"/>
          </a:xfrm>
          <a:prstGeom prst="rect">
            <a:avLst/>
          </a:prstGeom>
          <a:solidFill>
            <a:srgbClr val="E2B4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200948" y="2304287"/>
            <a:ext cx="3295802" cy="353568"/>
          </a:xfrm>
          <a:prstGeom prst="rect">
            <a:avLst/>
          </a:prstGeom>
          <a:noFill/>
        </p:spPr>
        <p:txBody>
          <a:bodyPr wrap="square" lIns="45720" rIns="45720" tIns="27432" bIns="27432" anchor="t">
            <a:noAutofit/>
          </a:bodyPr>
          <a:lstStyle/>
          <a:p>
            <a:pPr algn="l">
              <a:lnSpc>
                <a:spcPct val="100000"/>
              </a:lnSpc>
            </a:pPr>
            <a:r>
              <a:rPr sz="1600" b="0" i="0">
                <a:solidFill>
                  <a:srgbClr val="F7F2E8"/>
                </a:solidFill>
                <a:latin typeface="Segoe UI Semibold"/>
              </a:rPr>
              <a:t>Sólo compras</a:t>
            </a:r>
          </a:p>
        </p:txBody>
      </p:sp>
      <p:sp>
        <p:nvSpPr>
          <p:cNvPr id="19" name="TextBox 18"/>
          <p:cNvSpPr txBox="1"/>
          <p:nvPr/>
        </p:nvSpPr>
        <p:spPr>
          <a:xfrm>
            <a:off x="8200948" y="2657855"/>
            <a:ext cx="3295802" cy="1292352"/>
          </a:xfrm>
          <a:prstGeom prst="rect">
            <a:avLst/>
          </a:prstGeom>
          <a:noFill/>
        </p:spPr>
        <p:txBody>
          <a:bodyPr wrap="square" lIns="45720" rIns="45720" tIns="27432" bIns="27432" anchor="t">
            <a:noAutofit/>
          </a:bodyPr>
          <a:lstStyle/>
          <a:p>
            <a:pPr algn="l">
              <a:lnSpc>
                <a:spcPct val="100000"/>
              </a:lnSpc>
            </a:pPr>
            <a:r>
              <a:rPr sz="1300" b="0" i="0">
                <a:solidFill>
                  <a:srgbClr val="A7B2B0"/>
                </a:solidFill>
                <a:latin typeface="Segoe UI"/>
              </a:rPr>
              <a:t>Sólo el saldo comprado reportado; sin cuota incluida inventada.</a:t>
            </a:r>
          </a:p>
        </p:txBody>
      </p:sp>
      <p:sp>
        <p:nvSpPr>
          <p:cNvPr id="20" name="Rounded Rectangle 19"/>
          <p:cNvSpPr/>
          <p:nvPr/>
        </p:nvSpPr>
        <p:spPr>
          <a:xfrm>
            <a:off x="566928" y="4242816"/>
            <a:ext cx="3551834" cy="1956816"/>
          </a:xfrm>
          <a:prstGeom prst="roundRect">
            <a:avLst>
              <a:gd name="adj" fmla="val 5607"/>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ectangle 20"/>
          <p:cNvSpPr/>
          <p:nvPr/>
        </p:nvSpPr>
        <p:spPr>
          <a:xfrm>
            <a:off x="731520" y="4370832"/>
            <a:ext cx="502920" cy="45720"/>
          </a:xfrm>
          <a:prstGeom prst="rect">
            <a:avLst/>
          </a:prstGeom>
          <a:solidFill>
            <a:srgbClr val="46D2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694944" y="4462272"/>
            <a:ext cx="3295802" cy="353568"/>
          </a:xfrm>
          <a:prstGeom prst="rect">
            <a:avLst/>
          </a:prstGeom>
          <a:noFill/>
        </p:spPr>
        <p:txBody>
          <a:bodyPr wrap="square" lIns="45720" rIns="45720" tIns="27432" bIns="27432" anchor="t">
            <a:noAutofit/>
          </a:bodyPr>
          <a:lstStyle/>
          <a:p>
            <a:pPr algn="l">
              <a:lnSpc>
                <a:spcPct val="100000"/>
              </a:lnSpc>
            </a:pPr>
            <a:r>
              <a:rPr sz="1600" b="0" i="0">
                <a:solidFill>
                  <a:srgbClr val="F7F2E8"/>
                </a:solidFill>
                <a:latin typeface="Segoe UI Semibold"/>
              </a:rPr>
              <a:t>Free o cero</a:t>
            </a:r>
          </a:p>
        </p:txBody>
      </p:sp>
      <p:sp>
        <p:nvSpPr>
          <p:cNvPr id="23" name="TextBox 22"/>
          <p:cNvSpPr txBox="1"/>
          <p:nvPr/>
        </p:nvSpPr>
        <p:spPr>
          <a:xfrm>
            <a:off x="694944" y="4815840"/>
            <a:ext cx="3295802" cy="1292352"/>
          </a:xfrm>
          <a:prstGeom prst="rect">
            <a:avLst/>
          </a:prstGeom>
          <a:noFill/>
        </p:spPr>
        <p:txBody>
          <a:bodyPr wrap="square" lIns="45720" rIns="45720" tIns="27432" bIns="27432" anchor="t">
            <a:noAutofit/>
          </a:bodyPr>
          <a:lstStyle/>
          <a:p>
            <a:pPr algn="l">
              <a:lnSpc>
                <a:spcPct val="100000"/>
              </a:lnSpc>
            </a:pPr>
            <a:r>
              <a:rPr sz="1300" b="0" i="0">
                <a:solidFill>
                  <a:srgbClr val="A7B2B0"/>
                </a:solidFill>
                <a:latin typeface="Segoe UI"/>
              </a:rPr>
              <a:t>Reporta los datos reales y omite los porcentajes cuando la asignación es cero.</a:t>
            </a:r>
          </a:p>
        </p:txBody>
      </p:sp>
      <p:sp>
        <p:nvSpPr>
          <p:cNvPr id="24" name="Rounded Rectangle 23"/>
          <p:cNvSpPr/>
          <p:nvPr/>
        </p:nvSpPr>
        <p:spPr>
          <a:xfrm>
            <a:off x="4319930" y="4242816"/>
            <a:ext cx="3551834" cy="1956816"/>
          </a:xfrm>
          <a:prstGeom prst="roundRect">
            <a:avLst>
              <a:gd name="adj" fmla="val 5607"/>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ectangle 24"/>
          <p:cNvSpPr/>
          <p:nvPr/>
        </p:nvSpPr>
        <p:spPr>
          <a:xfrm>
            <a:off x="4484522" y="4370832"/>
            <a:ext cx="502920" cy="45720"/>
          </a:xfrm>
          <a:prstGeom prst="rect">
            <a:avLst/>
          </a:prstGeom>
          <a:solidFill>
            <a:srgbClr val="D25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4447946" y="4462272"/>
            <a:ext cx="3295802" cy="353568"/>
          </a:xfrm>
          <a:prstGeom prst="rect">
            <a:avLst/>
          </a:prstGeom>
          <a:noFill/>
        </p:spPr>
        <p:txBody>
          <a:bodyPr wrap="square" lIns="45720" rIns="45720" tIns="27432" bIns="27432" anchor="t">
            <a:noAutofit/>
          </a:bodyPr>
          <a:lstStyle/>
          <a:p>
            <a:pPr algn="l">
              <a:lnSpc>
                <a:spcPct val="100000"/>
              </a:lnSpc>
            </a:pPr>
            <a:r>
              <a:rPr sz="1600" b="0" i="0">
                <a:solidFill>
                  <a:srgbClr val="F7F2E8"/>
                </a:solidFill>
                <a:latin typeface="Segoe UI Semibold"/>
              </a:rPr>
              <a:t>Team</a:t>
            </a:r>
          </a:p>
        </p:txBody>
      </p:sp>
      <p:sp>
        <p:nvSpPr>
          <p:cNvPr id="27" name="TextBox 26"/>
          <p:cNvSpPr txBox="1"/>
          <p:nvPr/>
        </p:nvSpPr>
        <p:spPr>
          <a:xfrm>
            <a:off x="4447946" y="4815840"/>
            <a:ext cx="3295802" cy="1292352"/>
          </a:xfrm>
          <a:prstGeom prst="rect">
            <a:avLst/>
          </a:prstGeom>
          <a:noFill/>
        </p:spPr>
        <p:txBody>
          <a:bodyPr wrap="square" lIns="45720" rIns="45720" tIns="27432" bIns="27432" anchor="t">
            <a:noAutofit/>
          </a:bodyPr>
          <a:lstStyle/>
          <a:p>
            <a:pPr algn="l">
              <a:lnSpc>
                <a:spcPct val="100000"/>
              </a:lnSpc>
            </a:pPr>
            <a:r>
              <a:rPr sz="1300" b="0" i="0">
                <a:solidFill>
                  <a:srgbClr val="A7B2B0"/>
                </a:solidFill>
                <a:latin typeface="Segoe UI"/>
              </a:rPr>
              <a:t>El saldo de créditos compartido es distinto del uso con alcance de miembro.</a:t>
            </a:r>
          </a:p>
        </p:txBody>
      </p:sp>
      <p:sp>
        <p:nvSpPr>
          <p:cNvPr id="28" name="Rounded Rectangle 27"/>
          <p:cNvSpPr/>
          <p:nvPr/>
        </p:nvSpPr>
        <p:spPr>
          <a:xfrm>
            <a:off x="8072932" y="4242816"/>
            <a:ext cx="3551834" cy="1956816"/>
          </a:xfrm>
          <a:prstGeom prst="roundRect">
            <a:avLst>
              <a:gd name="adj" fmla="val 5607"/>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Rectangle 28"/>
          <p:cNvSpPr/>
          <p:nvPr/>
        </p:nvSpPr>
        <p:spPr>
          <a:xfrm>
            <a:off x="8237524" y="4370832"/>
            <a:ext cx="502920" cy="45720"/>
          </a:xfrm>
          <a:prstGeom prst="rect">
            <a:avLst/>
          </a:prstGeom>
          <a:solidFill>
            <a:srgbClr val="D957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8200948" y="4462272"/>
            <a:ext cx="3295802" cy="353568"/>
          </a:xfrm>
          <a:prstGeom prst="rect">
            <a:avLst/>
          </a:prstGeom>
          <a:noFill/>
        </p:spPr>
        <p:txBody>
          <a:bodyPr wrap="square" lIns="45720" rIns="45720" tIns="27432" bIns="27432" anchor="t">
            <a:noAutofit/>
          </a:bodyPr>
          <a:lstStyle/>
          <a:p>
            <a:pPr algn="l">
              <a:lnSpc>
                <a:spcPct val="100000"/>
              </a:lnSpc>
            </a:pPr>
            <a:r>
              <a:rPr sz="1600" b="0" i="0">
                <a:solidFill>
                  <a:srgbClr val="F7F2E8"/>
                </a:solidFill>
                <a:latin typeface="Segoe UI Semibold"/>
              </a:rPr>
              <a:t>Etiqueta Unlimited</a:t>
            </a:r>
          </a:p>
        </p:txBody>
      </p:sp>
      <p:sp>
        <p:nvSpPr>
          <p:cNvPr id="31" name="TextBox 30"/>
          <p:cNvSpPr txBox="1"/>
          <p:nvPr/>
        </p:nvSpPr>
        <p:spPr>
          <a:xfrm>
            <a:off x="8200948" y="4815840"/>
            <a:ext cx="3295802" cy="1292352"/>
          </a:xfrm>
          <a:prstGeom prst="rect">
            <a:avLst/>
          </a:prstGeom>
          <a:noFill/>
        </p:spPr>
        <p:txBody>
          <a:bodyPr wrap="square" lIns="45720" rIns="45720" tIns="27432" bIns="27432" anchor="t">
            <a:noAutofit/>
          </a:bodyPr>
          <a:lstStyle/>
          <a:p>
            <a:pPr algn="l">
              <a:lnSpc>
                <a:spcPct val="100000"/>
              </a:lnSpc>
            </a:pPr>
            <a:r>
              <a:rPr sz="1300" b="0" i="0">
                <a:solidFill>
                  <a:srgbClr val="A7B2B0"/>
                </a:solidFill>
                <a:latin typeface="Segoe UI"/>
              </a:rPr>
              <a:t>Nunca se interpreta como créditos ilimitados en la nube.</a:t>
            </a:r>
          </a:p>
        </p:txBody>
      </p:sp>
      <p:cxnSp>
        <p:nvCxnSpPr>
          <p:cNvPr id="32" name="Connector 31"/>
          <p:cNvCxnSpPr/>
          <p:nvPr/>
        </p:nvCxnSpPr>
        <p:spPr>
          <a:xfrm>
            <a:off x="566928" y="6373368"/>
            <a:ext cx="11057839" cy="0"/>
          </a:xfrm>
          <a:prstGeom prst="line">
            <a:avLst/>
          </a:prstGeom>
          <a:ln w="7620">
            <a:solidFill>
              <a:srgbClr val="2A3A40"/>
            </a:solidFill>
          </a:ln>
        </p:spPr>
        <p:style>
          <a:lnRef idx="2">
            <a:schemeClr val="accent1"/>
          </a:lnRef>
          <a:fillRef idx="0">
            <a:schemeClr val="accent1"/>
          </a:fillRef>
          <a:effectRef idx="1">
            <a:schemeClr val="accent1"/>
          </a:effectRef>
          <a:fontRef idx="minor">
            <a:schemeClr val="tx1"/>
          </a:fontRef>
        </p:style>
      </p:cxnSp>
      <p:sp>
        <p:nvSpPr>
          <p:cNvPr id="33" name="TextBox 32"/>
          <p:cNvSpPr txBox="1"/>
          <p:nvPr/>
        </p:nvSpPr>
        <p:spPr>
          <a:xfrm>
            <a:off x="566928" y="6419088"/>
            <a:ext cx="6858000" cy="274320"/>
          </a:xfrm>
          <a:prstGeom prst="rect">
            <a:avLst/>
          </a:prstGeom>
          <a:noFill/>
        </p:spPr>
        <p:txBody>
          <a:bodyPr wrap="square" lIns="45720" rIns="45720" tIns="27432" bIns="27432" anchor="t">
            <a:noAutofit/>
          </a:bodyPr>
          <a:lstStyle/>
          <a:p>
            <a:pPr algn="l">
              <a:lnSpc>
                <a:spcPct val="100000"/>
              </a:lnSpc>
            </a:pPr>
            <a:r>
              <a:rPr sz="850" b="0" i="0" spc="120">
                <a:solidFill>
                  <a:srgbClr val="A7B2B0"/>
                </a:solidFill>
                <a:latin typeface="Segoe UI Semibold"/>
              </a:rPr>
              <a:t>TLAMATINI  ·  III · DÓNDE TRABAJAS CON ELLA</a:t>
            </a:r>
          </a:p>
        </p:txBody>
      </p:sp>
      <p:sp>
        <p:nvSpPr>
          <p:cNvPr id="34" name="TextBox 33"/>
          <p:cNvSpPr txBox="1"/>
          <p:nvPr/>
        </p:nvSpPr>
        <p:spPr>
          <a:xfrm>
            <a:off x="8698687" y="6419088"/>
            <a:ext cx="2926080" cy="274320"/>
          </a:xfrm>
          <a:prstGeom prst="rect">
            <a:avLst/>
          </a:prstGeom>
          <a:noFill/>
        </p:spPr>
        <p:txBody>
          <a:bodyPr wrap="square" lIns="45720" rIns="45720" tIns="27432" bIns="27432" anchor="t">
            <a:noAutofit/>
          </a:bodyPr>
          <a:lstStyle/>
          <a:p>
            <a:pPr algn="r">
              <a:lnSpc>
                <a:spcPct val="100000"/>
              </a:lnSpc>
            </a:pPr>
            <a:r>
              <a:rPr sz="850" b="0" i="0" spc="100">
                <a:solidFill>
                  <a:srgbClr val="A7B2B0"/>
                </a:solidFill>
                <a:latin typeface="Segoe UI Semibold"/>
              </a:rPr>
              <a:t>v1.91.1   ·   45</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content.png"/>
          <p:cNvPicPr>
            <a:picLocks noChangeAspect="1"/>
          </p:cNvPicPr>
          <p:nvPr/>
        </p:nvPicPr>
        <p:blipFill>
          <a:blip r:embed="rId2"/>
          <a:stretch>
            <a:fillRect/>
          </a:stretch>
        </p:blipFill>
        <p:spPr>
          <a:xfrm>
            <a:off x="0" y="0"/>
            <a:ext cx="12191695" cy="6858000"/>
          </a:xfrm>
          <a:prstGeom prst="rect">
            <a:avLst/>
          </a:prstGeom>
        </p:spPr>
      </p:pic>
      <p:sp>
        <p:nvSpPr>
          <p:cNvPr id="3" name="Diamond 2"/>
          <p:cNvSpPr/>
          <p:nvPr/>
        </p:nvSpPr>
        <p:spPr>
          <a:xfrm>
            <a:off x="566928" y="457200"/>
            <a:ext cx="100584" cy="100584"/>
          </a:xfrm>
          <a:prstGeom prst="diamond">
            <a:avLst/>
          </a:prstGeom>
          <a:solidFill>
            <a:srgbClr val="E2B4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49808" y="365760"/>
            <a:ext cx="8229600" cy="292608"/>
          </a:xfrm>
          <a:prstGeom prst="rect">
            <a:avLst/>
          </a:prstGeom>
          <a:noFill/>
        </p:spPr>
        <p:txBody>
          <a:bodyPr wrap="square" lIns="45720" rIns="45720" tIns="27432" bIns="27432" anchor="t">
            <a:noAutofit/>
          </a:bodyPr>
          <a:lstStyle/>
          <a:p>
            <a:pPr algn="l">
              <a:lnSpc>
                <a:spcPct val="100000"/>
              </a:lnSpc>
            </a:pPr>
            <a:r>
              <a:rPr sz="1100" b="0" i="0" spc="240">
                <a:solidFill>
                  <a:srgbClr val="C98457"/>
                </a:solidFill>
                <a:latin typeface="Segoe UI Semibold"/>
              </a:rPr>
              <a:t>AGENTIC CONTROL PANEL</a:t>
            </a:r>
          </a:p>
        </p:txBody>
      </p:sp>
      <p:sp>
        <p:nvSpPr>
          <p:cNvPr id="5" name="TextBox 4"/>
          <p:cNvSpPr txBox="1"/>
          <p:nvPr/>
        </p:nvSpPr>
        <p:spPr>
          <a:xfrm>
            <a:off x="539496" y="676656"/>
            <a:ext cx="11057839" cy="658368"/>
          </a:xfrm>
          <a:prstGeom prst="rect">
            <a:avLst/>
          </a:prstGeom>
          <a:noFill/>
        </p:spPr>
        <p:txBody>
          <a:bodyPr wrap="square" lIns="45720" rIns="45720" tIns="27432" bIns="27432" anchor="t">
            <a:noAutofit/>
          </a:bodyPr>
          <a:lstStyle/>
          <a:p>
            <a:pPr algn="l">
              <a:lnSpc>
                <a:spcPct val="100000"/>
              </a:lnSpc>
            </a:pPr>
            <a:r>
              <a:rPr sz="3100" b="0" i="0">
                <a:solidFill>
                  <a:srgbClr val="F7F2E8"/>
                </a:solidFill>
                <a:latin typeface="Palatino Linotype"/>
              </a:rPr>
              <a:t>Diseña workflows de agents de forma visual</a:t>
            </a:r>
          </a:p>
        </p:txBody>
      </p:sp>
      <p:sp>
        <p:nvSpPr>
          <p:cNvPr id="6" name="Rectangle 5"/>
          <p:cNvSpPr/>
          <p:nvPr/>
        </p:nvSpPr>
        <p:spPr>
          <a:xfrm>
            <a:off x="566928" y="1344168"/>
            <a:ext cx="822960" cy="36576"/>
          </a:xfrm>
          <a:prstGeom prst="rect">
            <a:avLst/>
          </a:prstGeom>
          <a:solidFill>
            <a:srgbClr val="E2B4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566928" y="1444752"/>
            <a:ext cx="10692079" cy="585216"/>
          </a:xfrm>
          <a:prstGeom prst="rect">
            <a:avLst/>
          </a:prstGeom>
          <a:noFill/>
        </p:spPr>
        <p:txBody>
          <a:bodyPr wrap="square" lIns="45720" rIns="45720" tIns="27432" bIns="27432" anchor="t">
            <a:noAutofit/>
          </a:bodyPr>
          <a:lstStyle/>
          <a:p>
            <a:pPr algn="l">
              <a:lnSpc>
                <a:spcPct val="100000"/>
              </a:lnSpc>
            </a:pPr>
            <a:r>
              <a:rPr sz="1450" b="0" i="0">
                <a:solidFill>
                  <a:srgbClr val="A7B2B0"/>
                </a:solidFill>
                <a:latin typeface="Segoe UI Semilight"/>
              </a:rPr>
              <a:t>Arrastra cualquiera de los 86 tipos de agent al canvas, conecta los triángulos de output con los triángulos de input, configura cada nodo, valida y presiona Iniciar.</a:t>
            </a:r>
          </a:p>
        </p:txBody>
      </p:sp>
      <p:sp>
        <p:nvSpPr>
          <p:cNvPr id="8" name="Rounded Rectangle 7"/>
          <p:cNvSpPr/>
          <p:nvPr/>
        </p:nvSpPr>
        <p:spPr>
          <a:xfrm>
            <a:off x="566928" y="2084831"/>
            <a:ext cx="5212080" cy="579120"/>
          </a:xfrm>
          <a:prstGeom prst="roundRect">
            <a:avLst>
              <a:gd name="adj" fmla="val 15789"/>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Diamond 8"/>
          <p:cNvSpPr/>
          <p:nvPr/>
        </p:nvSpPr>
        <p:spPr>
          <a:xfrm>
            <a:off x="768096" y="2310384"/>
            <a:ext cx="128016" cy="128016"/>
          </a:xfrm>
          <a:prstGeom prst="diamond">
            <a:avLst/>
          </a:prstGeom>
          <a:solidFill>
            <a:srgbClr val="3BBE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1024128" y="2139696"/>
            <a:ext cx="1554480" cy="469392"/>
          </a:xfrm>
          <a:prstGeom prst="rect">
            <a:avLst/>
          </a:prstGeom>
          <a:noFill/>
        </p:spPr>
        <p:txBody>
          <a:bodyPr wrap="square" lIns="45720" rIns="45720" tIns="27432" bIns="27432" anchor="ctr">
            <a:noAutofit/>
          </a:bodyPr>
          <a:lstStyle/>
          <a:p>
            <a:pPr algn="l">
              <a:lnSpc>
                <a:spcPct val="100000"/>
              </a:lnSpc>
            </a:pPr>
            <a:r>
              <a:rPr sz="1300" b="0" i="0">
                <a:solidFill>
                  <a:srgbClr val="F7F2E8"/>
                </a:solidFill>
                <a:latin typeface="Segoe UI Semibold"/>
              </a:rPr>
              <a:t>Deshacer y Rehacer</a:t>
            </a:r>
          </a:p>
        </p:txBody>
      </p:sp>
      <p:sp>
        <p:nvSpPr>
          <p:cNvPr id="11" name="TextBox 10"/>
          <p:cNvSpPr txBox="1"/>
          <p:nvPr/>
        </p:nvSpPr>
        <p:spPr>
          <a:xfrm>
            <a:off x="2670048" y="2139696"/>
            <a:ext cx="2971800" cy="469392"/>
          </a:xfrm>
          <a:prstGeom prst="rect">
            <a:avLst/>
          </a:prstGeom>
          <a:noFill/>
        </p:spPr>
        <p:txBody>
          <a:bodyPr wrap="square" lIns="45720" rIns="45720" tIns="27432" bIns="27432" anchor="ctr">
            <a:noAutofit/>
          </a:bodyPr>
          <a:lstStyle/>
          <a:p>
            <a:pPr algn="l">
              <a:lnSpc>
                <a:spcPct val="100000"/>
              </a:lnSpc>
            </a:pPr>
            <a:r>
              <a:rPr sz="1300" b="0" i="0">
                <a:solidFill>
                  <a:srgbClr val="A7B2B0"/>
                </a:solidFill>
                <a:latin typeface="Segoe UI"/>
              </a:rPr>
              <a:t>Hasta 1,024 pasos, configuración incluida.</a:t>
            </a:r>
          </a:p>
        </p:txBody>
      </p:sp>
      <p:sp>
        <p:nvSpPr>
          <p:cNvPr id="12" name="Rounded Rectangle 11"/>
          <p:cNvSpPr/>
          <p:nvPr/>
        </p:nvSpPr>
        <p:spPr>
          <a:xfrm>
            <a:off x="566928" y="2791968"/>
            <a:ext cx="5212080" cy="579120"/>
          </a:xfrm>
          <a:prstGeom prst="roundRect">
            <a:avLst>
              <a:gd name="adj" fmla="val 15789"/>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Diamond 12"/>
          <p:cNvSpPr/>
          <p:nvPr/>
        </p:nvSpPr>
        <p:spPr>
          <a:xfrm>
            <a:off x="768096" y="3017520"/>
            <a:ext cx="128016" cy="128016"/>
          </a:xfrm>
          <a:prstGeom prst="diamond">
            <a:avLst/>
          </a:prstGeom>
          <a:solidFill>
            <a:srgbClr val="C984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1024128" y="2846832"/>
            <a:ext cx="1554480" cy="469392"/>
          </a:xfrm>
          <a:prstGeom prst="rect">
            <a:avLst/>
          </a:prstGeom>
          <a:noFill/>
        </p:spPr>
        <p:txBody>
          <a:bodyPr wrap="square" lIns="45720" rIns="45720" tIns="27432" bIns="27432" anchor="ctr">
            <a:noAutofit/>
          </a:bodyPr>
          <a:lstStyle/>
          <a:p>
            <a:pPr algn="l">
              <a:lnSpc>
                <a:spcPct val="100000"/>
              </a:lnSpc>
            </a:pPr>
            <a:r>
              <a:rPr sz="1600" b="0" i="0">
                <a:solidFill>
                  <a:srgbClr val="F7F2E8"/>
                </a:solidFill>
                <a:latin typeface="Segoe UI Semibold"/>
              </a:rPr>
              <a:t>Duplicar</a:t>
            </a:r>
          </a:p>
        </p:txBody>
      </p:sp>
      <p:sp>
        <p:nvSpPr>
          <p:cNvPr id="15" name="TextBox 14"/>
          <p:cNvSpPr txBox="1"/>
          <p:nvPr/>
        </p:nvSpPr>
        <p:spPr>
          <a:xfrm>
            <a:off x="2670048" y="2846832"/>
            <a:ext cx="2971800" cy="469392"/>
          </a:xfrm>
          <a:prstGeom prst="rect">
            <a:avLst/>
          </a:prstGeom>
          <a:noFill/>
        </p:spPr>
        <p:txBody>
          <a:bodyPr wrap="square" lIns="45720" rIns="45720" tIns="27432" bIns="27432" anchor="ctr">
            <a:noAutofit/>
          </a:bodyPr>
          <a:lstStyle/>
          <a:p>
            <a:pPr algn="l">
              <a:lnSpc>
                <a:spcPct val="100000"/>
              </a:lnSpc>
            </a:pPr>
            <a:r>
              <a:rPr sz="1300" b="0" i="0">
                <a:solidFill>
                  <a:srgbClr val="A7B2B0"/>
                </a:solidFill>
                <a:latin typeface="Segoe UI"/>
              </a:rPr>
              <a:t>Copia la configuración y las conexiones internas.</a:t>
            </a:r>
          </a:p>
        </p:txBody>
      </p:sp>
      <p:sp>
        <p:nvSpPr>
          <p:cNvPr id="16" name="Rounded Rectangle 15"/>
          <p:cNvSpPr/>
          <p:nvPr/>
        </p:nvSpPr>
        <p:spPr>
          <a:xfrm>
            <a:off x="566928" y="3499103"/>
            <a:ext cx="5212080" cy="579120"/>
          </a:xfrm>
          <a:prstGeom prst="roundRect">
            <a:avLst>
              <a:gd name="adj" fmla="val 15789"/>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Diamond 16"/>
          <p:cNvSpPr/>
          <p:nvPr/>
        </p:nvSpPr>
        <p:spPr>
          <a:xfrm>
            <a:off x="768096" y="3724655"/>
            <a:ext cx="128016" cy="128016"/>
          </a:xfrm>
          <a:prstGeom prst="diamond">
            <a:avLst/>
          </a:prstGeom>
          <a:solidFill>
            <a:srgbClr val="E2B4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1024128" y="3553967"/>
            <a:ext cx="1554480" cy="469392"/>
          </a:xfrm>
          <a:prstGeom prst="rect">
            <a:avLst/>
          </a:prstGeom>
          <a:noFill/>
        </p:spPr>
        <p:txBody>
          <a:bodyPr wrap="square" lIns="45720" rIns="45720" tIns="27432" bIns="27432" anchor="ctr">
            <a:noAutofit/>
          </a:bodyPr>
          <a:lstStyle/>
          <a:p>
            <a:pPr algn="l">
              <a:lnSpc>
                <a:spcPct val="100000"/>
              </a:lnSpc>
            </a:pPr>
            <a:r>
              <a:rPr sz="1600" b="0" i="0">
                <a:solidFill>
                  <a:srgbClr val="F7F2E8"/>
                </a:solidFill>
                <a:latin typeface="Segoe UI Semibold"/>
              </a:rPr>
              <a:t>Zoom</a:t>
            </a:r>
          </a:p>
        </p:txBody>
      </p:sp>
      <p:sp>
        <p:nvSpPr>
          <p:cNvPr id="19" name="TextBox 18"/>
          <p:cNvSpPr txBox="1"/>
          <p:nvPr/>
        </p:nvSpPr>
        <p:spPr>
          <a:xfrm>
            <a:off x="2670048" y="3553967"/>
            <a:ext cx="2971800" cy="469392"/>
          </a:xfrm>
          <a:prstGeom prst="rect">
            <a:avLst/>
          </a:prstGeom>
          <a:noFill/>
        </p:spPr>
        <p:txBody>
          <a:bodyPr wrap="square" lIns="45720" rIns="45720" tIns="27432" bIns="27432" anchor="ctr">
            <a:noAutofit/>
          </a:bodyPr>
          <a:lstStyle/>
          <a:p>
            <a:pPr algn="l">
              <a:lnSpc>
                <a:spcPct val="100000"/>
              </a:lnSpc>
            </a:pPr>
            <a:r>
              <a:rPr sz="1400" b="0" i="0">
                <a:solidFill>
                  <a:srgbClr val="A7B2B0"/>
                </a:solidFill>
                <a:latin typeface="Segoe UI"/>
              </a:rPr>
              <a:t>De 25 a 200 por ciento, y Ajustar.</a:t>
            </a:r>
          </a:p>
        </p:txBody>
      </p:sp>
      <p:sp>
        <p:nvSpPr>
          <p:cNvPr id="20" name="Rounded Rectangle 19"/>
          <p:cNvSpPr/>
          <p:nvPr/>
        </p:nvSpPr>
        <p:spPr>
          <a:xfrm>
            <a:off x="566928" y="4206240"/>
            <a:ext cx="5212080" cy="579120"/>
          </a:xfrm>
          <a:prstGeom prst="roundRect">
            <a:avLst>
              <a:gd name="adj" fmla="val 15789"/>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Diamond 20"/>
          <p:cNvSpPr/>
          <p:nvPr/>
        </p:nvSpPr>
        <p:spPr>
          <a:xfrm>
            <a:off x="768096" y="4431791"/>
            <a:ext cx="128016" cy="128016"/>
          </a:xfrm>
          <a:prstGeom prst="diamond">
            <a:avLst/>
          </a:prstGeom>
          <a:solidFill>
            <a:srgbClr val="46D2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1024128" y="4261103"/>
            <a:ext cx="1554480" cy="469392"/>
          </a:xfrm>
          <a:prstGeom prst="rect">
            <a:avLst/>
          </a:prstGeom>
          <a:noFill/>
        </p:spPr>
        <p:txBody>
          <a:bodyPr wrap="square" lIns="45720" rIns="45720" tIns="27432" bIns="27432" anchor="ctr">
            <a:noAutofit/>
          </a:bodyPr>
          <a:lstStyle/>
          <a:p>
            <a:pPr algn="l">
              <a:lnSpc>
                <a:spcPct val="100000"/>
              </a:lnSpc>
            </a:pPr>
            <a:r>
              <a:rPr sz="1300" b="0" i="0">
                <a:solidFill>
                  <a:srgbClr val="F7F2E8"/>
                </a:solidFill>
                <a:latin typeface="Segoe UI Semibold"/>
              </a:rPr>
              <a:t>Búsqueda de agents</a:t>
            </a:r>
          </a:p>
        </p:txBody>
      </p:sp>
      <p:sp>
        <p:nvSpPr>
          <p:cNvPr id="23" name="TextBox 22"/>
          <p:cNvSpPr txBox="1"/>
          <p:nvPr/>
        </p:nvSpPr>
        <p:spPr>
          <a:xfrm>
            <a:off x="2670048" y="4261103"/>
            <a:ext cx="2971800" cy="469392"/>
          </a:xfrm>
          <a:prstGeom prst="rect">
            <a:avLst/>
          </a:prstGeom>
          <a:noFill/>
        </p:spPr>
        <p:txBody>
          <a:bodyPr wrap="square" lIns="45720" rIns="45720" tIns="27432" bIns="27432" anchor="ctr">
            <a:noAutofit/>
          </a:bodyPr>
          <a:lstStyle/>
          <a:p>
            <a:pPr algn="l">
              <a:lnSpc>
                <a:spcPct val="100000"/>
              </a:lnSpc>
            </a:pPr>
            <a:r>
              <a:rPr sz="1300" b="0" i="0">
                <a:solidFill>
                  <a:srgbClr val="A7B2B0"/>
                </a:solidFill>
                <a:latin typeface="Segoe UI"/>
              </a:rPr>
              <a:t>Filtra por nombre los 86 tipos de agent.</a:t>
            </a:r>
          </a:p>
        </p:txBody>
      </p:sp>
      <p:sp>
        <p:nvSpPr>
          <p:cNvPr id="24" name="Rounded Rectangle 23"/>
          <p:cNvSpPr/>
          <p:nvPr/>
        </p:nvSpPr>
        <p:spPr>
          <a:xfrm>
            <a:off x="566928" y="4913376"/>
            <a:ext cx="5212080" cy="579120"/>
          </a:xfrm>
          <a:prstGeom prst="roundRect">
            <a:avLst>
              <a:gd name="adj" fmla="val 15789"/>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Diamond 24"/>
          <p:cNvSpPr/>
          <p:nvPr/>
        </p:nvSpPr>
        <p:spPr>
          <a:xfrm>
            <a:off x="768096" y="5138927"/>
            <a:ext cx="128016" cy="128016"/>
          </a:xfrm>
          <a:prstGeom prst="diamond">
            <a:avLst/>
          </a:prstGeom>
          <a:solidFill>
            <a:srgbClr val="D25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1024128" y="4968239"/>
            <a:ext cx="1554480" cy="469392"/>
          </a:xfrm>
          <a:prstGeom prst="rect">
            <a:avLst/>
          </a:prstGeom>
          <a:noFill/>
        </p:spPr>
        <p:txBody>
          <a:bodyPr wrap="square" lIns="45720" rIns="45720" tIns="27432" bIns="27432" anchor="ctr">
            <a:noAutofit/>
          </a:bodyPr>
          <a:lstStyle/>
          <a:p>
            <a:pPr algn="l">
              <a:lnSpc>
                <a:spcPct val="100000"/>
              </a:lnSpc>
            </a:pPr>
            <a:r>
              <a:rPr sz="1600" b="0" i="0">
                <a:solidFill>
                  <a:srgbClr val="F7F2E8"/>
                </a:solidFill>
                <a:latin typeface="Segoe UI Semibold"/>
              </a:rPr>
              <a:t>Starters</a:t>
            </a:r>
          </a:p>
        </p:txBody>
      </p:sp>
      <p:sp>
        <p:nvSpPr>
          <p:cNvPr id="27" name="TextBox 26"/>
          <p:cNvSpPr txBox="1"/>
          <p:nvPr/>
        </p:nvSpPr>
        <p:spPr>
          <a:xfrm>
            <a:off x="2670048" y="4968239"/>
            <a:ext cx="2971800" cy="469392"/>
          </a:xfrm>
          <a:prstGeom prst="rect">
            <a:avLst/>
          </a:prstGeom>
          <a:noFill/>
        </p:spPr>
        <p:txBody>
          <a:bodyPr wrap="square" lIns="45720" rIns="45720" tIns="27432" bIns="27432" anchor="ctr">
            <a:noAutofit/>
          </a:bodyPr>
          <a:lstStyle/>
          <a:p>
            <a:pPr algn="l">
              <a:lnSpc>
                <a:spcPct val="100000"/>
              </a:lnSpc>
            </a:pPr>
            <a:r>
              <a:rPr sz="1300" b="0" i="0">
                <a:solidFill>
                  <a:srgbClr val="A7B2B0"/>
                </a:solidFill>
                <a:latin typeface="Segoe UI"/>
              </a:rPr>
              <a:t>Ubica cada Starter en un canvas grande.</a:t>
            </a:r>
          </a:p>
        </p:txBody>
      </p:sp>
      <p:sp>
        <p:nvSpPr>
          <p:cNvPr id="28" name="Rounded Rectangle 27"/>
          <p:cNvSpPr/>
          <p:nvPr/>
        </p:nvSpPr>
        <p:spPr>
          <a:xfrm>
            <a:off x="566928" y="5620512"/>
            <a:ext cx="5212080" cy="579120"/>
          </a:xfrm>
          <a:prstGeom prst="roundRect">
            <a:avLst>
              <a:gd name="adj" fmla="val 15789"/>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Diamond 28"/>
          <p:cNvSpPr/>
          <p:nvPr/>
        </p:nvSpPr>
        <p:spPr>
          <a:xfrm>
            <a:off x="768096" y="5846063"/>
            <a:ext cx="128016" cy="128016"/>
          </a:xfrm>
          <a:prstGeom prst="diamond">
            <a:avLst/>
          </a:prstGeom>
          <a:solidFill>
            <a:srgbClr val="D957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1024128" y="5675375"/>
            <a:ext cx="1554480" cy="469392"/>
          </a:xfrm>
          <a:prstGeom prst="rect">
            <a:avLst/>
          </a:prstGeom>
          <a:noFill/>
        </p:spPr>
        <p:txBody>
          <a:bodyPr wrap="square" lIns="45720" rIns="45720" tIns="27432" bIns="27432" anchor="ctr">
            <a:noAutofit/>
          </a:bodyPr>
          <a:lstStyle/>
          <a:p>
            <a:pPr algn="l">
              <a:lnSpc>
                <a:spcPct val="100000"/>
              </a:lnSpc>
            </a:pPr>
            <a:r>
              <a:rPr sz="1600" b="0" i="0">
                <a:solidFill>
                  <a:srgbClr val="F7F2E8"/>
                </a:solidFill>
                <a:latin typeface="Segoe UI Semibold"/>
              </a:rPr>
              <a:t>Ayuda</a:t>
            </a:r>
          </a:p>
        </p:txBody>
      </p:sp>
      <p:sp>
        <p:nvSpPr>
          <p:cNvPr id="31" name="TextBox 30"/>
          <p:cNvSpPr txBox="1"/>
          <p:nvPr/>
        </p:nvSpPr>
        <p:spPr>
          <a:xfrm>
            <a:off x="2670048" y="5675375"/>
            <a:ext cx="2971800" cy="469392"/>
          </a:xfrm>
          <a:prstGeom prst="rect">
            <a:avLst/>
          </a:prstGeom>
          <a:noFill/>
        </p:spPr>
        <p:txBody>
          <a:bodyPr wrap="square" lIns="45720" rIns="45720" tIns="27432" bIns="27432" anchor="ctr">
            <a:noAutofit/>
          </a:bodyPr>
          <a:lstStyle/>
          <a:p>
            <a:pPr algn="l">
              <a:lnSpc>
                <a:spcPct val="100000"/>
              </a:lnSpc>
            </a:pPr>
            <a:r>
              <a:rPr sz="1300" b="0" i="0">
                <a:solidFill>
                  <a:srgbClr val="A7B2B0"/>
                </a:solidFill>
                <a:latin typeface="Segoe UI"/>
              </a:rPr>
              <a:t>Explica cada gesto; • marca los cambios sin guardar.</a:t>
            </a:r>
          </a:p>
        </p:txBody>
      </p:sp>
      <p:sp>
        <p:nvSpPr>
          <p:cNvPr id="32" name="Rounded Rectangle 31"/>
          <p:cNvSpPr/>
          <p:nvPr/>
        </p:nvSpPr>
        <p:spPr>
          <a:xfrm>
            <a:off x="6144768" y="2084831"/>
            <a:ext cx="5479999" cy="4114800"/>
          </a:xfrm>
          <a:prstGeom prst="roundRect">
            <a:avLst>
              <a:gd name="adj" fmla="val 2666"/>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TextBox 32"/>
          <p:cNvSpPr txBox="1"/>
          <p:nvPr/>
        </p:nvSpPr>
        <p:spPr>
          <a:xfrm>
            <a:off x="6419088" y="2313432"/>
            <a:ext cx="4931359" cy="3657600"/>
          </a:xfrm>
          <a:prstGeom prst="rect">
            <a:avLst/>
          </a:prstGeom>
          <a:noFill/>
        </p:spPr>
        <p:txBody>
          <a:bodyPr wrap="square" lIns="45720" rIns="45720" tIns="27432" bIns="27432" anchor="t">
            <a:noAutofit/>
          </a:bodyPr>
          <a:lstStyle/>
          <a:p>
            <a:pPr algn="l">
              <a:lnSpc>
                <a:spcPct val="100000"/>
              </a:lnSpc>
            </a:pPr>
            <a:r>
              <a:rPr sz="1350" b="0" i="0">
                <a:solidFill>
                  <a:srgbClr val="ECE7DC"/>
                </a:solidFill>
                <a:latin typeface="Segoe UI"/>
              </a:rPr>
              <a:t>Los Agents corren como procesos separados que emiten logs y se comunican por sus archivos </a:t>
            </a:r>
            <a:r>
              <a:rPr sz="1250" b="0" i="0">
                <a:solidFill>
                  <a:srgbClr val="E2B462"/>
                </a:solidFill>
                <a:latin typeface="Consolas"/>
              </a:rPr>
              <a:t>config.yaml</a:t>
            </a:r>
            <a:r>
              <a:rPr sz="1350" b="0" i="0">
                <a:solidFill>
                  <a:srgbClr val="ECE7DC"/>
                </a:solidFill>
                <a:latin typeface="Segoe UI"/>
              </a:rPr>
              <a:t>, con un LED en vivo para cada uno. Los flows se pueden pausar, reanudar y detener, y guardar o cargar como archivos </a:t>
            </a:r>
            <a:r>
              <a:rPr sz="1250" b="0" i="0">
                <a:solidFill>
                  <a:srgbClr val="E2B462"/>
                </a:solidFill>
                <a:latin typeface="Consolas"/>
              </a:rPr>
              <a:t>.flw</a:t>
            </a:r>
            <a:r>
              <a:rPr sz="1350" b="0" i="0">
                <a:solidFill>
                  <a:srgbClr val="ECE7DC"/>
                </a:solidFill>
                <a:latin typeface="Segoe UI"/>
              </a:rPr>
              <a:t>. FlowCreator puede diseñar un flow a partir de una oración, y FlowHypervisor vigila un flow en ejecución y levanta una alerta cuando algo se ve mal.</a:t>
            </a:r>
          </a:p>
          <a:p>
            <a:pPr algn="l">
              <a:lnSpc>
                <a:spcPct val="100000"/>
              </a:lnSpc>
              <a:spcBef>
                <a:spcPts val="1000"/>
              </a:spcBef>
            </a:pPr>
            <a:r>
              <a:rPr sz="1350" b="0" i="0">
                <a:solidFill>
                  <a:srgbClr val="ECE7DC"/>
                </a:solidFill>
                <a:latin typeface="Segoe UI"/>
              </a:rPr>
              <a:t>Desde v1.70.0 el canvas es un editor real. Duplicar copia los agents junto con su configuración guardada y las conexiones entre ellos; Deshacer también restaura la configuración de un agent. La edición se bloquea mientras un flow corre, así que nunca se cambia un flow debajo de sus propios procesos.</a:t>
            </a:r>
          </a:p>
        </p:txBody>
      </p:sp>
      <p:cxnSp>
        <p:nvCxnSpPr>
          <p:cNvPr id="34" name="Connector 33"/>
          <p:cNvCxnSpPr/>
          <p:nvPr/>
        </p:nvCxnSpPr>
        <p:spPr>
          <a:xfrm>
            <a:off x="566928" y="6373368"/>
            <a:ext cx="11057839" cy="0"/>
          </a:xfrm>
          <a:prstGeom prst="line">
            <a:avLst/>
          </a:prstGeom>
          <a:ln w="7620">
            <a:solidFill>
              <a:srgbClr val="2A3A40"/>
            </a:solidFill>
          </a:ln>
        </p:spPr>
        <p:style>
          <a:lnRef idx="2">
            <a:schemeClr val="accent1"/>
          </a:lnRef>
          <a:fillRef idx="0">
            <a:schemeClr val="accent1"/>
          </a:fillRef>
          <a:effectRef idx="1">
            <a:schemeClr val="accent1"/>
          </a:effectRef>
          <a:fontRef idx="minor">
            <a:schemeClr val="tx1"/>
          </a:fontRef>
        </p:style>
      </p:cxnSp>
      <p:sp>
        <p:nvSpPr>
          <p:cNvPr id="35" name="TextBox 34"/>
          <p:cNvSpPr txBox="1"/>
          <p:nvPr/>
        </p:nvSpPr>
        <p:spPr>
          <a:xfrm>
            <a:off x="566928" y="6419088"/>
            <a:ext cx="6858000" cy="274320"/>
          </a:xfrm>
          <a:prstGeom prst="rect">
            <a:avLst/>
          </a:prstGeom>
          <a:noFill/>
        </p:spPr>
        <p:txBody>
          <a:bodyPr wrap="square" lIns="45720" rIns="45720" tIns="27432" bIns="27432" anchor="t">
            <a:noAutofit/>
          </a:bodyPr>
          <a:lstStyle/>
          <a:p>
            <a:pPr algn="l">
              <a:lnSpc>
                <a:spcPct val="100000"/>
              </a:lnSpc>
            </a:pPr>
            <a:r>
              <a:rPr sz="850" b="0" i="0" spc="120">
                <a:solidFill>
                  <a:srgbClr val="A7B2B0"/>
                </a:solidFill>
                <a:latin typeface="Segoe UI Semibold"/>
              </a:rPr>
              <a:t>TLAMATINI  ·  III · DÓNDE TRABAJAS CON ELLA</a:t>
            </a:r>
          </a:p>
        </p:txBody>
      </p:sp>
      <p:sp>
        <p:nvSpPr>
          <p:cNvPr id="36" name="TextBox 35"/>
          <p:cNvSpPr txBox="1"/>
          <p:nvPr/>
        </p:nvSpPr>
        <p:spPr>
          <a:xfrm>
            <a:off x="8698687" y="6419088"/>
            <a:ext cx="2926080" cy="274320"/>
          </a:xfrm>
          <a:prstGeom prst="rect">
            <a:avLst/>
          </a:prstGeom>
          <a:noFill/>
        </p:spPr>
        <p:txBody>
          <a:bodyPr wrap="square" lIns="45720" rIns="45720" tIns="27432" bIns="27432" anchor="t">
            <a:noAutofit/>
          </a:bodyPr>
          <a:lstStyle/>
          <a:p>
            <a:pPr algn="r">
              <a:lnSpc>
                <a:spcPct val="100000"/>
              </a:lnSpc>
            </a:pPr>
            <a:r>
              <a:rPr sz="850" b="0" i="0" spc="100">
                <a:solidFill>
                  <a:srgbClr val="A7B2B0"/>
                </a:solidFill>
                <a:latin typeface="Segoe UI Semibold"/>
              </a:rPr>
              <a:t>v1.91.1   ·   46</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content.png"/>
          <p:cNvPicPr>
            <a:picLocks noChangeAspect="1"/>
          </p:cNvPicPr>
          <p:nvPr/>
        </p:nvPicPr>
        <p:blipFill>
          <a:blip r:embed="rId2"/>
          <a:stretch>
            <a:fillRect/>
          </a:stretch>
        </p:blipFill>
        <p:spPr>
          <a:xfrm>
            <a:off x="0" y="0"/>
            <a:ext cx="12191695" cy="6858000"/>
          </a:xfrm>
          <a:prstGeom prst="rect">
            <a:avLst/>
          </a:prstGeom>
        </p:spPr>
      </p:pic>
      <p:sp>
        <p:nvSpPr>
          <p:cNvPr id="3" name="Diamond 2"/>
          <p:cNvSpPr/>
          <p:nvPr/>
        </p:nvSpPr>
        <p:spPr>
          <a:xfrm>
            <a:off x="566928" y="457200"/>
            <a:ext cx="100584" cy="100584"/>
          </a:xfrm>
          <a:prstGeom prst="diamond">
            <a:avLst/>
          </a:prstGeom>
          <a:solidFill>
            <a:srgbClr val="E2B4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49808" y="365760"/>
            <a:ext cx="8229600" cy="292608"/>
          </a:xfrm>
          <a:prstGeom prst="rect">
            <a:avLst/>
          </a:prstGeom>
          <a:noFill/>
        </p:spPr>
        <p:txBody>
          <a:bodyPr wrap="square" lIns="45720" rIns="45720" tIns="27432" bIns="27432" anchor="t">
            <a:noAutofit/>
          </a:bodyPr>
          <a:lstStyle/>
          <a:p>
            <a:pPr algn="l">
              <a:lnSpc>
                <a:spcPct val="100000"/>
              </a:lnSpc>
            </a:pPr>
            <a:r>
              <a:rPr sz="1100" b="0" i="0" spc="240">
                <a:solidFill>
                  <a:srgbClr val="C98457"/>
                </a:solidFill>
                <a:latin typeface="Segoe UI Semibold"/>
              </a:rPr>
              <a:t>PROMPT FLOW PANEL</a:t>
            </a:r>
          </a:p>
        </p:txBody>
      </p:sp>
      <p:sp>
        <p:nvSpPr>
          <p:cNvPr id="5" name="TextBox 4"/>
          <p:cNvSpPr txBox="1"/>
          <p:nvPr/>
        </p:nvSpPr>
        <p:spPr>
          <a:xfrm>
            <a:off x="539496" y="676656"/>
            <a:ext cx="11057839" cy="658368"/>
          </a:xfrm>
          <a:prstGeom prst="rect">
            <a:avLst/>
          </a:prstGeom>
          <a:noFill/>
        </p:spPr>
        <p:txBody>
          <a:bodyPr wrap="square" lIns="45720" rIns="45720" tIns="27432" bIns="27432" anchor="t">
            <a:noAutofit/>
          </a:bodyPr>
          <a:lstStyle/>
          <a:p>
            <a:pPr algn="l">
              <a:lnSpc>
                <a:spcPct val="100000"/>
              </a:lnSpc>
            </a:pPr>
            <a:r>
              <a:rPr sz="3100" b="0" i="0">
                <a:solidFill>
                  <a:srgbClr val="F7F2E8"/>
                </a:solidFill>
                <a:latin typeface="Palatino Linotype"/>
              </a:rPr>
              <a:t>Dibuja una conversación y luego presiona Ejecutar</a:t>
            </a:r>
          </a:p>
        </p:txBody>
      </p:sp>
      <p:sp>
        <p:nvSpPr>
          <p:cNvPr id="6" name="Rectangle 5"/>
          <p:cNvSpPr/>
          <p:nvPr/>
        </p:nvSpPr>
        <p:spPr>
          <a:xfrm>
            <a:off x="566928" y="1344168"/>
            <a:ext cx="822960" cy="36576"/>
          </a:xfrm>
          <a:prstGeom prst="rect">
            <a:avLst/>
          </a:prstGeom>
          <a:solidFill>
            <a:srgbClr val="E2B4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566928" y="1444752"/>
            <a:ext cx="10692079" cy="585216"/>
          </a:xfrm>
          <a:prstGeom prst="rect">
            <a:avLst/>
          </a:prstGeom>
          <a:noFill/>
        </p:spPr>
        <p:txBody>
          <a:bodyPr wrap="square" lIns="45720" rIns="45720" tIns="27432" bIns="27432" anchor="t">
            <a:noAutofit/>
          </a:bodyPr>
          <a:lstStyle/>
          <a:p>
            <a:pPr algn="l">
              <a:lnSpc>
                <a:spcPct val="100000"/>
              </a:lnSpc>
            </a:pPr>
            <a:r>
              <a:rPr sz="1450" b="0" i="0">
                <a:solidFill>
                  <a:srgbClr val="A7B2B0"/>
                </a:solidFill>
                <a:latin typeface="Segoe UI Semilight"/>
              </a:rPr>
              <a:t>El Prompt Flow Panel convierte una cadena de prompts en un diagrama de ocho operaciones ejecutables más notas estáticas de revisión, guardado como un archivo </a:t>
            </a:r>
            <a:r>
              <a:rPr sz="1350" b="0" i="0">
                <a:solidFill>
                  <a:srgbClr val="E2B462"/>
                </a:solidFill>
                <a:latin typeface="Consolas"/>
              </a:rPr>
              <a:t>.fpmt</a:t>
            </a:r>
            <a:r>
              <a:rPr sz="1450" b="0" i="0">
                <a:solidFill>
                  <a:srgbClr val="A7B2B0"/>
                </a:solidFill>
                <a:latin typeface="Segoe UI Semilight"/>
              </a:rPr>
              <a:t> portátil y ejecutado contra tus modelos configurados.</a:t>
            </a:r>
          </a:p>
        </p:txBody>
      </p:sp>
      <p:sp>
        <p:nvSpPr>
          <p:cNvPr id="8" name="Rounded Rectangle 7"/>
          <p:cNvSpPr/>
          <p:nvPr/>
        </p:nvSpPr>
        <p:spPr>
          <a:xfrm>
            <a:off x="566928" y="2084831"/>
            <a:ext cx="3539642" cy="1225295"/>
          </a:xfrm>
          <a:prstGeom prst="roundRect">
            <a:avLst>
              <a:gd name="adj" fmla="val 8955"/>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ounded Rectangle 8"/>
          <p:cNvSpPr/>
          <p:nvPr/>
        </p:nvSpPr>
        <p:spPr>
          <a:xfrm>
            <a:off x="749808" y="2267712"/>
            <a:ext cx="868680" cy="548640"/>
          </a:xfrm>
          <a:prstGeom prst="roundRect">
            <a:avLst>
              <a:gd name="adj" fmla="val 13333"/>
            </a:avLst>
          </a:prstGeom>
          <a:solidFill>
            <a:srgbClr val="3BBE93">
              <a:alpha val="25000"/>
            </a:srgbClr>
          </a:solidFill>
          <a:ln w="9525">
            <a:solidFill>
              <a:srgbClr val="3BBE9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1755648" y="2231136"/>
            <a:ext cx="2241194" cy="621792"/>
          </a:xfrm>
          <a:prstGeom prst="rect">
            <a:avLst/>
          </a:prstGeom>
          <a:noFill/>
        </p:spPr>
        <p:txBody>
          <a:bodyPr wrap="square" lIns="45720" rIns="45720" tIns="27432" bIns="27432" anchor="ctr">
            <a:noAutofit/>
          </a:bodyPr>
          <a:lstStyle/>
          <a:p>
            <a:pPr algn="l">
              <a:lnSpc>
                <a:spcPct val="100000"/>
              </a:lnSpc>
            </a:pPr>
            <a:r>
              <a:rPr sz="1600" b="0" i="0">
                <a:solidFill>
                  <a:srgbClr val="F7F2E8"/>
                </a:solidFill>
                <a:latin typeface="Segoe UI Semibold"/>
              </a:rPr>
              <a:t>Prompt</a:t>
            </a:r>
          </a:p>
        </p:txBody>
      </p:sp>
      <p:sp>
        <p:nvSpPr>
          <p:cNvPr id="11" name="TextBox 10"/>
          <p:cNvSpPr txBox="1"/>
          <p:nvPr/>
        </p:nvSpPr>
        <p:spPr>
          <a:xfrm>
            <a:off x="749808" y="2953511"/>
            <a:ext cx="3173882" cy="246887"/>
          </a:xfrm>
          <a:prstGeom prst="rect">
            <a:avLst/>
          </a:prstGeom>
          <a:noFill/>
        </p:spPr>
        <p:txBody>
          <a:bodyPr wrap="square" lIns="45720" rIns="45720" tIns="27432" bIns="27432" anchor="t">
            <a:noAutofit/>
          </a:bodyPr>
          <a:lstStyle/>
          <a:p>
            <a:pPr algn="l">
              <a:lnSpc>
                <a:spcPct val="100000"/>
              </a:lnSpc>
            </a:pPr>
            <a:r>
              <a:rPr sz="1000" b="0" i="0">
                <a:solidFill>
                  <a:srgbClr val="A7B2B0"/>
                </a:solidFill>
                <a:latin typeface="Segoe UI"/>
              </a:rPr>
              <a:t>Envía su texto al modelo; admite Multi-Turn y ACPX.</a:t>
            </a:r>
          </a:p>
        </p:txBody>
      </p:sp>
      <p:sp>
        <p:nvSpPr>
          <p:cNvPr id="12" name="Rounded Rectangle 11"/>
          <p:cNvSpPr/>
          <p:nvPr/>
        </p:nvSpPr>
        <p:spPr>
          <a:xfrm>
            <a:off x="4326026" y="2084831"/>
            <a:ext cx="3539642" cy="1225295"/>
          </a:xfrm>
          <a:prstGeom prst="roundRect">
            <a:avLst>
              <a:gd name="adj" fmla="val 8955"/>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ounded Rectangle 12"/>
          <p:cNvSpPr/>
          <p:nvPr/>
        </p:nvSpPr>
        <p:spPr>
          <a:xfrm>
            <a:off x="4508906" y="2267712"/>
            <a:ext cx="868680" cy="548640"/>
          </a:xfrm>
          <a:prstGeom prst="roundRect">
            <a:avLst>
              <a:gd name="adj" fmla="val 13333"/>
            </a:avLst>
          </a:prstGeom>
          <a:solidFill>
            <a:srgbClr val="3BBE93">
              <a:alpha val="25000"/>
            </a:srgbClr>
          </a:solidFill>
          <a:ln w="9525">
            <a:solidFill>
              <a:srgbClr val="3BBE9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Oval 13"/>
          <p:cNvSpPr/>
          <p:nvPr/>
        </p:nvSpPr>
        <p:spPr>
          <a:xfrm>
            <a:off x="5103266" y="2322576"/>
            <a:ext cx="219456" cy="219456"/>
          </a:xfrm>
          <a:prstGeom prst="ellipse">
            <a:avLst/>
          </a:prstGeom>
          <a:solidFill>
            <a:srgbClr val="121A1D"/>
          </a:solidFill>
          <a:ln w="9525">
            <a:solidFill>
              <a:srgbClr val="3BBE9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5514746" y="2231136"/>
            <a:ext cx="2241194" cy="621792"/>
          </a:xfrm>
          <a:prstGeom prst="rect">
            <a:avLst/>
          </a:prstGeom>
          <a:noFill/>
        </p:spPr>
        <p:txBody>
          <a:bodyPr wrap="square" lIns="45720" rIns="45720" tIns="27432" bIns="27432" anchor="ctr">
            <a:noAutofit/>
          </a:bodyPr>
          <a:lstStyle/>
          <a:p>
            <a:pPr algn="l">
              <a:lnSpc>
                <a:spcPct val="100000"/>
              </a:lnSpc>
            </a:pPr>
            <a:r>
              <a:rPr sz="1600" b="0" i="0">
                <a:solidFill>
                  <a:srgbClr val="F7F2E8"/>
                </a:solidFill>
                <a:latin typeface="Segoe UI Semibold"/>
              </a:rPr>
              <a:t>Prompt programado</a:t>
            </a:r>
          </a:p>
        </p:txBody>
      </p:sp>
      <p:sp>
        <p:nvSpPr>
          <p:cNvPr id="16" name="TextBox 15"/>
          <p:cNvSpPr txBox="1"/>
          <p:nvPr/>
        </p:nvSpPr>
        <p:spPr>
          <a:xfrm>
            <a:off x="4508906" y="2953511"/>
            <a:ext cx="3173882" cy="246887"/>
          </a:xfrm>
          <a:prstGeom prst="rect">
            <a:avLst/>
          </a:prstGeom>
          <a:noFill/>
        </p:spPr>
        <p:txBody>
          <a:bodyPr wrap="square" lIns="45720" rIns="45720" tIns="27432" bIns="27432" anchor="t">
            <a:noAutofit/>
          </a:bodyPr>
          <a:lstStyle/>
          <a:p>
            <a:pPr algn="l">
              <a:lnSpc>
                <a:spcPct val="100000"/>
              </a:lnSpc>
            </a:pPr>
            <a:r>
              <a:rPr sz="1200" b="0" i="0">
                <a:solidFill>
                  <a:srgbClr val="A7B2B0"/>
                </a:solidFill>
                <a:latin typeface="Segoe UI"/>
              </a:rPr>
              <a:t>Espera una hora o un retraso, y luego envía.</a:t>
            </a:r>
          </a:p>
        </p:txBody>
      </p:sp>
      <p:sp>
        <p:nvSpPr>
          <p:cNvPr id="17" name="Rounded Rectangle 16"/>
          <p:cNvSpPr/>
          <p:nvPr/>
        </p:nvSpPr>
        <p:spPr>
          <a:xfrm>
            <a:off x="8085124" y="2084831"/>
            <a:ext cx="3539642" cy="1225295"/>
          </a:xfrm>
          <a:prstGeom prst="roundRect">
            <a:avLst>
              <a:gd name="adj" fmla="val 8955"/>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Diamond 17"/>
          <p:cNvSpPr/>
          <p:nvPr/>
        </p:nvSpPr>
        <p:spPr>
          <a:xfrm>
            <a:off x="8268004" y="2267712"/>
            <a:ext cx="868680" cy="548640"/>
          </a:xfrm>
          <a:prstGeom prst="diamond">
            <a:avLst/>
          </a:prstGeom>
          <a:solidFill>
            <a:srgbClr val="E2B462">
              <a:alpha val="25000"/>
            </a:srgbClr>
          </a:solidFill>
          <a:ln w="9525">
            <a:solidFill>
              <a:srgbClr val="E2B462"/>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9273844" y="2231136"/>
            <a:ext cx="2241194" cy="621792"/>
          </a:xfrm>
          <a:prstGeom prst="rect">
            <a:avLst/>
          </a:prstGeom>
          <a:noFill/>
        </p:spPr>
        <p:txBody>
          <a:bodyPr wrap="square" lIns="45720" rIns="45720" tIns="27432" bIns="27432" anchor="ctr">
            <a:noAutofit/>
          </a:bodyPr>
          <a:lstStyle/>
          <a:p>
            <a:pPr algn="l">
              <a:lnSpc>
                <a:spcPct val="100000"/>
              </a:lnSpc>
            </a:pPr>
            <a:r>
              <a:rPr sz="1600" b="0" i="0">
                <a:solidFill>
                  <a:srgbClr val="F7F2E8"/>
                </a:solidFill>
                <a:latin typeface="Segoe UI Semibold"/>
              </a:rPr>
              <a:t>Decisión</a:t>
            </a:r>
          </a:p>
        </p:txBody>
      </p:sp>
      <p:sp>
        <p:nvSpPr>
          <p:cNvPr id="20" name="TextBox 19"/>
          <p:cNvSpPr txBox="1"/>
          <p:nvPr/>
        </p:nvSpPr>
        <p:spPr>
          <a:xfrm>
            <a:off x="8268004" y="2953511"/>
            <a:ext cx="3173882" cy="246887"/>
          </a:xfrm>
          <a:prstGeom prst="rect">
            <a:avLst/>
          </a:prstGeom>
          <a:noFill/>
        </p:spPr>
        <p:txBody>
          <a:bodyPr wrap="square" lIns="45720" rIns="45720" tIns="27432" bIns="27432" anchor="t">
            <a:noAutofit/>
          </a:bodyPr>
          <a:lstStyle/>
          <a:p>
            <a:pPr algn="l">
              <a:lnSpc>
                <a:spcPct val="100000"/>
              </a:lnSpc>
            </a:pPr>
            <a:r>
              <a:rPr sz="1050" b="0" i="0">
                <a:solidFill>
                  <a:srgbClr val="A7B2B0"/>
                </a:solidFill>
                <a:latin typeface="Segoe UI"/>
              </a:rPr>
              <a:t>Toma Sí o No de la última respuesta, o te pregunta.</a:t>
            </a:r>
          </a:p>
        </p:txBody>
      </p:sp>
      <p:sp>
        <p:nvSpPr>
          <p:cNvPr id="21" name="Rounded Rectangle 20"/>
          <p:cNvSpPr/>
          <p:nvPr/>
        </p:nvSpPr>
        <p:spPr>
          <a:xfrm>
            <a:off x="566928" y="3529583"/>
            <a:ext cx="3539642" cy="1225295"/>
          </a:xfrm>
          <a:prstGeom prst="roundRect">
            <a:avLst>
              <a:gd name="adj" fmla="val 8955"/>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Isosceles Triangle 21"/>
          <p:cNvSpPr/>
          <p:nvPr/>
        </p:nvSpPr>
        <p:spPr>
          <a:xfrm>
            <a:off x="749808" y="3712463"/>
            <a:ext cx="868680" cy="548640"/>
          </a:xfrm>
          <a:prstGeom prst="triangle">
            <a:avLst/>
          </a:prstGeom>
          <a:solidFill>
            <a:srgbClr val="46D2E2">
              <a:alpha val="25000"/>
            </a:srgbClr>
          </a:solidFill>
          <a:ln w="9525">
            <a:solidFill>
              <a:srgbClr val="46D2E2"/>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extBox 22"/>
          <p:cNvSpPr txBox="1"/>
          <p:nvPr/>
        </p:nvSpPr>
        <p:spPr>
          <a:xfrm>
            <a:off x="1755648" y="3675887"/>
            <a:ext cx="2241194" cy="621792"/>
          </a:xfrm>
          <a:prstGeom prst="rect">
            <a:avLst/>
          </a:prstGeom>
          <a:noFill/>
        </p:spPr>
        <p:txBody>
          <a:bodyPr wrap="square" lIns="45720" rIns="45720" tIns="27432" bIns="27432" anchor="ctr">
            <a:noAutofit/>
          </a:bodyPr>
          <a:lstStyle/>
          <a:p>
            <a:pPr algn="l">
              <a:lnSpc>
                <a:spcPct val="100000"/>
              </a:lnSpc>
            </a:pPr>
            <a:r>
              <a:rPr sz="1600" b="0" i="0">
                <a:solidFill>
                  <a:srgbClr val="F7F2E8"/>
                </a:solidFill>
                <a:latin typeface="Segoe UI Semibold"/>
              </a:rPr>
              <a:t>Agregar embeddings</a:t>
            </a:r>
          </a:p>
        </p:txBody>
      </p:sp>
      <p:sp>
        <p:nvSpPr>
          <p:cNvPr id="24" name="TextBox 23"/>
          <p:cNvSpPr txBox="1"/>
          <p:nvPr/>
        </p:nvSpPr>
        <p:spPr>
          <a:xfrm>
            <a:off x="749808" y="4398264"/>
            <a:ext cx="3173882" cy="246887"/>
          </a:xfrm>
          <a:prstGeom prst="rect">
            <a:avLst/>
          </a:prstGeom>
          <a:noFill/>
        </p:spPr>
        <p:txBody>
          <a:bodyPr wrap="square" lIns="45720" rIns="45720" tIns="27432" bIns="27432" anchor="t">
            <a:noAutofit/>
          </a:bodyPr>
          <a:lstStyle/>
          <a:p>
            <a:pPr algn="l">
              <a:lnSpc>
                <a:spcPct val="100000"/>
              </a:lnSpc>
            </a:pPr>
            <a:r>
              <a:rPr sz="1150" b="0" i="0">
                <a:solidFill>
                  <a:srgbClr val="A7B2B0"/>
                </a:solidFill>
                <a:latin typeface="Segoe UI"/>
              </a:rPr>
              <a:t>Agrega texto de referencia a la recuperación.</a:t>
            </a:r>
          </a:p>
        </p:txBody>
      </p:sp>
      <p:sp>
        <p:nvSpPr>
          <p:cNvPr id="25" name="Rounded Rectangle 24"/>
          <p:cNvSpPr/>
          <p:nvPr/>
        </p:nvSpPr>
        <p:spPr>
          <a:xfrm>
            <a:off x="4326026" y="3529583"/>
            <a:ext cx="3539642" cy="1225295"/>
          </a:xfrm>
          <a:prstGeom prst="roundRect">
            <a:avLst>
              <a:gd name="adj" fmla="val 8955"/>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Merge 25"/>
          <p:cNvSpPr/>
          <p:nvPr/>
        </p:nvSpPr>
        <p:spPr>
          <a:xfrm>
            <a:off x="4508906" y="3712463"/>
            <a:ext cx="868680" cy="548640"/>
          </a:xfrm>
          <a:prstGeom prst="flowChartMerge">
            <a:avLst/>
          </a:prstGeom>
          <a:solidFill>
            <a:srgbClr val="46D2E2">
              <a:alpha val="25000"/>
            </a:srgbClr>
          </a:solidFill>
          <a:ln w="9525">
            <a:solidFill>
              <a:srgbClr val="46D2E2"/>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5514746" y="3675887"/>
            <a:ext cx="2241194" cy="621792"/>
          </a:xfrm>
          <a:prstGeom prst="rect">
            <a:avLst/>
          </a:prstGeom>
          <a:noFill/>
        </p:spPr>
        <p:txBody>
          <a:bodyPr wrap="square" lIns="45720" rIns="45720" tIns="27432" bIns="27432" anchor="ctr">
            <a:noAutofit/>
          </a:bodyPr>
          <a:lstStyle/>
          <a:p>
            <a:pPr algn="l">
              <a:lnSpc>
                <a:spcPct val="100000"/>
              </a:lnSpc>
            </a:pPr>
            <a:r>
              <a:rPr sz="1600" b="0" i="0">
                <a:solidFill>
                  <a:srgbClr val="F7F2E8"/>
                </a:solidFill>
                <a:latin typeface="Segoe UI Semibold"/>
              </a:rPr>
              <a:t>Vaciar embeddings</a:t>
            </a:r>
          </a:p>
        </p:txBody>
      </p:sp>
      <p:sp>
        <p:nvSpPr>
          <p:cNvPr id="28" name="TextBox 27"/>
          <p:cNvSpPr txBox="1"/>
          <p:nvPr/>
        </p:nvSpPr>
        <p:spPr>
          <a:xfrm>
            <a:off x="4508906" y="4398264"/>
            <a:ext cx="3173882" cy="246887"/>
          </a:xfrm>
          <a:prstGeom prst="rect">
            <a:avLst/>
          </a:prstGeom>
          <a:noFill/>
        </p:spPr>
        <p:txBody>
          <a:bodyPr wrap="square" lIns="45720" rIns="45720" tIns="27432" bIns="27432" anchor="t">
            <a:noAutofit/>
          </a:bodyPr>
          <a:lstStyle/>
          <a:p>
            <a:pPr algn="l">
              <a:lnSpc>
                <a:spcPct val="100000"/>
              </a:lnSpc>
            </a:pPr>
            <a:r>
              <a:rPr sz="1200" b="0" i="0">
                <a:solidFill>
                  <a:srgbClr val="A7B2B0"/>
                </a:solidFill>
                <a:latin typeface="Segoe UI"/>
              </a:rPr>
              <a:t>Limpia el contexto de recuperación.</a:t>
            </a:r>
          </a:p>
        </p:txBody>
      </p:sp>
      <p:sp>
        <p:nvSpPr>
          <p:cNvPr id="29" name="Rounded Rectangle 28"/>
          <p:cNvSpPr/>
          <p:nvPr/>
        </p:nvSpPr>
        <p:spPr>
          <a:xfrm>
            <a:off x="8085124" y="3529583"/>
            <a:ext cx="3539642" cy="1225295"/>
          </a:xfrm>
          <a:prstGeom prst="roundRect">
            <a:avLst>
              <a:gd name="adj" fmla="val 8955"/>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rapezoid 29"/>
          <p:cNvSpPr/>
          <p:nvPr/>
        </p:nvSpPr>
        <p:spPr>
          <a:xfrm>
            <a:off x="8268004" y="3712463"/>
            <a:ext cx="868680" cy="548640"/>
          </a:xfrm>
          <a:prstGeom prst="trapezoid">
            <a:avLst/>
          </a:prstGeom>
          <a:solidFill>
            <a:srgbClr val="C98457">
              <a:alpha val="25000"/>
            </a:srgbClr>
          </a:solidFill>
          <a:ln w="9525">
            <a:solidFill>
              <a:srgbClr val="C98457"/>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TextBox 30"/>
          <p:cNvSpPr txBox="1"/>
          <p:nvPr/>
        </p:nvSpPr>
        <p:spPr>
          <a:xfrm>
            <a:off x="9273844" y="3675887"/>
            <a:ext cx="2241194" cy="621792"/>
          </a:xfrm>
          <a:prstGeom prst="rect">
            <a:avLst/>
          </a:prstGeom>
          <a:noFill/>
        </p:spPr>
        <p:txBody>
          <a:bodyPr wrap="square" lIns="45720" rIns="45720" tIns="27432" bIns="27432" anchor="ctr">
            <a:noAutofit/>
          </a:bodyPr>
          <a:lstStyle/>
          <a:p>
            <a:pPr algn="l">
              <a:lnSpc>
                <a:spcPct val="100000"/>
              </a:lnSpc>
            </a:pPr>
            <a:r>
              <a:rPr sz="1600" b="0" i="0">
                <a:solidFill>
                  <a:srgbClr val="F7F2E8"/>
                </a:solidFill>
                <a:latin typeface="Segoe UI Semibold"/>
              </a:rPr>
              <a:t>Limpiar historial</a:t>
            </a:r>
          </a:p>
        </p:txBody>
      </p:sp>
      <p:sp>
        <p:nvSpPr>
          <p:cNvPr id="32" name="TextBox 31"/>
          <p:cNvSpPr txBox="1"/>
          <p:nvPr/>
        </p:nvSpPr>
        <p:spPr>
          <a:xfrm>
            <a:off x="8268004" y="4398264"/>
            <a:ext cx="3173882" cy="246887"/>
          </a:xfrm>
          <a:prstGeom prst="rect">
            <a:avLst/>
          </a:prstGeom>
          <a:noFill/>
        </p:spPr>
        <p:txBody>
          <a:bodyPr wrap="square" lIns="45720" rIns="45720" tIns="27432" bIns="27432" anchor="t">
            <a:noAutofit/>
          </a:bodyPr>
          <a:lstStyle/>
          <a:p>
            <a:pPr algn="l">
              <a:lnSpc>
                <a:spcPct val="100000"/>
              </a:lnSpc>
            </a:pPr>
            <a:r>
              <a:rPr sz="1200" b="0" i="0">
                <a:solidFill>
                  <a:srgbClr val="A7B2B0"/>
                </a:solidFill>
                <a:latin typeface="Segoe UI"/>
              </a:rPr>
              <a:t>Limpia la conversación y el último output.</a:t>
            </a:r>
          </a:p>
        </p:txBody>
      </p:sp>
      <p:sp>
        <p:nvSpPr>
          <p:cNvPr id="33" name="Rounded Rectangle 32"/>
          <p:cNvSpPr/>
          <p:nvPr/>
        </p:nvSpPr>
        <p:spPr>
          <a:xfrm>
            <a:off x="566928" y="4974336"/>
            <a:ext cx="3539642" cy="1225295"/>
          </a:xfrm>
          <a:prstGeom prst="roundRect">
            <a:avLst>
              <a:gd name="adj" fmla="val 8955"/>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Freeform 33"/>
          <p:cNvSpPr/>
          <p:nvPr/>
        </p:nvSpPr>
        <p:spPr>
          <a:xfrm>
            <a:off x="964692" y="5157216"/>
            <a:ext cx="438912" cy="548639"/>
          </a:xfrm>
          <a:custGeom>
            <a:avLst/>
            <a:gdLst/>
            <a:ahLst/>
            <a:cxnLst/>
            <a:rect l="l" t="t" r="r" b="b"/>
            <a:pathLst>
              <a:path w="438912" h="548639">
                <a:moveTo>
                  <a:pt x="0" y="0"/>
                </a:moveTo>
                <a:lnTo>
                  <a:pt x="219456" y="155265"/>
                </a:lnTo>
                <a:lnTo>
                  <a:pt x="438912" y="0"/>
                </a:lnTo>
                <a:lnTo>
                  <a:pt x="438912" y="384048"/>
                </a:lnTo>
                <a:lnTo>
                  <a:pt x="219456" y="548639"/>
                </a:lnTo>
                <a:lnTo>
                  <a:pt x="0" y="384048"/>
                </a:lnTo>
                <a:close/>
              </a:path>
            </a:pathLst>
          </a:custGeom>
          <a:solidFill>
            <a:srgbClr val="D25CD6">
              <a:alpha val="25000"/>
            </a:srgbClr>
          </a:solidFill>
          <a:ln w="9525">
            <a:solidFill>
              <a:srgbClr val="D25CD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1755648" y="5120640"/>
            <a:ext cx="2241194" cy="621792"/>
          </a:xfrm>
          <a:prstGeom prst="rect">
            <a:avLst/>
          </a:prstGeom>
          <a:noFill/>
        </p:spPr>
        <p:txBody>
          <a:bodyPr wrap="square" lIns="45720" rIns="45720" tIns="27432" bIns="27432" anchor="ctr">
            <a:noAutofit/>
          </a:bodyPr>
          <a:lstStyle/>
          <a:p>
            <a:pPr algn="l">
              <a:lnSpc>
                <a:spcPct val="100000"/>
              </a:lnSpc>
            </a:pPr>
            <a:r>
              <a:rPr sz="1600" b="0" i="0">
                <a:solidFill>
                  <a:srgbClr val="F7F2E8"/>
                </a:solidFill>
                <a:latin typeface="Segoe UI Semibold"/>
              </a:rPr>
              <a:t>Input del usuario</a:t>
            </a:r>
          </a:p>
        </p:txBody>
      </p:sp>
      <p:sp>
        <p:nvSpPr>
          <p:cNvPr id="36" name="TextBox 35"/>
          <p:cNvSpPr txBox="1"/>
          <p:nvPr/>
        </p:nvSpPr>
        <p:spPr>
          <a:xfrm>
            <a:off x="749808" y="5843016"/>
            <a:ext cx="3173882" cy="246887"/>
          </a:xfrm>
          <a:prstGeom prst="rect">
            <a:avLst/>
          </a:prstGeom>
          <a:noFill/>
        </p:spPr>
        <p:txBody>
          <a:bodyPr wrap="square" lIns="45720" rIns="45720" tIns="27432" bIns="27432" anchor="t">
            <a:noAutofit/>
          </a:bodyPr>
          <a:lstStyle/>
          <a:p>
            <a:pPr algn="l">
              <a:lnSpc>
                <a:spcPct val="100000"/>
              </a:lnSpc>
            </a:pPr>
            <a:r>
              <a:rPr sz="1000" b="0" i="0">
                <a:solidFill>
                  <a:srgbClr val="A7B2B0"/>
                </a:solidFill>
                <a:latin typeface="Segoe UI"/>
              </a:rPr>
              <a:t>Te pregunta algo; tu respuesta se une a la ejecución.</a:t>
            </a:r>
          </a:p>
        </p:txBody>
      </p:sp>
      <p:sp>
        <p:nvSpPr>
          <p:cNvPr id="37" name="Rounded Rectangle 36"/>
          <p:cNvSpPr/>
          <p:nvPr/>
        </p:nvSpPr>
        <p:spPr>
          <a:xfrm>
            <a:off x="4326026" y="4974336"/>
            <a:ext cx="3539642" cy="1225295"/>
          </a:xfrm>
          <a:prstGeom prst="roundRect">
            <a:avLst>
              <a:gd name="adj" fmla="val 8955"/>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8" name="Parallelogram 37"/>
          <p:cNvSpPr/>
          <p:nvPr/>
        </p:nvSpPr>
        <p:spPr>
          <a:xfrm>
            <a:off x="4508906" y="5157216"/>
            <a:ext cx="868680" cy="548640"/>
          </a:xfrm>
          <a:prstGeom prst="parallelogram">
            <a:avLst/>
          </a:prstGeom>
          <a:solidFill>
            <a:srgbClr val="46D2E2">
              <a:alpha val="25000"/>
            </a:srgbClr>
          </a:solidFill>
          <a:ln w="9525">
            <a:solidFill>
              <a:srgbClr val="46D2E2"/>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9" name="TextBox 38"/>
          <p:cNvSpPr txBox="1"/>
          <p:nvPr/>
        </p:nvSpPr>
        <p:spPr>
          <a:xfrm>
            <a:off x="5514746" y="5120640"/>
            <a:ext cx="2241194" cy="621792"/>
          </a:xfrm>
          <a:prstGeom prst="rect">
            <a:avLst/>
          </a:prstGeom>
          <a:noFill/>
        </p:spPr>
        <p:txBody>
          <a:bodyPr wrap="square" lIns="45720" rIns="45720" tIns="27432" bIns="27432" anchor="ctr">
            <a:noAutofit/>
          </a:bodyPr>
          <a:lstStyle/>
          <a:p>
            <a:pPr algn="l">
              <a:lnSpc>
                <a:spcPct val="100000"/>
              </a:lnSpc>
            </a:pPr>
            <a:r>
              <a:rPr sz="1600" b="0" i="0">
                <a:solidFill>
                  <a:srgbClr val="F7F2E8"/>
                </a:solidFill>
                <a:latin typeface="Segoe UI Semibold"/>
              </a:rPr>
              <a:t>Terminater</a:t>
            </a:r>
          </a:p>
        </p:txBody>
      </p:sp>
      <p:sp>
        <p:nvSpPr>
          <p:cNvPr id="40" name="TextBox 39"/>
          <p:cNvSpPr txBox="1"/>
          <p:nvPr/>
        </p:nvSpPr>
        <p:spPr>
          <a:xfrm>
            <a:off x="4508906" y="5843016"/>
            <a:ext cx="3173882" cy="246887"/>
          </a:xfrm>
          <a:prstGeom prst="rect">
            <a:avLst/>
          </a:prstGeom>
          <a:noFill/>
        </p:spPr>
        <p:txBody>
          <a:bodyPr wrap="square" lIns="45720" rIns="45720" tIns="27432" bIns="27432" anchor="t">
            <a:noAutofit/>
          </a:bodyPr>
          <a:lstStyle/>
          <a:p>
            <a:pPr algn="l">
              <a:lnSpc>
                <a:spcPct val="100000"/>
              </a:lnSpc>
            </a:pPr>
            <a:r>
              <a:rPr sz="850" b="0" i="0">
                <a:solidFill>
                  <a:srgbClr val="A7B2B0"/>
                </a:solidFill>
                <a:latin typeface="Segoe UI"/>
              </a:rPr>
              <a:t>Escribe comandos en una terminal visible y lee el resultado.</a:t>
            </a:r>
          </a:p>
        </p:txBody>
      </p:sp>
      <p:sp>
        <p:nvSpPr>
          <p:cNvPr id="41" name="Rounded Rectangle 40"/>
          <p:cNvSpPr/>
          <p:nvPr/>
        </p:nvSpPr>
        <p:spPr>
          <a:xfrm>
            <a:off x="8085124" y="4974336"/>
            <a:ext cx="3539642" cy="1225295"/>
          </a:xfrm>
          <a:prstGeom prst="roundRect">
            <a:avLst>
              <a:gd name="adj" fmla="val 8955"/>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2" name="Rounded Rectangular Callout 41"/>
          <p:cNvSpPr/>
          <p:nvPr/>
        </p:nvSpPr>
        <p:spPr>
          <a:xfrm>
            <a:off x="8268004" y="5157216"/>
            <a:ext cx="868680" cy="548640"/>
          </a:xfrm>
          <a:prstGeom prst="wedgeRoundRectCallout">
            <a:avLst/>
          </a:prstGeom>
          <a:solidFill>
            <a:srgbClr val="D9576B">
              <a:alpha val="25000"/>
            </a:srgbClr>
          </a:solidFill>
          <a:ln w="9525">
            <a:solidFill>
              <a:srgbClr val="D9576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3" name="TextBox 42"/>
          <p:cNvSpPr txBox="1"/>
          <p:nvPr/>
        </p:nvSpPr>
        <p:spPr>
          <a:xfrm>
            <a:off x="9273844" y="5120640"/>
            <a:ext cx="2241194" cy="621792"/>
          </a:xfrm>
          <a:prstGeom prst="rect">
            <a:avLst/>
          </a:prstGeom>
          <a:noFill/>
        </p:spPr>
        <p:txBody>
          <a:bodyPr wrap="square" lIns="45720" rIns="45720" tIns="27432" bIns="27432" anchor="ctr">
            <a:noAutofit/>
          </a:bodyPr>
          <a:lstStyle/>
          <a:p>
            <a:pPr algn="l">
              <a:lnSpc>
                <a:spcPct val="100000"/>
              </a:lnSpc>
            </a:pPr>
            <a:r>
              <a:rPr sz="1600" b="0" i="0">
                <a:solidFill>
                  <a:srgbClr val="F7F2E8"/>
                </a:solidFill>
                <a:latin typeface="Segoe UI Semibold"/>
              </a:rPr>
              <a:t>Comentario del usuario</a:t>
            </a:r>
          </a:p>
        </p:txBody>
      </p:sp>
      <p:sp>
        <p:nvSpPr>
          <p:cNvPr id="44" name="TextBox 43"/>
          <p:cNvSpPr txBox="1"/>
          <p:nvPr/>
        </p:nvSpPr>
        <p:spPr>
          <a:xfrm>
            <a:off x="8268004" y="5843016"/>
            <a:ext cx="3173882" cy="246887"/>
          </a:xfrm>
          <a:prstGeom prst="rect">
            <a:avLst/>
          </a:prstGeom>
          <a:noFill/>
        </p:spPr>
        <p:txBody>
          <a:bodyPr wrap="square" lIns="45720" rIns="45720" tIns="27432" bIns="27432" anchor="t">
            <a:noAutofit/>
          </a:bodyPr>
          <a:lstStyle/>
          <a:p>
            <a:pPr algn="l">
              <a:lnSpc>
                <a:spcPct val="100000"/>
              </a:lnSpc>
            </a:pPr>
            <a:r>
              <a:rPr sz="950" b="0" i="0">
                <a:solidFill>
                  <a:srgbClr val="A7B2B0"/>
                </a:solidFill>
                <a:latin typeface="Segoe UI"/>
              </a:rPr>
              <a:t>Nota estática en burbuja para revisar; nunca se ejecuta.</a:t>
            </a:r>
          </a:p>
        </p:txBody>
      </p:sp>
      <p:cxnSp>
        <p:nvCxnSpPr>
          <p:cNvPr id="45" name="Connector 44"/>
          <p:cNvCxnSpPr/>
          <p:nvPr/>
        </p:nvCxnSpPr>
        <p:spPr>
          <a:xfrm>
            <a:off x="566928" y="6373368"/>
            <a:ext cx="11057839" cy="0"/>
          </a:xfrm>
          <a:prstGeom prst="line">
            <a:avLst/>
          </a:prstGeom>
          <a:ln w="7620">
            <a:solidFill>
              <a:srgbClr val="2A3A40"/>
            </a:solidFill>
          </a:ln>
        </p:spPr>
        <p:style>
          <a:lnRef idx="2">
            <a:schemeClr val="accent1"/>
          </a:lnRef>
          <a:fillRef idx="0">
            <a:schemeClr val="accent1"/>
          </a:fillRef>
          <a:effectRef idx="1">
            <a:schemeClr val="accent1"/>
          </a:effectRef>
          <a:fontRef idx="minor">
            <a:schemeClr val="tx1"/>
          </a:fontRef>
        </p:style>
      </p:cxnSp>
      <p:sp>
        <p:nvSpPr>
          <p:cNvPr id="46" name="TextBox 45"/>
          <p:cNvSpPr txBox="1"/>
          <p:nvPr/>
        </p:nvSpPr>
        <p:spPr>
          <a:xfrm>
            <a:off x="566928" y="6419088"/>
            <a:ext cx="6858000" cy="274320"/>
          </a:xfrm>
          <a:prstGeom prst="rect">
            <a:avLst/>
          </a:prstGeom>
          <a:noFill/>
        </p:spPr>
        <p:txBody>
          <a:bodyPr wrap="square" lIns="45720" rIns="45720" tIns="27432" bIns="27432" anchor="t">
            <a:noAutofit/>
          </a:bodyPr>
          <a:lstStyle/>
          <a:p>
            <a:pPr algn="l">
              <a:lnSpc>
                <a:spcPct val="100000"/>
              </a:lnSpc>
            </a:pPr>
            <a:r>
              <a:rPr sz="850" b="0" i="0" spc="120">
                <a:solidFill>
                  <a:srgbClr val="A7B2B0"/>
                </a:solidFill>
                <a:latin typeface="Segoe UI Semibold"/>
              </a:rPr>
              <a:t>TLAMATINI  ·  III · DÓNDE TRABAJAS CON ELLA</a:t>
            </a:r>
          </a:p>
        </p:txBody>
      </p:sp>
      <p:sp>
        <p:nvSpPr>
          <p:cNvPr id="47" name="TextBox 46"/>
          <p:cNvSpPr txBox="1"/>
          <p:nvPr/>
        </p:nvSpPr>
        <p:spPr>
          <a:xfrm>
            <a:off x="8698687" y="6419088"/>
            <a:ext cx="2926080" cy="274320"/>
          </a:xfrm>
          <a:prstGeom prst="rect">
            <a:avLst/>
          </a:prstGeom>
          <a:noFill/>
        </p:spPr>
        <p:txBody>
          <a:bodyPr wrap="square" lIns="45720" rIns="45720" tIns="27432" bIns="27432" anchor="t">
            <a:noAutofit/>
          </a:bodyPr>
          <a:lstStyle/>
          <a:p>
            <a:pPr algn="r">
              <a:lnSpc>
                <a:spcPct val="100000"/>
              </a:lnSpc>
            </a:pPr>
            <a:r>
              <a:rPr sz="850" b="0" i="0" spc="100">
                <a:solidFill>
                  <a:srgbClr val="A7B2B0"/>
                </a:solidFill>
                <a:latin typeface="Segoe UI Semibold"/>
              </a:rPr>
              <a:t>v1.91.1   ·   47</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content.png"/>
          <p:cNvPicPr>
            <a:picLocks noChangeAspect="1"/>
          </p:cNvPicPr>
          <p:nvPr/>
        </p:nvPicPr>
        <p:blipFill>
          <a:blip r:embed="rId2"/>
          <a:stretch>
            <a:fillRect/>
          </a:stretch>
        </p:blipFill>
        <p:spPr>
          <a:xfrm>
            <a:off x="0" y="0"/>
            <a:ext cx="12191695" cy="6858000"/>
          </a:xfrm>
          <a:prstGeom prst="rect">
            <a:avLst/>
          </a:prstGeom>
        </p:spPr>
      </p:pic>
      <p:sp>
        <p:nvSpPr>
          <p:cNvPr id="3" name="Diamond 2"/>
          <p:cNvSpPr/>
          <p:nvPr/>
        </p:nvSpPr>
        <p:spPr>
          <a:xfrm>
            <a:off x="566928" y="457200"/>
            <a:ext cx="100584" cy="100584"/>
          </a:xfrm>
          <a:prstGeom prst="diamond">
            <a:avLst/>
          </a:prstGeom>
          <a:solidFill>
            <a:srgbClr val="E2B4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49808" y="365760"/>
            <a:ext cx="8229600" cy="292608"/>
          </a:xfrm>
          <a:prstGeom prst="rect">
            <a:avLst/>
          </a:prstGeom>
          <a:noFill/>
        </p:spPr>
        <p:txBody>
          <a:bodyPr wrap="square" lIns="45720" rIns="45720" tIns="27432" bIns="27432" anchor="t">
            <a:noAutofit/>
          </a:bodyPr>
          <a:lstStyle/>
          <a:p>
            <a:pPr algn="l">
              <a:lnSpc>
                <a:spcPct val="100000"/>
              </a:lnSpc>
            </a:pPr>
            <a:r>
              <a:rPr sz="1100" b="0" i="0" spc="240">
                <a:solidFill>
                  <a:srgbClr val="C98457"/>
                </a:solidFill>
                <a:latin typeface="Segoe UI Semibold"/>
              </a:rPr>
              <a:t>PROMPT FLOW PANEL</a:t>
            </a:r>
          </a:p>
        </p:txBody>
      </p:sp>
      <p:sp>
        <p:nvSpPr>
          <p:cNvPr id="5" name="TextBox 4"/>
          <p:cNvSpPr txBox="1"/>
          <p:nvPr/>
        </p:nvSpPr>
        <p:spPr>
          <a:xfrm>
            <a:off x="539496" y="676656"/>
            <a:ext cx="11057839" cy="658368"/>
          </a:xfrm>
          <a:prstGeom prst="rect">
            <a:avLst/>
          </a:prstGeom>
          <a:noFill/>
        </p:spPr>
        <p:txBody>
          <a:bodyPr wrap="square" lIns="45720" rIns="45720" tIns="27432" bIns="27432" anchor="t">
            <a:noAutofit/>
          </a:bodyPr>
          <a:lstStyle/>
          <a:p>
            <a:pPr algn="l">
              <a:lnSpc>
                <a:spcPct val="100000"/>
              </a:lnSpc>
            </a:pPr>
            <a:r>
              <a:rPr sz="3100" b="0" i="0">
                <a:solidFill>
                  <a:srgbClr val="F7F2E8"/>
                </a:solidFill>
                <a:latin typeface="Palatino Linotype"/>
              </a:rPr>
              <a:t>Una ejecución que se queda en su propio carril</a:t>
            </a:r>
          </a:p>
        </p:txBody>
      </p:sp>
      <p:sp>
        <p:nvSpPr>
          <p:cNvPr id="6" name="Rectangle 5"/>
          <p:cNvSpPr/>
          <p:nvPr/>
        </p:nvSpPr>
        <p:spPr>
          <a:xfrm>
            <a:off x="566928" y="1344168"/>
            <a:ext cx="822960" cy="36576"/>
          </a:xfrm>
          <a:prstGeom prst="rect">
            <a:avLst/>
          </a:prstGeom>
          <a:solidFill>
            <a:srgbClr val="E2B4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566928" y="1444752"/>
            <a:ext cx="10692079" cy="585216"/>
          </a:xfrm>
          <a:prstGeom prst="rect">
            <a:avLst/>
          </a:prstGeom>
          <a:noFill/>
        </p:spPr>
        <p:txBody>
          <a:bodyPr wrap="square" lIns="45720" rIns="45720" tIns="27432" bIns="27432" anchor="t">
            <a:noAutofit/>
          </a:bodyPr>
          <a:lstStyle/>
          <a:p>
            <a:pPr algn="l">
              <a:lnSpc>
                <a:spcPct val="100000"/>
              </a:lnSpc>
            </a:pPr>
            <a:r>
              <a:rPr sz="1450" b="0" i="0">
                <a:solidFill>
                  <a:srgbClr val="A7B2B0"/>
                </a:solidFill>
                <a:latin typeface="Segoe UI Semilight"/>
              </a:rPr>
              <a:t>Validar revisa el diagrama, Ejecutar lo corre, y cada ejecución conserva su propia conversación, sus embeddings y su identidad de cancelación, así que nunca molesta a tu chat.</a:t>
            </a:r>
          </a:p>
        </p:txBody>
      </p:sp>
      <p:sp>
        <p:nvSpPr>
          <p:cNvPr id="8" name="Rounded Rectangle 7"/>
          <p:cNvSpPr/>
          <p:nvPr/>
        </p:nvSpPr>
        <p:spPr>
          <a:xfrm>
            <a:off x="566928" y="2084831"/>
            <a:ext cx="3551834" cy="1956816"/>
          </a:xfrm>
          <a:prstGeom prst="roundRect">
            <a:avLst>
              <a:gd name="adj" fmla="val 5607"/>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ectangle 8"/>
          <p:cNvSpPr/>
          <p:nvPr/>
        </p:nvSpPr>
        <p:spPr>
          <a:xfrm>
            <a:off x="731520" y="2212848"/>
            <a:ext cx="502920" cy="45720"/>
          </a:xfrm>
          <a:prstGeom prst="rect">
            <a:avLst/>
          </a:prstGeom>
          <a:solidFill>
            <a:srgbClr val="3BBE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694944" y="2304287"/>
            <a:ext cx="3295802" cy="353568"/>
          </a:xfrm>
          <a:prstGeom prst="rect">
            <a:avLst/>
          </a:prstGeom>
          <a:noFill/>
        </p:spPr>
        <p:txBody>
          <a:bodyPr wrap="square" lIns="45720" rIns="45720" tIns="27432" bIns="27432" anchor="t">
            <a:noAutofit/>
          </a:bodyPr>
          <a:lstStyle/>
          <a:p>
            <a:pPr algn="l">
              <a:lnSpc>
                <a:spcPct val="100000"/>
              </a:lnSpc>
            </a:pPr>
            <a:r>
              <a:rPr sz="1600" b="0" i="0">
                <a:solidFill>
                  <a:srgbClr val="F7F2E8"/>
                </a:solidFill>
                <a:latin typeface="Segoe UI Semibold"/>
              </a:rPr>
              <a:t>Formato</a:t>
            </a:r>
          </a:p>
        </p:txBody>
      </p:sp>
      <p:sp>
        <p:nvSpPr>
          <p:cNvPr id="11" name="TextBox 10"/>
          <p:cNvSpPr txBox="1"/>
          <p:nvPr/>
        </p:nvSpPr>
        <p:spPr>
          <a:xfrm>
            <a:off x="694944" y="2657855"/>
            <a:ext cx="3295802" cy="1292352"/>
          </a:xfrm>
          <a:prstGeom prst="rect">
            <a:avLst/>
          </a:prstGeom>
          <a:noFill/>
        </p:spPr>
        <p:txBody>
          <a:bodyPr wrap="square" lIns="45720" rIns="45720" tIns="27432" bIns="27432" anchor="t">
            <a:noAutofit/>
          </a:bodyPr>
          <a:lstStyle/>
          <a:p>
            <a:pPr algn="l">
              <a:lnSpc>
                <a:spcPct val="100000"/>
              </a:lnSpc>
            </a:pPr>
            <a:r>
              <a:rPr sz="1300" b="0" i="0">
                <a:solidFill>
                  <a:srgbClr val="A7B2B0"/>
                </a:solidFill>
                <a:latin typeface="Segoe UI"/>
              </a:rPr>
              <a:t>JSON </a:t>
            </a:r>
            <a:r>
              <a:rPr sz="1200" b="0" i="0">
                <a:solidFill>
                  <a:srgbClr val="E2B462"/>
                </a:solidFill>
                <a:latin typeface="Consolas"/>
              </a:rPr>
              <a:t>tlamatini-prompting-flow</a:t>
            </a:r>
            <a:r>
              <a:rPr sz="1300" b="0" i="0">
                <a:solidFill>
                  <a:srgbClr val="A7B2B0"/>
                </a:solidFill>
                <a:latin typeface="Segoe UI"/>
              </a:rPr>
              <a:t>, versión 2; los archivos de la versión 1 se migran.</a:t>
            </a:r>
          </a:p>
        </p:txBody>
      </p:sp>
      <p:sp>
        <p:nvSpPr>
          <p:cNvPr id="12" name="Rounded Rectangle 11"/>
          <p:cNvSpPr/>
          <p:nvPr/>
        </p:nvSpPr>
        <p:spPr>
          <a:xfrm>
            <a:off x="4319930" y="2084831"/>
            <a:ext cx="3551834" cy="1956816"/>
          </a:xfrm>
          <a:prstGeom prst="roundRect">
            <a:avLst>
              <a:gd name="adj" fmla="val 5607"/>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4484522" y="2212848"/>
            <a:ext cx="502920" cy="45720"/>
          </a:xfrm>
          <a:prstGeom prst="rect">
            <a:avLst/>
          </a:prstGeom>
          <a:solidFill>
            <a:srgbClr val="C984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4447946" y="2304287"/>
            <a:ext cx="3295802" cy="353568"/>
          </a:xfrm>
          <a:prstGeom prst="rect">
            <a:avLst/>
          </a:prstGeom>
          <a:noFill/>
        </p:spPr>
        <p:txBody>
          <a:bodyPr wrap="square" lIns="45720" rIns="45720" tIns="27432" bIns="27432" anchor="t">
            <a:noAutofit/>
          </a:bodyPr>
          <a:lstStyle/>
          <a:p>
            <a:pPr algn="l">
              <a:lnSpc>
                <a:spcPct val="100000"/>
              </a:lnSpc>
            </a:pPr>
            <a:r>
              <a:rPr sz="1600" b="0" i="0">
                <a:solidFill>
                  <a:srgbClr val="F7F2E8"/>
                </a:solidFill>
                <a:latin typeface="Segoe UI Semibold"/>
              </a:rPr>
              <a:t>Límites</a:t>
            </a:r>
          </a:p>
        </p:txBody>
      </p:sp>
      <p:sp>
        <p:nvSpPr>
          <p:cNvPr id="15" name="TextBox 14"/>
          <p:cNvSpPr txBox="1"/>
          <p:nvPr/>
        </p:nvSpPr>
        <p:spPr>
          <a:xfrm>
            <a:off x="4447946" y="2657855"/>
            <a:ext cx="3295802" cy="1292352"/>
          </a:xfrm>
          <a:prstGeom prst="rect">
            <a:avLst/>
          </a:prstGeom>
          <a:noFill/>
        </p:spPr>
        <p:txBody>
          <a:bodyPr wrap="square" lIns="45720" rIns="45720" tIns="27432" bIns="27432" anchor="t">
            <a:noAutofit/>
          </a:bodyPr>
          <a:lstStyle/>
          <a:p>
            <a:pPr algn="l">
              <a:lnSpc>
                <a:spcPct val="100000"/>
              </a:lnSpc>
            </a:pPr>
            <a:r>
              <a:rPr sz="1300" b="0" i="0">
                <a:solidFill>
                  <a:srgbClr val="A7B2B0"/>
                </a:solidFill>
                <a:latin typeface="Segoe UI"/>
              </a:rPr>
              <a:t>5 MiB, 500 elementos, 1,000 conexiones.</a:t>
            </a:r>
          </a:p>
        </p:txBody>
      </p:sp>
      <p:sp>
        <p:nvSpPr>
          <p:cNvPr id="16" name="Rounded Rectangle 15"/>
          <p:cNvSpPr/>
          <p:nvPr/>
        </p:nvSpPr>
        <p:spPr>
          <a:xfrm>
            <a:off x="8072932" y="2084831"/>
            <a:ext cx="3551834" cy="1956816"/>
          </a:xfrm>
          <a:prstGeom prst="roundRect">
            <a:avLst>
              <a:gd name="adj" fmla="val 5607"/>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8237524" y="2212848"/>
            <a:ext cx="502920" cy="45720"/>
          </a:xfrm>
          <a:prstGeom prst="rect">
            <a:avLst/>
          </a:prstGeom>
          <a:solidFill>
            <a:srgbClr val="E2B4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200948" y="2304287"/>
            <a:ext cx="3295802" cy="353568"/>
          </a:xfrm>
          <a:prstGeom prst="rect">
            <a:avLst/>
          </a:prstGeom>
          <a:noFill/>
        </p:spPr>
        <p:txBody>
          <a:bodyPr wrap="square" lIns="45720" rIns="45720" tIns="27432" bIns="27432" anchor="t">
            <a:noAutofit/>
          </a:bodyPr>
          <a:lstStyle/>
          <a:p>
            <a:pPr algn="l">
              <a:lnSpc>
                <a:spcPct val="100000"/>
              </a:lnSpc>
            </a:pPr>
            <a:r>
              <a:rPr sz="1600" b="0" i="0">
                <a:solidFill>
                  <a:srgbClr val="F7F2E8"/>
                </a:solidFill>
                <a:latin typeface="Segoe UI Semibold"/>
              </a:rPr>
              <a:t>Aislamiento</a:t>
            </a:r>
          </a:p>
        </p:txBody>
      </p:sp>
      <p:sp>
        <p:nvSpPr>
          <p:cNvPr id="19" name="TextBox 18"/>
          <p:cNvSpPr txBox="1"/>
          <p:nvPr/>
        </p:nvSpPr>
        <p:spPr>
          <a:xfrm>
            <a:off x="8200948" y="2657855"/>
            <a:ext cx="3295802" cy="1292352"/>
          </a:xfrm>
          <a:prstGeom prst="rect">
            <a:avLst/>
          </a:prstGeom>
          <a:noFill/>
        </p:spPr>
        <p:txBody>
          <a:bodyPr wrap="square" lIns="45720" rIns="45720" tIns="27432" bIns="27432" anchor="t">
            <a:noAutofit/>
          </a:bodyPr>
          <a:lstStyle/>
          <a:p>
            <a:pPr algn="l">
              <a:lnSpc>
                <a:spcPct val="100000"/>
              </a:lnSpc>
            </a:pPr>
            <a:r>
              <a:rPr sz="1300" b="0" i="0">
                <a:solidFill>
                  <a:srgbClr val="A7B2B0"/>
                </a:solidFill>
                <a:latin typeface="Segoe UI"/>
              </a:rPr>
              <a:t>Historial y embeddings vacíos en cada inicio.</a:t>
            </a:r>
          </a:p>
        </p:txBody>
      </p:sp>
      <p:sp>
        <p:nvSpPr>
          <p:cNvPr id="20" name="Rounded Rectangle 19"/>
          <p:cNvSpPr/>
          <p:nvPr/>
        </p:nvSpPr>
        <p:spPr>
          <a:xfrm>
            <a:off x="566928" y="4242816"/>
            <a:ext cx="3551834" cy="1956816"/>
          </a:xfrm>
          <a:prstGeom prst="roundRect">
            <a:avLst>
              <a:gd name="adj" fmla="val 5607"/>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ectangle 20"/>
          <p:cNvSpPr/>
          <p:nvPr/>
        </p:nvSpPr>
        <p:spPr>
          <a:xfrm>
            <a:off x="731520" y="4370832"/>
            <a:ext cx="502920" cy="45720"/>
          </a:xfrm>
          <a:prstGeom prst="rect">
            <a:avLst/>
          </a:prstGeom>
          <a:solidFill>
            <a:srgbClr val="46D2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694944" y="4462272"/>
            <a:ext cx="3295802" cy="353568"/>
          </a:xfrm>
          <a:prstGeom prst="rect">
            <a:avLst/>
          </a:prstGeom>
          <a:noFill/>
        </p:spPr>
        <p:txBody>
          <a:bodyPr wrap="square" lIns="45720" rIns="45720" tIns="27432" bIns="27432" anchor="t">
            <a:noAutofit/>
          </a:bodyPr>
          <a:lstStyle/>
          <a:p>
            <a:pPr algn="l">
              <a:lnSpc>
                <a:spcPct val="100000"/>
              </a:lnSpc>
            </a:pPr>
            <a:r>
              <a:rPr sz="1600" b="0" i="0">
                <a:solidFill>
                  <a:srgbClr val="F7F2E8"/>
                </a:solidFill>
                <a:latin typeface="Segoe UI Semibold"/>
              </a:rPr>
              <a:t>Validación</a:t>
            </a:r>
          </a:p>
        </p:txBody>
      </p:sp>
      <p:sp>
        <p:nvSpPr>
          <p:cNvPr id="23" name="TextBox 22"/>
          <p:cNvSpPr txBox="1"/>
          <p:nvPr/>
        </p:nvSpPr>
        <p:spPr>
          <a:xfrm>
            <a:off x="694944" y="4815840"/>
            <a:ext cx="3295802" cy="1292352"/>
          </a:xfrm>
          <a:prstGeom prst="rect">
            <a:avLst/>
          </a:prstGeom>
          <a:noFill/>
        </p:spPr>
        <p:txBody>
          <a:bodyPr wrap="square" lIns="45720" rIns="45720" tIns="27432" bIns="27432" anchor="t">
            <a:noAutofit/>
          </a:bodyPr>
          <a:lstStyle/>
          <a:p>
            <a:pPr algn="l">
              <a:lnSpc>
                <a:spcPct val="100000"/>
              </a:lnSpc>
            </a:pPr>
            <a:r>
              <a:rPr sz="1300" b="0" i="0">
                <a:solidFill>
                  <a:srgbClr val="A7B2B0"/>
                </a:solidFill>
                <a:latin typeface="Segoe UI"/>
              </a:rPr>
              <a:t>Se revisa en el browser y otra vez en el servidor.</a:t>
            </a:r>
          </a:p>
        </p:txBody>
      </p:sp>
      <p:sp>
        <p:nvSpPr>
          <p:cNvPr id="24" name="Rounded Rectangle 23"/>
          <p:cNvSpPr/>
          <p:nvPr/>
        </p:nvSpPr>
        <p:spPr>
          <a:xfrm>
            <a:off x="4319930" y="4242816"/>
            <a:ext cx="3551834" cy="1956816"/>
          </a:xfrm>
          <a:prstGeom prst="roundRect">
            <a:avLst>
              <a:gd name="adj" fmla="val 5607"/>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ectangle 24"/>
          <p:cNvSpPr/>
          <p:nvPr/>
        </p:nvSpPr>
        <p:spPr>
          <a:xfrm>
            <a:off x="4484522" y="4370832"/>
            <a:ext cx="502920" cy="45720"/>
          </a:xfrm>
          <a:prstGeom prst="rect">
            <a:avLst/>
          </a:prstGeom>
          <a:solidFill>
            <a:srgbClr val="D25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4447946" y="4462272"/>
            <a:ext cx="3295802" cy="353568"/>
          </a:xfrm>
          <a:prstGeom prst="rect">
            <a:avLst/>
          </a:prstGeom>
          <a:noFill/>
        </p:spPr>
        <p:txBody>
          <a:bodyPr wrap="square" lIns="45720" rIns="45720" tIns="27432" bIns="27432" anchor="t">
            <a:noAutofit/>
          </a:bodyPr>
          <a:lstStyle/>
          <a:p>
            <a:pPr algn="l">
              <a:lnSpc>
                <a:spcPct val="100000"/>
              </a:lnSpc>
            </a:pPr>
            <a:r>
              <a:rPr sz="1600" b="0" i="0">
                <a:solidFill>
                  <a:srgbClr val="F7F2E8"/>
                </a:solidFill>
                <a:latin typeface="Segoe UI Semibold"/>
              </a:rPr>
              <a:t>No es .pmt</a:t>
            </a:r>
          </a:p>
        </p:txBody>
      </p:sp>
      <p:sp>
        <p:nvSpPr>
          <p:cNvPr id="27" name="TextBox 26"/>
          <p:cNvSpPr txBox="1"/>
          <p:nvPr/>
        </p:nvSpPr>
        <p:spPr>
          <a:xfrm>
            <a:off x="4447946" y="4815840"/>
            <a:ext cx="3295802" cy="1292352"/>
          </a:xfrm>
          <a:prstGeom prst="rect">
            <a:avLst/>
          </a:prstGeom>
          <a:noFill/>
        </p:spPr>
        <p:txBody>
          <a:bodyPr wrap="square" lIns="45720" rIns="45720" tIns="27432" bIns="27432" anchor="t">
            <a:noAutofit/>
          </a:bodyPr>
          <a:lstStyle/>
          <a:p>
            <a:pPr algn="l">
              <a:lnSpc>
                <a:spcPct val="100000"/>
              </a:lnSpc>
            </a:pPr>
            <a:r>
              <a:rPr sz="1300" b="0" i="0">
                <a:solidFill>
                  <a:srgbClr val="A7B2B0"/>
                </a:solidFill>
                <a:latin typeface="Segoe UI"/>
              </a:rPr>
              <a:t>Los prompts de sistema en texto plano conservan .pmt y se rechazan.</a:t>
            </a:r>
          </a:p>
        </p:txBody>
      </p:sp>
      <p:sp>
        <p:nvSpPr>
          <p:cNvPr id="28" name="Rounded Rectangle 27"/>
          <p:cNvSpPr/>
          <p:nvPr/>
        </p:nvSpPr>
        <p:spPr>
          <a:xfrm>
            <a:off x="8072932" y="4242816"/>
            <a:ext cx="3551834" cy="1956816"/>
          </a:xfrm>
          <a:prstGeom prst="roundRect">
            <a:avLst>
              <a:gd name="adj" fmla="val 5607"/>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Rectangle 28"/>
          <p:cNvSpPr/>
          <p:nvPr/>
        </p:nvSpPr>
        <p:spPr>
          <a:xfrm>
            <a:off x="8237524" y="4370832"/>
            <a:ext cx="502920" cy="45720"/>
          </a:xfrm>
          <a:prstGeom prst="rect">
            <a:avLst/>
          </a:prstGeom>
          <a:solidFill>
            <a:srgbClr val="D957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8200948" y="4462272"/>
            <a:ext cx="3295802" cy="353568"/>
          </a:xfrm>
          <a:prstGeom prst="rect">
            <a:avLst/>
          </a:prstGeom>
          <a:noFill/>
        </p:spPr>
        <p:txBody>
          <a:bodyPr wrap="square" lIns="45720" rIns="45720" tIns="27432" bIns="27432" anchor="t">
            <a:noAutofit/>
          </a:bodyPr>
          <a:lstStyle/>
          <a:p>
            <a:pPr algn="l">
              <a:lnSpc>
                <a:spcPct val="100000"/>
              </a:lnSpc>
            </a:pPr>
            <a:r>
              <a:rPr sz="1600" b="0" i="0">
                <a:solidFill>
                  <a:srgbClr val="F7F2E8"/>
                </a:solidFill>
                <a:latin typeface="Segoe UI Semibold"/>
              </a:rPr>
              <a:t>Borradores</a:t>
            </a:r>
          </a:p>
        </p:txBody>
      </p:sp>
      <p:sp>
        <p:nvSpPr>
          <p:cNvPr id="31" name="TextBox 30"/>
          <p:cNvSpPr txBox="1"/>
          <p:nvPr/>
        </p:nvSpPr>
        <p:spPr>
          <a:xfrm>
            <a:off x="8200948" y="4815840"/>
            <a:ext cx="3295802" cy="1292352"/>
          </a:xfrm>
          <a:prstGeom prst="rect">
            <a:avLst/>
          </a:prstGeom>
          <a:noFill/>
        </p:spPr>
        <p:txBody>
          <a:bodyPr wrap="square" lIns="45720" rIns="45720" tIns="27432" bIns="27432" anchor="t">
            <a:noAutofit/>
          </a:bodyPr>
          <a:lstStyle/>
          <a:p>
            <a:pPr algn="l">
              <a:lnSpc>
                <a:spcPct val="100000"/>
              </a:lnSpc>
            </a:pPr>
            <a:r>
              <a:rPr sz="1300" b="0" i="0">
                <a:solidFill>
                  <a:srgbClr val="A7B2B0"/>
                </a:solidFill>
                <a:latin typeface="Segoe UI"/>
              </a:rPr>
              <a:t>Se guardan por usuario en el almacenamiento del browser.</a:t>
            </a:r>
          </a:p>
        </p:txBody>
      </p:sp>
      <p:cxnSp>
        <p:nvCxnSpPr>
          <p:cNvPr id="32" name="Connector 31"/>
          <p:cNvCxnSpPr/>
          <p:nvPr/>
        </p:nvCxnSpPr>
        <p:spPr>
          <a:xfrm>
            <a:off x="566928" y="6373368"/>
            <a:ext cx="11057839" cy="0"/>
          </a:xfrm>
          <a:prstGeom prst="line">
            <a:avLst/>
          </a:prstGeom>
          <a:ln w="7620">
            <a:solidFill>
              <a:srgbClr val="2A3A40"/>
            </a:solidFill>
          </a:ln>
        </p:spPr>
        <p:style>
          <a:lnRef idx="2">
            <a:schemeClr val="accent1"/>
          </a:lnRef>
          <a:fillRef idx="0">
            <a:schemeClr val="accent1"/>
          </a:fillRef>
          <a:effectRef idx="1">
            <a:schemeClr val="accent1"/>
          </a:effectRef>
          <a:fontRef idx="minor">
            <a:schemeClr val="tx1"/>
          </a:fontRef>
        </p:style>
      </p:cxnSp>
      <p:sp>
        <p:nvSpPr>
          <p:cNvPr id="33" name="TextBox 32"/>
          <p:cNvSpPr txBox="1"/>
          <p:nvPr/>
        </p:nvSpPr>
        <p:spPr>
          <a:xfrm>
            <a:off x="566928" y="6419088"/>
            <a:ext cx="6858000" cy="274320"/>
          </a:xfrm>
          <a:prstGeom prst="rect">
            <a:avLst/>
          </a:prstGeom>
          <a:noFill/>
        </p:spPr>
        <p:txBody>
          <a:bodyPr wrap="square" lIns="45720" rIns="45720" tIns="27432" bIns="27432" anchor="t">
            <a:noAutofit/>
          </a:bodyPr>
          <a:lstStyle/>
          <a:p>
            <a:pPr algn="l">
              <a:lnSpc>
                <a:spcPct val="100000"/>
              </a:lnSpc>
            </a:pPr>
            <a:r>
              <a:rPr sz="850" b="0" i="0" spc="120">
                <a:solidFill>
                  <a:srgbClr val="A7B2B0"/>
                </a:solidFill>
                <a:latin typeface="Segoe UI Semibold"/>
              </a:rPr>
              <a:t>TLAMATINI  ·  III · DÓNDE TRABAJAS CON ELLA</a:t>
            </a:r>
          </a:p>
        </p:txBody>
      </p:sp>
      <p:sp>
        <p:nvSpPr>
          <p:cNvPr id="34" name="TextBox 33"/>
          <p:cNvSpPr txBox="1"/>
          <p:nvPr/>
        </p:nvSpPr>
        <p:spPr>
          <a:xfrm>
            <a:off x="8698687" y="6419088"/>
            <a:ext cx="2926080" cy="274320"/>
          </a:xfrm>
          <a:prstGeom prst="rect">
            <a:avLst/>
          </a:prstGeom>
          <a:noFill/>
        </p:spPr>
        <p:txBody>
          <a:bodyPr wrap="square" lIns="45720" rIns="45720" tIns="27432" bIns="27432" anchor="t">
            <a:noAutofit/>
          </a:bodyPr>
          <a:lstStyle/>
          <a:p>
            <a:pPr algn="r">
              <a:lnSpc>
                <a:spcPct val="100000"/>
              </a:lnSpc>
            </a:pPr>
            <a:r>
              <a:rPr sz="850" b="0" i="0" spc="100">
                <a:solidFill>
                  <a:srgbClr val="A7B2B0"/>
                </a:solidFill>
                <a:latin typeface="Segoe UI Semibold"/>
              </a:rPr>
              <a:t>v1.91.1   ·   48</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content.png"/>
          <p:cNvPicPr>
            <a:picLocks noChangeAspect="1"/>
          </p:cNvPicPr>
          <p:nvPr/>
        </p:nvPicPr>
        <p:blipFill>
          <a:blip r:embed="rId2"/>
          <a:stretch>
            <a:fillRect/>
          </a:stretch>
        </p:blipFill>
        <p:spPr>
          <a:xfrm>
            <a:off x="0" y="0"/>
            <a:ext cx="12191695" cy="6858000"/>
          </a:xfrm>
          <a:prstGeom prst="rect">
            <a:avLst/>
          </a:prstGeom>
        </p:spPr>
      </p:pic>
      <p:sp>
        <p:nvSpPr>
          <p:cNvPr id="3" name="Diamond 2"/>
          <p:cNvSpPr/>
          <p:nvPr/>
        </p:nvSpPr>
        <p:spPr>
          <a:xfrm>
            <a:off x="566928" y="457200"/>
            <a:ext cx="100584" cy="100584"/>
          </a:xfrm>
          <a:prstGeom prst="diamond">
            <a:avLst/>
          </a:prstGeom>
          <a:solidFill>
            <a:srgbClr val="E2B4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49808" y="365760"/>
            <a:ext cx="8229600" cy="292608"/>
          </a:xfrm>
          <a:prstGeom prst="rect">
            <a:avLst/>
          </a:prstGeom>
          <a:noFill/>
        </p:spPr>
        <p:txBody>
          <a:bodyPr wrap="square" lIns="45720" rIns="45720" tIns="27432" bIns="27432" anchor="t">
            <a:noAutofit/>
          </a:bodyPr>
          <a:lstStyle/>
          <a:p>
            <a:pPr algn="l">
              <a:lnSpc>
                <a:spcPct val="100000"/>
              </a:lnSpc>
            </a:pPr>
            <a:r>
              <a:rPr sz="1100" b="0" i="0" spc="240">
                <a:solidFill>
                  <a:srgbClr val="C98457"/>
                </a:solidFill>
                <a:latin typeface="Segoe UI Semibold"/>
              </a:rPr>
              <a:t>NOTAS ESTÁTICAS DE REVISIÓN</a:t>
            </a:r>
          </a:p>
        </p:txBody>
      </p:sp>
      <p:sp>
        <p:nvSpPr>
          <p:cNvPr id="5" name="TextBox 4"/>
          <p:cNvSpPr txBox="1"/>
          <p:nvPr/>
        </p:nvSpPr>
        <p:spPr>
          <a:xfrm>
            <a:off x="539496" y="676656"/>
            <a:ext cx="11057839" cy="658368"/>
          </a:xfrm>
          <a:prstGeom prst="rect">
            <a:avLst/>
          </a:prstGeom>
          <a:noFill/>
        </p:spPr>
        <p:txBody>
          <a:bodyPr wrap="square" lIns="45720" rIns="45720" tIns="27432" bIns="27432" anchor="t">
            <a:noAutofit/>
          </a:bodyPr>
          <a:lstStyle/>
          <a:p>
            <a:pPr algn="l">
              <a:lnSpc>
                <a:spcPct val="100000"/>
              </a:lnSpc>
            </a:pPr>
            <a:r>
              <a:rPr sz="3100" b="0" i="0">
                <a:solidFill>
                  <a:srgbClr val="F7F2E8"/>
                </a:solidFill>
                <a:latin typeface="Palatino Linotype"/>
              </a:rPr>
              <a:t>Escribir y dar formato a un comentario</a:t>
            </a:r>
          </a:p>
        </p:txBody>
      </p:sp>
      <p:sp>
        <p:nvSpPr>
          <p:cNvPr id="6" name="Rectangle 5"/>
          <p:cNvSpPr/>
          <p:nvPr/>
        </p:nvSpPr>
        <p:spPr>
          <a:xfrm>
            <a:off x="566928" y="1344168"/>
            <a:ext cx="822960" cy="36576"/>
          </a:xfrm>
          <a:prstGeom prst="rect">
            <a:avLst/>
          </a:prstGeom>
          <a:solidFill>
            <a:srgbClr val="E2B4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566928" y="1444752"/>
            <a:ext cx="10692079" cy="585216"/>
          </a:xfrm>
          <a:prstGeom prst="rect">
            <a:avLst/>
          </a:prstGeom>
          <a:noFill/>
        </p:spPr>
        <p:txBody>
          <a:bodyPr wrap="square" lIns="45720" rIns="45720" tIns="27432" bIns="27432" anchor="t">
            <a:noAutofit/>
          </a:bodyPr>
          <a:lstStyle/>
          <a:p>
            <a:pPr algn="l">
              <a:lnSpc>
                <a:spcPct val="100000"/>
              </a:lnSpc>
            </a:pPr>
            <a:r>
              <a:rPr sz="1450" b="0" i="0">
                <a:solidFill>
                  <a:srgbClr val="A7B2B0"/>
                </a:solidFill>
                <a:latin typeface="Segoe UI Semilight"/>
              </a:rPr>
              <a:t>Comentario del usuario es una nota de revisión en el canvas. Input del usuario es la operación que pausa la ejecución para esperar una respuesta, con la figura de muesca.</a:t>
            </a:r>
          </a:p>
        </p:txBody>
      </p:sp>
      <p:sp>
        <p:nvSpPr>
          <p:cNvPr id="8" name="Rounded Rectangle 7"/>
          <p:cNvSpPr/>
          <p:nvPr/>
        </p:nvSpPr>
        <p:spPr>
          <a:xfrm>
            <a:off x="566928" y="2084831"/>
            <a:ext cx="11057839" cy="720547"/>
          </a:xfrm>
          <a:prstGeom prst="roundRect">
            <a:avLst>
              <a:gd name="adj" fmla="val 12690"/>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Diamond 8"/>
          <p:cNvSpPr/>
          <p:nvPr/>
        </p:nvSpPr>
        <p:spPr>
          <a:xfrm>
            <a:off x="768096" y="2381097"/>
            <a:ext cx="128016" cy="128016"/>
          </a:xfrm>
          <a:prstGeom prst="diamond">
            <a:avLst/>
          </a:prstGeom>
          <a:solidFill>
            <a:srgbClr val="3BBE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1024128" y="2139696"/>
            <a:ext cx="2651760" cy="610819"/>
          </a:xfrm>
          <a:prstGeom prst="rect">
            <a:avLst/>
          </a:prstGeom>
          <a:noFill/>
        </p:spPr>
        <p:txBody>
          <a:bodyPr wrap="square" lIns="45720" rIns="45720" tIns="27432" bIns="27432" anchor="ctr">
            <a:noAutofit/>
          </a:bodyPr>
          <a:lstStyle/>
          <a:p>
            <a:pPr algn="l">
              <a:lnSpc>
                <a:spcPct val="100000"/>
              </a:lnSpc>
            </a:pPr>
            <a:r>
              <a:rPr sz="1600" b="0" i="0">
                <a:solidFill>
                  <a:srgbClr val="F7F2E8"/>
                </a:solidFill>
                <a:latin typeface="Segoe UI Semibold"/>
              </a:rPr>
              <a:t>Escribe en su lugar</a:t>
            </a:r>
          </a:p>
        </p:txBody>
      </p:sp>
      <p:sp>
        <p:nvSpPr>
          <p:cNvPr id="11" name="TextBox 10"/>
          <p:cNvSpPr txBox="1"/>
          <p:nvPr/>
        </p:nvSpPr>
        <p:spPr>
          <a:xfrm>
            <a:off x="3767328" y="2139696"/>
            <a:ext cx="7720279" cy="610819"/>
          </a:xfrm>
          <a:prstGeom prst="rect">
            <a:avLst/>
          </a:prstGeom>
          <a:noFill/>
        </p:spPr>
        <p:txBody>
          <a:bodyPr wrap="square" lIns="45720" rIns="45720" tIns="27432" bIns="27432" anchor="ctr">
            <a:noAutofit/>
          </a:bodyPr>
          <a:lstStyle/>
          <a:p>
            <a:pPr algn="l">
              <a:lnSpc>
                <a:spcPct val="100000"/>
              </a:lnSpc>
            </a:pPr>
            <a:r>
              <a:rPr sz="1400" b="0" i="0">
                <a:solidFill>
                  <a:srgbClr val="A7B2B0"/>
                </a:solidFill>
                <a:latin typeface="Segoe UI"/>
              </a:rPr>
              <a:t>Doble clic o Enter edita la burbuja. Sin diálogo de configuración ni dimensiones numéricas.</a:t>
            </a:r>
          </a:p>
        </p:txBody>
      </p:sp>
      <p:sp>
        <p:nvSpPr>
          <p:cNvPr id="12" name="Rounded Rectangle 11"/>
          <p:cNvSpPr/>
          <p:nvPr/>
        </p:nvSpPr>
        <p:spPr>
          <a:xfrm>
            <a:off x="566928" y="2933395"/>
            <a:ext cx="11057839" cy="720547"/>
          </a:xfrm>
          <a:prstGeom prst="roundRect">
            <a:avLst>
              <a:gd name="adj" fmla="val 12690"/>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Diamond 12"/>
          <p:cNvSpPr/>
          <p:nvPr/>
        </p:nvSpPr>
        <p:spPr>
          <a:xfrm>
            <a:off x="768096" y="3229660"/>
            <a:ext cx="128016" cy="128016"/>
          </a:xfrm>
          <a:prstGeom prst="diamond">
            <a:avLst/>
          </a:prstGeom>
          <a:solidFill>
            <a:srgbClr val="C984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1024128" y="2988259"/>
            <a:ext cx="2651760" cy="610819"/>
          </a:xfrm>
          <a:prstGeom prst="rect">
            <a:avLst/>
          </a:prstGeom>
          <a:noFill/>
        </p:spPr>
        <p:txBody>
          <a:bodyPr wrap="square" lIns="45720" rIns="45720" tIns="27432" bIns="27432" anchor="ctr">
            <a:noAutofit/>
          </a:bodyPr>
          <a:lstStyle/>
          <a:p>
            <a:pPr algn="l">
              <a:lnSpc>
                <a:spcPct val="100000"/>
              </a:lnSpc>
            </a:pPr>
            <a:r>
              <a:rPr sz="1600" b="0" i="0">
                <a:solidFill>
                  <a:srgbClr val="F7F2E8"/>
                </a:solidFill>
                <a:latin typeface="Segoe UI Semibold"/>
              </a:rPr>
              <a:t>Estilos mezclados</a:t>
            </a:r>
          </a:p>
        </p:txBody>
      </p:sp>
      <p:sp>
        <p:nvSpPr>
          <p:cNvPr id="15" name="TextBox 14"/>
          <p:cNvSpPr txBox="1"/>
          <p:nvPr/>
        </p:nvSpPr>
        <p:spPr>
          <a:xfrm>
            <a:off x="3767328" y="2988259"/>
            <a:ext cx="7720279" cy="610819"/>
          </a:xfrm>
          <a:prstGeom prst="rect">
            <a:avLst/>
          </a:prstGeom>
          <a:noFill/>
        </p:spPr>
        <p:txBody>
          <a:bodyPr wrap="square" lIns="45720" rIns="45720" tIns="27432" bIns="27432" anchor="ctr">
            <a:noAutofit/>
          </a:bodyPr>
          <a:lstStyle/>
          <a:p>
            <a:pPr algn="l">
              <a:lnSpc>
                <a:spcPct val="100000"/>
              </a:lnSpc>
            </a:pPr>
            <a:r>
              <a:rPr sz="1400" b="0" i="0">
                <a:solidFill>
                  <a:srgbClr val="A7B2B0"/>
                </a:solidFill>
                <a:latin typeface="Segoe UI"/>
              </a:rPr>
              <a:t>Barra flotante: fuente, tamaño, color de texto, negritas, cursivas y subrayado para cada pasaje.</a:t>
            </a:r>
          </a:p>
        </p:txBody>
      </p:sp>
      <p:sp>
        <p:nvSpPr>
          <p:cNvPr id="16" name="Rounded Rectangle 15"/>
          <p:cNvSpPr/>
          <p:nvPr/>
        </p:nvSpPr>
        <p:spPr>
          <a:xfrm>
            <a:off x="566928" y="3781958"/>
            <a:ext cx="11057839" cy="720547"/>
          </a:xfrm>
          <a:prstGeom prst="roundRect">
            <a:avLst>
              <a:gd name="adj" fmla="val 12690"/>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Diamond 16"/>
          <p:cNvSpPr/>
          <p:nvPr/>
        </p:nvSpPr>
        <p:spPr>
          <a:xfrm>
            <a:off x="768096" y="4078224"/>
            <a:ext cx="128016" cy="128016"/>
          </a:xfrm>
          <a:prstGeom prst="diamond">
            <a:avLst/>
          </a:prstGeom>
          <a:solidFill>
            <a:srgbClr val="E2B4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1024128" y="3836822"/>
            <a:ext cx="2651760" cy="610819"/>
          </a:xfrm>
          <a:prstGeom prst="rect">
            <a:avLst/>
          </a:prstGeom>
          <a:noFill/>
        </p:spPr>
        <p:txBody>
          <a:bodyPr wrap="square" lIns="45720" rIns="45720" tIns="27432" bIns="27432" anchor="ctr">
            <a:noAutofit/>
          </a:bodyPr>
          <a:lstStyle/>
          <a:p>
            <a:pPr algn="l">
              <a:lnSpc>
                <a:spcPct val="100000"/>
              </a:lnSpc>
            </a:pPr>
            <a:r>
              <a:rPr sz="1600" b="0" i="0">
                <a:solidFill>
                  <a:srgbClr val="F7F2E8"/>
                </a:solidFill>
                <a:latin typeface="Segoe UI Semibold"/>
              </a:rPr>
              <a:t>Selección o cursor</a:t>
            </a:r>
          </a:p>
        </p:txBody>
      </p:sp>
      <p:sp>
        <p:nvSpPr>
          <p:cNvPr id="19" name="TextBox 18"/>
          <p:cNvSpPr txBox="1"/>
          <p:nvPr/>
        </p:nvSpPr>
        <p:spPr>
          <a:xfrm>
            <a:off x="3767328" y="3836822"/>
            <a:ext cx="7720279" cy="610819"/>
          </a:xfrm>
          <a:prstGeom prst="rect">
            <a:avLst/>
          </a:prstGeom>
          <a:noFill/>
        </p:spPr>
        <p:txBody>
          <a:bodyPr wrap="square" lIns="45720" rIns="45720" tIns="27432" bIns="27432" anchor="ctr">
            <a:noAutofit/>
          </a:bodyPr>
          <a:lstStyle/>
          <a:p>
            <a:pPr algn="l">
              <a:lnSpc>
                <a:spcPct val="100000"/>
              </a:lnSpc>
            </a:pPr>
            <a:r>
              <a:rPr sz="1400" b="0" i="0">
                <a:solidFill>
                  <a:srgbClr val="A7B2B0"/>
                </a:solidFill>
                <a:latin typeface="Segoe UI"/>
              </a:rPr>
              <a:t>Da formato al texto seleccionado o a lo que escribas después; fuera de la edición, a toda la nota.</a:t>
            </a:r>
          </a:p>
        </p:txBody>
      </p:sp>
      <p:sp>
        <p:nvSpPr>
          <p:cNvPr id="20" name="Rounded Rectangle 19"/>
          <p:cNvSpPr/>
          <p:nvPr/>
        </p:nvSpPr>
        <p:spPr>
          <a:xfrm>
            <a:off x="566928" y="4630521"/>
            <a:ext cx="11057839" cy="720547"/>
          </a:xfrm>
          <a:prstGeom prst="roundRect">
            <a:avLst>
              <a:gd name="adj" fmla="val 12690"/>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Diamond 20"/>
          <p:cNvSpPr/>
          <p:nvPr/>
        </p:nvSpPr>
        <p:spPr>
          <a:xfrm>
            <a:off x="768096" y="4926787"/>
            <a:ext cx="128016" cy="128016"/>
          </a:xfrm>
          <a:prstGeom prst="diamond">
            <a:avLst/>
          </a:prstGeom>
          <a:solidFill>
            <a:srgbClr val="46D2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1024128" y="4685385"/>
            <a:ext cx="2651760" cy="610819"/>
          </a:xfrm>
          <a:prstGeom prst="rect">
            <a:avLst/>
          </a:prstGeom>
          <a:noFill/>
        </p:spPr>
        <p:txBody>
          <a:bodyPr wrap="square" lIns="45720" rIns="45720" tIns="27432" bIns="27432" anchor="ctr">
            <a:noAutofit/>
          </a:bodyPr>
          <a:lstStyle/>
          <a:p>
            <a:pPr algn="l">
              <a:lnSpc>
                <a:spcPct val="100000"/>
              </a:lnSpc>
            </a:pPr>
            <a:r>
              <a:rPr sz="1600" b="0" i="0">
                <a:solidFill>
                  <a:srgbClr val="F7F2E8"/>
                </a:solidFill>
                <a:latin typeface="Segoe UI Semibold"/>
              </a:rPr>
              <a:t>Tamaño directo</a:t>
            </a:r>
          </a:p>
        </p:txBody>
      </p:sp>
      <p:sp>
        <p:nvSpPr>
          <p:cNvPr id="23" name="TextBox 22"/>
          <p:cNvSpPr txBox="1"/>
          <p:nvPr/>
        </p:nvSpPr>
        <p:spPr>
          <a:xfrm>
            <a:off x="3767328" y="4685385"/>
            <a:ext cx="7720279" cy="610819"/>
          </a:xfrm>
          <a:prstGeom prst="rect">
            <a:avLst/>
          </a:prstGeom>
          <a:noFill/>
        </p:spPr>
        <p:txBody>
          <a:bodyPr wrap="square" lIns="45720" rIns="45720" tIns="27432" bIns="27432" anchor="ctr">
            <a:noAutofit/>
          </a:bodyPr>
          <a:lstStyle/>
          <a:p>
            <a:pPr algn="l">
              <a:lnSpc>
                <a:spcPct val="100000"/>
              </a:lnSpc>
            </a:pPr>
            <a:r>
              <a:rPr sz="1400" b="0" i="0">
                <a:solidFill>
                  <a:srgbClr val="A7B2B0"/>
                </a:solidFill>
                <a:latin typeface="Segoe UI"/>
              </a:rPr>
              <a:t>Arrastra cualquier borde o esquina, incluso mientras escribes. Ajustar al texto quita la altura sobrante. Sin barras internas.</a:t>
            </a:r>
          </a:p>
        </p:txBody>
      </p:sp>
      <p:sp>
        <p:nvSpPr>
          <p:cNvPr id="24" name="Rounded Rectangle 23"/>
          <p:cNvSpPr/>
          <p:nvPr/>
        </p:nvSpPr>
        <p:spPr>
          <a:xfrm>
            <a:off x="566928" y="5479084"/>
            <a:ext cx="11057839" cy="720547"/>
          </a:xfrm>
          <a:prstGeom prst="roundRect">
            <a:avLst>
              <a:gd name="adj" fmla="val 12690"/>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Diamond 24"/>
          <p:cNvSpPr/>
          <p:nvPr/>
        </p:nvSpPr>
        <p:spPr>
          <a:xfrm>
            <a:off x="768096" y="5775350"/>
            <a:ext cx="128016" cy="128016"/>
          </a:xfrm>
          <a:prstGeom prst="diamond">
            <a:avLst/>
          </a:prstGeom>
          <a:solidFill>
            <a:srgbClr val="D25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1024128" y="5533948"/>
            <a:ext cx="2651760" cy="610819"/>
          </a:xfrm>
          <a:prstGeom prst="rect">
            <a:avLst/>
          </a:prstGeom>
          <a:noFill/>
        </p:spPr>
        <p:txBody>
          <a:bodyPr wrap="square" lIns="45720" rIns="45720" tIns="27432" bIns="27432" anchor="ctr">
            <a:noAutofit/>
          </a:bodyPr>
          <a:lstStyle/>
          <a:p>
            <a:pPr algn="l">
              <a:lnSpc>
                <a:spcPct val="100000"/>
              </a:lnSpc>
            </a:pPr>
            <a:r>
              <a:rPr sz="1600" b="0" i="0">
                <a:solidFill>
                  <a:srgbClr val="F7F2E8"/>
                </a:solidFill>
                <a:latin typeface="Segoe UI Semibold"/>
              </a:rPr>
              <a:t>Terminar o restaurar</a:t>
            </a:r>
          </a:p>
        </p:txBody>
      </p:sp>
      <p:sp>
        <p:nvSpPr>
          <p:cNvPr id="27" name="TextBox 26"/>
          <p:cNvSpPr txBox="1"/>
          <p:nvPr/>
        </p:nvSpPr>
        <p:spPr>
          <a:xfrm>
            <a:off x="3767328" y="5533948"/>
            <a:ext cx="7720279" cy="610819"/>
          </a:xfrm>
          <a:prstGeom prst="rect">
            <a:avLst/>
          </a:prstGeom>
          <a:noFill/>
        </p:spPr>
        <p:txBody>
          <a:bodyPr wrap="square" lIns="45720" rIns="45720" tIns="27432" bIns="27432" anchor="ctr">
            <a:noAutofit/>
          </a:bodyPr>
          <a:lstStyle/>
          <a:p>
            <a:pPr algn="l">
              <a:lnSpc>
                <a:spcPct val="100000"/>
              </a:lnSpc>
            </a:pPr>
            <a:r>
              <a:rPr sz="1400" b="0" i="0">
                <a:solidFill>
                  <a:srgbClr val="A7B2B0"/>
                </a:solidFill>
                <a:latin typeface="Segoe UI"/>
              </a:rPr>
              <a:t>Listo/Ctrl+Enter guarda; Cancelar/Escape restaura texto, estilos y geometría. Deshacer/Rehacer del editor y del flow.</a:t>
            </a:r>
          </a:p>
        </p:txBody>
      </p:sp>
      <p:cxnSp>
        <p:nvCxnSpPr>
          <p:cNvPr id="28" name="Connector 27"/>
          <p:cNvCxnSpPr/>
          <p:nvPr/>
        </p:nvCxnSpPr>
        <p:spPr>
          <a:xfrm>
            <a:off x="566928" y="6373368"/>
            <a:ext cx="11057839" cy="0"/>
          </a:xfrm>
          <a:prstGeom prst="line">
            <a:avLst/>
          </a:prstGeom>
          <a:ln w="7620">
            <a:solidFill>
              <a:srgbClr val="2A3A40"/>
            </a:solidFill>
          </a:ln>
        </p:spPr>
        <p:style>
          <a:lnRef idx="2">
            <a:schemeClr val="accent1"/>
          </a:lnRef>
          <a:fillRef idx="0">
            <a:schemeClr val="accent1"/>
          </a:fillRef>
          <a:effectRef idx="1">
            <a:schemeClr val="accent1"/>
          </a:effectRef>
          <a:fontRef idx="minor">
            <a:schemeClr val="tx1"/>
          </a:fontRef>
        </p:style>
      </p:cxnSp>
      <p:sp>
        <p:nvSpPr>
          <p:cNvPr id="29" name="TextBox 28"/>
          <p:cNvSpPr txBox="1"/>
          <p:nvPr/>
        </p:nvSpPr>
        <p:spPr>
          <a:xfrm>
            <a:off x="566928" y="6419088"/>
            <a:ext cx="6858000" cy="274320"/>
          </a:xfrm>
          <a:prstGeom prst="rect">
            <a:avLst/>
          </a:prstGeom>
          <a:noFill/>
        </p:spPr>
        <p:txBody>
          <a:bodyPr wrap="square" lIns="45720" rIns="45720" tIns="27432" bIns="27432" anchor="t">
            <a:noAutofit/>
          </a:bodyPr>
          <a:lstStyle/>
          <a:p>
            <a:pPr algn="l">
              <a:lnSpc>
                <a:spcPct val="100000"/>
              </a:lnSpc>
            </a:pPr>
            <a:r>
              <a:rPr sz="850" b="0" i="0" spc="120">
                <a:solidFill>
                  <a:srgbClr val="A7B2B0"/>
                </a:solidFill>
                <a:latin typeface="Segoe UI Semibold"/>
              </a:rPr>
              <a:t>TLAMATINI  ·  III · DÓNDE TRABAJAS CON ELLA</a:t>
            </a:r>
          </a:p>
        </p:txBody>
      </p:sp>
      <p:sp>
        <p:nvSpPr>
          <p:cNvPr id="30" name="TextBox 29"/>
          <p:cNvSpPr txBox="1"/>
          <p:nvPr/>
        </p:nvSpPr>
        <p:spPr>
          <a:xfrm>
            <a:off x="8698687" y="6419088"/>
            <a:ext cx="2926080" cy="274320"/>
          </a:xfrm>
          <a:prstGeom prst="rect">
            <a:avLst/>
          </a:prstGeom>
          <a:noFill/>
        </p:spPr>
        <p:txBody>
          <a:bodyPr wrap="square" lIns="45720" rIns="45720" tIns="27432" bIns="27432" anchor="t">
            <a:noAutofit/>
          </a:bodyPr>
          <a:lstStyle/>
          <a:p>
            <a:pPr algn="r">
              <a:lnSpc>
                <a:spcPct val="100000"/>
              </a:lnSpc>
            </a:pPr>
            <a:r>
              <a:rPr sz="850" b="0" i="0" spc="100">
                <a:solidFill>
                  <a:srgbClr val="A7B2B0"/>
                </a:solidFill>
                <a:latin typeface="Segoe UI Semibold"/>
              </a:rPr>
              <a:t>v1.91.1   ·   49</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content.png"/>
          <p:cNvPicPr>
            <a:picLocks noChangeAspect="1"/>
          </p:cNvPicPr>
          <p:nvPr/>
        </p:nvPicPr>
        <p:blipFill>
          <a:blip r:embed="rId2"/>
          <a:stretch>
            <a:fillRect/>
          </a:stretch>
        </p:blipFill>
        <p:spPr>
          <a:xfrm>
            <a:off x="0" y="0"/>
            <a:ext cx="12191695" cy="6858000"/>
          </a:xfrm>
          <a:prstGeom prst="rect">
            <a:avLst/>
          </a:prstGeom>
        </p:spPr>
      </p:pic>
      <p:sp>
        <p:nvSpPr>
          <p:cNvPr id="3" name="Diamond 2"/>
          <p:cNvSpPr/>
          <p:nvPr/>
        </p:nvSpPr>
        <p:spPr>
          <a:xfrm>
            <a:off x="566928" y="457200"/>
            <a:ext cx="100584" cy="100584"/>
          </a:xfrm>
          <a:prstGeom prst="diamond">
            <a:avLst/>
          </a:prstGeom>
          <a:solidFill>
            <a:srgbClr val="E2B4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49808" y="365760"/>
            <a:ext cx="8229600" cy="292608"/>
          </a:xfrm>
          <a:prstGeom prst="rect">
            <a:avLst/>
          </a:prstGeom>
          <a:noFill/>
        </p:spPr>
        <p:txBody>
          <a:bodyPr wrap="square" lIns="45720" rIns="45720" tIns="27432" bIns="27432" anchor="t">
            <a:noAutofit/>
          </a:bodyPr>
          <a:lstStyle/>
          <a:p>
            <a:pPr algn="l">
              <a:lnSpc>
                <a:spcPct val="100000"/>
              </a:lnSpc>
            </a:pPr>
            <a:r>
              <a:rPr sz="1100" b="0" i="0" spc="240">
                <a:solidFill>
                  <a:srgbClr val="C98457"/>
                </a:solidFill>
                <a:latin typeface="Segoe UI Semibold"/>
              </a:rPr>
              <a:t>ARCHIVOS DE FLOW PORTÁTILES</a:t>
            </a:r>
          </a:p>
        </p:txBody>
      </p:sp>
      <p:sp>
        <p:nvSpPr>
          <p:cNvPr id="5" name="TextBox 4"/>
          <p:cNvSpPr txBox="1"/>
          <p:nvPr/>
        </p:nvSpPr>
        <p:spPr>
          <a:xfrm>
            <a:off x="539496" y="676656"/>
            <a:ext cx="11057839" cy="658368"/>
          </a:xfrm>
          <a:prstGeom prst="rect">
            <a:avLst/>
          </a:prstGeom>
          <a:noFill/>
        </p:spPr>
        <p:txBody>
          <a:bodyPr wrap="square" lIns="45720" rIns="45720" tIns="27432" bIns="27432" anchor="t">
            <a:noAutofit/>
          </a:bodyPr>
          <a:lstStyle/>
          <a:p>
            <a:pPr algn="l">
              <a:lnSpc>
                <a:spcPct val="100000"/>
              </a:lnSpc>
            </a:pPr>
            <a:r>
              <a:rPr sz="2750" b="0" i="0">
                <a:solidFill>
                  <a:srgbClr val="F7F2E8"/>
                </a:solidFill>
                <a:latin typeface="Palatino Linotype"/>
              </a:rPr>
              <a:t>Los comentarios sobreviven a guardar, abrir y recuperar el borrador</a:t>
            </a:r>
          </a:p>
        </p:txBody>
      </p:sp>
      <p:sp>
        <p:nvSpPr>
          <p:cNvPr id="6" name="Rectangle 5"/>
          <p:cNvSpPr/>
          <p:nvPr/>
        </p:nvSpPr>
        <p:spPr>
          <a:xfrm>
            <a:off x="566928" y="1344168"/>
            <a:ext cx="822960" cy="36576"/>
          </a:xfrm>
          <a:prstGeom prst="rect">
            <a:avLst/>
          </a:prstGeom>
          <a:solidFill>
            <a:srgbClr val="E2B4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566928" y="1444752"/>
            <a:ext cx="10692079" cy="585216"/>
          </a:xfrm>
          <a:prstGeom prst="rect">
            <a:avLst/>
          </a:prstGeom>
          <a:noFill/>
        </p:spPr>
        <p:txBody>
          <a:bodyPr wrap="square" lIns="45720" rIns="45720" tIns="27432" bIns="27432" anchor="t">
            <a:noAutofit/>
          </a:bodyPr>
          <a:lstStyle/>
          <a:p>
            <a:pPr algn="l">
              <a:lnSpc>
                <a:spcPct val="100000"/>
              </a:lnSpc>
            </a:pPr>
            <a:r>
              <a:rPr sz="1450" b="0" i="0">
                <a:solidFill>
                  <a:srgbClr val="A7B2B0"/>
                </a:solidFill>
                <a:latin typeface="Segoe UI Semilight"/>
              </a:rPr>
              <a:t>Los archivos .fpmt de la versión 2 conservan notas independientes con todo su texto, formato y geometría.</a:t>
            </a:r>
          </a:p>
        </p:txBody>
      </p:sp>
      <p:sp>
        <p:nvSpPr>
          <p:cNvPr id="8" name="Rounded Rectangle 7"/>
          <p:cNvSpPr/>
          <p:nvPr/>
        </p:nvSpPr>
        <p:spPr>
          <a:xfrm>
            <a:off x="566928" y="2084831"/>
            <a:ext cx="11057839" cy="932688"/>
          </a:xfrm>
          <a:prstGeom prst="roundRect">
            <a:avLst>
              <a:gd name="adj" fmla="val 9803"/>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Diamond 8"/>
          <p:cNvSpPr/>
          <p:nvPr/>
        </p:nvSpPr>
        <p:spPr>
          <a:xfrm>
            <a:off x="768096" y="2487168"/>
            <a:ext cx="128016" cy="128016"/>
          </a:xfrm>
          <a:prstGeom prst="diamond">
            <a:avLst/>
          </a:prstGeom>
          <a:solidFill>
            <a:srgbClr val="3BBE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1024128" y="2139696"/>
            <a:ext cx="2651760" cy="822960"/>
          </a:xfrm>
          <a:prstGeom prst="rect">
            <a:avLst/>
          </a:prstGeom>
          <a:noFill/>
        </p:spPr>
        <p:txBody>
          <a:bodyPr wrap="square" lIns="45720" rIns="45720" tIns="27432" bIns="27432" anchor="ctr">
            <a:noAutofit/>
          </a:bodyPr>
          <a:lstStyle/>
          <a:p>
            <a:pPr algn="l">
              <a:lnSpc>
                <a:spcPct val="100000"/>
              </a:lnSpc>
            </a:pPr>
            <a:r>
              <a:rPr sz="1600" b="0" i="0">
                <a:solidFill>
                  <a:srgbClr val="F7F2E8"/>
                </a:solidFill>
                <a:latin typeface="Segoe UI Semibold"/>
              </a:rPr>
              <a:t>Versión 2</a:t>
            </a:r>
          </a:p>
        </p:txBody>
      </p:sp>
      <p:sp>
        <p:nvSpPr>
          <p:cNvPr id="11" name="TextBox 10"/>
          <p:cNvSpPr txBox="1"/>
          <p:nvPr/>
        </p:nvSpPr>
        <p:spPr>
          <a:xfrm>
            <a:off x="3767328" y="2139696"/>
            <a:ext cx="7720279" cy="822960"/>
          </a:xfrm>
          <a:prstGeom prst="rect">
            <a:avLst/>
          </a:prstGeom>
          <a:noFill/>
        </p:spPr>
        <p:txBody>
          <a:bodyPr wrap="square" lIns="45720" rIns="45720" tIns="27432" bIns="27432" anchor="ctr">
            <a:noAutofit/>
          </a:bodyPr>
          <a:lstStyle/>
          <a:p>
            <a:pPr algn="l">
              <a:lnSpc>
                <a:spcPct val="100000"/>
              </a:lnSpc>
            </a:pPr>
            <a:r>
              <a:rPr sz="1400" b="0" i="0">
                <a:solidFill>
                  <a:srgbClr val="A7B2B0"/>
                </a:solidFill>
                <a:latin typeface="Segoe UI"/>
              </a:rPr>
              <a:t>El texto literal y los fragmentos permitidos conservan el formato mezclado.</a:t>
            </a:r>
          </a:p>
        </p:txBody>
      </p:sp>
      <p:sp>
        <p:nvSpPr>
          <p:cNvPr id="12" name="Rounded Rectangle 11"/>
          <p:cNvSpPr/>
          <p:nvPr/>
        </p:nvSpPr>
        <p:spPr>
          <a:xfrm>
            <a:off x="566928" y="3145536"/>
            <a:ext cx="11057839" cy="932688"/>
          </a:xfrm>
          <a:prstGeom prst="roundRect">
            <a:avLst>
              <a:gd name="adj" fmla="val 9803"/>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Diamond 12"/>
          <p:cNvSpPr/>
          <p:nvPr/>
        </p:nvSpPr>
        <p:spPr>
          <a:xfrm>
            <a:off x="768096" y="3547872"/>
            <a:ext cx="128016" cy="128016"/>
          </a:xfrm>
          <a:prstGeom prst="diamond">
            <a:avLst/>
          </a:prstGeom>
          <a:solidFill>
            <a:srgbClr val="C984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1024128" y="3200400"/>
            <a:ext cx="2651760" cy="822960"/>
          </a:xfrm>
          <a:prstGeom prst="rect">
            <a:avLst/>
          </a:prstGeom>
          <a:noFill/>
        </p:spPr>
        <p:txBody>
          <a:bodyPr wrap="square" lIns="45720" rIns="45720" tIns="27432" bIns="27432" anchor="ctr">
            <a:noAutofit/>
          </a:bodyPr>
          <a:lstStyle/>
          <a:p>
            <a:pPr algn="l">
              <a:lnSpc>
                <a:spcPct val="100000"/>
              </a:lnSpc>
            </a:pPr>
            <a:r>
              <a:rPr sz="1600" b="0" i="0">
                <a:solidFill>
                  <a:srgbClr val="F7F2E8"/>
                </a:solidFill>
                <a:latin typeface="Segoe UI Semibold"/>
              </a:rPr>
              <a:t>Archivos más viejos</a:t>
            </a:r>
          </a:p>
        </p:txBody>
      </p:sp>
      <p:sp>
        <p:nvSpPr>
          <p:cNvPr id="15" name="TextBox 14"/>
          <p:cNvSpPr txBox="1"/>
          <p:nvPr/>
        </p:nvSpPr>
        <p:spPr>
          <a:xfrm>
            <a:off x="3767328" y="3200400"/>
            <a:ext cx="7720279" cy="822960"/>
          </a:xfrm>
          <a:prstGeom prst="rect">
            <a:avLst/>
          </a:prstGeom>
          <a:noFill/>
        </p:spPr>
        <p:txBody>
          <a:bodyPr wrap="square" lIns="45720" rIns="45720" tIns="27432" bIns="27432" anchor="ctr">
            <a:noAutofit/>
          </a:bodyPr>
          <a:lstStyle/>
          <a:p>
            <a:pPr algn="l">
              <a:lnSpc>
                <a:spcPct val="100000"/>
              </a:lnSpc>
            </a:pPr>
            <a:r>
              <a:rPr sz="1400" b="0" i="0">
                <a:solidFill>
                  <a:srgbClr val="A7B2B0"/>
                </a:solidFill>
                <a:latin typeface="Segoe UI"/>
              </a:rPr>
              <a:t>Las notas v2 simples se normalizan. Los pasos de respuesta de la versión 1 se vuelven Input del usuario con IDs, conexiones y configuración intactos.</a:t>
            </a:r>
          </a:p>
        </p:txBody>
      </p:sp>
      <p:sp>
        <p:nvSpPr>
          <p:cNvPr id="16" name="Rounded Rectangle 15"/>
          <p:cNvSpPr/>
          <p:nvPr/>
        </p:nvSpPr>
        <p:spPr>
          <a:xfrm>
            <a:off x="566928" y="4206240"/>
            <a:ext cx="11057839" cy="932688"/>
          </a:xfrm>
          <a:prstGeom prst="roundRect">
            <a:avLst>
              <a:gd name="adj" fmla="val 9803"/>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Diamond 16"/>
          <p:cNvSpPr/>
          <p:nvPr/>
        </p:nvSpPr>
        <p:spPr>
          <a:xfrm>
            <a:off x="768096" y="4608575"/>
            <a:ext cx="128016" cy="128016"/>
          </a:xfrm>
          <a:prstGeom prst="diamond">
            <a:avLst/>
          </a:prstGeom>
          <a:solidFill>
            <a:srgbClr val="E2B4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1024128" y="4261103"/>
            <a:ext cx="2651760" cy="822960"/>
          </a:xfrm>
          <a:prstGeom prst="rect">
            <a:avLst/>
          </a:prstGeom>
          <a:noFill/>
        </p:spPr>
        <p:txBody>
          <a:bodyPr wrap="square" lIns="45720" rIns="45720" tIns="27432" bIns="27432" anchor="ctr">
            <a:noAutofit/>
          </a:bodyPr>
          <a:lstStyle/>
          <a:p>
            <a:pPr algn="l">
              <a:lnSpc>
                <a:spcPct val="100000"/>
              </a:lnSpc>
            </a:pPr>
            <a:r>
              <a:rPr sz="1600" b="0" i="0">
                <a:solidFill>
                  <a:srgbClr val="F7F2E8"/>
                </a:solidFill>
                <a:latin typeface="Segoe UI Semibold"/>
              </a:rPr>
              <a:t>Aislamiento estático</a:t>
            </a:r>
          </a:p>
        </p:txBody>
      </p:sp>
      <p:sp>
        <p:nvSpPr>
          <p:cNvPr id="19" name="TextBox 18"/>
          <p:cNvSpPr txBox="1"/>
          <p:nvPr/>
        </p:nvSpPr>
        <p:spPr>
          <a:xfrm>
            <a:off x="3767328" y="4261103"/>
            <a:ext cx="7720279" cy="822960"/>
          </a:xfrm>
          <a:prstGeom prst="rect">
            <a:avLst/>
          </a:prstGeom>
          <a:noFill/>
        </p:spPr>
        <p:txBody>
          <a:bodyPr wrap="square" lIns="45720" rIns="45720" tIns="27432" bIns="27432" anchor="ctr">
            <a:noAutofit/>
          </a:bodyPr>
          <a:lstStyle/>
          <a:p>
            <a:pPr algn="l">
              <a:lnSpc>
                <a:spcPct val="100000"/>
              </a:lnSpc>
            </a:pPr>
            <a:r>
              <a:rPr sz="1400" b="0" i="0">
                <a:solidFill>
                  <a:srgbClr val="A7B2B0"/>
                </a:solidFill>
                <a:latin typeface="Segoe UI"/>
              </a:rPr>
              <a:t>Sin puertos, Start ni pasos de ejecución. El texto se queda literal y nunca entra al contexto ni al historial.</a:t>
            </a:r>
          </a:p>
        </p:txBody>
      </p:sp>
      <p:sp>
        <p:nvSpPr>
          <p:cNvPr id="20" name="Rounded Rectangle 19"/>
          <p:cNvSpPr/>
          <p:nvPr/>
        </p:nvSpPr>
        <p:spPr>
          <a:xfrm>
            <a:off x="566928" y="5266944"/>
            <a:ext cx="11057839" cy="932688"/>
          </a:xfrm>
          <a:prstGeom prst="roundRect">
            <a:avLst>
              <a:gd name="adj" fmla="val 9803"/>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Diamond 20"/>
          <p:cNvSpPr/>
          <p:nvPr/>
        </p:nvSpPr>
        <p:spPr>
          <a:xfrm>
            <a:off x="768096" y="5669279"/>
            <a:ext cx="128016" cy="128016"/>
          </a:xfrm>
          <a:prstGeom prst="diamond">
            <a:avLst/>
          </a:prstGeom>
          <a:solidFill>
            <a:srgbClr val="46D2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1024128" y="5321807"/>
            <a:ext cx="2651760" cy="822960"/>
          </a:xfrm>
          <a:prstGeom prst="rect">
            <a:avLst/>
          </a:prstGeom>
          <a:noFill/>
        </p:spPr>
        <p:txBody>
          <a:bodyPr wrap="square" lIns="45720" rIns="45720" tIns="27432" bIns="27432" anchor="ctr">
            <a:noAutofit/>
          </a:bodyPr>
          <a:lstStyle/>
          <a:p>
            <a:pPr algn="l">
              <a:lnSpc>
                <a:spcPct val="100000"/>
              </a:lnSpc>
            </a:pPr>
            <a:r>
              <a:rPr sz="1600" b="0" i="0">
                <a:solidFill>
                  <a:srgbClr val="F7F2E8"/>
                </a:solidFill>
                <a:latin typeface="Segoe UI Semibold"/>
              </a:rPr>
              <a:t>Recuperación</a:t>
            </a:r>
          </a:p>
        </p:txBody>
      </p:sp>
      <p:sp>
        <p:nvSpPr>
          <p:cNvPr id="23" name="TextBox 22"/>
          <p:cNvSpPr txBox="1"/>
          <p:nvPr/>
        </p:nvSpPr>
        <p:spPr>
          <a:xfrm>
            <a:off x="3767328" y="5321807"/>
            <a:ext cx="7720279" cy="822960"/>
          </a:xfrm>
          <a:prstGeom prst="rect">
            <a:avLst/>
          </a:prstGeom>
          <a:noFill/>
        </p:spPr>
        <p:txBody>
          <a:bodyPr wrap="square" lIns="45720" rIns="45720" tIns="27432" bIns="27432" anchor="ctr">
            <a:noAutofit/>
          </a:bodyPr>
          <a:lstStyle/>
          <a:p>
            <a:pPr algn="l">
              <a:lnSpc>
                <a:spcPct val="100000"/>
              </a:lnSpc>
            </a:pPr>
            <a:r>
              <a:rPr sz="1400" b="0" i="0">
                <a:solidFill>
                  <a:srgbClr val="A7B2B0"/>
                </a:solidFill>
                <a:latin typeface="Segoe UI"/>
              </a:rPr>
              <a:t>Las notas independientes conservan texto, estilos y geometría. Abrir nunca ejecuta el flow; la llave del borrador sigue siendo compatible.</a:t>
            </a:r>
          </a:p>
        </p:txBody>
      </p:sp>
      <p:cxnSp>
        <p:nvCxnSpPr>
          <p:cNvPr id="24" name="Connector 23"/>
          <p:cNvCxnSpPr/>
          <p:nvPr/>
        </p:nvCxnSpPr>
        <p:spPr>
          <a:xfrm>
            <a:off x="566928" y="6373368"/>
            <a:ext cx="11057839" cy="0"/>
          </a:xfrm>
          <a:prstGeom prst="line">
            <a:avLst/>
          </a:prstGeom>
          <a:ln w="7620">
            <a:solidFill>
              <a:srgbClr val="2A3A40"/>
            </a:solidFill>
          </a:ln>
        </p:spPr>
        <p:style>
          <a:lnRef idx="2">
            <a:schemeClr val="accent1"/>
          </a:lnRef>
          <a:fillRef idx="0">
            <a:schemeClr val="accent1"/>
          </a:fillRef>
          <a:effectRef idx="1">
            <a:schemeClr val="accent1"/>
          </a:effectRef>
          <a:fontRef idx="minor">
            <a:schemeClr val="tx1"/>
          </a:fontRef>
        </p:style>
      </p:cxnSp>
      <p:sp>
        <p:nvSpPr>
          <p:cNvPr id="25" name="TextBox 24"/>
          <p:cNvSpPr txBox="1"/>
          <p:nvPr/>
        </p:nvSpPr>
        <p:spPr>
          <a:xfrm>
            <a:off x="566928" y="6419088"/>
            <a:ext cx="6858000" cy="274320"/>
          </a:xfrm>
          <a:prstGeom prst="rect">
            <a:avLst/>
          </a:prstGeom>
          <a:noFill/>
        </p:spPr>
        <p:txBody>
          <a:bodyPr wrap="square" lIns="45720" rIns="45720" tIns="27432" bIns="27432" anchor="t">
            <a:noAutofit/>
          </a:bodyPr>
          <a:lstStyle/>
          <a:p>
            <a:pPr algn="l">
              <a:lnSpc>
                <a:spcPct val="100000"/>
              </a:lnSpc>
            </a:pPr>
            <a:r>
              <a:rPr sz="850" b="0" i="0" spc="120">
                <a:solidFill>
                  <a:srgbClr val="A7B2B0"/>
                </a:solidFill>
                <a:latin typeface="Segoe UI Semibold"/>
              </a:rPr>
              <a:t>TLAMATINI  ·  III · DÓNDE TRABAJAS CON ELLA</a:t>
            </a:r>
          </a:p>
        </p:txBody>
      </p:sp>
      <p:sp>
        <p:nvSpPr>
          <p:cNvPr id="26" name="TextBox 25"/>
          <p:cNvSpPr txBox="1"/>
          <p:nvPr/>
        </p:nvSpPr>
        <p:spPr>
          <a:xfrm>
            <a:off x="8698687" y="6419088"/>
            <a:ext cx="2926080" cy="274320"/>
          </a:xfrm>
          <a:prstGeom prst="rect">
            <a:avLst/>
          </a:prstGeom>
          <a:noFill/>
        </p:spPr>
        <p:txBody>
          <a:bodyPr wrap="square" lIns="45720" rIns="45720" tIns="27432" bIns="27432" anchor="t">
            <a:noAutofit/>
          </a:bodyPr>
          <a:lstStyle/>
          <a:p>
            <a:pPr algn="r">
              <a:lnSpc>
                <a:spcPct val="100000"/>
              </a:lnSpc>
            </a:pPr>
            <a:r>
              <a:rPr sz="850" b="0" i="0" spc="100">
                <a:solidFill>
                  <a:srgbClr val="A7B2B0"/>
                </a:solidFill>
                <a:latin typeface="Segoe UI Semibold"/>
              </a:rPr>
              <a:t>v1.91.1   ·   50</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content.png"/>
          <p:cNvPicPr>
            <a:picLocks noChangeAspect="1"/>
          </p:cNvPicPr>
          <p:nvPr/>
        </p:nvPicPr>
        <p:blipFill>
          <a:blip r:embed="rId2"/>
          <a:stretch>
            <a:fillRect/>
          </a:stretch>
        </p:blipFill>
        <p:spPr>
          <a:xfrm>
            <a:off x="0" y="0"/>
            <a:ext cx="12191695" cy="6858000"/>
          </a:xfrm>
          <a:prstGeom prst="rect">
            <a:avLst/>
          </a:prstGeom>
        </p:spPr>
      </p:pic>
      <p:sp>
        <p:nvSpPr>
          <p:cNvPr id="3" name="Diamond 2"/>
          <p:cNvSpPr/>
          <p:nvPr/>
        </p:nvSpPr>
        <p:spPr>
          <a:xfrm>
            <a:off x="566928" y="457200"/>
            <a:ext cx="100584" cy="100584"/>
          </a:xfrm>
          <a:prstGeom prst="diamond">
            <a:avLst/>
          </a:prstGeom>
          <a:solidFill>
            <a:srgbClr val="E2B4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49808" y="365760"/>
            <a:ext cx="8229600" cy="292608"/>
          </a:xfrm>
          <a:prstGeom prst="rect">
            <a:avLst/>
          </a:prstGeom>
          <a:noFill/>
        </p:spPr>
        <p:txBody>
          <a:bodyPr wrap="square" lIns="45720" rIns="45720" tIns="27432" bIns="27432" anchor="t">
            <a:noAutofit/>
          </a:bodyPr>
          <a:lstStyle/>
          <a:p>
            <a:pPr algn="l">
              <a:lnSpc>
                <a:spcPct val="100000"/>
              </a:lnSpc>
            </a:pPr>
            <a:r>
              <a:rPr sz="1100" b="0" i="0" spc="240">
                <a:solidFill>
                  <a:srgbClr val="C98457"/>
                </a:solidFill>
                <a:latin typeface="Segoe UI Semibold"/>
              </a:rPr>
              <a:t>ABRIR ARCHIVOS DE FLOW</a:t>
            </a:r>
          </a:p>
        </p:txBody>
      </p:sp>
      <p:sp>
        <p:nvSpPr>
          <p:cNvPr id="5" name="TextBox 4"/>
          <p:cNvSpPr txBox="1"/>
          <p:nvPr/>
        </p:nvSpPr>
        <p:spPr>
          <a:xfrm>
            <a:off x="539496" y="676656"/>
            <a:ext cx="11057839" cy="658368"/>
          </a:xfrm>
          <a:prstGeom prst="rect">
            <a:avLst/>
          </a:prstGeom>
          <a:noFill/>
        </p:spPr>
        <p:txBody>
          <a:bodyPr wrap="square" lIns="45720" rIns="45720" tIns="27432" bIns="27432" anchor="t">
            <a:noAutofit/>
          </a:bodyPr>
          <a:lstStyle/>
          <a:p>
            <a:pPr algn="l">
              <a:lnSpc>
                <a:spcPct val="100000"/>
              </a:lnSpc>
            </a:pPr>
            <a:r>
              <a:rPr sz="3100" b="0" i="0">
                <a:solidFill>
                  <a:srgbClr val="F7F2E8"/>
                </a:solidFill>
                <a:latin typeface="Palatino Linotype"/>
              </a:rPr>
              <a:t>El editor correcto, desde el chat o desde Windows</a:t>
            </a:r>
          </a:p>
        </p:txBody>
      </p:sp>
      <p:sp>
        <p:nvSpPr>
          <p:cNvPr id="6" name="Rectangle 5"/>
          <p:cNvSpPr/>
          <p:nvPr/>
        </p:nvSpPr>
        <p:spPr>
          <a:xfrm>
            <a:off x="566928" y="1344168"/>
            <a:ext cx="822960" cy="36576"/>
          </a:xfrm>
          <a:prstGeom prst="rect">
            <a:avLst/>
          </a:prstGeom>
          <a:solidFill>
            <a:srgbClr val="E2B4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566928" y="1444752"/>
            <a:ext cx="10692079" cy="585216"/>
          </a:xfrm>
          <a:prstGeom prst="rect">
            <a:avLst/>
          </a:prstGeom>
          <a:noFill/>
        </p:spPr>
        <p:txBody>
          <a:bodyPr wrap="square" lIns="45720" rIns="45720" tIns="27432" bIns="27432" anchor="t">
            <a:noAutofit/>
          </a:bodyPr>
          <a:lstStyle/>
          <a:p>
            <a:pPr algn="l">
              <a:lnSpc>
                <a:spcPct val="100000"/>
              </a:lnSpc>
            </a:pPr>
            <a:r>
              <a:rPr sz="1450" b="0" i="0">
                <a:solidFill>
                  <a:srgbClr val="A7B2B0"/>
                </a:solidFill>
                <a:latin typeface="Segoe UI Semilight"/>
              </a:rPr>
              <a:t>Las asociaciones de archivo incluidas abren los agent flows .flw y los prompting flows .fpmt. Abrirlos nunca los ejecuta.</a:t>
            </a:r>
          </a:p>
        </p:txBody>
      </p:sp>
      <p:sp>
        <p:nvSpPr>
          <p:cNvPr id="8" name="Rounded Rectangle 7"/>
          <p:cNvSpPr/>
          <p:nvPr/>
        </p:nvSpPr>
        <p:spPr>
          <a:xfrm>
            <a:off x="566928" y="2084831"/>
            <a:ext cx="5428335" cy="1956816"/>
          </a:xfrm>
          <a:prstGeom prst="roundRect">
            <a:avLst>
              <a:gd name="adj" fmla="val 5607"/>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ectangle 8"/>
          <p:cNvSpPr/>
          <p:nvPr/>
        </p:nvSpPr>
        <p:spPr>
          <a:xfrm>
            <a:off x="731520" y="2212848"/>
            <a:ext cx="502920" cy="45720"/>
          </a:xfrm>
          <a:prstGeom prst="rect">
            <a:avLst/>
          </a:prstGeom>
          <a:solidFill>
            <a:srgbClr val="3BBE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694944" y="2304287"/>
            <a:ext cx="5172303" cy="353568"/>
          </a:xfrm>
          <a:prstGeom prst="rect">
            <a:avLst/>
          </a:prstGeom>
          <a:noFill/>
        </p:spPr>
        <p:txBody>
          <a:bodyPr wrap="square" lIns="45720" rIns="45720" tIns="27432" bIns="27432" anchor="t">
            <a:noAutofit/>
          </a:bodyPr>
          <a:lstStyle/>
          <a:p>
            <a:pPr algn="l">
              <a:lnSpc>
                <a:spcPct val="100000"/>
              </a:lnSpc>
            </a:pPr>
            <a:r>
              <a:rPr sz="1600" b="0" i="0">
                <a:solidFill>
                  <a:srgbClr val="F7F2E8"/>
                </a:solidFill>
                <a:latin typeface="Segoe UI Semibold"/>
              </a:rPr>
              <a:t>Desde el chat</a:t>
            </a:r>
          </a:p>
        </p:txBody>
      </p:sp>
      <p:sp>
        <p:nvSpPr>
          <p:cNvPr id="11" name="TextBox 10"/>
          <p:cNvSpPr txBox="1"/>
          <p:nvPr/>
        </p:nvSpPr>
        <p:spPr>
          <a:xfrm>
            <a:off x="694944" y="2657855"/>
            <a:ext cx="5172303" cy="1292352"/>
          </a:xfrm>
          <a:prstGeom prst="rect">
            <a:avLst/>
          </a:prstGeom>
          <a:noFill/>
        </p:spPr>
        <p:txBody>
          <a:bodyPr wrap="square" lIns="45720" rIns="45720" tIns="27432" bIns="27432" anchor="t">
            <a:noAutofit/>
          </a:bodyPr>
          <a:lstStyle/>
          <a:p>
            <a:pPr algn="l">
              <a:lnSpc>
                <a:spcPct val="100000"/>
              </a:lnSpc>
            </a:pPr>
            <a:r>
              <a:rPr sz="1300" b="0" i="0">
                <a:solidFill>
                  <a:srgbClr val="A7B2B0"/>
                </a:solidFill>
                <a:latin typeface="Segoe UI"/>
              </a:rPr>
              <a:t>Abre cualquiera de los dos flows en su editor y conserva el documento del chat.</a:t>
            </a:r>
          </a:p>
        </p:txBody>
      </p:sp>
      <p:sp>
        <p:nvSpPr>
          <p:cNvPr id="12" name="Rounded Rectangle 11"/>
          <p:cNvSpPr/>
          <p:nvPr/>
        </p:nvSpPr>
        <p:spPr>
          <a:xfrm>
            <a:off x="6196431" y="2084831"/>
            <a:ext cx="5428335" cy="1956816"/>
          </a:xfrm>
          <a:prstGeom prst="roundRect">
            <a:avLst>
              <a:gd name="adj" fmla="val 5607"/>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6361023" y="2212848"/>
            <a:ext cx="502920" cy="45720"/>
          </a:xfrm>
          <a:prstGeom prst="rect">
            <a:avLst/>
          </a:prstGeom>
          <a:solidFill>
            <a:srgbClr val="C984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324447" y="2304287"/>
            <a:ext cx="5172303" cy="353568"/>
          </a:xfrm>
          <a:prstGeom prst="rect">
            <a:avLst/>
          </a:prstGeom>
          <a:noFill/>
        </p:spPr>
        <p:txBody>
          <a:bodyPr wrap="square" lIns="45720" rIns="45720" tIns="27432" bIns="27432" anchor="t">
            <a:noAutofit/>
          </a:bodyPr>
          <a:lstStyle/>
          <a:p>
            <a:pPr algn="l">
              <a:lnSpc>
                <a:spcPct val="100000"/>
              </a:lnSpc>
            </a:pPr>
            <a:r>
              <a:rPr sz="1600" b="0" i="0">
                <a:solidFill>
                  <a:srgbClr val="F7F2E8"/>
                </a:solidFill>
                <a:latin typeface="Segoe UI Semibold"/>
              </a:rPr>
              <a:t>Desde Windows</a:t>
            </a:r>
          </a:p>
        </p:txBody>
      </p:sp>
      <p:sp>
        <p:nvSpPr>
          <p:cNvPr id="15" name="TextBox 14"/>
          <p:cNvSpPr txBox="1"/>
          <p:nvPr/>
        </p:nvSpPr>
        <p:spPr>
          <a:xfrm>
            <a:off x="6324447" y="2657855"/>
            <a:ext cx="5172303" cy="1292352"/>
          </a:xfrm>
          <a:prstGeom prst="rect">
            <a:avLst/>
          </a:prstGeom>
          <a:noFill/>
        </p:spPr>
        <p:txBody>
          <a:bodyPr wrap="square" lIns="45720" rIns="45720" tIns="27432" bIns="27432" anchor="t">
            <a:noAutofit/>
          </a:bodyPr>
          <a:lstStyle/>
          <a:p>
            <a:pPr algn="l">
              <a:lnSpc>
                <a:spcPct val="100000"/>
              </a:lnSpc>
            </a:pPr>
            <a:r>
              <a:rPr sz="1300" b="0" i="0">
                <a:solidFill>
                  <a:srgbClr val="A7B2B0"/>
                </a:solidFill>
                <a:latin typeface="Segoe UI"/>
              </a:rPr>
              <a:t>Arranca una vez o reutiliza la app en ejecución; regresa por el inicio de sesión.</a:t>
            </a:r>
          </a:p>
        </p:txBody>
      </p:sp>
      <p:sp>
        <p:nvSpPr>
          <p:cNvPr id="16" name="Rounded Rectangle 15"/>
          <p:cNvSpPr/>
          <p:nvPr/>
        </p:nvSpPr>
        <p:spPr>
          <a:xfrm>
            <a:off x="566928" y="4242816"/>
            <a:ext cx="5428335" cy="1956816"/>
          </a:xfrm>
          <a:prstGeom prst="roundRect">
            <a:avLst>
              <a:gd name="adj" fmla="val 5607"/>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31520" y="4370832"/>
            <a:ext cx="502920" cy="45720"/>
          </a:xfrm>
          <a:prstGeom prst="rect">
            <a:avLst/>
          </a:prstGeom>
          <a:solidFill>
            <a:srgbClr val="E2B4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694944" y="4462272"/>
            <a:ext cx="5172303" cy="353568"/>
          </a:xfrm>
          <a:prstGeom prst="rect">
            <a:avLst/>
          </a:prstGeom>
          <a:noFill/>
        </p:spPr>
        <p:txBody>
          <a:bodyPr wrap="square" lIns="45720" rIns="45720" tIns="27432" bIns="27432" anchor="t">
            <a:noAutofit/>
          </a:bodyPr>
          <a:lstStyle/>
          <a:p>
            <a:pPr algn="l">
              <a:lnSpc>
                <a:spcPct val="100000"/>
              </a:lnSpc>
            </a:pPr>
            <a:r>
              <a:rPr sz="1600" b="0" i="0">
                <a:solidFill>
                  <a:srgbClr val="F7F2E8"/>
                </a:solidFill>
                <a:latin typeface="Segoe UI Semibold"/>
              </a:rPr>
              <a:t>Conservar el trabajo</a:t>
            </a:r>
          </a:p>
        </p:txBody>
      </p:sp>
      <p:sp>
        <p:nvSpPr>
          <p:cNvPr id="19" name="TextBox 18"/>
          <p:cNvSpPr txBox="1"/>
          <p:nvPr/>
        </p:nvSpPr>
        <p:spPr>
          <a:xfrm>
            <a:off x="694944" y="4815840"/>
            <a:ext cx="5172303" cy="1292352"/>
          </a:xfrm>
          <a:prstGeom prst="rect">
            <a:avLst/>
          </a:prstGeom>
          <a:noFill/>
        </p:spPr>
        <p:txBody>
          <a:bodyPr wrap="square" lIns="45720" rIns="45720" tIns="27432" bIns="27432" anchor="t">
            <a:noAutofit/>
          </a:bodyPr>
          <a:lstStyle/>
          <a:p>
            <a:pPr algn="l">
              <a:lnSpc>
                <a:spcPct val="100000"/>
              </a:lnSpc>
            </a:pPr>
            <a:r>
              <a:rPr sz="1300" b="0" i="0">
                <a:solidFill>
                  <a:srgbClr val="A7B2B0"/>
                </a:solidFill>
                <a:latin typeface="Segoe UI"/>
              </a:rPr>
              <a:t>Valida antes de reemplazar; confirma los cambios sin guardar.</a:t>
            </a:r>
          </a:p>
        </p:txBody>
      </p:sp>
      <p:sp>
        <p:nvSpPr>
          <p:cNvPr id="20" name="Rounded Rectangle 19"/>
          <p:cNvSpPr/>
          <p:nvPr/>
        </p:nvSpPr>
        <p:spPr>
          <a:xfrm>
            <a:off x="6196431" y="4242816"/>
            <a:ext cx="5428335" cy="1956816"/>
          </a:xfrm>
          <a:prstGeom prst="roundRect">
            <a:avLst>
              <a:gd name="adj" fmla="val 5607"/>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ectangle 20"/>
          <p:cNvSpPr/>
          <p:nvPr/>
        </p:nvSpPr>
        <p:spPr>
          <a:xfrm>
            <a:off x="6361023" y="4370832"/>
            <a:ext cx="502920" cy="45720"/>
          </a:xfrm>
          <a:prstGeom prst="rect">
            <a:avLst/>
          </a:prstGeom>
          <a:solidFill>
            <a:srgbClr val="46D2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6324447" y="4462272"/>
            <a:ext cx="5172303" cy="353568"/>
          </a:xfrm>
          <a:prstGeom prst="rect">
            <a:avLst/>
          </a:prstGeom>
          <a:noFill/>
        </p:spPr>
        <p:txBody>
          <a:bodyPr wrap="square" lIns="45720" rIns="45720" tIns="27432" bIns="27432" anchor="t">
            <a:noAutofit/>
          </a:bodyPr>
          <a:lstStyle/>
          <a:p>
            <a:pPr algn="l">
              <a:lnSpc>
                <a:spcPct val="100000"/>
              </a:lnSpc>
            </a:pPr>
            <a:r>
              <a:rPr sz="1600" b="0" i="0">
                <a:solidFill>
                  <a:srgbClr val="F7F2E8"/>
                </a:solidFill>
                <a:latin typeface="Segoe UI Semibold"/>
              </a:rPr>
              <a:t>Sin ejecución automática</a:t>
            </a:r>
          </a:p>
        </p:txBody>
      </p:sp>
      <p:sp>
        <p:nvSpPr>
          <p:cNvPr id="23" name="TextBox 22"/>
          <p:cNvSpPr txBox="1"/>
          <p:nvPr/>
        </p:nvSpPr>
        <p:spPr>
          <a:xfrm>
            <a:off x="6324447" y="4815840"/>
            <a:ext cx="5172303" cy="1292352"/>
          </a:xfrm>
          <a:prstGeom prst="rect">
            <a:avLst/>
          </a:prstGeom>
          <a:noFill/>
        </p:spPr>
        <p:txBody>
          <a:bodyPr wrap="square" lIns="45720" rIns="45720" tIns="27432" bIns="27432" anchor="t">
            <a:noAutofit/>
          </a:bodyPr>
          <a:lstStyle/>
          <a:p>
            <a:pPr algn="l">
              <a:lnSpc>
                <a:spcPct val="100000"/>
              </a:lnSpc>
            </a:pPr>
            <a:r>
              <a:rPr sz="1300" b="0" i="0">
                <a:solidFill>
                  <a:srgbClr val="A7B2B0"/>
                </a:solidFill>
                <a:latin typeface="Segoe UI"/>
              </a:rPr>
              <a:t>Abrir prepara el diagrama. Ejecutar sigue siendo una acción del usuario.</a:t>
            </a:r>
          </a:p>
        </p:txBody>
      </p:sp>
      <p:cxnSp>
        <p:nvCxnSpPr>
          <p:cNvPr id="24" name="Connector 23"/>
          <p:cNvCxnSpPr/>
          <p:nvPr/>
        </p:nvCxnSpPr>
        <p:spPr>
          <a:xfrm>
            <a:off x="566928" y="6373368"/>
            <a:ext cx="11057839" cy="0"/>
          </a:xfrm>
          <a:prstGeom prst="line">
            <a:avLst/>
          </a:prstGeom>
          <a:ln w="7620">
            <a:solidFill>
              <a:srgbClr val="2A3A40"/>
            </a:solidFill>
          </a:ln>
        </p:spPr>
        <p:style>
          <a:lnRef idx="2">
            <a:schemeClr val="accent1"/>
          </a:lnRef>
          <a:fillRef idx="0">
            <a:schemeClr val="accent1"/>
          </a:fillRef>
          <a:effectRef idx="1">
            <a:schemeClr val="accent1"/>
          </a:effectRef>
          <a:fontRef idx="minor">
            <a:schemeClr val="tx1"/>
          </a:fontRef>
        </p:style>
      </p:cxnSp>
      <p:sp>
        <p:nvSpPr>
          <p:cNvPr id="25" name="TextBox 24"/>
          <p:cNvSpPr txBox="1"/>
          <p:nvPr/>
        </p:nvSpPr>
        <p:spPr>
          <a:xfrm>
            <a:off x="566928" y="6419088"/>
            <a:ext cx="6858000" cy="274320"/>
          </a:xfrm>
          <a:prstGeom prst="rect">
            <a:avLst/>
          </a:prstGeom>
          <a:noFill/>
        </p:spPr>
        <p:txBody>
          <a:bodyPr wrap="square" lIns="45720" rIns="45720" tIns="27432" bIns="27432" anchor="t">
            <a:noAutofit/>
          </a:bodyPr>
          <a:lstStyle/>
          <a:p>
            <a:pPr algn="l">
              <a:lnSpc>
                <a:spcPct val="100000"/>
              </a:lnSpc>
            </a:pPr>
            <a:r>
              <a:rPr sz="850" b="0" i="0" spc="120">
                <a:solidFill>
                  <a:srgbClr val="A7B2B0"/>
                </a:solidFill>
                <a:latin typeface="Segoe UI Semibold"/>
              </a:rPr>
              <a:t>TLAMATINI  ·  III · DÓNDE TRABAJAS CON ELLA</a:t>
            </a:r>
          </a:p>
        </p:txBody>
      </p:sp>
      <p:sp>
        <p:nvSpPr>
          <p:cNvPr id="26" name="TextBox 25"/>
          <p:cNvSpPr txBox="1"/>
          <p:nvPr/>
        </p:nvSpPr>
        <p:spPr>
          <a:xfrm>
            <a:off x="8698687" y="6419088"/>
            <a:ext cx="2926080" cy="274320"/>
          </a:xfrm>
          <a:prstGeom prst="rect">
            <a:avLst/>
          </a:prstGeom>
          <a:noFill/>
        </p:spPr>
        <p:txBody>
          <a:bodyPr wrap="square" lIns="45720" rIns="45720" tIns="27432" bIns="27432" anchor="t">
            <a:noAutofit/>
          </a:bodyPr>
          <a:lstStyle/>
          <a:p>
            <a:pPr algn="r">
              <a:lnSpc>
                <a:spcPct val="100000"/>
              </a:lnSpc>
            </a:pPr>
            <a:r>
              <a:rPr sz="850" b="0" i="0" spc="100">
                <a:solidFill>
                  <a:srgbClr val="A7B2B0"/>
                </a:solidFill>
                <a:latin typeface="Segoe UI Semibold"/>
              </a:rPr>
              <a:t>v1.91.1   ·   51</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content.png"/>
          <p:cNvPicPr>
            <a:picLocks noChangeAspect="1"/>
          </p:cNvPicPr>
          <p:nvPr/>
        </p:nvPicPr>
        <p:blipFill>
          <a:blip r:embed="rId2"/>
          <a:stretch>
            <a:fillRect/>
          </a:stretch>
        </p:blipFill>
        <p:spPr>
          <a:xfrm>
            <a:off x="0" y="0"/>
            <a:ext cx="12191695" cy="6858000"/>
          </a:xfrm>
          <a:prstGeom prst="rect">
            <a:avLst/>
          </a:prstGeom>
        </p:spPr>
      </p:pic>
      <p:sp>
        <p:nvSpPr>
          <p:cNvPr id="3" name="Diamond 2"/>
          <p:cNvSpPr/>
          <p:nvPr/>
        </p:nvSpPr>
        <p:spPr>
          <a:xfrm>
            <a:off x="566928" y="457200"/>
            <a:ext cx="100584" cy="100584"/>
          </a:xfrm>
          <a:prstGeom prst="diamond">
            <a:avLst/>
          </a:prstGeom>
          <a:solidFill>
            <a:srgbClr val="E2B4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49808" y="365760"/>
            <a:ext cx="8229600" cy="292608"/>
          </a:xfrm>
          <a:prstGeom prst="rect">
            <a:avLst/>
          </a:prstGeom>
          <a:noFill/>
        </p:spPr>
        <p:txBody>
          <a:bodyPr wrap="square" lIns="45720" rIns="45720" tIns="27432" bIns="27432" anchor="t">
            <a:noAutofit/>
          </a:bodyPr>
          <a:lstStyle/>
          <a:p>
            <a:pPr algn="l">
              <a:lnSpc>
                <a:spcPct val="100000"/>
              </a:lnSpc>
            </a:pPr>
            <a:r>
              <a:rPr sz="1100" b="0" i="0" spc="240">
                <a:solidFill>
                  <a:srgbClr val="C98457"/>
                </a:solidFill>
                <a:latin typeface="Segoe UI Semibold"/>
              </a:rPr>
              <a:t>TIPOS DE ARCHIVO DE WINDOWS</a:t>
            </a:r>
          </a:p>
        </p:txBody>
      </p:sp>
      <p:sp>
        <p:nvSpPr>
          <p:cNvPr id="5" name="TextBox 4"/>
          <p:cNvSpPr txBox="1"/>
          <p:nvPr/>
        </p:nvSpPr>
        <p:spPr>
          <a:xfrm>
            <a:off x="539496" y="676656"/>
            <a:ext cx="11057839" cy="658368"/>
          </a:xfrm>
          <a:prstGeom prst="rect">
            <a:avLst/>
          </a:prstGeom>
          <a:noFill/>
        </p:spPr>
        <p:txBody>
          <a:bodyPr wrap="square" lIns="45720" rIns="45720" tIns="27432" bIns="27432" anchor="t">
            <a:noAutofit/>
          </a:bodyPr>
          <a:lstStyle/>
          <a:p>
            <a:pPr algn="l">
              <a:lnSpc>
                <a:spcPct val="100000"/>
              </a:lnSpc>
            </a:pPr>
            <a:r>
              <a:rPr sz="3100" b="0" i="0">
                <a:solidFill>
                  <a:srgbClr val="F7F2E8"/>
                </a:solidFill>
                <a:latin typeface="Palatino Linotype"/>
              </a:rPr>
              <a:t>Registra, repara y quita ambos formatos</a:t>
            </a:r>
          </a:p>
        </p:txBody>
      </p:sp>
      <p:sp>
        <p:nvSpPr>
          <p:cNvPr id="6" name="Rectangle 5"/>
          <p:cNvSpPr/>
          <p:nvPr/>
        </p:nvSpPr>
        <p:spPr>
          <a:xfrm>
            <a:off x="566928" y="1344168"/>
            <a:ext cx="822960" cy="36576"/>
          </a:xfrm>
          <a:prstGeom prst="rect">
            <a:avLst/>
          </a:prstGeom>
          <a:solidFill>
            <a:srgbClr val="E2B4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566928" y="1444752"/>
            <a:ext cx="10692079" cy="585216"/>
          </a:xfrm>
          <a:prstGeom prst="rect">
            <a:avLst/>
          </a:prstGeom>
          <a:noFill/>
        </p:spPr>
        <p:txBody>
          <a:bodyPr wrap="square" lIns="45720" rIns="45720" tIns="27432" bIns="27432" anchor="t">
            <a:noAutofit/>
          </a:bodyPr>
          <a:lstStyle/>
          <a:p>
            <a:pPr algn="l">
              <a:lnSpc>
                <a:spcPct val="100000"/>
              </a:lnSpc>
            </a:pPr>
            <a:r>
              <a:rPr sz="1450" b="0" i="0">
                <a:solidFill>
                  <a:srgbClr val="A7B2B0"/>
                </a:solidFill>
                <a:latin typeface="Segoe UI Semilight"/>
              </a:rPr>
              <a:t>Asociaciones por usuario, dueño de la instalación y elecciones de apps predeterminadas de Windows.</a:t>
            </a:r>
          </a:p>
        </p:txBody>
      </p:sp>
      <p:sp>
        <p:nvSpPr>
          <p:cNvPr id="8" name="Rounded Rectangle 7"/>
          <p:cNvSpPr/>
          <p:nvPr/>
        </p:nvSpPr>
        <p:spPr>
          <a:xfrm>
            <a:off x="566928" y="2084831"/>
            <a:ext cx="5428335" cy="1956816"/>
          </a:xfrm>
          <a:prstGeom prst="roundRect">
            <a:avLst>
              <a:gd name="adj" fmla="val 5607"/>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ectangle 8"/>
          <p:cNvSpPr/>
          <p:nvPr/>
        </p:nvSpPr>
        <p:spPr>
          <a:xfrm>
            <a:off x="731520" y="2212848"/>
            <a:ext cx="502920" cy="45720"/>
          </a:xfrm>
          <a:prstGeom prst="rect">
            <a:avLst/>
          </a:prstGeom>
          <a:solidFill>
            <a:srgbClr val="3BBE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694944" y="2304287"/>
            <a:ext cx="5172303" cy="353568"/>
          </a:xfrm>
          <a:prstGeom prst="rect">
            <a:avLst/>
          </a:prstGeom>
          <a:noFill/>
        </p:spPr>
        <p:txBody>
          <a:bodyPr wrap="square" lIns="45720" rIns="45720" tIns="27432" bIns="27432" anchor="t">
            <a:noAutofit/>
          </a:bodyPr>
          <a:lstStyle/>
          <a:p>
            <a:pPr algn="l">
              <a:lnSpc>
                <a:spcPct val="100000"/>
              </a:lnSpc>
            </a:pPr>
            <a:r>
              <a:rPr sz="1600" b="0" i="0">
                <a:solidFill>
                  <a:srgbClr val="F7F2E8"/>
                </a:solidFill>
                <a:latin typeface="Segoe UI Semibold"/>
              </a:rPr>
              <a:t>Instalar</a:t>
            </a:r>
          </a:p>
        </p:txBody>
      </p:sp>
      <p:sp>
        <p:nvSpPr>
          <p:cNvPr id="11" name="TextBox 10"/>
          <p:cNvSpPr txBox="1"/>
          <p:nvPr/>
        </p:nvSpPr>
        <p:spPr>
          <a:xfrm>
            <a:off x="694944" y="2657855"/>
            <a:ext cx="5172303" cy="1292352"/>
          </a:xfrm>
          <a:prstGeom prst="rect">
            <a:avLst/>
          </a:prstGeom>
          <a:noFill/>
        </p:spPr>
        <p:txBody>
          <a:bodyPr wrap="square" lIns="45720" rIns="45720" tIns="27432" bIns="27432" anchor="t">
            <a:noAutofit/>
          </a:bodyPr>
          <a:lstStyle/>
          <a:p>
            <a:pPr algn="l">
              <a:lnSpc>
                <a:spcPct val="100000"/>
              </a:lnSpc>
            </a:pPr>
            <a:r>
              <a:rPr sz="1300" b="0" i="0">
                <a:solidFill>
                  <a:srgbClr val="A7B2B0"/>
                </a:solidFill>
                <a:latin typeface="Segoe UI"/>
              </a:rPr>
              <a:t>Registra ambos tipos con nombres, íconos y los destinos de editor correctos.</a:t>
            </a:r>
          </a:p>
        </p:txBody>
      </p:sp>
      <p:sp>
        <p:nvSpPr>
          <p:cNvPr id="12" name="Rounded Rectangle 11"/>
          <p:cNvSpPr/>
          <p:nvPr/>
        </p:nvSpPr>
        <p:spPr>
          <a:xfrm>
            <a:off x="6196431" y="2084831"/>
            <a:ext cx="5428335" cy="1956816"/>
          </a:xfrm>
          <a:prstGeom prst="roundRect">
            <a:avLst>
              <a:gd name="adj" fmla="val 5607"/>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6361023" y="2212848"/>
            <a:ext cx="502920" cy="45720"/>
          </a:xfrm>
          <a:prstGeom prst="rect">
            <a:avLst/>
          </a:prstGeom>
          <a:solidFill>
            <a:srgbClr val="C984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324447" y="2304287"/>
            <a:ext cx="5172303" cy="353568"/>
          </a:xfrm>
          <a:prstGeom prst="rect">
            <a:avLst/>
          </a:prstGeom>
          <a:noFill/>
        </p:spPr>
        <p:txBody>
          <a:bodyPr wrap="square" lIns="45720" rIns="45720" tIns="27432" bIns="27432" anchor="t">
            <a:noAutofit/>
          </a:bodyPr>
          <a:lstStyle/>
          <a:p>
            <a:pPr algn="l">
              <a:lnSpc>
                <a:spcPct val="100000"/>
              </a:lnSpc>
            </a:pPr>
            <a:r>
              <a:rPr sz="1600" b="0" i="0">
                <a:solidFill>
                  <a:srgbClr val="F7F2E8"/>
                </a:solidFill>
                <a:latin typeface="Segoe UI Semibold"/>
              </a:rPr>
              <a:t>Administrar</a:t>
            </a:r>
          </a:p>
        </p:txBody>
      </p:sp>
      <p:sp>
        <p:nvSpPr>
          <p:cNvPr id="15" name="TextBox 14"/>
          <p:cNvSpPr txBox="1"/>
          <p:nvPr/>
        </p:nvSpPr>
        <p:spPr>
          <a:xfrm>
            <a:off x="6324447" y="2657855"/>
            <a:ext cx="5172303" cy="1292352"/>
          </a:xfrm>
          <a:prstGeom prst="rect">
            <a:avLst/>
          </a:prstGeom>
          <a:noFill/>
        </p:spPr>
        <p:txBody>
          <a:bodyPr wrap="square" lIns="45720" rIns="45720" tIns="27432" bIns="27432" anchor="t">
            <a:noAutofit/>
          </a:bodyPr>
          <a:lstStyle/>
          <a:p>
            <a:pPr algn="l">
              <a:lnSpc>
                <a:spcPct val="100000"/>
              </a:lnSpc>
            </a:pPr>
            <a:r>
              <a:rPr sz="1300" b="0" i="0">
                <a:solidFill>
                  <a:srgbClr val="A7B2B0"/>
                </a:solidFill>
                <a:latin typeface="Segoe UI"/>
              </a:rPr>
              <a:t>Revisa Status, registra o quita un tipo, o abre Apps predeterminadas.</a:t>
            </a:r>
          </a:p>
        </p:txBody>
      </p:sp>
      <p:sp>
        <p:nvSpPr>
          <p:cNvPr id="16" name="Rounded Rectangle 15"/>
          <p:cNvSpPr/>
          <p:nvPr/>
        </p:nvSpPr>
        <p:spPr>
          <a:xfrm>
            <a:off x="566928" y="4242816"/>
            <a:ext cx="5428335" cy="1956816"/>
          </a:xfrm>
          <a:prstGeom prst="roundRect">
            <a:avLst>
              <a:gd name="adj" fmla="val 5607"/>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31520" y="4370832"/>
            <a:ext cx="502920" cy="45720"/>
          </a:xfrm>
          <a:prstGeom prst="rect">
            <a:avLst/>
          </a:prstGeom>
          <a:solidFill>
            <a:srgbClr val="E2B4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694944" y="4462272"/>
            <a:ext cx="5172303" cy="353568"/>
          </a:xfrm>
          <a:prstGeom prst="rect">
            <a:avLst/>
          </a:prstGeom>
          <a:noFill/>
        </p:spPr>
        <p:txBody>
          <a:bodyPr wrap="square" lIns="45720" rIns="45720" tIns="27432" bIns="27432" anchor="t">
            <a:noAutofit/>
          </a:bodyPr>
          <a:lstStyle/>
          <a:p>
            <a:pPr algn="l">
              <a:lnSpc>
                <a:spcPct val="100000"/>
              </a:lnSpc>
            </a:pPr>
            <a:r>
              <a:rPr sz="1600" b="0" i="0">
                <a:solidFill>
                  <a:srgbClr val="F7F2E8"/>
                </a:solidFill>
                <a:latin typeface="Segoe UI Semibold"/>
              </a:rPr>
              <a:t>Actualizar</a:t>
            </a:r>
          </a:p>
        </p:txBody>
      </p:sp>
      <p:sp>
        <p:nvSpPr>
          <p:cNvPr id="19" name="TextBox 18"/>
          <p:cNvSpPr txBox="1"/>
          <p:nvPr/>
        </p:nvSpPr>
        <p:spPr>
          <a:xfrm>
            <a:off x="694944" y="4815840"/>
            <a:ext cx="5172303" cy="1292352"/>
          </a:xfrm>
          <a:prstGeom prst="rect">
            <a:avLst/>
          </a:prstGeom>
          <a:noFill/>
        </p:spPr>
        <p:txBody>
          <a:bodyPr wrap="square" lIns="45720" rIns="45720" tIns="27432" bIns="27432" anchor="t">
            <a:noAutofit/>
          </a:bodyPr>
          <a:lstStyle/>
          <a:p>
            <a:pPr algn="l">
              <a:lnSpc>
                <a:spcPct val="100000"/>
              </a:lnSpc>
            </a:pPr>
            <a:r>
              <a:rPr sz="1300" b="0" i="0">
                <a:solidFill>
                  <a:srgbClr val="A7B2B0"/>
                </a:solidFill>
                <a:latin typeface="Segoe UI"/>
              </a:rPr>
              <a:t>Repara las entradas propias sin deshacer la exclusión del usuario.</a:t>
            </a:r>
          </a:p>
        </p:txBody>
      </p:sp>
      <p:sp>
        <p:nvSpPr>
          <p:cNvPr id="20" name="Rounded Rectangle 19"/>
          <p:cNvSpPr/>
          <p:nvPr/>
        </p:nvSpPr>
        <p:spPr>
          <a:xfrm>
            <a:off x="6196431" y="4242816"/>
            <a:ext cx="5428335" cy="1956816"/>
          </a:xfrm>
          <a:prstGeom prst="roundRect">
            <a:avLst>
              <a:gd name="adj" fmla="val 5607"/>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ectangle 20"/>
          <p:cNvSpPr/>
          <p:nvPr/>
        </p:nvSpPr>
        <p:spPr>
          <a:xfrm>
            <a:off x="6361023" y="4370832"/>
            <a:ext cx="502920" cy="45720"/>
          </a:xfrm>
          <a:prstGeom prst="rect">
            <a:avLst/>
          </a:prstGeom>
          <a:solidFill>
            <a:srgbClr val="46D2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6324447" y="4462272"/>
            <a:ext cx="5172303" cy="353568"/>
          </a:xfrm>
          <a:prstGeom prst="rect">
            <a:avLst/>
          </a:prstGeom>
          <a:noFill/>
        </p:spPr>
        <p:txBody>
          <a:bodyPr wrap="square" lIns="45720" rIns="45720" tIns="27432" bIns="27432" anchor="t">
            <a:noAutofit/>
          </a:bodyPr>
          <a:lstStyle/>
          <a:p>
            <a:pPr algn="l">
              <a:lnSpc>
                <a:spcPct val="100000"/>
              </a:lnSpc>
            </a:pPr>
            <a:r>
              <a:rPr sz="1600" b="0" i="0">
                <a:solidFill>
                  <a:srgbClr val="F7F2E8"/>
                </a:solidFill>
                <a:latin typeface="Segoe UI Semibold"/>
              </a:rPr>
              <a:t>Desinstalar</a:t>
            </a:r>
          </a:p>
        </p:txBody>
      </p:sp>
      <p:sp>
        <p:nvSpPr>
          <p:cNvPr id="23" name="TextBox 22"/>
          <p:cNvSpPr txBox="1"/>
          <p:nvPr/>
        </p:nvSpPr>
        <p:spPr>
          <a:xfrm>
            <a:off x="6324447" y="4815840"/>
            <a:ext cx="5172303" cy="1292352"/>
          </a:xfrm>
          <a:prstGeom prst="rect">
            <a:avLst/>
          </a:prstGeom>
          <a:noFill/>
        </p:spPr>
        <p:txBody>
          <a:bodyPr wrap="square" lIns="45720" rIns="45720" tIns="27432" bIns="27432" anchor="t">
            <a:noAutofit/>
          </a:bodyPr>
          <a:lstStyle/>
          <a:p>
            <a:pPr algn="l">
              <a:lnSpc>
                <a:spcPct val="100000"/>
              </a:lnSpc>
            </a:pPr>
            <a:r>
              <a:rPr sz="1300" b="0" i="0">
                <a:solidFill>
                  <a:srgbClr val="A7B2B0"/>
                </a:solidFill>
                <a:latin typeface="Segoe UI"/>
              </a:rPr>
              <a:t>Quita los registros propios; conserva otras apps y los documentos del usuario.</a:t>
            </a:r>
          </a:p>
        </p:txBody>
      </p:sp>
      <p:cxnSp>
        <p:nvCxnSpPr>
          <p:cNvPr id="24" name="Connector 23"/>
          <p:cNvCxnSpPr/>
          <p:nvPr/>
        </p:nvCxnSpPr>
        <p:spPr>
          <a:xfrm>
            <a:off x="566928" y="6373368"/>
            <a:ext cx="11057839" cy="0"/>
          </a:xfrm>
          <a:prstGeom prst="line">
            <a:avLst/>
          </a:prstGeom>
          <a:ln w="7620">
            <a:solidFill>
              <a:srgbClr val="2A3A40"/>
            </a:solidFill>
          </a:ln>
        </p:spPr>
        <p:style>
          <a:lnRef idx="2">
            <a:schemeClr val="accent1"/>
          </a:lnRef>
          <a:fillRef idx="0">
            <a:schemeClr val="accent1"/>
          </a:fillRef>
          <a:effectRef idx="1">
            <a:schemeClr val="accent1"/>
          </a:effectRef>
          <a:fontRef idx="minor">
            <a:schemeClr val="tx1"/>
          </a:fontRef>
        </p:style>
      </p:cxnSp>
      <p:sp>
        <p:nvSpPr>
          <p:cNvPr id="25" name="TextBox 24"/>
          <p:cNvSpPr txBox="1"/>
          <p:nvPr/>
        </p:nvSpPr>
        <p:spPr>
          <a:xfrm>
            <a:off x="566928" y="6419088"/>
            <a:ext cx="6858000" cy="274320"/>
          </a:xfrm>
          <a:prstGeom prst="rect">
            <a:avLst/>
          </a:prstGeom>
          <a:noFill/>
        </p:spPr>
        <p:txBody>
          <a:bodyPr wrap="square" lIns="45720" rIns="45720" tIns="27432" bIns="27432" anchor="t">
            <a:noAutofit/>
          </a:bodyPr>
          <a:lstStyle/>
          <a:p>
            <a:pPr algn="l">
              <a:lnSpc>
                <a:spcPct val="100000"/>
              </a:lnSpc>
            </a:pPr>
            <a:r>
              <a:rPr sz="850" b="0" i="0" spc="120">
                <a:solidFill>
                  <a:srgbClr val="A7B2B0"/>
                </a:solidFill>
                <a:latin typeface="Segoe UI Semibold"/>
              </a:rPr>
              <a:t>TLAMATINI  ·  III · DÓNDE TRABAJAS CON ELLA</a:t>
            </a:r>
          </a:p>
        </p:txBody>
      </p:sp>
      <p:sp>
        <p:nvSpPr>
          <p:cNvPr id="26" name="TextBox 25"/>
          <p:cNvSpPr txBox="1"/>
          <p:nvPr/>
        </p:nvSpPr>
        <p:spPr>
          <a:xfrm>
            <a:off x="8698687" y="6419088"/>
            <a:ext cx="2926080" cy="274320"/>
          </a:xfrm>
          <a:prstGeom prst="rect">
            <a:avLst/>
          </a:prstGeom>
          <a:noFill/>
        </p:spPr>
        <p:txBody>
          <a:bodyPr wrap="square" lIns="45720" rIns="45720" tIns="27432" bIns="27432" anchor="t">
            <a:noAutofit/>
          </a:bodyPr>
          <a:lstStyle/>
          <a:p>
            <a:pPr algn="r">
              <a:lnSpc>
                <a:spcPct val="100000"/>
              </a:lnSpc>
            </a:pPr>
            <a:r>
              <a:rPr sz="850" b="0" i="0" spc="100">
                <a:solidFill>
                  <a:srgbClr val="A7B2B0"/>
                </a:solidFill>
                <a:latin typeface="Segoe UI Semibold"/>
              </a:rPr>
              <a:t>v1.91.1   ·   52</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content.png"/>
          <p:cNvPicPr>
            <a:picLocks noChangeAspect="1"/>
          </p:cNvPicPr>
          <p:nvPr/>
        </p:nvPicPr>
        <p:blipFill>
          <a:blip r:embed="rId2"/>
          <a:stretch>
            <a:fillRect/>
          </a:stretch>
        </p:blipFill>
        <p:spPr>
          <a:xfrm>
            <a:off x="0" y="0"/>
            <a:ext cx="12191695" cy="6858000"/>
          </a:xfrm>
          <a:prstGeom prst="rect">
            <a:avLst/>
          </a:prstGeom>
        </p:spPr>
      </p:pic>
      <p:sp>
        <p:nvSpPr>
          <p:cNvPr id="3" name="Diamond 2"/>
          <p:cNvSpPr/>
          <p:nvPr/>
        </p:nvSpPr>
        <p:spPr>
          <a:xfrm>
            <a:off x="566928" y="457200"/>
            <a:ext cx="100584" cy="100584"/>
          </a:xfrm>
          <a:prstGeom prst="diamond">
            <a:avLst/>
          </a:prstGeom>
          <a:solidFill>
            <a:srgbClr val="E2B4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49808" y="365760"/>
            <a:ext cx="8229600" cy="292608"/>
          </a:xfrm>
          <a:prstGeom prst="rect">
            <a:avLst/>
          </a:prstGeom>
          <a:noFill/>
        </p:spPr>
        <p:txBody>
          <a:bodyPr wrap="square" lIns="45720" rIns="45720" tIns="27432" bIns="27432" anchor="t">
            <a:noAutofit/>
          </a:bodyPr>
          <a:lstStyle/>
          <a:p>
            <a:pPr algn="l">
              <a:lnSpc>
                <a:spcPct val="100000"/>
              </a:lnSpc>
            </a:pPr>
            <a:r>
              <a:rPr sz="1100" b="0" i="0" spc="240">
                <a:solidFill>
                  <a:srgbClr val="C98457"/>
                </a:solidFill>
                <a:latin typeface="Segoe UI Semibold"/>
              </a:rPr>
              <a:t>CICLO DE VIDA EN WINDOWS</a:t>
            </a:r>
          </a:p>
        </p:txBody>
      </p:sp>
      <p:sp>
        <p:nvSpPr>
          <p:cNvPr id="5" name="TextBox 4"/>
          <p:cNvSpPr txBox="1"/>
          <p:nvPr/>
        </p:nvSpPr>
        <p:spPr>
          <a:xfrm>
            <a:off x="539496" y="676656"/>
            <a:ext cx="11057839" cy="658368"/>
          </a:xfrm>
          <a:prstGeom prst="rect">
            <a:avLst/>
          </a:prstGeom>
          <a:noFill/>
        </p:spPr>
        <p:txBody>
          <a:bodyPr wrap="square" lIns="45720" rIns="45720" tIns="27432" bIns="27432" anchor="t">
            <a:noAutofit/>
          </a:bodyPr>
          <a:lstStyle/>
          <a:p>
            <a:pPr algn="l">
              <a:lnSpc>
                <a:spcPct val="100000"/>
              </a:lnSpc>
            </a:pPr>
            <a:r>
              <a:rPr sz="3100" b="0" i="0">
                <a:solidFill>
                  <a:srgbClr val="F7F2E8"/>
                </a:solidFill>
                <a:latin typeface="Palatino Linotype"/>
              </a:rPr>
              <a:t>Quita la aplicación y sus workers propios</a:t>
            </a:r>
          </a:p>
        </p:txBody>
      </p:sp>
      <p:sp>
        <p:nvSpPr>
          <p:cNvPr id="6" name="Rectangle 5"/>
          <p:cNvSpPr/>
          <p:nvPr/>
        </p:nvSpPr>
        <p:spPr>
          <a:xfrm>
            <a:off x="566928" y="1344168"/>
            <a:ext cx="822960" cy="36576"/>
          </a:xfrm>
          <a:prstGeom prst="rect">
            <a:avLst/>
          </a:prstGeom>
          <a:solidFill>
            <a:srgbClr val="E2B4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566928" y="1444752"/>
            <a:ext cx="10692079" cy="585216"/>
          </a:xfrm>
          <a:prstGeom prst="rect">
            <a:avLst/>
          </a:prstGeom>
          <a:noFill/>
        </p:spPr>
        <p:txBody>
          <a:bodyPr wrap="square" lIns="45720" rIns="45720" tIns="27432" bIns="27432" anchor="t">
            <a:noAutofit/>
          </a:bodyPr>
          <a:lstStyle/>
          <a:p>
            <a:pPr algn="l">
              <a:lnSpc>
                <a:spcPct val="100000"/>
              </a:lnSpc>
            </a:pPr>
            <a:r>
              <a:rPr sz="1450" b="0" i="0">
                <a:solidFill>
                  <a:srgbClr val="A7B2B0"/>
                </a:solidFill>
                <a:latin typeface="Segoe UI Semilight"/>
              </a:rPr>
              <a:t>Confirmación, dueño de la instalación, errores que se pueden reintentar y contenido del usuario conservado.</a:t>
            </a:r>
          </a:p>
        </p:txBody>
      </p:sp>
      <p:sp>
        <p:nvSpPr>
          <p:cNvPr id="8" name="Rounded Rectangle 7"/>
          <p:cNvSpPr/>
          <p:nvPr/>
        </p:nvSpPr>
        <p:spPr>
          <a:xfrm>
            <a:off x="566928" y="2084831"/>
            <a:ext cx="5428335" cy="1956816"/>
          </a:xfrm>
          <a:prstGeom prst="roundRect">
            <a:avLst>
              <a:gd name="adj" fmla="val 5607"/>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ectangle 8"/>
          <p:cNvSpPr/>
          <p:nvPr/>
        </p:nvSpPr>
        <p:spPr>
          <a:xfrm>
            <a:off x="731520" y="2212848"/>
            <a:ext cx="502920" cy="45720"/>
          </a:xfrm>
          <a:prstGeom prst="rect">
            <a:avLst/>
          </a:prstGeom>
          <a:solidFill>
            <a:srgbClr val="3BBE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694944" y="2304287"/>
            <a:ext cx="5172303" cy="353568"/>
          </a:xfrm>
          <a:prstGeom prst="rect">
            <a:avLst/>
          </a:prstGeom>
          <a:noFill/>
        </p:spPr>
        <p:txBody>
          <a:bodyPr wrap="square" lIns="45720" rIns="45720" tIns="27432" bIns="27432" anchor="t">
            <a:noAutofit/>
          </a:bodyPr>
          <a:lstStyle/>
          <a:p>
            <a:pPr algn="l">
              <a:lnSpc>
                <a:spcPct val="100000"/>
              </a:lnSpc>
            </a:pPr>
            <a:r>
              <a:rPr sz="1600" b="0" i="0">
                <a:solidFill>
                  <a:srgbClr val="F7F2E8"/>
                </a:solidFill>
                <a:latin typeface="Segoe UI Semibold"/>
              </a:rPr>
              <a:t>Puntos de entrada del instalador</a:t>
            </a:r>
          </a:p>
        </p:txBody>
      </p:sp>
      <p:sp>
        <p:nvSpPr>
          <p:cNvPr id="11" name="TextBox 10"/>
          <p:cNvSpPr txBox="1"/>
          <p:nvPr/>
        </p:nvSpPr>
        <p:spPr>
          <a:xfrm>
            <a:off x="694944" y="2657855"/>
            <a:ext cx="5172303" cy="1292352"/>
          </a:xfrm>
          <a:prstGeom prst="rect">
            <a:avLst/>
          </a:prstGeom>
          <a:noFill/>
        </p:spPr>
        <p:txBody>
          <a:bodyPr wrap="square" lIns="45720" rIns="45720" tIns="27432" bIns="27432" anchor="t">
            <a:noAutofit/>
          </a:bodyPr>
          <a:lstStyle/>
          <a:p>
            <a:pPr algn="l">
              <a:lnSpc>
                <a:spcPct val="100000"/>
              </a:lnSpc>
            </a:pPr>
            <a:r>
              <a:rPr sz="1300" b="0" i="0">
                <a:solidFill>
                  <a:srgbClr val="A7B2B0"/>
                </a:solidFill>
                <a:latin typeface="Segoe UI"/>
              </a:rPr>
              <a:t>Resuelven el directorio de instalación dentro del cuerpo de los scripts de PowerShell.</a:t>
            </a:r>
          </a:p>
        </p:txBody>
      </p:sp>
      <p:sp>
        <p:nvSpPr>
          <p:cNvPr id="12" name="Rounded Rectangle 11"/>
          <p:cNvSpPr/>
          <p:nvPr/>
        </p:nvSpPr>
        <p:spPr>
          <a:xfrm>
            <a:off x="6196431" y="2084831"/>
            <a:ext cx="5428335" cy="1956816"/>
          </a:xfrm>
          <a:prstGeom prst="roundRect">
            <a:avLst>
              <a:gd name="adj" fmla="val 5607"/>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6361023" y="2212848"/>
            <a:ext cx="502920" cy="45720"/>
          </a:xfrm>
          <a:prstGeom prst="rect">
            <a:avLst/>
          </a:prstGeom>
          <a:solidFill>
            <a:srgbClr val="C984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324447" y="2304287"/>
            <a:ext cx="5172303" cy="353568"/>
          </a:xfrm>
          <a:prstGeom prst="rect">
            <a:avLst/>
          </a:prstGeom>
          <a:noFill/>
        </p:spPr>
        <p:txBody>
          <a:bodyPr wrap="square" lIns="45720" rIns="45720" tIns="27432" bIns="27432" anchor="t">
            <a:noAutofit/>
          </a:bodyPr>
          <a:lstStyle/>
          <a:p>
            <a:pPr algn="l">
              <a:lnSpc>
                <a:spcPct val="100000"/>
              </a:lnSpc>
            </a:pPr>
            <a:r>
              <a:rPr sz="1600" b="0" i="0">
                <a:solidFill>
                  <a:srgbClr val="F7F2E8"/>
                </a:solidFill>
                <a:latin typeface="Segoe UI Semibold"/>
              </a:rPr>
              <a:t>Workers propios</a:t>
            </a:r>
          </a:p>
        </p:txBody>
      </p:sp>
      <p:sp>
        <p:nvSpPr>
          <p:cNvPr id="15" name="TextBox 14"/>
          <p:cNvSpPr txBox="1"/>
          <p:nvPr/>
        </p:nvSpPr>
        <p:spPr>
          <a:xfrm>
            <a:off x="6324447" y="2657855"/>
            <a:ext cx="5172303" cy="1292352"/>
          </a:xfrm>
          <a:prstGeom prst="rect">
            <a:avLst/>
          </a:prstGeom>
          <a:noFill/>
        </p:spPr>
        <p:txBody>
          <a:bodyPr wrap="square" lIns="45720" rIns="45720" tIns="27432" bIns="27432" anchor="t">
            <a:noAutofit/>
          </a:bodyPr>
          <a:lstStyle/>
          <a:p>
            <a:pPr algn="l">
              <a:lnSpc>
                <a:spcPct val="100000"/>
              </a:lnSpc>
            </a:pPr>
            <a:r>
              <a:rPr sz="1300" b="0" i="0">
                <a:solidFill>
                  <a:srgbClr val="A7B2B0"/>
                </a:solidFill>
                <a:latin typeface="Segoe UI"/>
              </a:rPr>
              <a:t>Detiene los agents de esta instalación y los descendientes que sobrevivan, después de la confirmación.</a:t>
            </a:r>
          </a:p>
        </p:txBody>
      </p:sp>
      <p:sp>
        <p:nvSpPr>
          <p:cNvPr id="16" name="Rounded Rectangle 15"/>
          <p:cNvSpPr/>
          <p:nvPr/>
        </p:nvSpPr>
        <p:spPr>
          <a:xfrm>
            <a:off x="566928" y="4242816"/>
            <a:ext cx="5428335" cy="1956816"/>
          </a:xfrm>
          <a:prstGeom prst="roundRect">
            <a:avLst>
              <a:gd name="adj" fmla="val 5607"/>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31520" y="4370832"/>
            <a:ext cx="502920" cy="45720"/>
          </a:xfrm>
          <a:prstGeom prst="rect">
            <a:avLst/>
          </a:prstGeom>
          <a:solidFill>
            <a:srgbClr val="E2B4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694944" y="4462272"/>
            <a:ext cx="5172303" cy="353568"/>
          </a:xfrm>
          <a:prstGeom prst="rect">
            <a:avLst/>
          </a:prstGeom>
          <a:noFill/>
        </p:spPr>
        <p:txBody>
          <a:bodyPr wrap="square" lIns="45720" rIns="45720" tIns="27432" bIns="27432" anchor="t">
            <a:noAutofit/>
          </a:bodyPr>
          <a:lstStyle/>
          <a:p>
            <a:pPr algn="l">
              <a:lnSpc>
                <a:spcPct val="100000"/>
              </a:lnSpc>
            </a:pPr>
            <a:r>
              <a:rPr sz="1600" b="0" i="0">
                <a:solidFill>
                  <a:srgbClr val="F7F2E8"/>
                </a:solidFill>
                <a:latin typeface="Segoe UI Semibold"/>
              </a:rPr>
              <a:t>Reintento honesto</a:t>
            </a:r>
          </a:p>
        </p:txBody>
      </p:sp>
      <p:sp>
        <p:nvSpPr>
          <p:cNvPr id="19" name="TextBox 18"/>
          <p:cNvSpPr txBox="1"/>
          <p:nvPr/>
        </p:nvSpPr>
        <p:spPr>
          <a:xfrm>
            <a:off x="694944" y="4815840"/>
            <a:ext cx="5172303" cy="1292352"/>
          </a:xfrm>
          <a:prstGeom prst="rect">
            <a:avLst/>
          </a:prstGeom>
          <a:noFill/>
        </p:spPr>
        <p:txBody>
          <a:bodyPr wrap="square" lIns="45720" rIns="45720" tIns="27432" bIns="27432" anchor="t">
            <a:noAutofit/>
          </a:bodyPr>
          <a:lstStyle/>
          <a:p>
            <a:pPr algn="l">
              <a:lnSpc>
                <a:spcPct val="100000"/>
              </a:lnSpc>
            </a:pPr>
            <a:r>
              <a:rPr sz="1300" b="0" i="0">
                <a:solidFill>
                  <a:srgbClr val="A7B2B0"/>
                </a:solidFill>
                <a:latin typeface="Segoe UI"/>
              </a:rPr>
              <a:t>Conserva el soporte de eliminación hasta tener éxito; reporta archivos bloqueados y errores del registro.</a:t>
            </a:r>
          </a:p>
        </p:txBody>
      </p:sp>
      <p:sp>
        <p:nvSpPr>
          <p:cNvPr id="20" name="Rounded Rectangle 19"/>
          <p:cNvSpPr/>
          <p:nvPr/>
        </p:nvSpPr>
        <p:spPr>
          <a:xfrm>
            <a:off x="6196431" y="4242816"/>
            <a:ext cx="5428335" cy="1956816"/>
          </a:xfrm>
          <a:prstGeom prst="roundRect">
            <a:avLst>
              <a:gd name="adj" fmla="val 5607"/>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ectangle 20"/>
          <p:cNvSpPr/>
          <p:nvPr/>
        </p:nvSpPr>
        <p:spPr>
          <a:xfrm>
            <a:off x="6361023" y="4370832"/>
            <a:ext cx="502920" cy="45720"/>
          </a:xfrm>
          <a:prstGeom prst="rect">
            <a:avLst/>
          </a:prstGeom>
          <a:solidFill>
            <a:srgbClr val="46D2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6324447" y="4462272"/>
            <a:ext cx="5172303" cy="353568"/>
          </a:xfrm>
          <a:prstGeom prst="rect">
            <a:avLst/>
          </a:prstGeom>
          <a:noFill/>
        </p:spPr>
        <p:txBody>
          <a:bodyPr wrap="square" lIns="45720" rIns="45720" tIns="27432" bIns="27432" anchor="t">
            <a:noAutofit/>
          </a:bodyPr>
          <a:lstStyle/>
          <a:p>
            <a:pPr algn="l">
              <a:lnSpc>
                <a:spcPct val="100000"/>
              </a:lnSpc>
            </a:pPr>
            <a:r>
              <a:rPr sz="1600" b="0" i="0">
                <a:solidFill>
                  <a:srgbClr val="F7F2E8"/>
                </a:solidFill>
                <a:latin typeface="Segoe UI Semibold"/>
              </a:rPr>
              <a:t>Conservar el trabajo del usuario</a:t>
            </a:r>
          </a:p>
        </p:txBody>
      </p:sp>
      <p:sp>
        <p:nvSpPr>
          <p:cNvPr id="23" name="TextBox 22"/>
          <p:cNvSpPr txBox="1"/>
          <p:nvPr/>
        </p:nvSpPr>
        <p:spPr>
          <a:xfrm>
            <a:off x="6324447" y="4815840"/>
            <a:ext cx="5172303" cy="1292352"/>
          </a:xfrm>
          <a:prstGeom prst="rect">
            <a:avLst/>
          </a:prstGeom>
          <a:noFill/>
        </p:spPr>
        <p:txBody>
          <a:bodyPr wrap="square" lIns="45720" rIns="45720" tIns="27432" bIns="27432" anchor="t">
            <a:noAutofit/>
          </a:bodyPr>
          <a:lstStyle/>
          <a:p>
            <a:pPr algn="l">
              <a:lnSpc>
                <a:spcPct val="100000"/>
              </a:lnSpc>
            </a:pPr>
            <a:r>
              <a:rPr sz="1300" b="0" i="0">
                <a:solidFill>
                  <a:srgbClr val="A7B2B0"/>
                </a:solidFill>
                <a:latin typeface="Segoe UI"/>
              </a:rPr>
              <a:t>Conserva los agents y el contenido no vacío; avisa al shell sin reiniciar Explorer.</a:t>
            </a:r>
          </a:p>
        </p:txBody>
      </p:sp>
      <p:cxnSp>
        <p:nvCxnSpPr>
          <p:cNvPr id="24" name="Connector 23"/>
          <p:cNvCxnSpPr/>
          <p:nvPr/>
        </p:nvCxnSpPr>
        <p:spPr>
          <a:xfrm>
            <a:off x="566928" y="6373368"/>
            <a:ext cx="11057839" cy="0"/>
          </a:xfrm>
          <a:prstGeom prst="line">
            <a:avLst/>
          </a:prstGeom>
          <a:ln w="7620">
            <a:solidFill>
              <a:srgbClr val="2A3A40"/>
            </a:solidFill>
          </a:ln>
        </p:spPr>
        <p:style>
          <a:lnRef idx="2">
            <a:schemeClr val="accent1"/>
          </a:lnRef>
          <a:fillRef idx="0">
            <a:schemeClr val="accent1"/>
          </a:fillRef>
          <a:effectRef idx="1">
            <a:schemeClr val="accent1"/>
          </a:effectRef>
          <a:fontRef idx="minor">
            <a:schemeClr val="tx1"/>
          </a:fontRef>
        </p:style>
      </p:cxnSp>
      <p:sp>
        <p:nvSpPr>
          <p:cNvPr id="25" name="TextBox 24"/>
          <p:cNvSpPr txBox="1"/>
          <p:nvPr/>
        </p:nvSpPr>
        <p:spPr>
          <a:xfrm>
            <a:off x="566928" y="6419088"/>
            <a:ext cx="6858000" cy="274320"/>
          </a:xfrm>
          <a:prstGeom prst="rect">
            <a:avLst/>
          </a:prstGeom>
          <a:noFill/>
        </p:spPr>
        <p:txBody>
          <a:bodyPr wrap="square" lIns="45720" rIns="45720" tIns="27432" bIns="27432" anchor="t">
            <a:noAutofit/>
          </a:bodyPr>
          <a:lstStyle/>
          <a:p>
            <a:pPr algn="l">
              <a:lnSpc>
                <a:spcPct val="100000"/>
              </a:lnSpc>
            </a:pPr>
            <a:r>
              <a:rPr sz="850" b="0" i="0" spc="120">
                <a:solidFill>
                  <a:srgbClr val="A7B2B0"/>
                </a:solidFill>
                <a:latin typeface="Segoe UI Semibold"/>
              </a:rPr>
              <a:t>TLAMATINI  ·  III · DÓNDE TRABAJAS CON ELLA</a:t>
            </a:r>
          </a:p>
        </p:txBody>
      </p:sp>
      <p:sp>
        <p:nvSpPr>
          <p:cNvPr id="26" name="TextBox 25"/>
          <p:cNvSpPr txBox="1"/>
          <p:nvPr/>
        </p:nvSpPr>
        <p:spPr>
          <a:xfrm>
            <a:off x="8698687" y="6419088"/>
            <a:ext cx="2926080" cy="274320"/>
          </a:xfrm>
          <a:prstGeom prst="rect">
            <a:avLst/>
          </a:prstGeom>
          <a:noFill/>
        </p:spPr>
        <p:txBody>
          <a:bodyPr wrap="square" lIns="45720" rIns="45720" tIns="27432" bIns="27432" anchor="t">
            <a:noAutofit/>
          </a:bodyPr>
          <a:lstStyle/>
          <a:p>
            <a:pPr algn="r">
              <a:lnSpc>
                <a:spcPct val="100000"/>
              </a:lnSpc>
            </a:pPr>
            <a:r>
              <a:rPr sz="850" b="0" i="0" spc="100">
                <a:solidFill>
                  <a:srgbClr val="A7B2B0"/>
                </a:solidFill>
                <a:latin typeface="Segoe UI Semibold"/>
              </a:rPr>
              <a:t>v1.91.1   ·   53</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content.png"/>
          <p:cNvPicPr>
            <a:picLocks noChangeAspect="1"/>
          </p:cNvPicPr>
          <p:nvPr/>
        </p:nvPicPr>
        <p:blipFill>
          <a:blip r:embed="rId2"/>
          <a:stretch>
            <a:fillRect/>
          </a:stretch>
        </p:blipFill>
        <p:spPr>
          <a:xfrm>
            <a:off x="0" y="0"/>
            <a:ext cx="12191695" cy="6858000"/>
          </a:xfrm>
          <a:prstGeom prst="rect">
            <a:avLst/>
          </a:prstGeom>
        </p:spPr>
      </p:pic>
      <p:sp>
        <p:nvSpPr>
          <p:cNvPr id="3" name="Diamond 2"/>
          <p:cNvSpPr/>
          <p:nvPr/>
        </p:nvSpPr>
        <p:spPr>
          <a:xfrm>
            <a:off x="566928" y="457200"/>
            <a:ext cx="100584" cy="100584"/>
          </a:xfrm>
          <a:prstGeom prst="diamond">
            <a:avLst/>
          </a:prstGeom>
          <a:solidFill>
            <a:srgbClr val="E2B4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49808" y="365760"/>
            <a:ext cx="8229600" cy="292608"/>
          </a:xfrm>
          <a:prstGeom prst="rect">
            <a:avLst/>
          </a:prstGeom>
          <a:noFill/>
        </p:spPr>
        <p:txBody>
          <a:bodyPr wrap="square" lIns="45720" rIns="45720" tIns="27432" bIns="27432" anchor="t">
            <a:noAutofit/>
          </a:bodyPr>
          <a:lstStyle/>
          <a:p>
            <a:pPr algn="l">
              <a:lnSpc>
                <a:spcPct val="100000"/>
              </a:lnSpc>
            </a:pPr>
            <a:r>
              <a:rPr sz="1100" b="0" i="0" spc="240">
                <a:solidFill>
                  <a:srgbClr val="C98457"/>
                </a:solidFill>
                <a:latin typeface="Segoe UI Semibold"/>
              </a:rPr>
              <a:t>VENTANAS DE INSTALACIÓN · v1.82.0</a:t>
            </a:r>
          </a:p>
        </p:txBody>
      </p:sp>
      <p:sp>
        <p:nvSpPr>
          <p:cNvPr id="5" name="TextBox 4"/>
          <p:cNvSpPr txBox="1"/>
          <p:nvPr/>
        </p:nvSpPr>
        <p:spPr>
          <a:xfrm>
            <a:off x="539496" y="676656"/>
            <a:ext cx="11057839" cy="658368"/>
          </a:xfrm>
          <a:prstGeom prst="rect">
            <a:avLst/>
          </a:prstGeom>
          <a:noFill/>
        </p:spPr>
        <p:txBody>
          <a:bodyPr wrap="square" lIns="45720" rIns="45720" tIns="27432" bIns="27432" anchor="t">
            <a:noAutofit/>
          </a:bodyPr>
          <a:lstStyle/>
          <a:p>
            <a:pPr algn="l">
              <a:lnSpc>
                <a:spcPct val="100000"/>
              </a:lnSpc>
            </a:pPr>
            <a:r>
              <a:rPr sz="3100" b="0" i="0">
                <a:solidFill>
                  <a:srgbClr val="F7F2E8"/>
                </a:solidFill>
                <a:latin typeface="Palatino Linotype"/>
              </a:rPr>
              <a:t>Instala y quita con una forma de regresar</a:t>
            </a:r>
          </a:p>
        </p:txBody>
      </p:sp>
      <p:sp>
        <p:nvSpPr>
          <p:cNvPr id="6" name="Rectangle 5"/>
          <p:cNvSpPr/>
          <p:nvPr/>
        </p:nvSpPr>
        <p:spPr>
          <a:xfrm>
            <a:off x="566928" y="1344168"/>
            <a:ext cx="822960" cy="36576"/>
          </a:xfrm>
          <a:prstGeom prst="rect">
            <a:avLst/>
          </a:prstGeom>
          <a:solidFill>
            <a:srgbClr val="E2B4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566928" y="1444752"/>
            <a:ext cx="10692079" cy="585216"/>
          </a:xfrm>
          <a:prstGeom prst="rect">
            <a:avLst/>
          </a:prstGeom>
          <a:noFill/>
        </p:spPr>
        <p:txBody>
          <a:bodyPr wrap="square" lIns="45720" rIns="45720" tIns="27432" bIns="27432" anchor="t">
            <a:noAutofit/>
          </a:bodyPr>
          <a:lstStyle/>
          <a:p>
            <a:pPr algn="l">
              <a:lnSpc>
                <a:spcPct val="100000"/>
              </a:lnSpc>
            </a:pPr>
            <a:r>
              <a:rPr sz="1450" b="0" i="0">
                <a:solidFill>
                  <a:srgbClr val="A7B2B0"/>
                </a:solidFill>
                <a:latin typeface="Segoe UI Semilight"/>
              </a:rPr>
              <a:t>El Instalador y el Desinstalador comparten una ventana que prepara una copia de recuperación antes de cambiar cualquier cosa.</a:t>
            </a:r>
          </a:p>
        </p:txBody>
      </p:sp>
      <p:sp>
        <p:nvSpPr>
          <p:cNvPr id="8" name="Rounded Rectangle 7"/>
          <p:cNvSpPr/>
          <p:nvPr/>
        </p:nvSpPr>
        <p:spPr>
          <a:xfrm>
            <a:off x="566928" y="2084831"/>
            <a:ext cx="3551834" cy="1956816"/>
          </a:xfrm>
          <a:prstGeom prst="roundRect">
            <a:avLst>
              <a:gd name="adj" fmla="val 5607"/>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ectangle 8"/>
          <p:cNvSpPr/>
          <p:nvPr/>
        </p:nvSpPr>
        <p:spPr>
          <a:xfrm>
            <a:off x="731520" y="2212848"/>
            <a:ext cx="502920" cy="45720"/>
          </a:xfrm>
          <a:prstGeom prst="rect">
            <a:avLst/>
          </a:prstGeom>
          <a:solidFill>
            <a:srgbClr val="3BBE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694944" y="2304287"/>
            <a:ext cx="3295802" cy="353568"/>
          </a:xfrm>
          <a:prstGeom prst="rect">
            <a:avLst/>
          </a:prstGeom>
          <a:noFill/>
        </p:spPr>
        <p:txBody>
          <a:bodyPr wrap="square" lIns="45720" rIns="45720" tIns="27432" bIns="27432" anchor="t">
            <a:noAutofit/>
          </a:bodyPr>
          <a:lstStyle/>
          <a:p>
            <a:pPr algn="l">
              <a:lnSpc>
                <a:spcPct val="100000"/>
              </a:lnSpc>
            </a:pPr>
            <a:r>
              <a:rPr sz="1600" b="0" i="0">
                <a:solidFill>
                  <a:srgbClr val="F7F2E8"/>
                </a:solidFill>
                <a:latin typeface="Segoe UI Semibold"/>
              </a:rPr>
              <a:t>Una ventana</a:t>
            </a:r>
          </a:p>
        </p:txBody>
      </p:sp>
      <p:sp>
        <p:nvSpPr>
          <p:cNvPr id="11" name="TextBox 10"/>
          <p:cNvSpPr txBox="1"/>
          <p:nvPr/>
        </p:nvSpPr>
        <p:spPr>
          <a:xfrm>
            <a:off x="694944" y="2657855"/>
            <a:ext cx="3295802" cy="1292352"/>
          </a:xfrm>
          <a:prstGeom prst="rect">
            <a:avLst/>
          </a:prstGeom>
          <a:noFill/>
        </p:spPr>
        <p:txBody>
          <a:bodyPr wrap="square" lIns="45720" rIns="45720" tIns="27432" bIns="27432" anchor="t">
            <a:noAutofit/>
          </a:bodyPr>
          <a:lstStyle/>
          <a:p>
            <a:pPr algn="l">
              <a:lnSpc>
                <a:spcPct val="100000"/>
              </a:lnSpc>
            </a:pPr>
            <a:r>
              <a:rPr sz="1300" b="0" i="0">
                <a:solidFill>
                  <a:srgbClr val="A7B2B0"/>
                </a:solidFill>
                <a:latin typeface="Segoe UI"/>
              </a:rPr>
              <a:t>Pantallas compartidas del Instalador y el Desinstalador que nunca recortan sus botones.</a:t>
            </a:r>
          </a:p>
        </p:txBody>
      </p:sp>
      <p:sp>
        <p:nvSpPr>
          <p:cNvPr id="12" name="Rounded Rectangle 11"/>
          <p:cNvSpPr/>
          <p:nvPr/>
        </p:nvSpPr>
        <p:spPr>
          <a:xfrm>
            <a:off x="4319930" y="2084831"/>
            <a:ext cx="3551834" cy="1956816"/>
          </a:xfrm>
          <a:prstGeom prst="roundRect">
            <a:avLst>
              <a:gd name="adj" fmla="val 5607"/>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4484522" y="2212848"/>
            <a:ext cx="502920" cy="45720"/>
          </a:xfrm>
          <a:prstGeom prst="rect">
            <a:avLst/>
          </a:prstGeom>
          <a:solidFill>
            <a:srgbClr val="C984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4447946" y="2304287"/>
            <a:ext cx="3295802" cy="353568"/>
          </a:xfrm>
          <a:prstGeom prst="rect">
            <a:avLst/>
          </a:prstGeom>
          <a:noFill/>
        </p:spPr>
        <p:txBody>
          <a:bodyPr wrap="square" lIns="45720" rIns="45720" tIns="27432" bIns="27432" anchor="t">
            <a:noAutofit/>
          </a:bodyPr>
          <a:lstStyle/>
          <a:p>
            <a:pPr algn="l">
              <a:lnSpc>
                <a:spcPct val="100000"/>
              </a:lnSpc>
            </a:pPr>
            <a:r>
              <a:rPr sz="1600" b="0" i="0">
                <a:solidFill>
                  <a:srgbClr val="F7F2E8"/>
                </a:solidFill>
                <a:latin typeface="Segoe UI Semibold"/>
              </a:rPr>
              <a:t>Copia de recuperación</a:t>
            </a:r>
          </a:p>
        </p:txBody>
      </p:sp>
      <p:sp>
        <p:nvSpPr>
          <p:cNvPr id="15" name="TextBox 14"/>
          <p:cNvSpPr txBox="1"/>
          <p:nvPr/>
        </p:nvSpPr>
        <p:spPr>
          <a:xfrm>
            <a:off x="4447946" y="2657855"/>
            <a:ext cx="3295802" cy="1292352"/>
          </a:xfrm>
          <a:prstGeom prst="rect">
            <a:avLst/>
          </a:prstGeom>
          <a:noFill/>
        </p:spPr>
        <p:txBody>
          <a:bodyPr wrap="square" lIns="45720" rIns="45720" tIns="27432" bIns="27432" anchor="t">
            <a:noAutofit/>
          </a:bodyPr>
          <a:lstStyle/>
          <a:p>
            <a:pPr algn="l">
              <a:lnSpc>
                <a:spcPct val="100000"/>
              </a:lnSpc>
            </a:pPr>
            <a:r>
              <a:rPr sz="1300" b="0" i="0">
                <a:solidFill>
                  <a:srgbClr val="A7B2B0"/>
                </a:solidFill>
                <a:latin typeface="Segoe UI"/>
              </a:rPr>
              <a:t>Preparada y verificada antes de cambiar cualquier archivo; restaurada después de una interrupción.</a:t>
            </a:r>
          </a:p>
        </p:txBody>
      </p:sp>
      <p:sp>
        <p:nvSpPr>
          <p:cNvPr id="16" name="Rounded Rectangle 15"/>
          <p:cNvSpPr/>
          <p:nvPr/>
        </p:nvSpPr>
        <p:spPr>
          <a:xfrm>
            <a:off x="8072932" y="2084831"/>
            <a:ext cx="3551834" cy="1956816"/>
          </a:xfrm>
          <a:prstGeom prst="roundRect">
            <a:avLst>
              <a:gd name="adj" fmla="val 5607"/>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8237524" y="2212848"/>
            <a:ext cx="502920" cy="45720"/>
          </a:xfrm>
          <a:prstGeom prst="rect">
            <a:avLst/>
          </a:prstGeom>
          <a:solidFill>
            <a:srgbClr val="E2B4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200948" y="2304287"/>
            <a:ext cx="3295802" cy="353568"/>
          </a:xfrm>
          <a:prstGeom prst="rect">
            <a:avLst/>
          </a:prstGeom>
          <a:noFill/>
        </p:spPr>
        <p:txBody>
          <a:bodyPr wrap="square" lIns="45720" rIns="45720" tIns="27432" bIns="27432" anchor="t">
            <a:noAutofit/>
          </a:bodyPr>
          <a:lstStyle/>
          <a:p>
            <a:pPr algn="l">
              <a:lnSpc>
                <a:spcPct val="100000"/>
              </a:lnSpc>
            </a:pPr>
            <a:r>
              <a:rPr sz="1600" b="0" i="0">
                <a:solidFill>
                  <a:srgbClr val="F7F2E8"/>
                </a:solidFill>
                <a:latin typeface="Segoe UI Semibold"/>
              </a:rPr>
              <a:t>Bloqueos con nombre</a:t>
            </a:r>
          </a:p>
        </p:txBody>
      </p:sp>
      <p:sp>
        <p:nvSpPr>
          <p:cNvPr id="19" name="TextBox 18"/>
          <p:cNvSpPr txBox="1"/>
          <p:nvPr/>
        </p:nvSpPr>
        <p:spPr>
          <a:xfrm>
            <a:off x="8200948" y="2657855"/>
            <a:ext cx="3295802" cy="1292352"/>
          </a:xfrm>
          <a:prstGeom prst="rect">
            <a:avLst/>
          </a:prstGeom>
          <a:noFill/>
        </p:spPr>
        <p:txBody>
          <a:bodyPr wrap="square" lIns="45720" rIns="45720" tIns="27432" bIns="27432" anchor="t">
            <a:noAutofit/>
          </a:bodyPr>
          <a:lstStyle/>
          <a:p>
            <a:pPr algn="l">
              <a:lnSpc>
                <a:spcPct val="100000"/>
              </a:lnSpc>
            </a:pPr>
            <a:r>
              <a:rPr sz="1300" b="0" i="0">
                <a:solidFill>
                  <a:srgbClr val="A7B2B0"/>
                </a:solidFill>
                <a:latin typeface="Segoe UI"/>
              </a:rPr>
              <a:t>Se nombra un archivo bloqueado y a quien lo tiene; nada se cierra a la fuerza.</a:t>
            </a:r>
          </a:p>
        </p:txBody>
      </p:sp>
      <p:sp>
        <p:nvSpPr>
          <p:cNvPr id="20" name="Rounded Rectangle 19"/>
          <p:cNvSpPr/>
          <p:nvPr/>
        </p:nvSpPr>
        <p:spPr>
          <a:xfrm>
            <a:off x="566928" y="4242816"/>
            <a:ext cx="3551834" cy="1956816"/>
          </a:xfrm>
          <a:prstGeom prst="roundRect">
            <a:avLst>
              <a:gd name="adj" fmla="val 5607"/>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ectangle 20"/>
          <p:cNvSpPr/>
          <p:nvPr/>
        </p:nvSpPr>
        <p:spPr>
          <a:xfrm>
            <a:off x="731520" y="4370832"/>
            <a:ext cx="502920" cy="45720"/>
          </a:xfrm>
          <a:prstGeom prst="rect">
            <a:avLst/>
          </a:prstGeom>
          <a:solidFill>
            <a:srgbClr val="46D2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694944" y="4462272"/>
            <a:ext cx="3295802" cy="353568"/>
          </a:xfrm>
          <a:prstGeom prst="rect">
            <a:avLst/>
          </a:prstGeom>
          <a:noFill/>
        </p:spPr>
        <p:txBody>
          <a:bodyPr wrap="square" lIns="45720" rIns="45720" tIns="27432" bIns="27432" anchor="t">
            <a:noAutofit/>
          </a:bodyPr>
          <a:lstStyle/>
          <a:p>
            <a:pPr algn="l">
              <a:lnSpc>
                <a:spcPct val="100000"/>
              </a:lnSpc>
            </a:pPr>
            <a:r>
              <a:rPr sz="1600" b="0" i="0">
                <a:solidFill>
                  <a:srgbClr val="F7F2E8"/>
                </a:solidFill>
                <a:latin typeface="Segoe UI Semibold"/>
              </a:rPr>
              <a:t>Alcance propio</a:t>
            </a:r>
          </a:p>
        </p:txBody>
      </p:sp>
      <p:sp>
        <p:nvSpPr>
          <p:cNvPr id="23" name="TextBox 22"/>
          <p:cNvSpPr txBox="1"/>
          <p:nvPr/>
        </p:nvSpPr>
        <p:spPr>
          <a:xfrm>
            <a:off x="694944" y="4815840"/>
            <a:ext cx="3295802" cy="1292352"/>
          </a:xfrm>
          <a:prstGeom prst="rect">
            <a:avLst/>
          </a:prstGeom>
          <a:noFill/>
        </p:spPr>
        <p:txBody>
          <a:bodyPr wrap="square" lIns="45720" rIns="45720" tIns="27432" bIns="27432" anchor="t">
            <a:noAutofit/>
          </a:bodyPr>
          <a:lstStyle/>
          <a:p>
            <a:pPr algn="l">
              <a:lnSpc>
                <a:spcPct val="100000"/>
              </a:lnSpc>
            </a:pPr>
            <a:r>
              <a:rPr sz="1300" b="0" i="0">
                <a:solidFill>
                  <a:srgbClr val="A7B2B0"/>
                </a:solidFill>
                <a:latin typeface="Segoe UI"/>
              </a:rPr>
              <a:t>Sólo los valores de registro y el acceso directo de Tlamatini; nunca UserChoice.</a:t>
            </a:r>
          </a:p>
        </p:txBody>
      </p:sp>
      <p:sp>
        <p:nvSpPr>
          <p:cNvPr id="24" name="Rounded Rectangle 23"/>
          <p:cNvSpPr/>
          <p:nvPr/>
        </p:nvSpPr>
        <p:spPr>
          <a:xfrm>
            <a:off x="4319930" y="4242816"/>
            <a:ext cx="3551834" cy="1956816"/>
          </a:xfrm>
          <a:prstGeom prst="roundRect">
            <a:avLst>
              <a:gd name="adj" fmla="val 5607"/>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ectangle 24"/>
          <p:cNvSpPr/>
          <p:nvPr/>
        </p:nvSpPr>
        <p:spPr>
          <a:xfrm>
            <a:off x="4484522" y="4370832"/>
            <a:ext cx="502920" cy="45720"/>
          </a:xfrm>
          <a:prstGeom prst="rect">
            <a:avLst/>
          </a:prstGeom>
          <a:solidFill>
            <a:srgbClr val="D25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4447946" y="4462272"/>
            <a:ext cx="3295802" cy="353568"/>
          </a:xfrm>
          <a:prstGeom prst="rect">
            <a:avLst/>
          </a:prstGeom>
          <a:noFill/>
        </p:spPr>
        <p:txBody>
          <a:bodyPr wrap="square" lIns="45720" rIns="45720" tIns="27432" bIns="27432" anchor="t">
            <a:noAutofit/>
          </a:bodyPr>
          <a:lstStyle/>
          <a:p>
            <a:pPr algn="l">
              <a:lnSpc>
                <a:spcPct val="100000"/>
              </a:lnSpc>
            </a:pPr>
            <a:r>
              <a:rPr sz="1600" b="0" i="0">
                <a:solidFill>
                  <a:srgbClr val="F7F2E8"/>
                </a:solidFill>
                <a:latin typeface="Segoe UI Semibold"/>
              </a:rPr>
              <a:t>Helpers acotados</a:t>
            </a:r>
          </a:p>
        </p:txBody>
      </p:sp>
      <p:sp>
        <p:nvSpPr>
          <p:cNvPr id="27" name="TextBox 26"/>
          <p:cNvSpPr txBox="1"/>
          <p:nvPr/>
        </p:nvSpPr>
        <p:spPr>
          <a:xfrm>
            <a:off x="4447946" y="4815840"/>
            <a:ext cx="3295802" cy="1292352"/>
          </a:xfrm>
          <a:prstGeom prst="rect">
            <a:avLst/>
          </a:prstGeom>
          <a:noFill/>
        </p:spPr>
        <p:txBody>
          <a:bodyPr wrap="square" lIns="45720" rIns="45720" tIns="27432" bIns="27432" anchor="t">
            <a:noAutofit/>
          </a:bodyPr>
          <a:lstStyle/>
          <a:p>
            <a:pPr algn="l">
              <a:lnSpc>
                <a:spcPct val="100000"/>
              </a:lnSpc>
            </a:pPr>
            <a:r>
              <a:rPr sz="1300" b="0" i="0">
                <a:solidFill>
                  <a:srgbClr val="A7B2B0"/>
                </a:solidFill>
                <a:latin typeface="Segoe UI"/>
              </a:rPr>
              <a:t>Los helpers de PowerShell terminan en 120 segundos dentro de un job de Windows.</a:t>
            </a:r>
          </a:p>
        </p:txBody>
      </p:sp>
      <p:sp>
        <p:nvSpPr>
          <p:cNvPr id="28" name="Rounded Rectangle 27"/>
          <p:cNvSpPr/>
          <p:nvPr/>
        </p:nvSpPr>
        <p:spPr>
          <a:xfrm>
            <a:off x="8072932" y="4242816"/>
            <a:ext cx="3551834" cy="1956816"/>
          </a:xfrm>
          <a:prstGeom prst="roundRect">
            <a:avLst>
              <a:gd name="adj" fmla="val 5607"/>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Rectangle 28"/>
          <p:cNvSpPr/>
          <p:nvPr/>
        </p:nvSpPr>
        <p:spPr>
          <a:xfrm>
            <a:off x="8237524" y="4370832"/>
            <a:ext cx="502920" cy="45720"/>
          </a:xfrm>
          <a:prstGeom prst="rect">
            <a:avLst/>
          </a:prstGeom>
          <a:solidFill>
            <a:srgbClr val="D957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8200948" y="4462272"/>
            <a:ext cx="3295802" cy="353568"/>
          </a:xfrm>
          <a:prstGeom prst="rect">
            <a:avLst/>
          </a:prstGeom>
          <a:noFill/>
        </p:spPr>
        <p:txBody>
          <a:bodyPr wrap="square" lIns="45720" rIns="45720" tIns="27432" bIns="27432" anchor="t">
            <a:noAutofit/>
          </a:bodyPr>
          <a:lstStyle/>
          <a:p>
            <a:pPr algn="l">
              <a:lnSpc>
                <a:spcPct val="100000"/>
              </a:lnSpc>
            </a:pPr>
            <a:r>
              <a:rPr sz="1600" b="0" i="0">
                <a:solidFill>
                  <a:srgbClr val="F7F2E8"/>
                </a:solidFill>
                <a:latin typeface="Segoe UI Semibold"/>
              </a:rPr>
              <a:t>Conteo honesto</a:t>
            </a:r>
          </a:p>
        </p:txBody>
      </p:sp>
      <p:sp>
        <p:nvSpPr>
          <p:cNvPr id="31" name="TextBox 30"/>
          <p:cNvSpPr txBox="1"/>
          <p:nvPr/>
        </p:nvSpPr>
        <p:spPr>
          <a:xfrm>
            <a:off x="8200948" y="4815840"/>
            <a:ext cx="3295802" cy="1292352"/>
          </a:xfrm>
          <a:prstGeom prst="rect">
            <a:avLst/>
          </a:prstGeom>
          <a:noFill/>
        </p:spPr>
        <p:txBody>
          <a:bodyPr wrap="square" lIns="45720" rIns="45720" tIns="27432" bIns="27432" anchor="t">
            <a:noAutofit/>
          </a:bodyPr>
          <a:lstStyle/>
          <a:p>
            <a:pPr algn="l">
              <a:lnSpc>
                <a:spcPct val="100000"/>
              </a:lnSpc>
            </a:pPr>
            <a:r>
              <a:rPr sz="1300" b="0" i="0">
                <a:solidFill>
                  <a:srgbClr val="A7B2B0"/>
                </a:solidFill>
                <a:latin typeface="Segoe UI"/>
              </a:rPr>
              <a:t>Pasaron cinco instalaciones y cuatro eliminaciones; una se detuvo de forma segura.</a:t>
            </a:r>
          </a:p>
        </p:txBody>
      </p:sp>
      <p:cxnSp>
        <p:nvCxnSpPr>
          <p:cNvPr id="32" name="Connector 31"/>
          <p:cNvCxnSpPr/>
          <p:nvPr/>
        </p:nvCxnSpPr>
        <p:spPr>
          <a:xfrm>
            <a:off x="566928" y="6373368"/>
            <a:ext cx="11057839" cy="0"/>
          </a:xfrm>
          <a:prstGeom prst="line">
            <a:avLst/>
          </a:prstGeom>
          <a:ln w="7620">
            <a:solidFill>
              <a:srgbClr val="2A3A40"/>
            </a:solidFill>
          </a:ln>
        </p:spPr>
        <p:style>
          <a:lnRef idx="2">
            <a:schemeClr val="accent1"/>
          </a:lnRef>
          <a:fillRef idx="0">
            <a:schemeClr val="accent1"/>
          </a:fillRef>
          <a:effectRef idx="1">
            <a:schemeClr val="accent1"/>
          </a:effectRef>
          <a:fontRef idx="minor">
            <a:schemeClr val="tx1"/>
          </a:fontRef>
        </p:style>
      </p:cxnSp>
      <p:sp>
        <p:nvSpPr>
          <p:cNvPr id="33" name="TextBox 32"/>
          <p:cNvSpPr txBox="1"/>
          <p:nvPr/>
        </p:nvSpPr>
        <p:spPr>
          <a:xfrm>
            <a:off x="566928" y="6419088"/>
            <a:ext cx="6858000" cy="274320"/>
          </a:xfrm>
          <a:prstGeom prst="rect">
            <a:avLst/>
          </a:prstGeom>
          <a:noFill/>
        </p:spPr>
        <p:txBody>
          <a:bodyPr wrap="square" lIns="45720" rIns="45720" tIns="27432" bIns="27432" anchor="t">
            <a:noAutofit/>
          </a:bodyPr>
          <a:lstStyle/>
          <a:p>
            <a:pPr algn="l">
              <a:lnSpc>
                <a:spcPct val="100000"/>
              </a:lnSpc>
            </a:pPr>
            <a:r>
              <a:rPr sz="850" b="0" i="0" spc="120">
                <a:solidFill>
                  <a:srgbClr val="A7B2B0"/>
                </a:solidFill>
                <a:latin typeface="Segoe UI Semibold"/>
              </a:rPr>
              <a:t>TLAMATINI  ·  III · DÓNDE TRABAJAS CON ELLA</a:t>
            </a:r>
          </a:p>
        </p:txBody>
      </p:sp>
      <p:sp>
        <p:nvSpPr>
          <p:cNvPr id="34" name="TextBox 33"/>
          <p:cNvSpPr txBox="1"/>
          <p:nvPr/>
        </p:nvSpPr>
        <p:spPr>
          <a:xfrm>
            <a:off x="8698687" y="6419088"/>
            <a:ext cx="2926080" cy="274320"/>
          </a:xfrm>
          <a:prstGeom prst="rect">
            <a:avLst/>
          </a:prstGeom>
          <a:noFill/>
        </p:spPr>
        <p:txBody>
          <a:bodyPr wrap="square" lIns="45720" rIns="45720" tIns="27432" bIns="27432" anchor="t">
            <a:noAutofit/>
          </a:bodyPr>
          <a:lstStyle/>
          <a:p>
            <a:pPr algn="r">
              <a:lnSpc>
                <a:spcPct val="100000"/>
              </a:lnSpc>
            </a:pPr>
            <a:r>
              <a:rPr sz="850" b="0" i="0" spc="100">
                <a:solidFill>
                  <a:srgbClr val="A7B2B0"/>
                </a:solidFill>
                <a:latin typeface="Segoe UI Semibold"/>
              </a:rPr>
              <a:t>v1.91.1   ·   54</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content.png"/>
          <p:cNvPicPr>
            <a:picLocks noChangeAspect="1"/>
          </p:cNvPicPr>
          <p:nvPr/>
        </p:nvPicPr>
        <p:blipFill>
          <a:blip r:embed="rId2"/>
          <a:stretch>
            <a:fillRect/>
          </a:stretch>
        </p:blipFill>
        <p:spPr>
          <a:xfrm>
            <a:off x="0" y="0"/>
            <a:ext cx="12191695" cy="6858000"/>
          </a:xfrm>
          <a:prstGeom prst="rect">
            <a:avLst/>
          </a:prstGeom>
        </p:spPr>
      </p:pic>
      <p:sp>
        <p:nvSpPr>
          <p:cNvPr id="3" name="Diamond 2"/>
          <p:cNvSpPr/>
          <p:nvPr/>
        </p:nvSpPr>
        <p:spPr>
          <a:xfrm>
            <a:off x="566928" y="457200"/>
            <a:ext cx="100584" cy="100584"/>
          </a:xfrm>
          <a:prstGeom prst="diamond">
            <a:avLst/>
          </a:prstGeom>
          <a:solidFill>
            <a:srgbClr val="E2B4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49808" y="365760"/>
            <a:ext cx="8229600" cy="292608"/>
          </a:xfrm>
          <a:prstGeom prst="rect">
            <a:avLst/>
          </a:prstGeom>
          <a:noFill/>
        </p:spPr>
        <p:txBody>
          <a:bodyPr wrap="square" lIns="45720" rIns="45720" tIns="27432" bIns="27432" anchor="t">
            <a:noAutofit/>
          </a:bodyPr>
          <a:lstStyle/>
          <a:p>
            <a:pPr algn="l">
              <a:lnSpc>
                <a:spcPct val="100000"/>
              </a:lnSpc>
            </a:pPr>
            <a:r>
              <a:rPr sz="1100" b="0" i="0" spc="240">
                <a:solidFill>
                  <a:srgbClr val="C98457"/>
                </a:solidFill>
                <a:latin typeface="Segoe UI Semibold"/>
              </a:rPr>
              <a:t>VALIDACIÓN LOCAL DEL RELEASE</a:t>
            </a:r>
          </a:p>
        </p:txBody>
      </p:sp>
      <p:sp>
        <p:nvSpPr>
          <p:cNvPr id="5" name="TextBox 4"/>
          <p:cNvSpPr txBox="1"/>
          <p:nvPr/>
        </p:nvSpPr>
        <p:spPr>
          <a:xfrm>
            <a:off x="539496" y="676656"/>
            <a:ext cx="11057839" cy="658368"/>
          </a:xfrm>
          <a:prstGeom prst="rect">
            <a:avLst/>
          </a:prstGeom>
          <a:noFill/>
        </p:spPr>
        <p:txBody>
          <a:bodyPr wrap="square" lIns="45720" rIns="45720" tIns="27432" bIns="27432" anchor="t">
            <a:noAutofit/>
          </a:bodyPr>
          <a:lstStyle/>
          <a:p>
            <a:pPr algn="l">
              <a:lnSpc>
                <a:spcPct val="100000"/>
              </a:lnSpc>
            </a:pPr>
            <a:r>
              <a:rPr sz="3100" b="0" i="0">
                <a:solidFill>
                  <a:srgbClr val="F7F2E8"/>
                </a:solidFill>
                <a:latin typeface="Palatino Linotype"/>
              </a:rPr>
              <a:t>Repara la frontera y luego repite la operación real</a:t>
            </a:r>
          </a:p>
        </p:txBody>
      </p:sp>
      <p:sp>
        <p:nvSpPr>
          <p:cNvPr id="6" name="Rectangle 5"/>
          <p:cNvSpPr/>
          <p:nvPr/>
        </p:nvSpPr>
        <p:spPr>
          <a:xfrm>
            <a:off x="566928" y="1344168"/>
            <a:ext cx="822960" cy="36576"/>
          </a:xfrm>
          <a:prstGeom prst="rect">
            <a:avLst/>
          </a:prstGeom>
          <a:solidFill>
            <a:srgbClr val="E2B4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566928" y="1444752"/>
            <a:ext cx="10692079" cy="585216"/>
          </a:xfrm>
          <a:prstGeom prst="rect">
            <a:avLst/>
          </a:prstGeom>
          <a:noFill/>
        </p:spPr>
        <p:txBody>
          <a:bodyPr wrap="square" lIns="45720" rIns="45720" tIns="27432" bIns="27432" anchor="t">
            <a:noAutofit/>
          </a:bodyPr>
          <a:lstStyle/>
          <a:p>
            <a:pPr algn="l">
              <a:lnSpc>
                <a:spcPct val="100000"/>
              </a:lnSpc>
            </a:pPr>
            <a:r>
              <a:rPr sz="1450" b="0" i="0">
                <a:solidFill>
                  <a:srgbClr val="A7B2B0"/>
                </a:solidFill>
                <a:latin typeface="Segoe UI Semilight"/>
              </a:rPr>
              <a:t>Las reparaciones del 4 de octubre, que ahora lleva v1.76.0, tienen evidencia aparte del source, del congelado, del paquete y visual.</a:t>
            </a:r>
          </a:p>
        </p:txBody>
      </p:sp>
      <p:sp>
        <p:nvSpPr>
          <p:cNvPr id="8" name="Rounded Rectangle 7"/>
          <p:cNvSpPr/>
          <p:nvPr/>
        </p:nvSpPr>
        <p:spPr>
          <a:xfrm>
            <a:off x="566928" y="2084831"/>
            <a:ext cx="5428335" cy="1956816"/>
          </a:xfrm>
          <a:prstGeom prst="roundRect">
            <a:avLst>
              <a:gd name="adj" fmla="val 5607"/>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ectangle 8"/>
          <p:cNvSpPr/>
          <p:nvPr/>
        </p:nvSpPr>
        <p:spPr>
          <a:xfrm>
            <a:off x="731520" y="2212848"/>
            <a:ext cx="502920" cy="45720"/>
          </a:xfrm>
          <a:prstGeom prst="rect">
            <a:avLst/>
          </a:prstGeom>
          <a:solidFill>
            <a:srgbClr val="3BBE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694944" y="2304287"/>
            <a:ext cx="5172303" cy="353568"/>
          </a:xfrm>
          <a:prstGeom prst="rect">
            <a:avLst/>
          </a:prstGeom>
          <a:noFill/>
        </p:spPr>
        <p:txBody>
          <a:bodyPr wrap="square" lIns="45720" rIns="45720" tIns="27432" bIns="27432" anchor="t">
            <a:noAutofit/>
          </a:bodyPr>
          <a:lstStyle/>
          <a:p>
            <a:pPr algn="l">
              <a:lnSpc>
                <a:spcPct val="100000"/>
              </a:lnSpc>
            </a:pPr>
            <a:r>
              <a:rPr sz="1600" b="0" i="0">
                <a:solidFill>
                  <a:srgbClr val="F7F2E8"/>
                </a:solidFill>
                <a:latin typeface="Segoe UI Semibold"/>
              </a:rPr>
              <a:t>Caminos reales del usuario</a:t>
            </a:r>
          </a:p>
        </p:txBody>
      </p:sp>
      <p:sp>
        <p:nvSpPr>
          <p:cNvPr id="11" name="TextBox 10"/>
          <p:cNvSpPr txBox="1"/>
          <p:nvPr/>
        </p:nvSpPr>
        <p:spPr>
          <a:xfrm>
            <a:off x="694944" y="2657855"/>
            <a:ext cx="5172303" cy="1292352"/>
          </a:xfrm>
          <a:prstGeom prst="rect">
            <a:avLst/>
          </a:prstGeom>
          <a:noFill/>
        </p:spPr>
        <p:txBody>
          <a:bodyPr wrap="square" lIns="45720" rIns="45720" tIns="27432" bIns="27432" anchor="t">
            <a:noAutofit/>
          </a:bodyPr>
          <a:lstStyle/>
          <a:p>
            <a:pPr algn="l">
              <a:lnSpc>
                <a:spcPct val="100000"/>
              </a:lnSpc>
            </a:pPr>
            <a:r>
              <a:rPr sz="1300" b="0" i="0">
                <a:solidFill>
                  <a:srgbClr val="A7B2B0"/>
                </a:solidFill>
                <a:latin typeface="Segoe UI"/>
              </a:rPr>
              <a:t>Instalador, inicio de sesión, Admin, chat, ambos paneles y apertura de archivos en Windows.</a:t>
            </a:r>
          </a:p>
        </p:txBody>
      </p:sp>
      <p:sp>
        <p:nvSpPr>
          <p:cNvPr id="12" name="Rounded Rectangle 11"/>
          <p:cNvSpPr/>
          <p:nvPr/>
        </p:nvSpPr>
        <p:spPr>
          <a:xfrm>
            <a:off x="6196431" y="2084831"/>
            <a:ext cx="5428335" cy="1956816"/>
          </a:xfrm>
          <a:prstGeom prst="roundRect">
            <a:avLst>
              <a:gd name="adj" fmla="val 5607"/>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6361023" y="2212848"/>
            <a:ext cx="502920" cy="45720"/>
          </a:xfrm>
          <a:prstGeom prst="rect">
            <a:avLst/>
          </a:prstGeom>
          <a:solidFill>
            <a:srgbClr val="C984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324447" y="2304287"/>
            <a:ext cx="5172303" cy="353568"/>
          </a:xfrm>
          <a:prstGeom prst="rect">
            <a:avLst/>
          </a:prstGeom>
          <a:noFill/>
        </p:spPr>
        <p:txBody>
          <a:bodyPr wrap="square" lIns="45720" rIns="45720" tIns="27432" bIns="27432" anchor="t">
            <a:noAutofit/>
          </a:bodyPr>
          <a:lstStyle/>
          <a:p>
            <a:pPr algn="l">
              <a:lnSpc>
                <a:spcPct val="100000"/>
              </a:lnSpc>
            </a:pPr>
            <a:r>
              <a:rPr sz="1600" b="0" i="0">
                <a:solidFill>
                  <a:srgbClr val="F7F2E8"/>
                </a:solidFill>
                <a:latin typeface="Segoe UI Semibold"/>
              </a:rPr>
              <a:t>Fidelidad de archivos</a:t>
            </a:r>
          </a:p>
        </p:txBody>
      </p:sp>
      <p:sp>
        <p:nvSpPr>
          <p:cNvPr id="15" name="TextBox 14"/>
          <p:cNvSpPr txBox="1"/>
          <p:nvPr/>
        </p:nvSpPr>
        <p:spPr>
          <a:xfrm>
            <a:off x="6324447" y="2657855"/>
            <a:ext cx="5172303" cy="1292352"/>
          </a:xfrm>
          <a:prstGeom prst="rect">
            <a:avLst/>
          </a:prstGeom>
          <a:noFill/>
        </p:spPr>
        <p:txBody>
          <a:bodyPr wrap="square" lIns="45720" rIns="45720" tIns="27432" bIns="27432" anchor="t">
            <a:noAutofit/>
          </a:bodyPr>
          <a:lstStyle/>
          <a:p>
            <a:pPr algn="l">
              <a:lnSpc>
                <a:spcPct val="100000"/>
              </a:lnSpc>
            </a:pPr>
            <a:r>
              <a:rPr sz="1300" b="0" i="0">
                <a:solidFill>
                  <a:srgbClr val="A7B2B0"/>
                </a:solidFill>
                <a:latin typeface="Segoe UI"/>
              </a:rPr>
              <a:t>Estilos mezclados, geometría y texto renderizado revisados en ciclos de guardar/abrir.</a:t>
            </a:r>
          </a:p>
        </p:txBody>
      </p:sp>
      <p:sp>
        <p:nvSpPr>
          <p:cNvPr id="16" name="Rounded Rectangle 15"/>
          <p:cNvSpPr/>
          <p:nvPr/>
        </p:nvSpPr>
        <p:spPr>
          <a:xfrm>
            <a:off x="566928" y="4242816"/>
            <a:ext cx="5428335" cy="1956816"/>
          </a:xfrm>
          <a:prstGeom prst="roundRect">
            <a:avLst>
              <a:gd name="adj" fmla="val 5607"/>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31520" y="4370832"/>
            <a:ext cx="502920" cy="45720"/>
          </a:xfrm>
          <a:prstGeom prst="rect">
            <a:avLst/>
          </a:prstGeom>
          <a:solidFill>
            <a:srgbClr val="E2B4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694944" y="4462272"/>
            <a:ext cx="5172303" cy="353568"/>
          </a:xfrm>
          <a:prstGeom prst="rect">
            <a:avLst/>
          </a:prstGeom>
          <a:noFill/>
        </p:spPr>
        <p:txBody>
          <a:bodyPr wrap="square" lIns="45720" rIns="45720" tIns="27432" bIns="27432" anchor="t">
            <a:noAutofit/>
          </a:bodyPr>
          <a:lstStyle/>
          <a:p>
            <a:pPr algn="l">
              <a:lnSpc>
                <a:spcPct val="100000"/>
              </a:lnSpc>
            </a:pPr>
            <a:r>
              <a:rPr sz="1600" b="0" i="0">
                <a:solidFill>
                  <a:srgbClr val="F7F2E8"/>
                </a:solidFill>
                <a:latin typeface="Segoe UI Semibold"/>
              </a:rPr>
              <a:t>Fronteras del runtime</a:t>
            </a:r>
          </a:p>
        </p:txBody>
      </p:sp>
      <p:sp>
        <p:nvSpPr>
          <p:cNvPr id="19" name="TextBox 18"/>
          <p:cNvSpPr txBox="1"/>
          <p:nvPr/>
        </p:nvSpPr>
        <p:spPr>
          <a:xfrm>
            <a:off x="694944" y="4815840"/>
            <a:ext cx="5172303" cy="1292352"/>
          </a:xfrm>
          <a:prstGeom prst="rect">
            <a:avLst/>
          </a:prstGeom>
          <a:noFill/>
        </p:spPr>
        <p:txBody>
          <a:bodyPr wrap="square" lIns="45720" rIns="45720" tIns="27432" bIns="27432" anchor="t">
            <a:noAutofit/>
          </a:bodyPr>
          <a:lstStyle/>
          <a:p>
            <a:pPr algn="l">
              <a:lnSpc>
                <a:spcPct val="100000"/>
              </a:lnSpc>
            </a:pPr>
            <a:r>
              <a:rPr sz="1300" b="0" i="0">
                <a:solidFill>
                  <a:srgbClr val="A7B2B0"/>
                </a:solidFill>
                <a:latin typeface="Segoe UI"/>
              </a:rPr>
              <a:t>Endpoints de MCP configurados, valores predeterminados de agents, mapeos y tipos de identificadores.</a:t>
            </a:r>
          </a:p>
        </p:txBody>
      </p:sp>
      <p:sp>
        <p:nvSpPr>
          <p:cNvPr id="20" name="Rounded Rectangle 19"/>
          <p:cNvSpPr/>
          <p:nvPr/>
        </p:nvSpPr>
        <p:spPr>
          <a:xfrm>
            <a:off x="6196431" y="4242816"/>
            <a:ext cx="5428335" cy="1956816"/>
          </a:xfrm>
          <a:prstGeom prst="roundRect">
            <a:avLst>
              <a:gd name="adj" fmla="val 5607"/>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ectangle 20"/>
          <p:cNvSpPr/>
          <p:nvPr/>
        </p:nvSpPr>
        <p:spPr>
          <a:xfrm>
            <a:off x="6361023" y="4370832"/>
            <a:ext cx="502920" cy="45720"/>
          </a:xfrm>
          <a:prstGeom prst="rect">
            <a:avLst/>
          </a:prstGeom>
          <a:solidFill>
            <a:srgbClr val="46D2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6324447" y="4462272"/>
            <a:ext cx="5172303" cy="353568"/>
          </a:xfrm>
          <a:prstGeom prst="rect">
            <a:avLst/>
          </a:prstGeom>
          <a:noFill/>
        </p:spPr>
        <p:txBody>
          <a:bodyPr wrap="square" lIns="45720" rIns="45720" tIns="27432" bIns="27432" anchor="t">
            <a:noAutofit/>
          </a:bodyPr>
          <a:lstStyle/>
          <a:p>
            <a:pPr algn="l">
              <a:lnSpc>
                <a:spcPct val="100000"/>
              </a:lnSpc>
            </a:pPr>
            <a:r>
              <a:rPr sz="1600" b="0" i="0">
                <a:solidFill>
                  <a:srgbClr val="F7F2E8"/>
                </a:solidFill>
                <a:latin typeface="Segoe UI Semibold"/>
              </a:rPr>
              <a:t>Límites explícitos</a:t>
            </a:r>
          </a:p>
        </p:txBody>
      </p:sp>
      <p:sp>
        <p:nvSpPr>
          <p:cNvPr id="23" name="TextBox 22"/>
          <p:cNvSpPr txBox="1"/>
          <p:nvPr/>
        </p:nvSpPr>
        <p:spPr>
          <a:xfrm>
            <a:off x="6324447" y="4815840"/>
            <a:ext cx="5172303" cy="1292352"/>
          </a:xfrm>
          <a:prstGeom prst="rect">
            <a:avLst/>
          </a:prstGeom>
          <a:noFill/>
        </p:spPr>
        <p:txBody>
          <a:bodyPr wrap="square" lIns="45720" rIns="45720" tIns="27432" bIns="27432" anchor="t">
            <a:noAutofit/>
          </a:bodyPr>
          <a:lstStyle/>
          <a:p>
            <a:pPr algn="l">
              <a:lnSpc>
                <a:spcPct val="100000"/>
              </a:lnSpc>
            </a:pPr>
            <a:r>
              <a:rPr sz="1300" b="0" i="0">
                <a:solidFill>
                  <a:srgbClr val="A7B2B0"/>
                </a:solidFill>
                <a:latin typeface="Segoe UI"/>
              </a:rPr>
              <a:t>El error del proveedor y el arranque nativo bloqueado se quedan visibles en el veredicto.</a:t>
            </a:r>
          </a:p>
        </p:txBody>
      </p:sp>
      <p:cxnSp>
        <p:nvCxnSpPr>
          <p:cNvPr id="24" name="Connector 23"/>
          <p:cNvCxnSpPr/>
          <p:nvPr/>
        </p:nvCxnSpPr>
        <p:spPr>
          <a:xfrm>
            <a:off x="566928" y="6373368"/>
            <a:ext cx="11057839" cy="0"/>
          </a:xfrm>
          <a:prstGeom prst="line">
            <a:avLst/>
          </a:prstGeom>
          <a:ln w="7620">
            <a:solidFill>
              <a:srgbClr val="2A3A40"/>
            </a:solidFill>
          </a:ln>
        </p:spPr>
        <p:style>
          <a:lnRef idx="2">
            <a:schemeClr val="accent1"/>
          </a:lnRef>
          <a:fillRef idx="0">
            <a:schemeClr val="accent1"/>
          </a:fillRef>
          <a:effectRef idx="1">
            <a:schemeClr val="accent1"/>
          </a:effectRef>
          <a:fontRef idx="minor">
            <a:schemeClr val="tx1"/>
          </a:fontRef>
        </p:style>
      </p:cxnSp>
      <p:sp>
        <p:nvSpPr>
          <p:cNvPr id="25" name="TextBox 24"/>
          <p:cNvSpPr txBox="1"/>
          <p:nvPr/>
        </p:nvSpPr>
        <p:spPr>
          <a:xfrm>
            <a:off x="566928" y="6419088"/>
            <a:ext cx="6858000" cy="274320"/>
          </a:xfrm>
          <a:prstGeom prst="rect">
            <a:avLst/>
          </a:prstGeom>
          <a:noFill/>
        </p:spPr>
        <p:txBody>
          <a:bodyPr wrap="square" lIns="45720" rIns="45720" tIns="27432" bIns="27432" anchor="t">
            <a:noAutofit/>
          </a:bodyPr>
          <a:lstStyle/>
          <a:p>
            <a:pPr algn="l">
              <a:lnSpc>
                <a:spcPct val="100000"/>
              </a:lnSpc>
            </a:pPr>
            <a:r>
              <a:rPr sz="850" b="0" i="0" spc="120">
                <a:solidFill>
                  <a:srgbClr val="A7B2B0"/>
                </a:solidFill>
                <a:latin typeface="Segoe UI Semibold"/>
              </a:rPr>
              <a:t>TLAMATINI  ·  III · DÓNDE TRABAJAS CON ELLA</a:t>
            </a:r>
          </a:p>
        </p:txBody>
      </p:sp>
      <p:sp>
        <p:nvSpPr>
          <p:cNvPr id="26" name="TextBox 25"/>
          <p:cNvSpPr txBox="1"/>
          <p:nvPr/>
        </p:nvSpPr>
        <p:spPr>
          <a:xfrm>
            <a:off x="8698687" y="6419088"/>
            <a:ext cx="2926080" cy="274320"/>
          </a:xfrm>
          <a:prstGeom prst="rect">
            <a:avLst/>
          </a:prstGeom>
          <a:noFill/>
        </p:spPr>
        <p:txBody>
          <a:bodyPr wrap="square" lIns="45720" rIns="45720" tIns="27432" bIns="27432" anchor="t">
            <a:noAutofit/>
          </a:bodyPr>
          <a:lstStyle/>
          <a:p>
            <a:pPr algn="r">
              <a:lnSpc>
                <a:spcPct val="100000"/>
              </a:lnSpc>
            </a:pPr>
            <a:r>
              <a:rPr sz="850" b="0" i="0" spc="100">
                <a:solidFill>
                  <a:srgbClr val="A7B2B0"/>
                </a:solidFill>
                <a:latin typeface="Segoe UI Semibold"/>
              </a:rPr>
              <a:t>v1.91.1   ·   55</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content.png"/>
          <p:cNvPicPr>
            <a:picLocks noChangeAspect="1"/>
          </p:cNvPicPr>
          <p:nvPr/>
        </p:nvPicPr>
        <p:blipFill>
          <a:blip r:embed="rId2"/>
          <a:stretch>
            <a:fillRect/>
          </a:stretch>
        </p:blipFill>
        <p:spPr>
          <a:xfrm>
            <a:off x="0" y="0"/>
            <a:ext cx="12191695" cy="6858000"/>
          </a:xfrm>
          <a:prstGeom prst="rect">
            <a:avLst/>
          </a:prstGeom>
        </p:spPr>
      </p:pic>
      <p:sp>
        <p:nvSpPr>
          <p:cNvPr id="3" name="Diamond 2"/>
          <p:cNvSpPr/>
          <p:nvPr/>
        </p:nvSpPr>
        <p:spPr>
          <a:xfrm>
            <a:off x="566928" y="457200"/>
            <a:ext cx="100584" cy="100584"/>
          </a:xfrm>
          <a:prstGeom prst="diamond">
            <a:avLst/>
          </a:prstGeom>
          <a:solidFill>
            <a:srgbClr val="E2B4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49808" y="365760"/>
            <a:ext cx="8229600" cy="292608"/>
          </a:xfrm>
          <a:prstGeom prst="rect">
            <a:avLst/>
          </a:prstGeom>
          <a:noFill/>
        </p:spPr>
        <p:txBody>
          <a:bodyPr wrap="square" lIns="45720" rIns="45720" tIns="27432" bIns="27432" anchor="t">
            <a:noAutofit/>
          </a:bodyPr>
          <a:lstStyle/>
          <a:p>
            <a:pPr algn="l">
              <a:lnSpc>
                <a:spcPct val="100000"/>
              </a:lnSpc>
            </a:pPr>
            <a:r>
              <a:rPr sz="1100" b="0" i="0" spc="240">
                <a:solidFill>
                  <a:srgbClr val="C98457"/>
                </a:solidFill>
                <a:latin typeface="Segoe UI Semibold"/>
              </a:rPr>
              <a:t>OUTPUT DE LA EJECUCIÓN</a:t>
            </a:r>
          </a:p>
        </p:txBody>
      </p:sp>
      <p:sp>
        <p:nvSpPr>
          <p:cNvPr id="5" name="TextBox 4"/>
          <p:cNvSpPr txBox="1"/>
          <p:nvPr/>
        </p:nvSpPr>
        <p:spPr>
          <a:xfrm>
            <a:off x="539496" y="676656"/>
            <a:ext cx="11057839" cy="658368"/>
          </a:xfrm>
          <a:prstGeom prst="rect">
            <a:avLst/>
          </a:prstGeom>
          <a:noFill/>
        </p:spPr>
        <p:txBody>
          <a:bodyPr wrap="square" lIns="45720" rIns="45720" tIns="27432" bIns="27432" anchor="t">
            <a:noAutofit/>
          </a:bodyPr>
          <a:lstStyle/>
          <a:p>
            <a:pPr algn="l">
              <a:lnSpc>
                <a:spcPct val="100000"/>
              </a:lnSpc>
            </a:pPr>
            <a:r>
              <a:rPr sz="3100" b="0" i="0">
                <a:solidFill>
                  <a:srgbClr val="F7F2E8"/>
                </a:solidFill>
                <a:latin typeface="Palatino Linotype"/>
              </a:rPr>
              <a:t>Más espacio para el canvas o para el log</a:t>
            </a:r>
          </a:p>
        </p:txBody>
      </p:sp>
      <p:sp>
        <p:nvSpPr>
          <p:cNvPr id="6" name="Rectangle 5"/>
          <p:cNvSpPr/>
          <p:nvPr/>
        </p:nvSpPr>
        <p:spPr>
          <a:xfrm>
            <a:off x="566928" y="1344168"/>
            <a:ext cx="822960" cy="36576"/>
          </a:xfrm>
          <a:prstGeom prst="rect">
            <a:avLst/>
          </a:prstGeom>
          <a:solidFill>
            <a:srgbClr val="E2B4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566928" y="1444752"/>
            <a:ext cx="10692079" cy="585216"/>
          </a:xfrm>
          <a:prstGeom prst="rect">
            <a:avLst/>
          </a:prstGeom>
          <a:noFill/>
        </p:spPr>
        <p:txBody>
          <a:bodyPr wrap="square" lIns="45720" rIns="45720" tIns="27432" bIns="27432" anchor="t">
            <a:noAutofit/>
          </a:bodyPr>
          <a:lstStyle/>
          <a:p>
            <a:pPr algn="l">
              <a:lnSpc>
                <a:spcPct val="100000"/>
              </a:lnSpc>
            </a:pPr>
            <a:r>
              <a:rPr sz="1450" b="0" i="0">
                <a:solidFill>
                  <a:srgbClr val="A7B2B0"/>
                </a:solidFill>
                <a:latin typeface="Segoe UI Semilight"/>
              </a:rPr>
              <a:t>Arrastra el divisor horizontal sobre Output de la ejecución para darle del 5% al 95% de la altura disponible del panel.</a:t>
            </a:r>
          </a:p>
        </p:txBody>
      </p:sp>
      <p:sp>
        <p:nvSpPr>
          <p:cNvPr id="8" name="Rounded Rectangle 7"/>
          <p:cNvSpPr/>
          <p:nvPr/>
        </p:nvSpPr>
        <p:spPr>
          <a:xfrm>
            <a:off x="566928" y="2084831"/>
            <a:ext cx="11057839" cy="932688"/>
          </a:xfrm>
          <a:prstGeom prst="roundRect">
            <a:avLst>
              <a:gd name="adj" fmla="val 9803"/>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Diamond 8"/>
          <p:cNvSpPr/>
          <p:nvPr/>
        </p:nvSpPr>
        <p:spPr>
          <a:xfrm>
            <a:off x="768096" y="2487168"/>
            <a:ext cx="128016" cy="128016"/>
          </a:xfrm>
          <a:prstGeom prst="diamond">
            <a:avLst/>
          </a:prstGeom>
          <a:solidFill>
            <a:srgbClr val="3BBE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1024128" y="2139696"/>
            <a:ext cx="2651760" cy="822960"/>
          </a:xfrm>
          <a:prstGeom prst="rect">
            <a:avLst/>
          </a:prstGeom>
          <a:noFill/>
        </p:spPr>
        <p:txBody>
          <a:bodyPr wrap="square" lIns="45720" rIns="45720" tIns="27432" bIns="27432" anchor="ctr">
            <a:noAutofit/>
          </a:bodyPr>
          <a:lstStyle/>
          <a:p>
            <a:pPr algn="l">
              <a:lnSpc>
                <a:spcPct val="100000"/>
              </a:lnSpc>
            </a:pPr>
            <a:r>
              <a:rPr sz="1600" b="0" i="0">
                <a:solidFill>
                  <a:srgbClr val="F7F2E8"/>
                </a:solidFill>
                <a:latin typeface="Segoe UI Semibold"/>
              </a:rPr>
              <a:t>Del 5% al 95%</a:t>
            </a:r>
          </a:p>
        </p:txBody>
      </p:sp>
      <p:sp>
        <p:nvSpPr>
          <p:cNvPr id="11" name="TextBox 10"/>
          <p:cNvSpPr txBox="1"/>
          <p:nvPr/>
        </p:nvSpPr>
        <p:spPr>
          <a:xfrm>
            <a:off x="3767328" y="2139696"/>
            <a:ext cx="7720279" cy="822960"/>
          </a:xfrm>
          <a:prstGeom prst="rect">
            <a:avLst/>
          </a:prstGeom>
          <a:noFill/>
        </p:spPr>
        <p:txBody>
          <a:bodyPr wrap="square" lIns="45720" rIns="45720" tIns="27432" bIns="27432" anchor="ctr">
            <a:noAutofit/>
          </a:bodyPr>
          <a:lstStyle/>
          <a:p>
            <a:pPr algn="l">
              <a:lnSpc>
                <a:spcPct val="100000"/>
              </a:lnSpc>
            </a:pPr>
            <a:r>
              <a:rPr sz="1400" b="0" i="0">
                <a:solidFill>
                  <a:srgbClr val="A7B2B0"/>
                </a:solidFill>
                <a:latin typeface="Segoe UI"/>
              </a:rPr>
              <a:t>Parte de la altura del canvas/output, sin encabezados, status ni divisor. Parte inicial: 20%.</a:t>
            </a:r>
          </a:p>
        </p:txBody>
      </p:sp>
      <p:sp>
        <p:nvSpPr>
          <p:cNvPr id="12" name="Rounded Rectangle 11"/>
          <p:cNvSpPr/>
          <p:nvPr/>
        </p:nvSpPr>
        <p:spPr>
          <a:xfrm>
            <a:off x="566928" y="3145536"/>
            <a:ext cx="11057839" cy="932688"/>
          </a:xfrm>
          <a:prstGeom prst="roundRect">
            <a:avLst>
              <a:gd name="adj" fmla="val 9803"/>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Diamond 12"/>
          <p:cNvSpPr/>
          <p:nvPr/>
        </p:nvSpPr>
        <p:spPr>
          <a:xfrm>
            <a:off x="768096" y="3547872"/>
            <a:ext cx="128016" cy="128016"/>
          </a:xfrm>
          <a:prstGeom prst="diamond">
            <a:avLst/>
          </a:prstGeom>
          <a:solidFill>
            <a:srgbClr val="C984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1024128" y="3200400"/>
            <a:ext cx="2651760" cy="822960"/>
          </a:xfrm>
          <a:prstGeom prst="rect">
            <a:avLst/>
          </a:prstGeom>
          <a:noFill/>
        </p:spPr>
        <p:txBody>
          <a:bodyPr wrap="square" lIns="45720" rIns="45720" tIns="27432" bIns="27432" anchor="ctr">
            <a:noAutofit/>
          </a:bodyPr>
          <a:lstStyle/>
          <a:p>
            <a:pPr algn="l">
              <a:lnSpc>
                <a:spcPct val="100000"/>
              </a:lnSpc>
            </a:pPr>
            <a:r>
              <a:rPr sz="1600" b="0" i="0">
                <a:solidFill>
                  <a:srgbClr val="F7F2E8"/>
                </a:solidFill>
                <a:latin typeface="Segoe UI Semibold"/>
              </a:rPr>
              <a:t>Contenido estable</a:t>
            </a:r>
          </a:p>
        </p:txBody>
      </p:sp>
      <p:sp>
        <p:nvSpPr>
          <p:cNvPr id="15" name="TextBox 14"/>
          <p:cNvSpPr txBox="1"/>
          <p:nvPr/>
        </p:nvSpPr>
        <p:spPr>
          <a:xfrm>
            <a:off x="3767328" y="3200400"/>
            <a:ext cx="7720279" cy="822960"/>
          </a:xfrm>
          <a:prstGeom prst="rect">
            <a:avLst/>
          </a:prstGeom>
          <a:noFill/>
        </p:spPr>
        <p:txBody>
          <a:bodyPr wrap="square" lIns="45720" rIns="45720" tIns="27432" bIns="27432" anchor="ctr">
            <a:noAutofit/>
          </a:bodyPr>
          <a:lstStyle/>
          <a:p>
            <a:pPr algn="l">
              <a:lnSpc>
                <a:spcPct val="100000"/>
              </a:lnSpc>
            </a:pPr>
            <a:r>
              <a:rPr sz="1400" b="0" i="0">
                <a:solidFill>
                  <a:srgbClr val="A7B2B0"/>
                </a:solidFill>
                <a:latin typeface="Segoe UI"/>
              </a:rPr>
              <a:t>Desplazamiento independiente. El zoom del canvas y los tamaños de texto no cambian.</a:t>
            </a:r>
          </a:p>
        </p:txBody>
      </p:sp>
      <p:sp>
        <p:nvSpPr>
          <p:cNvPr id="16" name="Rounded Rectangle 15"/>
          <p:cNvSpPr/>
          <p:nvPr/>
        </p:nvSpPr>
        <p:spPr>
          <a:xfrm>
            <a:off x="566928" y="4206240"/>
            <a:ext cx="11057839" cy="932688"/>
          </a:xfrm>
          <a:prstGeom prst="roundRect">
            <a:avLst>
              <a:gd name="adj" fmla="val 9803"/>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Diamond 16"/>
          <p:cNvSpPr/>
          <p:nvPr/>
        </p:nvSpPr>
        <p:spPr>
          <a:xfrm>
            <a:off x="768096" y="4608575"/>
            <a:ext cx="128016" cy="128016"/>
          </a:xfrm>
          <a:prstGeom prst="diamond">
            <a:avLst/>
          </a:prstGeom>
          <a:solidFill>
            <a:srgbClr val="E2B4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1024128" y="4261103"/>
            <a:ext cx="2651760" cy="822960"/>
          </a:xfrm>
          <a:prstGeom prst="rect">
            <a:avLst/>
          </a:prstGeom>
          <a:noFill/>
        </p:spPr>
        <p:txBody>
          <a:bodyPr wrap="square" lIns="45720" rIns="45720" tIns="27432" bIns="27432" anchor="ctr">
            <a:noAutofit/>
          </a:bodyPr>
          <a:lstStyle/>
          <a:p>
            <a:pPr algn="l">
              <a:lnSpc>
                <a:spcPct val="100000"/>
              </a:lnSpc>
            </a:pPr>
            <a:r>
              <a:rPr sz="1600" b="0" i="0">
                <a:solidFill>
                  <a:srgbClr val="F7F2E8"/>
                </a:solidFill>
                <a:latin typeface="Segoe UI Semibold"/>
              </a:rPr>
              <a:t>Teclado</a:t>
            </a:r>
          </a:p>
        </p:txBody>
      </p:sp>
      <p:sp>
        <p:nvSpPr>
          <p:cNvPr id="19" name="TextBox 18"/>
          <p:cNvSpPr txBox="1"/>
          <p:nvPr/>
        </p:nvSpPr>
        <p:spPr>
          <a:xfrm>
            <a:off x="3767328" y="4261103"/>
            <a:ext cx="7720279" cy="822960"/>
          </a:xfrm>
          <a:prstGeom prst="rect">
            <a:avLst/>
          </a:prstGeom>
          <a:noFill/>
        </p:spPr>
        <p:txBody>
          <a:bodyPr wrap="square" lIns="45720" rIns="45720" tIns="27432" bIns="27432" anchor="ctr">
            <a:noAutofit/>
          </a:bodyPr>
          <a:lstStyle/>
          <a:p>
            <a:pPr algn="l">
              <a:lnSpc>
                <a:spcPct val="100000"/>
              </a:lnSpc>
            </a:pPr>
            <a:r>
              <a:rPr sz="1400" b="0" i="0">
                <a:solidFill>
                  <a:srgbClr val="A7B2B0"/>
                </a:solidFill>
                <a:latin typeface="Segoe UI"/>
              </a:rPr>
              <a:t>Arriba/Abajo: 1 punto; Shift: 5. Inicio: 5%; Fin: 95%. Escape termina el arrastre.</a:t>
            </a:r>
          </a:p>
        </p:txBody>
      </p:sp>
      <p:sp>
        <p:nvSpPr>
          <p:cNvPr id="20" name="Rounded Rectangle 19"/>
          <p:cNvSpPr/>
          <p:nvPr/>
        </p:nvSpPr>
        <p:spPr>
          <a:xfrm>
            <a:off x="566928" y="5266944"/>
            <a:ext cx="11057839" cy="932688"/>
          </a:xfrm>
          <a:prstGeom prst="roundRect">
            <a:avLst>
              <a:gd name="adj" fmla="val 9803"/>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Diamond 20"/>
          <p:cNvSpPr/>
          <p:nvPr/>
        </p:nvSpPr>
        <p:spPr>
          <a:xfrm>
            <a:off x="768096" y="5669279"/>
            <a:ext cx="128016" cy="128016"/>
          </a:xfrm>
          <a:prstGeom prst="diamond">
            <a:avLst/>
          </a:prstGeom>
          <a:solidFill>
            <a:srgbClr val="46D2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1024128" y="5321807"/>
            <a:ext cx="2651760" cy="822960"/>
          </a:xfrm>
          <a:prstGeom prst="rect">
            <a:avLst/>
          </a:prstGeom>
          <a:noFill/>
        </p:spPr>
        <p:txBody>
          <a:bodyPr wrap="square" lIns="45720" rIns="45720" tIns="27432" bIns="27432" anchor="ctr">
            <a:noAutofit/>
          </a:bodyPr>
          <a:lstStyle/>
          <a:p>
            <a:pPr algn="l">
              <a:lnSpc>
                <a:spcPct val="100000"/>
              </a:lnSpc>
            </a:pPr>
            <a:r>
              <a:rPr sz="1600" b="0" i="0">
                <a:solidFill>
                  <a:srgbClr val="F7F2E8"/>
                </a:solidFill>
                <a:latin typeface="Segoe UI Semibold"/>
              </a:rPr>
              <a:t>Distribución recordada</a:t>
            </a:r>
          </a:p>
        </p:txBody>
      </p:sp>
      <p:sp>
        <p:nvSpPr>
          <p:cNvPr id="23" name="TextBox 22"/>
          <p:cNvSpPr txBox="1"/>
          <p:nvPr/>
        </p:nvSpPr>
        <p:spPr>
          <a:xfrm>
            <a:off x="3767328" y="5321807"/>
            <a:ext cx="7720279" cy="822960"/>
          </a:xfrm>
          <a:prstGeom prst="rect">
            <a:avLst/>
          </a:prstGeom>
          <a:noFill/>
        </p:spPr>
        <p:txBody>
          <a:bodyPr wrap="square" lIns="45720" rIns="45720" tIns="27432" bIns="27432" anchor="ctr">
            <a:noAutofit/>
          </a:bodyPr>
          <a:lstStyle/>
          <a:p>
            <a:pPr algn="l">
              <a:lnSpc>
                <a:spcPct val="100000"/>
              </a:lnSpc>
            </a:pPr>
            <a:r>
              <a:rPr sz="1400" b="0" i="0">
                <a:solidFill>
                  <a:srgbClr val="A7B2B0"/>
                </a:solidFill>
                <a:latin typeface="Segoe UI"/>
              </a:rPr>
              <a:t>Colapsar/reabrir y cambiar el tamaño de la ventana conservan la proporción. Se guarda por usuario, fuera de los archivos de flow y de Deshacer/Rehacer.</a:t>
            </a:r>
          </a:p>
        </p:txBody>
      </p:sp>
      <p:cxnSp>
        <p:nvCxnSpPr>
          <p:cNvPr id="24" name="Connector 23"/>
          <p:cNvCxnSpPr/>
          <p:nvPr/>
        </p:nvCxnSpPr>
        <p:spPr>
          <a:xfrm>
            <a:off x="566928" y="6373368"/>
            <a:ext cx="11057839" cy="0"/>
          </a:xfrm>
          <a:prstGeom prst="line">
            <a:avLst/>
          </a:prstGeom>
          <a:ln w="7620">
            <a:solidFill>
              <a:srgbClr val="2A3A40"/>
            </a:solidFill>
          </a:ln>
        </p:spPr>
        <p:style>
          <a:lnRef idx="2">
            <a:schemeClr val="accent1"/>
          </a:lnRef>
          <a:fillRef idx="0">
            <a:schemeClr val="accent1"/>
          </a:fillRef>
          <a:effectRef idx="1">
            <a:schemeClr val="accent1"/>
          </a:effectRef>
          <a:fontRef idx="minor">
            <a:schemeClr val="tx1"/>
          </a:fontRef>
        </p:style>
      </p:cxnSp>
      <p:sp>
        <p:nvSpPr>
          <p:cNvPr id="25" name="TextBox 24"/>
          <p:cNvSpPr txBox="1"/>
          <p:nvPr/>
        </p:nvSpPr>
        <p:spPr>
          <a:xfrm>
            <a:off x="566928" y="6419088"/>
            <a:ext cx="6858000" cy="274320"/>
          </a:xfrm>
          <a:prstGeom prst="rect">
            <a:avLst/>
          </a:prstGeom>
          <a:noFill/>
        </p:spPr>
        <p:txBody>
          <a:bodyPr wrap="square" lIns="45720" rIns="45720" tIns="27432" bIns="27432" anchor="t">
            <a:noAutofit/>
          </a:bodyPr>
          <a:lstStyle/>
          <a:p>
            <a:pPr algn="l">
              <a:lnSpc>
                <a:spcPct val="100000"/>
              </a:lnSpc>
            </a:pPr>
            <a:r>
              <a:rPr sz="850" b="0" i="0" spc="120">
                <a:solidFill>
                  <a:srgbClr val="A7B2B0"/>
                </a:solidFill>
                <a:latin typeface="Segoe UI Semibold"/>
              </a:rPr>
              <a:t>TLAMATINI  ·  III · DÓNDE TRABAJAS CON ELLA</a:t>
            </a:r>
          </a:p>
        </p:txBody>
      </p:sp>
      <p:sp>
        <p:nvSpPr>
          <p:cNvPr id="26" name="TextBox 25"/>
          <p:cNvSpPr txBox="1"/>
          <p:nvPr/>
        </p:nvSpPr>
        <p:spPr>
          <a:xfrm>
            <a:off x="8698687" y="6419088"/>
            <a:ext cx="2926080" cy="274320"/>
          </a:xfrm>
          <a:prstGeom prst="rect">
            <a:avLst/>
          </a:prstGeom>
          <a:noFill/>
        </p:spPr>
        <p:txBody>
          <a:bodyPr wrap="square" lIns="45720" rIns="45720" tIns="27432" bIns="27432" anchor="t">
            <a:noAutofit/>
          </a:bodyPr>
          <a:lstStyle/>
          <a:p>
            <a:pPr algn="r">
              <a:lnSpc>
                <a:spcPct val="100000"/>
              </a:lnSpc>
            </a:pPr>
            <a:r>
              <a:rPr sz="850" b="0" i="0" spc="100">
                <a:solidFill>
                  <a:srgbClr val="A7B2B0"/>
                </a:solidFill>
                <a:latin typeface="Segoe UI Semibold"/>
              </a:rPr>
              <a:t>v1.91.1   ·   56</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content.png"/>
          <p:cNvPicPr>
            <a:picLocks noChangeAspect="1"/>
          </p:cNvPicPr>
          <p:nvPr/>
        </p:nvPicPr>
        <p:blipFill>
          <a:blip r:embed="rId2"/>
          <a:stretch>
            <a:fillRect/>
          </a:stretch>
        </p:blipFill>
        <p:spPr>
          <a:xfrm>
            <a:off x="0" y="0"/>
            <a:ext cx="12191695" cy="6858000"/>
          </a:xfrm>
          <a:prstGeom prst="rect">
            <a:avLst/>
          </a:prstGeom>
        </p:spPr>
      </p:pic>
      <p:sp>
        <p:nvSpPr>
          <p:cNvPr id="3" name="Diamond 2"/>
          <p:cNvSpPr/>
          <p:nvPr/>
        </p:nvSpPr>
        <p:spPr>
          <a:xfrm>
            <a:off x="566928" y="457200"/>
            <a:ext cx="100584" cy="100584"/>
          </a:xfrm>
          <a:prstGeom prst="diamond">
            <a:avLst/>
          </a:prstGeom>
          <a:solidFill>
            <a:srgbClr val="E2B4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49808" y="365760"/>
            <a:ext cx="8229600" cy="292608"/>
          </a:xfrm>
          <a:prstGeom prst="rect">
            <a:avLst/>
          </a:prstGeom>
          <a:noFill/>
        </p:spPr>
        <p:txBody>
          <a:bodyPr wrap="square" lIns="45720" rIns="45720" tIns="27432" bIns="27432" anchor="t">
            <a:noAutofit/>
          </a:bodyPr>
          <a:lstStyle/>
          <a:p>
            <a:pPr algn="l">
              <a:lnSpc>
                <a:spcPct val="100000"/>
              </a:lnSpc>
            </a:pPr>
            <a:r>
              <a:rPr sz="1100" b="0" i="0" spc="240">
                <a:solidFill>
                  <a:srgbClr val="C98457"/>
                </a:solidFill>
                <a:latin typeface="Segoe UI Semibold"/>
              </a:rPr>
              <a:t>CATÁLOGO DE PROMPTS</a:t>
            </a:r>
          </a:p>
        </p:txBody>
      </p:sp>
      <p:sp>
        <p:nvSpPr>
          <p:cNvPr id="5" name="TextBox 4"/>
          <p:cNvSpPr txBox="1"/>
          <p:nvPr/>
        </p:nvSpPr>
        <p:spPr>
          <a:xfrm>
            <a:off x="539496" y="676656"/>
            <a:ext cx="11057839" cy="658368"/>
          </a:xfrm>
          <a:prstGeom prst="rect">
            <a:avLst/>
          </a:prstGeom>
          <a:noFill/>
        </p:spPr>
        <p:txBody>
          <a:bodyPr wrap="square" lIns="45720" rIns="45720" tIns="27432" bIns="27432" anchor="t">
            <a:noAutofit/>
          </a:bodyPr>
          <a:lstStyle/>
          <a:p>
            <a:pPr algn="l">
              <a:lnSpc>
                <a:spcPct val="100000"/>
              </a:lnSpc>
            </a:pPr>
            <a:r>
              <a:rPr sz="3100" b="0" i="0">
                <a:solidFill>
                  <a:srgbClr val="F7F2E8"/>
                </a:solidFill>
                <a:latin typeface="Palatino Linotype"/>
              </a:rPr>
              <a:t>Prompts listos para usar, agrupados por propósito</a:t>
            </a:r>
          </a:p>
        </p:txBody>
      </p:sp>
      <p:sp>
        <p:nvSpPr>
          <p:cNvPr id="6" name="Rectangle 5"/>
          <p:cNvSpPr/>
          <p:nvPr/>
        </p:nvSpPr>
        <p:spPr>
          <a:xfrm>
            <a:off x="566928" y="1344168"/>
            <a:ext cx="822960" cy="36576"/>
          </a:xfrm>
          <a:prstGeom prst="rect">
            <a:avLst/>
          </a:prstGeom>
          <a:solidFill>
            <a:srgbClr val="E2B4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566928" y="1444752"/>
            <a:ext cx="10692079" cy="585216"/>
          </a:xfrm>
          <a:prstGeom prst="rect">
            <a:avLst/>
          </a:prstGeom>
          <a:noFill/>
        </p:spPr>
        <p:txBody>
          <a:bodyPr wrap="square" lIns="45720" rIns="45720" tIns="27432" bIns="27432" anchor="t">
            <a:noAutofit/>
          </a:bodyPr>
          <a:lstStyle/>
          <a:p>
            <a:pPr algn="l">
              <a:lnSpc>
                <a:spcPct val="100000"/>
              </a:lnSpc>
            </a:pPr>
            <a:r>
              <a:rPr sz="1450" b="0" i="0">
                <a:solidFill>
                  <a:srgbClr val="A7B2B0"/>
                </a:solidFill>
                <a:latin typeface="Segoe UI Semilight"/>
              </a:rPr>
              <a:t>El Catálogo de prompts se abre con 16 secciones; cada una empieza con un asistente guiado Paso a paso y crece de lo simple a lo avanzado.</a:t>
            </a:r>
          </a:p>
        </p:txBody>
      </p:sp>
      <p:sp>
        <p:nvSpPr>
          <p:cNvPr id="8" name="Rounded Rectangle 7"/>
          <p:cNvSpPr/>
          <p:nvPr/>
        </p:nvSpPr>
        <p:spPr>
          <a:xfrm>
            <a:off x="566928" y="2084831"/>
            <a:ext cx="5212080" cy="932688"/>
          </a:xfrm>
          <a:prstGeom prst="roundRect">
            <a:avLst>
              <a:gd name="adj" fmla="val 9803"/>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Diamond 8"/>
          <p:cNvSpPr/>
          <p:nvPr/>
        </p:nvSpPr>
        <p:spPr>
          <a:xfrm>
            <a:off x="768096" y="2487168"/>
            <a:ext cx="128016" cy="128016"/>
          </a:xfrm>
          <a:prstGeom prst="diamond">
            <a:avLst/>
          </a:prstGeom>
          <a:solidFill>
            <a:srgbClr val="3BBE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1024128" y="2139696"/>
            <a:ext cx="1554480" cy="822960"/>
          </a:xfrm>
          <a:prstGeom prst="rect">
            <a:avLst/>
          </a:prstGeom>
          <a:noFill/>
        </p:spPr>
        <p:txBody>
          <a:bodyPr wrap="square" lIns="45720" rIns="45720" tIns="27432" bIns="27432" anchor="ctr">
            <a:noAutofit/>
          </a:bodyPr>
          <a:lstStyle/>
          <a:p>
            <a:pPr algn="l">
              <a:lnSpc>
                <a:spcPct val="100000"/>
              </a:lnSpc>
            </a:pPr>
            <a:r>
              <a:rPr sz="1600" b="0" i="0">
                <a:solidFill>
                  <a:srgbClr val="F7F2E8"/>
                </a:solidFill>
                <a:latin typeface="Segoe UI Semibold"/>
              </a:rPr>
              <a:t>Secciones</a:t>
            </a:r>
          </a:p>
        </p:txBody>
      </p:sp>
      <p:sp>
        <p:nvSpPr>
          <p:cNvPr id="11" name="TextBox 10"/>
          <p:cNvSpPr txBox="1"/>
          <p:nvPr/>
        </p:nvSpPr>
        <p:spPr>
          <a:xfrm>
            <a:off x="2670048" y="2139696"/>
            <a:ext cx="2971800" cy="822960"/>
          </a:xfrm>
          <a:prstGeom prst="rect">
            <a:avLst/>
          </a:prstGeom>
          <a:noFill/>
        </p:spPr>
        <p:txBody>
          <a:bodyPr wrap="square" lIns="45720" rIns="45720" tIns="27432" bIns="27432" anchor="ctr">
            <a:noAutofit/>
          </a:bodyPr>
          <a:lstStyle/>
          <a:p>
            <a:pPr algn="l">
              <a:lnSpc>
                <a:spcPct val="100000"/>
              </a:lnSpc>
            </a:pPr>
            <a:r>
              <a:rPr sz="1400" b="0" i="0">
                <a:solidFill>
                  <a:srgbClr val="A7B2B0"/>
                </a:solidFill>
                <a:latin typeface="Segoe UI"/>
              </a:rPr>
              <a:t>16, empezando con VOICE COMMANDS.</a:t>
            </a:r>
          </a:p>
        </p:txBody>
      </p:sp>
      <p:sp>
        <p:nvSpPr>
          <p:cNvPr id="12" name="Rounded Rectangle 11"/>
          <p:cNvSpPr/>
          <p:nvPr/>
        </p:nvSpPr>
        <p:spPr>
          <a:xfrm>
            <a:off x="566928" y="3145536"/>
            <a:ext cx="5212080" cy="932688"/>
          </a:xfrm>
          <a:prstGeom prst="roundRect">
            <a:avLst>
              <a:gd name="adj" fmla="val 9803"/>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Diamond 12"/>
          <p:cNvSpPr/>
          <p:nvPr/>
        </p:nvSpPr>
        <p:spPr>
          <a:xfrm>
            <a:off x="768096" y="3547872"/>
            <a:ext cx="128016" cy="128016"/>
          </a:xfrm>
          <a:prstGeom prst="diamond">
            <a:avLst/>
          </a:prstGeom>
          <a:solidFill>
            <a:srgbClr val="C984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1024128" y="3200400"/>
            <a:ext cx="1554480" cy="822960"/>
          </a:xfrm>
          <a:prstGeom prst="rect">
            <a:avLst/>
          </a:prstGeom>
          <a:noFill/>
        </p:spPr>
        <p:txBody>
          <a:bodyPr wrap="square" lIns="45720" rIns="45720" tIns="27432" bIns="27432" anchor="ctr">
            <a:noAutofit/>
          </a:bodyPr>
          <a:lstStyle/>
          <a:p>
            <a:pPr algn="l">
              <a:lnSpc>
                <a:spcPct val="100000"/>
              </a:lnSpc>
            </a:pPr>
            <a:r>
              <a:rPr sz="1600" b="0" i="0">
                <a:solidFill>
                  <a:srgbClr val="F7F2E8"/>
                </a:solidFill>
                <a:latin typeface="Segoe UI Semibold"/>
              </a:rPr>
              <a:t>Aperturas</a:t>
            </a:r>
          </a:p>
        </p:txBody>
      </p:sp>
      <p:sp>
        <p:nvSpPr>
          <p:cNvPr id="15" name="TextBox 14"/>
          <p:cNvSpPr txBox="1"/>
          <p:nvPr/>
        </p:nvSpPr>
        <p:spPr>
          <a:xfrm>
            <a:off x="2670048" y="3200400"/>
            <a:ext cx="2971800" cy="822960"/>
          </a:xfrm>
          <a:prstGeom prst="rect">
            <a:avLst/>
          </a:prstGeom>
          <a:noFill/>
        </p:spPr>
        <p:txBody>
          <a:bodyPr wrap="square" lIns="45720" rIns="45720" tIns="27432" bIns="27432" anchor="ctr">
            <a:noAutofit/>
          </a:bodyPr>
          <a:lstStyle/>
          <a:p>
            <a:pPr algn="l">
              <a:lnSpc>
                <a:spcPct val="100000"/>
              </a:lnSpc>
            </a:pPr>
            <a:r>
              <a:rPr sz="1400" b="0" i="0">
                <a:solidFill>
                  <a:srgbClr val="A7B2B0"/>
                </a:solidFill>
                <a:latin typeface="Segoe UI"/>
              </a:rPr>
              <a:t>Cada sección empieza con un asistente guiado Paso a paso.</a:t>
            </a:r>
          </a:p>
        </p:txBody>
      </p:sp>
      <p:sp>
        <p:nvSpPr>
          <p:cNvPr id="16" name="Rounded Rectangle 15"/>
          <p:cNvSpPr/>
          <p:nvPr/>
        </p:nvSpPr>
        <p:spPr>
          <a:xfrm>
            <a:off x="566928" y="4206240"/>
            <a:ext cx="5212080" cy="932688"/>
          </a:xfrm>
          <a:prstGeom prst="roundRect">
            <a:avLst>
              <a:gd name="adj" fmla="val 9803"/>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Diamond 16"/>
          <p:cNvSpPr/>
          <p:nvPr/>
        </p:nvSpPr>
        <p:spPr>
          <a:xfrm>
            <a:off x="768096" y="4608575"/>
            <a:ext cx="128016" cy="128016"/>
          </a:xfrm>
          <a:prstGeom prst="diamond">
            <a:avLst/>
          </a:prstGeom>
          <a:solidFill>
            <a:srgbClr val="E2B4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1024128" y="4261103"/>
            <a:ext cx="1554480" cy="822960"/>
          </a:xfrm>
          <a:prstGeom prst="rect">
            <a:avLst/>
          </a:prstGeom>
          <a:noFill/>
        </p:spPr>
        <p:txBody>
          <a:bodyPr wrap="square" lIns="45720" rIns="45720" tIns="27432" bIns="27432" anchor="ctr">
            <a:noAutofit/>
          </a:bodyPr>
          <a:lstStyle/>
          <a:p>
            <a:pPr algn="l">
              <a:lnSpc>
                <a:spcPct val="100000"/>
              </a:lnSpc>
            </a:pPr>
            <a:r>
              <a:rPr sz="1600" b="0" i="0">
                <a:solidFill>
                  <a:srgbClr val="F7F2E8"/>
                </a:solidFill>
                <a:latin typeface="Segoe UI Semibold"/>
              </a:rPr>
              <a:t>Insignias</a:t>
            </a:r>
          </a:p>
        </p:txBody>
      </p:sp>
      <p:sp>
        <p:nvSpPr>
          <p:cNvPr id="19" name="TextBox 18"/>
          <p:cNvSpPr txBox="1"/>
          <p:nvPr/>
        </p:nvSpPr>
        <p:spPr>
          <a:xfrm>
            <a:off x="2670048" y="4261103"/>
            <a:ext cx="2971800" cy="822960"/>
          </a:xfrm>
          <a:prstGeom prst="rect">
            <a:avLst/>
          </a:prstGeom>
          <a:noFill/>
        </p:spPr>
        <p:txBody>
          <a:bodyPr wrap="square" lIns="45720" rIns="45720" tIns="27432" bIns="27432" anchor="ctr">
            <a:noAutofit/>
          </a:bodyPr>
          <a:lstStyle/>
          <a:p>
            <a:pPr algn="l">
              <a:lnSpc>
                <a:spcPct val="100000"/>
              </a:lnSpc>
            </a:pPr>
            <a:r>
              <a:rPr sz="1400" b="0" i="0">
                <a:solidFill>
                  <a:srgbClr val="A7B2B0"/>
                </a:solidFill>
                <a:latin typeface="Segoe UI"/>
              </a:rPr>
              <a:t>Derivadas del texto del prompt; un clic pone los modos.</a:t>
            </a:r>
          </a:p>
        </p:txBody>
      </p:sp>
      <p:sp>
        <p:nvSpPr>
          <p:cNvPr id="20" name="Rounded Rectangle 19"/>
          <p:cNvSpPr/>
          <p:nvPr/>
        </p:nvSpPr>
        <p:spPr>
          <a:xfrm>
            <a:off x="566928" y="5266944"/>
            <a:ext cx="5212080" cy="932688"/>
          </a:xfrm>
          <a:prstGeom prst="roundRect">
            <a:avLst>
              <a:gd name="adj" fmla="val 9803"/>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Diamond 20"/>
          <p:cNvSpPr/>
          <p:nvPr/>
        </p:nvSpPr>
        <p:spPr>
          <a:xfrm>
            <a:off x="768096" y="5669279"/>
            <a:ext cx="128016" cy="128016"/>
          </a:xfrm>
          <a:prstGeom prst="diamond">
            <a:avLst/>
          </a:prstGeom>
          <a:solidFill>
            <a:srgbClr val="46D2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1024128" y="5321807"/>
            <a:ext cx="1554480" cy="822960"/>
          </a:xfrm>
          <a:prstGeom prst="rect">
            <a:avLst/>
          </a:prstGeom>
          <a:noFill/>
        </p:spPr>
        <p:txBody>
          <a:bodyPr wrap="square" lIns="45720" rIns="45720" tIns="27432" bIns="27432" anchor="ctr">
            <a:noAutofit/>
          </a:bodyPr>
          <a:lstStyle/>
          <a:p>
            <a:pPr algn="l">
              <a:lnSpc>
                <a:spcPct val="100000"/>
              </a:lnSpc>
            </a:pPr>
            <a:r>
              <a:rPr sz="1600" b="0" i="0">
                <a:solidFill>
                  <a:srgbClr val="F7F2E8"/>
                </a:solidFill>
                <a:latin typeface="Segoe UI Semibold"/>
              </a:rPr>
              <a:t>Gramática</a:t>
            </a:r>
          </a:p>
        </p:txBody>
      </p:sp>
      <p:sp>
        <p:nvSpPr>
          <p:cNvPr id="23" name="TextBox 22"/>
          <p:cNvSpPr txBox="1"/>
          <p:nvPr/>
        </p:nvSpPr>
        <p:spPr>
          <a:xfrm>
            <a:off x="2670048" y="5321807"/>
            <a:ext cx="2971800" cy="822960"/>
          </a:xfrm>
          <a:prstGeom prst="rect">
            <a:avLst/>
          </a:prstGeom>
          <a:noFill/>
        </p:spPr>
        <p:txBody>
          <a:bodyPr wrap="square" lIns="45720" rIns="45720" tIns="27432" bIns="27432" anchor="ctr">
            <a:noAutofit/>
          </a:bodyPr>
          <a:lstStyle/>
          <a:p>
            <a:pPr algn="l">
              <a:lnSpc>
                <a:spcPct val="100000"/>
              </a:lnSpc>
            </a:pPr>
            <a:r>
              <a:rPr sz="1400" b="0" i="0">
                <a:solidFill>
                  <a:srgbClr val="A7B2B0"/>
                </a:solidFill>
                <a:latin typeface="Segoe UI"/>
              </a:rPr>
              <a:t>[[ tú ]], {{ runtime }}, &lt; espacio del reporte &gt;.</a:t>
            </a:r>
          </a:p>
        </p:txBody>
      </p:sp>
      <p:sp>
        <p:nvSpPr>
          <p:cNvPr id="24" name="Rounded Rectangle 23"/>
          <p:cNvSpPr/>
          <p:nvPr/>
        </p:nvSpPr>
        <p:spPr>
          <a:xfrm>
            <a:off x="6144768" y="2084831"/>
            <a:ext cx="5479999" cy="1920239"/>
          </a:xfrm>
          <a:prstGeom prst="roundRect">
            <a:avLst>
              <a:gd name="adj" fmla="val 3809"/>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ounded Rectangle 24"/>
          <p:cNvSpPr/>
          <p:nvPr/>
        </p:nvSpPr>
        <p:spPr>
          <a:xfrm>
            <a:off x="6144768" y="2084831"/>
            <a:ext cx="5479999" cy="384048"/>
          </a:xfrm>
          <a:prstGeom prst="roundRect">
            <a:avLst>
              <a:gd name="adj" fmla="val 19047"/>
            </a:avLst>
          </a:prstGeom>
          <a:solidFill>
            <a:srgbClr val="151F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6217920" y="2121408"/>
            <a:ext cx="840095" cy="310896"/>
          </a:xfrm>
          <a:prstGeom prst="rect">
            <a:avLst/>
          </a:prstGeom>
          <a:noFill/>
        </p:spPr>
        <p:txBody>
          <a:bodyPr wrap="square" lIns="45720" rIns="45720" tIns="27432" bIns="27432" anchor="ctr">
            <a:noAutofit/>
          </a:bodyPr>
          <a:lstStyle/>
          <a:p>
            <a:pPr algn="l">
              <a:lnSpc>
                <a:spcPct val="100000"/>
              </a:lnSpc>
            </a:pPr>
            <a:r>
              <a:rPr sz="1000" b="0" i="0" spc="120">
                <a:solidFill>
                  <a:srgbClr val="E2B462"/>
                </a:solidFill>
                <a:latin typeface="Segoe UI Semibold"/>
              </a:rPr>
              <a:t>MARCA</a:t>
            </a:r>
          </a:p>
        </p:txBody>
      </p:sp>
      <p:sp>
        <p:nvSpPr>
          <p:cNvPr id="27" name="TextBox 26"/>
          <p:cNvSpPr txBox="1"/>
          <p:nvPr/>
        </p:nvSpPr>
        <p:spPr>
          <a:xfrm>
            <a:off x="7204319" y="2121408"/>
            <a:ext cx="1059295" cy="310896"/>
          </a:xfrm>
          <a:prstGeom prst="rect">
            <a:avLst/>
          </a:prstGeom>
          <a:noFill/>
        </p:spPr>
        <p:txBody>
          <a:bodyPr wrap="square" lIns="45720" rIns="45720" tIns="27432" bIns="27432" anchor="ctr">
            <a:noAutofit/>
          </a:bodyPr>
          <a:lstStyle/>
          <a:p>
            <a:pPr algn="l">
              <a:lnSpc>
                <a:spcPct val="100000"/>
              </a:lnSpc>
            </a:pPr>
            <a:r>
              <a:rPr sz="1000" b="0" i="0" spc="120">
                <a:solidFill>
                  <a:srgbClr val="E2B462"/>
                </a:solidFill>
                <a:latin typeface="Segoe UI Semibold"/>
              </a:rPr>
              <a:t>LO LLENA</a:t>
            </a:r>
          </a:p>
        </p:txBody>
      </p:sp>
      <p:sp>
        <p:nvSpPr>
          <p:cNvPr id="28" name="TextBox 27"/>
          <p:cNvSpPr txBox="1"/>
          <p:nvPr/>
        </p:nvSpPr>
        <p:spPr>
          <a:xfrm>
            <a:off x="8409919" y="2121408"/>
            <a:ext cx="3141695" cy="310896"/>
          </a:xfrm>
          <a:prstGeom prst="rect">
            <a:avLst/>
          </a:prstGeom>
          <a:noFill/>
        </p:spPr>
        <p:txBody>
          <a:bodyPr wrap="square" lIns="45720" rIns="45720" tIns="27432" bIns="27432" anchor="ctr">
            <a:noAutofit/>
          </a:bodyPr>
          <a:lstStyle/>
          <a:p>
            <a:pPr algn="l">
              <a:lnSpc>
                <a:spcPct val="100000"/>
              </a:lnSpc>
            </a:pPr>
            <a:r>
              <a:rPr sz="1000" b="0" i="0" spc="120">
                <a:solidFill>
                  <a:srgbClr val="E2B462"/>
                </a:solidFill>
                <a:latin typeface="Segoe UI Semibold"/>
              </a:rPr>
              <a:t>SIGNIFICADO</a:t>
            </a:r>
          </a:p>
        </p:txBody>
      </p:sp>
      <p:sp>
        <p:nvSpPr>
          <p:cNvPr id="29" name="TextBox 28"/>
          <p:cNvSpPr txBox="1"/>
          <p:nvPr/>
        </p:nvSpPr>
        <p:spPr>
          <a:xfrm>
            <a:off x="6217920" y="2505456"/>
            <a:ext cx="840095" cy="438911"/>
          </a:xfrm>
          <a:prstGeom prst="rect">
            <a:avLst/>
          </a:prstGeom>
          <a:noFill/>
        </p:spPr>
        <p:txBody>
          <a:bodyPr wrap="square" lIns="45720" rIns="45720" tIns="27432" bIns="27432" anchor="ctr">
            <a:noAutofit/>
          </a:bodyPr>
          <a:lstStyle/>
          <a:p>
            <a:pPr algn="l">
              <a:lnSpc>
                <a:spcPct val="100000"/>
              </a:lnSpc>
            </a:pPr>
            <a:r>
              <a:rPr sz="1200" b="0" i="0">
                <a:solidFill>
                  <a:srgbClr val="F7F2E8"/>
                </a:solidFill>
                <a:latin typeface="Segoe UI Semibold"/>
              </a:rPr>
              <a:t>[[ … ]]</a:t>
            </a:r>
          </a:p>
        </p:txBody>
      </p:sp>
      <p:sp>
        <p:nvSpPr>
          <p:cNvPr id="30" name="TextBox 29"/>
          <p:cNvSpPr txBox="1"/>
          <p:nvPr/>
        </p:nvSpPr>
        <p:spPr>
          <a:xfrm>
            <a:off x="7204319" y="2505456"/>
            <a:ext cx="1059295" cy="438911"/>
          </a:xfrm>
          <a:prstGeom prst="rect">
            <a:avLst/>
          </a:prstGeom>
          <a:noFill/>
        </p:spPr>
        <p:txBody>
          <a:bodyPr wrap="square" lIns="45720" rIns="45720" tIns="27432" bIns="27432" anchor="ctr">
            <a:noAutofit/>
          </a:bodyPr>
          <a:lstStyle/>
          <a:p>
            <a:pPr algn="l">
              <a:lnSpc>
                <a:spcPct val="100000"/>
              </a:lnSpc>
            </a:pPr>
            <a:r>
              <a:rPr sz="1200" b="0" i="0">
                <a:solidFill>
                  <a:srgbClr val="A7B2B0"/>
                </a:solidFill>
                <a:latin typeface="Segoe UI"/>
              </a:rPr>
              <a:t>Tú</a:t>
            </a:r>
          </a:p>
        </p:txBody>
      </p:sp>
      <p:sp>
        <p:nvSpPr>
          <p:cNvPr id="31" name="TextBox 30"/>
          <p:cNvSpPr txBox="1"/>
          <p:nvPr/>
        </p:nvSpPr>
        <p:spPr>
          <a:xfrm>
            <a:off x="8409919" y="2505456"/>
            <a:ext cx="3141695" cy="438911"/>
          </a:xfrm>
          <a:prstGeom prst="rect">
            <a:avLst/>
          </a:prstGeom>
          <a:noFill/>
        </p:spPr>
        <p:txBody>
          <a:bodyPr wrap="square" lIns="45720" rIns="45720" tIns="27432" bIns="27432" anchor="ctr">
            <a:noAutofit/>
          </a:bodyPr>
          <a:lstStyle/>
          <a:p>
            <a:pPr algn="l">
              <a:lnSpc>
                <a:spcPct val="100000"/>
              </a:lnSpc>
            </a:pPr>
            <a:r>
              <a:rPr sz="1200" b="0" i="0">
                <a:solidFill>
                  <a:srgbClr val="A7B2B0"/>
                </a:solidFill>
                <a:latin typeface="Segoe UI"/>
              </a:rPr>
              <a:t>Un valor que tú das, reunido arriba con un valor predeterminado seguro.</a:t>
            </a:r>
          </a:p>
        </p:txBody>
      </p:sp>
      <p:sp>
        <p:nvSpPr>
          <p:cNvPr id="32" name="Rectangle 31"/>
          <p:cNvSpPr/>
          <p:nvPr/>
        </p:nvSpPr>
        <p:spPr>
          <a:xfrm>
            <a:off x="6163056" y="2980944"/>
            <a:ext cx="5443423" cy="512063"/>
          </a:xfrm>
          <a:prstGeom prst="rect">
            <a:avLst/>
          </a:prstGeom>
          <a:solidFill>
            <a:srgbClr val="1824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TextBox 32"/>
          <p:cNvSpPr txBox="1"/>
          <p:nvPr/>
        </p:nvSpPr>
        <p:spPr>
          <a:xfrm>
            <a:off x="6217920" y="3017520"/>
            <a:ext cx="840095" cy="438911"/>
          </a:xfrm>
          <a:prstGeom prst="rect">
            <a:avLst/>
          </a:prstGeom>
          <a:noFill/>
        </p:spPr>
        <p:txBody>
          <a:bodyPr wrap="square" lIns="45720" rIns="45720" tIns="27432" bIns="27432" anchor="ctr">
            <a:noAutofit/>
          </a:bodyPr>
          <a:lstStyle/>
          <a:p>
            <a:pPr algn="l">
              <a:lnSpc>
                <a:spcPct val="100000"/>
              </a:lnSpc>
            </a:pPr>
            <a:r>
              <a:rPr sz="1200" b="0" i="0">
                <a:solidFill>
                  <a:srgbClr val="F7F2E8"/>
                </a:solidFill>
                <a:latin typeface="Segoe UI Semibold"/>
              </a:rPr>
              <a:t>{{ … }}</a:t>
            </a:r>
          </a:p>
        </p:txBody>
      </p:sp>
      <p:sp>
        <p:nvSpPr>
          <p:cNvPr id="34" name="TextBox 33"/>
          <p:cNvSpPr txBox="1"/>
          <p:nvPr/>
        </p:nvSpPr>
        <p:spPr>
          <a:xfrm>
            <a:off x="7204319" y="3017520"/>
            <a:ext cx="1059295" cy="438911"/>
          </a:xfrm>
          <a:prstGeom prst="rect">
            <a:avLst/>
          </a:prstGeom>
          <a:noFill/>
        </p:spPr>
        <p:txBody>
          <a:bodyPr wrap="square" lIns="45720" rIns="45720" tIns="27432" bIns="27432" anchor="ctr">
            <a:noAutofit/>
          </a:bodyPr>
          <a:lstStyle/>
          <a:p>
            <a:pPr algn="l">
              <a:lnSpc>
                <a:spcPct val="100000"/>
              </a:lnSpc>
            </a:pPr>
            <a:r>
              <a:rPr sz="1200" b="0" i="0">
                <a:solidFill>
                  <a:srgbClr val="A7B2B0"/>
                </a:solidFill>
                <a:latin typeface="Segoe UI"/>
              </a:rPr>
              <a:t>Tlamatini</a:t>
            </a:r>
          </a:p>
        </p:txBody>
      </p:sp>
      <p:sp>
        <p:nvSpPr>
          <p:cNvPr id="35" name="TextBox 34"/>
          <p:cNvSpPr txBox="1"/>
          <p:nvPr/>
        </p:nvSpPr>
        <p:spPr>
          <a:xfrm>
            <a:off x="8409919" y="3017520"/>
            <a:ext cx="3141695" cy="438911"/>
          </a:xfrm>
          <a:prstGeom prst="rect">
            <a:avLst/>
          </a:prstGeom>
          <a:noFill/>
        </p:spPr>
        <p:txBody>
          <a:bodyPr wrap="square" lIns="45720" rIns="45720" tIns="27432" bIns="27432" anchor="ctr">
            <a:noAutofit/>
          </a:bodyPr>
          <a:lstStyle/>
          <a:p>
            <a:pPr algn="l">
              <a:lnSpc>
                <a:spcPct val="100000"/>
              </a:lnSpc>
            </a:pPr>
            <a:r>
              <a:rPr sz="1200" b="0" i="0">
                <a:solidFill>
                  <a:srgbClr val="A7B2B0"/>
                </a:solidFill>
                <a:latin typeface="Segoe UI"/>
              </a:rPr>
              <a:t>Un valor que ella llena al momento de ejecutar.</a:t>
            </a:r>
          </a:p>
        </p:txBody>
      </p:sp>
      <p:sp>
        <p:nvSpPr>
          <p:cNvPr id="36" name="TextBox 35"/>
          <p:cNvSpPr txBox="1"/>
          <p:nvPr/>
        </p:nvSpPr>
        <p:spPr>
          <a:xfrm>
            <a:off x="6217920" y="3529584"/>
            <a:ext cx="840095" cy="438911"/>
          </a:xfrm>
          <a:prstGeom prst="rect">
            <a:avLst/>
          </a:prstGeom>
          <a:noFill/>
        </p:spPr>
        <p:txBody>
          <a:bodyPr wrap="square" lIns="45720" rIns="45720" tIns="27432" bIns="27432" anchor="ctr">
            <a:noAutofit/>
          </a:bodyPr>
          <a:lstStyle/>
          <a:p>
            <a:pPr algn="l">
              <a:lnSpc>
                <a:spcPct val="100000"/>
              </a:lnSpc>
            </a:pPr>
            <a:r>
              <a:rPr sz="1200" b="0" i="0">
                <a:solidFill>
                  <a:srgbClr val="F7F2E8"/>
                </a:solidFill>
                <a:latin typeface="Segoe UI Semibold"/>
              </a:rPr>
              <a:t>&lt; … &gt;</a:t>
            </a:r>
          </a:p>
        </p:txBody>
      </p:sp>
      <p:sp>
        <p:nvSpPr>
          <p:cNvPr id="37" name="TextBox 36"/>
          <p:cNvSpPr txBox="1"/>
          <p:nvPr/>
        </p:nvSpPr>
        <p:spPr>
          <a:xfrm>
            <a:off x="7204319" y="3529584"/>
            <a:ext cx="1059295" cy="438911"/>
          </a:xfrm>
          <a:prstGeom prst="rect">
            <a:avLst/>
          </a:prstGeom>
          <a:noFill/>
        </p:spPr>
        <p:txBody>
          <a:bodyPr wrap="square" lIns="45720" rIns="45720" tIns="27432" bIns="27432" anchor="ctr">
            <a:noAutofit/>
          </a:bodyPr>
          <a:lstStyle/>
          <a:p>
            <a:pPr algn="l">
              <a:lnSpc>
                <a:spcPct val="100000"/>
              </a:lnSpc>
            </a:pPr>
            <a:r>
              <a:rPr sz="1200" b="0" i="0">
                <a:solidFill>
                  <a:srgbClr val="A7B2B0"/>
                </a:solidFill>
                <a:latin typeface="Segoe UI"/>
              </a:rPr>
              <a:t>Espacio del reporte</a:t>
            </a:r>
          </a:p>
        </p:txBody>
      </p:sp>
      <p:sp>
        <p:nvSpPr>
          <p:cNvPr id="38" name="TextBox 37"/>
          <p:cNvSpPr txBox="1"/>
          <p:nvPr/>
        </p:nvSpPr>
        <p:spPr>
          <a:xfrm>
            <a:off x="8409919" y="3529584"/>
            <a:ext cx="3141695" cy="438911"/>
          </a:xfrm>
          <a:prstGeom prst="rect">
            <a:avLst/>
          </a:prstGeom>
          <a:noFill/>
        </p:spPr>
        <p:txBody>
          <a:bodyPr wrap="square" lIns="45720" rIns="45720" tIns="27432" bIns="27432" anchor="ctr">
            <a:noAutofit/>
          </a:bodyPr>
          <a:lstStyle/>
          <a:p>
            <a:pPr algn="l">
              <a:lnSpc>
                <a:spcPct val="100000"/>
              </a:lnSpc>
            </a:pPr>
            <a:r>
              <a:rPr sz="1200" b="0" i="0">
                <a:solidFill>
                  <a:srgbClr val="A7B2B0"/>
                </a:solidFill>
                <a:latin typeface="Segoe UI"/>
              </a:rPr>
              <a:t>Donde se imprime una respuesta; nunca es un input.</a:t>
            </a:r>
          </a:p>
        </p:txBody>
      </p:sp>
      <p:cxnSp>
        <p:nvCxnSpPr>
          <p:cNvPr id="39" name="Connector 38"/>
          <p:cNvCxnSpPr/>
          <p:nvPr/>
        </p:nvCxnSpPr>
        <p:spPr>
          <a:xfrm>
            <a:off x="566928" y="6373368"/>
            <a:ext cx="11057839" cy="0"/>
          </a:xfrm>
          <a:prstGeom prst="line">
            <a:avLst/>
          </a:prstGeom>
          <a:ln w="7620">
            <a:solidFill>
              <a:srgbClr val="2A3A40"/>
            </a:solidFill>
          </a:ln>
        </p:spPr>
        <p:style>
          <a:lnRef idx="2">
            <a:schemeClr val="accent1"/>
          </a:lnRef>
          <a:fillRef idx="0">
            <a:schemeClr val="accent1"/>
          </a:fillRef>
          <a:effectRef idx="1">
            <a:schemeClr val="accent1"/>
          </a:effectRef>
          <a:fontRef idx="minor">
            <a:schemeClr val="tx1"/>
          </a:fontRef>
        </p:style>
      </p:cxnSp>
      <p:sp>
        <p:nvSpPr>
          <p:cNvPr id="40" name="TextBox 39"/>
          <p:cNvSpPr txBox="1"/>
          <p:nvPr/>
        </p:nvSpPr>
        <p:spPr>
          <a:xfrm>
            <a:off x="566928" y="6419088"/>
            <a:ext cx="6858000" cy="274320"/>
          </a:xfrm>
          <a:prstGeom prst="rect">
            <a:avLst/>
          </a:prstGeom>
          <a:noFill/>
        </p:spPr>
        <p:txBody>
          <a:bodyPr wrap="square" lIns="45720" rIns="45720" tIns="27432" bIns="27432" anchor="t">
            <a:noAutofit/>
          </a:bodyPr>
          <a:lstStyle/>
          <a:p>
            <a:pPr algn="l">
              <a:lnSpc>
                <a:spcPct val="100000"/>
              </a:lnSpc>
            </a:pPr>
            <a:r>
              <a:rPr sz="850" b="0" i="0" spc="120">
                <a:solidFill>
                  <a:srgbClr val="A7B2B0"/>
                </a:solidFill>
                <a:latin typeface="Segoe UI Semibold"/>
              </a:rPr>
              <a:t>TLAMATINI  ·  III · DÓNDE TRABAJAS CON ELLA</a:t>
            </a:r>
          </a:p>
        </p:txBody>
      </p:sp>
      <p:sp>
        <p:nvSpPr>
          <p:cNvPr id="41" name="TextBox 40"/>
          <p:cNvSpPr txBox="1"/>
          <p:nvPr/>
        </p:nvSpPr>
        <p:spPr>
          <a:xfrm>
            <a:off x="8698687" y="6419088"/>
            <a:ext cx="2926080" cy="274320"/>
          </a:xfrm>
          <a:prstGeom prst="rect">
            <a:avLst/>
          </a:prstGeom>
          <a:noFill/>
        </p:spPr>
        <p:txBody>
          <a:bodyPr wrap="square" lIns="45720" rIns="45720" tIns="27432" bIns="27432" anchor="t">
            <a:noAutofit/>
          </a:bodyPr>
          <a:lstStyle/>
          <a:p>
            <a:pPr algn="r">
              <a:lnSpc>
                <a:spcPct val="100000"/>
              </a:lnSpc>
            </a:pPr>
            <a:r>
              <a:rPr sz="850" b="0" i="0" spc="100">
                <a:solidFill>
                  <a:srgbClr val="A7B2B0"/>
                </a:solidFill>
                <a:latin typeface="Segoe UI Semibold"/>
              </a:rPr>
              <a:t>v1.91.1   ·   57</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content.png"/>
          <p:cNvPicPr>
            <a:picLocks noChangeAspect="1"/>
          </p:cNvPicPr>
          <p:nvPr/>
        </p:nvPicPr>
        <p:blipFill>
          <a:blip r:embed="rId2"/>
          <a:stretch>
            <a:fillRect/>
          </a:stretch>
        </p:blipFill>
        <p:spPr>
          <a:xfrm>
            <a:off x="0" y="0"/>
            <a:ext cx="12191695" cy="6858000"/>
          </a:xfrm>
          <a:prstGeom prst="rect">
            <a:avLst/>
          </a:prstGeom>
        </p:spPr>
      </p:pic>
      <p:sp>
        <p:nvSpPr>
          <p:cNvPr id="3" name="Diamond 2"/>
          <p:cNvSpPr/>
          <p:nvPr/>
        </p:nvSpPr>
        <p:spPr>
          <a:xfrm>
            <a:off x="566928" y="457200"/>
            <a:ext cx="100584" cy="100584"/>
          </a:xfrm>
          <a:prstGeom prst="diamond">
            <a:avLst/>
          </a:prstGeom>
          <a:solidFill>
            <a:srgbClr val="E2B4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49808" y="365760"/>
            <a:ext cx="8229600" cy="292608"/>
          </a:xfrm>
          <a:prstGeom prst="rect">
            <a:avLst/>
          </a:prstGeom>
          <a:noFill/>
        </p:spPr>
        <p:txBody>
          <a:bodyPr wrap="square" lIns="45720" rIns="45720" tIns="27432" bIns="27432" anchor="t">
            <a:noAutofit/>
          </a:bodyPr>
          <a:lstStyle/>
          <a:p>
            <a:pPr algn="l">
              <a:lnSpc>
                <a:spcPct val="100000"/>
              </a:lnSpc>
            </a:pPr>
            <a:r>
              <a:rPr sz="1100" b="0" i="0" spc="240">
                <a:solidFill>
                  <a:srgbClr val="C98457"/>
                </a:solidFill>
                <a:latin typeface="Segoe UI Semibold"/>
              </a:rPr>
              <a:t>CANVAS DE PDF</a:t>
            </a:r>
          </a:p>
        </p:txBody>
      </p:sp>
      <p:sp>
        <p:nvSpPr>
          <p:cNvPr id="5" name="TextBox 4"/>
          <p:cNvSpPr txBox="1"/>
          <p:nvPr/>
        </p:nvSpPr>
        <p:spPr>
          <a:xfrm>
            <a:off x="539496" y="676656"/>
            <a:ext cx="11057839" cy="658368"/>
          </a:xfrm>
          <a:prstGeom prst="rect">
            <a:avLst/>
          </a:prstGeom>
          <a:noFill/>
        </p:spPr>
        <p:txBody>
          <a:bodyPr wrap="square" lIns="45720" rIns="45720" tIns="27432" bIns="27432" anchor="t">
            <a:noAutofit/>
          </a:bodyPr>
          <a:lstStyle/>
          <a:p>
            <a:pPr algn="l">
              <a:lnSpc>
                <a:spcPct val="100000"/>
              </a:lnSpc>
            </a:pPr>
            <a:r>
              <a:rPr sz="3100" b="0" i="0">
                <a:solidFill>
                  <a:srgbClr val="F7F2E8"/>
                </a:solidFill>
                <a:latin typeface="Palatino Linotype"/>
              </a:rPr>
              <a:t>Lee un PDF y luego dale el documento completo</a:t>
            </a:r>
          </a:p>
        </p:txBody>
      </p:sp>
      <p:sp>
        <p:nvSpPr>
          <p:cNvPr id="6" name="Rectangle 5"/>
          <p:cNvSpPr/>
          <p:nvPr/>
        </p:nvSpPr>
        <p:spPr>
          <a:xfrm>
            <a:off x="566928" y="1344168"/>
            <a:ext cx="822960" cy="36576"/>
          </a:xfrm>
          <a:prstGeom prst="rect">
            <a:avLst/>
          </a:prstGeom>
          <a:solidFill>
            <a:srgbClr val="E2B4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566928" y="1444752"/>
            <a:ext cx="10692079" cy="585216"/>
          </a:xfrm>
          <a:prstGeom prst="rect">
            <a:avLst/>
          </a:prstGeom>
          <a:noFill/>
        </p:spPr>
        <p:txBody>
          <a:bodyPr wrap="square" lIns="45720" rIns="45720" tIns="27432" bIns="27432" anchor="t">
            <a:noAutofit/>
          </a:bodyPr>
          <a:lstStyle/>
          <a:p>
            <a:pPr algn="l">
              <a:lnSpc>
                <a:spcPct val="100000"/>
              </a:lnSpc>
            </a:pPr>
            <a:r>
              <a:rPr sz="1450" b="0" i="0">
                <a:solidFill>
                  <a:srgbClr val="A7B2B0"/>
                </a:solidFill>
                <a:latin typeface="Segoe UI Semilight"/>
              </a:rPr>
              <a:t>Abre un PDF junto al chat en un visor Mozilla PDF.js incluido, y luego úsalo como contexto.</a:t>
            </a:r>
          </a:p>
        </p:txBody>
      </p:sp>
      <p:sp>
        <p:nvSpPr>
          <p:cNvPr id="8" name="Rounded Rectangle 7"/>
          <p:cNvSpPr/>
          <p:nvPr/>
        </p:nvSpPr>
        <p:spPr>
          <a:xfrm>
            <a:off x="566928" y="2084831"/>
            <a:ext cx="11057839" cy="720547"/>
          </a:xfrm>
          <a:prstGeom prst="roundRect">
            <a:avLst>
              <a:gd name="adj" fmla="val 12690"/>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Diamond 8"/>
          <p:cNvSpPr/>
          <p:nvPr/>
        </p:nvSpPr>
        <p:spPr>
          <a:xfrm>
            <a:off x="768096" y="2381097"/>
            <a:ext cx="128016" cy="128016"/>
          </a:xfrm>
          <a:prstGeom prst="diamond">
            <a:avLst/>
          </a:prstGeom>
          <a:solidFill>
            <a:srgbClr val="3BBE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1024128" y="2139696"/>
            <a:ext cx="2651760" cy="610819"/>
          </a:xfrm>
          <a:prstGeom prst="rect">
            <a:avLst/>
          </a:prstGeom>
          <a:noFill/>
        </p:spPr>
        <p:txBody>
          <a:bodyPr wrap="square" lIns="45720" rIns="45720" tIns="27432" bIns="27432" anchor="ctr">
            <a:noAutofit/>
          </a:bodyPr>
          <a:lstStyle/>
          <a:p>
            <a:pPr algn="l">
              <a:lnSpc>
                <a:spcPct val="100000"/>
              </a:lnSpc>
            </a:pPr>
            <a:r>
              <a:rPr sz="1600" b="0" i="0">
                <a:solidFill>
                  <a:srgbClr val="F7F2E8"/>
                </a:solidFill>
                <a:latin typeface="Segoe UI Semibold"/>
              </a:rPr>
              <a:t>Lectura privada</a:t>
            </a:r>
          </a:p>
        </p:txBody>
      </p:sp>
      <p:sp>
        <p:nvSpPr>
          <p:cNvPr id="11" name="TextBox 10"/>
          <p:cNvSpPr txBox="1"/>
          <p:nvPr/>
        </p:nvSpPr>
        <p:spPr>
          <a:xfrm>
            <a:off x="3767328" y="2139696"/>
            <a:ext cx="7720279" cy="610819"/>
          </a:xfrm>
          <a:prstGeom prst="rect">
            <a:avLst/>
          </a:prstGeom>
          <a:noFill/>
        </p:spPr>
        <p:txBody>
          <a:bodyPr wrap="square" lIns="45720" rIns="45720" tIns="27432" bIns="27432" anchor="ctr">
            <a:noAutofit/>
          </a:bodyPr>
          <a:lstStyle/>
          <a:p>
            <a:pPr algn="l">
              <a:lnSpc>
                <a:spcPct val="100000"/>
              </a:lnSpc>
            </a:pPr>
            <a:r>
              <a:rPr sz="1400" b="0" i="0">
                <a:solidFill>
                  <a:srgbClr val="A7B2B0"/>
                </a:solidFill>
                <a:latin typeface="Segoe UI"/>
              </a:rPr>
              <a:t>Rangos de bytes de tu disco; no se sube nada ni se llama a ningún modelo.</a:t>
            </a:r>
          </a:p>
        </p:txBody>
      </p:sp>
      <p:sp>
        <p:nvSpPr>
          <p:cNvPr id="12" name="Rounded Rectangle 11"/>
          <p:cNvSpPr/>
          <p:nvPr/>
        </p:nvSpPr>
        <p:spPr>
          <a:xfrm>
            <a:off x="566928" y="2933395"/>
            <a:ext cx="11057839" cy="720547"/>
          </a:xfrm>
          <a:prstGeom prst="roundRect">
            <a:avLst>
              <a:gd name="adj" fmla="val 12690"/>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Diamond 12"/>
          <p:cNvSpPr/>
          <p:nvPr/>
        </p:nvSpPr>
        <p:spPr>
          <a:xfrm>
            <a:off x="768096" y="3229660"/>
            <a:ext cx="128016" cy="128016"/>
          </a:xfrm>
          <a:prstGeom prst="diamond">
            <a:avLst/>
          </a:prstGeom>
          <a:solidFill>
            <a:srgbClr val="C984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1024128" y="2988259"/>
            <a:ext cx="2651760" cy="610819"/>
          </a:xfrm>
          <a:prstGeom prst="rect">
            <a:avLst/>
          </a:prstGeom>
          <a:noFill/>
        </p:spPr>
        <p:txBody>
          <a:bodyPr wrap="square" lIns="45720" rIns="45720" tIns="27432" bIns="27432" anchor="ctr">
            <a:noAutofit/>
          </a:bodyPr>
          <a:lstStyle/>
          <a:p>
            <a:pPr algn="l">
              <a:lnSpc>
                <a:spcPct val="100000"/>
              </a:lnSpc>
            </a:pPr>
            <a:r>
              <a:rPr sz="1600" b="0" i="0">
                <a:solidFill>
                  <a:srgbClr val="F7F2E8"/>
                </a:solidFill>
                <a:latin typeface="Segoe UI Semibold"/>
              </a:rPr>
              <a:t>Visor</a:t>
            </a:r>
          </a:p>
        </p:txBody>
      </p:sp>
      <p:sp>
        <p:nvSpPr>
          <p:cNvPr id="15" name="TextBox 14"/>
          <p:cNvSpPr txBox="1"/>
          <p:nvPr/>
        </p:nvSpPr>
        <p:spPr>
          <a:xfrm>
            <a:off x="3767328" y="2988259"/>
            <a:ext cx="7720279" cy="610819"/>
          </a:xfrm>
          <a:prstGeom prst="rect">
            <a:avLst/>
          </a:prstGeom>
          <a:noFill/>
        </p:spPr>
        <p:txBody>
          <a:bodyPr wrap="square" lIns="45720" rIns="45720" tIns="27432" bIns="27432" anchor="ctr">
            <a:noAutofit/>
          </a:bodyPr>
          <a:lstStyle/>
          <a:p>
            <a:pPr algn="l">
              <a:lnSpc>
                <a:spcPct val="100000"/>
              </a:lnSpc>
            </a:pPr>
            <a:r>
              <a:rPr sz="1400" b="0" i="0">
                <a:solidFill>
                  <a:srgbClr val="A7B2B0"/>
                </a:solidFill>
                <a:latin typeface="Segoe UI"/>
              </a:rPr>
              <a:t>Mozilla PDF.js 6.3.289, incluido bajo Apache-2.0; sin CDN.</a:t>
            </a:r>
          </a:p>
        </p:txBody>
      </p:sp>
      <p:sp>
        <p:nvSpPr>
          <p:cNvPr id="16" name="Rounded Rectangle 15"/>
          <p:cNvSpPr/>
          <p:nvPr/>
        </p:nvSpPr>
        <p:spPr>
          <a:xfrm>
            <a:off x="566928" y="3781958"/>
            <a:ext cx="11057839" cy="720547"/>
          </a:xfrm>
          <a:prstGeom prst="roundRect">
            <a:avLst>
              <a:gd name="adj" fmla="val 12690"/>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Diamond 16"/>
          <p:cNvSpPr/>
          <p:nvPr/>
        </p:nvSpPr>
        <p:spPr>
          <a:xfrm>
            <a:off x="768096" y="4078224"/>
            <a:ext cx="128016" cy="128016"/>
          </a:xfrm>
          <a:prstGeom prst="diamond">
            <a:avLst/>
          </a:prstGeom>
          <a:solidFill>
            <a:srgbClr val="E2B4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1024128" y="3836822"/>
            <a:ext cx="2651760" cy="610819"/>
          </a:xfrm>
          <a:prstGeom prst="rect">
            <a:avLst/>
          </a:prstGeom>
          <a:noFill/>
        </p:spPr>
        <p:txBody>
          <a:bodyPr wrap="square" lIns="45720" rIns="45720" tIns="27432" bIns="27432" anchor="ctr">
            <a:noAutofit/>
          </a:bodyPr>
          <a:lstStyle/>
          <a:p>
            <a:pPr algn="l">
              <a:lnSpc>
                <a:spcPct val="100000"/>
              </a:lnSpc>
            </a:pPr>
            <a:r>
              <a:rPr sz="1600" b="0" i="0">
                <a:solidFill>
                  <a:srgbClr val="F7F2E8"/>
                </a:solidFill>
                <a:latin typeface="Segoe UI Semibold"/>
              </a:rPr>
              <a:t>Usar como contexto</a:t>
            </a:r>
          </a:p>
        </p:txBody>
      </p:sp>
      <p:sp>
        <p:nvSpPr>
          <p:cNvPr id="19" name="TextBox 18"/>
          <p:cNvSpPr txBox="1"/>
          <p:nvPr/>
        </p:nvSpPr>
        <p:spPr>
          <a:xfrm>
            <a:off x="3767328" y="3836822"/>
            <a:ext cx="7720279" cy="610819"/>
          </a:xfrm>
          <a:prstGeom prst="rect">
            <a:avLst/>
          </a:prstGeom>
          <a:noFill/>
        </p:spPr>
        <p:txBody>
          <a:bodyPr wrap="square" lIns="45720" rIns="45720" tIns="27432" bIns="27432" anchor="ctr">
            <a:noAutofit/>
          </a:bodyPr>
          <a:lstStyle/>
          <a:p>
            <a:pPr algn="l">
              <a:lnSpc>
                <a:spcPct val="100000"/>
              </a:lnSpc>
            </a:pPr>
            <a:r>
              <a:rPr sz="1400" b="0" i="0">
                <a:solidFill>
                  <a:srgbClr val="A7B2B0"/>
                </a:solidFill>
                <a:latin typeface="Segoe UI"/>
              </a:rPr>
              <a:t>Sólo texto de forma predeterminada; imágenes sólo cuando marcas la casilla.</a:t>
            </a:r>
          </a:p>
        </p:txBody>
      </p:sp>
      <p:sp>
        <p:nvSpPr>
          <p:cNvPr id="20" name="Rounded Rectangle 19"/>
          <p:cNvSpPr/>
          <p:nvPr/>
        </p:nvSpPr>
        <p:spPr>
          <a:xfrm>
            <a:off x="566928" y="4630521"/>
            <a:ext cx="11057839" cy="720547"/>
          </a:xfrm>
          <a:prstGeom prst="roundRect">
            <a:avLst>
              <a:gd name="adj" fmla="val 12690"/>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Diamond 20"/>
          <p:cNvSpPr/>
          <p:nvPr/>
        </p:nvSpPr>
        <p:spPr>
          <a:xfrm>
            <a:off x="768096" y="4926787"/>
            <a:ext cx="128016" cy="128016"/>
          </a:xfrm>
          <a:prstGeom prst="diamond">
            <a:avLst/>
          </a:prstGeom>
          <a:solidFill>
            <a:srgbClr val="46D2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1024128" y="4685385"/>
            <a:ext cx="2651760" cy="610819"/>
          </a:xfrm>
          <a:prstGeom prst="rect">
            <a:avLst/>
          </a:prstGeom>
          <a:noFill/>
        </p:spPr>
        <p:txBody>
          <a:bodyPr wrap="square" lIns="45720" rIns="45720" tIns="27432" bIns="27432" anchor="ctr">
            <a:noAutofit/>
          </a:bodyPr>
          <a:lstStyle/>
          <a:p>
            <a:pPr algn="l">
              <a:lnSpc>
                <a:spcPct val="100000"/>
              </a:lnSpc>
            </a:pPr>
            <a:r>
              <a:rPr sz="1600" b="0" i="0">
                <a:solidFill>
                  <a:srgbClr val="F7F2E8"/>
                </a:solidFill>
                <a:latin typeface="Segoe UI Semibold"/>
              </a:rPr>
              <a:t>Progreso honesto</a:t>
            </a:r>
          </a:p>
        </p:txBody>
      </p:sp>
      <p:sp>
        <p:nvSpPr>
          <p:cNvPr id="23" name="TextBox 22"/>
          <p:cNvSpPr txBox="1"/>
          <p:nvPr/>
        </p:nvSpPr>
        <p:spPr>
          <a:xfrm>
            <a:off x="3767328" y="4685385"/>
            <a:ext cx="7720279" cy="610819"/>
          </a:xfrm>
          <a:prstGeom prst="rect">
            <a:avLst/>
          </a:prstGeom>
          <a:noFill/>
        </p:spPr>
        <p:txBody>
          <a:bodyPr wrap="square" lIns="45720" rIns="45720" tIns="27432" bIns="27432" anchor="ctr">
            <a:noAutofit/>
          </a:bodyPr>
          <a:lstStyle/>
          <a:p>
            <a:pPr algn="l">
              <a:lnSpc>
                <a:spcPct val="100000"/>
              </a:lnSpc>
            </a:pPr>
            <a:r>
              <a:rPr sz="1400" b="0" i="0">
                <a:solidFill>
                  <a:srgbClr val="A7B2B0"/>
                </a:solidFill>
                <a:latin typeface="Segoe UI"/>
              </a:rPr>
              <a:t>Cuatro filas de progreso, un Cancelar real, errores reportados.</a:t>
            </a:r>
          </a:p>
        </p:txBody>
      </p:sp>
      <p:sp>
        <p:nvSpPr>
          <p:cNvPr id="24" name="Rounded Rectangle 23"/>
          <p:cNvSpPr/>
          <p:nvPr/>
        </p:nvSpPr>
        <p:spPr>
          <a:xfrm>
            <a:off x="566928" y="5479084"/>
            <a:ext cx="11057839" cy="720547"/>
          </a:xfrm>
          <a:prstGeom prst="roundRect">
            <a:avLst>
              <a:gd name="adj" fmla="val 12690"/>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Diamond 24"/>
          <p:cNvSpPr/>
          <p:nvPr/>
        </p:nvSpPr>
        <p:spPr>
          <a:xfrm>
            <a:off x="768096" y="5775350"/>
            <a:ext cx="128016" cy="128016"/>
          </a:xfrm>
          <a:prstGeom prst="diamond">
            <a:avLst/>
          </a:prstGeom>
          <a:solidFill>
            <a:srgbClr val="D25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1024128" y="5533948"/>
            <a:ext cx="2651760" cy="610819"/>
          </a:xfrm>
          <a:prstGeom prst="rect">
            <a:avLst/>
          </a:prstGeom>
          <a:noFill/>
        </p:spPr>
        <p:txBody>
          <a:bodyPr wrap="square" lIns="45720" rIns="45720" tIns="27432" bIns="27432" anchor="ctr">
            <a:noAutofit/>
          </a:bodyPr>
          <a:lstStyle/>
          <a:p>
            <a:pPr algn="l">
              <a:lnSpc>
                <a:spcPct val="100000"/>
              </a:lnSpc>
            </a:pPr>
            <a:r>
              <a:rPr sz="1600" b="0" i="0">
                <a:solidFill>
                  <a:srgbClr val="F7F2E8"/>
                </a:solidFill>
                <a:latin typeface="Segoe UI Semibold"/>
              </a:rPr>
              <a:t>Contraseñas</a:t>
            </a:r>
          </a:p>
        </p:txBody>
      </p:sp>
      <p:sp>
        <p:nvSpPr>
          <p:cNvPr id="27" name="TextBox 26"/>
          <p:cNvSpPr txBox="1"/>
          <p:nvPr/>
        </p:nvSpPr>
        <p:spPr>
          <a:xfrm>
            <a:off x="3767328" y="5533948"/>
            <a:ext cx="7720279" cy="610819"/>
          </a:xfrm>
          <a:prstGeom prst="rect">
            <a:avLst/>
          </a:prstGeom>
          <a:noFill/>
        </p:spPr>
        <p:txBody>
          <a:bodyPr wrap="square" lIns="45720" rIns="45720" tIns="27432" bIns="27432" anchor="ctr">
            <a:noAutofit/>
          </a:bodyPr>
          <a:lstStyle/>
          <a:p>
            <a:pPr algn="l">
              <a:lnSpc>
                <a:spcPct val="100000"/>
              </a:lnSpc>
            </a:pPr>
            <a:r>
              <a:rPr sz="1400" b="0" i="0">
                <a:solidFill>
                  <a:srgbClr val="A7B2B0"/>
                </a:solidFill>
                <a:latin typeface="Segoe UI"/>
              </a:rPr>
              <a:t>Se usan sólo en memoria; nunca se guardan ni van al log.</a:t>
            </a:r>
          </a:p>
        </p:txBody>
      </p:sp>
      <p:cxnSp>
        <p:nvCxnSpPr>
          <p:cNvPr id="28" name="Connector 27"/>
          <p:cNvCxnSpPr/>
          <p:nvPr/>
        </p:nvCxnSpPr>
        <p:spPr>
          <a:xfrm>
            <a:off x="566928" y="6373368"/>
            <a:ext cx="11057839" cy="0"/>
          </a:xfrm>
          <a:prstGeom prst="line">
            <a:avLst/>
          </a:prstGeom>
          <a:ln w="7620">
            <a:solidFill>
              <a:srgbClr val="2A3A40"/>
            </a:solidFill>
          </a:ln>
        </p:spPr>
        <p:style>
          <a:lnRef idx="2">
            <a:schemeClr val="accent1"/>
          </a:lnRef>
          <a:fillRef idx="0">
            <a:schemeClr val="accent1"/>
          </a:fillRef>
          <a:effectRef idx="1">
            <a:schemeClr val="accent1"/>
          </a:effectRef>
          <a:fontRef idx="minor">
            <a:schemeClr val="tx1"/>
          </a:fontRef>
        </p:style>
      </p:cxnSp>
      <p:sp>
        <p:nvSpPr>
          <p:cNvPr id="29" name="TextBox 28"/>
          <p:cNvSpPr txBox="1"/>
          <p:nvPr/>
        </p:nvSpPr>
        <p:spPr>
          <a:xfrm>
            <a:off x="566928" y="6419088"/>
            <a:ext cx="6858000" cy="274320"/>
          </a:xfrm>
          <a:prstGeom prst="rect">
            <a:avLst/>
          </a:prstGeom>
          <a:noFill/>
        </p:spPr>
        <p:txBody>
          <a:bodyPr wrap="square" lIns="45720" rIns="45720" tIns="27432" bIns="27432" anchor="t">
            <a:noAutofit/>
          </a:bodyPr>
          <a:lstStyle/>
          <a:p>
            <a:pPr algn="l">
              <a:lnSpc>
                <a:spcPct val="100000"/>
              </a:lnSpc>
            </a:pPr>
            <a:r>
              <a:rPr sz="850" b="0" i="0" spc="120">
                <a:solidFill>
                  <a:srgbClr val="A7B2B0"/>
                </a:solidFill>
                <a:latin typeface="Segoe UI Semibold"/>
              </a:rPr>
              <a:t>TLAMATINI  ·  III · DÓNDE TRABAJAS CON ELLA</a:t>
            </a:r>
          </a:p>
        </p:txBody>
      </p:sp>
      <p:sp>
        <p:nvSpPr>
          <p:cNvPr id="30" name="TextBox 29"/>
          <p:cNvSpPr txBox="1"/>
          <p:nvPr/>
        </p:nvSpPr>
        <p:spPr>
          <a:xfrm>
            <a:off x="8698687" y="6419088"/>
            <a:ext cx="2926080" cy="274320"/>
          </a:xfrm>
          <a:prstGeom prst="rect">
            <a:avLst/>
          </a:prstGeom>
          <a:noFill/>
        </p:spPr>
        <p:txBody>
          <a:bodyPr wrap="square" lIns="45720" rIns="45720" tIns="27432" bIns="27432" anchor="t">
            <a:noAutofit/>
          </a:bodyPr>
          <a:lstStyle/>
          <a:p>
            <a:pPr algn="r">
              <a:lnSpc>
                <a:spcPct val="100000"/>
              </a:lnSpc>
            </a:pPr>
            <a:r>
              <a:rPr sz="850" b="0" i="0" spc="100">
                <a:solidFill>
                  <a:srgbClr val="A7B2B0"/>
                </a:solidFill>
                <a:latin typeface="Segoe UI Semibold"/>
              </a:rPr>
              <a:t>v1.91.1   ·   58</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content.png"/>
          <p:cNvPicPr>
            <a:picLocks noChangeAspect="1"/>
          </p:cNvPicPr>
          <p:nvPr/>
        </p:nvPicPr>
        <p:blipFill>
          <a:blip r:embed="rId2"/>
          <a:stretch>
            <a:fillRect/>
          </a:stretch>
        </p:blipFill>
        <p:spPr>
          <a:xfrm>
            <a:off x="0" y="0"/>
            <a:ext cx="12191695" cy="6858000"/>
          </a:xfrm>
          <a:prstGeom prst="rect">
            <a:avLst/>
          </a:prstGeom>
        </p:spPr>
      </p:pic>
      <p:sp>
        <p:nvSpPr>
          <p:cNvPr id="3" name="Diamond 2"/>
          <p:cNvSpPr/>
          <p:nvPr/>
        </p:nvSpPr>
        <p:spPr>
          <a:xfrm>
            <a:off x="566928" y="457200"/>
            <a:ext cx="100584" cy="100584"/>
          </a:xfrm>
          <a:prstGeom prst="diamond">
            <a:avLst/>
          </a:prstGeom>
          <a:solidFill>
            <a:srgbClr val="E2B4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49808" y="365760"/>
            <a:ext cx="8229600" cy="292608"/>
          </a:xfrm>
          <a:prstGeom prst="rect">
            <a:avLst/>
          </a:prstGeom>
          <a:noFill/>
        </p:spPr>
        <p:txBody>
          <a:bodyPr wrap="square" lIns="45720" rIns="45720" tIns="27432" bIns="27432" anchor="t">
            <a:noAutofit/>
          </a:bodyPr>
          <a:lstStyle/>
          <a:p>
            <a:pPr algn="l">
              <a:lnSpc>
                <a:spcPct val="100000"/>
              </a:lnSpc>
            </a:pPr>
            <a:r>
              <a:rPr sz="1100" b="0" i="0" spc="240">
                <a:solidFill>
                  <a:srgbClr val="C98457"/>
                </a:solidFill>
                <a:latin typeface="Segoe UI Semibold"/>
              </a:rPr>
              <a:t>CANVAS DE MARKDOWN</a:t>
            </a:r>
          </a:p>
        </p:txBody>
      </p:sp>
      <p:sp>
        <p:nvSpPr>
          <p:cNvPr id="5" name="TextBox 4"/>
          <p:cNvSpPr txBox="1"/>
          <p:nvPr/>
        </p:nvSpPr>
        <p:spPr>
          <a:xfrm>
            <a:off x="539496" y="676656"/>
            <a:ext cx="11057839" cy="658368"/>
          </a:xfrm>
          <a:prstGeom prst="rect">
            <a:avLst/>
          </a:prstGeom>
          <a:noFill/>
        </p:spPr>
        <p:txBody>
          <a:bodyPr wrap="square" lIns="45720" rIns="45720" tIns="27432" bIns="27432" anchor="t">
            <a:noAutofit/>
          </a:bodyPr>
          <a:lstStyle/>
          <a:p>
            <a:pPr algn="l">
              <a:lnSpc>
                <a:spcPct val="100000"/>
              </a:lnSpc>
            </a:pPr>
            <a:r>
              <a:rPr sz="3100" b="0" i="0">
                <a:solidFill>
                  <a:srgbClr val="F7F2E8"/>
                </a:solidFill>
                <a:latin typeface="Palatino Linotype"/>
              </a:rPr>
              <a:t>El Markdown se abre como página y sigue siendo tu source</a:t>
            </a:r>
          </a:p>
        </p:txBody>
      </p:sp>
      <p:sp>
        <p:nvSpPr>
          <p:cNvPr id="6" name="Rectangle 5"/>
          <p:cNvSpPr/>
          <p:nvPr/>
        </p:nvSpPr>
        <p:spPr>
          <a:xfrm>
            <a:off x="566928" y="1344168"/>
            <a:ext cx="822960" cy="36576"/>
          </a:xfrm>
          <a:prstGeom prst="rect">
            <a:avLst/>
          </a:prstGeom>
          <a:solidFill>
            <a:srgbClr val="E2B4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566928" y="1444752"/>
            <a:ext cx="10692079" cy="585216"/>
          </a:xfrm>
          <a:prstGeom prst="rect">
            <a:avLst/>
          </a:prstGeom>
          <a:noFill/>
        </p:spPr>
        <p:txBody>
          <a:bodyPr wrap="square" lIns="45720" rIns="45720" tIns="27432" bIns="27432" anchor="t">
            <a:noAutofit/>
          </a:bodyPr>
          <a:lstStyle/>
          <a:p>
            <a:pPr algn="l">
              <a:lnSpc>
                <a:spcPct val="100000"/>
              </a:lnSpc>
            </a:pPr>
            <a:r>
              <a:rPr sz="1450" b="0" i="0">
                <a:solidFill>
                  <a:srgbClr val="A7B2B0"/>
                </a:solidFill>
                <a:latin typeface="Segoe UI Semilight"/>
              </a:rPr>
              <a:t>Abre o suelta un archivo .md y el canvas lo renderiza; Source abre el documento editable.</a:t>
            </a:r>
          </a:p>
        </p:txBody>
      </p:sp>
      <p:sp>
        <p:nvSpPr>
          <p:cNvPr id="8" name="Rounded Rectangle 7"/>
          <p:cNvSpPr/>
          <p:nvPr/>
        </p:nvSpPr>
        <p:spPr>
          <a:xfrm>
            <a:off x="566928" y="2084831"/>
            <a:ext cx="11057839" cy="720547"/>
          </a:xfrm>
          <a:prstGeom prst="roundRect">
            <a:avLst>
              <a:gd name="adj" fmla="val 12690"/>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Diamond 8"/>
          <p:cNvSpPr/>
          <p:nvPr/>
        </p:nvSpPr>
        <p:spPr>
          <a:xfrm>
            <a:off x="768096" y="2381097"/>
            <a:ext cx="128016" cy="128016"/>
          </a:xfrm>
          <a:prstGeom prst="diamond">
            <a:avLst/>
          </a:prstGeom>
          <a:solidFill>
            <a:srgbClr val="3BBE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1024128" y="2139696"/>
            <a:ext cx="2651760" cy="610819"/>
          </a:xfrm>
          <a:prstGeom prst="rect">
            <a:avLst/>
          </a:prstGeom>
          <a:noFill/>
        </p:spPr>
        <p:txBody>
          <a:bodyPr wrap="square" lIns="45720" rIns="45720" tIns="27432" bIns="27432" anchor="ctr">
            <a:noAutofit/>
          </a:bodyPr>
          <a:lstStyle/>
          <a:p>
            <a:pPr algn="l">
              <a:lnSpc>
                <a:spcPct val="100000"/>
              </a:lnSpc>
            </a:pPr>
            <a:r>
              <a:rPr sz="1600" b="0" i="0">
                <a:solidFill>
                  <a:srgbClr val="F7F2E8"/>
                </a:solidFill>
                <a:latin typeface="Segoe UI Semibold"/>
              </a:rPr>
              <a:t>Vista previa y Source</a:t>
            </a:r>
          </a:p>
        </p:txBody>
      </p:sp>
      <p:sp>
        <p:nvSpPr>
          <p:cNvPr id="11" name="TextBox 10"/>
          <p:cNvSpPr txBox="1"/>
          <p:nvPr/>
        </p:nvSpPr>
        <p:spPr>
          <a:xfrm>
            <a:off x="3767328" y="2139696"/>
            <a:ext cx="7720279" cy="610819"/>
          </a:xfrm>
          <a:prstGeom prst="rect">
            <a:avLst/>
          </a:prstGeom>
          <a:noFill/>
        </p:spPr>
        <p:txBody>
          <a:bodyPr wrap="square" lIns="45720" rIns="45720" tIns="27432" bIns="27432" anchor="ctr">
            <a:noAutofit/>
          </a:bodyPr>
          <a:lstStyle/>
          <a:p>
            <a:pPr algn="l">
              <a:lnSpc>
                <a:spcPct val="100000"/>
              </a:lnSpc>
            </a:pPr>
            <a:r>
              <a:rPr sz="1400" b="0" i="0">
                <a:solidFill>
                  <a:srgbClr val="A7B2B0"/>
                </a:solidFill>
                <a:latin typeface="Segoe UI"/>
              </a:rPr>
              <a:t>Página renderizada, o source editable con números de línea.</a:t>
            </a:r>
          </a:p>
        </p:txBody>
      </p:sp>
      <p:sp>
        <p:nvSpPr>
          <p:cNvPr id="12" name="Rounded Rectangle 11"/>
          <p:cNvSpPr/>
          <p:nvPr/>
        </p:nvSpPr>
        <p:spPr>
          <a:xfrm>
            <a:off x="566928" y="2933395"/>
            <a:ext cx="11057839" cy="720547"/>
          </a:xfrm>
          <a:prstGeom prst="roundRect">
            <a:avLst>
              <a:gd name="adj" fmla="val 12690"/>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Diamond 12"/>
          <p:cNvSpPr/>
          <p:nvPr/>
        </p:nvSpPr>
        <p:spPr>
          <a:xfrm>
            <a:off x="768096" y="3229660"/>
            <a:ext cx="128016" cy="128016"/>
          </a:xfrm>
          <a:prstGeom prst="diamond">
            <a:avLst/>
          </a:prstGeom>
          <a:solidFill>
            <a:srgbClr val="C984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1024128" y="2988259"/>
            <a:ext cx="2651760" cy="610819"/>
          </a:xfrm>
          <a:prstGeom prst="rect">
            <a:avLst/>
          </a:prstGeom>
          <a:noFill/>
        </p:spPr>
        <p:txBody>
          <a:bodyPr wrap="square" lIns="45720" rIns="45720" tIns="27432" bIns="27432" anchor="ctr">
            <a:noAutofit/>
          </a:bodyPr>
          <a:lstStyle/>
          <a:p>
            <a:pPr algn="l">
              <a:lnSpc>
                <a:spcPct val="100000"/>
              </a:lnSpc>
            </a:pPr>
            <a:r>
              <a:rPr sz="1600" b="0" i="0">
                <a:solidFill>
                  <a:srgbClr val="F7F2E8"/>
                </a:solidFill>
                <a:latin typeface="Segoe UI Semibold"/>
              </a:rPr>
              <a:t>Sin conexión</a:t>
            </a:r>
          </a:p>
        </p:txBody>
      </p:sp>
      <p:sp>
        <p:nvSpPr>
          <p:cNvPr id="15" name="TextBox 14"/>
          <p:cNvSpPr txBox="1"/>
          <p:nvPr/>
        </p:nvSpPr>
        <p:spPr>
          <a:xfrm>
            <a:off x="3767328" y="2988259"/>
            <a:ext cx="7720279" cy="610819"/>
          </a:xfrm>
          <a:prstGeom prst="rect">
            <a:avLst/>
          </a:prstGeom>
          <a:noFill/>
        </p:spPr>
        <p:txBody>
          <a:bodyPr wrap="square" lIns="45720" rIns="45720" tIns="27432" bIns="27432" anchor="ctr">
            <a:noAutofit/>
          </a:bodyPr>
          <a:lstStyle/>
          <a:p>
            <a:pPr algn="l">
              <a:lnSpc>
                <a:spcPct val="100000"/>
              </a:lnSpc>
            </a:pPr>
            <a:r>
              <a:rPr sz="1400" b="0" i="0">
                <a:solidFill>
                  <a:srgbClr val="A7B2B0"/>
                </a:solidFill>
                <a:latin typeface="Segoe UI"/>
              </a:rPr>
              <a:t>Marked y DOMPurify incluidos; sin CDN al ejecutar.</a:t>
            </a:r>
          </a:p>
        </p:txBody>
      </p:sp>
      <p:sp>
        <p:nvSpPr>
          <p:cNvPr id="16" name="Rounded Rectangle 15"/>
          <p:cNvSpPr/>
          <p:nvPr/>
        </p:nvSpPr>
        <p:spPr>
          <a:xfrm>
            <a:off x="566928" y="3781958"/>
            <a:ext cx="11057839" cy="720547"/>
          </a:xfrm>
          <a:prstGeom prst="roundRect">
            <a:avLst>
              <a:gd name="adj" fmla="val 12690"/>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Diamond 16"/>
          <p:cNvSpPr/>
          <p:nvPr/>
        </p:nvSpPr>
        <p:spPr>
          <a:xfrm>
            <a:off x="768096" y="4078224"/>
            <a:ext cx="128016" cy="128016"/>
          </a:xfrm>
          <a:prstGeom prst="diamond">
            <a:avLst/>
          </a:prstGeom>
          <a:solidFill>
            <a:srgbClr val="E2B4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1024128" y="3836822"/>
            <a:ext cx="2651760" cy="610819"/>
          </a:xfrm>
          <a:prstGeom prst="rect">
            <a:avLst/>
          </a:prstGeom>
          <a:noFill/>
        </p:spPr>
        <p:txBody>
          <a:bodyPr wrap="square" lIns="45720" rIns="45720" tIns="27432" bIns="27432" anchor="ctr">
            <a:noAutofit/>
          </a:bodyPr>
          <a:lstStyle/>
          <a:p>
            <a:pPr algn="l">
              <a:lnSpc>
                <a:spcPct val="100000"/>
              </a:lnSpc>
            </a:pPr>
            <a:r>
              <a:rPr sz="1600" b="0" i="0">
                <a:solidFill>
                  <a:srgbClr val="F7F2E8"/>
                </a:solidFill>
                <a:latin typeface="Segoe UI Semibold"/>
              </a:rPr>
              <a:t>HTML seguro</a:t>
            </a:r>
          </a:p>
        </p:txBody>
      </p:sp>
      <p:sp>
        <p:nvSpPr>
          <p:cNvPr id="19" name="TextBox 18"/>
          <p:cNvSpPr txBox="1"/>
          <p:nvPr/>
        </p:nvSpPr>
        <p:spPr>
          <a:xfrm>
            <a:off x="3767328" y="3836822"/>
            <a:ext cx="7720279" cy="610819"/>
          </a:xfrm>
          <a:prstGeom prst="rect">
            <a:avLst/>
          </a:prstGeom>
          <a:noFill/>
        </p:spPr>
        <p:txBody>
          <a:bodyPr wrap="square" lIns="45720" rIns="45720" tIns="27432" bIns="27432" anchor="ctr">
            <a:noAutofit/>
          </a:bodyPr>
          <a:lstStyle/>
          <a:p>
            <a:pPr algn="l">
              <a:lnSpc>
                <a:spcPct val="100000"/>
              </a:lnSpc>
            </a:pPr>
            <a:r>
              <a:rPr sz="1400" b="0" i="0">
                <a:solidFill>
                  <a:srgbClr val="A7B2B0"/>
                </a:solidFill>
                <a:latin typeface="Segoe UI"/>
              </a:rPr>
              <a:t>Marcado de una lista permitida; los links relativos nunca llegan a la app.</a:t>
            </a:r>
          </a:p>
        </p:txBody>
      </p:sp>
      <p:sp>
        <p:nvSpPr>
          <p:cNvPr id="20" name="Rounded Rectangle 19"/>
          <p:cNvSpPr/>
          <p:nvPr/>
        </p:nvSpPr>
        <p:spPr>
          <a:xfrm>
            <a:off x="566928" y="4630521"/>
            <a:ext cx="11057839" cy="720547"/>
          </a:xfrm>
          <a:prstGeom prst="roundRect">
            <a:avLst>
              <a:gd name="adj" fmla="val 12690"/>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Diamond 20"/>
          <p:cNvSpPr/>
          <p:nvPr/>
        </p:nvSpPr>
        <p:spPr>
          <a:xfrm>
            <a:off x="768096" y="4926787"/>
            <a:ext cx="128016" cy="128016"/>
          </a:xfrm>
          <a:prstGeom prst="diamond">
            <a:avLst/>
          </a:prstGeom>
          <a:solidFill>
            <a:srgbClr val="46D2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1024128" y="4685385"/>
            <a:ext cx="2651760" cy="610819"/>
          </a:xfrm>
          <a:prstGeom prst="rect">
            <a:avLst/>
          </a:prstGeom>
          <a:noFill/>
        </p:spPr>
        <p:txBody>
          <a:bodyPr wrap="square" lIns="45720" rIns="45720" tIns="27432" bIns="27432" anchor="ctr">
            <a:noAutofit/>
          </a:bodyPr>
          <a:lstStyle/>
          <a:p>
            <a:pPr algn="l">
              <a:lnSpc>
                <a:spcPct val="100000"/>
              </a:lnSpc>
            </a:pPr>
            <a:r>
              <a:rPr sz="1600" b="0" i="0">
                <a:solidFill>
                  <a:srgbClr val="F7F2E8"/>
                </a:solidFill>
                <a:latin typeface="Segoe UI Semibold"/>
              </a:rPr>
              <a:t>Tu source</a:t>
            </a:r>
          </a:p>
        </p:txBody>
      </p:sp>
      <p:sp>
        <p:nvSpPr>
          <p:cNvPr id="23" name="TextBox 22"/>
          <p:cNvSpPr txBox="1"/>
          <p:nvPr/>
        </p:nvSpPr>
        <p:spPr>
          <a:xfrm>
            <a:off x="3767328" y="4685385"/>
            <a:ext cx="7720279" cy="610819"/>
          </a:xfrm>
          <a:prstGeom prst="rect">
            <a:avLst/>
          </a:prstGeom>
          <a:noFill/>
        </p:spPr>
        <p:txBody>
          <a:bodyPr wrap="square" lIns="45720" rIns="45720" tIns="27432" bIns="27432" anchor="ctr">
            <a:noAutofit/>
          </a:bodyPr>
          <a:lstStyle/>
          <a:p>
            <a:pPr algn="l">
              <a:lnSpc>
                <a:spcPct val="100000"/>
              </a:lnSpc>
            </a:pPr>
            <a:r>
              <a:rPr sz="1400" b="0" i="0">
                <a:solidFill>
                  <a:srgbClr val="A7B2B0"/>
                </a:solidFill>
                <a:latin typeface="Segoe UI"/>
              </a:rPr>
              <a:t>Copiar, contexto y Guardar usan el buffer actual del source.</a:t>
            </a:r>
          </a:p>
        </p:txBody>
      </p:sp>
      <p:sp>
        <p:nvSpPr>
          <p:cNvPr id="24" name="Rounded Rectangle 23"/>
          <p:cNvSpPr/>
          <p:nvPr/>
        </p:nvSpPr>
        <p:spPr>
          <a:xfrm>
            <a:off x="566928" y="5479084"/>
            <a:ext cx="11057839" cy="720547"/>
          </a:xfrm>
          <a:prstGeom prst="roundRect">
            <a:avLst>
              <a:gd name="adj" fmla="val 12690"/>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Diamond 24"/>
          <p:cNvSpPr/>
          <p:nvPr/>
        </p:nvSpPr>
        <p:spPr>
          <a:xfrm>
            <a:off x="768096" y="5775350"/>
            <a:ext cx="128016" cy="128016"/>
          </a:xfrm>
          <a:prstGeom prst="diamond">
            <a:avLst/>
          </a:prstGeom>
          <a:solidFill>
            <a:srgbClr val="D25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1024128" y="5533948"/>
            <a:ext cx="2651760" cy="610819"/>
          </a:xfrm>
          <a:prstGeom prst="rect">
            <a:avLst/>
          </a:prstGeom>
          <a:noFill/>
        </p:spPr>
        <p:txBody>
          <a:bodyPr wrap="square" lIns="45720" rIns="45720" tIns="27432" bIns="27432" anchor="ctr">
            <a:noAutofit/>
          </a:bodyPr>
          <a:lstStyle/>
          <a:p>
            <a:pPr algn="l">
              <a:lnSpc>
                <a:spcPct val="100000"/>
              </a:lnSpc>
            </a:pPr>
            <a:r>
              <a:rPr sz="1600" b="0" i="0">
                <a:solidFill>
                  <a:srgbClr val="F7F2E8"/>
                </a:solidFill>
                <a:latin typeface="Segoe UI Semibold"/>
              </a:rPr>
              <a:t>Evidencia</a:t>
            </a:r>
          </a:p>
        </p:txBody>
      </p:sp>
      <p:sp>
        <p:nvSpPr>
          <p:cNvPr id="27" name="TextBox 26"/>
          <p:cNvSpPr txBox="1"/>
          <p:nvPr/>
        </p:nvSpPr>
        <p:spPr>
          <a:xfrm>
            <a:off x="3767328" y="5533948"/>
            <a:ext cx="7720279" cy="610819"/>
          </a:xfrm>
          <a:prstGeom prst="rect">
            <a:avLst/>
          </a:prstGeom>
          <a:noFill/>
        </p:spPr>
        <p:txBody>
          <a:bodyPr wrap="square" lIns="45720" rIns="45720" tIns="27432" bIns="27432" anchor="ctr">
            <a:noAutofit/>
          </a:bodyPr>
          <a:lstStyle/>
          <a:p>
            <a:pPr algn="l">
              <a:lnSpc>
                <a:spcPct val="100000"/>
              </a:lnSpc>
            </a:pPr>
            <a:r>
              <a:rPr sz="1400" b="0" i="0">
                <a:solidFill>
                  <a:srgbClr val="A7B2B0"/>
                </a:solidFill>
                <a:latin typeface="Segoe UI"/>
              </a:rPr>
              <a:t>30 de 30 puntos de revisión visibles el 11 de octubre.</a:t>
            </a:r>
          </a:p>
        </p:txBody>
      </p:sp>
      <p:cxnSp>
        <p:nvCxnSpPr>
          <p:cNvPr id="28" name="Connector 27"/>
          <p:cNvCxnSpPr/>
          <p:nvPr/>
        </p:nvCxnSpPr>
        <p:spPr>
          <a:xfrm>
            <a:off x="566928" y="6373368"/>
            <a:ext cx="11057839" cy="0"/>
          </a:xfrm>
          <a:prstGeom prst="line">
            <a:avLst/>
          </a:prstGeom>
          <a:ln w="7620">
            <a:solidFill>
              <a:srgbClr val="2A3A40"/>
            </a:solidFill>
          </a:ln>
        </p:spPr>
        <p:style>
          <a:lnRef idx="2">
            <a:schemeClr val="accent1"/>
          </a:lnRef>
          <a:fillRef idx="0">
            <a:schemeClr val="accent1"/>
          </a:fillRef>
          <a:effectRef idx="1">
            <a:schemeClr val="accent1"/>
          </a:effectRef>
          <a:fontRef idx="minor">
            <a:schemeClr val="tx1"/>
          </a:fontRef>
        </p:style>
      </p:cxnSp>
      <p:sp>
        <p:nvSpPr>
          <p:cNvPr id="29" name="TextBox 28"/>
          <p:cNvSpPr txBox="1"/>
          <p:nvPr/>
        </p:nvSpPr>
        <p:spPr>
          <a:xfrm>
            <a:off x="566928" y="6419088"/>
            <a:ext cx="6858000" cy="274320"/>
          </a:xfrm>
          <a:prstGeom prst="rect">
            <a:avLst/>
          </a:prstGeom>
          <a:noFill/>
        </p:spPr>
        <p:txBody>
          <a:bodyPr wrap="square" lIns="45720" rIns="45720" tIns="27432" bIns="27432" anchor="t">
            <a:noAutofit/>
          </a:bodyPr>
          <a:lstStyle/>
          <a:p>
            <a:pPr algn="l">
              <a:lnSpc>
                <a:spcPct val="100000"/>
              </a:lnSpc>
            </a:pPr>
            <a:r>
              <a:rPr sz="850" b="0" i="0" spc="120">
                <a:solidFill>
                  <a:srgbClr val="A7B2B0"/>
                </a:solidFill>
                <a:latin typeface="Segoe UI Semibold"/>
              </a:rPr>
              <a:t>TLAMATINI  ·  III · DÓNDE TRABAJAS CON ELLA</a:t>
            </a:r>
          </a:p>
        </p:txBody>
      </p:sp>
      <p:sp>
        <p:nvSpPr>
          <p:cNvPr id="30" name="TextBox 29"/>
          <p:cNvSpPr txBox="1"/>
          <p:nvPr/>
        </p:nvSpPr>
        <p:spPr>
          <a:xfrm>
            <a:off x="8698687" y="6419088"/>
            <a:ext cx="2926080" cy="274320"/>
          </a:xfrm>
          <a:prstGeom prst="rect">
            <a:avLst/>
          </a:prstGeom>
          <a:noFill/>
        </p:spPr>
        <p:txBody>
          <a:bodyPr wrap="square" lIns="45720" rIns="45720" tIns="27432" bIns="27432" anchor="t">
            <a:noAutofit/>
          </a:bodyPr>
          <a:lstStyle/>
          <a:p>
            <a:pPr algn="r">
              <a:lnSpc>
                <a:spcPct val="100000"/>
              </a:lnSpc>
            </a:pPr>
            <a:r>
              <a:rPr sz="850" b="0" i="0" spc="100">
                <a:solidFill>
                  <a:srgbClr val="A7B2B0"/>
                </a:solidFill>
                <a:latin typeface="Segoe UI Semibold"/>
              </a:rPr>
              <a:t>v1.91.1   ·   59</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content.png"/>
          <p:cNvPicPr>
            <a:picLocks noChangeAspect="1"/>
          </p:cNvPicPr>
          <p:nvPr/>
        </p:nvPicPr>
        <p:blipFill>
          <a:blip r:embed="rId2"/>
          <a:stretch>
            <a:fillRect/>
          </a:stretch>
        </p:blipFill>
        <p:spPr>
          <a:xfrm>
            <a:off x="0" y="0"/>
            <a:ext cx="12191695" cy="6858000"/>
          </a:xfrm>
          <a:prstGeom prst="rect">
            <a:avLst/>
          </a:prstGeom>
        </p:spPr>
      </p:pic>
      <p:sp>
        <p:nvSpPr>
          <p:cNvPr id="3" name="Diamond 2"/>
          <p:cNvSpPr/>
          <p:nvPr/>
        </p:nvSpPr>
        <p:spPr>
          <a:xfrm>
            <a:off x="566928" y="457200"/>
            <a:ext cx="100584" cy="100584"/>
          </a:xfrm>
          <a:prstGeom prst="diamond">
            <a:avLst/>
          </a:prstGeom>
          <a:solidFill>
            <a:srgbClr val="E2B4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49808" y="365760"/>
            <a:ext cx="8229600" cy="292608"/>
          </a:xfrm>
          <a:prstGeom prst="rect">
            <a:avLst/>
          </a:prstGeom>
          <a:noFill/>
        </p:spPr>
        <p:txBody>
          <a:bodyPr wrap="square" lIns="45720" rIns="45720" tIns="27432" bIns="27432" anchor="t">
            <a:noAutofit/>
          </a:bodyPr>
          <a:lstStyle/>
          <a:p>
            <a:pPr algn="l">
              <a:lnSpc>
                <a:spcPct val="100000"/>
              </a:lnSpc>
            </a:pPr>
            <a:r>
              <a:rPr sz="1100" b="0" i="0" spc="240">
                <a:solidFill>
                  <a:srgbClr val="C98457"/>
                </a:solidFill>
                <a:latin typeface="Segoe UI Semibold"/>
              </a:rPr>
              <a:t>SOLTAR ARCHIVOS · v1.83.0</a:t>
            </a:r>
          </a:p>
        </p:txBody>
      </p:sp>
      <p:sp>
        <p:nvSpPr>
          <p:cNvPr id="5" name="TextBox 4"/>
          <p:cNvSpPr txBox="1"/>
          <p:nvPr/>
        </p:nvSpPr>
        <p:spPr>
          <a:xfrm>
            <a:off x="539496" y="676656"/>
            <a:ext cx="11057839" cy="658368"/>
          </a:xfrm>
          <a:prstGeom prst="rect">
            <a:avLst/>
          </a:prstGeom>
          <a:noFill/>
        </p:spPr>
        <p:txBody>
          <a:bodyPr wrap="square" lIns="45720" rIns="45720" tIns="27432" bIns="27432" anchor="t">
            <a:noAutofit/>
          </a:bodyPr>
          <a:lstStyle/>
          <a:p>
            <a:pPr algn="l">
              <a:lnSpc>
                <a:spcPct val="100000"/>
              </a:lnSpc>
            </a:pPr>
            <a:r>
              <a:rPr sz="3100" b="0" i="0">
                <a:solidFill>
                  <a:srgbClr val="F7F2E8"/>
                </a:solidFill>
                <a:latin typeface="Palatino Linotype"/>
              </a:rPr>
              <a:t>Suelta un archivo en cualquier lugar, y ella sabe qué es</a:t>
            </a:r>
          </a:p>
        </p:txBody>
      </p:sp>
      <p:sp>
        <p:nvSpPr>
          <p:cNvPr id="6" name="Rectangle 5"/>
          <p:cNvSpPr/>
          <p:nvPr/>
        </p:nvSpPr>
        <p:spPr>
          <a:xfrm>
            <a:off x="566928" y="1344168"/>
            <a:ext cx="822960" cy="36576"/>
          </a:xfrm>
          <a:prstGeom prst="rect">
            <a:avLst/>
          </a:prstGeom>
          <a:solidFill>
            <a:srgbClr val="E2B4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566928" y="1444752"/>
            <a:ext cx="10692079" cy="585216"/>
          </a:xfrm>
          <a:prstGeom prst="rect">
            <a:avLst/>
          </a:prstGeom>
          <a:noFill/>
        </p:spPr>
        <p:txBody>
          <a:bodyPr wrap="square" lIns="45720" rIns="45720" tIns="27432" bIns="27432" anchor="t">
            <a:noAutofit/>
          </a:bodyPr>
          <a:lstStyle/>
          <a:p>
            <a:pPr algn="l">
              <a:lnSpc>
                <a:spcPct val="100000"/>
              </a:lnSpc>
            </a:pPr>
            <a:r>
              <a:rPr sz="1450" b="0" i="0">
                <a:solidFill>
                  <a:srgbClr val="A7B2B0"/>
                </a:solidFill>
                <a:latin typeface="Segoe UI Semilight"/>
              </a:rPr>
              <a:t>Un solo listener en cada página lee cada archivo soltado y lo envía al mecanismo que le corresponde.</a:t>
            </a:r>
          </a:p>
        </p:txBody>
      </p:sp>
      <p:sp>
        <p:nvSpPr>
          <p:cNvPr id="8" name="Rounded Rectangle 7"/>
          <p:cNvSpPr/>
          <p:nvPr/>
        </p:nvSpPr>
        <p:spPr>
          <a:xfrm>
            <a:off x="566928" y="2084831"/>
            <a:ext cx="11057839" cy="3776472"/>
          </a:xfrm>
          <a:prstGeom prst="roundRect">
            <a:avLst>
              <a:gd name="adj" fmla="val 1937"/>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ounded Rectangle 8"/>
          <p:cNvSpPr/>
          <p:nvPr/>
        </p:nvSpPr>
        <p:spPr>
          <a:xfrm>
            <a:off x="566928" y="2084831"/>
            <a:ext cx="11057839" cy="384048"/>
          </a:xfrm>
          <a:prstGeom prst="roundRect">
            <a:avLst>
              <a:gd name="adj" fmla="val 19047"/>
            </a:avLst>
          </a:prstGeom>
          <a:solidFill>
            <a:srgbClr val="151F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640080" y="2121408"/>
            <a:ext cx="3171047" cy="310896"/>
          </a:xfrm>
          <a:prstGeom prst="rect">
            <a:avLst/>
          </a:prstGeom>
          <a:noFill/>
        </p:spPr>
        <p:txBody>
          <a:bodyPr wrap="square" lIns="45720" rIns="45720" tIns="27432" bIns="27432" anchor="ctr">
            <a:noAutofit/>
          </a:bodyPr>
          <a:lstStyle/>
          <a:p>
            <a:pPr algn="l">
              <a:lnSpc>
                <a:spcPct val="100000"/>
              </a:lnSpc>
            </a:pPr>
            <a:r>
              <a:rPr sz="1000" b="0" i="0" spc="120">
                <a:solidFill>
                  <a:srgbClr val="E2B462"/>
                </a:solidFill>
                <a:latin typeface="Segoe UI Semibold"/>
              </a:rPr>
              <a:t>SUELTAS</a:t>
            </a:r>
          </a:p>
        </p:txBody>
      </p:sp>
      <p:sp>
        <p:nvSpPr>
          <p:cNvPr id="11" name="TextBox 10"/>
          <p:cNvSpPr txBox="1"/>
          <p:nvPr/>
        </p:nvSpPr>
        <p:spPr>
          <a:xfrm>
            <a:off x="3957431" y="2121408"/>
            <a:ext cx="7594183" cy="310896"/>
          </a:xfrm>
          <a:prstGeom prst="rect">
            <a:avLst/>
          </a:prstGeom>
          <a:noFill/>
        </p:spPr>
        <p:txBody>
          <a:bodyPr wrap="square" lIns="45720" rIns="45720" tIns="27432" bIns="27432" anchor="ctr">
            <a:noAutofit/>
          </a:bodyPr>
          <a:lstStyle/>
          <a:p>
            <a:pPr algn="l">
              <a:lnSpc>
                <a:spcPct val="100000"/>
              </a:lnSpc>
            </a:pPr>
            <a:r>
              <a:rPr sz="1000" b="0" i="0" spc="120">
                <a:solidFill>
                  <a:srgbClr val="E2B462"/>
                </a:solidFill>
                <a:latin typeface="Segoe UI Semibold"/>
              </a:rPr>
              <a:t>QUÉ PASA</a:t>
            </a:r>
          </a:p>
        </p:txBody>
      </p:sp>
      <p:sp>
        <p:nvSpPr>
          <p:cNvPr id="12" name="TextBox 11"/>
          <p:cNvSpPr txBox="1"/>
          <p:nvPr/>
        </p:nvSpPr>
        <p:spPr>
          <a:xfrm>
            <a:off x="640080" y="2505456"/>
            <a:ext cx="3171047" cy="530352"/>
          </a:xfrm>
          <a:prstGeom prst="rect">
            <a:avLst/>
          </a:prstGeom>
          <a:noFill/>
        </p:spPr>
        <p:txBody>
          <a:bodyPr wrap="square" lIns="45720" rIns="45720" tIns="27432" bIns="27432" anchor="ctr">
            <a:noAutofit/>
          </a:bodyPr>
          <a:lstStyle/>
          <a:p>
            <a:pPr algn="l">
              <a:lnSpc>
                <a:spcPct val="100000"/>
              </a:lnSpc>
            </a:pPr>
            <a:r>
              <a:rPr sz="1500" b="0" i="0">
                <a:solidFill>
                  <a:srgbClr val="F7F2E8"/>
                </a:solidFill>
                <a:latin typeface="Segoe UI Semibold"/>
              </a:rPr>
              <a:t>Un .json de MCP</a:t>
            </a:r>
          </a:p>
        </p:txBody>
      </p:sp>
      <p:sp>
        <p:nvSpPr>
          <p:cNvPr id="13" name="TextBox 12"/>
          <p:cNvSpPr txBox="1"/>
          <p:nvPr/>
        </p:nvSpPr>
        <p:spPr>
          <a:xfrm>
            <a:off x="3957431" y="2505456"/>
            <a:ext cx="7594183" cy="530352"/>
          </a:xfrm>
          <a:prstGeom prst="rect">
            <a:avLst/>
          </a:prstGeom>
          <a:noFill/>
        </p:spPr>
        <p:txBody>
          <a:bodyPr wrap="square" lIns="45720" rIns="45720" tIns="27432" bIns="27432" anchor="ctr">
            <a:noAutofit/>
          </a:bodyPr>
          <a:lstStyle/>
          <a:p>
            <a:pPr algn="l">
              <a:lnSpc>
                <a:spcPct val="100000"/>
              </a:lnSpc>
            </a:pPr>
            <a:r>
              <a:rPr sz="1500" b="0" i="0">
                <a:solidFill>
                  <a:srgbClr val="A7B2B0"/>
                </a:solidFill>
                <a:latin typeface="Segoe UI"/>
              </a:rPr>
              <a:t>Confirma, y luego se une al catálogo de External MCPs; funciona en todas las páginas.</a:t>
            </a:r>
          </a:p>
        </p:txBody>
      </p:sp>
      <p:sp>
        <p:nvSpPr>
          <p:cNvPr id="14" name="Rectangle 13"/>
          <p:cNvSpPr/>
          <p:nvPr/>
        </p:nvSpPr>
        <p:spPr>
          <a:xfrm>
            <a:off x="585216" y="3072384"/>
            <a:ext cx="11021263" cy="603504"/>
          </a:xfrm>
          <a:prstGeom prst="rect">
            <a:avLst/>
          </a:prstGeom>
          <a:solidFill>
            <a:srgbClr val="1824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640080" y="3108960"/>
            <a:ext cx="3171047" cy="530352"/>
          </a:xfrm>
          <a:prstGeom prst="rect">
            <a:avLst/>
          </a:prstGeom>
          <a:noFill/>
        </p:spPr>
        <p:txBody>
          <a:bodyPr wrap="square" lIns="45720" rIns="45720" tIns="27432" bIns="27432" anchor="ctr">
            <a:noAutofit/>
          </a:bodyPr>
          <a:lstStyle/>
          <a:p>
            <a:pPr algn="l">
              <a:lnSpc>
                <a:spcPct val="100000"/>
              </a:lnSpc>
            </a:pPr>
            <a:r>
              <a:rPr sz="1500" b="0" i="0">
                <a:solidFill>
                  <a:srgbClr val="F7F2E8"/>
                </a:solidFill>
                <a:latin typeface="Segoe UI Semibold"/>
              </a:rPr>
              <a:t>Un flow .flw</a:t>
            </a:r>
          </a:p>
        </p:txBody>
      </p:sp>
      <p:sp>
        <p:nvSpPr>
          <p:cNvPr id="16" name="TextBox 15"/>
          <p:cNvSpPr txBox="1"/>
          <p:nvPr/>
        </p:nvSpPr>
        <p:spPr>
          <a:xfrm>
            <a:off x="3957431" y="3108960"/>
            <a:ext cx="7594183" cy="530352"/>
          </a:xfrm>
          <a:prstGeom prst="rect">
            <a:avLst/>
          </a:prstGeom>
          <a:noFill/>
        </p:spPr>
        <p:txBody>
          <a:bodyPr wrap="square" lIns="45720" rIns="45720" tIns="27432" bIns="27432" anchor="ctr">
            <a:noAutofit/>
          </a:bodyPr>
          <a:lstStyle/>
          <a:p>
            <a:pPr algn="l">
              <a:lnSpc>
                <a:spcPct val="100000"/>
              </a:lnSpc>
            </a:pPr>
            <a:r>
              <a:rPr sz="1500" b="0" i="0">
                <a:solidFill>
                  <a:srgbClr val="A7B2B0"/>
                </a:solidFill>
                <a:latin typeface="Segoe UI"/>
              </a:rPr>
              <a:t>Se carga en el canvas del Agentic Control Panel, o abre ese panel en una pestaña nueva.</a:t>
            </a:r>
          </a:p>
        </p:txBody>
      </p:sp>
      <p:sp>
        <p:nvSpPr>
          <p:cNvPr id="17" name="TextBox 16"/>
          <p:cNvSpPr txBox="1"/>
          <p:nvPr/>
        </p:nvSpPr>
        <p:spPr>
          <a:xfrm>
            <a:off x="640080" y="3712463"/>
            <a:ext cx="3171047" cy="530352"/>
          </a:xfrm>
          <a:prstGeom prst="rect">
            <a:avLst/>
          </a:prstGeom>
          <a:noFill/>
        </p:spPr>
        <p:txBody>
          <a:bodyPr wrap="square" lIns="45720" rIns="45720" tIns="27432" bIns="27432" anchor="ctr">
            <a:noAutofit/>
          </a:bodyPr>
          <a:lstStyle/>
          <a:p>
            <a:pPr algn="l">
              <a:lnSpc>
                <a:spcPct val="100000"/>
              </a:lnSpc>
            </a:pPr>
            <a:r>
              <a:rPr sz="1500" b="0" i="0">
                <a:solidFill>
                  <a:srgbClr val="F7F2E8"/>
                </a:solidFill>
                <a:latin typeface="Segoe UI Semibold"/>
              </a:rPr>
              <a:t>Un flow .fpmt</a:t>
            </a:r>
          </a:p>
        </p:txBody>
      </p:sp>
      <p:sp>
        <p:nvSpPr>
          <p:cNvPr id="18" name="TextBox 17"/>
          <p:cNvSpPr txBox="1"/>
          <p:nvPr/>
        </p:nvSpPr>
        <p:spPr>
          <a:xfrm>
            <a:off x="3957431" y="3712463"/>
            <a:ext cx="7594183" cy="530352"/>
          </a:xfrm>
          <a:prstGeom prst="rect">
            <a:avLst/>
          </a:prstGeom>
          <a:noFill/>
        </p:spPr>
        <p:txBody>
          <a:bodyPr wrap="square" lIns="45720" rIns="45720" tIns="27432" bIns="27432" anchor="ctr">
            <a:noAutofit/>
          </a:bodyPr>
          <a:lstStyle/>
          <a:p>
            <a:pPr algn="l">
              <a:lnSpc>
                <a:spcPct val="100000"/>
              </a:lnSpc>
            </a:pPr>
            <a:r>
              <a:rPr sz="1500" b="0" i="0">
                <a:solidFill>
                  <a:srgbClr val="A7B2B0"/>
                </a:solidFill>
                <a:latin typeface="Segoe UI"/>
              </a:rPr>
              <a:t>Se carga en el Prompt Flow Panel, preguntando primero por el trabajo sin guardar, o en una pestaña nueva.</a:t>
            </a:r>
          </a:p>
        </p:txBody>
      </p:sp>
      <p:sp>
        <p:nvSpPr>
          <p:cNvPr id="19" name="Rectangle 18"/>
          <p:cNvSpPr/>
          <p:nvPr/>
        </p:nvSpPr>
        <p:spPr>
          <a:xfrm>
            <a:off x="585216" y="4279392"/>
            <a:ext cx="11021263" cy="374904"/>
          </a:xfrm>
          <a:prstGeom prst="rect">
            <a:avLst/>
          </a:prstGeom>
          <a:solidFill>
            <a:srgbClr val="1824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640080" y="4315968"/>
            <a:ext cx="3171047" cy="301752"/>
          </a:xfrm>
          <a:prstGeom prst="rect">
            <a:avLst/>
          </a:prstGeom>
          <a:noFill/>
        </p:spPr>
        <p:txBody>
          <a:bodyPr wrap="square" lIns="45720" rIns="45720" tIns="27432" bIns="27432" anchor="ctr">
            <a:noAutofit/>
          </a:bodyPr>
          <a:lstStyle/>
          <a:p>
            <a:pPr algn="l">
              <a:lnSpc>
                <a:spcPct val="100000"/>
              </a:lnSpc>
            </a:pPr>
            <a:r>
              <a:rPr sz="1500" b="0" i="0">
                <a:solidFill>
                  <a:srgbClr val="F7F2E8"/>
                </a:solidFill>
                <a:latin typeface="Segoe UI Semibold"/>
              </a:rPr>
              <a:t>Una imagen</a:t>
            </a:r>
          </a:p>
        </p:txBody>
      </p:sp>
      <p:sp>
        <p:nvSpPr>
          <p:cNvPr id="21" name="TextBox 20"/>
          <p:cNvSpPr txBox="1"/>
          <p:nvPr/>
        </p:nvSpPr>
        <p:spPr>
          <a:xfrm>
            <a:off x="3957431" y="4315968"/>
            <a:ext cx="7594183" cy="301752"/>
          </a:xfrm>
          <a:prstGeom prst="rect">
            <a:avLst/>
          </a:prstGeom>
          <a:noFill/>
        </p:spPr>
        <p:txBody>
          <a:bodyPr wrap="square" lIns="45720" rIns="45720" tIns="27432" bIns="27432" anchor="ctr">
            <a:noAutofit/>
          </a:bodyPr>
          <a:lstStyle/>
          <a:p>
            <a:pPr algn="l">
              <a:lnSpc>
                <a:spcPct val="100000"/>
              </a:lnSpc>
            </a:pPr>
            <a:r>
              <a:rPr sz="1500" b="0" i="0">
                <a:solidFill>
                  <a:srgbClr val="A7B2B0"/>
                </a:solidFill>
                <a:latin typeface="Segoe UI"/>
              </a:rPr>
              <a:t>Se adjunta a tu mensaje: se guarda en Temp y su path se escribe en el mensaje.</a:t>
            </a:r>
          </a:p>
        </p:txBody>
      </p:sp>
      <p:sp>
        <p:nvSpPr>
          <p:cNvPr id="22" name="TextBox 21"/>
          <p:cNvSpPr txBox="1"/>
          <p:nvPr/>
        </p:nvSpPr>
        <p:spPr>
          <a:xfrm>
            <a:off x="640080" y="4690872"/>
            <a:ext cx="3171047" cy="530352"/>
          </a:xfrm>
          <a:prstGeom prst="rect">
            <a:avLst/>
          </a:prstGeom>
          <a:noFill/>
        </p:spPr>
        <p:txBody>
          <a:bodyPr wrap="square" lIns="45720" rIns="45720" tIns="27432" bIns="27432" anchor="ctr">
            <a:noAutofit/>
          </a:bodyPr>
          <a:lstStyle/>
          <a:p>
            <a:pPr algn="l">
              <a:lnSpc>
                <a:spcPct val="100000"/>
              </a:lnSpc>
            </a:pPr>
            <a:r>
              <a:rPr sz="1500" b="0" i="0">
                <a:solidFill>
                  <a:srgbClr val="F7F2E8"/>
                </a:solidFill>
                <a:latin typeface="Segoe UI Semibold"/>
              </a:rPr>
              <a:t>PDF, Markdown, código, JSON simple</a:t>
            </a:r>
          </a:p>
        </p:txBody>
      </p:sp>
      <p:sp>
        <p:nvSpPr>
          <p:cNvPr id="23" name="TextBox 22"/>
          <p:cNvSpPr txBox="1"/>
          <p:nvPr/>
        </p:nvSpPr>
        <p:spPr>
          <a:xfrm>
            <a:off x="3957431" y="4690872"/>
            <a:ext cx="7594183" cy="530352"/>
          </a:xfrm>
          <a:prstGeom prst="rect">
            <a:avLst/>
          </a:prstGeom>
          <a:noFill/>
        </p:spPr>
        <p:txBody>
          <a:bodyPr wrap="square" lIns="45720" rIns="45720" tIns="27432" bIns="27432" anchor="ctr">
            <a:noAutofit/>
          </a:bodyPr>
          <a:lstStyle/>
          <a:p>
            <a:pPr algn="l">
              <a:lnSpc>
                <a:spcPct val="100000"/>
              </a:lnSpc>
            </a:pPr>
            <a:r>
              <a:rPr sz="1500" b="0" i="0">
                <a:solidFill>
                  <a:srgbClr val="A7B2B0"/>
                </a:solidFill>
                <a:latin typeface="Segoe UI"/>
              </a:rPr>
              <a:t>Se abre en el canvas del chat.</a:t>
            </a:r>
          </a:p>
        </p:txBody>
      </p:sp>
      <p:sp>
        <p:nvSpPr>
          <p:cNvPr id="24" name="Rectangle 23"/>
          <p:cNvSpPr/>
          <p:nvPr/>
        </p:nvSpPr>
        <p:spPr>
          <a:xfrm>
            <a:off x="585216" y="5257800"/>
            <a:ext cx="11021263" cy="603504"/>
          </a:xfrm>
          <a:prstGeom prst="rect">
            <a:avLst/>
          </a:prstGeom>
          <a:solidFill>
            <a:srgbClr val="1824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TextBox 24"/>
          <p:cNvSpPr txBox="1"/>
          <p:nvPr/>
        </p:nvSpPr>
        <p:spPr>
          <a:xfrm>
            <a:off x="640080" y="5294376"/>
            <a:ext cx="3171047" cy="530352"/>
          </a:xfrm>
          <a:prstGeom prst="rect">
            <a:avLst/>
          </a:prstGeom>
          <a:noFill/>
        </p:spPr>
        <p:txBody>
          <a:bodyPr wrap="square" lIns="45720" rIns="45720" tIns="27432" bIns="27432" anchor="ctr">
            <a:noAutofit/>
          </a:bodyPr>
          <a:lstStyle/>
          <a:p>
            <a:pPr algn="l">
              <a:lnSpc>
                <a:spcPct val="100000"/>
              </a:lnSpc>
            </a:pPr>
            <a:r>
              <a:rPr sz="1500" b="0" i="0">
                <a:solidFill>
                  <a:srgbClr val="F7F2E8"/>
                </a:solidFill>
                <a:latin typeface="Segoe UI Semibold"/>
              </a:rPr>
              <a:t>Una carpeta, un zip o un programa</a:t>
            </a:r>
          </a:p>
        </p:txBody>
      </p:sp>
      <p:sp>
        <p:nvSpPr>
          <p:cNvPr id="26" name="TextBox 25"/>
          <p:cNvSpPr txBox="1"/>
          <p:nvPr/>
        </p:nvSpPr>
        <p:spPr>
          <a:xfrm>
            <a:off x="3957431" y="5294376"/>
            <a:ext cx="7594183" cy="530352"/>
          </a:xfrm>
          <a:prstGeom prst="rect">
            <a:avLst/>
          </a:prstGeom>
          <a:noFill/>
        </p:spPr>
        <p:txBody>
          <a:bodyPr wrap="square" lIns="45720" rIns="45720" tIns="27432" bIns="27432" anchor="ctr">
            <a:noAutofit/>
          </a:bodyPr>
          <a:lstStyle/>
          <a:p>
            <a:pPr algn="l">
              <a:lnSpc>
                <a:spcPct val="100000"/>
              </a:lnSpc>
            </a:pPr>
            <a:r>
              <a:rPr sz="1500" b="0" i="0">
                <a:solidFill>
                  <a:srgbClr val="A7B2B0"/>
                </a:solidFill>
                <a:latin typeface="Segoe UI"/>
              </a:rPr>
              <a:t>Se explica con palabras sencillas; no se abre nada.</a:t>
            </a:r>
          </a:p>
        </p:txBody>
      </p:sp>
      <p:cxnSp>
        <p:nvCxnSpPr>
          <p:cNvPr id="27" name="Connector 26"/>
          <p:cNvCxnSpPr/>
          <p:nvPr/>
        </p:nvCxnSpPr>
        <p:spPr>
          <a:xfrm>
            <a:off x="566928" y="6373368"/>
            <a:ext cx="11057839" cy="0"/>
          </a:xfrm>
          <a:prstGeom prst="line">
            <a:avLst/>
          </a:prstGeom>
          <a:ln w="7620">
            <a:solidFill>
              <a:srgbClr val="2A3A40"/>
            </a:solidFill>
          </a:ln>
        </p:spPr>
        <p:style>
          <a:lnRef idx="2">
            <a:schemeClr val="accent1"/>
          </a:lnRef>
          <a:fillRef idx="0">
            <a:schemeClr val="accent1"/>
          </a:fillRef>
          <a:effectRef idx="1">
            <a:schemeClr val="accent1"/>
          </a:effectRef>
          <a:fontRef idx="minor">
            <a:schemeClr val="tx1"/>
          </a:fontRef>
        </p:style>
      </p:cxnSp>
      <p:sp>
        <p:nvSpPr>
          <p:cNvPr id="28" name="TextBox 27"/>
          <p:cNvSpPr txBox="1"/>
          <p:nvPr/>
        </p:nvSpPr>
        <p:spPr>
          <a:xfrm>
            <a:off x="566928" y="6419088"/>
            <a:ext cx="6858000" cy="274320"/>
          </a:xfrm>
          <a:prstGeom prst="rect">
            <a:avLst/>
          </a:prstGeom>
          <a:noFill/>
        </p:spPr>
        <p:txBody>
          <a:bodyPr wrap="square" lIns="45720" rIns="45720" tIns="27432" bIns="27432" anchor="t">
            <a:noAutofit/>
          </a:bodyPr>
          <a:lstStyle/>
          <a:p>
            <a:pPr algn="l">
              <a:lnSpc>
                <a:spcPct val="100000"/>
              </a:lnSpc>
            </a:pPr>
            <a:r>
              <a:rPr sz="850" b="0" i="0" spc="120">
                <a:solidFill>
                  <a:srgbClr val="A7B2B0"/>
                </a:solidFill>
                <a:latin typeface="Segoe UI Semibold"/>
              </a:rPr>
              <a:t>TLAMATINI  ·  III · DÓNDE TRABAJAS CON ELLA</a:t>
            </a:r>
          </a:p>
        </p:txBody>
      </p:sp>
      <p:sp>
        <p:nvSpPr>
          <p:cNvPr id="29" name="TextBox 28"/>
          <p:cNvSpPr txBox="1"/>
          <p:nvPr/>
        </p:nvSpPr>
        <p:spPr>
          <a:xfrm>
            <a:off x="8698687" y="6419088"/>
            <a:ext cx="2926080" cy="274320"/>
          </a:xfrm>
          <a:prstGeom prst="rect">
            <a:avLst/>
          </a:prstGeom>
          <a:noFill/>
        </p:spPr>
        <p:txBody>
          <a:bodyPr wrap="square" lIns="45720" rIns="45720" tIns="27432" bIns="27432" anchor="t">
            <a:noAutofit/>
          </a:bodyPr>
          <a:lstStyle/>
          <a:p>
            <a:pPr algn="r">
              <a:lnSpc>
                <a:spcPct val="100000"/>
              </a:lnSpc>
            </a:pPr>
            <a:r>
              <a:rPr sz="850" b="0" i="0" spc="100">
                <a:solidFill>
                  <a:srgbClr val="A7B2B0"/>
                </a:solidFill>
                <a:latin typeface="Segoe UI Semibold"/>
              </a:rPr>
              <a:t>v1.91.1   ·   60</a:t>
            </a:r>
          </a:p>
        </p:txBody>
      </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content.png"/>
          <p:cNvPicPr>
            <a:picLocks noChangeAspect="1"/>
          </p:cNvPicPr>
          <p:nvPr/>
        </p:nvPicPr>
        <p:blipFill>
          <a:blip r:embed="rId2"/>
          <a:stretch>
            <a:fillRect/>
          </a:stretch>
        </p:blipFill>
        <p:spPr>
          <a:xfrm>
            <a:off x="0" y="0"/>
            <a:ext cx="12191695" cy="6858000"/>
          </a:xfrm>
          <a:prstGeom prst="rect">
            <a:avLst/>
          </a:prstGeom>
        </p:spPr>
      </p:pic>
      <p:sp>
        <p:nvSpPr>
          <p:cNvPr id="3" name="Diamond 2"/>
          <p:cNvSpPr/>
          <p:nvPr/>
        </p:nvSpPr>
        <p:spPr>
          <a:xfrm>
            <a:off x="566928" y="457200"/>
            <a:ext cx="100584" cy="100584"/>
          </a:xfrm>
          <a:prstGeom prst="diamond">
            <a:avLst/>
          </a:prstGeom>
          <a:solidFill>
            <a:srgbClr val="E2B4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49808" y="365760"/>
            <a:ext cx="8229600" cy="292608"/>
          </a:xfrm>
          <a:prstGeom prst="rect">
            <a:avLst/>
          </a:prstGeom>
          <a:noFill/>
        </p:spPr>
        <p:txBody>
          <a:bodyPr wrap="square" lIns="45720" rIns="45720" tIns="27432" bIns="27432" anchor="t">
            <a:noAutofit/>
          </a:bodyPr>
          <a:lstStyle/>
          <a:p>
            <a:pPr algn="l">
              <a:lnSpc>
                <a:spcPct val="100000"/>
              </a:lnSpc>
            </a:pPr>
            <a:r>
              <a:rPr sz="1100" b="0" i="0" spc="240">
                <a:solidFill>
                  <a:srgbClr val="C98457"/>
                </a:solidFill>
                <a:latin typeface="Segoe UI Semibold"/>
              </a:rPr>
              <a:t>CONFIG </a:t>
            </a:r>
            <a:r>
              <a:rPr sz="1100" b="0" i="0" spc="240">
                <a:solidFill>
                  <a:srgbClr val="C98457"/>
                </a:solidFill>
                <a:latin typeface="Segoe UI Symbol"/>
              </a:rPr>
              <a:t>▸</a:t>
            </a:r>
            <a:r>
              <a:rPr sz="1100" b="0" i="0" spc="240">
                <a:solidFill>
                  <a:srgbClr val="C98457"/>
                </a:solidFill>
                <a:latin typeface="Segoe UI Semibold"/>
              </a:rPr>
              <a:t> MODELOS</a:t>
            </a:r>
          </a:p>
        </p:txBody>
      </p:sp>
      <p:sp>
        <p:nvSpPr>
          <p:cNvPr id="5" name="TextBox 4"/>
          <p:cNvSpPr txBox="1"/>
          <p:nvPr/>
        </p:nvSpPr>
        <p:spPr>
          <a:xfrm>
            <a:off x="539496" y="676656"/>
            <a:ext cx="11057839" cy="658368"/>
          </a:xfrm>
          <a:prstGeom prst="rect">
            <a:avLst/>
          </a:prstGeom>
          <a:noFill/>
        </p:spPr>
        <p:txBody>
          <a:bodyPr wrap="square" lIns="45720" rIns="45720" tIns="27432" bIns="27432" anchor="t">
            <a:noAutofit/>
          </a:bodyPr>
          <a:lstStyle/>
          <a:p>
            <a:pPr algn="l">
              <a:lnSpc>
                <a:spcPct val="100000"/>
              </a:lnSpc>
            </a:pPr>
            <a:r>
              <a:rPr sz="3100" b="0" i="0">
                <a:solidFill>
                  <a:srgbClr val="F7F2E8"/>
                </a:solidFill>
                <a:latin typeface="Palatino Linotype"/>
              </a:rPr>
              <a:t>Todas las elecciones de modelo en un solo lugar</a:t>
            </a:r>
          </a:p>
        </p:txBody>
      </p:sp>
      <p:sp>
        <p:nvSpPr>
          <p:cNvPr id="6" name="Rectangle 5"/>
          <p:cNvSpPr/>
          <p:nvPr/>
        </p:nvSpPr>
        <p:spPr>
          <a:xfrm>
            <a:off x="566928" y="1344168"/>
            <a:ext cx="822960" cy="36576"/>
          </a:xfrm>
          <a:prstGeom prst="rect">
            <a:avLst/>
          </a:prstGeom>
          <a:solidFill>
            <a:srgbClr val="E2B4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566928" y="1444752"/>
            <a:ext cx="10692079" cy="585216"/>
          </a:xfrm>
          <a:prstGeom prst="rect">
            <a:avLst/>
          </a:prstGeom>
          <a:noFill/>
        </p:spPr>
        <p:txBody>
          <a:bodyPr wrap="square" lIns="45720" rIns="45720" tIns="27432" bIns="27432" anchor="t">
            <a:noAutofit/>
          </a:bodyPr>
          <a:lstStyle/>
          <a:p>
            <a:pPr algn="l">
              <a:lnSpc>
                <a:spcPct val="100000"/>
              </a:lnSpc>
            </a:pPr>
            <a:r>
              <a:rPr sz="1450" b="0" i="0">
                <a:solidFill>
                  <a:srgbClr val="A7B2B0"/>
                </a:solidFill>
                <a:latin typeface="Segoe UI Semilight"/>
              </a:rPr>
              <a:t>El diálogo Modelos expone 38 configuraciones de modelo, motor y voz para los servicios principales y 21 agents con modelo, en seis categorías con búsqueda.</a:t>
            </a:r>
          </a:p>
        </p:txBody>
      </p:sp>
      <p:sp>
        <p:nvSpPr>
          <p:cNvPr id="8" name="Rounded Rectangle 7"/>
          <p:cNvSpPr/>
          <p:nvPr/>
        </p:nvSpPr>
        <p:spPr>
          <a:xfrm>
            <a:off x="566928" y="2084831"/>
            <a:ext cx="5212080" cy="720547"/>
          </a:xfrm>
          <a:prstGeom prst="roundRect">
            <a:avLst>
              <a:gd name="adj" fmla="val 12690"/>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Diamond 8"/>
          <p:cNvSpPr/>
          <p:nvPr/>
        </p:nvSpPr>
        <p:spPr>
          <a:xfrm>
            <a:off x="768096" y="2381097"/>
            <a:ext cx="128016" cy="128016"/>
          </a:xfrm>
          <a:prstGeom prst="diamond">
            <a:avLst/>
          </a:prstGeom>
          <a:solidFill>
            <a:srgbClr val="3BBE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1024128" y="2139696"/>
            <a:ext cx="1554480" cy="610819"/>
          </a:xfrm>
          <a:prstGeom prst="rect">
            <a:avLst/>
          </a:prstGeom>
          <a:noFill/>
        </p:spPr>
        <p:txBody>
          <a:bodyPr wrap="square" lIns="45720" rIns="45720" tIns="27432" bIns="27432" anchor="ctr">
            <a:noAutofit/>
          </a:bodyPr>
          <a:lstStyle/>
          <a:p>
            <a:pPr algn="l">
              <a:lnSpc>
                <a:spcPct val="100000"/>
              </a:lnSpc>
            </a:pPr>
            <a:r>
              <a:rPr sz="1600" b="0" i="0">
                <a:solidFill>
                  <a:srgbClr val="F7F2E8"/>
                </a:solidFill>
                <a:latin typeface="Segoe UI Semibold"/>
              </a:rPr>
              <a:t>Configuraciones</a:t>
            </a:r>
          </a:p>
        </p:txBody>
      </p:sp>
      <p:sp>
        <p:nvSpPr>
          <p:cNvPr id="11" name="TextBox 10"/>
          <p:cNvSpPr txBox="1"/>
          <p:nvPr/>
        </p:nvSpPr>
        <p:spPr>
          <a:xfrm>
            <a:off x="2670048" y="2139696"/>
            <a:ext cx="2971800" cy="610819"/>
          </a:xfrm>
          <a:prstGeom prst="rect">
            <a:avLst/>
          </a:prstGeom>
          <a:noFill/>
        </p:spPr>
        <p:txBody>
          <a:bodyPr wrap="square" lIns="45720" rIns="45720" tIns="27432" bIns="27432" anchor="ctr">
            <a:noAutofit/>
          </a:bodyPr>
          <a:lstStyle/>
          <a:p>
            <a:pPr algn="l">
              <a:lnSpc>
                <a:spcPct val="100000"/>
              </a:lnSpc>
            </a:pPr>
            <a:r>
              <a:rPr sz="1400" b="0" i="0">
                <a:solidFill>
                  <a:srgbClr val="A7B2B0"/>
                </a:solidFill>
                <a:latin typeface="Segoe UI"/>
              </a:rPr>
              <a:t>38 elecciones de modelo, motor y voz.</a:t>
            </a:r>
          </a:p>
        </p:txBody>
      </p:sp>
      <p:sp>
        <p:nvSpPr>
          <p:cNvPr id="12" name="Rounded Rectangle 11"/>
          <p:cNvSpPr/>
          <p:nvPr/>
        </p:nvSpPr>
        <p:spPr>
          <a:xfrm>
            <a:off x="566928" y="2933395"/>
            <a:ext cx="5212080" cy="720547"/>
          </a:xfrm>
          <a:prstGeom prst="roundRect">
            <a:avLst>
              <a:gd name="adj" fmla="val 12690"/>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Diamond 12"/>
          <p:cNvSpPr/>
          <p:nvPr/>
        </p:nvSpPr>
        <p:spPr>
          <a:xfrm>
            <a:off x="768096" y="3229660"/>
            <a:ext cx="128016" cy="128016"/>
          </a:xfrm>
          <a:prstGeom prst="diamond">
            <a:avLst/>
          </a:prstGeom>
          <a:solidFill>
            <a:srgbClr val="C984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1024128" y="2988259"/>
            <a:ext cx="1554480" cy="610819"/>
          </a:xfrm>
          <a:prstGeom prst="rect">
            <a:avLst/>
          </a:prstGeom>
          <a:noFill/>
        </p:spPr>
        <p:txBody>
          <a:bodyPr wrap="square" lIns="45720" rIns="45720" tIns="27432" bIns="27432" anchor="ctr">
            <a:noAutofit/>
          </a:bodyPr>
          <a:lstStyle/>
          <a:p>
            <a:pPr algn="l">
              <a:lnSpc>
                <a:spcPct val="100000"/>
              </a:lnSpc>
            </a:pPr>
            <a:r>
              <a:rPr sz="1600" b="0" i="0">
                <a:solidFill>
                  <a:srgbClr val="F7F2E8"/>
                </a:solidFill>
                <a:latin typeface="Segoe UI Semibold"/>
              </a:rPr>
              <a:t>Agents</a:t>
            </a:r>
          </a:p>
        </p:txBody>
      </p:sp>
      <p:sp>
        <p:nvSpPr>
          <p:cNvPr id="15" name="TextBox 14"/>
          <p:cNvSpPr txBox="1"/>
          <p:nvPr/>
        </p:nvSpPr>
        <p:spPr>
          <a:xfrm>
            <a:off x="2670048" y="2988259"/>
            <a:ext cx="2971800" cy="610819"/>
          </a:xfrm>
          <a:prstGeom prst="rect">
            <a:avLst/>
          </a:prstGeom>
          <a:noFill/>
        </p:spPr>
        <p:txBody>
          <a:bodyPr wrap="square" lIns="45720" rIns="45720" tIns="27432" bIns="27432" anchor="ctr">
            <a:noAutofit/>
          </a:bodyPr>
          <a:lstStyle/>
          <a:p>
            <a:pPr algn="l">
              <a:lnSpc>
                <a:spcPct val="100000"/>
              </a:lnSpc>
            </a:pPr>
            <a:r>
              <a:rPr sz="1400" b="0" i="0">
                <a:solidFill>
                  <a:srgbClr val="A7B2B0"/>
                </a:solidFill>
                <a:latin typeface="Segoe UI"/>
              </a:rPr>
              <a:t>21 agents con modelo, configurados de forma central.</a:t>
            </a:r>
          </a:p>
        </p:txBody>
      </p:sp>
      <p:sp>
        <p:nvSpPr>
          <p:cNvPr id="16" name="Rounded Rectangle 15"/>
          <p:cNvSpPr/>
          <p:nvPr/>
        </p:nvSpPr>
        <p:spPr>
          <a:xfrm>
            <a:off x="566928" y="3781958"/>
            <a:ext cx="5212080" cy="720547"/>
          </a:xfrm>
          <a:prstGeom prst="roundRect">
            <a:avLst>
              <a:gd name="adj" fmla="val 12690"/>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Diamond 16"/>
          <p:cNvSpPr/>
          <p:nvPr/>
        </p:nvSpPr>
        <p:spPr>
          <a:xfrm>
            <a:off x="768096" y="4078224"/>
            <a:ext cx="128016" cy="128016"/>
          </a:xfrm>
          <a:prstGeom prst="diamond">
            <a:avLst/>
          </a:prstGeom>
          <a:solidFill>
            <a:srgbClr val="E2B4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1024128" y="3836822"/>
            <a:ext cx="1554480" cy="610819"/>
          </a:xfrm>
          <a:prstGeom prst="rect">
            <a:avLst/>
          </a:prstGeom>
          <a:noFill/>
        </p:spPr>
        <p:txBody>
          <a:bodyPr wrap="square" lIns="45720" rIns="45720" tIns="27432" bIns="27432" anchor="ctr">
            <a:noAutofit/>
          </a:bodyPr>
          <a:lstStyle/>
          <a:p>
            <a:pPr algn="l">
              <a:lnSpc>
                <a:spcPct val="100000"/>
              </a:lnSpc>
            </a:pPr>
            <a:r>
              <a:rPr sz="1600" b="0" i="0">
                <a:solidFill>
                  <a:srgbClr val="F7F2E8"/>
                </a:solidFill>
                <a:latin typeface="Segoe UI Semibold"/>
              </a:rPr>
              <a:t>Herencia</a:t>
            </a:r>
          </a:p>
        </p:txBody>
      </p:sp>
      <p:sp>
        <p:nvSpPr>
          <p:cNvPr id="19" name="TextBox 18"/>
          <p:cNvSpPr txBox="1"/>
          <p:nvPr/>
        </p:nvSpPr>
        <p:spPr>
          <a:xfrm>
            <a:off x="2670048" y="3836822"/>
            <a:ext cx="2971800" cy="610819"/>
          </a:xfrm>
          <a:prstGeom prst="rect">
            <a:avLst/>
          </a:prstGeom>
          <a:noFill/>
        </p:spPr>
        <p:txBody>
          <a:bodyPr wrap="square" lIns="45720" rIns="45720" tIns="27432" bIns="27432" anchor="ctr">
            <a:noAutofit/>
          </a:bodyPr>
          <a:lstStyle/>
          <a:p>
            <a:pPr algn="l">
              <a:lnSpc>
                <a:spcPct val="100000"/>
              </a:lnSpc>
            </a:pPr>
            <a:r>
              <a:rPr sz="1400" b="0" i="0">
                <a:solidFill>
                  <a:srgbClr val="A7B2B0"/>
                </a:solidFill>
                <a:latin typeface="Segoe UI"/>
              </a:rPr>
              <a:t>"@config" sigue la elección global; los literales la reemplazan.</a:t>
            </a:r>
          </a:p>
        </p:txBody>
      </p:sp>
      <p:sp>
        <p:nvSpPr>
          <p:cNvPr id="20" name="Rounded Rectangle 19"/>
          <p:cNvSpPr/>
          <p:nvPr/>
        </p:nvSpPr>
        <p:spPr>
          <a:xfrm>
            <a:off x="566928" y="4630521"/>
            <a:ext cx="5212080" cy="720547"/>
          </a:xfrm>
          <a:prstGeom prst="roundRect">
            <a:avLst>
              <a:gd name="adj" fmla="val 12690"/>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Diamond 20"/>
          <p:cNvSpPr/>
          <p:nvPr/>
        </p:nvSpPr>
        <p:spPr>
          <a:xfrm>
            <a:off x="768096" y="4926787"/>
            <a:ext cx="128016" cy="128016"/>
          </a:xfrm>
          <a:prstGeom prst="diamond">
            <a:avLst/>
          </a:prstGeom>
          <a:solidFill>
            <a:srgbClr val="46D2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1024128" y="4685385"/>
            <a:ext cx="1554480" cy="610819"/>
          </a:xfrm>
          <a:prstGeom prst="rect">
            <a:avLst/>
          </a:prstGeom>
          <a:noFill/>
        </p:spPr>
        <p:txBody>
          <a:bodyPr wrap="square" lIns="45720" rIns="45720" tIns="27432" bIns="27432" anchor="ctr">
            <a:noAutofit/>
          </a:bodyPr>
          <a:lstStyle/>
          <a:p>
            <a:pPr algn="l">
              <a:lnSpc>
                <a:spcPct val="100000"/>
              </a:lnSpc>
            </a:pPr>
            <a:r>
              <a:rPr sz="1600" b="0" i="0">
                <a:solidFill>
                  <a:srgbClr val="F7F2E8"/>
                </a:solidFill>
                <a:latin typeface="Segoe UI Semibold"/>
              </a:rPr>
              <a:t>Guardar</a:t>
            </a:r>
          </a:p>
        </p:txBody>
      </p:sp>
      <p:sp>
        <p:nvSpPr>
          <p:cNvPr id="23" name="TextBox 22"/>
          <p:cNvSpPr txBox="1"/>
          <p:nvPr/>
        </p:nvSpPr>
        <p:spPr>
          <a:xfrm>
            <a:off x="2670048" y="4685385"/>
            <a:ext cx="2971800" cy="610819"/>
          </a:xfrm>
          <a:prstGeom prst="rect">
            <a:avLst/>
          </a:prstGeom>
          <a:noFill/>
        </p:spPr>
        <p:txBody>
          <a:bodyPr wrap="square" lIns="45720" rIns="45720" tIns="27432" bIns="27432" anchor="ctr">
            <a:noAutofit/>
          </a:bodyPr>
          <a:lstStyle/>
          <a:p>
            <a:pPr algn="l">
              <a:lnSpc>
                <a:spcPct val="100000"/>
              </a:lnSpc>
            </a:pPr>
            <a:r>
              <a:rPr sz="1200" b="0" i="0">
                <a:solidFill>
                  <a:srgbClr val="A7B2B0"/>
                </a:solidFill>
                <a:latin typeface="Segoe UI"/>
              </a:rPr>
              <a:t>Conserva la configuración no relacionada, no descarga nada y luego autoajusta cada modelo.</a:t>
            </a:r>
          </a:p>
        </p:txBody>
      </p:sp>
      <p:sp>
        <p:nvSpPr>
          <p:cNvPr id="24" name="Rounded Rectangle 23"/>
          <p:cNvSpPr/>
          <p:nvPr/>
        </p:nvSpPr>
        <p:spPr>
          <a:xfrm>
            <a:off x="566928" y="5479084"/>
            <a:ext cx="5212080" cy="720547"/>
          </a:xfrm>
          <a:prstGeom prst="roundRect">
            <a:avLst>
              <a:gd name="adj" fmla="val 12690"/>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Diamond 24"/>
          <p:cNvSpPr/>
          <p:nvPr/>
        </p:nvSpPr>
        <p:spPr>
          <a:xfrm>
            <a:off x="768096" y="5775350"/>
            <a:ext cx="128016" cy="128016"/>
          </a:xfrm>
          <a:prstGeom prst="diamond">
            <a:avLst/>
          </a:prstGeom>
          <a:solidFill>
            <a:srgbClr val="D25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1024128" y="5533948"/>
            <a:ext cx="1554480" cy="610819"/>
          </a:xfrm>
          <a:prstGeom prst="rect">
            <a:avLst/>
          </a:prstGeom>
          <a:noFill/>
        </p:spPr>
        <p:txBody>
          <a:bodyPr wrap="square" lIns="45720" rIns="45720" tIns="27432" bIns="27432" anchor="ctr">
            <a:noAutofit/>
          </a:bodyPr>
          <a:lstStyle/>
          <a:p>
            <a:pPr algn="l">
              <a:lnSpc>
                <a:spcPct val="100000"/>
              </a:lnSpc>
            </a:pPr>
            <a:r>
              <a:rPr sz="1600" b="0" i="0">
                <a:solidFill>
                  <a:srgbClr val="F7F2E8"/>
                </a:solidFill>
                <a:latin typeface="Segoe UI Semibold"/>
              </a:rPr>
              <a:t>Catálogo</a:t>
            </a:r>
          </a:p>
        </p:txBody>
      </p:sp>
      <p:sp>
        <p:nvSpPr>
          <p:cNvPr id="27" name="TextBox 26"/>
          <p:cNvSpPr txBox="1"/>
          <p:nvPr/>
        </p:nvSpPr>
        <p:spPr>
          <a:xfrm>
            <a:off x="2670048" y="5533948"/>
            <a:ext cx="2971800" cy="610819"/>
          </a:xfrm>
          <a:prstGeom prst="rect">
            <a:avLst/>
          </a:prstGeom>
          <a:noFill/>
        </p:spPr>
        <p:txBody>
          <a:bodyPr wrap="square" lIns="45720" rIns="45720" tIns="27432" bIns="27432" anchor="ctr">
            <a:noAutofit/>
          </a:bodyPr>
          <a:lstStyle/>
          <a:p>
            <a:pPr algn="l">
              <a:lnSpc>
                <a:spcPct val="100000"/>
              </a:lnSpc>
            </a:pPr>
            <a:r>
              <a:rPr sz="1200" b="0" i="0">
                <a:solidFill>
                  <a:srgbClr val="A7B2B0"/>
                </a:solidFill>
                <a:latin typeface="Segoe UI"/>
              </a:rPr>
              <a:t>Lo listan los servidores de Ollama configurados, consultados con su token.</a:t>
            </a:r>
          </a:p>
        </p:txBody>
      </p:sp>
      <p:graphicFrame>
        <p:nvGraphicFramePr>
          <p:cNvPr id="28" name="Chart 27"/>
          <p:cNvGraphicFramePr>
            <a:graphicFrameLocks noGrp="1"/>
          </p:cNvGraphicFramePr>
          <p:nvPr/>
        </p:nvGraphicFramePr>
        <p:xfrm>
          <a:off x="6144768" y="2084831"/>
          <a:ext cx="5479999" cy="4114800"/>
        </p:xfrm>
        <a:graphic>
          <a:graphicData uri="http://schemas.openxmlformats.org/drawingml/2006/chart">
            <c:chart xmlns:c="http://schemas.openxmlformats.org/drawingml/2006/chart" r:id="rId4"/>
          </a:graphicData>
        </a:graphic>
      </p:graphicFrame>
      <p:cxnSp>
        <p:nvCxnSpPr>
          <p:cNvPr id="29" name="Connector 28"/>
          <p:cNvCxnSpPr/>
          <p:nvPr/>
        </p:nvCxnSpPr>
        <p:spPr>
          <a:xfrm>
            <a:off x="566928" y="6373368"/>
            <a:ext cx="11057839" cy="0"/>
          </a:xfrm>
          <a:prstGeom prst="line">
            <a:avLst/>
          </a:prstGeom>
          <a:ln w="7620">
            <a:solidFill>
              <a:srgbClr val="2A3A40"/>
            </a:solidFill>
          </a:ln>
        </p:spPr>
        <p:style>
          <a:lnRef idx="2">
            <a:schemeClr val="accent1"/>
          </a:lnRef>
          <a:fillRef idx="0">
            <a:schemeClr val="accent1"/>
          </a:fillRef>
          <a:effectRef idx="1">
            <a:schemeClr val="accent1"/>
          </a:effectRef>
          <a:fontRef idx="minor">
            <a:schemeClr val="tx1"/>
          </a:fontRef>
        </p:style>
      </p:cxnSp>
      <p:sp>
        <p:nvSpPr>
          <p:cNvPr id="30" name="TextBox 29"/>
          <p:cNvSpPr txBox="1"/>
          <p:nvPr/>
        </p:nvSpPr>
        <p:spPr>
          <a:xfrm>
            <a:off x="566928" y="6419088"/>
            <a:ext cx="6858000" cy="274320"/>
          </a:xfrm>
          <a:prstGeom prst="rect">
            <a:avLst/>
          </a:prstGeom>
          <a:noFill/>
        </p:spPr>
        <p:txBody>
          <a:bodyPr wrap="square" lIns="45720" rIns="45720" tIns="27432" bIns="27432" anchor="t">
            <a:noAutofit/>
          </a:bodyPr>
          <a:lstStyle/>
          <a:p>
            <a:pPr algn="l">
              <a:lnSpc>
                <a:spcPct val="100000"/>
              </a:lnSpc>
            </a:pPr>
            <a:r>
              <a:rPr sz="850" b="0" i="0" spc="120">
                <a:solidFill>
                  <a:srgbClr val="A7B2B0"/>
                </a:solidFill>
                <a:latin typeface="Segoe UI Semibold"/>
              </a:rPr>
              <a:t>TLAMATINI  ·  III · DÓNDE TRABAJAS CON ELLA</a:t>
            </a:r>
          </a:p>
        </p:txBody>
      </p:sp>
      <p:sp>
        <p:nvSpPr>
          <p:cNvPr id="31" name="TextBox 30"/>
          <p:cNvSpPr txBox="1"/>
          <p:nvPr/>
        </p:nvSpPr>
        <p:spPr>
          <a:xfrm>
            <a:off x="8698687" y="6419088"/>
            <a:ext cx="2926080" cy="274320"/>
          </a:xfrm>
          <a:prstGeom prst="rect">
            <a:avLst/>
          </a:prstGeom>
          <a:noFill/>
        </p:spPr>
        <p:txBody>
          <a:bodyPr wrap="square" lIns="45720" rIns="45720" tIns="27432" bIns="27432" anchor="t">
            <a:noAutofit/>
          </a:bodyPr>
          <a:lstStyle/>
          <a:p>
            <a:pPr algn="r">
              <a:lnSpc>
                <a:spcPct val="100000"/>
              </a:lnSpc>
            </a:pPr>
            <a:r>
              <a:rPr sz="850" b="0" i="0" spc="100">
                <a:solidFill>
                  <a:srgbClr val="A7B2B0"/>
                </a:solidFill>
                <a:latin typeface="Segoe UI Semibold"/>
              </a:rPr>
              <a:t>v1.91.1   ·   61</a:t>
            </a:r>
          </a:p>
        </p:txBody>
      </p:sp>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content.png"/>
          <p:cNvPicPr>
            <a:picLocks noChangeAspect="1"/>
          </p:cNvPicPr>
          <p:nvPr/>
        </p:nvPicPr>
        <p:blipFill>
          <a:blip r:embed="rId2"/>
          <a:stretch>
            <a:fillRect/>
          </a:stretch>
        </p:blipFill>
        <p:spPr>
          <a:xfrm>
            <a:off x="0" y="0"/>
            <a:ext cx="12191695" cy="6858000"/>
          </a:xfrm>
          <a:prstGeom prst="rect">
            <a:avLst/>
          </a:prstGeom>
        </p:spPr>
      </p:pic>
      <p:sp>
        <p:nvSpPr>
          <p:cNvPr id="3" name="Diamond 2"/>
          <p:cNvSpPr/>
          <p:nvPr/>
        </p:nvSpPr>
        <p:spPr>
          <a:xfrm>
            <a:off x="566928" y="457200"/>
            <a:ext cx="100584" cy="100584"/>
          </a:xfrm>
          <a:prstGeom prst="diamond">
            <a:avLst/>
          </a:prstGeom>
          <a:solidFill>
            <a:srgbClr val="E2B4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49808" y="365760"/>
            <a:ext cx="8229600" cy="292608"/>
          </a:xfrm>
          <a:prstGeom prst="rect">
            <a:avLst/>
          </a:prstGeom>
          <a:noFill/>
        </p:spPr>
        <p:txBody>
          <a:bodyPr wrap="square" lIns="45720" rIns="45720" tIns="27432" bIns="27432" anchor="t">
            <a:noAutofit/>
          </a:bodyPr>
          <a:lstStyle/>
          <a:p>
            <a:pPr algn="l">
              <a:lnSpc>
                <a:spcPct val="100000"/>
              </a:lnSpc>
            </a:pPr>
            <a:r>
              <a:rPr sz="1100" b="0" i="0" spc="240">
                <a:solidFill>
                  <a:srgbClr val="C98457"/>
                </a:solidFill>
                <a:latin typeface="Segoe UI Semibold"/>
              </a:rPr>
              <a:t>UN SOLO ASPECTO · v1.80.0</a:t>
            </a:r>
          </a:p>
        </p:txBody>
      </p:sp>
      <p:sp>
        <p:nvSpPr>
          <p:cNvPr id="5" name="TextBox 4"/>
          <p:cNvSpPr txBox="1"/>
          <p:nvPr/>
        </p:nvSpPr>
        <p:spPr>
          <a:xfrm>
            <a:off x="539496" y="676656"/>
            <a:ext cx="11057839" cy="658368"/>
          </a:xfrm>
          <a:prstGeom prst="rect">
            <a:avLst/>
          </a:prstGeom>
          <a:noFill/>
        </p:spPr>
        <p:txBody>
          <a:bodyPr wrap="square" lIns="45720" rIns="45720" tIns="27432" bIns="27432" anchor="t">
            <a:noAutofit/>
          </a:bodyPr>
          <a:lstStyle/>
          <a:p>
            <a:pPr algn="l">
              <a:lnSpc>
                <a:spcPct val="100000"/>
              </a:lnSpc>
            </a:pPr>
            <a:r>
              <a:rPr sz="2550" b="0" i="0">
                <a:solidFill>
                  <a:srgbClr val="F7F2E8"/>
                </a:solidFill>
                <a:latin typeface="Palatino Linotype"/>
              </a:rPr>
              <a:t>Todas las páginas comparten un tema y una forma de cambiar el tamaño</a:t>
            </a:r>
          </a:p>
        </p:txBody>
      </p:sp>
      <p:sp>
        <p:nvSpPr>
          <p:cNvPr id="6" name="Rectangle 5"/>
          <p:cNvSpPr/>
          <p:nvPr/>
        </p:nvSpPr>
        <p:spPr>
          <a:xfrm>
            <a:off x="566928" y="1344168"/>
            <a:ext cx="822960" cy="36576"/>
          </a:xfrm>
          <a:prstGeom prst="rect">
            <a:avLst/>
          </a:prstGeom>
          <a:solidFill>
            <a:srgbClr val="E2B4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566928" y="1444752"/>
            <a:ext cx="10692079" cy="585216"/>
          </a:xfrm>
          <a:prstGeom prst="rect">
            <a:avLst/>
          </a:prstGeom>
          <a:noFill/>
        </p:spPr>
        <p:txBody>
          <a:bodyPr wrap="square" lIns="45720" rIns="45720" tIns="27432" bIns="27432" anchor="t">
            <a:noAutofit/>
          </a:bodyPr>
          <a:lstStyle/>
          <a:p>
            <a:pPr algn="l">
              <a:lnSpc>
                <a:spcPct val="100000"/>
              </a:lnSpc>
            </a:pPr>
            <a:r>
              <a:rPr sz="1450" b="0" i="0">
                <a:solidFill>
                  <a:srgbClr val="A7B2B0"/>
                </a:solidFill>
                <a:latin typeface="Segoe UI Semilight"/>
              </a:rPr>
              <a:t>El chat, ambos paneles, el inicio de sesión, la bienvenida, Uso, el visor de PDF y las páginas de admin comparten una identidad.</a:t>
            </a:r>
          </a:p>
        </p:txBody>
      </p:sp>
      <p:sp>
        <p:nvSpPr>
          <p:cNvPr id="8" name="Rounded Rectangle 7"/>
          <p:cNvSpPr/>
          <p:nvPr/>
        </p:nvSpPr>
        <p:spPr>
          <a:xfrm>
            <a:off x="566928" y="2084831"/>
            <a:ext cx="3551834" cy="1956816"/>
          </a:xfrm>
          <a:prstGeom prst="roundRect">
            <a:avLst>
              <a:gd name="adj" fmla="val 5607"/>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ectangle 8"/>
          <p:cNvSpPr/>
          <p:nvPr/>
        </p:nvSpPr>
        <p:spPr>
          <a:xfrm>
            <a:off x="731520" y="2212848"/>
            <a:ext cx="502920" cy="45720"/>
          </a:xfrm>
          <a:prstGeom prst="rect">
            <a:avLst/>
          </a:prstGeom>
          <a:solidFill>
            <a:srgbClr val="3BBE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694944" y="2304287"/>
            <a:ext cx="3295802" cy="353568"/>
          </a:xfrm>
          <a:prstGeom prst="rect">
            <a:avLst/>
          </a:prstGeom>
          <a:noFill/>
        </p:spPr>
        <p:txBody>
          <a:bodyPr wrap="square" lIns="45720" rIns="45720" tIns="27432" bIns="27432" anchor="t">
            <a:noAutofit/>
          </a:bodyPr>
          <a:lstStyle/>
          <a:p>
            <a:pPr algn="l">
              <a:lnSpc>
                <a:spcPct val="100000"/>
              </a:lnSpc>
            </a:pPr>
            <a:r>
              <a:rPr sz="1600" b="0" i="0">
                <a:solidFill>
                  <a:srgbClr val="F7F2E8"/>
                </a:solidFill>
                <a:latin typeface="Segoe UI Semibold"/>
              </a:rPr>
              <a:t>Tokens compartidos</a:t>
            </a:r>
          </a:p>
        </p:txBody>
      </p:sp>
      <p:sp>
        <p:nvSpPr>
          <p:cNvPr id="11" name="TextBox 10"/>
          <p:cNvSpPr txBox="1"/>
          <p:nvPr/>
        </p:nvSpPr>
        <p:spPr>
          <a:xfrm>
            <a:off x="694944" y="2657855"/>
            <a:ext cx="3295802" cy="1292352"/>
          </a:xfrm>
          <a:prstGeom prst="rect">
            <a:avLst/>
          </a:prstGeom>
          <a:noFill/>
        </p:spPr>
        <p:txBody>
          <a:bodyPr wrap="square" lIns="45720" rIns="45720" tIns="27432" bIns="27432" anchor="t">
            <a:noAutofit/>
          </a:bodyPr>
          <a:lstStyle/>
          <a:p>
            <a:pPr algn="l">
              <a:lnSpc>
                <a:spcPct val="100000"/>
              </a:lnSpc>
            </a:pPr>
            <a:r>
              <a:rPr sz="1300" b="0" i="0">
                <a:solidFill>
                  <a:srgbClr val="A7B2B0"/>
                </a:solidFill>
                <a:latin typeface="Segoe UI"/>
              </a:rPr>
              <a:t>Una paleta, un juego de fuentes y un estilo de barra de desplazamiento para todas las páginas.</a:t>
            </a:r>
          </a:p>
        </p:txBody>
      </p:sp>
      <p:sp>
        <p:nvSpPr>
          <p:cNvPr id="12" name="Rounded Rectangle 11"/>
          <p:cNvSpPr/>
          <p:nvPr/>
        </p:nvSpPr>
        <p:spPr>
          <a:xfrm>
            <a:off x="4319930" y="2084831"/>
            <a:ext cx="3551834" cy="1956816"/>
          </a:xfrm>
          <a:prstGeom prst="roundRect">
            <a:avLst>
              <a:gd name="adj" fmla="val 5607"/>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4484522" y="2212848"/>
            <a:ext cx="502920" cy="45720"/>
          </a:xfrm>
          <a:prstGeom prst="rect">
            <a:avLst/>
          </a:prstGeom>
          <a:solidFill>
            <a:srgbClr val="C984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4447946" y="2304287"/>
            <a:ext cx="3295802" cy="353568"/>
          </a:xfrm>
          <a:prstGeom prst="rect">
            <a:avLst/>
          </a:prstGeom>
          <a:noFill/>
        </p:spPr>
        <p:txBody>
          <a:bodyPr wrap="square" lIns="45720" rIns="45720" tIns="27432" bIns="27432" anchor="t">
            <a:noAutofit/>
          </a:bodyPr>
          <a:lstStyle/>
          <a:p>
            <a:pPr algn="l">
              <a:lnSpc>
                <a:spcPct val="100000"/>
              </a:lnSpc>
            </a:pPr>
            <a:r>
              <a:rPr sz="1600" b="0" i="0">
                <a:solidFill>
                  <a:srgbClr val="F7F2E8"/>
                </a:solidFill>
                <a:latin typeface="Segoe UI Semibold"/>
              </a:rPr>
              <a:t>Cinco divisores</a:t>
            </a:r>
          </a:p>
        </p:txBody>
      </p:sp>
      <p:sp>
        <p:nvSpPr>
          <p:cNvPr id="15" name="TextBox 14"/>
          <p:cNvSpPr txBox="1"/>
          <p:nvPr/>
        </p:nvSpPr>
        <p:spPr>
          <a:xfrm>
            <a:off x="4447946" y="2657855"/>
            <a:ext cx="3295802" cy="1292352"/>
          </a:xfrm>
          <a:prstGeom prst="rect">
            <a:avLst/>
          </a:prstGeom>
          <a:noFill/>
        </p:spPr>
        <p:txBody>
          <a:bodyPr wrap="square" lIns="45720" rIns="45720" tIns="27432" bIns="27432" anchor="t">
            <a:noAutofit/>
          </a:bodyPr>
          <a:lstStyle/>
          <a:p>
            <a:pPr algn="l">
              <a:lnSpc>
                <a:spcPct val="100000"/>
              </a:lnSpc>
            </a:pPr>
            <a:r>
              <a:rPr sz="1300" b="0" i="0">
                <a:solidFill>
                  <a:srgbClr val="A7B2B0"/>
                </a:solidFill>
                <a:latin typeface="Segoe UI"/>
              </a:rPr>
              <a:t>Una manija, un modelo de teclado, una cancelación limpia.</a:t>
            </a:r>
          </a:p>
        </p:txBody>
      </p:sp>
      <p:sp>
        <p:nvSpPr>
          <p:cNvPr id="16" name="Rounded Rectangle 15"/>
          <p:cNvSpPr/>
          <p:nvPr/>
        </p:nvSpPr>
        <p:spPr>
          <a:xfrm>
            <a:off x="8072932" y="2084831"/>
            <a:ext cx="3551834" cy="1956816"/>
          </a:xfrm>
          <a:prstGeom prst="roundRect">
            <a:avLst>
              <a:gd name="adj" fmla="val 5607"/>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8237524" y="2212848"/>
            <a:ext cx="502920" cy="45720"/>
          </a:xfrm>
          <a:prstGeom prst="rect">
            <a:avLst/>
          </a:prstGeom>
          <a:solidFill>
            <a:srgbClr val="E2B4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200948" y="2304287"/>
            <a:ext cx="3295802" cy="353568"/>
          </a:xfrm>
          <a:prstGeom prst="rect">
            <a:avLst/>
          </a:prstGeom>
          <a:noFill/>
        </p:spPr>
        <p:txBody>
          <a:bodyPr wrap="square" lIns="45720" rIns="45720" tIns="27432" bIns="27432" anchor="t">
            <a:noAutofit/>
          </a:bodyPr>
          <a:lstStyle/>
          <a:p>
            <a:pPr algn="l">
              <a:lnSpc>
                <a:spcPct val="100000"/>
              </a:lnSpc>
            </a:pPr>
            <a:r>
              <a:rPr sz="1600" b="0" i="0">
                <a:solidFill>
                  <a:srgbClr val="F7F2E8"/>
                </a:solidFill>
                <a:latin typeface="Segoe UI Semibold"/>
              </a:rPr>
              <a:t>Diálogos</a:t>
            </a:r>
          </a:p>
        </p:txBody>
      </p:sp>
      <p:sp>
        <p:nvSpPr>
          <p:cNvPr id="19" name="TextBox 18"/>
          <p:cNvSpPr txBox="1"/>
          <p:nvPr/>
        </p:nvSpPr>
        <p:spPr>
          <a:xfrm>
            <a:off x="8200948" y="2657855"/>
            <a:ext cx="3295802" cy="1292352"/>
          </a:xfrm>
          <a:prstGeom prst="rect">
            <a:avLst/>
          </a:prstGeom>
          <a:noFill/>
        </p:spPr>
        <p:txBody>
          <a:bodyPr wrap="square" lIns="45720" rIns="45720" tIns="27432" bIns="27432" anchor="t">
            <a:noAutofit/>
          </a:bodyPr>
          <a:lstStyle/>
          <a:p>
            <a:pPr algn="l">
              <a:lnSpc>
                <a:spcPct val="100000"/>
              </a:lnSpc>
            </a:pPr>
            <a:r>
              <a:rPr sz="1300" b="0" i="0">
                <a:solidFill>
                  <a:srgbClr val="A7B2B0"/>
                </a:solidFill>
                <a:latin typeface="Segoe UI"/>
              </a:rPr>
              <a:t>Ocho direcciones de cambio de tamaño, cambio de tamaño con teclado, botones que combinan.</a:t>
            </a:r>
          </a:p>
        </p:txBody>
      </p:sp>
      <p:sp>
        <p:nvSpPr>
          <p:cNvPr id="20" name="Rounded Rectangle 19"/>
          <p:cNvSpPr/>
          <p:nvPr/>
        </p:nvSpPr>
        <p:spPr>
          <a:xfrm>
            <a:off x="566928" y="4242816"/>
            <a:ext cx="3551834" cy="1956816"/>
          </a:xfrm>
          <a:prstGeom prst="roundRect">
            <a:avLst>
              <a:gd name="adj" fmla="val 5607"/>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ectangle 20"/>
          <p:cNvSpPr/>
          <p:nvPr/>
        </p:nvSpPr>
        <p:spPr>
          <a:xfrm>
            <a:off x="731520" y="4370832"/>
            <a:ext cx="502920" cy="45720"/>
          </a:xfrm>
          <a:prstGeom prst="rect">
            <a:avLst/>
          </a:prstGeom>
          <a:solidFill>
            <a:srgbClr val="46D2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694944" y="4462272"/>
            <a:ext cx="3295802" cy="353568"/>
          </a:xfrm>
          <a:prstGeom prst="rect">
            <a:avLst/>
          </a:prstGeom>
          <a:noFill/>
        </p:spPr>
        <p:txBody>
          <a:bodyPr wrap="square" lIns="45720" rIns="45720" tIns="27432" bIns="27432" anchor="t">
            <a:noAutofit/>
          </a:bodyPr>
          <a:lstStyle/>
          <a:p>
            <a:pPr algn="l">
              <a:lnSpc>
                <a:spcPct val="100000"/>
              </a:lnSpc>
            </a:pPr>
            <a:r>
              <a:rPr sz="1600" b="0" i="0">
                <a:solidFill>
                  <a:srgbClr val="F7F2E8"/>
                </a:solidFill>
                <a:latin typeface="Segoe UI Semibold"/>
              </a:rPr>
              <a:t>Zoom alto</a:t>
            </a:r>
          </a:p>
        </p:txBody>
      </p:sp>
      <p:sp>
        <p:nvSpPr>
          <p:cNvPr id="23" name="TextBox 22"/>
          <p:cNvSpPr txBox="1"/>
          <p:nvPr/>
        </p:nvSpPr>
        <p:spPr>
          <a:xfrm>
            <a:off x="694944" y="4815840"/>
            <a:ext cx="3295802" cy="1292352"/>
          </a:xfrm>
          <a:prstGeom prst="rect">
            <a:avLst/>
          </a:prstGeom>
          <a:noFill/>
        </p:spPr>
        <p:txBody>
          <a:bodyPr wrap="square" lIns="45720" rIns="45720" tIns="27432" bIns="27432" anchor="t">
            <a:noAutofit/>
          </a:bodyPr>
          <a:lstStyle/>
          <a:p>
            <a:pPr algn="l">
              <a:lnSpc>
                <a:spcPct val="100000"/>
              </a:lnSpc>
            </a:pPr>
            <a:r>
              <a:rPr sz="1300" b="0" i="0">
                <a:solidFill>
                  <a:srgbClr val="A7B2B0"/>
                </a:solidFill>
                <a:latin typeface="Segoe UI"/>
              </a:rPr>
              <a:t>Un modal se queda arriba del menú al 400 por ciento.</a:t>
            </a:r>
          </a:p>
        </p:txBody>
      </p:sp>
      <p:sp>
        <p:nvSpPr>
          <p:cNvPr id="24" name="Rounded Rectangle 23"/>
          <p:cNvSpPr/>
          <p:nvPr/>
        </p:nvSpPr>
        <p:spPr>
          <a:xfrm>
            <a:off x="4319930" y="4242816"/>
            <a:ext cx="3551834" cy="1956816"/>
          </a:xfrm>
          <a:prstGeom prst="roundRect">
            <a:avLst>
              <a:gd name="adj" fmla="val 5607"/>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ectangle 24"/>
          <p:cNvSpPr/>
          <p:nvPr/>
        </p:nvSpPr>
        <p:spPr>
          <a:xfrm>
            <a:off x="4484522" y="4370832"/>
            <a:ext cx="502920" cy="45720"/>
          </a:xfrm>
          <a:prstGeom prst="rect">
            <a:avLst/>
          </a:prstGeom>
          <a:solidFill>
            <a:srgbClr val="D25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4447946" y="4462272"/>
            <a:ext cx="3295802" cy="353568"/>
          </a:xfrm>
          <a:prstGeom prst="rect">
            <a:avLst/>
          </a:prstGeom>
          <a:noFill/>
        </p:spPr>
        <p:txBody>
          <a:bodyPr wrap="square" lIns="45720" rIns="45720" tIns="27432" bIns="27432" anchor="t">
            <a:noAutofit/>
          </a:bodyPr>
          <a:lstStyle/>
          <a:p>
            <a:pPr algn="l">
              <a:lnSpc>
                <a:spcPct val="100000"/>
              </a:lnSpc>
            </a:pPr>
            <a:r>
              <a:rPr sz="1600" b="0" i="0">
                <a:solidFill>
                  <a:srgbClr val="F7F2E8"/>
                </a:solidFill>
                <a:latin typeface="Segoe UI Semibold"/>
              </a:rPr>
              <a:t>Evidencia</a:t>
            </a:r>
          </a:p>
        </p:txBody>
      </p:sp>
      <p:sp>
        <p:nvSpPr>
          <p:cNvPr id="27" name="TextBox 26"/>
          <p:cNvSpPr txBox="1"/>
          <p:nvPr/>
        </p:nvSpPr>
        <p:spPr>
          <a:xfrm>
            <a:off x="4447946" y="4815840"/>
            <a:ext cx="3295802" cy="1292352"/>
          </a:xfrm>
          <a:prstGeom prst="rect">
            <a:avLst/>
          </a:prstGeom>
          <a:noFill/>
        </p:spPr>
        <p:txBody>
          <a:bodyPr wrap="square" lIns="45720" rIns="45720" tIns="27432" bIns="27432" anchor="t">
            <a:noAutofit/>
          </a:bodyPr>
          <a:lstStyle/>
          <a:p>
            <a:pPr algn="l">
              <a:lnSpc>
                <a:spcPct val="100000"/>
              </a:lnSpc>
            </a:pPr>
            <a:r>
              <a:rPr sz="1300" b="0" i="0">
                <a:solidFill>
                  <a:srgbClr val="A7B2B0"/>
                </a:solidFill>
                <a:latin typeface="Segoe UI"/>
              </a:rPr>
              <a:t>175 pruebas del source y revisiones visibles pasaron el 11 de octubre.</a:t>
            </a:r>
          </a:p>
        </p:txBody>
      </p:sp>
      <p:cxnSp>
        <p:nvCxnSpPr>
          <p:cNvPr id="28" name="Connector 27"/>
          <p:cNvCxnSpPr/>
          <p:nvPr/>
        </p:nvCxnSpPr>
        <p:spPr>
          <a:xfrm>
            <a:off x="566928" y="6373368"/>
            <a:ext cx="11057839" cy="0"/>
          </a:xfrm>
          <a:prstGeom prst="line">
            <a:avLst/>
          </a:prstGeom>
          <a:ln w="7620">
            <a:solidFill>
              <a:srgbClr val="2A3A40"/>
            </a:solidFill>
          </a:ln>
        </p:spPr>
        <p:style>
          <a:lnRef idx="2">
            <a:schemeClr val="accent1"/>
          </a:lnRef>
          <a:fillRef idx="0">
            <a:schemeClr val="accent1"/>
          </a:fillRef>
          <a:effectRef idx="1">
            <a:schemeClr val="accent1"/>
          </a:effectRef>
          <a:fontRef idx="minor">
            <a:schemeClr val="tx1"/>
          </a:fontRef>
        </p:style>
      </p:cxnSp>
      <p:sp>
        <p:nvSpPr>
          <p:cNvPr id="29" name="TextBox 28"/>
          <p:cNvSpPr txBox="1"/>
          <p:nvPr/>
        </p:nvSpPr>
        <p:spPr>
          <a:xfrm>
            <a:off x="566928" y="6419088"/>
            <a:ext cx="6858000" cy="274320"/>
          </a:xfrm>
          <a:prstGeom prst="rect">
            <a:avLst/>
          </a:prstGeom>
          <a:noFill/>
        </p:spPr>
        <p:txBody>
          <a:bodyPr wrap="square" lIns="45720" rIns="45720" tIns="27432" bIns="27432" anchor="t">
            <a:noAutofit/>
          </a:bodyPr>
          <a:lstStyle/>
          <a:p>
            <a:pPr algn="l">
              <a:lnSpc>
                <a:spcPct val="100000"/>
              </a:lnSpc>
            </a:pPr>
            <a:r>
              <a:rPr sz="850" b="0" i="0" spc="120">
                <a:solidFill>
                  <a:srgbClr val="A7B2B0"/>
                </a:solidFill>
                <a:latin typeface="Segoe UI Semibold"/>
              </a:rPr>
              <a:t>TLAMATINI  ·  III · DÓNDE TRABAJAS CON ELLA</a:t>
            </a:r>
          </a:p>
        </p:txBody>
      </p:sp>
      <p:sp>
        <p:nvSpPr>
          <p:cNvPr id="30" name="TextBox 29"/>
          <p:cNvSpPr txBox="1"/>
          <p:nvPr/>
        </p:nvSpPr>
        <p:spPr>
          <a:xfrm>
            <a:off x="8698687" y="6419088"/>
            <a:ext cx="2926080" cy="274320"/>
          </a:xfrm>
          <a:prstGeom prst="rect">
            <a:avLst/>
          </a:prstGeom>
          <a:noFill/>
        </p:spPr>
        <p:txBody>
          <a:bodyPr wrap="square" lIns="45720" rIns="45720" tIns="27432" bIns="27432" anchor="t">
            <a:noAutofit/>
          </a:bodyPr>
          <a:lstStyle/>
          <a:p>
            <a:pPr algn="r">
              <a:lnSpc>
                <a:spcPct val="100000"/>
              </a:lnSpc>
            </a:pPr>
            <a:r>
              <a:rPr sz="850" b="0" i="0" spc="100">
                <a:solidFill>
                  <a:srgbClr val="A7B2B0"/>
                </a:solidFill>
                <a:latin typeface="Segoe UI Semibold"/>
              </a:rPr>
              <a:t>v1.91.1   ·   62</a:t>
            </a:r>
          </a:p>
        </p:txBody>
      </p:sp>
    </p:spTree>
  </p:cSld>
  <p:clrMapOvr>
    <a:masterClrMapping/>
  </p:clrMapOvr>
</p:sld>
</file>

<file path=ppt/slides/slide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content.png"/>
          <p:cNvPicPr>
            <a:picLocks noChangeAspect="1"/>
          </p:cNvPicPr>
          <p:nvPr/>
        </p:nvPicPr>
        <p:blipFill>
          <a:blip r:embed="rId2"/>
          <a:stretch>
            <a:fillRect/>
          </a:stretch>
        </p:blipFill>
        <p:spPr>
          <a:xfrm>
            <a:off x="0" y="0"/>
            <a:ext cx="12191695" cy="6858000"/>
          </a:xfrm>
          <a:prstGeom prst="rect">
            <a:avLst/>
          </a:prstGeom>
        </p:spPr>
      </p:pic>
      <p:sp>
        <p:nvSpPr>
          <p:cNvPr id="3" name="Diamond 2"/>
          <p:cNvSpPr/>
          <p:nvPr/>
        </p:nvSpPr>
        <p:spPr>
          <a:xfrm>
            <a:off x="566928" y="457200"/>
            <a:ext cx="100584" cy="100584"/>
          </a:xfrm>
          <a:prstGeom prst="diamond">
            <a:avLst/>
          </a:prstGeom>
          <a:solidFill>
            <a:srgbClr val="E2B4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49808" y="365760"/>
            <a:ext cx="8229600" cy="292608"/>
          </a:xfrm>
          <a:prstGeom prst="rect">
            <a:avLst/>
          </a:prstGeom>
          <a:noFill/>
        </p:spPr>
        <p:txBody>
          <a:bodyPr wrap="square" lIns="45720" rIns="45720" tIns="27432" bIns="27432" anchor="t">
            <a:noAutofit/>
          </a:bodyPr>
          <a:lstStyle/>
          <a:p>
            <a:pPr algn="l">
              <a:lnSpc>
                <a:spcPct val="100000"/>
              </a:lnSpc>
            </a:pPr>
            <a:r>
              <a:rPr sz="1100" b="0" i="0" spc="240">
                <a:solidFill>
                  <a:srgbClr val="C98457"/>
                </a:solidFill>
                <a:latin typeface="Segoe UI Semibold"/>
              </a:rPr>
              <a:t>DIÁLOGOS DEL OPERADOR</a:t>
            </a:r>
          </a:p>
        </p:txBody>
      </p:sp>
      <p:sp>
        <p:nvSpPr>
          <p:cNvPr id="5" name="TextBox 4"/>
          <p:cNvSpPr txBox="1"/>
          <p:nvPr/>
        </p:nvSpPr>
        <p:spPr>
          <a:xfrm>
            <a:off x="539496" y="676656"/>
            <a:ext cx="11057839" cy="658368"/>
          </a:xfrm>
          <a:prstGeom prst="rect">
            <a:avLst/>
          </a:prstGeom>
          <a:noFill/>
        </p:spPr>
        <p:txBody>
          <a:bodyPr wrap="square" lIns="45720" rIns="45720" tIns="27432" bIns="27432" anchor="t">
            <a:noAutofit/>
          </a:bodyPr>
          <a:lstStyle/>
          <a:p>
            <a:pPr algn="l">
              <a:lnSpc>
                <a:spcPct val="100000"/>
              </a:lnSpc>
            </a:pPr>
            <a:r>
              <a:rPr sz="3100" b="0" i="0">
                <a:solidFill>
                  <a:srgbClr val="F7F2E8"/>
                </a:solidFill>
                <a:latin typeface="Palatino Linotype"/>
              </a:rPr>
              <a:t>Todo lo demás, sin editar archivos</a:t>
            </a:r>
          </a:p>
        </p:txBody>
      </p:sp>
      <p:sp>
        <p:nvSpPr>
          <p:cNvPr id="6" name="Rectangle 5"/>
          <p:cNvSpPr/>
          <p:nvPr/>
        </p:nvSpPr>
        <p:spPr>
          <a:xfrm>
            <a:off x="566928" y="1344168"/>
            <a:ext cx="822960" cy="36576"/>
          </a:xfrm>
          <a:prstGeom prst="rect">
            <a:avLst/>
          </a:prstGeom>
          <a:solidFill>
            <a:srgbClr val="E2B4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566928" y="1444752"/>
            <a:ext cx="10692079" cy="585216"/>
          </a:xfrm>
          <a:prstGeom prst="rect">
            <a:avLst/>
          </a:prstGeom>
          <a:noFill/>
        </p:spPr>
        <p:txBody>
          <a:bodyPr wrap="square" lIns="45720" rIns="45720" tIns="27432" bIns="27432" anchor="t">
            <a:noAutofit/>
          </a:bodyPr>
          <a:lstStyle/>
          <a:p>
            <a:pPr algn="l">
              <a:lnSpc>
                <a:spcPct val="100000"/>
              </a:lnSpc>
            </a:pPr>
            <a:r>
              <a:rPr sz="1450" b="0" i="0">
                <a:solidFill>
                  <a:srgbClr val="A7B2B0"/>
                </a:solidFill>
                <a:latin typeface="Segoe UI Semilight"/>
              </a:rPr>
              <a:t>La configuración, las credenciales, las bases de datos y las actualizaciones se manejan desde el browser.</a:t>
            </a:r>
          </a:p>
        </p:txBody>
      </p:sp>
      <p:sp>
        <p:nvSpPr>
          <p:cNvPr id="8" name="Rounded Rectangle 7"/>
          <p:cNvSpPr/>
          <p:nvPr/>
        </p:nvSpPr>
        <p:spPr>
          <a:xfrm>
            <a:off x="566928" y="2084831"/>
            <a:ext cx="3551834" cy="1956816"/>
          </a:xfrm>
          <a:prstGeom prst="roundRect">
            <a:avLst>
              <a:gd name="adj" fmla="val 5607"/>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ectangle 8"/>
          <p:cNvSpPr/>
          <p:nvPr/>
        </p:nvSpPr>
        <p:spPr>
          <a:xfrm>
            <a:off x="731520" y="2212848"/>
            <a:ext cx="502920" cy="45720"/>
          </a:xfrm>
          <a:prstGeom prst="rect">
            <a:avLst/>
          </a:prstGeom>
          <a:solidFill>
            <a:srgbClr val="3BBE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694944" y="2304287"/>
            <a:ext cx="3295802" cy="353568"/>
          </a:xfrm>
          <a:prstGeom prst="rect">
            <a:avLst/>
          </a:prstGeom>
          <a:noFill/>
        </p:spPr>
        <p:txBody>
          <a:bodyPr wrap="square" lIns="45720" rIns="45720" tIns="27432" bIns="27432" anchor="t">
            <a:noAutofit/>
          </a:bodyPr>
          <a:lstStyle/>
          <a:p>
            <a:pPr algn="l">
              <a:lnSpc>
                <a:spcPct val="100000"/>
              </a:lnSpc>
            </a:pPr>
            <a:r>
              <a:rPr sz="1600" b="0" i="0">
                <a:solidFill>
                  <a:srgbClr val="F7F2E8"/>
                </a:solidFill>
                <a:latin typeface="Segoe UI Semibold"/>
              </a:rPr>
              <a:t>Access Keys Wizard</a:t>
            </a:r>
          </a:p>
        </p:txBody>
      </p:sp>
      <p:sp>
        <p:nvSpPr>
          <p:cNvPr id="11" name="TextBox 10"/>
          <p:cNvSpPr txBox="1"/>
          <p:nvPr/>
        </p:nvSpPr>
        <p:spPr>
          <a:xfrm>
            <a:off x="694944" y="2657855"/>
            <a:ext cx="3295802" cy="1292352"/>
          </a:xfrm>
          <a:prstGeom prst="rect">
            <a:avLst/>
          </a:prstGeom>
          <a:noFill/>
        </p:spPr>
        <p:txBody>
          <a:bodyPr wrap="square" lIns="45720" rIns="45720" tIns="27432" bIns="27432" anchor="t">
            <a:noAutofit/>
          </a:bodyPr>
          <a:lstStyle/>
          <a:p>
            <a:pPr algn="l">
              <a:lnSpc>
                <a:spcPct val="100000"/>
              </a:lnSpc>
            </a:pPr>
            <a:r>
              <a:rPr sz="1300" b="0" i="0">
                <a:solidFill>
                  <a:srgbClr val="A7B2B0"/>
                </a:solidFill>
                <a:latin typeface="Segoe UI"/>
              </a:rPr>
              <a:t>Un lugar guiado para las llaves de los proveedores; los campos en blanco conservan lo que ya está.</a:t>
            </a:r>
          </a:p>
        </p:txBody>
      </p:sp>
      <p:sp>
        <p:nvSpPr>
          <p:cNvPr id="12" name="Rounded Rectangle 11"/>
          <p:cNvSpPr/>
          <p:nvPr/>
        </p:nvSpPr>
        <p:spPr>
          <a:xfrm>
            <a:off x="4319930" y="2084831"/>
            <a:ext cx="3551834" cy="1956816"/>
          </a:xfrm>
          <a:prstGeom prst="roundRect">
            <a:avLst>
              <a:gd name="adj" fmla="val 5607"/>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4484522" y="2212848"/>
            <a:ext cx="502920" cy="45720"/>
          </a:xfrm>
          <a:prstGeom prst="rect">
            <a:avLst/>
          </a:prstGeom>
          <a:solidFill>
            <a:srgbClr val="C984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4447946" y="2304287"/>
            <a:ext cx="3295802" cy="353568"/>
          </a:xfrm>
          <a:prstGeom prst="rect">
            <a:avLst/>
          </a:prstGeom>
          <a:noFill/>
        </p:spPr>
        <p:txBody>
          <a:bodyPr wrap="square" lIns="45720" rIns="45720" tIns="27432" bIns="27432" anchor="t">
            <a:noAutofit/>
          </a:bodyPr>
          <a:lstStyle/>
          <a:p>
            <a:pPr algn="l">
              <a:lnSpc>
                <a:spcPct val="100000"/>
              </a:lnSpc>
            </a:pPr>
            <a:r>
              <a:rPr sz="1600" b="0" i="0">
                <a:solidFill>
                  <a:srgbClr val="F7F2E8"/>
                </a:solidFill>
                <a:latin typeface="Segoe UI Semibold"/>
              </a:rPr>
              <a:t>Contactos</a:t>
            </a:r>
          </a:p>
        </p:txBody>
      </p:sp>
      <p:sp>
        <p:nvSpPr>
          <p:cNvPr id="15" name="TextBox 14"/>
          <p:cNvSpPr txBox="1"/>
          <p:nvPr/>
        </p:nvSpPr>
        <p:spPr>
          <a:xfrm>
            <a:off x="4447946" y="2657855"/>
            <a:ext cx="3295802" cy="1292352"/>
          </a:xfrm>
          <a:prstGeom prst="rect">
            <a:avLst/>
          </a:prstGeom>
          <a:noFill/>
        </p:spPr>
        <p:txBody>
          <a:bodyPr wrap="square" lIns="45720" rIns="45720" tIns="27432" bIns="27432" anchor="t">
            <a:noAutofit/>
          </a:bodyPr>
          <a:lstStyle/>
          <a:p>
            <a:pPr algn="l">
              <a:lnSpc>
                <a:spcPct val="100000"/>
              </a:lnSpc>
            </a:pPr>
            <a:r>
              <a:rPr sz="1300" b="0" i="0">
                <a:solidFill>
                  <a:srgbClr val="A7B2B0"/>
                </a:solidFill>
                <a:latin typeface="Segoe UI"/>
              </a:rPr>
              <a:t>Los nombres se resuelven a direcciones, teléfonos y @usernames para los agents de mensajería.</a:t>
            </a:r>
          </a:p>
        </p:txBody>
      </p:sp>
      <p:sp>
        <p:nvSpPr>
          <p:cNvPr id="16" name="Rounded Rectangle 15"/>
          <p:cNvSpPr/>
          <p:nvPr/>
        </p:nvSpPr>
        <p:spPr>
          <a:xfrm>
            <a:off x="8072932" y="2084831"/>
            <a:ext cx="3551834" cy="1956816"/>
          </a:xfrm>
          <a:prstGeom prst="roundRect">
            <a:avLst>
              <a:gd name="adj" fmla="val 5607"/>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8237524" y="2212848"/>
            <a:ext cx="502920" cy="45720"/>
          </a:xfrm>
          <a:prstGeom prst="rect">
            <a:avLst/>
          </a:prstGeom>
          <a:solidFill>
            <a:srgbClr val="E2B4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200948" y="2304287"/>
            <a:ext cx="3295802" cy="353568"/>
          </a:xfrm>
          <a:prstGeom prst="rect">
            <a:avLst/>
          </a:prstGeom>
          <a:noFill/>
        </p:spPr>
        <p:txBody>
          <a:bodyPr wrap="square" lIns="45720" rIns="45720" tIns="27432" bIns="27432" anchor="t">
            <a:noAutofit/>
          </a:bodyPr>
          <a:lstStyle/>
          <a:p>
            <a:pPr algn="l">
              <a:lnSpc>
                <a:spcPct val="100000"/>
              </a:lnSpc>
            </a:pPr>
            <a:r>
              <a:rPr sz="1600" b="0" i="0">
                <a:solidFill>
                  <a:srgbClr val="F7F2E8"/>
                </a:solidFill>
                <a:latin typeface="Segoe UI Semibold"/>
              </a:rPr>
              <a:t>Menú DB</a:t>
            </a:r>
          </a:p>
        </p:txBody>
      </p:sp>
      <p:sp>
        <p:nvSpPr>
          <p:cNvPr id="19" name="TextBox 18"/>
          <p:cNvSpPr txBox="1"/>
          <p:nvPr/>
        </p:nvSpPr>
        <p:spPr>
          <a:xfrm>
            <a:off x="8200948" y="2657855"/>
            <a:ext cx="3295802" cy="1292352"/>
          </a:xfrm>
          <a:prstGeom prst="rect">
            <a:avLst/>
          </a:prstGeom>
          <a:noFill/>
        </p:spPr>
        <p:txBody>
          <a:bodyPr wrap="square" lIns="45720" rIns="45720" tIns="27432" bIns="27432" anchor="t">
            <a:noAutofit/>
          </a:bodyPr>
          <a:lstStyle/>
          <a:p>
            <a:pPr algn="l">
              <a:lnSpc>
                <a:spcPct val="100000"/>
              </a:lnSpc>
            </a:pPr>
            <a:r>
              <a:rPr sz="1300" b="0" i="0">
                <a:solidFill>
                  <a:srgbClr val="A7B2B0"/>
                </a:solidFill>
                <a:latin typeface="Segoe UI"/>
              </a:rPr>
              <a:t>Backup seguro con WAL, y una base de datos verificada preparada para el siguiente arranque.</a:t>
            </a:r>
          </a:p>
        </p:txBody>
      </p:sp>
      <p:sp>
        <p:nvSpPr>
          <p:cNvPr id="20" name="Rounded Rectangle 19"/>
          <p:cNvSpPr/>
          <p:nvPr/>
        </p:nvSpPr>
        <p:spPr>
          <a:xfrm>
            <a:off x="566928" y="4242816"/>
            <a:ext cx="3551834" cy="1956816"/>
          </a:xfrm>
          <a:prstGeom prst="roundRect">
            <a:avLst>
              <a:gd name="adj" fmla="val 5607"/>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ectangle 20"/>
          <p:cNvSpPr/>
          <p:nvPr/>
        </p:nvSpPr>
        <p:spPr>
          <a:xfrm>
            <a:off x="731520" y="4370832"/>
            <a:ext cx="502920" cy="45720"/>
          </a:xfrm>
          <a:prstGeom prst="rect">
            <a:avLst/>
          </a:prstGeom>
          <a:solidFill>
            <a:srgbClr val="46D2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694944" y="4462272"/>
            <a:ext cx="3295802" cy="353568"/>
          </a:xfrm>
          <a:prstGeom prst="rect">
            <a:avLst/>
          </a:prstGeom>
          <a:noFill/>
        </p:spPr>
        <p:txBody>
          <a:bodyPr wrap="square" lIns="45720" rIns="45720" tIns="27432" bIns="27432" anchor="t">
            <a:noAutofit/>
          </a:bodyPr>
          <a:lstStyle/>
          <a:p>
            <a:pPr algn="l">
              <a:lnSpc>
                <a:spcPct val="100000"/>
              </a:lnSpc>
            </a:pPr>
            <a:r>
              <a:rPr sz="1600" b="0" i="0">
                <a:solidFill>
                  <a:srgbClr val="F7F2E8"/>
                </a:solidFill>
                <a:latin typeface="Segoe UI Semibold"/>
              </a:rPr>
              <a:t>Externos </a:t>
            </a:r>
            <a:r>
              <a:rPr sz="1600" b="0" i="0">
                <a:solidFill>
                  <a:srgbClr val="F7F2E8"/>
                </a:solidFill>
                <a:latin typeface="Segoe UI Symbol"/>
              </a:rPr>
              <a:t>▸</a:t>
            </a:r>
            <a:r>
              <a:rPr sz="1600" b="0" i="0">
                <a:solidFill>
                  <a:srgbClr val="F7F2E8"/>
                </a:solidFill>
                <a:latin typeface="Segoe UI Semibold"/>
              </a:rPr>
              <a:t> MCPs</a:t>
            </a:r>
          </a:p>
        </p:txBody>
      </p:sp>
      <p:sp>
        <p:nvSpPr>
          <p:cNvPr id="23" name="TextBox 22"/>
          <p:cNvSpPr txBox="1"/>
          <p:nvPr/>
        </p:nvSpPr>
        <p:spPr>
          <a:xfrm>
            <a:off x="694944" y="4815840"/>
            <a:ext cx="3295802" cy="1292352"/>
          </a:xfrm>
          <a:prstGeom prst="rect">
            <a:avLst/>
          </a:prstGeom>
          <a:noFill/>
        </p:spPr>
        <p:txBody>
          <a:bodyPr wrap="square" lIns="45720" rIns="45720" tIns="27432" bIns="27432" anchor="t">
            <a:noAutofit/>
          </a:bodyPr>
          <a:lstStyle/>
          <a:p>
            <a:pPr algn="l">
              <a:lnSpc>
                <a:spcPct val="100000"/>
              </a:lnSpc>
            </a:pPr>
            <a:r>
              <a:rPr sz="1300" b="0" i="0">
                <a:solidFill>
                  <a:srgbClr val="A7B2B0"/>
                </a:solidFill>
                <a:latin typeface="Segoe UI"/>
              </a:rPr>
              <a:t>Busca en el catálogo, activa hasta cinco servidores, instala runtimes.</a:t>
            </a:r>
          </a:p>
        </p:txBody>
      </p:sp>
      <p:sp>
        <p:nvSpPr>
          <p:cNvPr id="24" name="Rounded Rectangle 23"/>
          <p:cNvSpPr/>
          <p:nvPr/>
        </p:nvSpPr>
        <p:spPr>
          <a:xfrm>
            <a:off x="4319930" y="4242816"/>
            <a:ext cx="3551834" cy="1956816"/>
          </a:xfrm>
          <a:prstGeom prst="roundRect">
            <a:avLst>
              <a:gd name="adj" fmla="val 5607"/>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ectangle 24"/>
          <p:cNvSpPr/>
          <p:nvPr/>
        </p:nvSpPr>
        <p:spPr>
          <a:xfrm>
            <a:off x="4484522" y="4370832"/>
            <a:ext cx="502920" cy="45720"/>
          </a:xfrm>
          <a:prstGeom prst="rect">
            <a:avLst/>
          </a:prstGeom>
          <a:solidFill>
            <a:srgbClr val="D25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4447946" y="4462272"/>
            <a:ext cx="3295802" cy="353568"/>
          </a:xfrm>
          <a:prstGeom prst="rect">
            <a:avLst/>
          </a:prstGeom>
          <a:noFill/>
        </p:spPr>
        <p:txBody>
          <a:bodyPr wrap="square" lIns="45720" rIns="45720" tIns="27432" bIns="27432" anchor="t">
            <a:noAutofit/>
          </a:bodyPr>
          <a:lstStyle/>
          <a:p>
            <a:pPr algn="l">
              <a:lnSpc>
                <a:spcPct val="100000"/>
              </a:lnSpc>
            </a:pPr>
            <a:r>
              <a:rPr sz="1600" b="0" i="0">
                <a:solidFill>
                  <a:srgbClr val="F7F2E8"/>
                </a:solidFill>
                <a:latin typeface="Segoe UI Semibold"/>
              </a:rPr>
              <a:t>ACPX-Skills</a:t>
            </a:r>
          </a:p>
        </p:txBody>
      </p:sp>
      <p:sp>
        <p:nvSpPr>
          <p:cNvPr id="27" name="TextBox 26"/>
          <p:cNvSpPr txBox="1"/>
          <p:nvPr/>
        </p:nvSpPr>
        <p:spPr>
          <a:xfrm>
            <a:off x="4447946" y="4815840"/>
            <a:ext cx="3295802" cy="1292352"/>
          </a:xfrm>
          <a:prstGeom prst="rect">
            <a:avLst/>
          </a:prstGeom>
          <a:noFill/>
        </p:spPr>
        <p:txBody>
          <a:bodyPr wrap="square" lIns="45720" rIns="45720" tIns="27432" bIns="27432" anchor="t">
            <a:noAutofit/>
          </a:bodyPr>
          <a:lstStyle/>
          <a:p>
            <a:pPr algn="l">
              <a:lnSpc>
                <a:spcPct val="100000"/>
              </a:lnSpc>
            </a:pPr>
            <a:r>
              <a:rPr sz="1300" b="0" i="0">
                <a:solidFill>
                  <a:srgbClr val="A7B2B0"/>
                </a:solidFill>
                <a:latin typeface="Segoe UI"/>
              </a:rPr>
              <a:t>Examina, habilita, diagnostica y recarga skills.</a:t>
            </a:r>
          </a:p>
        </p:txBody>
      </p:sp>
      <p:sp>
        <p:nvSpPr>
          <p:cNvPr id="28" name="Rounded Rectangle 27"/>
          <p:cNvSpPr/>
          <p:nvPr/>
        </p:nvSpPr>
        <p:spPr>
          <a:xfrm>
            <a:off x="8072932" y="4242816"/>
            <a:ext cx="3551834" cy="1956816"/>
          </a:xfrm>
          <a:prstGeom prst="roundRect">
            <a:avLst>
              <a:gd name="adj" fmla="val 5607"/>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Rectangle 28"/>
          <p:cNvSpPr/>
          <p:nvPr/>
        </p:nvSpPr>
        <p:spPr>
          <a:xfrm>
            <a:off x="8237524" y="4370832"/>
            <a:ext cx="502920" cy="45720"/>
          </a:xfrm>
          <a:prstGeom prst="rect">
            <a:avLst/>
          </a:prstGeom>
          <a:solidFill>
            <a:srgbClr val="D957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8200948" y="4462272"/>
            <a:ext cx="3295802" cy="353568"/>
          </a:xfrm>
          <a:prstGeom prst="rect">
            <a:avLst/>
          </a:prstGeom>
          <a:noFill/>
        </p:spPr>
        <p:txBody>
          <a:bodyPr wrap="square" lIns="45720" rIns="45720" tIns="27432" bIns="27432" anchor="t">
            <a:noAutofit/>
          </a:bodyPr>
          <a:lstStyle/>
          <a:p>
            <a:pPr algn="l">
              <a:lnSpc>
                <a:spcPct val="100000"/>
              </a:lnSpc>
            </a:pPr>
            <a:r>
              <a:rPr sz="1600" b="0" i="0">
                <a:solidFill>
                  <a:srgbClr val="F7F2E8"/>
                </a:solidFill>
                <a:latin typeface="Segoe UI Semibold"/>
              </a:rPr>
              <a:t>Buscar actualizaciones</a:t>
            </a:r>
          </a:p>
        </p:txBody>
      </p:sp>
      <p:sp>
        <p:nvSpPr>
          <p:cNvPr id="31" name="TextBox 30"/>
          <p:cNvSpPr txBox="1"/>
          <p:nvPr/>
        </p:nvSpPr>
        <p:spPr>
          <a:xfrm>
            <a:off x="8200948" y="4815840"/>
            <a:ext cx="3295802" cy="1292352"/>
          </a:xfrm>
          <a:prstGeom prst="rect">
            <a:avLst/>
          </a:prstGeom>
          <a:noFill/>
        </p:spPr>
        <p:txBody>
          <a:bodyPr wrap="square" lIns="45720" rIns="45720" tIns="27432" bIns="27432" anchor="t">
            <a:noAutofit/>
          </a:bodyPr>
          <a:lstStyle/>
          <a:p>
            <a:pPr algn="l">
              <a:lnSpc>
                <a:spcPct val="100000"/>
              </a:lnSpc>
            </a:pPr>
            <a:r>
              <a:rPr sz="1300" b="0" i="0">
                <a:solidFill>
                  <a:srgbClr val="A7B2B0"/>
                </a:solidFill>
                <a:latin typeface="Segoe UI"/>
              </a:rPr>
              <a:t>Prepara el último release publicado y lo cambia de forma segura.</a:t>
            </a:r>
          </a:p>
        </p:txBody>
      </p:sp>
      <p:cxnSp>
        <p:nvCxnSpPr>
          <p:cNvPr id="32" name="Connector 31"/>
          <p:cNvCxnSpPr/>
          <p:nvPr/>
        </p:nvCxnSpPr>
        <p:spPr>
          <a:xfrm>
            <a:off x="566928" y="6373368"/>
            <a:ext cx="11057839" cy="0"/>
          </a:xfrm>
          <a:prstGeom prst="line">
            <a:avLst/>
          </a:prstGeom>
          <a:ln w="7620">
            <a:solidFill>
              <a:srgbClr val="2A3A40"/>
            </a:solidFill>
          </a:ln>
        </p:spPr>
        <p:style>
          <a:lnRef idx="2">
            <a:schemeClr val="accent1"/>
          </a:lnRef>
          <a:fillRef idx="0">
            <a:schemeClr val="accent1"/>
          </a:fillRef>
          <a:effectRef idx="1">
            <a:schemeClr val="accent1"/>
          </a:effectRef>
          <a:fontRef idx="minor">
            <a:schemeClr val="tx1"/>
          </a:fontRef>
        </p:style>
      </p:cxnSp>
      <p:sp>
        <p:nvSpPr>
          <p:cNvPr id="33" name="TextBox 32"/>
          <p:cNvSpPr txBox="1"/>
          <p:nvPr/>
        </p:nvSpPr>
        <p:spPr>
          <a:xfrm>
            <a:off x="566928" y="6419088"/>
            <a:ext cx="6858000" cy="274320"/>
          </a:xfrm>
          <a:prstGeom prst="rect">
            <a:avLst/>
          </a:prstGeom>
          <a:noFill/>
        </p:spPr>
        <p:txBody>
          <a:bodyPr wrap="square" lIns="45720" rIns="45720" tIns="27432" bIns="27432" anchor="t">
            <a:noAutofit/>
          </a:bodyPr>
          <a:lstStyle/>
          <a:p>
            <a:pPr algn="l">
              <a:lnSpc>
                <a:spcPct val="100000"/>
              </a:lnSpc>
            </a:pPr>
            <a:r>
              <a:rPr sz="850" b="0" i="0" spc="120">
                <a:solidFill>
                  <a:srgbClr val="A7B2B0"/>
                </a:solidFill>
                <a:latin typeface="Segoe UI Semibold"/>
              </a:rPr>
              <a:t>TLAMATINI  ·  III · DÓNDE TRABAJAS CON ELLA</a:t>
            </a:r>
          </a:p>
        </p:txBody>
      </p:sp>
      <p:sp>
        <p:nvSpPr>
          <p:cNvPr id="34" name="TextBox 33"/>
          <p:cNvSpPr txBox="1"/>
          <p:nvPr/>
        </p:nvSpPr>
        <p:spPr>
          <a:xfrm>
            <a:off x="8698687" y="6419088"/>
            <a:ext cx="2926080" cy="274320"/>
          </a:xfrm>
          <a:prstGeom prst="rect">
            <a:avLst/>
          </a:prstGeom>
          <a:noFill/>
        </p:spPr>
        <p:txBody>
          <a:bodyPr wrap="square" lIns="45720" rIns="45720" tIns="27432" bIns="27432" anchor="t">
            <a:noAutofit/>
          </a:bodyPr>
          <a:lstStyle/>
          <a:p>
            <a:pPr algn="r">
              <a:lnSpc>
                <a:spcPct val="100000"/>
              </a:lnSpc>
            </a:pPr>
            <a:r>
              <a:rPr sz="850" b="0" i="0" spc="100">
                <a:solidFill>
                  <a:srgbClr val="A7B2B0"/>
                </a:solidFill>
                <a:latin typeface="Segoe UI Semibold"/>
              </a:rPr>
              <a:t>v1.91.1   ·   63</a:t>
            </a:r>
          </a:p>
        </p:txBody>
      </p:sp>
    </p:spTree>
  </p:cSld>
  <p:clrMapOvr>
    <a:masterClrMapping/>
  </p:clrMapOvr>
</p:sld>
</file>

<file path=ppt/slides/slide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content.png"/>
          <p:cNvPicPr>
            <a:picLocks noChangeAspect="1"/>
          </p:cNvPicPr>
          <p:nvPr/>
        </p:nvPicPr>
        <p:blipFill>
          <a:blip r:embed="rId2"/>
          <a:stretch>
            <a:fillRect/>
          </a:stretch>
        </p:blipFill>
        <p:spPr>
          <a:xfrm>
            <a:off x="0" y="0"/>
            <a:ext cx="12191695" cy="6858000"/>
          </a:xfrm>
          <a:prstGeom prst="rect">
            <a:avLst/>
          </a:prstGeom>
        </p:spPr>
      </p:pic>
      <p:sp>
        <p:nvSpPr>
          <p:cNvPr id="3" name="Diamond 2"/>
          <p:cNvSpPr/>
          <p:nvPr/>
        </p:nvSpPr>
        <p:spPr>
          <a:xfrm>
            <a:off x="566928" y="457200"/>
            <a:ext cx="100584" cy="100584"/>
          </a:xfrm>
          <a:prstGeom prst="diamond">
            <a:avLst/>
          </a:prstGeom>
          <a:solidFill>
            <a:srgbClr val="E2B4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49808" y="365760"/>
            <a:ext cx="8229600" cy="292608"/>
          </a:xfrm>
          <a:prstGeom prst="rect">
            <a:avLst/>
          </a:prstGeom>
          <a:noFill/>
        </p:spPr>
        <p:txBody>
          <a:bodyPr wrap="square" lIns="45720" rIns="45720" tIns="27432" bIns="27432" anchor="t">
            <a:noAutofit/>
          </a:bodyPr>
          <a:lstStyle/>
          <a:p>
            <a:pPr algn="l">
              <a:lnSpc>
                <a:spcPct val="100000"/>
              </a:lnSpc>
            </a:pPr>
            <a:r>
              <a:rPr sz="1100" b="0" i="0" spc="240">
                <a:solidFill>
                  <a:srgbClr val="C98457"/>
                </a:solidFill>
                <a:latin typeface="Segoe UI Semibold"/>
              </a:rPr>
              <a:t>DIÁLOGOS DEL OPERADOR</a:t>
            </a:r>
          </a:p>
        </p:txBody>
      </p:sp>
      <p:sp>
        <p:nvSpPr>
          <p:cNvPr id="5" name="TextBox 4"/>
          <p:cNvSpPr txBox="1"/>
          <p:nvPr/>
        </p:nvSpPr>
        <p:spPr>
          <a:xfrm>
            <a:off x="539496" y="676656"/>
            <a:ext cx="11057839" cy="658368"/>
          </a:xfrm>
          <a:prstGeom prst="rect">
            <a:avLst/>
          </a:prstGeom>
          <a:noFill/>
        </p:spPr>
        <p:txBody>
          <a:bodyPr wrap="square" lIns="45720" rIns="45720" tIns="27432" bIns="27432" anchor="t">
            <a:noAutofit/>
          </a:bodyPr>
          <a:lstStyle/>
          <a:p>
            <a:pPr algn="l">
              <a:lnSpc>
                <a:spcPct val="100000"/>
              </a:lnSpc>
            </a:pPr>
            <a:r>
              <a:rPr sz="3100" b="0" i="0">
                <a:solidFill>
                  <a:srgbClr val="F7F2E8"/>
                </a:solidFill>
                <a:latin typeface="Palatino Linotype"/>
              </a:rPr>
              <a:t>Una sola regla para cerrar en todas partes</a:t>
            </a:r>
          </a:p>
        </p:txBody>
      </p:sp>
      <p:sp>
        <p:nvSpPr>
          <p:cNvPr id="6" name="Rectangle 5"/>
          <p:cNvSpPr/>
          <p:nvPr/>
        </p:nvSpPr>
        <p:spPr>
          <a:xfrm>
            <a:off x="566928" y="1344168"/>
            <a:ext cx="822960" cy="36576"/>
          </a:xfrm>
          <a:prstGeom prst="rect">
            <a:avLst/>
          </a:prstGeom>
          <a:solidFill>
            <a:srgbClr val="E2B4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ounded Rectangle 6"/>
          <p:cNvSpPr/>
          <p:nvPr/>
        </p:nvSpPr>
        <p:spPr>
          <a:xfrm>
            <a:off x="566928" y="1810511"/>
            <a:ext cx="11057839" cy="3291840"/>
          </a:xfrm>
          <a:prstGeom prst="roundRect">
            <a:avLst>
              <a:gd name="adj" fmla="val 4444"/>
            </a:avLst>
          </a:prstGeom>
          <a:solidFill>
            <a:srgbClr val="121A1D"/>
          </a:solidFill>
          <a:ln w="19050">
            <a:solidFill>
              <a:srgbClr val="E2B462"/>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ectangle 7"/>
          <p:cNvSpPr/>
          <p:nvPr/>
        </p:nvSpPr>
        <p:spPr>
          <a:xfrm>
            <a:off x="566928" y="1810511"/>
            <a:ext cx="109728" cy="3291840"/>
          </a:xfrm>
          <a:prstGeom prst="rect">
            <a:avLst/>
          </a:prstGeom>
          <a:solidFill>
            <a:srgbClr val="E2B4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115568" y="2039112"/>
            <a:ext cx="9960559" cy="2834640"/>
          </a:xfrm>
          <a:prstGeom prst="rect">
            <a:avLst/>
          </a:prstGeom>
          <a:noFill/>
        </p:spPr>
        <p:txBody>
          <a:bodyPr wrap="square" lIns="45720" rIns="45720" tIns="27432" bIns="27432" anchor="ctr">
            <a:noAutofit/>
          </a:bodyPr>
          <a:lstStyle/>
          <a:p>
            <a:pPr algn="l">
              <a:lnSpc>
                <a:spcPct val="100000"/>
              </a:lnSpc>
            </a:pPr>
            <a:r>
              <a:rPr sz="2600" b="0" i="0">
                <a:solidFill>
                  <a:srgbClr val="F7F2E8"/>
                </a:solidFill>
                <a:latin typeface="Segoe UI Light"/>
              </a:rPr>
              <a:t>Escape significa exactamente lo mismo que la </a:t>
            </a:r>
            <a:r>
              <a:rPr sz="2600" b="0" i="0">
                <a:solidFill>
                  <a:srgbClr val="F7F2E8"/>
                </a:solidFill>
                <a:latin typeface="Segoe UI Symbol"/>
              </a:rPr>
              <a:t>✕</a:t>
            </a:r>
            <a:r>
              <a:rPr sz="2600" b="0" i="0">
                <a:solidFill>
                  <a:srgbClr val="F7F2E8"/>
                </a:solidFill>
                <a:latin typeface="Segoe UI Light"/>
              </a:rPr>
              <a:t> de un diálogo, y un clic afuera nunca cierra nada. Un actualizador que está descargando es el único diálogo que se niega a cerrarse.</a:t>
            </a:r>
          </a:p>
        </p:txBody>
      </p:sp>
      <p:sp>
        <p:nvSpPr>
          <p:cNvPr id="10" name="TextBox 9"/>
          <p:cNvSpPr txBox="1"/>
          <p:nvPr/>
        </p:nvSpPr>
        <p:spPr>
          <a:xfrm>
            <a:off x="566928" y="5230368"/>
            <a:ext cx="11057839" cy="457200"/>
          </a:xfrm>
          <a:prstGeom prst="rect">
            <a:avLst/>
          </a:prstGeom>
          <a:noFill/>
        </p:spPr>
        <p:txBody>
          <a:bodyPr wrap="square" lIns="45720" rIns="45720" tIns="27432" bIns="27432" anchor="t">
            <a:noAutofit/>
          </a:bodyPr>
          <a:lstStyle/>
          <a:p>
            <a:pPr algn="l">
              <a:lnSpc>
                <a:spcPct val="100000"/>
              </a:lnSpc>
            </a:pPr>
            <a:r>
              <a:rPr sz="1300" b="0" i="1">
                <a:solidFill>
                  <a:srgbClr val="A7B2B0"/>
                </a:solidFill>
                <a:latin typeface="Segoe UI"/>
              </a:rPr>
              <a:t>De “Todo lo demás, sin editar archivos”</a:t>
            </a:r>
          </a:p>
        </p:txBody>
      </p:sp>
      <p:cxnSp>
        <p:nvCxnSpPr>
          <p:cNvPr id="11" name="Connector 10"/>
          <p:cNvCxnSpPr/>
          <p:nvPr/>
        </p:nvCxnSpPr>
        <p:spPr>
          <a:xfrm>
            <a:off x="566928" y="6373368"/>
            <a:ext cx="11057839" cy="0"/>
          </a:xfrm>
          <a:prstGeom prst="line">
            <a:avLst/>
          </a:prstGeom>
          <a:ln w="7620">
            <a:solidFill>
              <a:srgbClr val="2A3A40"/>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566928" y="6419088"/>
            <a:ext cx="6858000" cy="274320"/>
          </a:xfrm>
          <a:prstGeom prst="rect">
            <a:avLst/>
          </a:prstGeom>
          <a:noFill/>
        </p:spPr>
        <p:txBody>
          <a:bodyPr wrap="square" lIns="45720" rIns="45720" tIns="27432" bIns="27432" anchor="t">
            <a:noAutofit/>
          </a:bodyPr>
          <a:lstStyle/>
          <a:p>
            <a:pPr algn="l">
              <a:lnSpc>
                <a:spcPct val="100000"/>
              </a:lnSpc>
            </a:pPr>
            <a:r>
              <a:rPr sz="850" b="0" i="0" spc="120">
                <a:solidFill>
                  <a:srgbClr val="A7B2B0"/>
                </a:solidFill>
                <a:latin typeface="Segoe UI Semibold"/>
              </a:rPr>
              <a:t>TLAMATINI  ·  III · DÓNDE TRABAJAS CON ELLA</a:t>
            </a:r>
          </a:p>
        </p:txBody>
      </p:sp>
      <p:sp>
        <p:nvSpPr>
          <p:cNvPr id="13" name="TextBox 12"/>
          <p:cNvSpPr txBox="1"/>
          <p:nvPr/>
        </p:nvSpPr>
        <p:spPr>
          <a:xfrm>
            <a:off x="8698687" y="6419088"/>
            <a:ext cx="2926080" cy="274320"/>
          </a:xfrm>
          <a:prstGeom prst="rect">
            <a:avLst/>
          </a:prstGeom>
          <a:noFill/>
        </p:spPr>
        <p:txBody>
          <a:bodyPr wrap="square" lIns="45720" rIns="45720" tIns="27432" bIns="27432" anchor="t">
            <a:noAutofit/>
          </a:bodyPr>
          <a:lstStyle/>
          <a:p>
            <a:pPr algn="r">
              <a:lnSpc>
                <a:spcPct val="100000"/>
              </a:lnSpc>
            </a:pPr>
            <a:r>
              <a:rPr sz="850" b="0" i="0" spc="100">
                <a:solidFill>
                  <a:srgbClr val="A7B2B0"/>
                </a:solidFill>
                <a:latin typeface="Segoe UI Semibold"/>
              </a:rPr>
              <a:t>v1.91.1   ·   64</a:t>
            </a:r>
          </a:p>
        </p:txBody>
      </p:sp>
    </p:spTree>
  </p:cSld>
  <p:clrMapOvr>
    <a:masterClrMapping/>
  </p:clrMapOvr>
</p:sld>
</file>

<file path=ppt/slides/slide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divider.png"/>
          <p:cNvPicPr>
            <a:picLocks noChangeAspect="1"/>
          </p:cNvPicPr>
          <p:nvPr/>
        </p:nvPicPr>
        <p:blipFill>
          <a:blip r:embed="rId2"/>
          <a:stretch>
            <a:fillRect/>
          </a:stretch>
        </p:blipFill>
        <p:spPr>
          <a:xfrm>
            <a:off x="0" y="0"/>
            <a:ext cx="12191695" cy="6858000"/>
          </a:xfrm>
          <a:prstGeom prst="rect">
            <a:avLst/>
          </a:prstGeom>
        </p:spPr>
      </p:pic>
      <p:sp>
        <p:nvSpPr>
          <p:cNvPr id="3" name="TextBox 2"/>
          <p:cNvSpPr txBox="1"/>
          <p:nvPr/>
        </p:nvSpPr>
        <p:spPr>
          <a:xfrm>
            <a:off x="822960" y="868680"/>
            <a:ext cx="4572000" cy="365760"/>
          </a:xfrm>
          <a:prstGeom prst="rect">
            <a:avLst/>
          </a:prstGeom>
          <a:noFill/>
        </p:spPr>
        <p:txBody>
          <a:bodyPr wrap="square" lIns="45720" rIns="45720" tIns="27432" bIns="27432" anchor="t">
            <a:noAutofit/>
          </a:bodyPr>
          <a:lstStyle/>
          <a:p>
            <a:pPr algn="l">
              <a:lnSpc>
                <a:spcPct val="100000"/>
              </a:lnSpc>
            </a:pPr>
            <a:r>
              <a:rPr sz="1300" b="0" i="0" spc="340">
                <a:solidFill>
                  <a:srgbClr val="D25CD6"/>
                </a:solidFill>
                <a:latin typeface="Segoe UI Semibold"/>
              </a:rPr>
              <a:t>CHAPTER</a:t>
            </a:r>
          </a:p>
        </p:txBody>
      </p:sp>
      <p:sp>
        <p:nvSpPr>
          <p:cNvPr id="4" name="TextBox 3"/>
          <p:cNvSpPr txBox="1"/>
          <p:nvPr/>
        </p:nvSpPr>
        <p:spPr>
          <a:xfrm>
            <a:off x="749808" y="1261872"/>
            <a:ext cx="5029200" cy="1691640"/>
          </a:xfrm>
          <a:prstGeom prst="rect">
            <a:avLst/>
          </a:prstGeom>
          <a:noFill/>
        </p:spPr>
        <p:txBody>
          <a:bodyPr wrap="square" lIns="45720" rIns="45720" tIns="27432" bIns="27432" anchor="t">
            <a:noAutofit/>
          </a:bodyPr>
          <a:lstStyle/>
          <a:p>
            <a:pPr algn="l">
              <a:lnSpc>
                <a:spcPct val="100000"/>
              </a:lnSpc>
            </a:pPr>
            <a:r>
              <a:rPr sz="10550" b="0" i="0">
                <a:solidFill>
                  <a:srgbClr val="C98457"/>
                </a:solidFill>
                <a:latin typeface="Palatino Linotype"/>
              </a:rPr>
              <a:t>IV</a:t>
            </a:r>
          </a:p>
        </p:txBody>
      </p:sp>
      <p:sp>
        <p:nvSpPr>
          <p:cNvPr id="5" name="TextBox 4"/>
          <p:cNvSpPr txBox="1"/>
          <p:nvPr/>
        </p:nvSpPr>
        <p:spPr>
          <a:xfrm>
            <a:off x="822960" y="2971800"/>
            <a:ext cx="6766560" cy="1280160"/>
          </a:xfrm>
          <a:prstGeom prst="rect">
            <a:avLst/>
          </a:prstGeom>
          <a:noFill/>
        </p:spPr>
        <p:txBody>
          <a:bodyPr wrap="square" lIns="45720" rIns="45720" tIns="27432" bIns="27432" anchor="t">
            <a:noAutofit/>
          </a:bodyPr>
          <a:lstStyle/>
          <a:p>
            <a:pPr algn="l">
              <a:lnSpc>
                <a:spcPct val="100000"/>
              </a:lnSpc>
            </a:pPr>
            <a:r>
              <a:rPr sz="4600" b="0" i="0">
                <a:solidFill>
                  <a:srgbClr val="F7F2E8"/>
                </a:solidFill>
                <a:latin typeface="Palatino Linotype"/>
              </a:rPr>
              <a:t>El Bestiario</a:t>
            </a:r>
          </a:p>
        </p:txBody>
      </p:sp>
      <p:sp>
        <p:nvSpPr>
          <p:cNvPr id="6" name="Rectangle 5"/>
          <p:cNvSpPr/>
          <p:nvPr/>
        </p:nvSpPr>
        <p:spPr>
          <a:xfrm>
            <a:off x="841248" y="4315968"/>
            <a:ext cx="1005840" cy="45720"/>
          </a:xfrm>
          <a:prstGeom prst="rect">
            <a:avLst/>
          </a:prstGeom>
          <a:solidFill>
            <a:srgbClr val="D25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822960" y="4443984"/>
            <a:ext cx="6400800" cy="731520"/>
          </a:xfrm>
          <a:prstGeom prst="rect">
            <a:avLst/>
          </a:prstGeom>
          <a:noFill/>
        </p:spPr>
        <p:txBody>
          <a:bodyPr wrap="square" lIns="45720" rIns="45720" tIns="27432" bIns="27432" anchor="t">
            <a:noAutofit/>
          </a:bodyPr>
          <a:lstStyle/>
          <a:p>
            <a:pPr algn="l">
              <a:lnSpc>
                <a:spcPct val="100000"/>
              </a:lnSpc>
            </a:pPr>
            <a:r>
              <a:rPr sz="1800" b="0" i="0">
                <a:solidFill>
                  <a:srgbClr val="ECE7DC"/>
                </a:solidFill>
                <a:latin typeface="Segoe UI Light"/>
              </a:rPr>
              <a:t>86 tipos de agent en doce familias. Cada uno es un programa en Python simple que puedes leer, auditar y cambiar.</a:t>
            </a:r>
          </a:p>
        </p:txBody>
      </p:sp>
      <p:cxnSp>
        <p:nvCxnSpPr>
          <p:cNvPr id="8" name="Connector 7"/>
          <p:cNvCxnSpPr/>
          <p:nvPr/>
        </p:nvCxnSpPr>
        <p:spPr>
          <a:xfrm>
            <a:off x="566928" y="6373368"/>
            <a:ext cx="11057839" cy="0"/>
          </a:xfrm>
          <a:prstGeom prst="line">
            <a:avLst/>
          </a:prstGeom>
          <a:ln w="7620">
            <a:solidFill>
              <a:srgbClr val="2A3A40"/>
            </a:solidFill>
          </a:ln>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566928" y="6419088"/>
            <a:ext cx="6858000" cy="274320"/>
          </a:xfrm>
          <a:prstGeom prst="rect">
            <a:avLst/>
          </a:prstGeom>
          <a:noFill/>
        </p:spPr>
        <p:txBody>
          <a:bodyPr wrap="square" lIns="45720" rIns="45720" tIns="27432" bIns="27432" anchor="t">
            <a:noAutofit/>
          </a:bodyPr>
          <a:lstStyle/>
          <a:p>
            <a:pPr algn="l">
              <a:lnSpc>
                <a:spcPct val="100000"/>
              </a:lnSpc>
            </a:pPr>
            <a:r>
              <a:rPr sz="850" b="0" i="0" spc="120">
                <a:solidFill>
                  <a:srgbClr val="A7B2B0"/>
                </a:solidFill>
                <a:latin typeface="Segoe UI Semibold"/>
              </a:rPr>
              <a:t>TLAMATINI  ·  CAPÍTULO IV</a:t>
            </a:r>
          </a:p>
        </p:txBody>
      </p:sp>
      <p:sp>
        <p:nvSpPr>
          <p:cNvPr id="10" name="TextBox 9"/>
          <p:cNvSpPr txBox="1"/>
          <p:nvPr/>
        </p:nvSpPr>
        <p:spPr>
          <a:xfrm>
            <a:off x="8698687" y="6419088"/>
            <a:ext cx="2926080" cy="274320"/>
          </a:xfrm>
          <a:prstGeom prst="rect">
            <a:avLst/>
          </a:prstGeom>
          <a:noFill/>
        </p:spPr>
        <p:txBody>
          <a:bodyPr wrap="square" lIns="45720" rIns="45720" tIns="27432" bIns="27432" anchor="t">
            <a:noAutofit/>
          </a:bodyPr>
          <a:lstStyle/>
          <a:p>
            <a:pPr algn="r">
              <a:lnSpc>
                <a:spcPct val="100000"/>
              </a:lnSpc>
            </a:pPr>
            <a:r>
              <a:rPr sz="850" b="0" i="0" spc="100">
                <a:solidFill>
                  <a:srgbClr val="A7B2B0"/>
                </a:solidFill>
                <a:latin typeface="Segoe UI Semibold"/>
              </a:rPr>
              <a:t>v1.91.1   ·   65</a:t>
            </a:r>
          </a:p>
        </p:txBody>
      </p:sp>
    </p:spTree>
  </p:cSld>
  <p:clrMapOvr>
    <a:masterClrMapping/>
  </p:clrMapOvr>
</p:sld>
</file>

<file path=ppt/slides/slide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content.png"/>
          <p:cNvPicPr>
            <a:picLocks noChangeAspect="1"/>
          </p:cNvPicPr>
          <p:nvPr/>
        </p:nvPicPr>
        <p:blipFill>
          <a:blip r:embed="rId2"/>
          <a:stretch>
            <a:fillRect/>
          </a:stretch>
        </p:blipFill>
        <p:spPr>
          <a:xfrm>
            <a:off x="0" y="0"/>
            <a:ext cx="12191695" cy="6858000"/>
          </a:xfrm>
          <a:prstGeom prst="rect">
            <a:avLst/>
          </a:prstGeom>
        </p:spPr>
      </p:pic>
      <p:sp>
        <p:nvSpPr>
          <p:cNvPr id="3" name="Diamond 2"/>
          <p:cNvSpPr/>
          <p:nvPr/>
        </p:nvSpPr>
        <p:spPr>
          <a:xfrm>
            <a:off x="566928" y="457200"/>
            <a:ext cx="100584" cy="100584"/>
          </a:xfrm>
          <a:prstGeom prst="diamond">
            <a:avLst/>
          </a:prstGeom>
          <a:solidFill>
            <a:srgbClr val="D25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49808" y="365760"/>
            <a:ext cx="8229600" cy="292608"/>
          </a:xfrm>
          <a:prstGeom prst="rect">
            <a:avLst/>
          </a:prstGeom>
          <a:noFill/>
        </p:spPr>
        <p:txBody>
          <a:bodyPr wrap="square" lIns="45720" rIns="45720" tIns="27432" bIns="27432" anchor="t">
            <a:noAutofit/>
          </a:bodyPr>
          <a:lstStyle/>
          <a:p>
            <a:pPr algn="l">
              <a:lnSpc>
                <a:spcPct val="100000"/>
              </a:lnSpc>
            </a:pPr>
            <a:r>
              <a:rPr sz="1100" b="0" i="0" spc="240">
                <a:solidFill>
                  <a:srgbClr val="C98457"/>
                </a:solidFill>
                <a:latin typeface="Segoe UI Semibold"/>
              </a:rPr>
              <a:t>LOS AGENTS</a:t>
            </a:r>
          </a:p>
        </p:txBody>
      </p:sp>
      <p:sp>
        <p:nvSpPr>
          <p:cNvPr id="5" name="TextBox 4"/>
          <p:cNvSpPr txBox="1"/>
          <p:nvPr/>
        </p:nvSpPr>
        <p:spPr>
          <a:xfrm>
            <a:off x="539496" y="676656"/>
            <a:ext cx="11057839" cy="658368"/>
          </a:xfrm>
          <a:prstGeom prst="rect">
            <a:avLst/>
          </a:prstGeom>
          <a:noFill/>
        </p:spPr>
        <p:txBody>
          <a:bodyPr wrap="square" lIns="45720" rIns="45720" tIns="27432" bIns="27432" anchor="t">
            <a:noAutofit/>
          </a:bodyPr>
          <a:lstStyle/>
          <a:p>
            <a:pPr algn="l">
              <a:lnSpc>
                <a:spcPct val="100000"/>
              </a:lnSpc>
            </a:pPr>
            <a:r>
              <a:rPr sz="3100" b="0" i="0">
                <a:solidFill>
                  <a:srgbClr val="F7F2E8"/>
                </a:solidFill>
                <a:latin typeface="Palatino Linotype"/>
              </a:rPr>
              <a:t>86 agents, doce familias</a:t>
            </a:r>
          </a:p>
        </p:txBody>
      </p:sp>
      <p:sp>
        <p:nvSpPr>
          <p:cNvPr id="6" name="Rectangle 5"/>
          <p:cNvSpPr/>
          <p:nvPr/>
        </p:nvSpPr>
        <p:spPr>
          <a:xfrm>
            <a:off x="566928" y="1344168"/>
            <a:ext cx="822960" cy="36576"/>
          </a:xfrm>
          <a:prstGeom prst="rect">
            <a:avLst/>
          </a:prstGeom>
          <a:solidFill>
            <a:srgbClr val="D25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566928" y="1444752"/>
            <a:ext cx="10692079" cy="585216"/>
          </a:xfrm>
          <a:prstGeom prst="rect">
            <a:avLst/>
          </a:prstGeom>
          <a:noFill/>
        </p:spPr>
        <p:txBody>
          <a:bodyPr wrap="square" lIns="45720" rIns="45720" tIns="27432" bIns="27432" anchor="t">
            <a:noAutofit/>
          </a:bodyPr>
          <a:lstStyle/>
          <a:p>
            <a:pPr algn="l">
              <a:lnSpc>
                <a:spcPct val="100000"/>
              </a:lnSpc>
            </a:pPr>
            <a:r>
              <a:rPr sz="1450" b="0" i="0">
                <a:solidFill>
                  <a:srgbClr val="A7B2B0"/>
                </a:solidFill>
                <a:latin typeface="Segoe UI Semilight"/>
              </a:rPr>
              <a:t>Cada agent sigue un mismo esqueleto: un directorio de plantilla, un </a:t>
            </a:r>
            <a:r>
              <a:rPr sz="1350" b="0" i="0">
                <a:solidFill>
                  <a:srgbClr val="E2B462"/>
                </a:solidFill>
                <a:latin typeface="Consolas"/>
              </a:rPr>
              <a:t>config.yaml</a:t>
            </a:r>
            <a:r>
              <a:rPr sz="1450" b="0" i="0">
                <a:solidFill>
                  <a:srgbClr val="A7B2B0"/>
                </a:solidFill>
                <a:latin typeface="Segoe UI Semilight"/>
              </a:rPr>
              <a:t>, una copia en el pool con alcance de sesión, archivos PID y de log, y conexiones explícitas de origen y de destino.</a:t>
            </a:r>
          </a:p>
        </p:txBody>
      </p:sp>
      <p:sp>
        <p:nvSpPr>
          <p:cNvPr id="8" name="Rounded Rectangle 7"/>
          <p:cNvSpPr/>
          <p:nvPr/>
        </p:nvSpPr>
        <p:spPr>
          <a:xfrm>
            <a:off x="566928" y="2084831"/>
            <a:ext cx="3564026" cy="891540"/>
          </a:xfrm>
          <a:prstGeom prst="roundRect">
            <a:avLst>
              <a:gd name="adj" fmla="val 10256"/>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ectangle 8"/>
          <p:cNvSpPr/>
          <p:nvPr/>
        </p:nvSpPr>
        <p:spPr>
          <a:xfrm>
            <a:off x="566928" y="2194560"/>
            <a:ext cx="54864" cy="672084"/>
          </a:xfrm>
          <a:prstGeom prst="rect">
            <a:avLst/>
          </a:prstGeom>
          <a:solidFill>
            <a:srgbClr val="3BBE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713232" y="2130551"/>
            <a:ext cx="786384" cy="800100"/>
          </a:xfrm>
          <a:prstGeom prst="rect">
            <a:avLst/>
          </a:prstGeom>
          <a:noFill/>
        </p:spPr>
        <p:txBody>
          <a:bodyPr wrap="square" lIns="45720" rIns="45720" tIns="27432" bIns="27432" anchor="ctr">
            <a:noAutofit/>
          </a:bodyPr>
          <a:lstStyle/>
          <a:p>
            <a:pPr algn="ctr">
              <a:lnSpc>
                <a:spcPct val="100000"/>
              </a:lnSpc>
            </a:pPr>
            <a:r>
              <a:rPr sz="3000" b="1" i="0">
                <a:solidFill>
                  <a:srgbClr val="F7F2E8"/>
                </a:solidFill>
                <a:latin typeface="Palatino Linotype"/>
              </a:rPr>
              <a:t>6</a:t>
            </a:r>
          </a:p>
        </p:txBody>
      </p:sp>
      <p:sp>
        <p:nvSpPr>
          <p:cNvPr id="11" name="TextBox 10"/>
          <p:cNvSpPr txBox="1"/>
          <p:nvPr/>
        </p:nvSpPr>
        <p:spPr>
          <a:xfrm>
            <a:off x="1527048" y="2157984"/>
            <a:ext cx="2512466" cy="372618"/>
          </a:xfrm>
          <a:prstGeom prst="rect">
            <a:avLst/>
          </a:prstGeom>
          <a:noFill/>
        </p:spPr>
        <p:txBody>
          <a:bodyPr wrap="square" lIns="45720" rIns="45720" tIns="27432" bIns="27432" anchor="b">
            <a:noAutofit/>
          </a:bodyPr>
          <a:lstStyle/>
          <a:p>
            <a:pPr algn="l">
              <a:lnSpc>
                <a:spcPct val="100000"/>
              </a:lnSpc>
            </a:pPr>
            <a:r>
              <a:rPr sz="1450" b="0" i="0">
                <a:solidFill>
                  <a:srgbClr val="3BBE93"/>
                </a:solidFill>
                <a:latin typeface="Segoe UI Semibold"/>
              </a:rPr>
              <a:t>Control del flow</a:t>
            </a:r>
          </a:p>
        </p:txBody>
      </p:sp>
      <p:sp>
        <p:nvSpPr>
          <p:cNvPr id="12" name="TextBox 11"/>
          <p:cNvSpPr txBox="1"/>
          <p:nvPr/>
        </p:nvSpPr>
        <p:spPr>
          <a:xfrm>
            <a:off x="1527048" y="2530601"/>
            <a:ext cx="2512466" cy="372618"/>
          </a:xfrm>
          <a:prstGeom prst="rect">
            <a:avLst/>
          </a:prstGeom>
          <a:noFill/>
        </p:spPr>
        <p:txBody>
          <a:bodyPr wrap="square" lIns="45720" rIns="45720" tIns="27432" bIns="27432" anchor="t">
            <a:noAutofit/>
          </a:bodyPr>
          <a:lstStyle/>
          <a:p>
            <a:pPr algn="l">
              <a:lnSpc>
                <a:spcPct val="100000"/>
              </a:lnSpc>
            </a:pPr>
            <a:r>
              <a:rPr sz="1000" b="0" i="0">
                <a:solidFill>
                  <a:srgbClr val="A7B2B0"/>
                </a:solidFill>
                <a:latin typeface="Segoe UI"/>
              </a:rPr>
              <a:t>Inicia, pausa, agenda y termina un flow.</a:t>
            </a:r>
          </a:p>
        </p:txBody>
      </p:sp>
      <p:sp>
        <p:nvSpPr>
          <p:cNvPr id="13" name="Rounded Rectangle 12"/>
          <p:cNvSpPr/>
          <p:nvPr/>
        </p:nvSpPr>
        <p:spPr>
          <a:xfrm>
            <a:off x="4313834" y="2084831"/>
            <a:ext cx="3564026" cy="891540"/>
          </a:xfrm>
          <a:prstGeom prst="roundRect">
            <a:avLst>
              <a:gd name="adj" fmla="val 10256"/>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Rectangle 13"/>
          <p:cNvSpPr/>
          <p:nvPr/>
        </p:nvSpPr>
        <p:spPr>
          <a:xfrm>
            <a:off x="4313834" y="2194560"/>
            <a:ext cx="54864" cy="672084"/>
          </a:xfrm>
          <a:prstGeom prst="rect">
            <a:avLst/>
          </a:prstGeom>
          <a:solidFill>
            <a:srgbClr val="C984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4460138" y="2130551"/>
            <a:ext cx="786384" cy="800100"/>
          </a:xfrm>
          <a:prstGeom prst="rect">
            <a:avLst/>
          </a:prstGeom>
          <a:noFill/>
        </p:spPr>
        <p:txBody>
          <a:bodyPr wrap="square" lIns="45720" rIns="45720" tIns="27432" bIns="27432" anchor="ctr">
            <a:noAutofit/>
          </a:bodyPr>
          <a:lstStyle/>
          <a:p>
            <a:pPr algn="ctr">
              <a:lnSpc>
                <a:spcPct val="100000"/>
              </a:lnSpc>
            </a:pPr>
            <a:r>
              <a:rPr sz="3000" b="1" i="0">
                <a:solidFill>
                  <a:srgbClr val="F7F2E8"/>
                </a:solidFill>
                <a:latin typeface="Palatino Linotype"/>
              </a:rPr>
              <a:t>7</a:t>
            </a:r>
          </a:p>
        </p:txBody>
      </p:sp>
      <p:sp>
        <p:nvSpPr>
          <p:cNvPr id="16" name="TextBox 15"/>
          <p:cNvSpPr txBox="1"/>
          <p:nvPr/>
        </p:nvSpPr>
        <p:spPr>
          <a:xfrm>
            <a:off x="5273954" y="2157984"/>
            <a:ext cx="2512466" cy="372618"/>
          </a:xfrm>
          <a:prstGeom prst="rect">
            <a:avLst/>
          </a:prstGeom>
          <a:noFill/>
        </p:spPr>
        <p:txBody>
          <a:bodyPr wrap="square" lIns="45720" rIns="45720" tIns="27432" bIns="27432" anchor="b">
            <a:noAutofit/>
          </a:bodyPr>
          <a:lstStyle/>
          <a:p>
            <a:pPr algn="l">
              <a:lnSpc>
                <a:spcPct val="100000"/>
              </a:lnSpc>
            </a:pPr>
            <a:r>
              <a:rPr sz="1450" b="0" i="0">
                <a:solidFill>
                  <a:srgbClr val="C98457"/>
                </a:solidFill>
                <a:latin typeface="Segoe UI Semibold"/>
              </a:rPr>
              <a:t>Ruteo y lógica</a:t>
            </a:r>
          </a:p>
        </p:txBody>
      </p:sp>
      <p:sp>
        <p:nvSpPr>
          <p:cNvPr id="17" name="TextBox 16"/>
          <p:cNvSpPr txBox="1"/>
          <p:nvPr/>
        </p:nvSpPr>
        <p:spPr>
          <a:xfrm>
            <a:off x="5273954" y="2530601"/>
            <a:ext cx="2512466" cy="372618"/>
          </a:xfrm>
          <a:prstGeom prst="rect">
            <a:avLst/>
          </a:prstGeom>
          <a:noFill/>
        </p:spPr>
        <p:txBody>
          <a:bodyPr wrap="square" lIns="45720" rIns="45720" tIns="27432" bIns="27432" anchor="t">
            <a:noAutofit/>
          </a:bodyPr>
          <a:lstStyle/>
          <a:p>
            <a:pPr algn="l">
              <a:lnSpc>
                <a:spcPct val="100000"/>
              </a:lnSpc>
            </a:pPr>
            <a:r>
              <a:rPr sz="1150" b="0" i="0">
                <a:solidFill>
                  <a:srgbClr val="A7B2B0"/>
                </a:solidFill>
                <a:latin typeface="Segoe UI"/>
              </a:rPr>
              <a:t>Deciden a dónde va el flow después.</a:t>
            </a:r>
          </a:p>
        </p:txBody>
      </p:sp>
      <p:sp>
        <p:nvSpPr>
          <p:cNvPr id="18" name="Rounded Rectangle 17"/>
          <p:cNvSpPr/>
          <p:nvPr/>
        </p:nvSpPr>
        <p:spPr>
          <a:xfrm>
            <a:off x="8060740" y="2084831"/>
            <a:ext cx="3564026" cy="891540"/>
          </a:xfrm>
          <a:prstGeom prst="roundRect">
            <a:avLst>
              <a:gd name="adj" fmla="val 10256"/>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8060740" y="2194560"/>
            <a:ext cx="54864" cy="672084"/>
          </a:xfrm>
          <a:prstGeom prst="rect">
            <a:avLst/>
          </a:prstGeom>
          <a:solidFill>
            <a:srgbClr val="E2B4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8207044" y="2130551"/>
            <a:ext cx="786384" cy="800100"/>
          </a:xfrm>
          <a:prstGeom prst="rect">
            <a:avLst/>
          </a:prstGeom>
          <a:noFill/>
        </p:spPr>
        <p:txBody>
          <a:bodyPr wrap="square" lIns="45720" rIns="45720" tIns="27432" bIns="27432" anchor="ctr">
            <a:noAutofit/>
          </a:bodyPr>
          <a:lstStyle/>
          <a:p>
            <a:pPr algn="ctr">
              <a:lnSpc>
                <a:spcPct val="100000"/>
              </a:lnSpc>
            </a:pPr>
            <a:r>
              <a:rPr sz="3000" b="1" i="0">
                <a:solidFill>
                  <a:srgbClr val="F7F2E8"/>
                </a:solidFill>
                <a:latin typeface="Palatino Linotype"/>
              </a:rPr>
              <a:t>8</a:t>
            </a:r>
          </a:p>
        </p:txBody>
      </p:sp>
      <p:sp>
        <p:nvSpPr>
          <p:cNvPr id="21" name="TextBox 20"/>
          <p:cNvSpPr txBox="1"/>
          <p:nvPr/>
        </p:nvSpPr>
        <p:spPr>
          <a:xfrm>
            <a:off x="9020860" y="2157984"/>
            <a:ext cx="2512466" cy="372618"/>
          </a:xfrm>
          <a:prstGeom prst="rect">
            <a:avLst/>
          </a:prstGeom>
          <a:noFill/>
        </p:spPr>
        <p:txBody>
          <a:bodyPr wrap="square" lIns="45720" rIns="45720" tIns="27432" bIns="27432" anchor="b">
            <a:noAutofit/>
          </a:bodyPr>
          <a:lstStyle/>
          <a:p>
            <a:pPr algn="l">
              <a:lnSpc>
                <a:spcPct val="100000"/>
              </a:lnSpc>
            </a:pPr>
            <a:r>
              <a:rPr sz="1450" b="0" i="0">
                <a:solidFill>
                  <a:srgbClr val="E2B462"/>
                </a:solidFill>
                <a:latin typeface="Segoe UI Semibold"/>
              </a:rPr>
              <a:t>Orquestación e inteligencia</a:t>
            </a:r>
          </a:p>
        </p:txBody>
      </p:sp>
      <p:sp>
        <p:nvSpPr>
          <p:cNvPr id="22" name="TextBox 21"/>
          <p:cNvSpPr txBox="1"/>
          <p:nvPr/>
        </p:nvSpPr>
        <p:spPr>
          <a:xfrm>
            <a:off x="9020860" y="2530601"/>
            <a:ext cx="2512466" cy="372618"/>
          </a:xfrm>
          <a:prstGeom prst="rect">
            <a:avLst/>
          </a:prstGeom>
          <a:noFill/>
        </p:spPr>
        <p:txBody>
          <a:bodyPr wrap="square" lIns="45720" rIns="45720" tIns="27432" bIns="27432" anchor="t">
            <a:noAutofit/>
          </a:bodyPr>
          <a:lstStyle/>
          <a:p>
            <a:pPr algn="l">
              <a:lnSpc>
                <a:spcPct val="100000"/>
              </a:lnSpc>
            </a:pPr>
            <a:r>
              <a:rPr sz="1150" b="0" i="0">
                <a:solidFill>
                  <a:srgbClr val="A7B2B0"/>
                </a:solidFill>
                <a:latin typeface="Segoe UI"/>
              </a:rPr>
              <a:t>Diseña, conecta, supervisa y razona.</a:t>
            </a:r>
          </a:p>
        </p:txBody>
      </p:sp>
      <p:sp>
        <p:nvSpPr>
          <p:cNvPr id="23" name="Rounded Rectangle 22"/>
          <p:cNvSpPr/>
          <p:nvPr/>
        </p:nvSpPr>
        <p:spPr>
          <a:xfrm>
            <a:off x="566928" y="3159252"/>
            <a:ext cx="3564026" cy="891540"/>
          </a:xfrm>
          <a:prstGeom prst="roundRect">
            <a:avLst>
              <a:gd name="adj" fmla="val 10256"/>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Rectangle 23"/>
          <p:cNvSpPr/>
          <p:nvPr/>
        </p:nvSpPr>
        <p:spPr>
          <a:xfrm>
            <a:off x="566928" y="3268980"/>
            <a:ext cx="54864" cy="672084"/>
          </a:xfrm>
          <a:prstGeom prst="rect">
            <a:avLst/>
          </a:prstGeom>
          <a:solidFill>
            <a:srgbClr val="46D2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TextBox 24"/>
          <p:cNvSpPr txBox="1"/>
          <p:nvPr/>
        </p:nvSpPr>
        <p:spPr>
          <a:xfrm>
            <a:off x="713232" y="3204972"/>
            <a:ext cx="786384" cy="800100"/>
          </a:xfrm>
          <a:prstGeom prst="rect">
            <a:avLst/>
          </a:prstGeom>
          <a:noFill/>
        </p:spPr>
        <p:txBody>
          <a:bodyPr wrap="square" lIns="45720" rIns="45720" tIns="27432" bIns="27432" anchor="ctr">
            <a:noAutofit/>
          </a:bodyPr>
          <a:lstStyle/>
          <a:p>
            <a:pPr algn="ctr">
              <a:lnSpc>
                <a:spcPct val="100000"/>
              </a:lnSpc>
            </a:pPr>
            <a:r>
              <a:rPr sz="3000" b="1" i="0">
                <a:solidFill>
                  <a:srgbClr val="F7F2E8"/>
                </a:solidFill>
                <a:latin typeface="Palatino Linotype"/>
              </a:rPr>
              <a:t>14</a:t>
            </a:r>
          </a:p>
        </p:txBody>
      </p:sp>
      <p:sp>
        <p:nvSpPr>
          <p:cNvPr id="26" name="TextBox 25"/>
          <p:cNvSpPr txBox="1"/>
          <p:nvPr/>
        </p:nvSpPr>
        <p:spPr>
          <a:xfrm>
            <a:off x="1527048" y="3232404"/>
            <a:ext cx="2512466" cy="372618"/>
          </a:xfrm>
          <a:prstGeom prst="rect">
            <a:avLst/>
          </a:prstGeom>
          <a:noFill/>
        </p:spPr>
        <p:txBody>
          <a:bodyPr wrap="square" lIns="45720" rIns="45720" tIns="27432" bIns="27432" anchor="b">
            <a:noAutofit/>
          </a:bodyPr>
          <a:lstStyle/>
          <a:p>
            <a:pPr algn="l">
              <a:lnSpc>
                <a:spcPct val="100000"/>
              </a:lnSpc>
            </a:pPr>
            <a:r>
              <a:rPr sz="1450" b="0" i="0">
                <a:solidFill>
                  <a:srgbClr val="46D2E2"/>
                </a:solidFill>
                <a:latin typeface="Segoe UI Semibold"/>
              </a:rPr>
              <a:t>Código, archivos y shell</a:t>
            </a:r>
          </a:p>
        </p:txBody>
      </p:sp>
      <p:sp>
        <p:nvSpPr>
          <p:cNvPr id="27" name="TextBox 26"/>
          <p:cNvSpPr txBox="1"/>
          <p:nvPr/>
        </p:nvSpPr>
        <p:spPr>
          <a:xfrm>
            <a:off x="1527048" y="3605022"/>
            <a:ext cx="2512466" cy="372618"/>
          </a:xfrm>
          <a:prstGeom prst="rect">
            <a:avLst/>
          </a:prstGeom>
          <a:noFill/>
        </p:spPr>
        <p:txBody>
          <a:bodyPr wrap="square" lIns="45720" rIns="45720" tIns="27432" bIns="27432" anchor="t">
            <a:noAutofit/>
          </a:bodyPr>
          <a:lstStyle/>
          <a:p>
            <a:pPr algn="l">
              <a:lnSpc>
                <a:spcPct val="100000"/>
              </a:lnSpc>
            </a:pPr>
            <a:r>
              <a:rPr sz="1150" b="0" i="0">
                <a:solidFill>
                  <a:srgbClr val="A7B2B0"/>
                </a:solidFill>
                <a:latin typeface="Segoe UI"/>
              </a:rPr>
              <a:t>Encuentra, lee, cambia y ejecuta.</a:t>
            </a:r>
          </a:p>
        </p:txBody>
      </p:sp>
      <p:sp>
        <p:nvSpPr>
          <p:cNvPr id="28" name="Rounded Rectangle 27"/>
          <p:cNvSpPr/>
          <p:nvPr/>
        </p:nvSpPr>
        <p:spPr>
          <a:xfrm>
            <a:off x="4313834" y="3159252"/>
            <a:ext cx="3564026" cy="891540"/>
          </a:xfrm>
          <a:prstGeom prst="roundRect">
            <a:avLst>
              <a:gd name="adj" fmla="val 10256"/>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Rectangle 28"/>
          <p:cNvSpPr/>
          <p:nvPr/>
        </p:nvSpPr>
        <p:spPr>
          <a:xfrm>
            <a:off x="4313834" y="3268980"/>
            <a:ext cx="54864" cy="672084"/>
          </a:xfrm>
          <a:prstGeom prst="rect">
            <a:avLst/>
          </a:prstGeom>
          <a:solidFill>
            <a:srgbClr val="D25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4460138" y="3204972"/>
            <a:ext cx="786384" cy="800100"/>
          </a:xfrm>
          <a:prstGeom prst="rect">
            <a:avLst/>
          </a:prstGeom>
          <a:noFill/>
        </p:spPr>
        <p:txBody>
          <a:bodyPr wrap="square" lIns="45720" rIns="45720" tIns="27432" bIns="27432" anchor="ctr">
            <a:noAutofit/>
          </a:bodyPr>
          <a:lstStyle/>
          <a:p>
            <a:pPr algn="ctr">
              <a:lnSpc>
                <a:spcPct val="100000"/>
              </a:lnSpc>
            </a:pPr>
            <a:r>
              <a:rPr sz="3000" b="1" i="0">
                <a:solidFill>
                  <a:srgbClr val="F7F2E8"/>
                </a:solidFill>
                <a:latin typeface="Palatino Linotype"/>
              </a:rPr>
              <a:t>3</a:t>
            </a:r>
          </a:p>
        </p:txBody>
      </p:sp>
      <p:sp>
        <p:nvSpPr>
          <p:cNvPr id="31" name="TextBox 30"/>
          <p:cNvSpPr txBox="1"/>
          <p:nvPr/>
        </p:nvSpPr>
        <p:spPr>
          <a:xfrm>
            <a:off x="5273954" y="3232404"/>
            <a:ext cx="2512466" cy="372618"/>
          </a:xfrm>
          <a:prstGeom prst="rect">
            <a:avLst/>
          </a:prstGeom>
          <a:noFill/>
        </p:spPr>
        <p:txBody>
          <a:bodyPr wrap="square" lIns="45720" rIns="45720" tIns="27432" bIns="27432" anchor="b">
            <a:noAutofit/>
          </a:bodyPr>
          <a:lstStyle/>
          <a:p>
            <a:pPr algn="l">
              <a:lnSpc>
                <a:spcPct val="100000"/>
              </a:lnSpc>
            </a:pPr>
            <a:r>
              <a:rPr sz="1450" b="0" i="0">
                <a:solidFill>
                  <a:srgbClr val="D25CD6"/>
                </a:solidFill>
                <a:latin typeface="Segoe UI Semibold"/>
              </a:rPr>
              <a:t>Documentos</a:t>
            </a:r>
          </a:p>
        </p:txBody>
      </p:sp>
      <p:sp>
        <p:nvSpPr>
          <p:cNvPr id="32" name="TextBox 31"/>
          <p:cNvSpPr txBox="1"/>
          <p:nvPr/>
        </p:nvSpPr>
        <p:spPr>
          <a:xfrm>
            <a:off x="5273954" y="3605022"/>
            <a:ext cx="2512466" cy="372618"/>
          </a:xfrm>
          <a:prstGeom prst="rect">
            <a:avLst/>
          </a:prstGeom>
          <a:noFill/>
        </p:spPr>
        <p:txBody>
          <a:bodyPr wrap="square" lIns="45720" rIns="45720" tIns="27432" bIns="27432" anchor="t">
            <a:noAutofit/>
          </a:bodyPr>
          <a:lstStyle/>
          <a:p>
            <a:pPr algn="l">
              <a:lnSpc>
                <a:spcPct val="100000"/>
              </a:lnSpc>
            </a:pPr>
            <a:r>
              <a:rPr sz="1150" b="0" i="0">
                <a:solidFill>
                  <a:srgbClr val="A7B2B0"/>
                </a:solidFill>
                <a:latin typeface="Segoe UI"/>
              </a:rPr>
              <a:t>Componen, tipografían y presentan.</a:t>
            </a:r>
          </a:p>
        </p:txBody>
      </p:sp>
      <p:sp>
        <p:nvSpPr>
          <p:cNvPr id="33" name="Rounded Rectangle 32"/>
          <p:cNvSpPr/>
          <p:nvPr/>
        </p:nvSpPr>
        <p:spPr>
          <a:xfrm>
            <a:off x="8060740" y="3159252"/>
            <a:ext cx="3564026" cy="891540"/>
          </a:xfrm>
          <a:prstGeom prst="roundRect">
            <a:avLst>
              <a:gd name="adj" fmla="val 10256"/>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Rectangle 33"/>
          <p:cNvSpPr/>
          <p:nvPr/>
        </p:nvSpPr>
        <p:spPr>
          <a:xfrm>
            <a:off x="8060740" y="3268980"/>
            <a:ext cx="54864" cy="672084"/>
          </a:xfrm>
          <a:prstGeom prst="rect">
            <a:avLst/>
          </a:prstGeom>
          <a:solidFill>
            <a:srgbClr val="3BBE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TextBox 34"/>
          <p:cNvSpPr txBox="1"/>
          <p:nvPr/>
        </p:nvSpPr>
        <p:spPr>
          <a:xfrm>
            <a:off x="8207044" y="3204972"/>
            <a:ext cx="786384" cy="800100"/>
          </a:xfrm>
          <a:prstGeom prst="rect">
            <a:avLst/>
          </a:prstGeom>
          <a:noFill/>
        </p:spPr>
        <p:txBody>
          <a:bodyPr wrap="square" lIns="45720" rIns="45720" tIns="27432" bIns="27432" anchor="ctr">
            <a:noAutofit/>
          </a:bodyPr>
          <a:lstStyle/>
          <a:p>
            <a:pPr algn="ctr">
              <a:lnSpc>
                <a:spcPct val="100000"/>
              </a:lnSpc>
            </a:pPr>
            <a:r>
              <a:rPr sz="3000" b="1" i="0">
                <a:solidFill>
                  <a:srgbClr val="F7F2E8"/>
                </a:solidFill>
                <a:latin typeface="Palatino Linotype"/>
              </a:rPr>
              <a:t>7</a:t>
            </a:r>
          </a:p>
        </p:txBody>
      </p:sp>
      <p:sp>
        <p:nvSpPr>
          <p:cNvPr id="36" name="TextBox 35"/>
          <p:cNvSpPr txBox="1"/>
          <p:nvPr/>
        </p:nvSpPr>
        <p:spPr>
          <a:xfrm>
            <a:off x="9020860" y="3232404"/>
            <a:ext cx="2512466" cy="372618"/>
          </a:xfrm>
          <a:prstGeom prst="rect">
            <a:avLst/>
          </a:prstGeom>
          <a:noFill/>
        </p:spPr>
        <p:txBody>
          <a:bodyPr wrap="square" lIns="45720" rIns="45720" tIns="27432" bIns="27432" anchor="b">
            <a:noAutofit/>
          </a:bodyPr>
          <a:lstStyle/>
          <a:p>
            <a:pPr algn="l">
              <a:lnSpc>
                <a:spcPct val="100000"/>
              </a:lnSpc>
            </a:pPr>
            <a:r>
              <a:rPr sz="1450" b="0" i="0">
                <a:solidFill>
                  <a:srgbClr val="3BBE93"/>
                </a:solidFill>
                <a:latin typeface="Segoe UI Semibold"/>
              </a:rPr>
              <a:t>Web, datos y APIs</a:t>
            </a:r>
          </a:p>
        </p:txBody>
      </p:sp>
      <p:sp>
        <p:nvSpPr>
          <p:cNvPr id="37" name="TextBox 36"/>
          <p:cNvSpPr txBox="1"/>
          <p:nvPr/>
        </p:nvSpPr>
        <p:spPr>
          <a:xfrm>
            <a:off x="9020860" y="3605022"/>
            <a:ext cx="2512466" cy="372618"/>
          </a:xfrm>
          <a:prstGeom prst="rect">
            <a:avLst/>
          </a:prstGeom>
          <a:noFill/>
        </p:spPr>
        <p:txBody>
          <a:bodyPr wrap="square" lIns="45720" rIns="45720" tIns="27432" bIns="27432" anchor="t">
            <a:noAutofit/>
          </a:bodyPr>
          <a:lstStyle/>
          <a:p>
            <a:pPr algn="l">
              <a:lnSpc>
                <a:spcPct val="100000"/>
              </a:lnSpc>
            </a:pPr>
            <a:r>
              <a:rPr sz="1150" b="0" i="0">
                <a:solidFill>
                  <a:srgbClr val="A7B2B0"/>
                </a:solidFill>
                <a:latin typeface="Segoe UI"/>
              </a:rPr>
              <a:t>Busca, navega, llama y mide.</a:t>
            </a:r>
          </a:p>
        </p:txBody>
      </p:sp>
      <p:sp>
        <p:nvSpPr>
          <p:cNvPr id="38" name="Rounded Rectangle 37"/>
          <p:cNvSpPr/>
          <p:nvPr/>
        </p:nvSpPr>
        <p:spPr>
          <a:xfrm>
            <a:off x="566928" y="4233672"/>
            <a:ext cx="3564026" cy="891540"/>
          </a:xfrm>
          <a:prstGeom prst="roundRect">
            <a:avLst>
              <a:gd name="adj" fmla="val 10256"/>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9" name="Rectangle 38"/>
          <p:cNvSpPr/>
          <p:nvPr/>
        </p:nvSpPr>
        <p:spPr>
          <a:xfrm>
            <a:off x="566928" y="4343400"/>
            <a:ext cx="54864" cy="672084"/>
          </a:xfrm>
          <a:prstGeom prst="rect">
            <a:avLst/>
          </a:prstGeom>
          <a:solidFill>
            <a:srgbClr val="C984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0" name="TextBox 39"/>
          <p:cNvSpPr txBox="1"/>
          <p:nvPr/>
        </p:nvSpPr>
        <p:spPr>
          <a:xfrm>
            <a:off x="713232" y="4279392"/>
            <a:ext cx="786384" cy="800100"/>
          </a:xfrm>
          <a:prstGeom prst="rect">
            <a:avLst/>
          </a:prstGeom>
          <a:noFill/>
        </p:spPr>
        <p:txBody>
          <a:bodyPr wrap="square" lIns="45720" rIns="45720" tIns="27432" bIns="27432" anchor="ctr">
            <a:noAutofit/>
          </a:bodyPr>
          <a:lstStyle/>
          <a:p>
            <a:pPr algn="ctr">
              <a:lnSpc>
                <a:spcPct val="100000"/>
              </a:lnSpc>
            </a:pPr>
            <a:r>
              <a:rPr sz="3000" b="1" i="0">
                <a:solidFill>
                  <a:srgbClr val="F7F2E8"/>
                </a:solidFill>
                <a:latin typeface="Palatino Linotype"/>
              </a:rPr>
              <a:t>6</a:t>
            </a:r>
          </a:p>
        </p:txBody>
      </p:sp>
      <p:sp>
        <p:nvSpPr>
          <p:cNvPr id="41" name="TextBox 40"/>
          <p:cNvSpPr txBox="1"/>
          <p:nvPr/>
        </p:nvSpPr>
        <p:spPr>
          <a:xfrm>
            <a:off x="1527048" y="4306824"/>
            <a:ext cx="2512466" cy="372618"/>
          </a:xfrm>
          <a:prstGeom prst="rect">
            <a:avLst/>
          </a:prstGeom>
          <a:noFill/>
        </p:spPr>
        <p:txBody>
          <a:bodyPr wrap="square" lIns="45720" rIns="45720" tIns="27432" bIns="27432" anchor="b">
            <a:noAutofit/>
          </a:bodyPr>
          <a:lstStyle/>
          <a:p>
            <a:pPr algn="l">
              <a:lnSpc>
                <a:spcPct val="100000"/>
              </a:lnSpc>
            </a:pPr>
            <a:r>
              <a:rPr sz="1450" b="0" i="0">
                <a:solidFill>
                  <a:srgbClr val="C98457"/>
                </a:solidFill>
                <a:latin typeface="Segoe UI Semibold"/>
              </a:rPr>
              <a:t>DevOps e infraestructura</a:t>
            </a:r>
          </a:p>
        </p:txBody>
      </p:sp>
      <p:sp>
        <p:nvSpPr>
          <p:cNvPr id="42" name="TextBox 41"/>
          <p:cNvSpPr txBox="1"/>
          <p:nvPr/>
        </p:nvSpPr>
        <p:spPr>
          <a:xfrm>
            <a:off x="1527048" y="4679442"/>
            <a:ext cx="2512466" cy="372618"/>
          </a:xfrm>
          <a:prstGeom prst="rect">
            <a:avLst/>
          </a:prstGeom>
          <a:noFill/>
        </p:spPr>
        <p:txBody>
          <a:bodyPr wrap="square" lIns="45720" rIns="45720" tIns="27432" bIns="27432" anchor="t">
            <a:noAutofit/>
          </a:bodyPr>
          <a:lstStyle/>
          <a:p>
            <a:pPr algn="l">
              <a:lnSpc>
                <a:spcPct val="100000"/>
              </a:lnSpc>
            </a:pPr>
            <a:r>
              <a:rPr sz="1100" b="0" i="0">
                <a:solidFill>
                  <a:srgbClr val="A7B2B0"/>
                </a:solidFill>
                <a:latin typeface="Segoe UI"/>
              </a:rPr>
              <a:t>Containers, clusters, pipelines y hosts.</a:t>
            </a:r>
          </a:p>
        </p:txBody>
      </p:sp>
      <p:sp>
        <p:nvSpPr>
          <p:cNvPr id="43" name="Rounded Rectangle 42"/>
          <p:cNvSpPr/>
          <p:nvPr/>
        </p:nvSpPr>
        <p:spPr>
          <a:xfrm>
            <a:off x="4313834" y="4233672"/>
            <a:ext cx="3564026" cy="891540"/>
          </a:xfrm>
          <a:prstGeom prst="roundRect">
            <a:avLst>
              <a:gd name="adj" fmla="val 10256"/>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4" name="Rectangle 43"/>
          <p:cNvSpPr/>
          <p:nvPr/>
        </p:nvSpPr>
        <p:spPr>
          <a:xfrm>
            <a:off x="4313834" y="4343400"/>
            <a:ext cx="54864" cy="672084"/>
          </a:xfrm>
          <a:prstGeom prst="rect">
            <a:avLst/>
          </a:prstGeom>
          <a:solidFill>
            <a:srgbClr val="D957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5" name="TextBox 44"/>
          <p:cNvSpPr txBox="1"/>
          <p:nvPr/>
        </p:nvSpPr>
        <p:spPr>
          <a:xfrm>
            <a:off x="4460138" y="4279392"/>
            <a:ext cx="786384" cy="800100"/>
          </a:xfrm>
          <a:prstGeom prst="rect">
            <a:avLst/>
          </a:prstGeom>
          <a:noFill/>
        </p:spPr>
        <p:txBody>
          <a:bodyPr wrap="square" lIns="45720" rIns="45720" tIns="27432" bIns="27432" anchor="ctr">
            <a:noAutofit/>
          </a:bodyPr>
          <a:lstStyle/>
          <a:p>
            <a:pPr algn="ctr">
              <a:lnSpc>
                <a:spcPct val="100000"/>
              </a:lnSpc>
            </a:pPr>
            <a:r>
              <a:rPr sz="3000" b="1" i="0">
                <a:solidFill>
                  <a:srgbClr val="F7F2E8"/>
                </a:solidFill>
                <a:latin typeface="Palatino Linotype"/>
              </a:rPr>
              <a:t>8</a:t>
            </a:r>
          </a:p>
        </p:txBody>
      </p:sp>
      <p:sp>
        <p:nvSpPr>
          <p:cNvPr id="46" name="TextBox 45"/>
          <p:cNvSpPr txBox="1"/>
          <p:nvPr/>
        </p:nvSpPr>
        <p:spPr>
          <a:xfrm>
            <a:off x="5273954" y="4306824"/>
            <a:ext cx="2512466" cy="372618"/>
          </a:xfrm>
          <a:prstGeom prst="rect">
            <a:avLst/>
          </a:prstGeom>
          <a:noFill/>
        </p:spPr>
        <p:txBody>
          <a:bodyPr wrap="square" lIns="45720" rIns="45720" tIns="27432" bIns="27432" anchor="b">
            <a:noAutofit/>
          </a:bodyPr>
          <a:lstStyle/>
          <a:p>
            <a:pPr algn="l">
              <a:lnSpc>
                <a:spcPct val="100000"/>
              </a:lnSpc>
            </a:pPr>
            <a:r>
              <a:rPr sz="1450" b="0" i="0">
                <a:solidFill>
                  <a:srgbClr val="D9576B"/>
                </a:solidFill>
                <a:latin typeface="Segoe UI Semibold"/>
              </a:rPr>
              <a:t>Calidad y seguridad</a:t>
            </a:r>
          </a:p>
        </p:txBody>
      </p:sp>
      <p:sp>
        <p:nvSpPr>
          <p:cNvPr id="47" name="TextBox 46"/>
          <p:cNvSpPr txBox="1"/>
          <p:nvPr/>
        </p:nvSpPr>
        <p:spPr>
          <a:xfrm>
            <a:off x="5273954" y="4679442"/>
            <a:ext cx="2512466" cy="372618"/>
          </a:xfrm>
          <a:prstGeom prst="rect">
            <a:avLst/>
          </a:prstGeom>
          <a:noFill/>
        </p:spPr>
        <p:txBody>
          <a:bodyPr wrap="square" lIns="45720" rIns="45720" tIns="27432" bIns="27432" anchor="t">
            <a:noAutofit/>
          </a:bodyPr>
          <a:lstStyle/>
          <a:p>
            <a:pPr algn="l">
              <a:lnSpc>
                <a:spcPct val="100000"/>
              </a:lnSpc>
            </a:pPr>
            <a:r>
              <a:rPr sz="1150" b="0" i="0">
                <a:solidFill>
                  <a:srgbClr val="A7B2B0"/>
                </a:solidFill>
                <a:latin typeface="Segoe UI"/>
              </a:rPr>
              <a:t>Revisa, analiza, evalúa y protege.</a:t>
            </a:r>
          </a:p>
        </p:txBody>
      </p:sp>
      <p:sp>
        <p:nvSpPr>
          <p:cNvPr id="48" name="Rounded Rectangle 47"/>
          <p:cNvSpPr/>
          <p:nvPr/>
        </p:nvSpPr>
        <p:spPr>
          <a:xfrm>
            <a:off x="8060740" y="4233672"/>
            <a:ext cx="3564026" cy="891540"/>
          </a:xfrm>
          <a:prstGeom prst="roundRect">
            <a:avLst>
              <a:gd name="adj" fmla="val 10256"/>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9" name="Rectangle 48"/>
          <p:cNvSpPr/>
          <p:nvPr/>
        </p:nvSpPr>
        <p:spPr>
          <a:xfrm>
            <a:off x="8060740" y="4343400"/>
            <a:ext cx="54864" cy="672084"/>
          </a:xfrm>
          <a:prstGeom prst="rect">
            <a:avLst/>
          </a:prstGeom>
          <a:solidFill>
            <a:srgbClr val="E2B4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0" name="TextBox 49"/>
          <p:cNvSpPr txBox="1"/>
          <p:nvPr/>
        </p:nvSpPr>
        <p:spPr>
          <a:xfrm>
            <a:off x="8207044" y="4279392"/>
            <a:ext cx="786384" cy="800100"/>
          </a:xfrm>
          <a:prstGeom prst="rect">
            <a:avLst/>
          </a:prstGeom>
          <a:noFill/>
        </p:spPr>
        <p:txBody>
          <a:bodyPr wrap="square" lIns="45720" rIns="45720" tIns="27432" bIns="27432" anchor="ctr">
            <a:noAutofit/>
          </a:bodyPr>
          <a:lstStyle/>
          <a:p>
            <a:pPr algn="ctr">
              <a:lnSpc>
                <a:spcPct val="100000"/>
              </a:lnSpc>
            </a:pPr>
            <a:r>
              <a:rPr sz="3000" b="1" i="0">
                <a:solidFill>
                  <a:srgbClr val="F7F2E8"/>
                </a:solidFill>
                <a:latin typeface="Palatino Linotype"/>
              </a:rPr>
              <a:t>6</a:t>
            </a:r>
          </a:p>
        </p:txBody>
      </p:sp>
      <p:sp>
        <p:nvSpPr>
          <p:cNvPr id="51" name="TextBox 50"/>
          <p:cNvSpPr txBox="1"/>
          <p:nvPr/>
        </p:nvSpPr>
        <p:spPr>
          <a:xfrm>
            <a:off x="9020860" y="4306824"/>
            <a:ext cx="2512466" cy="372618"/>
          </a:xfrm>
          <a:prstGeom prst="rect">
            <a:avLst/>
          </a:prstGeom>
          <a:noFill/>
        </p:spPr>
        <p:txBody>
          <a:bodyPr wrap="square" lIns="45720" rIns="45720" tIns="27432" bIns="27432" anchor="b">
            <a:noAutofit/>
          </a:bodyPr>
          <a:lstStyle/>
          <a:p>
            <a:pPr algn="l">
              <a:lnSpc>
                <a:spcPct val="100000"/>
              </a:lnSpc>
            </a:pPr>
            <a:r>
              <a:rPr sz="1450" b="0" i="0">
                <a:solidFill>
                  <a:srgbClr val="E2B462"/>
                </a:solidFill>
                <a:latin typeface="Segoe UI Semibold"/>
              </a:rPr>
              <a:t>Firmware y engines</a:t>
            </a:r>
          </a:p>
        </p:txBody>
      </p:sp>
      <p:sp>
        <p:nvSpPr>
          <p:cNvPr id="52" name="TextBox 51"/>
          <p:cNvSpPr txBox="1"/>
          <p:nvPr/>
        </p:nvSpPr>
        <p:spPr>
          <a:xfrm>
            <a:off x="9020860" y="4679442"/>
            <a:ext cx="2512466" cy="372618"/>
          </a:xfrm>
          <a:prstGeom prst="rect">
            <a:avLst/>
          </a:prstGeom>
          <a:noFill/>
        </p:spPr>
        <p:txBody>
          <a:bodyPr wrap="square" lIns="45720" rIns="45720" tIns="27432" bIns="27432" anchor="t">
            <a:noAutofit/>
          </a:bodyPr>
          <a:lstStyle/>
          <a:p>
            <a:pPr algn="l">
              <a:lnSpc>
                <a:spcPct val="100000"/>
              </a:lnSpc>
            </a:pPr>
            <a:r>
              <a:rPr sz="1150" b="0" i="0">
                <a:solidFill>
                  <a:srgbClr val="A7B2B0"/>
                </a:solidFill>
                <a:latin typeface="Segoe UI"/>
              </a:rPr>
              <a:t>Placas reales y editores en vivo.</a:t>
            </a:r>
          </a:p>
        </p:txBody>
      </p:sp>
      <p:sp>
        <p:nvSpPr>
          <p:cNvPr id="53" name="Rounded Rectangle 52"/>
          <p:cNvSpPr/>
          <p:nvPr/>
        </p:nvSpPr>
        <p:spPr>
          <a:xfrm>
            <a:off x="566928" y="5308092"/>
            <a:ext cx="3564026" cy="891540"/>
          </a:xfrm>
          <a:prstGeom prst="roundRect">
            <a:avLst>
              <a:gd name="adj" fmla="val 10256"/>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4" name="Rectangle 53"/>
          <p:cNvSpPr/>
          <p:nvPr/>
        </p:nvSpPr>
        <p:spPr>
          <a:xfrm>
            <a:off x="566928" y="5417820"/>
            <a:ext cx="54864" cy="672084"/>
          </a:xfrm>
          <a:prstGeom prst="rect">
            <a:avLst/>
          </a:prstGeom>
          <a:solidFill>
            <a:srgbClr val="46D2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5" name="TextBox 54"/>
          <p:cNvSpPr txBox="1"/>
          <p:nvPr/>
        </p:nvSpPr>
        <p:spPr>
          <a:xfrm>
            <a:off x="713232" y="5353812"/>
            <a:ext cx="786384" cy="800100"/>
          </a:xfrm>
          <a:prstGeom prst="rect">
            <a:avLst/>
          </a:prstGeom>
          <a:noFill/>
        </p:spPr>
        <p:txBody>
          <a:bodyPr wrap="square" lIns="45720" rIns="45720" tIns="27432" bIns="27432" anchor="ctr">
            <a:noAutofit/>
          </a:bodyPr>
          <a:lstStyle/>
          <a:p>
            <a:pPr algn="ctr">
              <a:lnSpc>
                <a:spcPct val="100000"/>
              </a:lnSpc>
            </a:pPr>
            <a:r>
              <a:rPr sz="3000" b="1" i="0">
                <a:solidFill>
                  <a:srgbClr val="F7F2E8"/>
                </a:solidFill>
                <a:latin typeface="Palatino Linotype"/>
              </a:rPr>
              <a:t>5</a:t>
            </a:r>
          </a:p>
        </p:txBody>
      </p:sp>
      <p:sp>
        <p:nvSpPr>
          <p:cNvPr id="56" name="TextBox 55"/>
          <p:cNvSpPr txBox="1"/>
          <p:nvPr/>
        </p:nvSpPr>
        <p:spPr>
          <a:xfrm>
            <a:off x="1527048" y="5381244"/>
            <a:ext cx="2512466" cy="372618"/>
          </a:xfrm>
          <a:prstGeom prst="rect">
            <a:avLst/>
          </a:prstGeom>
          <a:noFill/>
        </p:spPr>
        <p:txBody>
          <a:bodyPr wrap="square" lIns="45720" rIns="45720" tIns="27432" bIns="27432" anchor="b">
            <a:noAutofit/>
          </a:bodyPr>
          <a:lstStyle/>
          <a:p>
            <a:pPr algn="l">
              <a:lnSpc>
                <a:spcPct val="100000"/>
              </a:lnSpc>
            </a:pPr>
            <a:r>
              <a:rPr sz="1450" b="0" i="0">
                <a:solidFill>
                  <a:srgbClr val="46D2E2"/>
                </a:solidFill>
                <a:latin typeface="Segoe UI Semibold"/>
              </a:rPr>
              <a:t>Escritorio y captura</a:t>
            </a:r>
          </a:p>
        </p:txBody>
      </p:sp>
      <p:sp>
        <p:nvSpPr>
          <p:cNvPr id="57" name="TextBox 56"/>
          <p:cNvSpPr txBox="1"/>
          <p:nvPr/>
        </p:nvSpPr>
        <p:spPr>
          <a:xfrm>
            <a:off x="1527048" y="5753862"/>
            <a:ext cx="2512466" cy="372618"/>
          </a:xfrm>
          <a:prstGeom prst="rect">
            <a:avLst/>
          </a:prstGeom>
          <a:noFill/>
        </p:spPr>
        <p:txBody>
          <a:bodyPr wrap="square" lIns="45720" rIns="45720" tIns="27432" bIns="27432" anchor="t">
            <a:noAutofit/>
          </a:bodyPr>
          <a:lstStyle/>
          <a:p>
            <a:pPr algn="l">
              <a:lnSpc>
                <a:spcPct val="100000"/>
              </a:lnSpc>
            </a:pPr>
            <a:r>
              <a:rPr sz="1000" b="0" i="0">
                <a:solidFill>
                  <a:srgbClr val="A7B2B0"/>
                </a:solidFill>
                <a:latin typeface="Segoe UI"/>
              </a:rPr>
              <a:t>Ve la pantalla, mueve el puntero, escribe.</a:t>
            </a:r>
          </a:p>
        </p:txBody>
      </p:sp>
      <p:sp>
        <p:nvSpPr>
          <p:cNvPr id="58" name="Rounded Rectangle 57"/>
          <p:cNvSpPr/>
          <p:nvPr/>
        </p:nvSpPr>
        <p:spPr>
          <a:xfrm>
            <a:off x="4313834" y="5308092"/>
            <a:ext cx="3564026" cy="891540"/>
          </a:xfrm>
          <a:prstGeom prst="roundRect">
            <a:avLst>
              <a:gd name="adj" fmla="val 10256"/>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9" name="Rectangle 58"/>
          <p:cNvSpPr/>
          <p:nvPr/>
        </p:nvSpPr>
        <p:spPr>
          <a:xfrm>
            <a:off x="4313834" y="5417820"/>
            <a:ext cx="54864" cy="672084"/>
          </a:xfrm>
          <a:prstGeom prst="rect">
            <a:avLst/>
          </a:prstGeom>
          <a:solidFill>
            <a:srgbClr val="D25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0" name="TextBox 59"/>
          <p:cNvSpPr txBox="1"/>
          <p:nvPr/>
        </p:nvSpPr>
        <p:spPr>
          <a:xfrm>
            <a:off x="4460138" y="5353812"/>
            <a:ext cx="786384" cy="800100"/>
          </a:xfrm>
          <a:prstGeom prst="rect">
            <a:avLst/>
          </a:prstGeom>
          <a:noFill/>
        </p:spPr>
        <p:txBody>
          <a:bodyPr wrap="square" lIns="45720" rIns="45720" tIns="27432" bIns="27432" anchor="ctr">
            <a:noAutofit/>
          </a:bodyPr>
          <a:lstStyle/>
          <a:p>
            <a:pPr algn="ctr">
              <a:lnSpc>
                <a:spcPct val="100000"/>
              </a:lnSpc>
            </a:pPr>
            <a:r>
              <a:rPr sz="3000" b="1" i="0">
                <a:solidFill>
                  <a:srgbClr val="F7F2E8"/>
                </a:solidFill>
                <a:latin typeface="Palatino Linotype"/>
              </a:rPr>
              <a:t>7</a:t>
            </a:r>
          </a:p>
        </p:txBody>
      </p:sp>
      <p:sp>
        <p:nvSpPr>
          <p:cNvPr id="61" name="TextBox 60"/>
          <p:cNvSpPr txBox="1"/>
          <p:nvPr/>
        </p:nvSpPr>
        <p:spPr>
          <a:xfrm>
            <a:off x="5273954" y="5381244"/>
            <a:ext cx="2512466" cy="372618"/>
          </a:xfrm>
          <a:prstGeom prst="rect">
            <a:avLst/>
          </a:prstGeom>
          <a:noFill/>
        </p:spPr>
        <p:txBody>
          <a:bodyPr wrap="square" lIns="45720" rIns="45720" tIns="27432" bIns="27432" anchor="b">
            <a:noAutofit/>
          </a:bodyPr>
          <a:lstStyle/>
          <a:p>
            <a:pPr algn="l">
              <a:lnSpc>
                <a:spcPct val="100000"/>
              </a:lnSpc>
            </a:pPr>
            <a:r>
              <a:rPr sz="1450" b="0" i="0">
                <a:solidFill>
                  <a:srgbClr val="D25CD6"/>
                </a:solidFill>
                <a:latin typeface="Segoe UI Semibold"/>
              </a:rPr>
              <a:t>Voz, audio y visión</a:t>
            </a:r>
          </a:p>
        </p:txBody>
      </p:sp>
      <p:sp>
        <p:nvSpPr>
          <p:cNvPr id="62" name="TextBox 61"/>
          <p:cNvSpPr txBox="1"/>
          <p:nvPr/>
        </p:nvSpPr>
        <p:spPr>
          <a:xfrm>
            <a:off x="5273954" y="5753862"/>
            <a:ext cx="2512466" cy="372618"/>
          </a:xfrm>
          <a:prstGeom prst="rect">
            <a:avLst/>
          </a:prstGeom>
          <a:noFill/>
        </p:spPr>
        <p:txBody>
          <a:bodyPr wrap="square" lIns="45720" rIns="45720" tIns="27432" bIns="27432" anchor="t">
            <a:noAutofit/>
          </a:bodyPr>
          <a:lstStyle/>
          <a:p>
            <a:pPr algn="l">
              <a:lnSpc>
                <a:spcPct val="100000"/>
              </a:lnSpc>
            </a:pPr>
            <a:r>
              <a:rPr sz="1150" b="0" i="0">
                <a:solidFill>
                  <a:srgbClr val="A7B2B0"/>
                </a:solidFill>
                <a:latin typeface="Segoe UI"/>
              </a:rPr>
              <a:t>Oye, habla, reproduce y mira.</a:t>
            </a:r>
          </a:p>
        </p:txBody>
      </p:sp>
      <p:sp>
        <p:nvSpPr>
          <p:cNvPr id="63" name="Rounded Rectangle 62"/>
          <p:cNvSpPr/>
          <p:nvPr/>
        </p:nvSpPr>
        <p:spPr>
          <a:xfrm>
            <a:off x="8060740" y="5308092"/>
            <a:ext cx="3564026" cy="891540"/>
          </a:xfrm>
          <a:prstGeom prst="roundRect">
            <a:avLst>
              <a:gd name="adj" fmla="val 10256"/>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4" name="Rectangle 63"/>
          <p:cNvSpPr/>
          <p:nvPr/>
        </p:nvSpPr>
        <p:spPr>
          <a:xfrm>
            <a:off x="8060740" y="5417820"/>
            <a:ext cx="54864" cy="672084"/>
          </a:xfrm>
          <a:prstGeom prst="rect">
            <a:avLst/>
          </a:prstGeom>
          <a:solidFill>
            <a:srgbClr val="D957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5" name="TextBox 64"/>
          <p:cNvSpPr txBox="1"/>
          <p:nvPr/>
        </p:nvSpPr>
        <p:spPr>
          <a:xfrm>
            <a:off x="8207044" y="5353812"/>
            <a:ext cx="786384" cy="800100"/>
          </a:xfrm>
          <a:prstGeom prst="rect">
            <a:avLst/>
          </a:prstGeom>
          <a:noFill/>
        </p:spPr>
        <p:txBody>
          <a:bodyPr wrap="square" lIns="45720" rIns="45720" tIns="27432" bIns="27432" anchor="ctr">
            <a:noAutofit/>
          </a:bodyPr>
          <a:lstStyle/>
          <a:p>
            <a:pPr algn="ctr">
              <a:lnSpc>
                <a:spcPct val="100000"/>
              </a:lnSpc>
            </a:pPr>
            <a:r>
              <a:rPr sz="3000" b="1" i="0">
                <a:solidFill>
                  <a:srgbClr val="F7F2E8"/>
                </a:solidFill>
                <a:latin typeface="Palatino Linotype"/>
              </a:rPr>
              <a:t>9</a:t>
            </a:r>
          </a:p>
        </p:txBody>
      </p:sp>
      <p:sp>
        <p:nvSpPr>
          <p:cNvPr id="66" name="TextBox 65"/>
          <p:cNvSpPr txBox="1"/>
          <p:nvPr/>
        </p:nvSpPr>
        <p:spPr>
          <a:xfrm>
            <a:off x="9020860" y="5381244"/>
            <a:ext cx="2512466" cy="372618"/>
          </a:xfrm>
          <a:prstGeom prst="rect">
            <a:avLst/>
          </a:prstGeom>
          <a:noFill/>
        </p:spPr>
        <p:txBody>
          <a:bodyPr wrap="square" lIns="45720" rIns="45720" tIns="27432" bIns="27432" anchor="b">
            <a:noAutofit/>
          </a:bodyPr>
          <a:lstStyle/>
          <a:p>
            <a:pPr algn="l">
              <a:lnSpc>
                <a:spcPct val="100000"/>
              </a:lnSpc>
            </a:pPr>
            <a:r>
              <a:rPr sz="1450" b="0" i="0">
                <a:solidFill>
                  <a:srgbClr val="D9576B"/>
                </a:solidFill>
                <a:latin typeface="Segoe UI Semibold"/>
              </a:rPr>
              <a:t>Mensajería y monitoreo</a:t>
            </a:r>
          </a:p>
        </p:txBody>
      </p:sp>
      <p:sp>
        <p:nvSpPr>
          <p:cNvPr id="67" name="TextBox 66"/>
          <p:cNvSpPr txBox="1"/>
          <p:nvPr/>
        </p:nvSpPr>
        <p:spPr>
          <a:xfrm>
            <a:off x="9020860" y="5753862"/>
            <a:ext cx="2512466" cy="372618"/>
          </a:xfrm>
          <a:prstGeom prst="rect">
            <a:avLst/>
          </a:prstGeom>
          <a:noFill/>
        </p:spPr>
        <p:txBody>
          <a:bodyPr wrap="square" lIns="45720" rIns="45720" tIns="27432" bIns="27432" anchor="t">
            <a:noAutofit/>
          </a:bodyPr>
          <a:lstStyle/>
          <a:p>
            <a:pPr algn="l">
              <a:lnSpc>
                <a:spcPct val="100000"/>
              </a:lnSpc>
            </a:pPr>
            <a:r>
              <a:rPr sz="1150" b="0" i="0">
                <a:solidFill>
                  <a:srgbClr val="A7B2B0"/>
                </a:solidFill>
                <a:latin typeface="Segoe UI"/>
              </a:rPr>
              <a:t>Alcanza personas y vigila sistemas.</a:t>
            </a:r>
          </a:p>
        </p:txBody>
      </p:sp>
      <p:cxnSp>
        <p:nvCxnSpPr>
          <p:cNvPr id="68" name="Connector 67"/>
          <p:cNvCxnSpPr/>
          <p:nvPr/>
        </p:nvCxnSpPr>
        <p:spPr>
          <a:xfrm>
            <a:off x="566928" y="6373368"/>
            <a:ext cx="11057839" cy="0"/>
          </a:xfrm>
          <a:prstGeom prst="line">
            <a:avLst/>
          </a:prstGeom>
          <a:ln w="7620">
            <a:solidFill>
              <a:srgbClr val="2A3A40"/>
            </a:solidFill>
          </a:ln>
        </p:spPr>
        <p:style>
          <a:lnRef idx="2">
            <a:schemeClr val="accent1"/>
          </a:lnRef>
          <a:fillRef idx="0">
            <a:schemeClr val="accent1"/>
          </a:fillRef>
          <a:effectRef idx="1">
            <a:schemeClr val="accent1"/>
          </a:effectRef>
          <a:fontRef idx="minor">
            <a:schemeClr val="tx1"/>
          </a:fontRef>
        </p:style>
      </p:cxnSp>
      <p:sp>
        <p:nvSpPr>
          <p:cNvPr id="69" name="TextBox 68"/>
          <p:cNvSpPr txBox="1"/>
          <p:nvPr/>
        </p:nvSpPr>
        <p:spPr>
          <a:xfrm>
            <a:off x="566928" y="6419088"/>
            <a:ext cx="6858000" cy="274320"/>
          </a:xfrm>
          <a:prstGeom prst="rect">
            <a:avLst/>
          </a:prstGeom>
          <a:noFill/>
        </p:spPr>
        <p:txBody>
          <a:bodyPr wrap="square" lIns="45720" rIns="45720" tIns="27432" bIns="27432" anchor="t">
            <a:noAutofit/>
          </a:bodyPr>
          <a:lstStyle/>
          <a:p>
            <a:pPr algn="l">
              <a:lnSpc>
                <a:spcPct val="100000"/>
              </a:lnSpc>
            </a:pPr>
            <a:r>
              <a:rPr sz="850" b="0" i="0" spc="120">
                <a:solidFill>
                  <a:srgbClr val="A7B2B0"/>
                </a:solidFill>
                <a:latin typeface="Segoe UI Semibold"/>
              </a:rPr>
              <a:t>TLAMATINI  ·  IV · EL BESTIARIO</a:t>
            </a:r>
          </a:p>
        </p:txBody>
      </p:sp>
      <p:sp>
        <p:nvSpPr>
          <p:cNvPr id="70" name="TextBox 69"/>
          <p:cNvSpPr txBox="1"/>
          <p:nvPr/>
        </p:nvSpPr>
        <p:spPr>
          <a:xfrm>
            <a:off x="8698687" y="6419088"/>
            <a:ext cx="2926080" cy="274320"/>
          </a:xfrm>
          <a:prstGeom prst="rect">
            <a:avLst/>
          </a:prstGeom>
          <a:noFill/>
        </p:spPr>
        <p:txBody>
          <a:bodyPr wrap="square" lIns="45720" rIns="45720" tIns="27432" bIns="27432" anchor="t">
            <a:noAutofit/>
          </a:bodyPr>
          <a:lstStyle/>
          <a:p>
            <a:pPr algn="r">
              <a:lnSpc>
                <a:spcPct val="100000"/>
              </a:lnSpc>
            </a:pPr>
            <a:r>
              <a:rPr sz="850" b="0" i="0" spc="100">
                <a:solidFill>
                  <a:srgbClr val="A7B2B0"/>
                </a:solidFill>
                <a:latin typeface="Segoe UI Semibold"/>
              </a:rPr>
              <a:t>v1.91.1   ·   66</a:t>
            </a:r>
          </a:p>
        </p:txBody>
      </p:sp>
    </p:spTree>
  </p:cSld>
  <p:clrMapOvr>
    <a:masterClrMapping/>
  </p:clrMapOvr>
</p:sld>
</file>

<file path=ppt/slides/slide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content.png"/>
          <p:cNvPicPr>
            <a:picLocks noChangeAspect="1"/>
          </p:cNvPicPr>
          <p:nvPr/>
        </p:nvPicPr>
        <p:blipFill>
          <a:blip r:embed="rId2"/>
          <a:stretch>
            <a:fillRect/>
          </a:stretch>
        </p:blipFill>
        <p:spPr>
          <a:xfrm>
            <a:off x="0" y="0"/>
            <a:ext cx="12191695" cy="6858000"/>
          </a:xfrm>
          <a:prstGeom prst="rect">
            <a:avLst/>
          </a:prstGeom>
        </p:spPr>
      </p:pic>
      <p:sp>
        <p:nvSpPr>
          <p:cNvPr id="3" name="Diamond 2"/>
          <p:cNvSpPr/>
          <p:nvPr/>
        </p:nvSpPr>
        <p:spPr>
          <a:xfrm>
            <a:off x="566928" y="457200"/>
            <a:ext cx="100584" cy="100584"/>
          </a:xfrm>
          <a:prstGeom prst="diamond">
            <a:avLst/>
          </a:prstGeom>
          <a:solidFill>
            <a:srgbClr val="D25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49808" y="365760"/>
            <a:ext cx="8229600" cy="292608"/>
          </a:xfrm>
          <a:prstGeom prst="rect">
            <a:avLst/>
          </a:prstGeom>
          <a:noFill/>
        </p:spPr>
        <p:txBody>
          <a:bodyPr wrap="square" lIns="45720" rIns="45720" tIns="27432" bIns="27432" anchor="t">
            <a:noAutofit/>
          </a:bodyPr>
          <a:lstStyle/>
          <a:p>
            <a:pPr algn="l">
              <a:lnSpc>
                <a:spcPct val="100000"/>
              </a:lnSpc>
            </a:pPr>
            <a:r>
              <a:rPr sz="1100" b="0" i="0" spc="240">
                <a:solidFill>
                  <a:srgbClr val="C98457"/>
                </a:solidFill>
                <a:latin typeface="Segoe UI Semibold"/>
              </a:rPr>
              <a:t>FAMILIA DE AGENTS  ·  6 AGENTS</a:t>
            </a:r>
          </a:p>
        </p:txBody>
      </p:sp>
      <p:sp>
        <p:nvSpPr>
          <p:cNvPr id="5" name="TextBox 4"/>
          <p:cNvSpPr txBox="1"/>
          <p:nvPr/>
        </p:nvSpPr>
        <p:spPr>
          <a:xfrm>
            <a:off x="539496" y="676656"/>
            <a:ext cx="11057839" cy="658368"/>
          </a:xfrm>
          <a:prstGeom prst="rect">
            <a:avLst/>
          </a:prstGeom>
          <a:noFill/>
        </p:spPr>
        <p:txBody>
          <a:bodyPr wrap="square" lIns="45720" rIns="45720" tIns="27432" bIns="27432" anchor="t">
            <a:noAutofit/>
          </a:bodyPr>
          <a:lstStyle/>
          <a:p>
            <a:pPr algn="l">
              <a:lnSpc>
                <a:spcPct val="100000"/>
              </a:lnSpc>
            </a:pPr>
            <a:r>
              <a:rPr sz="3100" b="0" i="0">
                <a:solidFill>
                  <a:srgbClr val="F7F2E8"/>
                </a:solidFill>
                <a:latin typeface="Palatino Linotype"/>
              </a:rPr>
              <a:t>Control del flow</a:t>
            </a:r>
          </a:p>
        </p:txBody>
      </p:sp>
      <p:sp>
        <p:nvSpPr>
          <p:cNvPr id="6" name="Rectangle 5"/>
          <p:cNvSpPr/>
          <p:nvPr/>
        </p:nvSpPr>
        <p:spPr>
          <a:xfrm>
            <a:off x="566928" y="1344168"/>
            <a:ext cx="822960" cy="36576"/>
          </a:xfrm>
          <a:prstGeom prst="rect">
            <a:avLst/>
          </a:prstGeom>
          <a:solidFill>
            <a:srgbClr val="D25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566928" y="1444752"/>
            <a:ext cx="10692079" cy="585216"/>
          </a:xfrm>
          <a:prstGeom prst="rect">
            <a:avLst/>
          </a:prstGeom>
          <a:noFill/>
        </p:spPr>
        <p:txBody>
          <a:bodyPr wrap="square" lIns="45720" rIns="45720" tIns="27432" bIns="27432" anchor="t">
            <a:noAutofit/>
          </a:bodyPr>
          <a:lstStyle/>
          <a:p>
            <a:pPr algn="l">
              <a:lnSpc>
                <a:spcPct val="100000"/>
              </a:lnSpc>
            </a:pPr>
            <a:r>
              <a:rPr sz="1450" b="0" i="0">
                <a:solidFill>
                  <a:srgbClr val="A7B2B0"/>
                </a:solidFill>
                <a:latin typeface="Segoe UI Semilight"/>
              </a:rPr>
              <a:t>Inicia, pausa, agenda y termina un flow.</a:t>
            </a:r>
          </a:p>
        </p:txBody>
      </p:sp>
      <p:sp>
        <p:nvSpPr>
          <p:cNvPr id="8" name="Rounded Rectangle 7"/>
          <p:cNvSpPr/>
          <p:nvPr/>
        </p:nvSpPr>
        <p:spPr>
          <a:xfrm>
            <a:off x="566928" y="2409444"/>
            <a:ext cx="3539642" cy="1623060"/>
          </a:xfrm>
          <a:prstGeom prst="roundRect">
            <a:avLst>
              <a:gd name="adj" fmla="val 6760"/>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ectangle 8"/>
          <p:cNvSpPr/>
          <p:nvPr/>
        </p:nvSpPr>
        <p:spPr>
          <a:xfrm>
            <a:off x="731520" y="2537460"/>
            <a:ext cx="502920" cy="45720"/>
          </a:xfrm>
          <a:prstGeom prst="rect">
            <a:avLst/>
          </a:prstGeom>
          <a:solidFill>
            <a:srgbClr val="3BBE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694944" y="2628900"/>
            <a:ext cx="3283610" cy="429768"/>
          </a:xfrm>
          <a:prstGeom prst="rect">
            <a:avLst/>
          </a:prstGeom>
          <a:noFill/>
        </p:spPr>
        <p:txBody>
          <a:bodyPr wrap="square" lIns="45720" rIns="45720" tIns="27432" bIns="27432" anchor="t">
            <a:noAutofit/>
          </a:bodyPr>
          <a:lstStyle/>
          <a:p>
            <a:pPr algn="l">
              <a:lnSpc>
                <a:spcPct val="100000"/>
              </a:lnSpc>
            </a:pPr>
            <a:r>
              <a:rPr sz="2100" b="1" i="0">
                <a:solidFill>
                  <a:srgbClr val="F7F2E8"/>
                </a:solidFill>
                <a:latin typeface="Palatino Linotype"/>
              </a:rPr>
              <a:t>Starter</a:t>
            </a:r>
          </a:p>
        </p:txBody>
      </p:sp>
      <p:sp>
        <p:nvSpPr>
          <p:cNvPr id="11" name="TextBox 10"/>
          <p:cNvSpPr txBox="1"/>
          <p:nvPr/>
        </p:nvSpPr>
        <p:spPr>
          <a:xfrm>
            <a:off x="694944" y="3058668"/>
            <a:ext cx="3283610" cy="882396"/>
          </a:xfrm>
          <a:prstGeom prst="rect">
            <a:avLst/>
          </a:prstGeom>
          <a:noFill/>
        </p:spPr>
        <p:txBody>
          <a:bodyPr wrap="square" lIns="45720" rIns="45720" tIns="27432" bIns="27432" anchor="t">
            <a:noAutofit/>
          </a:bodyPr>
          <a:lstStyle/>
          <a:p>
            <a:pPr algn="l">
              <a:lnSpc>
                <a:spcPct val="100000"/>
              </a:lnSpc>
            </a:pPr>
            <a:r>
              <a:rPr sz="1650" b="0" i="0">
                <a:solidFill>
                  <a:srgbClr val="A7B2B0"/>
                </a:solidFill>
                <a:latin typeface="Segoe UI"/>
              </a:rPr>
              <a:t>El punto de entrada de cada flow; lanza sus targets cuando presionas Iniciar.</a:t>
            </a:r>
          </a:p>
        </p:txBody>
      </p:sp>
      <p:sp>
        <p:nvSpPr>
          <p:cNvPr id="12" name="Rounded Rectangle 11"/>
          <p:cNvSpPr/>
          <p:nvPr/>
        </p:nvSpPr>
        <p:spPr>
          <a:xfrm>
            <a:off x="4326026" y="2409444"/>
            <a:ext cx="3539642" cy="1623060"/>
          </a:xfrm>
          <a:prstGeom prst="roundRect">
            <a:avLst>
              <a:gd name="adj" fmla="val 6760"/>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4490618" y="2537460"/>
            <a:ext cx="502920" cy="45720"/>
          </a:xfrm>
          <a:prstGeom prst="rect">
            <a:avLst/>
          </a:prstGeom>
          <a:solidFill>
            <a:srgbClr val="3BBE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4454042" y="2628900"/>
            <a:ext cx="3283610" cy="429768"/>
          </a:xfrm>
          <a:prstGeom prst="rect">
            <a:avLst/>
          </a:prstGeom>
          <a:noFill/>
        </p:spPr>
        <p:txBody>
          <a:bodyPr wrap="square" lIns="45720" rIns="45720" tIns="27432" bIns="27432" anchor="t">
            <a:noAutofit/>
          </a:bodyPr>
          <a:lstStyle/>
          <a:p>
            <a:pPr algn="l">
              <a:lnSpc>
                <a:spcPct val="100000"/>
              </a:lnSpc>
            </a:pPr>
            <a:r>
              <a:rPr sz="2100" b="1" i="0">
                <a:solidFill>
                  <a:srgbClr val="F7F2E8"/>
                </a:solidFill>
                <a:latin typeface="Palatino Linotype"/>
              </a:rPr>
              <a:t>Ender</a:t>
            </a:r>
          </a:p>
        </p:txBody>
      </p:sp>
      <p:sp>
        <p:nvSpPr>
          <p:cNvPr id="15" name="TextBox 14"/>
          <p:cNvSpPr txBox="1"/>
          <p:nvPr/>
        </p:nvSpPr>
        <p:spPr>
          <a:xfrm>
            <a:off x="4454042" y="3058668"/>
            <a:ext cx="3283610" cy="882396"/>
          </a:xfrm>
          <a:prstGeom prst="rect">
            <a:avLst/>
          </a:prstGeom>
          <a:noFill/>
        </p:spPr>
        <p:txBody>
          <a:bodyPr wrap="square" lIns="45720" rIns="45720" tIns="27432" bIns="27432" anchor="t">
            <a:noAutofit/>
          </a:bodyPr>
          <a:lstStyle/>
          <a:p>
            <a:pPr algn="l">
              <a:lnSpc>
                <a:spcPct val="100000"/>
              </a:lnSpc>
            </a:pPr>
            <a:r>
              <a:rPr sz="1650" b="0" i="0">
                <a:solidFill>
                  <a:srgbClr val="A7B2B0"/>
                </a:solidFill>
                <a:latin typeface="Segoe UI"/>
              </a:rPr>
              <a:t>Termina un flow con gracia: mata sus targets, luego inicia los backups y los cleaners.</a:t>
            </a:r>
          </a:p>
        </p:txBody>
      </p:sp>
      <p:sp>
        <p:nvSpPr>
          <p:cNvPr id="16" name="Rounded Rectangle 15"/>
          <p:cNvSpPr/>
          <p:nvPr/>
        </p:nvSpPr>
        <p:spPr>
          <a:xfrm>
            <a:off x="8085124" y="2409444"/>
            <a:ext cx="3539642" cy="1623060"/>
          </a:xfrm>
          <a:prstGeom prst="roundRect">
            <a:avLst>
              <a:gd name="adj" fmla="val 6760"/>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8249716" y="2537460"/>
            <a:ext cx="502920" cy="45720"/>
          </a:xfrm>
          <a:prstGeom prst="rect">
            <a:avLst/>
          </a:prstGeom>
          <a:solidFill>
            <a:srgbClr val="3BBE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213140" y="2628900"/>
            <a:ext cx="3283610" cy="429768"/>
          </a:xfrm>
          <a:prstGeom prst="rect">
            <a:avLst/>
          </a:prstGeom>
          <a:noFill/>
        </p:spPr>
        <p:txBody>
          <a:bodyPr wrap="square" lIns="45720" rIns="45720" tIns="27432" bIns="27432" anchor="t">
            <a:noAutofit/>
          </a:bodyPr>
          <a:lstStyle/>
          <a:p>
            <a:pPr algn="l">
              <a:lnSpc>
                <a:spcPct val="100000"/>
              </a:lnSpc>
            </a:pPr>
            <a:r>
              <a:rPr sz="2100" b="1" i="0">
                <a:solidFill>
                  <a:srgbClr val="F7F2E8"/>
                </a:solidFill>
                <a:latin typeface="Palatino Linotype"/>
              </a:rPr>
              <a:t>Stopper</a:t>
            </a:r>
          </a:p>
        </p:txBody>
      </p:sp>
      <p:sp>
        <p:nvSpPr>
          <p:cNvPr id="19" name="TextBox 18"/>
          <p:cNvSpPr txBox="1"/>
          <p:nvPr/>
        </p:nvSpPr>
        <p:spPr>
          <a:xfrm>
            <a:off x="8213140" y="3058668"/>
            <a:ext cx="3283610" cy="882396"/>
          </a:xfrm>
          <a:prstGeom prst="rect">
            <a:avLst/>
          </a:prstGeom>
          <a:noFill/>
        </p:spPr>
        <p:txBody>
          <a:bodyPr wrap="square" lIns="45720" rIns="45720" tIns="27432" bIns="27432" anchor="t">
            <a:noAutofit/>
          </a:bodyPr>
          <a:lstStyle/>
          <a:p>
            <a:pPr algn="l">
              <a:lnSpc>
                <a:spcPct val="100000"/>
              </a:lnSpc>
            </a:pPr>
            <a:r>
              <a:rPr sz="1650" b="0" i="0">
                <a:solidFill>
                  <a:srgbClr val="A7B2B0"/>
                </a:solidFill>
                <a:latin typeface="Segoe UI"/>
              </a:rPr>
              <a:t>Vigila los logs buscando un pattern y detiene exactamente esos source agents.</a:t>
            </a:r>
          </a:p>
        </p:txBody>
      </p:sp>
      <p:sp>
        <p:nvSpPr>
          <p:cNvPr id="20" name="Rounded Rectangle 19"/>
          <p:cNvSpPr/>
          <p:nvPr/>
        </p:nvSpPr>
        <p:spPr>
          <a:xfrm>
            <a:off x="566928" y="4251960"/>
            <a:ext cx="3539642" cy="1623060"/>
          </a:xfrm>
          <a:prstGeom prst="roundRect">
            <a:avLst>
              <a:gd name="adj" fmla="val 6760"/>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ectangle 20"/>
          <p:cNvSpPr/>
          <p:nvPr/>
        </p:nvSpPr>
        <p:spPr>
          <a:xfrm>
            <a:off x="731520" y="4379976"/>
            <a:ext cx="502920" cy="45720"/>
          </a:xfrm>
          <a:prstGeom prst="rect">
            <a:avLst/>
          </a:prstGeom>
          <a:solidFill>
            <a:srgbClr val="3BBE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694944" y="4471416"/>
            <a:ext cx="3283610" cy="429768"/>
          </a:xfrm>
          <a:prstGeom prst="rect">
            <a:avLst/>
          </a:prstGeom>
          <a:noFill/>
        </p:spPr>
        <p:txBody>
          <a:bodyPr wrap="square" lIns="45720" rIns="45720" tIns="27432" bIns="27432" anchor="t">
            <a:noAutofit/>
          </a:bodyPr>
          <a:lstStyle/>
          <a:p>
            <a:pPr algn="l">
              <a:lnSpc>
                <a:spcPct val="100000"/>
              </a:lnSpc>
            </a:pPr>
            <a:r>
              <a:rPr sz="2100" b="1" i="0">
                <a:solidFill>
                  <a:srgbClr val="F7F2E8"/>
                </a:solidFill>
                <a:latin typeface="Palatino Linotype"/>
              </a:rPr>
              <a:t>Cleaner</a:t>
            </a:r>
          </a:p>
        </p:txBody>
      </p:sp>
      <p:sp>
        <p:nvSpPr>
          <p:cNvPr id="23" name="TextBox 22"/>
          <p:cNvSpPr txBox="1"/>
          <p:nvPr/>
        </p:nvSpPr>
        <p:spPr>
          <a:xfrm>
            <a:off x="694944" y="4901184"/>
            <a:ext cx="3283610" cy="882396"/>
          </a:xfrm>
          <a:prstGeom prst="rect">
            <a:avLst/>
          </a:prstGeom>
          <a:noFill/>
        </p:spPr>
        <p:txBody>
          <a:bodyPr wrap="square" lIns="45720" rIns="45720" tIns="27432" bIns="27432" anchor="t">
            <a:noAutofit/>
          </a:bodyPr>
          <a:lstStyle/>
          <a:p>
            <a:pPr algn="l">
              <a:lnSpc>
                <a:spcPct val="100000"/>
              </a:lnSpc>
            </a:pPr>
            <a:r>
              <a:rPr sz="1650" b="0" i="0">
                <a:solidFill>
                  <a:srgbClr val="A7B2B0"/>
                </a:solidFill>
                <a:latin typeface="Segoe UI"/>
              </a:rPr>
              <a:t>Conserje de post-ejecución que quita los logs y los archivos PID de los agents terminados.</a:t>
            </a:r>
          </a:p>
        </p:txBody>
      </p:sp>
      <p:sp>
        <p:nvSpPr>
          <p:cNvPr id="24" name="Rounded Rectangle 23"/>
          <p:cNvSpPr/>
          <p:nvPr/>
        </p:nvSpPr>
        <p:spPr>
          <a:xfrm>
            <a:off x="4326026" y="4251960"/>
            <a:ext cx="3539642" cy="1623060"/>
          </a:xfrm>
          <a:prstGeom prst="roundRect">
            <a:avLst>
              <a:gd name="adj" fmla="val 6760"/>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ectangle 24"/>
          <p:cNvSpPr/>
          <p:nvPr/>
        </p:nvSpPr>
        <p:spPr>
          <a:xfrm>
            <a:off x="4490618" y="4379976"/>
            <a:ext cx="502920" cy="45720"/>
          </a:xfrm>
          <a:prstGeom prst="rect">
            <a:avLst/>
          </a:prstGeom>
          <a:solidFill>
            <a:srgbClr val="3BBE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4454042" y="4471416"/>
            <a:ext cx="3283610" cy="429768"/>
          </a:xfrm>
          <a:prstGeom prst="rect">
            <a:avLst/>
          </a:prstGeom>
          <a:noFill/>
        </p:spPr>
        <p:txBody>
          <a:bodyPr wrap="square" lIns="45720" rIns="45720" tIns="27432" bIns="27432" anchor="t">
            <a:noAutofit/>
          </a:bodyPr>
          <a:lstStyle/>
          <a:p>
            <a:pPr algn="l">
              <a:lnSpc>
                <a:spcPct val="100000"/>
              </a:lnSpc>
            </a:pPr>
            <a:r>
              <a:rPr sz="2100" b="1" i="0">
                <a:solidFill>
                  <a:srgbClr val="F7F2E8"/>
                </a:solidFill>
                <a:latin typeface="Palatino Linotype"/>
              </a:rPr>
              <a:t>Sleeper</a:t>
            </a:r>
          </a:p>
        </p:txBody>
      </p:sp>
      <p:sp>
        <p:nvSpPr>
          <p:cNvPr id="27" name="TextBox 26"/>
          <p:cNvSpPr txBox="1"/>
          <p:nvPr/>
        </p:nvSpPr>
        <p:spPr>
          <a:xfrm>
            <a:off x="4454042" y="4901184"/>
            <a:ext cx="3283610" cy="882396"/>
          </a:xfrm>
          <a:prstGeom prst="rect">
            <a:avLst/>
          </a:prstGeom>
          <a:noFill/>
        </p:spPr>
        <p:txBody>
          <a:bodyPr wrap="square" lIns="45720" rIns="45720" tIns="27432" bIns="27432" anchor="t">
            <a:noAutofit/>
          </a:bodyPr>
          <a:lstStyle/>
          <a:p>
            <a:pPr algn="l">
              <a:lnSpc>
                <a:spcPct val="100000"/>
              </a:lnSpc>
            </a:pPr>
            <a:r>
              <a:rPr sz="1650" b="0" i="0">
                <a:solidFill>
                  <a:srgbClr val="A7B2B0"/>
                </a:solidFill>
                <a:latin typeface="Segoe UI"/>
              </a:rPr>
              <a:t>Espera una cantidad configurada de milisegundos, luego inicia sus targets.</a:t>
            </a:r>
          </a:p>
        </p:txBody>
      </p:sp>
      <p:sp>
        <p:nvSpPr>
          <p:cNvPr id="28" name="Rounded Rectangle 27"/>
          <p:cNvSpPr/>
          <p:nvPr/>
        </p:nvSpPr>
        <p:spPr>
          <a:xfrm>
            <a:off x="8085124" y="4251960"/>
            <a:ext cx="3539642" cy="1623060"/>
          </a:xfrm>
          <a:prstGeom prst="roundRect">
            <a:avLst>
              <a:gd name="adj" fmla="val 6760"/>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Rectangle 28"/>
          <p:cNvSpPr/>
          <p:nvPr/>
        </p:nvSpPr>
        <p:spPr>
          <a:xfrm>
            <a:off x="8249716" y="4379976"/>
            <a:ext cx="502920" cy="45720"/>
          </a:xfrm>
          <a:prstGeom prst="rect">
            <a:avLst/>
          </a:prstGeom>
          <a:solidFill>
            <a:srgbClr val="3BBE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8213140" y="4471416"/>
            <a:ext cx="3283610" cy="429768"/>
          </a:xfrm>
          <a:prstGeom prst="rect">
            <a:avLst/>
          </a:prstGeom>
          <a:noFill/>
        </p:spPr>
        <p:txBody>
          <a:bodyPr wrap="square" lIns="45720" rIns="45720" tIns="27432" bIns="27432" anchor="t">
            <a:noAutofit/>
          </a:bodyPr>
          <a:lstStyle/>
          <a:p>
            <a:pPr algn="l">
              <a:lnSpc>
                <a:spcPct val="100000"/>
              </a:lnSpc>
            </a:pPr>
            <a:r>
              <a:rPr sz="2100" b="1" i="0">
                <a:solidFill>
                  <a:srgbClr val="F7F2E8"/>
                </a:solidFill>
                <a:latin typeface="Palatino Linotype"/>
              </a:rPr>
              <a:t>Croner</a:t>
            </a:r>
          </a:p>
        </p:txBody>
      </p:sp>
      <p:sp>
        <p:nvSpPr>
          <p:cNvPr id="31" name="TextBox 30"/>
          <p:cNvSpPr txBox="1"/>
          <p:nvPr/>
        </p:nvSpPr>
        <p:spPr>
          <a:xfrm>
            <a:off x="8213140" y="4901184"/>
            <a:ext cx="3283610" cy="882396"/>
          </a:xfrm>
          <a:prstGeom prst="rect">
            <a:avLst/>
          </a:prstGeom>
          <a:noFill/>
        </p:spPr>
        <p:txBody>
          <a:bodyPr wrap="square" lIns="45720" rIns="45720" tIns="27432" bIns="27432" anchor="t">
            <a:noAutofit/>
          </a:bodyPr>
          <a:lstStyle/>
          <a:p>
            <a:pPr algn="l">
              <a:lnSpc>
                <a:spcPct val="100000"/>
              </a:lnSpc>
            </a:pPr>
            <a:r>
              <a:rPr sz="1650" b="0" i="0">
                <a:solidFill>
                  <a:srgbClr val="A7B2B0"/>
                </a:solidFill>
                <a:latin typeface="Segoe UI"/>
              </a:rPr>
              <a:t>Un disparador de reloj diario que inicia sus targets a una hora HH:MM configurada.</a:t>
            </a:r>
          </a:p>
        </p:txBody>
      </p:sp>
      <p:cxnSp>
        <p:nvCxnSpPr>
          <p:cNvPr id="32" name="Connector 31"/>
          <p:cNvCxnSpPr/>
          <p:nvPr/>
        </p:nvCxnSpPr>
        <p:spPr>
          <a:xfrm>
            <a:off x="566928" y="6373368"/>
            <a:ext cx="11057839" cy="0"/>
          </a:xfrm>
          <a:prstGeom prst="line">
            <a:avLst/>
          </a:prstGeom>
          <a:ln w="7620">
            <a:solidFill>
              <a:srgbClr val="2A3A40"/>
            </a:solidFill>
          </a:ln>
        </p:spPr>
        <p:style>
          <a:lnRef idx="2">
            <a:schemeClr val="accent1"/>
          </a:lnRef>
          <a:fillRef idx="0">
            <a:schemeClr val="accent1"/>
          </a:fillRef>
          <a:effectRef idx="1">
            <a:schemeClr val="accent1"/>
          </a:effectRef>
          <a:fontRef idx="minor">
            <a:schemeClr val="tx1"/>
          </a:fontRef>
        </p:style>
      </p:cxnSp>
      <p:sp>
        <p:nvSpPr>
          <p:cNvPr id="33" name="TextBox 32"/>
          <p:cNvSpPr txBox="1"/>
          <p:nvPr/>
        </p:nvSpPr>
        <p:spPr>
          <a:xfrm>
            <a:off x="566928" y="6419088"/>
            <a:ext cx="6858000" cy="274320"/>
          </a:xfrm>
          <a:prstGeom prst="rect">
            <a:avLst/>
          </a:prstGeom>
          <a:noFill/>
        </p:spPr>
        <p:txBody>
          <a:bodyPr wrap="square" lIns="45720" rIns="45720" tIns="27432" bIns="27432" anchor="t">
            <a:noAutofit/>
          </a:bodyPr>
          <a:lstStyle/>
          <a:p>
            <a:pPr algn="l">
              <a:lnSpc>
                <a:spcPct val="100000"/>
              </a:lnSpc>
            </a:pPr>
            <a:r>
              <a:rPr sz="850" b="0" i="0" spc="120">
                <a:solidFill>
                  <a:srgbClr val="A7B2B0"/>
                </a:solidFill>
                <a:latin typeface="Segoe UI Semibold"/>
              </a:rPr>
              <a:t>TLAMATINI  ·  IV · EL BESTIARIO</a:t>
            </a:r>
          </a:p>
        </p:txBody>
      </p:sp>
      <p:sp>
        <p:nvSpPr>
          <p:cNvPr id="34" name="TextBox 33"/>
          <p:cNvSpPr txBox="1"/>
          <p:nvPr/>
        </p:nvSpPr>
        <p:spPr>
          <a:xfrm>
            <a:off x="8698687" y="6419088"/>
            <a:ext cx="2926080" cy="274320"/>
          </a:xfrm>
          <a:prstGeom prst="rect">
            <a:avLst/>
          </a:prstGeom>
          <a:noFill/>
        </p:spPr>
        <p:txBody>
          <a:bodyPr wrap="square" lIns="45720" rIns="45720" tIns="27432" bIns="27432" anchor="t">
            <a:noAutofit/>
          </a:bodyPr>
          <a:lstStyle/>
          <a:p>
            <a:pPr algn="r">
              <a:lnSpc>
                <a:spcPct val="100000"/>
              </a:lnSpc>
            </a:pPr>
            <a:r>
              <a:rPr sz="850" b="0" i="0" spc="100">
                <a:solidFill>
                  <a:srgbClr val="A7B2B0"/>
                </a:solidFill>
                <a:latin typeface="Segoe UI Semibold"/>
              </a:rPr>
              <a:t>v1.91.1   ·   67</a:t>
            </a:r>
          </a:p>
        </p:txBody>
      </p:sp>
    </p:spTree>
  </p:cSld>
  <p:clrMapOvr>
    <a:masterClrMapping/>
  </p:clrMapOvr>
</p:sld>
</file>

<file path=ppt/slides/slide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content.png"/>
          <p:cNvPicPr>
            <a:picLocks noChangeAspect="1"/>
          </p:cNvPicPr>
          <p:nvPr/>
        </p:nvPicPr>
        <p:blipFill>
          <a:blip r:embed="rId2"/>
          <a:stretch>
            <a:fillRect/>
          </a:stretch>
        </p:blipFill>
        <p:spPr>
          <a:xfrm>
            <a:off x="0" y="0"/>
            <a:ext cx="12191695" cy="6858000"/>
          </a:xfrm>
          <a:prstGeom prst="rect">
            <a:avLst/>
          </a:prstGeom>
        </p:spPr>
      </p:pic>
      <p:sp>
        <p:nvSpPr>
          <p:cNvPr id="3" name="Diamond 2"/>
          <p:cNvSpPr/>
          <p:nvPr/>
        </p:nvSpPr>
        <p:spPr>
          <a:xfrm>
            <a:off x="566928" y="457200"/>
            <a:ext cx="100584" cy="100584"/>
          </a:xfrm>
          <a:prstGeom prst="diamond">
            <a:avLst/>
          </a:prstGeom>
          <a:solidFill>
            <a:srgbClr val="D25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49808" y="365760"/>
            <a:ext cx="8229600" cy="292608"/>
          </a:xfrm>
          <a:prstGeom prst="rect">
            <a:avLst/>
          </a:prstGeom>
          <a:noFill/>
        </p:spPr>
        <p:txBody>
          <a:bodyPr wrap="square" lIns="45720" rIns="45720" tIns="27432" bIns="27432" anchor="t">
            <a:noAutofit/>
          </a:bodyPr>
          <a:lstStyle/>
          <a:p>
            <a:pPr algn="l">
              <a:lnSpc>
                <a:spcPct val="100000"/>
              </a:lnSpc>
            </a:pPr>
            <a:r>
              <a:rPr sz="1100" b="0" i="0" spc="240">
                <a:solidFill>
                  <a:srgbClr val="C98457"/>
                </a:solidFill>
                <a:latin typeface="Segoe UI Semibold"/>
              </a:rPr>
              <a:t>FAMILIA DE AGENTS  ·  7 AGENTS</a:t>
            </a:r>
          </a:p>
        </p:txBody>
      </p:sp>
      <p:sp>
        <p:nvSpPr>
          <p:cNvPr id="5" name="TextBox 4"/>
          <p:cNvSpPr txBox="1"/>
          <p:nvPr/>
        </p:nvSpPr>
        <p:spPr>
          <a:xfrm>
            <a:off x="539496" y="676656"/>
            <a:ext cx="11057839" cy="658368"/>
          </a:xfrm>
          <a:prstGeom prst="rect">
            <a:avLst/>
          </a:prstGeom>
          <a:noFill/>
        </p:spPr>
        <p:txBody>
          <a:bodyPr wrap="square" lIns="45720" rIns="45720" tIns="27432" bIns="27432" anchor="t">
            <a:noAutofit/>
          </a:bodyPr>
          <a:lstStyle/>
          <a:p>
            <a:pPr algn="l">
              <a:lnSpc>
                <a:spcPct val="100000"/>
              </a:lnSpc>
            </a:pPr>
            <a:r>
              <a:rPr sz="3100" b="0" i="0">
                <a:solidFill>
                  <a:srgbClr val="F7F2E8"/>
                </a:solidFill>
                <a:latin typeface="Palatino Linotype"/>
              </a:rPr>
              <a:t>Ruteo y lógica</a:t>
            </a:r>
          </a:p>
        </p:txBody>
      </p:sp>
      <p:sp>
        <p:nvSpPr>
          <p:cNvPr id="6" name="Rectangle 5"/>
          <p:cNvSpPr/>
          <p:nvPr/>
        </p:nvSpPr>
        <p:spPr>
          <a:xfrm>
            <a:off x="566928" y="1344168"/>
            <a:ext cx="822960" cy="36576"/>
          </a:xfrm>
          <a:prstGeom prst="rect">
            <a:avLst/>
          </a:prstGeom>
          <a:solidFill>
            <a:srgbClr val="D25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566928" y="1444752"/>
            <a:ext cx="10692079" cy="585216"/>
          </a:xfrm>
          <a:prstGeom prst="rect">
            <a:avLst/>
          </a:prstGeom>
          <a:noFill/>
        </p:spPr>
        <p:txBody>
          <a:bodyPr wrap="square" lIns="45720" rIns="45720" tIns="27432" bIns="27432" anchor="t">
            <a:noAutofit/>
          </a:bodyPr>
          <a:lstStyle/>
          <a:p>
            <a:pPr algn="l">
              <a:lnSpc>
                <a:spcPct val="100000"/>
              </a:lnSpc>
            </a:pPr>
            <a:r>
              <a:rPr sz="1450" b="0" i="0">
                <a:solidFill>
                  <a:srgbClr val="A7B2B0"/>
                </a:solidFill>
                <a:latin typeface="Segoe UI Semilight"/>
              </a:rPr>
              <a:t>Deciden a dónde va el flow después.</a:t>
            </a:r>
          </a:p>
        </p:txBody>
      </p:sp>
      <p:sp>
        <p:nvSpPr>
          <p:cNvPr id="8" name="Rounded Rectangle 7"/>
          <p:cNvSpPr/>
          <p:nvPr/>
        </p:nvSpPr>
        <p:spPr>
          <a:xfrm>
            <a:off x="566928" y="2279904"/>
            <a:ext cx="2599867" cy="1752600"/>
          </a:xfrm>
          <a:prstGeom prst="roundRect">
            <a:avLst>
              <a:gd name="adj" fmla="val 6260"/>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ectangle 8"/>
          <p:cNvSpPr/>
          <p:nvPr/>
        </p:nvSpPr>
        <p:spPr>
          <a:xfrm>
            <a:off x="731520" y="2407920"/>
            <a:ext cx="502920" cy="45720"/>
          </a:xfrm>
          <a:prstGeom prst="rect">
            <a:avLst/>
          </a:prstGeom>
          <a:solidFill>
            <a:srgbClr val="C984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694944" y="2499360"/>
            <a:ext cx="2343835" cy="399288"/>
          </a:xfrm>
          <a:prstGeom prst="rect">
            <a:avLst/>
          </a:prstGeom>
          <a:noFill/>
        </p:spPr>
        <p:txBody>
          <a:bodyPr wrap="square" lIns="45720" rIns="45720" tIns="27432" bIns="27432" anchor="t">
            <a:noAutofit/>
          </a:bodyPr>
          <a:lstStyle/>
          <a:p>
            <a:pPr algn="l">
              <a:lnSpc>
                <a:spcPct val="100000"/>
              </a:lnSpc>
            </a:pPr>
            <a:r>
              <a:rPr sz="1900" b="1" i="0">
                <a:solidFill>
                  <a:srgbClr val="F7F2E8"/>
                </a:solidFill>
                <a:latin typeface="Palatino Linotype"/>
              </a:rPr>
              <a:t>Raiser</a:t>
            </a:r>
          </a:p>
        </p:txBody>
      </p:sp>
      <p:sp>
        <p:nvSpPr>
          <p:cNvPr id="11" name="TextBox 10"/>
          <p:cNvSpPr txBox="1"/>
          <p:nvPr/>
        </p:nvSpPr>
        <p:spPr>
          <a:xfrm>
            <a:off x="694944" y="2898648"/>
            <a:ext cx="2343835" cy="1042415"/>
          </a:xfrm>
          <a:prstGeom prst="rect">
            <a:avLst/>
          </a:prstGeom>
          <a:noFill/>
        </p:spPr>
        <p:txBody>
          <a:bodyPr wrap="square" lIns="45720" rIns="45720" tIns="27432" bIns="27432" anchor="t">
            <a:noAutofit/>
          </a:bodyPr>
          <a:lstStyle/>
          <a:p>
            <a:pPr algn="l">
              <a:lnSpc>
                <a:spcPct val="100000"/>
              </a:lnSpc>
            </a:pPr>
            <a:r>
              <a:rPr sz="1500" b="0" i="0">
                <a:solidFill>
                  <a:srgbClr val="A7B2B0"/>
                </a:solidFill>
                <a:latin typeface="Segoe UI"/>
              </a:rPr>
              <a:t>Dispara sus targets en el momento en que aparece un pattern en un log vigilado.</a:t>
            </a:r>
          </a:p>
        </p:txBody>
      </p:sp>
      <p:sp>
        <p:nvSpPr>
          <p:cNvPr id="12" name="Rounded Rectangle 11"/>
          <p:cNvSpPr/>
          <p:nvPr/>
        </p:nvSpPr>
        <p:spPr>
          <a:xfrm>
            <a:off x="3386251" y="2279904"/>
            <a:ext cx="2599867" cy="1752600"/>
          </a:xfrm>
          <a:prstGeom prst="roundRect">
            <a:avLst>
              <a:gd name="adj" fmla="val 6260"/>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3550843" y="2407920"/>
            <a:ext cx="502920" cy="45720"/>
          </a:xfrm>
          <a:prstGeom prst="rect">
            <a:avLst/>
          </a:prstGeom>
          <a:solidFill>
            <a:srgbClr val="C984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3514267" y="2499360"/>
            <a:ext cx="2343835" cy="399288"/>
          </a:xfrm>
          <a:prstGeom prst="rect">
            <a:avLst/>
          </a:prstGeom>
          <a:noFill/>
        </p:spPr>
        <p:txBody>
          <a:bodyPr wrap="square" lIns="45720" rIns="45720" tIns="27432" bIns="27432" anchor="t">
            <a:noAutofit/>
          </a:bodyPr>
          <a:lstStyle/>
          <a:p>
            <a:pPr algn="l">
              <a:lnSpc>
                <a:spcPct val="100000"/>
              </a:lnSpc>
            </a:pPr>
            <a:r>
              <a:rPr sz="1900" b="1" i="0">
                <a:solidFill>
                  <a:srgbClr val="F7F2E8"/>
                </a:solidFill>
                <a:latin typeface="Palatino Linotype"/>
              </a:rPr>
              <a:t>Forker</a:t>
            </a:r>
          </a:p>
        </p:txBody>
      </p:sp>
      <p:sp>
        <p:nvSpPr>
          <p:cNvPr id="15" name="TextBox 14"/>
          <p:cNvSpPr txBox="1"/>
          <p:nvPr/>
        </p:nvSpPr>
        <p:spPr>
          <a:xfrm>
            <a:off x="3514267" y="2898648"/>
            <a:ext cx="2343835" cy="1042415"/>
          </a:xfrm>
          <a:prstGeom prst="rect">
            <a:avLst/>
          </a:prstGeom>
          <a:noFill/>
        </p:spPr>
        <p:txBody>
          <a:bodyPr wrap="square" lIns="45720" rIns="45720" tIns="27432" bIns="27432" anchor="t">
            <a:noAutofit/>
          </a:bodyPr>
          <a:lstStyle/>
          <a:p>
            <a:pPr algn="l">
              <a:lnSpc>
                <a:spcPct val="100000"/>
              </a:lnSpc>
            </a:pPr>
            <a:r>
              <a:rPr sz="1500" b="0" i="0">
                <a:solidFill>
                  <a:srgbClr val="A7B2B0"/>
                </a:solidFill>
                <a:latin typeface="Segoe UI"/>
              </a:rPr>
              <a:t>Ruteador A/B automático: el primero de dos patterns en aparecer elige el camino.</a:t>
            </a:r>
          </a:p>
        </p:txBody>
      </p:sp>
      <p:sp>
        <p:nvSpPr>
          <p:cNvPr id="16" name="Rounded Rectangle 15"/>
          <p:cNvSpPr/>
          <p:nvPr/>
        </p:nvSpPr>
        <p:spPr>
          <a:xfrm>
            <a:off x="6205575" y="2279904"/>
            <a:ext cx="2599867" cy="1752600"/>
          </a:xfrm>
          <a:prstGeom prst="roundRect">
            <a:avLst>
              <a:gd name="adj" fmla="val 6260"/>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6370167" y="2407920"/>
            <a:ext cx="502920" cy="45720"/>
          </a:xfrm>
          <a:prstGeom prst="rect">
            <a:avLst/>
          </a:prstGeom>
          <a:solidFill>
            <a:srgbClr val="C984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6333591" y="2499360"/>
            <a:ext cx="2343835" cy="399288"/>
          </a:xfrm>
          <a:prstGeom prst="rect">
            <a:avLst/>
          </a:prstGeom>
          <a:noFill/>
        </p:spPr>
        <p:txBody>
          <a:bodyPr wrap="square" lIns="45720" rIns="45720" tIns="27432" bIns="27432" anchor="t">
            <a:noAutofit/>
          </a:bodyPr>
          <a:lstStyle/>
          <a:p>
            <a:pPr algn="l">
              <a:lnSpc>
                <a:spcPct val="100000"/>
              </a:lnSpc>
            </a:pPr>
            <a:r>
              <a:rPr sz="1900" b="1" i="0">
                <a:solidFill>
                  <a:srgbClr val="F7F2E8"/>
                </a:solidFill>
                <a:latin typeface="Palatino Linotype"/>
              </a:rPr>
              <a:t>Asker</a:t>
            </a:r>
          </a:p>
        </p:txBody>
      </p:sp>
      <p:sp>
        <p:nvSpPr>
          <p:cNvPr id="19" name="TextBox 18"/>
          <p:cNvSpPr txBox="1"/>
          <p:nvPr/>
        </p:nvSpPr>
        <p:spPr>
          <a:xfrm>
            <a:off x="6333591" y="2898648"/>
            <a:ext cx="2343835" cy="1042415"/>
          </a:xfrm>
          <a:prstGeom prst="rect">
            <a:avLst/>
          </a:prstGeom>
          <a:noFill/>
        </p:spPr>
        <p:txBody>
          <a:bodyPr wrap="square" lIns="45720" rIns="45720" tIns="27432" bIns="27432" anchor="t">
            <a:noAutofit/>
          </a:bodyPr>
          <a:lstStyle/>
          <a:p>
            <a:pPr algn="l">
              <a:lnSpc>
                <a:spcPct val="100000"/>
              </a:lnSpc>
            </a:pPr>
            <a:r>
              <a:rPr sz="1500" b="0" i="0">
                <a:solidFill>
                  <a:srgbClr val="A7B2B0"/>
                </a:solidFill>
                <a:latin typeface="Segoe UI"/>
              </a:rPr>
              <a:t>Te pregunta en el chat que elijas el Camino A o el Camino B: un humano en el loop.</a:t>
            </a:r>
          </a:p>
        </p:txBody>
      </p:sp>
      <p:sp>
        <p:nvSpPr>
          <p:cNvPr id="20" name="Rounded Rectangle 19"/>
          <p:cNvSpPr/>
          <p:nvPr/>
        </p:nvSpPr>
        <p:spPr>
          <a:xfrm>
            <a:off x="9024899" y="2279904"/>
            <a:ext cx="2599867" cy="1752600"/>
          </a:xfrm>
          <a:prstGeom prst="roundRect">
            <a:avLst>
              <a:gd name="adj" fmla="val 6260"/>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ectangle 20"/>
          <p:cNvSpPr/>
          <p:nvPr/>
        </p:nvSpPr>
        <p:spPr>
          <a:xfrm>
            <a:off x="9189491" y="2407920"/>
            <a:ext cx="502920" cy="45720"/>
          </a:xfrm>
          <a:prstGeom prst="rect">
            <a:avLst/>
          </a:prstGeom>
          <a:solidFill>
            <a:srgbClr val="C984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9152915" y="2499360"/>
            <a:ext cx="2343835" cy="399288"/>
          </a:xfrm>
          <a:prstGeom prst="rect">
            <a:avLst/>
          </a:prstGeom>
          <a:noFill/>
        </p:spPr>
        <p:txBody>
          <a:bodyPr wrap="square" lIns="45720" rIns="45720" tIns="27432" bIns="27432" anchor="t">
            <a:noAutofit/>
          </a:bodyPr>
          <a:lstStyle/>
          <a:p>
            <a:pPr algn="l">
              <a:lnSpc>
                <a:spcPct val="100000"/>
              </a:lnSpc>
            </a:pPr>
            <a:r>
              <a:rPr sz="1900" b="1" i="0">
                <a:solidFill>
                  <a:srgbClr val="F7F2E8"/>
                </a:solidFill>
                <a:latin typeface="Palatino Linotype"/>
              </a:rPr>
              <a:t>Counter</a:t>
            </a:r>
          </a:p>
        </p:txBody>
      </p:sp>
      <p:sp>
        <p:nvSpPr>
          <p:cNvPr id="23" name="TextBox 22"/>
          <p:cNvSpPr txBox="1"/>
          <p:nvPr/>
        </p:nvSpPr>
        <p:spPr>
          <a:xfrm>
            <a:off x="9152915" y="2898648"/>
            <a:ext cx="2343835" cy="1042415"/>
          </a:xfrm>
          <a:prstGeom prst="rect">
            <a:avLst/>
          </a:prstGeom>
          <a:noFill/>
        </p:spPr>
        <p:txBody>
          <a:bodyPr wrap="square" lIns="45720" rIns="45720" tIns="27432" bIns="27432" anchor="t">
            <a:noAutofit/>
          </a:bodyPr>
          <a:lstStyle/>
          <a:p>
            <a:pPr algn="l">
              <a:lnSpc>
                <a:spcPct val="100000"/>
              </a:lnSpc>
            </a:pPr>
            <a:r>
              <a:rPr sz="1500" b="0" i="0">
                <a:solidFill>
                  <a:srgbClr val="A7B2B0"/>
                </a:solidFill>
                <a:latin typeface="Segoe UI"/>
              </a:rPr>
              <a:t>Un conteo persistente que rutea por debajo, o en y por encima, de un umbral.</a:t>
            </a:r>
          </a:p>
        </p:txBody>
      </p:sp>
      <p:sp>
        <p:nvSpPr>
          <p:cNvPr id="24" name="Rounded Rectangle 23"/>
          <p:cNvSpPr/>
          <p:nvPr/>
        </p:nvSpPr>
        <p:spPr>
          <a:xfrm>
            <a:off x="566928" y="4251960"/>
            <a:ext cx="2599867" cy="1752600"/>
          </a:xfrm>
          <a:prstGeom prst="roundRect">
            <a:avLst>
              <a:gd name="adj" fmla="val 6260"/>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ectangle 24"/>
          <p:cNvSpPr/>
          <p:nvPr/>
        </p:nvSpPr>
        <p:spPr>
          <a:xfrm>
            <a:off x="731520" y="4379976"/>
            <a:ext cx="502920" cy="45720"/>
          </a:xfrm>
          <a:prstGeom prst="rect">
            <a:avLst/>
          </a:prstGeom>
          <a:solidFill>
            <a:srgbClr val="C984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694944" y="4471416"/>
            <a:ext cx="2343835" cy="399288"/>
          </a:xfrm>
          <a:prstGeom prst="rect">
            <a:avLst/>
          </a:prstGeom>
          <a:noFill/>
        </p:spPr>
        <p:txBody>
          <a:bodyPr wrap="square" lIns="45720" rIns="45720" tIns="27432" bIns="27432" anchor="t">
            <a:noAutofit/>
          </a:bodyPr>
          <a:lstStyle/>
          <a:p>
            <a:pPr algn="l">
              <a:lnSpc>
                <a:spcPct val="100000"/>
              </a:lnSpc>
            </a:pPr>
            <a:r>
              <a:rPr sz="1900" b="1" i="0">
                <a:solidFill>
                  <a:srgbClr val="F7F2E8"/>
                </a:solidFill>
                <a:latin typeface="Palatino Linotype"/>
              </a:rPr>
              <a:t>AND</a:t>
            </a:r>
          </a:p>
        </p:txBody>
      </p:sp>
      <p:sp>
        <p:nvSpPr>
          <p:cNvPr id="27" name="TextBox 26"/>
          <p:cNvSpPr txBox="1"/>
          <p:nvPr/>
        </p:nvSpPr>
        <p:spPr>
          <a:xfrm>
            <a:off x="694944" y="4870704"/>
            <a:ext cx="2343835" cy="1042415"/>
          </a:xfrm>
          <a:prstGeom prst="rect">
            <a:avLst/>
          </a:prstGeom>
          <a:noFill/>
        </p:spPr>
        <p:txBody>
          <a:bodyPr wrap="square" lIns="45720" rIns="45720" tIns="27432" bIns="27432" anchor="t">
            <a:noAutofit/>
          </a:bodyPr>
          <a:lstStyle/>
          <a:p>
            <a:pPr algn="l">
              <a:lnSpc>
                <a:spcPct val="100000"/>
              </a:lnSpc>
            </a:pPr>
            <a:r>
              <a:rPr sz="1500" b="0" i="0">
                <a:solidFill>
                  <a:srgbClr val="A7B2B0"/>
                </a:solidFill>
                <a:latin typeface="Segoe UI"/>
              </a:rPr>
              <a:t>Compuerta de dos entradas que dispara cuando ambos sources han coincidido.</a:t>
            </a:r>
          </a:p>
        </p:txBody>
      </p:sp>
      <p:sp>
        <p:nvSpPr>
          <p:cNvPr id="28" name="Rounded Rectangle 27"/>
          <p:cNvSpPr/>
          <p:nvPr/>
        </p:nvSpPr>
        <p:spPr>
          <a:xfrm>
            <a:off x="3386251" y="4251960"/>
            <a:ext cx="2599867" cy="1752600"/>
          </a:xfrm>
          <a:prstGeom prst="roundRect">
            <a:avLst>
              <a:gd name="adj" fmla="val 6260"/>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Rectangle 28"/>
          <p:cNvSpPr/>
          <p:nvPr/>
        </p:nvSpPr>
        <p:spPr>
          <a:xfrm>
            <a:off x="3550843" y="4379976"/>
            <a:ext cx="502920" cy="45720"/>
          </a:xfrm>
          <a:prstGeom prst="rect">
            <a:avLst/>
          </a:prstGeom>
          <a:solidFill>
            <a:srgbClr val="C984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3514267" y="4471416"/>
            <a:ext cx="2343835" cy="399288"/>
          </a:xfrm>
          <a:prstGeom prst="rect">
            <a:avLst/>
          </a:prstGeom>
          <a:noFill/>
        </p:spPr>
        <p:txBody>
          <a:bodyPr wrap="square" lIns="45720" rIns="45720" tIns="27432" bIns="27432" anchor="t">
            <a:noAutofit/>
          </a:bodyPr>
          <a:lstStyle/>
          <a:p>
            <a:pPr algn="l">
              <a:lnSpc>
                <a:spcPct val="100000"/>
              </a:lnSpc>
            </a:pPr>
            <a:r>
              <a:rPr sz="1900" b="1" i="0">
                <a:solidFill>
                  <a:srgbClr val="F7F2E8"/>
                </a:solidFill>
                <a:latin typeface="Palatino Linotype"/>
              </a:rPr>
              <a:t>OR</a:t>
            </a:r>
          </a:p>
        </p:txBody>
      </p:sp>
      <p:sp>
        <p:nvSpPr>
          <p:cNvPr id="31" name="TextBox 30"/>
          <p:cNvSpPr txBox="1"/>
          <p:nvPr/>
        </p:nvSpPr>
        <p:spPr>
          <a:xfrm>
            <a:off x="3514267" y="4870704"/>
            <a:ext cx="2343835" cy="1042415"/>
          </a:xfrm>
          <a:prstGeom prst="rect">
            <a:avLst/>
          </a:prstGeom>
          <a:noFill/>
        </p:spPr>
        <p:txBody>
          <a:bodyPr wrap="square" lIns="45720" rIns="45720" tIns="27432" bIns="27432" anchor="t">
            <a:noAutofit/>
          </a:bodyPr>
          <a:lstStyle/>
          <a:p>
            <a:pPr algn="l">
              <a:lnSpc>
                <a:spcPct val="100000"/>
              </a:lnSpc>
            </a:pPr>
            <a:r>
              <a:rPr sz="1500" b="0" i="0">
                <a:solidFill>
                  <a:srgbClr val="A7B2B0"/>
                </a:solidFill>
                <a:latin typeface="Segoe UI"/>
              </a:rPr>
              <a:t>Compuerta de dos entradas que dispara en cuanto cualquiera de los dos sources coincide.</a:t>
            </a:r>
          </a:p>
        </p:txBody>
      </p:sp>
      <p:sp>
        <p:nvSpPr>
          <p:cNvPr id="32" name="Rounded Rectangle 31"/>
          <p:cNvSpPr/>
          <p:nvPr/>
        </p:nvSpPr>
        <p:spPr>
          <a:xfrm>
            <a:off x="6205575" y="4251960"/>
            <a:ext cx="2599867" cy="1752600"/>
          </a:xfrm>
          <a:prstGeom prst="roundRect">
            <a:avLst>
              <a:gd name="adj" fmla="val 6260"/>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Rectangle 32"/>
          <p:cNvSpPr/>
          <p:nvPr/>
        </p:nvSpPr>
        <p:spPr>
          <a:xfrm>
            <a:off x="6370167" y="4379976"/>
            <a:ext cx="502920" cy="45720"/>
          </a:xfrm>
          <a:prstGeom prst="rect">
            <a:avLst/>
          </a:prstGeom>
          <a:solidFill>
            <a:srgbClr val="C984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6333591" y="4471416"/>
            <a:ext cx="2343835" cy="399288"/>
          </a:xfrm>
          <a:prstGeom prst="rect">
            <a:avLst/>
          </a:prstGeom>
          <a:noFill/>
        </p:spPr>
        <p:txBody>
          <a:bodyPr wrap="square" lIns="45720" rIns="45720" tIns="27432" bIns="27432" anchor="t">
            <a:noAutofit/>
          </a:bodyPr>
          <a:lstStyle/>
          <a:p>
            <a:pPr algn="l">
              <a:lnSpc>
                <a:spcPct val="100000"/>
              </a:lnSpc>
            </a:pPr>
            <a:r>
              <a:rPr sz="1900" b="1" i="0">
                <a:solidFill>
                  <a:srgbClr val="F7F2E8"/>
                </a:solidFill>
                <a:latin typeface="Palatino Linotype"/>
              </a:rPr>
              <a:t>Barrier</a:t>
            </a:r>
          </a:p>
        </p:txBody>
      </p:sp>
      <p:sp>
        <p:nvSpPr>
          <p:cNvPr id="35" name="TextBox 34"/>
          <p:cNvSpPr txBox="1"/>
          <p:nvPr/>
        </p:nvSpPr>
        <p:spPr>
          <a:xfrm>
            <a:off x="6333591" y="4870704"/>
            <a:ext cx="2343835" cy="1042415"/>
          </a:xfrm>
          <a:prstGeom prst="rect">
            <a:avLst/>
          </a:prstGeom>
          <a:noFill/>
        </p:spPr>
        <p:txBody>
          <a:bodyPr wrap="square" lIns="45720" rIns="45720" tIns="27432" bIns="27432" anchor="t">
            <a:noAutofit/>
          </a:bodyPr>
          <a:lstStyle/>
          <a:p>
            <a:pPr algn="l">
              <a:lnSpc>
                <a:spcPct val="100000"/>
              </a:lnSpc>
            </a:pPr>
            <a:r>
              <a:rPr sz="1500" b="0" i="0">
                <a:solidFill>
                  <a:srgbClr val="A7B2B0"/>
                </a:solidFill>
                <a:latin typeface="Segoe UI"/>
              </a:rPr>
              <a:t>Fan-in de N entradas que se libera cuando ha llegado cada source configurado.</a:t>
            </a:r>
          </a:p>
        </p:txBody>
      </p:sp>
      <p:cxnSp>
        <p:nvCxnSpPr>
          <p:cNvPr id="36" name="Connector 35"/>
          <p:cNvCxnSpPr/>
          <p:nvPr/>
        </p:nvCxnSpPr>
        <p:spPr>
          <a:xfrm>
            <a:off x="566928" y="6373368"/>
            <a:ext cx="11057839" cy="0"/>
          </a:xfrm>
          <a:prstGeom prst="line">
            <a:avLst/>
          </a:prstGeom>
          <a:ln w="7620">
            <a:solidFill>
              <a:srgbClr val="2A3A40"/>
            </a:solidFill>
          </a:ln>
        </p:spPr>
        <p:style>
          <a:lnRef idx="2">
            <a:schemeClr val="accent1"/>
          </a:lnRef>
          <a:fillRef idx="0">
            <a:schemeClr val="accent1"/>
          </a:fillRef>
          <a:effectRef idx="1">
            <a:schemeClr val="accent1"/>
          </a:effectRef>
          <a:fontRef idx="minor">
            <a:schemeClr val="tx1"/>
          </a:fontRef>
        </p:style>
      </p:cxnSp>
      <p:sp>
        <p:nvSpPr>
          <p:cNvPr id="37" name="TextBox 36"/>
          <p:cNvSpPr txBox="1"/>
          <p:nvPr/>
        </p:nvSpPr>
        <p:spPr>
          <a:xfrm>
            <a:off x="566928" y="6419088"/>
            <a:ext cx="6858000" cy="274320"/>
          </a:xfrm>
          <a:prstGeom prst="rect">
            <a:avLst/>
          </a:prstGeom>
          <a:noFill/>
        </p:spPr>
        <p:txBody>
          <a:bodyPr wrap="square" lIns="45720" rIns="45720" tIns="27432" bIns="27432" anchor="t">
            <a:noAutofit/>
          </a:bodyPr>
          <a:lstStyle/>
          <a:p>
            <a:pPr algn="l">
              <a:lnSpc>
                <a:spcPct val="100000"/>
              </a:lnSpc>
            </a:pPr>
            <a:r>
              <a:rPr sz="850" b="0" i="0" spc="120">
                <a:solidFill>
                  <a:srgbClr val="A7B2B0"/>
                </a:solidFill>
                <a:latin typeface="Segoe UI Semibold"/>
              </a:rPr>
              <a:t>TLAMATINI  ·  IV · EL BESTIARIO</a:t>
            </a:r>
          </a:p>
        </p:txBody>
      </p:sp>
      <p:sp>
        <p:nvSpPr>
          <p:cNvPr id="38" name="TextBox 37"/>
          <p:cNvSpPr txBox="1"/>
          <p:nvPr/>
        </p:nvSpPr>
        <p:spPr>
          <a:xfrm>
            <a:off x="8698687" y="6419088"/>
            <a:ext cx="2926080" cy="274320"/>
          </a:xfrm>
          <a:prstGeom prst="rect">
            <a:avLst/>
          </a:prstGeom>
          <a:noFill/>
        </p:spPr>
        <p:txBody>
          <a:bodyPr wrap="square" lIns="45720" rIns="45720" tIns="27432" bIns="27432" anchor="t">
            <a:noAutofit/>
          </a:bodyPr>
          <a:lstStyle/>
          <a:p>
            <a:pPr algn="r">
              <a:lnSpc>
                <a:spcPct val="100000"/>
              </a:lnSpc>
            </a:pPr>
            <a:r>
              <a:rPr sz="850" b="0" i="0" spc="100">
                <a:solidFill>
                  <a:srgbClr val="A7B2B0"/>
                </a:solidFill>
                <a:latin typeface="Segoe UI Semibold"/>
              </a:rPr>
              <a:t>v1.91.1   ·   68</a:t>
            </a:r>
          </a:p>
        </p:txBody>
      </p:sp>
    </p:spTree>
  </p:cSld>
  <p:clrMapOvr>
    <a:masterClrMapping/>
  </p:clrMapOvr>
</p:sld>
</file>

<file path=ppt/slides/slide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content.png"/>
          <p:cNvPicPr>
            <a:picLocks noChangeAspect="1"/>
          </p:cNvPicPr>
          <p:nvPr/>
        </p:nvPicPr>
        <p:blipFill>
          <a:blip r:embed="rId2"/>
          <a:stretch>
            <a:fillRect/>
          </a:stretch>
        </p:blipFill>
        <p:spPr>
          <a:xfrm>
            <a:off x="0" y="0"/>
            <a:ext cx="12191695" cy="6858000"/>
          </a:xfrm>
          <a:prstGeom prst="rect">
            <a:avLst/>
          </a:prstGeom>
        </p:spPr>
      </p:pic>
      <p:sp>
        <p:nvSpPr>
          <p:cNvPr id="3" name="Diamond 2"/>
          <p:cNvSpPr/>
          <p:nvPr/>
        </p:nvSpPr>
        <p:spPr>
          <a:xfrm>
            <a:off x="566928" y="457200"/>
            <a:ext cx="100584" cy="100584"/>
          </a:xfrm>
          <a:prstGeom prst="diamond">
            <a:avLst/>
          </a:prstGeom>
          <a:solidFill>
            <a:srgbClr val="D25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49808" y="365760"/>
            <a:ext cx="8229600" cy="292608"/>
          </a:xfrm>
          <a:prstGeom prst="rect">
            <a:avLst/>
          </a:prstGeom>
          <a:noFill/>
        </p:spPr>
        <p:txBody>
          <a:bodyPr wrap="square" lIns="45720" rIns="45720" tIns="27432" bIns="27432" anchor="t">
            <a:noAutofit/>
          </a:bodyPr>
          <a:lstStyle/>
          <a:p>
            <a:pPr algn="l">
              <a:lnSpc>
                <a:spcPct val="100000"/>
              </a:lnSpc>
            </a:pPr>
            <a:r>
              <a:rPr sz="1100" b="0" i="0" spc="240">
                <a:solidFill>
                  <a:srgbClr val="C98457"/>
                </a:solidFill>
                <a:latin typeface="Segoe UI Semibold"/>
              </a:rPr>
              <a:t>FAMILIA DE AGENTS  ·  8 AGENTS</a:t>
            </a:r>
          </a:p>
        </p:txBody>
      </p:sp>
      <p:sp>
        <p:nvSpPr>
          <p:cNvPr id="5" name="TextBox 4"/>
          <p:cNvSpPr txBox="1"/>
          <p:nvPr/>
        </p:nvSpPr>
        <p:spPr>
          <a:xfrm>
            <a:off x="539496" y="676656"/>
            <a:ext cx="11057839" cy="658368"/>
          </a:xfrm>
          <a:prstGeom prst="rect">
            <a:avLst/>
          </a:prstGeom>
          <a:noFill/>
        </p:spPr>
        <p:txBody>
          <a:bodyPr wrap="square" lIns="45720" rIns="45720" tIns="27432" bIns="27432" anchor="t">
            <a:noAutofit/>
          </a:bodyPr>
          <a:lstStyle/>
          <a:p>
            <a:pPr algn="l">
              <a:lnSpc>
                <a:spcPct val="100000"/>
              </a:lnSpc>
            </a:pPr>
            <a:r>
              <a:rPr sz="3100" b="0" i="0">
                <a:solidFill>
                  <a:srgbClr val="F7F2E8"/>
                </a:solidFill>
                <a:latin typeface="Palatino Linotype"/>
              </a:rPr>
              <a:t>Orquestación e inteligencia</a:t>
            </a:r>
          </a:p>
        </p:txBody>
      </p:sp>
      <p:sp>
        <p:nvSpPr>
          <p:cNvPr id="6" name="Rectangle 5"/>
          <p:cNvSpPr/>
          <p:nvPr/>
        </p:nvSpPr>
        <p:spPr>
          <a:xfrm>
            <a:off x="566928" y="1344168"/>
            <a:ext cx="822960" cy="36576"/>
          </a:xfrm>
          <a:prstGeom prst="rect">
            <a:avLst/>
          </a:prstGeom>
          <a:solidFill>
            <a:srgbClr val="D25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566928" y="1444752"/>
            <a:ext cx="10692079" cy="585216"/>
          </a:xfrm>
          <a:prstGeom prst="rect">
            <a:avLst/>
          </a:prstGeom>
          <a:noFill/>
        </p:spPr>
        <p:txBody>
          <a:bodyPr wrap="square" lIns="45720" rIns="45720" tIns="27432" bIns="27432" anchor="t">
            <a:noAutofit/>
          </a:bodyPr>
          <a:lstStyle/>
          <a:p>
            <a:pPr algn="l">
              <a:lnSpc>
                <a:spcPct val="100000"/>
              </a:lnSpc>
            </a:pPr>
            <a:r>
              <a:rPr sz="1450" b="0" i="0">
                <a:solidFill>
                  <a:srgbClr val="A7B2B0"/>
                </a:solidFill>
                <a:latin typeface="Segoe UI Semilight"/>
              </a:rPr>
              <a:t>Diseña, conecta, supervisa y razona.</a:t>
            </a:r>
          </a:p>
        </p:txBody>
      </p:sp>
      <p:sp>
        <p:nvSpPr>
          <p:cNvPr id="8" name="Rounded Rectangle 7"/>
          <p:cNvSpPr/>
          <p:nvPr/>
        </p:nvSpPr>
        <p:spPr>
          <a:xfrm>
            <a:off x="566928" y="2279904"/>
            <a:ext cx="2599867" cy="1752600"/>
          </a:xfrm>
          <a:prstGeom prst="roundRect">
            <a:avLst>
              <a:gd name="adj" fmla="val 6260"/>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ectangle 8"/>
          <p:cNvSpPr/>
          <p:nvPr/>
        </p:nvSpPr>
        <p:spPr>
          <a:xfrm>
            <a:off x="731520" y="2407920"/>
            <a:ext cx="502920" cy="45720"/>
          </a:xfrm>
          <a:prstGeom prst="rect">
            <a:avLst/>
          </a:prstGeom>
          <a:solidFill>
            <a:srgbClr val="E2B4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694944" y="2499360"/>
            <a:ext cx="2343835" cy="399288"/>
          </a:xfrm>
          <a:prstGeom prst="rect">
            <a:avLst/>
          </a:prstGeom>
          <a:noFill/>
        </p:spPr>
        <p:txBody>
          <a:bodyPr wrap="square" lIns="45720" rIns="45720" tIns="27432" bIns="27432" anchor="t">
            <a:noAutofit/>
          </a:bodyPr>
          <a:lstStyle/>
          <a:p>
            <a:pPr algn="l">
              <a:lnSpc>
                <a:spcPct val="100000"/>
              </a:lnSpc>
            </a:pPr>
            <a:r>
              <a:rPr sz="1900" b="1" i="0">
                <a:solidFill>
                  <a:srgbClr val="F7F2E8"/>
                </a:solidFill>
                <a:latin typeface="Palatino Linotype"/>
              </a:rPr>
              <a:t>Parametrizer</a:t>
            </a:r>
          </a:p>
        </p:txBody>
      </p:sp>
      <p:sp>
        <p:nvSpPr>
          <p:cNvPr id="11" name="TextBox 10"/>
          <p:cNvSpPr txBox="1"/>
          <p:nvPr/>
        </p:nvSpPr>
        <p:spPr>
          <a:xfrm>
            <a:off x="694944" y="2898648"/>
            <a:ext cx="2343835" cy="1042415"/>
          </a:xfrm>
          <a:prstGeom prst="rect">
            <a:avLst/>
          </a:prstGeom>
          <a:noFill/>
        </p:spPr>
        <p:txBody>
          <a:bodyPr wrap="square" lIns="45720" rIns="45720" tIns="27432" bIns="27432" anchor="t">
            <a:noAutofit/>
          </a:bodyPr>
          <a:lstStyle/>
          <a:p>
            <a:pPr algn="l">
              <a:lnSpc>
                <a:spcPct val="100000"/>
              </a:lnSpc>
            </a:pPr>
            <a:r>
              <a:rPr sz="1500" b="0" i="0">
                <a:solidFill>
                  <a:srgbClr val="A7B2B0"/>
                </a:solidFill>
                <a:latin typeface="Segoe UI"/>
              </a:rPr>
              <a:t>Mapea el output estructurado de un agent hacia la configuración del siguiente agent.</a:t>
            </a:r>
          </a:p>
        </p:txBody>
      </p:sp>
      <p:sp>
        <p:nvSpPr>
          <p:cNvPr id="12" name="Rounded Rectangle 11"/>
          <p:cNvSpPr/>
          <p:nvPr/>
        </p:nvSpPr>
        <p:spPr>
          <a:xfrm>
            <a:off x="3386251" y="2279904"/>
            <a:ext cx="2599867" cy="1752600"/>
          </a:xfrm>
          <a:prstGeom prst="roundRect">
            <a:avLst>
              <a:gd name="adj" fmla="val 6260"/>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3550843" y="2407920"/>
            <a:ext cx="502920" cy="45720"/>
          </a:xfrm>
          <a:prstGeom prst="rect">
            <a:avLst/>
          </a:prstGeom>
          <a:solidFill>
            <a:srgbClr val="E2B4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3514267" y="2499360"/>
            <a:ext cx="2343835" cy="399288"/>
          </a:xfrm>
          <a:prstGeom prst="rect">
            <a:avLst/>
          </a:prstGeom>
          <a:noFill/>
        </p:spPr>
        <p:txBody>
          <a:bodyPr wrap="square" lIns="45720" rIns="45720" tIns="27432" bIns="27432" anchor="t">
            <a:noAutofit/>
          </a:bodyPr>
          <a:lstStyle/>
          <a:p>
            <a:pPr algn="l">
              <a:lnSpc>
                <a:spcPct val="100000"/>
              </a:lnSpc>
            </a:pPr>
            <a:r>
              <a:rPr sz="1900" b="1" i="0">
                <a:solidFill>
                  <a:srgbClr val="F7F2E8"/>
                </a:solidFill>
                <a:latin typeface="Palatino Linotype"/>
              </a:rPr>
              <a:t>FlowCreator</a:t>
            </a:r>
          </a:p>
        </p:txBody>
      </p:sp>
      <p:sp>
        <p:nvSpPr>
          <p:cNvPr id="15" name="TextBox 14"/>
          <p:cNvSpPr txBox="1"/>
          <p:nvPr/>
        </p:nvSpPr>
        <p:spPr>
          <a:xfrm>
            <a:off x="3514267" y="2898648"/>
            <a:ext cx="2343835" cy="1042415"/>
          </a:xfrm>
          <a:prstGeom prst="rect">
            <a:avLst/>
          </a:prstGeom>
          <a:noFill/>
        </p:spPr>
        <p:txBody>
          <a:bodyPr wrap="square" lIns="45720" rIns="45720" tIns="27432" bIns="27432" anchor="t">
            <a:noAutofit/>
          </a:bodyPr>
          <a:lstStyle/>
          <a:p>
            <a:pPr algn="l">
              <a:lnSpc>
                <a:spcPct val="100000"/>
              </a:lnSpc>
            </a:pPr>
            <a:r>
              <a:rPr sz="1500" b="0" i="0">
                <a:solidFill>
                  <a:srgbClr val="A7B2B0"/>
                </a:solidFill>
                <a:latin typeface="Segoe UI"/>
              </a:rPr>
              <a:t>Diseña un workflow .flw completo y validado a partir de un objetivo simple.</a:t>
            </a:r>
          </a:p>
        </p:txBody>
      </p:sp>
      <p:sp>
        <p:nvSpPr>
          <p:cNvPr id="16" name="Rounded Rectangle 15"/>
          <p:cNvSpPr/>
          <p:nvPr/>
        </p:nvSpPr>
        <p:spPr>
          <a:xfrm>
            <a:off x="6205575" y="2279904"/>
            <a:ext cx="2599867" cy="1752600"/>
          </a:xfrm>
          <a:prstGeom prst="roundRect">
            <a:avLst>
              <a:gd name="adj" fmla="val 6260"/>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6370167" y="2407920"/>
            <a:ext cx="502920" cy="45720"/>
          </a:xfrm>
          <a:prstGeom prst="rect">
            <a:avLst/>
          </a:prstGeom>
          <a:solidFill>
            <a:srgbClr val="E2B4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6333591" y="2499360"/>
            <a:ext cx="2343835" cy="399288"/>
          </a:xfrm>
          <a:prstGeom prst="rect">
            <a:avLst/>
          </a:prstGeom>
          <a:noFill/>
        </p:spPr>
        <p:txBody>
          <a:bodyPr wrap="square" lIns="45720" rIns="45720" tIns="27432" bIns="27432" anchor="t">
            <a:noAutofit/>
          </a:bodyPr>
          <a:lstStyle/>
          <a:p>
            <a:pPr algn="l">
              <a:lnSpc>
                <a:spcPct val="100000"/>
              </a:lnSpc>
            </a:pPr>
            <a:r>
              <a:rPr sz="1900" b="1" i="0">
                <a:solidFill>
                  <a:srgbClr val="F7F2E8"/>
                </a:solidFill>
                <a:latin typeface="Palatino Linotype"/>
              </a:rPr>
              <a:t>FlowHypervisor</a:t>
            </a:r>
          </a:p>
        </p:txBody>
      </p:sp>
      <p:sp>
        <p:nvSpPr>
          <p:cNvPr id="19" name="TextBox 18"/>
          <p:cNvSpPr txBox="1"/>
          <p:nvPr/>
        </p:nvSpPr>
        <p:spPr>
          <a:xfrm>
            <a:off x="6333591" y="2898648"/>
            <a:ext cx="2343835" cy="1042415"/>
          </a:xfrm>
          <a:prstGeom prst="rect">
            <a:avLst/>
          </a:prstGeom>
          <a:noFill/>
        </p:spPr>
        <p:txBody>
          <a:bodyPr wrap="square" lIns="45720" rIns="45720" tIns="27432" bIns="27432" anchor="t">
            <a:noAutofit/>
          </a:bodyPr>
          <a:lstStyle/>
          <a:p>
            <a:pPr algn="l">
              <a:lnSpc>
                <a:spcPct val="100000"/>
              </a:lnSpc>
            </a:pPr>
            <a:r>
              <a:rPr sz="1500" b="0" i="0">
                <a:solidFill>
                  <a:srgbClr val="A7B2B0"/>
                </a:solidFill>
                <a:latin typeface="Segoe UI"/>
              </a:rPr>
              <a:t>Un watchdog de modelo que lee un flow en ejecución: OK o ATTENTION NEEDED.</a:t>
            </a:r>
          </a:p>
        </p:txBody>
      </p:sp>
      <p:sp>
        <p:nvSpPr>
          <p:cNvPr id="20" name="Rounded Rectangle 19"/>
          <p:cNvSpPr/>
          <p:nvPr/>
        </p:nvSpPr>
        <p:spPr>
          <a:xfrm>
            <a:off x="9024899" y="2279904"/>
            <a:ext cx="2599867" cy="1752600"/>
          </a:xfrm>
          <a:prstGeom prst="roundRect">
            <a:avLst>
              <a:gd name="adj" fmla="val 6260"/>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ectangle 20"/>
          <p:cNvSpPr/>
          <p:nvPr/>
        </p:nvSpPr>
        <p:spPr>
          <a:xfrm>
            <a:off x="9189491" y="2407920"/>
            <a:ext cx="502920" cy="45720"/>
          </a:xfrm>
          <a:prstGeom prst="rect">
            <a:avLst/>
          </a:prstGeom>
          <a:solidFill>
            <a:srgbClr val="E2B4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9152915" y="2499360"/>
            <a:ext cx="2343835" cy="399288"/>
          </a:xfrm>
          <a:prstGeom prst="rect">
            <a:avLst/>
          </a:prstGeom>
          <a:noFill/>
        </p:spPr>
        <p:txBody>
          <a:bodyPr wrap="square" lIns="45720" rIns="45720" tIns="27432" bIns="27432" anchor="t">
            <a:noAutofit/>
          </a:bodyPr>
          <a:lstStyle/>
          <a:p>
            <a:pPr algn="l">
              <a:lnSpc>
                <a:spcPct val="100000"/>
              </a:lnSpc>
            </a:pPr>
            <a:r>
              <a:rPr sz="1900" b="1" i="0">
                <a:solidFill>
                  <a:srgbClr val="F7F2E8"/>
                </a:solidFill>
                <a:latin typeface="Palatino Linotype"/>
              </a:rPr>
              <a:t>FlowBacker</a:t>
            </a:r>
          </a:p>
        </p:txBody>
      </p:sp>
      <p:sp>
        <p:nvSpPr>
          <p:cNvPr id="23" name="TextBox 22"/>
          <p:cNvSpPr txBox="1"/>
          <p:nvPr/>
        </p:nvSpPr>
        <p:spPr>
          <a:xfrm>
            <a:off x="9152915" y="2898648"/>
            <a:ext cx="2343835" cy="1042415"/>
          </a:xfrm>
          <a:prstGeom prst="rect">
            <a:avLst/>
          </a:prstGeom>
          <a:noFill/>
        </p:spPr>
        <p:txBody>
          <a:bodyPr wrap="square" lIns="45720" rIns="45720" tIns="27432" bIns="27432" anchor="t">
            <a:noAutofit/>
          </a:bodyPr>
          <a:lstStyle/>
          <a:p>
            <a:pPr algn="l">
              <a:lnSpc>
                <a:spcPct val="100000"/>
              </a:lnSpc>
            </a:pPr>
            <a:r>
              <a:rPr sz="1500" b="0" i="0">
                <a:solidFill>
                  <a:srgbClr val="A7B2B0"/>
                </a:solidFill>
                <a:latin typeface="Segoe UI"/>
              </a:rPr>
              <a:t>Hace backup de los logs y las configuraciones de una sesión antes de la limpieza.</a:t>
            </a:r>
          </a:p>
        </p:txBody>
      </p:sp>
      <p:sp>
        <p:nvSpPr>
          <p:cNvPr id="24" name="Rounded Rectangle 23"/>
          <p:cNvSpPr/>
          <p:nvPr/>
        </p:nvSpPr>
        <p:spPr>
          <a:xfrm>
            <a:off x="566928" y="4251960"/>
            <a:ext cx="2599867" cy="1752600"/>
          </a:xfrm>
          <a:prstGeom prst="roundRect">
            <a:avLst>
              <a:gd name="adj" fmla="val 6260"/>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ectangle 24"/>
          <p:cNvSpPr/>
          <p:nvPr/>
        </p:nvSpPr>
        <p:spPr>
          <a:xfrm>
            <a:off x="731520" y="4379976"/>
            <a:ext cx="502920" cy="45720"/>
          </a:xfrm>
          <a:prstGeom prst="rect">
            <a:avLst/>
          </a:prstGeom>
          <a:solidFill>
            <a:srgbClr val="E2B4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694944" y="4471416"/>
            <a:ext cx="2343835" cy="399288"/>
          </a:xfrm>
          <a:prstGeom prst="rect">
            <a:avLst/>
          </a:prstGeom>
          <a:noFill/>
        </p:spPr>
        <p:txBody>
          <a:bodyPr wrap="square" lIns="45720" rIns="45720" tIns="27432" bIns="27432" anchor="t">
            <a:noAutofit/>
          </a:bodyPr>
          <a:lstStyle/>
          <a:p>
            <a:pPr algn="l">
              <a:lnSpc>
                <a:spcPct val="100000"/>
              </a:lnSpc>
            </a:pPr>
            <a:r>
              <a:rPr sz="1900" b="1" i="0">
                <a:solidFill>
                  <a:srgbClr val="F7F2E8"/>
                </a:solidFill>
                <a:latin typeface="Palatino Linotype"/>
              </a:rPr>
              <a:t>Prompter</a:t>
            </a:r>
          </a:p>
        </p:txBody>
      </p:sp>
      <p:sp>
        <p:nvSpPr>
          <p:cNvPr id="27" name="TextBox 26"/>
          <p:cNvSpPr txBox="1"/>
          <p:nvPr/>
        </p:nvSpPr>
        <p:spPr>
          <a:xfrm>
            <a:off x="694944" y="4870704"/>
            <a:ext cx="2343835" cy="1042415"/>
          </a:xfrm>
          <a:prstGeom prst="rect">
            <a:avLst/>
          </a:prstGeom>
          <a:noFill/>
        </p:spPr>
        <p:txBody>
          <a:bodyPr wrap="square" lIns="45720" rIns="45720" tIns="27432" bIns="27432" anchor="t">
            <a:noAutofit/>
          </a:bodyPr>
          <a:lstStyle/>
          <a:p>
            <a:pPr algn="l">
              <a:lnSpc>
                <a:spcPct val="100000"/>
              </a:lnSpc>
            </a:pPr>
            <a:r>
              <a:rPr sz="1500" b="0" i="0">
                <a:solidFill>
                  <a:srgbClr val="A7B2B0"/>
                </a:solidFill>
                <a:latin typeface="Segoe UI"/>
              </a:rPr>
              <a:t>Envía un prompt a un modelo y registra una respuesta estructurada.</a:t>
            </a:r>
          </a:p>
        </p:txBody>
      </p:sp>
      <p:sp>
        <p:nvSpPr>
          <p:cNvPr id="28" name="Rounded Rectangle 27"/>
          <p:cNvSpPr/>
          <p:nvPr/>
        </p:nvSpPr>
        <p:spPr>
          <a:xfrm>
            <a:off x="3386251" y="4251960"/>
            <a:ext cx="2599867" cy="1752600"/>
          </a:xfrm>
          <a:prstGeom prst="roundRect">
            <a:avLst>
              <a:gd name="adj" fmla="val 6260"/>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Rectangle 28"/>
          <p:cNvSpPr/>
          <p:nvPr/>
        </p:nvSpPr>
        <p:spPr>
          <a:xfrm>
            <a:off x="3550843" y="4379976"/>
            <a:ext cx="502920" cy="45720"/>
          </a:xfrm>
          <a:prstGeom prst="rect">
            <a:avLst/>
          </a:prstGeom>
          <a:solidFill>
            <a:srgbClr val="E2B4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3514267" y="4471416"/>
            <a:ext cx="2343835" cy="399288"/>
          </a:xfrm>
          <a:prstGeom prst="rect">
            <a:avLst/>
          </a:prstGeom>
          <a:noFill/>
        </p:spPr>
        <p:txBody>
          <a:bodyPr wrap="square" lIns="45720" rIns="45720" tIns="27432" bIns="27432" anchor="t">
            <a:noAutofit/>
          </a:bodyPr>
          <a:lstStyle/>
          <a:p>
            <a:pPr algn="l">
              <a:lnSpc>
                <a:spcPct val="100000"/>
              </a:lnSpc>
            </a:pPr>
            <a:r>
              <a:rPr sz="1900" b="1" i="0">
                <a:solidFill>
                  <a:srgbClr val="F7F2E8"/>
                </a:solidFill>
                <a:latin typeface="Palatino Linotype"/>
              </a:rPr>
              <a:t>Summarizer</a:t>
            </a:r>
          </a:p>
        </p:txBody>
      </p:sp>
      <p:sp>
        <p:nvSpPr>
          <p:cNvPr id="31" name="TextBox 30"/>
          <p:cNvSpPr txBox="1"/>
          <p:nvPr/>
        </p:nvSpPr>
        <p:spPr>
          <a:xfrm>
            <a:off x="3514267" y="4870704"/>
            <a:ext cx="2343835" cy="1042415"/>
          </a:xfrm>
          <a:prstGeom prst="rect">
            <a:avLst/>
          </a:prstGeom>
          <a:noFill/>
        </p:spPr>
        <p:txBody>
          <a:bodyPr wrap="square" lIns="45720" rIns="45720" tIns="27432" bIns="27432" anchor="t">
            <a:noAutofit/>
          </a:bodyPr>
          <a:lstStyle/>
          <a:p>
            <a:pPr algn="l">
              <a:lnSpc>
                <a:spcPct val="100000"/>
              </a:lnSpc>
            </a:pPr>
            <a:r>
              <a:rPr sz="1500" b="0" i="0">
                <a:solidFill>
                  <a:srgbClr val="A7B2B0"/>
                </a:solidFill>
                <a:latin typeface="Segoe UI"/>
              </a:rPr>
              <a:t>Resume el texto una vez, o vigila los logs y dispara ante un evento detectado.</a:t>
            </a:r>
          </a:p>
        </p:txBody>
      </p:sp>
      <p:sp>
        <p:nvSpPr>
          <p:cNvPr id="32" name="Rounded Rectangle 31"/>
          <p:cNvSpPr/>
          <p:nvPr/>
        </p:nvSpPr>
        <p:spPr>
          <a:xfrm>
            <a:off x="6205575" y="4251960"/>
            <a:ext cx="2599867" cy="1752600"/>
          </a:xfrm>
          <a:prstGeom prst="roundRect">
            <a:avLst>
              <a:gd name="adj" fmla="val 6260"/>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Rectangle 32"/>
          <p:cNvSpPr/>
          <p:nvPr/>
        </p:nvSpPr>
        <p:spPr>
          <a:xfrm>
            <a:off x="6370167" y="4379976"/>
            <a:ext cx="502920" cy="45720"/>
          </a:xfrm>
          <a:prstGeom prst="rect">
            <a:avLst/>
          </a:prstGeom>
          <a:solidFill>
            <a:srgbClr val="E2B4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6333591" y="4471416"/>
            <a:ext cx="2343835" cy="399288"/>
          </a:xfrm>
          <a:prstGeom prst="rect">
            <a:avLst/>
          </a:prstGeom>
          <a:noFill/>
        </p:spPr>
        <p:txBody>
          <a:bodyPr wrap="square" lIns="45720" rIns="45720" tIns="27432" bIns="27432" anchor="t">
            <a:noAutofit/>
          </a:bodyPr>
          <a:lstStyle/>
          <a:p>
            <a:pPr algn="l">
              <a:lnSpc>
                <a:spcPct val="100000"/>
              </a:lnSpc>
            </a:pPr>
            <a:r>
              <a:rPr sz="1900" b="1" i="0">
                <a:solidFill>
                  <a:srgbClr val="F7F2E8"/>
                </a:solidFill>
                <a:latin typeface="Palatino Linotype"/>
              </a:rPr>
              <a:t>ACPXer</a:t>
            </a:r>
          </a:p>
        </p:txBody>
      </p:sp>
      <p:sp>
        <p:nvSpPr>
          <p:cNvPr id="35" name="TextBox 34"/>
          <p:cNvSpPr txBox="1"/>
          <p:nvPr/>
        </p:nvSpPr>
        <p:spPr>
          <a:xfrm>
            <a:off x="6333591" y="4870704"/>
            <a:ext cx="2343835" cy="1042415"/>
          </a:xfrm>
          <a:prstGeom prst="rect">
            <a:avLst/>
          </a:prstGeom>
          <a:noFill/>
        </p:spPr>
        <p:txBody>
          <a:bodyPr wrap="square" lIns="45720" rIns="45720" tIns="27432" bIns="27432" anchor="t">
            <a:noAutofit/>
          </a:bodyPr>
          <a:lstStyle/>
          <a:p>
            <a:pPr algn="l">
              <a:lnSpc>
                <a:spcPct val="100000"/>
              </a:lnSpc>
            </a:pPr>
            <a:r>
              <a:rPr sz="1500" b="0" i="0">
                <a:solidFill>
                  <a:srgbClr val="A7B2B0"/>
                </a:solidFill>
                <a:latin typeface="Segoe UI"/>
              </a:rPr>
              <a:t>Ejecuta un turno de un CLI de coding-agent externo en el canvas y captura su respuesta.</a:t>
            </a:r>
          </a:p>
        </p:txBody>
      </p:sp>
      <p:sp>
        <p:nvSpPr>
          <p:cNvPr id="36" name="Rounded Rectangle 35"/>
          <p:cNvSpPr/>
          <p:nvPr/>
        </p:nvSpPr>
        <p:spPr>
          <a:xfrm>
            <a:off x="9024899" y="4251960"/>
            <a:ext cx="2599867" cy="1752600"/>
          </a:xfrm>
          <a:prstGeom prst="roundRect">
            <a:avLst>
              <a:gd name="adj" fmla="val 6260"/>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Rectangle 36"/>
          <p:cNvSpPr/>
          <p:nvPr/>
        </p:nvSpPr>
        <p:spPr>
          <a:xfrm>
            <a:off x="9189491" y="4379976"/>
            <a:ext cx="502920" cy="45720"/>
          </a:xfrm>
          <a:prstGeom prst="rect">
            <a:avLst/>
          </a:prstGeom>
          <a:solidFill>
            <a:srgbClr val="E2B4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8" name="TextBox 37"/>
          <p:cNvSpPr txBox="1"/>
          <p:nvPr/>
        </p:nvSpPr>
        <p:spPr>
          <a:xfrm>
            <a:off x="9152915" y="4471416"/>
            <a:ext cx="2343835" cy="399288"/>
          </a:xfrm>
          <a:prstGeom prst="rect">
            <a:avLst/>
          </a:prstGeom>
          <a:noFill/>
        </p:spPr>
        <p:txBody>
          <a:bodyPr wrap="square" lIns="45720" rIns="45720" tIns="27432" bIns="27432" anchor="t">
            <a:noAutofit/>
          </a:bodyPr>
          <a:lstStyle/>
          <a:p>
            <a:pPr algn="l">
              <a:lnSpc>
                <a:spcPct val="100000"/>
              </a:lnSpc>
            </a:pPr>
            <a:r>
              <a:rPr sz="1900" b="1" i="0">
                <a:solidFill>
                  <a:srgbClr val="F7F2E8"/>
                </a:solidFill>
                <a:latin typeface="Palatino Linotype"/>
              </a:rPr>
              <a:t>MCP Doctor</a:t>
            </a:r>
          </a:p>
        </p:txBody>
      </p:sp>
      <p:sp>
        <p:nvSpPr>
          <p:cNvPr id="39" name="TextBox 38"/>
          <p:cNvSpPr txBox="1"/>
          <p:nvPr/>
        </p:nvSpPr>
        <p:spPr>
          <a:xfrm>
            <a:off x="9152915" y="4870704"/>
            <a:ext cx="2343835" cy="1042415"/>
          </a:xfrm>
          <a:prstGeom prst="rect">
            <a:avLst/>
          </a:prstGeom>
          <a:noFill/>
        </p:spPr>
        <p:txBody>
          <a:bodyPr wrap="square" lIns="45720" rIns="45720" tIns="27432" bIns="27432" anchor="t">
            <a:noAutofit/>
          </a:bodyPr>
          <a:lstStyle/>
          <a:p>
            <a:pPr algn="l">
              <a:lnSpc>
                <a:spcPct val="100000"/>
              </a:lnSpc>
            </a:pPr>
            <a:r>
              <a:rPr sz="1500" b="0" i="0">
                <a:solidFill>
                  <a:srgbClr val="A7B2B0"/>
                </a:solidFill>
                <a:latin typeface="Segoe UI"/>
              </a:rPr>
              <a:t>Diagnostica un servidor MCP externo en papel, antes de cualquier conexión en vivo.</a:t>
            </a:r>
          </a:p>
        </p:txBody>
      </p:sp>
      <p:cxnSp>
        <p:nvCxnSpPr>
          <p:cNvPr id="40" name="Connector 39"/>
          <p:cNvCxnSpPr/>
          <p:nvPr/>
        </p:nvCxnSpPr>
        <p:spPr>
          <a:xfrm>
            <a:off x="566928" y="6373368"/>
            <a:ext cx="11057839" cy="0"/>
          </a:xfrm>
          <a:prstGeom prst="line">
            <a:avLst/>
          </a:prstGeom>
          <a:ln w="7620">
            <a:solidFill>
              <a:srgbClr val="2A3A40"/>
            </a:solidFill>
          </a:ln>
        </p:spPr>
        <p:style>
          <a:lnRef idx="2">
            <a:schemeClr val="accent1"/>
          </a:lnRef>
          <a:fillRef idx="0">
            <a:schemeClr val="accent1"/>
          </a:fillRef>
          <a:effectRef idx="1">
            <a:schemeClr val="accent1"/>
          </a:effectRef>
          <a:fontRef idx="minor">
            <a:schemeClr val="tx1"/>
          </a:fontRef>
        </p:style>
      </p:cxnSp>
      <p:sp>
        <p:nvSpPr>
          <p:cNvPr id="41" name="TextBox 40"/>
          <p:cNvSpPr txBox="1"/>
          <p:nvPr/>
        </p:nvSpPr>
        <p:spPr>
          <a:xfrm>
            <a:off x="566928" y="6419088"/>
            <a:ext cx="6858000" cy="274320"/>
          </a:xfrm>
          <a:prstGeom prst="rect">
            <a:avLst/>
          </a:prstGeom>
          <a:noFill/>
        </p:spPr>
        <p:txBody>
          <a:bodyPr wrap="square" lIns="45720" rIns="45720" tIns="27432" bIns="27432" anchor="t">
            <a:noAutofit/>
          </a:bodyPr>
          <a:lstStyle/>
          <a:p>
            <a:pPr algn="l">
              <a:lnSpc>
                <a:spcPct val="100000"/>
              </a:lnSpc>
            </a:pPr>
            <a:r>
              <a:rPr sz="850" b="0" i="0" spc="120">
                <a:solidFill>
                  <a:srgbClr val="A7B2B0"/>
                </a:solidFill>
                <a:latin typeface="Segoe UI Semibold"/>
              </a:rPr>
              <a:t>TLAMATINI  ·  IV · EL BESTIARIO</a:t>
            </a:r>
          </a:p>
        </p:txBody>
      </p:sp>
      <p:sp>
        <p:nvSpPr>
          <p:cNvPr id="42" name="TextBox 41"/>
          <p:cNvSpPr txBox="1"/>
          <p:nvPr/>
        </p:nvSpPr>
        <p:spPr>
          <a:xfrm>
            <a:off x="8698687" y="6419088"/>
            <a:ext cx="2926080" cy="274320"/>
          </a:xfrm>
          <a:prstGeom prst="rect">
            <a:avLst/>
          </a:prstGeom>
          <a:noFill/>
        </p:spPr>
        <p:txBody>
          <a:bodyPr wrap="square" lIns="45720" rIns="45720" tIns="27432" bIns="27432" anchor="t">
            <a:noAutofit/>
          </a:bodyPr>
          <a:lstStyle/>
          <a:p>
            <a:pPr algn="r">
              <a:lnSpc>
                <a:spcPct val="100000"/>
              </a:lnSpc>
            </a:pPr>
            <a:r>
              <a:rPr sz="850" b="0" i="0" spc="100">
                <a:solidFill>
                  <a:srgbClr val="A7B2B0"/>
                </a:solidFill>
                <a:latin typeface="Segoe UI Semibold"/>
              </a:rPr>
              <a:t>v1.91.1   ·   69</a:t>
            </a:r>
          </a:p>
        </p:txBody>
      </p:sp>
    </p:spTree>
  </p:cSld>
  <p:clrMapOvr>
    <a:masterClrMapping/>
  </p:clrMapOvr>
</p:sld>
</file>

<file path=ppt/slides/slide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content.png"/>
          <p:cNvPicPr>
            <a:picLocks noChangeAspect="1"/>
          </p:cNvPicPr>
          <p:nvPr/>
        </p:nvPicPr>
        <p:blipFill>
          <a:blip r:embed="rId2"/>
          <a:stretch>
            <a:fillRect/>
          </a:stretch>
        </p:blipFill>
        <p:spPr>
          <a:xfrm>
            <a:off x="0" y="0"/>
            <a:ext cx="12191695" cy="6858000"/>
          </a:xfrm>
          <a:prstGeom prst="rect">
            <a:avLst/>
          </a:prstGeom>
        </p:spPr>
      </p:pic>
      <p:sp>
        <p:nvSpPr>
          <p:cNvPr id="3" name="Diamond 2"/>
          <p:cNvSpPr/>
          <p:nvPr/>
        </p:nvSpPr>
        <p:spPr>
          <a:xfrm>
            <a:off x="566928" y="457200"/>
            <a:ext cx="100584" cy="100584"/>
          </a:xfrm>
          <a:prstGeom prst="diamond">
            <a:avLst/>
          </a:prstGeom>
          <a:solidFill>
            <a:srgbClr val="D25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49808" y="365760"/>
            <a:ext cx="8229600" cy="292608"/>
          </a:xfrm>
          <a:prstGeom prst="rect">
            <a:avLst/>
          </a:prstGeom>
          <a:noFill/>
        </p:spPr>
        <p:txBody>
          <a:bodyPr wrap="square" lIns="45720" rIns="45720" tIns="27432" bIns="27432" anchor="t">
            <a:noAutofit/>
          </a:bodyPr>
          <a:lstStyle/>
          <a:p>
            <a:pPr algn="l">
              <a:lnSpc>
                <a:spcPct val="100000"/>
              </a:lnSpc>
            </a:pPr>
            <a:r>
              <a:rPr sz="1100" b="0" i="0" spc="240">
                <a:solidFill>
                  <a:srgbClr val="C98457"/>
                </a:solidFill>
                <a:latin typeface="Segoe UI Semibold"/>
              </a:rPr>
              <a:t>FAMILIA DE AGENTS  ·  14 AGENTS</a:t>
            </a:r>
          </a:p>
        </p:txBody>
      </p:sp>
      <p:sp>
        <p:nvSpPr>
          <p:cNvPr id="5" name="TextBox 4"/>
          <p:cNvSpPr txBox="1"/>
          <p:nvPr/>
        </p:nvSpPr>
        <p:spPr>
          <a:xfrm>
            <a:off x="539496" y="676656"/>
            <a:ext cx="11057839" cy="658368"/>
          </a:xfrm>
          <a:prstGeom prst="rect">
            <a:avLst/>
          </a:prstGeom>
          <a:noFill/>
        </p:spPr>
        <p:txBody>
          <a:bodyPr wrap="square" lIns="45720" rIns="45720" tIns="27432" bIns="27432" anchor="t">
            <a:noAutofit/>
          </a:bodyPr>
          <a:lstStyle/>
          <a:p>
            <a:pPr algn="l">
              <a:lnSpc>
                <a:spcPct val="100000"/>
              </a:lnSpc>
            </a:pPr>
            <a:r>
              <a:rPr sz="3100" b="0" i="0">
                <a:solidFill>
                  <a:srgbClr val="F7F2E8"/>
                </a:solidFill>
                <a:latin typeface="Palatino Linotype"/>
              </a:rPr>
              <a:t>Código, archivos y shell  (1/2)</a:t>
            </a:r>
          </a:p>
        </p:txBody>
      </p:sp>
      <p:sp>
        <p:nvSpPr>
          <p:cNvPr id="6" name="Rectangle 5"/>
          <p:cNvSpPr/>
          <p:nvPr/>
        </p:nvSpPr>
        <p:spPr>
          <a:xfrm>
            <a:off x="566928" y="1344168"/>
            <a:ext cx="822960" cy="36576"/>
          </a:xfrm>
          <a:prstGeom prst="rect">
            <a:avLst/>
          </a:prstGeom>
          <a:solidFill>
            <a:srgbClr val="D25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566928" y="1444752"/>
            <a:ext cx="10692079" cy="585216"/>
          </a:xfrm>
          <a:prstGeom prst="rect">
            <a:avLst/>
          </a:prstGeom>
          <a:noFill/>
        </p:spPr>
        <p:txBody>
          <a:bodyPr wrap="square" lIns="45720" rIns="45720" tIns="27432" bIns="27432" anchor="t">
            <a:noAutofit/>
          </a:bodyPr>
          <a:lstStyle/>
          <a:p>
            <a:pPr algn="l">
              <a:lnSpc>
                <a:spcPct val="100000"/>
              </a:lnSpc>
            </a:pPr>
            <a:r>
              <a:rPr sz="1450" b="0" i="0">
                <a:solidFill>
                  <a:srgbClr val="A7B2B0"/>
                </a:solidFill>
                <a:latin typeface="Segoe UI Semilight"/>
              </a:rPr>
              <a:t>Encuentra, lee, cambia y ejecuta.</a:t>
            </a:r>
          </a:p>
        </p:txBody>
      </p:sp>
      <p:sp>
        <p:nvSpPr>
          <p:cNvPr id="8" name="Rounded Rectangle 7"/>
          <p:cNvSpPr/>
          <p:nvPr/>
        </p:nvSpPr>
        <p:spPr>
          <a:xfrm>
            <a:off x="566928" y="2084831"/>
            <a:ext cx="2599867" cy="1947672"/>
          </a:xfrm>
          <a:prstGeom prst="roundRect">
            <a:avLst>
              <a:gd name="adj" fmla="val 5633"/>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ectangle 8"/>
          <p:cNvSpPr/>
          <p:nvPr/>
        </p:nvSpPr>
        <p:spPr>
          <a:xfrm>
            <a:off x="731520" y="2212848"/>
            <a:ext cx="502920" cy="45720"/>
          </a:xfrm>
          <a:prstGeom prst="rect">
            <a:avLst/>
          </a:prstGeom>
          <a:solidFill>
            <a:srgbClr val="46D2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694944" y="2304287"/>
            <a:ext cx="2343835" cy="399288"/>
          </a:xfrm>
          <a:prstGeom prst="rect">
            <a:avLst/>
          </a:prstGeom>
          <a:noFill/>
        </p:spPr>
        <p:txBody>
          <a:bodyPr wrap="square" lIns="45720" rIns="45720" tIns="27432" bIns="27432" anchor="t">
            <a:noAutofit/>
          </a:bodyPr>
          <a:lstStyle/>
          <a:p>
            <a:pPr algn="l">
              <a:lnSpc>
                <a:spcPct val="100000"/>
              </a:lnSpc>
            </a:pPr>
            <a:r>
              <a:rPr sz="1900" b="1" i="0">
                <a:solidFill>
                  <a:srgbClr val="F7F2E8"/>
                </a:solidFill>
                <a:latin typeface="Palatino Linotype"/>
              </a:rPr>
              <a:t>Executer</a:t>
            </a:r>
          </a:p>
        </p:txBody>
      </p:sp>
      <p:sp>
        <p:nvSpPr>
          <p:cNvPr id="11" name="TextBox 10"/>
          <p:cNvSpPr txBox="1"/>
          <p:nvPr/>
        </p:nvSpPr>
        <p:spPr>
          <a:xfrm>
            <a:off x="694944" y="2703575"/>
            <a:ext cx="2343835" cy="1237488"/>
          </a:xfrm>
          <a:prstGeom prst="rect">
            <a:avLst/>
          </a:prstGeom>
          <a:noFill/>
        </p:spPr>
        <p:txBody>
          <a:bodyPr wrap="square" lIns="45720" rIns="45720" tIns="27432" bIns="27432" anchor="t">
            <a:noAutofit/>
          </a:bodyPr>
          <a:lstStyle/>
          <a:p>
            <a:pPr algn="l">
              <a:lnSpc>
                <a:spcPct val="100000"/>
              </a:lnSpc>
            </a:pPr>
            <a:r>
              <a:rPr sz="1500" b="0" i="0">
                <a:solidFill>
                  <a:srgbClr val="A7B2B0"/>
                </a:solidFill>
                <a:latin typeface="Segoe UI"/>
              </a:rPr>
              <a:t>Ejecuta un comando de shell, opcionalmente en su propia consola visible.</a:t>
            </a:r>
          </a:p>
        </p:txBody>
      </p:sp>
      <p:sp>
        <p:nvSpPr>
          <p:cNvPr id="12" name="Rounded Rectangle 11"/>
          <p:cNvSpPr/>
          <p:nvPr/>
        </p:nvSpPr>
        <p:spPr>
          <a:xfrm>
            <a:off x="3386251" y="2084831"/>
            <a:ext cx="2599867" cy="1947672"/>
          </a:xfrm>
          <a:prstGeom prst="roundRect">
            <a:avLst>
              <a:gd name="adj" fmla="val 5633"/>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3550843" y="2212848"/>
            <a:ext cx="502920" cy="45720"/>
          </a:xfrm>
          <a:prstGeom prst="rect">
            <a:avLst/>
          </a:prstGeom>
          <a:solidFill>
            <a:srgbClr val="46D2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3514267" y="2304287"/>
            <a:ext cx="2343835" cy="399288"/>
          </a:xfrm>
          <a:prstGeom prst="rect">
            <a:avLst/>
          </a:prstGeom>
          <a:noFill/>
        </p:spPr>
        <p:txBody>
          <a:bodyPr wrap="square" lIns="45720" rIns="45720" tIns="27432" bIns="27432" anchor="t">
            <a:noAutofit/>
          </a:bodyPr>
          <a:lstStyle/>
          <a:p>
            <a:pPr algn="l">
              <a:lnSpc>
                <a:spcPct val="100000"/>
              </a:lnSpc>
            </a:pPr>
            <a:r>
              <a:rPr sz="1900" b="1" i="0">
                <a:solidFill>
                  <a:srgbClr val="F7F2E8"/>
                </a:solidFill>
                <a:latin typeface="Palatino Linotype"/>
              </a:rPr>
              <a:t>Pythonxer</a:t>
            </a:r>
          </a:p>
        </p:txBody>
      </p:sp>
      <p:sp>
        <p:nvSpPr>
          <p:cNvPr id="15" name="TextBox 14"/>
          <p:cNvSpPr txBox="1"/>
          <p:nvPr/>
        </p:nvSpPr>
        <p:spPr>
          <a:xfrm>
            <a:off x="3514267" y="2703575"/>
            <a:ext cx="2343835" cy="1237488"/>
          </a:xfrm>
          <a:prstGeom prst="rect">
            <a:avLst/>
          </a:prstGeom>
          <a:noFill/>
        </p:spPr>
        <p:txBody>
          <a:bodyPr wrap="square" lIns="45720" rIns="45720" tIns="27432" bIns="27432" anchor="t">
            <a:noAutofit/>
          </a:bodyPr>
          <a:lstStyle/>
          <a:p>
            <a:pPr algn="l">
              <a:lnSpc>
                <a:spcPct val="100000"/>
              </a:lnSpc>
            </a:pPr>
            <a:r>
              <a:rPr sz="1500" b="0" i="0">
                <a:solidFill>
                  <a:srgbClr val="A7B2B0"/>
                </a:solidFill>
                <a:latin typeface="Segoe UI"/>
              </a:rPr>
              <a:t>Ejecuta Python inline detrás de una compuerta de corrección con compile() y Ruff.</a:t>
            </a:r>
          </a:p>
        </p:txBody>
      </p:sp>
      <p:sp>
        <p:nvSpPr>
          <p:cNvPr id="16" name="Rounded Rectangle 15"/>
          <p:cNvSpPr/>
          <p:nvPr/>
        </p:nvSpPr>
        <p:spPr>
          <a:xfrm>
            <a:off x="6205575" y="2084831"/>
            <a:ext cx="2599867" cy="1947672"/>
          </a:xfrm>
          <a:prstGeom prst="roundRect">
            <a:avLst>
              <a:gd name="adj" fmla="val 5633"/>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6370167" y="2212848"/>
            <a:ext cx="502920" cy="45720"/>
          </a:xfrm>
          <a:prstGeom prst="rect">
            <a:avLst/>
          </a:prstGeom>
          <a:solidFill>
            <a:srgbClr val="46D2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6333591" y="2304287"/>
            <a:ext cx="2343835" cy="399288"/>
          </a:xfrm>
          <a:prstGeom prst="rect">
            <a:avLst/>
          </a:prstGeom>
          <a:noFill/>
        </p:spPr>
        <p:txBody>
          <a:bodyPr wrap="square" lIns="45720" rIns="45720" tIns="27432" bIns="27432" anchor="t">
            <a:noAutofit/>
          </a:bodyPr>
          <a:lstStyle/>
          <a:p>
            <a:pPr algn="l">
              <a:lnSpc>
                <a:spcPct val="100000"/>
              </a:lnSpc>
            </a:pPr>
            <a:r>
              <a:rPr sz="1900" b="1" i="0">
                <a:solidFill>
                  <a:srgbClr val="F7F2E8"/>
                </a:solidFill>
                <a:latin typeface="Palatino Linotype"/>
              </a:rPr>
              <a:t>Terminater</a:t>
            </a:r>
          </a:p>
        </p:txBody>
      </p:sp>
      <p:sp>
        <p:nvSpPr>
          <p:cNvPr id="19" name="TextBox 18"/>
          <p:cNvSpPr txBox="1"/>
          <p:nvPr/>
        </p:nvSpPr>
        <p:spPr>
          <a:xfrm>
            <a:off x="6333591" y="2703575"/>
            <a:ext cx="2343835" cy="1237488"/>
          </a:xfrm>
          <a:prstGeom prst="rect">
            <a:avLst/>
          </a:prstGeom>
          <a:noFill/>
        </p:spPr>
        <p:txBody>
          <a:bodyPr wrap="square" lIns="45720" rIns="45720" tIns="27432" bIns="27432" anchor="t">
            <a:noAutofit/>
          </a:bodyPr>
          <a:lstStyle/>
          <a:p>
            <a:pPr algn="l">
              <a:lnSpc>
                <a:spcPct val="100000"/>
              </a:lnSpc>
            </a:pPr>
            <a:r>
              <a:rPr sz="1500" b="0" i="0">
                <a:solidFill>
                  <a:srgbClr val="A7B2B0"/>
                </a:solidFill>
                <a:latin typeface="Segoe UI"/>
              </a:rPr>
              <a:t>Escribe comandos en una terminal real de CMD o PowerShell que el usuario observa, y puede entregar el teclado.</a:t>
            </a:r>
          </a:p>
        </p:txBody>
      </p:sp>
      <p:sp>
        <p:nvSpPr>
          <p:cNvPr id="20" name="Rounded Rectangle 19"/>
          <p:cNvSpPr/>
          <p:nvPr/>
        </p:nvSpPr>
        <p:spPr>
          <a:xfrm>
            <a:off x="9024899" y="2084831"/>
            <a:ext cx="2599867" cy="1947672"/>
          </a:xfrm>
          <a:prstGeom prst="roundRect">
            <a:avLst>
              <a:gd name="adj" fmla="val 5633"/>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ectangle 20"/>
          <p:cNvSpPr/>
          <p:nvPr/>
        </p:nvSpPr>
        <p:spPr>
          <a:xfrm>
            <a:off x="9189491" y="2212848"/>
            <a:ext cx="502920" cy="45720"/>
          </a:xfrm>
          <a:prstGeom prst="rect">
            <a:avLst/>
          </a:prstGeom>
          <a:solidFill>
            <a:srgbClr val="46D2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9152915" y="2304287"/>
            <a:ext cx="2343835" cy="399288"/>
          </a:xfrm>
          <a:prstGeom prst="rect">
            <a:avLst/>
          </a:prstGeom>
          <a:noFill/>
        </p:spPr>
        <p:txBody>
          <a:bodyPr wrap="square" lIns="45720" rIns="45720" tIns="27432" bIns="27432" anchor="t">
            <a:noAutofit/>
          </a:bodyPr>
          <a:lstStyle/>
          <a:p>
            <a:pPr algn="l">
              <a:lnSpc>
                <a:spcPct val="100000"/>
              </a:lnSpc>
            </a:pPr>
            <a:r>
              <a:rPr sz="1900" b="1" i="0">
                <a:solidFill>
                  <a:srgbClr val="F7F2E8"/>
                </a:solidFill>
                <a:latin typeface="Palatino Linotype"/>
              </a:rPr>
              <a:t>Editor</a:t>
            </a:r>
          </a:p>
        </p:txBody>
      </p:sp>
      <p:sp>
        <p:nvSpPr>
          <p:cNvPr id="23" name="TextBox 22"/>
          <p:cNvSpPr txBox="1"/>
          <p:nvPr/>
        </p:nvSpPr>
        <p:spPr>
          <a:xfrm>
            <a:off x="9152915" y="2703575"/>
            <a:ext cx="2343835" cy="1237488"/>
          </a:xfrm>
          <a:prstGeom prst="rect">
            <a:avLst/>
          </a:prstGeom>
          <a:noFill/>
        </p:spPr>
        <p:txBody>
          <a:bodyPr wrap="square" lIns="45720" rIns="45720" tIns="27432" bIns="27432" anchor="t">
            <a:noAutofit/>
          </a:bodyPr>
          <a:lstStyle/>
          <a:p>
            <a:pPr algn="l">
              <a:lnSpc>
                <a:spcPct val="100000"/>
              </a:lnSpc>
            </a:pPr>
            <a:r>
              <a:rPr sz="1500" b="0" i="0">
                <a:solidFill>
                  <a:srgbClr val="A7B2B0"/>
                </a:solidFill>
                <a:latin typeface="Segoe UI"/>
              </a:rPr>
              <a:t>Buscar-y-reemplazar byte-exacto en un archivo; rechaza una coincidencia ambigua.</a:t>
            </a:r>
          </a:p>
        </p:txBody>
      </p:sp>
      <p:sp>
        <p:nvSpPr>
          <p:cNvPr id="24" name="Rounded Rectangle 23"/>
          <p:cNvSpPr/>
          <p:nvPr/>
        </p:nvSpPr>
        <p:spPr>
          <a:xfrm>
            <a:off x="566928" y="4251960"/>
            <a:ext cx="2599867" cy="1947672"/>
          </a:xfrm>
          <a:prstGeom prst="roundRect">
            <a:avLst>
              <a:gd name="adj" fmla="val 5633"/>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ectangle 24"/>
          <p:cNvSpPr/>
          <p:nvPr/>
        </p:nvSpPr>
        <p:spPr>
          <a:xfrm>
            <a:off x="731520" y="4379976"/>
            <a:ext cx="502920" cy="45720"/>
          </a:xfrm>
          <a:prstGeom prst="rect">
            <a:avLst/>
          </a:prstGeom>
          <a:solidFill>
            <a:srgbClr val="46D2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694944" y="4471416"/>
            <a:ext cx="2343835" cy="399288"/>
          </a:xfrm>
          <a:prstGeom prst="rect">
            <a:avLst/>
          </a:prstGeom>
          <a:noFill/>
        </p:spPr>
        <p:txBody>
          <a:bodyPr wrap="square" lIns="45720" rIns="45720" tIns="27432" bIns="27432" anchor="t">
            <a:noAutofit/>
          </a:bodyPr>
          <a:lstStyle/>
          <a:p>
            <a:pPr algn="l">
              <a:lnSpc>
                <a:spcPct val="100000"/>
              </a:lnSpc>
            </a:pPr>
            <a:r>
              <a:rPr sz="1900" b="1" i="0">
                <a:solidFill>
                  <a:srgbClr val="F7F2E8"/>
                </a:solidFill>
                <a:latin typeface="Palatino Linotype"/>
              </a:rPr>
              <a:t>Grepper</a:t>
            </a:r>
          </a:p>
        </p:txBody>
      </p:sp>
      <p:sp>
        <p:nvSpPr>
          <p:cNvPr id="27" name="TextBox 26"/>
          <p:cNvSpPr txBox="1"/>
          <p:nvPr/>
        </p:nvSpPr>
        <p:spPr>
          <a:xfrm>
            <a:off x="694944" y="4870704"/>
            <a:ext cx="2343835" cy="1237488"/>
          </a:xfrm>
          <a:prstGeom prst="rect">
            <a:avLst/>
          </a:prstGeom>
          <a:noFill/>
        </p:spPr>
        <p:txBody>
          <a:bodyPr wrap="square" lIns="45720" rIns="45720" tIns="27432" bIns="27432" anchor="t">
            <a:noAutofit/>
          </a:bodyPr>
          <a:lstStyle/>
          <a:p>
            <a:pPr algn="l">
              <a:lnSpc>
                <a:spcPct val="100000"/>
              </a:lnSpc>
            </a:pPr>
            <a:r>
              <a:rPr sz="1500" b="0" i="0">
                <a:solidFill>
                  <a:srgbClr val="A7B2B0"/>
                </a:solidFill>
                <a:latin typeface="Segoe UI"/>
              </a:rPr>
              <a:t>Búsqueda regex consciente de la codificación, más lecturas literales de un rango de líneas.</a:t>
            </a:r>
          </a:p>
        </p:txBody>
      </p:sp>
      <p:sp>
        <p:nvSpPr>
          <p:cNvPr id="28" name="Rounded Rectangle 27"/>
          <p:cNvSpPr/>
          <p:nvPr/>
        </p:nvSpPr>
        <p:spPr>
          <a:xfrm>
            <a:off x="3386251" y="4251960"/>
            <a:ext cx="2599867" cy="1947672"/>
          </a:xfrm>
          <a:prstGeom prst="roundRect">
            <a:avLst>
              <a:gd name="adj" fmla="val 5633"/>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Rectangle 28"/>
          <p:cNvSpPr/>
          <p:nvPr/>
        </p:nvSpPr>
        <p:spPr>
          <a:xfrm>
            <a:off x="3550843" y="4379976"/>
            <a:ext cx="502920" cy="45720"/>
          </a:xfrm>
          <a:prstGeom prst="rect">
            <a:avLst/>
          </a:prstGeom>
          <a:solidFill>
            <a:srgbClr val="46D2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3514267" y="4471416"/>
            <a:ext cx="2343835" cy="399288"/>
          </a:xfrm>
          <a:prstGeom prst="rect">
            <a:avLst/>
          </a:prstGeom>
          <a:noFill/>
        </p:spPr>
        <p:txBody>
          <a:bodyPr wrap="square" lIns="45720" rIns="45720" tIns="27432" bIns="27432" anchor="t">
            <a:noAutofit/>
          </a:bodyPr>
          <a:lstStyle/>
          <a:p>
            <a:pPr algn="l">
              <a:lnSpc>
                <a:spcPct val="100000"/>
              </a:lnSpc>
            </a:pPr>
            <a:r>
              <a:rPr sz="1900" b="1" i="0">
                <a:solidFill>
                  <a:srgbClr val="F7F2E8"/>
                </a:solidFill>
                <a:latin typeface="Palatino Linotype"/>
              </a:rPr>
              <a:t>Globber</a:t>
            </a:r>
          </a:p>
        </p:txBody>
      </p:sp>
      <p:sp>
        <p:nvSpPr>
          <p:cNvPr id="31" name="TextBox 30"/>
          <p:cNvSpPr txBox="1"/>
          <p:nvPr/>
        </p:nvSpPr>
        <p:spPr>
          <a:xfrm>
            <a:off x="3514267" y="4870704"/>
            <a:ext cx="2343835" cy="1237488"/>
          </a:xfrm>
          <a:prstGeom prst="rect">
            <a:avLst/>
          </a:prstGeom>
          <a:noFill/>
        </p:spPr>
        <p:txBody>
          <a:bodyPr wrap="square" lIns="45720" rIns="45720" tIns="27432" bIns="27432" anchor="t">
            <a:noAutofit/>
          </a:bodyPr>
          <a:lstStyle/>
          <a:p>
            <a:pPr algn="l">
              <a:lnSpc>
                <a:spcPct val="100000"/>
              </a:lnSpc>
            </a:pPr>
            <a:r>
              <a:rPr sz="1500" b="0" i="0">
                <a:solidFill>
                  <a:srgbClr val="A7B2B0"/>
                </a:solidFill>
                <a:latin typeface="Segoe UI"/>
              </a:rPr>
              <a:t>Encuentra archivos por glob pattern, del más nuevo al más viejo.</a:t>
            </a:r>
          </a:p>
        </p:txBody>
      </p:sp>
      <p:sp>
        <p:nvSpPr>
          <p:cNvPr id="32" name="Rounded Rectangle 31"/>
          <p:cNvSpPr/>
          <p:nvPr/>
        </p:nvSpPr>
        <p:spPr>
          <a:xfrm>
            <a:off x="6205575" y="4251960"/>
            <a:ext cx="2599867" cy="1947672"/>
          </a:xfrm>
          <a:prstGeom prst="roundRect">
            <a:avLst>
              <a:gd name="adj" fmla="val 5633"/>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Rectangle 32"/>
          <p:cNvSpPr/>
          <p:nvPr/>
        </p:nvSpPr>
        <p:spPr>
          <a:xfrm>
            <a:off x="6370167" y="4379976"/>
            <a:ext cx="502920" cy="45720"/>
          </a:xfrm>
          <a:prstGeom prst="rect">
            <a:avLst/>
          </a:prstGeom>
          <a:solidFill>
            <a:srgbClr val="46D2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6333591" y="4471416"/>
            <a:ext cx="2343835" cy="399288"/>
          </a:xfrm>
          <a:prstGeom prst="rect">
            <a:avLst/>
          </a:prstGeom>
          <a:noFill/>
        </p:spPr>
        <p:txBody>
          <a:bodyPr wrap="square" lIns="45720" rIns="45720" tIns="27432" bIns="27432" anchor="t">
            <a:noAutofit/>
          </a:bodyPr>
          <a:lstStyle/>
          <a:p>
            <a:pPr algn="l">
              <a:lnSpc>
                <a:spcPct val="100000"/>
              </a:lnSpc>
            </a:pPr>
            <a:r>
              <a:rPr sz="1900" b="1" i="0">
                <a:solidFill>
                  <a:srgbClr val="F7F2E8"/>
                </a:solidFill>
                <a:latin typeface="Palatino Linotype"/>
              </a:rPr>
              <a:t>File-Creator</a:t>
            </a:r>
          </a:p>
        </p:txBody>
      </p:sp>
      <p:sp>
        <p:nvSpPr>
          <p:cNvPr id="35" name="TextBox 34"/>
          <p:cNvSpPr txBox="1"/>
          <p:nvPr/>
        </p:nvSpPr>
        <p:spPr>
          <a:xfrm>
            <a:off x="6333591" y="4870704"/>
            <a:ext cx="2343835" cy="1237488"/>
          </a:xfrm>
          <a:prstGeom prst="rect">
            <a:avLst/>
          </a:prstGeom>
          <a:noFill/>
        </p:spPr>
        <p:txBody>
          <a:bodyPr wrap="square" lIns="45720" rIns="45720" tIns="27432" bIns="27432" anchor="t">
            <a:noAutofit/>
          </a:bodyPr>
          <a:lstStyle/>
          <a:p>
            <a:pPr algn="l">
              <a:lnSpc>
                <a:spcPct val="100000"/>
              </a:lnSpc>
            </a:pPr>
            <a:r>
              <a:rPr sz="1500" b="0" i="0">
                <a:solidFill>
                  <a:srgbClr val="A7B2B0"/>
                </a:solidFill>
                <a:latin typeface="Segoe UI"/>
              </a:rPr>
              <a:t>Crea un archivo con contenido exacto, incluyendo un canal base64.</a:t>
            </a:r>
          </a:p>
        </p:txBody>
      </p:sp>
      <p:cxnSp>
        <p:nvCxnSpPr>
          <p:cNvPr id="36" name="Connector 35"/>
          <p:cNvCxnSpPr/>
          <p:nvPr/>
        </p:nvCxnSpPr>
        <p:spPr>
          <a:xfrm>
            <a:off x="566928" y="6373368"/>
            <a:ext cx="11057839" cy="0"/>
          </a:xfrm>
          <a:prstGeom prst="line">
            <a:avLst/>
          </a:prstGeom>
          <a:ln w="7620">
            <a:solidFill>
              <a:srgbClr val="2A3A40"/>
            </a:solidFill>
          </a:ln>
        </p:spPr>
        <p:style>
          <a:lnRef idx="2">
            <a:schemeClr val="accent1"/>
          </a:lnRef>
          <a:fillRef idx="0">
            <a:schemeClr val="accent1"/>
          </a:fillRef>
          <a:effectRef idx="1">
            <a:schemeClr val="accent1"/>
          </a:effectRef>
          <a:fontRef idx="minor">
            <a:schemeClr val="tx1"/>
          </a:fontRef>
        </p:style>
      </p:cxnSp>
      <p:sp>
        <p:nvSpPr>
          <p:cNvPr id="37" name="TextBox 36"/>
          <p:cNvSpPr txBox="1"/>
          <p:nvPr/>
        </p:nvSpPr>
        <p:spPr>
          <a:xfrm>
            <a:off x="566928" y="6419088"/>
            <a:ext cx="6858000" cy="274320"/>
          </a:xfrm>
          <a:prstGeom prst="rect">
            <a:avLst/>
          </a:prstGeom>
          <a:noFill/>
        </p:spPr>
        <p:txBody>
          <a:bodyPr wrap="square" lIns="45720" rIns="45720" tIns="27432" bIns="27432" anchor="t">
            <a:noAutofit/>
          </a:bodyPr>
          <a:lstStyle/>
          <a:p>
            <a:pPr algn="l">
              <a:lnSpc>
                <a:spcPct val="100000"/>
              </a:lnSpc>
            </a:pPr>
            <a:r>
              <a:rPr sz="850" b="0" i="0" spc="120">
                <a:solidFill>
                  <a:srgbClr val="A7B2B0"/>
                </a:solidFill>
                <a:latin typeface="Segoe UI Semibold"/>
              </a:rPr>
              <a:t>TLAMATINI  ·  IV · EL BESTIARIO</a:t>
            </a:r>
          </a:p>
        </p:txBody>
      </p:sp>
      <p:sp>
        <p:nvSpPr>
          <p:cNvPr id="38" name="TextBox 37"/>
          <p:cNvSpPr txBox="1"/>
          <p:nvPr/>
        </p:nvSpPr>
        <p:spPr>
          <a:xfrm>
            <a:off x="8698687" y="6419088"/>
            <a:ext cx="2926080" cy="274320"/>
          </a:xfrm>
          <a:prstGeom prst="rect">
            <a:avLst/>
          </a:prstGeom>
          <a:noFill/>
        </p:spPr>
        <p:txBody>
          <a:bodyPr wrap="square" lIns="45720" rIns="45720" tIns="27432" bIns="27432" anchor="t">
            <a:noAutofit/>
          </a:bodyPr>
          <a:lstStyle/>
          <a:p>
            <a:pPr algn="r">
              <a:lnSpc>
                <a:spcPct val="100000"/>
              </a:lnSpc>
            </a:pPr>
            <a:r>
              <a:rPr sz="850" b="0" i="0" spc="100">
                <a:solidFill>
                  <a:srgbClr val="A7B2B0"/>
                </a:solidFill>
                <a:latin typeface="Segoe UI Semibold"/>
              </a:rPr>
              <a:t>v1.91.1   ·   70</a:t>
            </a:r>
          </a:p>
        </p:txBody>
      </p:sp>
    </p:spTree>
  </p:cSld>
  <p:clrMapOvr>
    <a:masterClrMapping/>
  </p:clrMapOvr>
</p:sld>
</file>

<file path=ppt/slides/slide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content.png"/>
          <p:cNvPicPr>
            <a:picLocks noChangeAspect="1"/>
          </p:cNvPicPr>
          <p:nvPr/>
        </p:nvPicPr>
        <p:blipFill>
          <a:blip r:embed="rId2"/>
          <a:stretch>
            <a:fillRect/>
          </a:stretch>
        </p:blipFill>
        <p:spPr>
          <a:xfrm>
            <a:off x="0" y="0"/>
            <a:ext cx="12191695" cy="6858000"/>
          </a:xfrm>
          <a:prstGeom prst="rect">
            <a:avLst/>
          </a:prstGeom>
        </p:spPr>
      </p:pic>
      <p:sp>
        <p:nvSpPr>
          <p:cNvPr id="3" name="Diamond 2"/>
          <p:cNvSpPr/>
          <p:nvPr/>
        </p:nvSpPr>
        <p:spPr>
          <a:xfrm>
            <a:off x="566928" y="457200"/>
            <a:ext cx="100584" cy="100584"/>
          </a:xfrm>
          <a:prstGeom prst="diamond">
            <a:avLst/>
          </a:prstGeom>
          <a:solidFill>
            <a:srgbClr val="D25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49808" y="365760"/>
            <a:ext cx="8229600" cy="292608"/>
          </a:xfrm>
          <a:prstGeom prst="rect">
            <a:avLst/>
          </a:prstGeom>
          <a:noFill/>
        </p:spPr>
        <p:txBody>
          <a:bodyPr wrap="square" lIns="45720" rIns="45720" tIns="27432" bIns="27432" anchor="t">
            <a:noAutofit/>
          </a:bodyPr>
          <a:lstStyle/>
          <a:p>
            <a:pPr algn="l">
              <a:lnSpc>
                <a:spcPct val="100000"/>
              </a:lnSpc>
            </a:pPr>
            <a:r>
              <a:rPr sz="1100" b="0" i="0" spc="240">
                <a:solidFill>
                  <a:srgbClr val="C98457"/>
                </a:solidFill>
                <a:latin typeface="Segoe UI Semibold"/>
              </a:rPr>
              <a:t>FAMILIA DE AGENTS  ·  14 AGENTS</a:t>
            </a:r>
          </a:p>
        </p:txBody>
      </p:sp>
      <p:sp>
        <p:nvSpPr>
          <p:cNvPr id="5" name="TextBox 4"/>
          <p:cNvSpPr txBox="1"/>
          <p:nvPr/>
        </p:nvSpPr>
        <p:spPr>
          <a:xfrm>
            <a:off x="539496" y="676656"/>
            <a:ext cx="11057839" cy="658368"/>
          </a:xfrm>
          <a:prstGeom prst="rect">
            <a:avLst/>
          </a:prstGeom>
          <a:noFill/>
        </p:spPr>
        <p:txBody>
          <a:bodyPr wrap="square" lIns="45720" rIns="45720" tIns="27432" bIns="27432" anchor="t">
            <a:noAutofit/>
          </a:bodyPr>
          <a:lstStyle/>
          <a:p>
            <a:pPr algn="l">
              <a:lnSpc>
                <a:spcPct val="100000"/>
              </a:lnSpc>
            </a:pPr>
            <a:r>
              <a:rPr sz="3100" b="0" i="0">
                <a:solidFill>
                  <a:srgbClr val="F7F2E8"/>
                </a:solidFill>
                <a:latin typeface="Palatino Linotype"/>
              </a:rPr>
              <a:t>Código, archivos y shell  (2/2)</a:t>
            </a:r>
          </a:p>
        </p:txBody>
      </p:sp>
      <p:sp>
        <p:nvSpPr>
          <p:cNvPr id="6" name="Rectangle 5"/>
          <p:cNvSpPr/>
          <p:nvPr/>
        </p:nvSpPr>
        <p:spPr>
          <a:xfrm>
            <a:off x="566928" y="1344168"/>
            <a:ext cx="822960" cy="36576"/>
          </a:xfrm>
          <a:prstGeom prst="rect">
            <a:avLst/>
          </a:prstGeom>
          <a:solidFill>
            <a:srgbClr val="D25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566928" y="1444752"/>
            <a:ext cx="10692079" cy="585216"/>
          </a:xfrm>
          <a:prstGeom prst="rect">
            <a:avLst/>
          </a:prstGeom>
          <a:noFill/>
        </p:spPr>
        <p:txBody>
          <a:bodyPr wrap="square" lIns="45720" rIns="45720" tIns="27432" bIns="27432" anchor="t">
            <a:noAutofit/>
          </a:bodyPr>
          <a:lstStyle/>
          <a:p>
            <a:pPr algn="l">
              <a:lnSpc>
                <a:spcPct val="100000"/>
              </a:lnSpc>
            </a:pPr>
            <a:r>
              <a:rPr sz="1450" b="0" i="0">
                <a:solidFill>
                  <a:srgbClr val="A7B2B0"/>
                </a:solidFill>
                <a:latin typeface="Segoe UI Semilight"/>
              </a:rPr>
              <a:t>Encuentra, lee, cambia y ejecuta.</a:t>
            </a:r>
          </a:p>
        </p:txBody>
      </p:sp>
      <p:sp>
        <p:nvSpPr>
          <p:cNvPr id="8" name="Rounded Rectangle 7"/>
          <p:cNvSpPr/>
          <p:nvPr/>
        </p:nvSpPr>
        <p:spPr>
          <a:xfrm>
            <a:off x="566928" y="2279904"/>
            <a:ext cx="2599867" cy="1752600"/>
          </a:xfrm>
          <a:prstGeom prst="roundRect">
            <a:avLst>
              <a:gd name="adj" fmla="val 6260"/>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ectangle 8"/>
          <p:cNvSpPr/>
          <p:nvPr/>
        </p:nvSpPr>
        <p:spPr>
          <a:xfrm>
            <a:off x="731520" y="2407920"/>
            <a:ext cx="502920" cy="45720"/>
          </a:xfrm>
          <a:prstGeom prst="rect">
            <a:avLst/>
          </a:prstGeom>
          <a:solidFill>
            <a:srgbClr val="46D2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694944" y="2499360"/>
            <a:ext cx="2343835" cy="399288"/>
          </a:xfrm>
          <a:prstGeom prst="rect">
            <a:avLst/>
          </a:prstGeom>
          <a:noFill/>
        </p:spPr>
        <p:txBody>
          <a:bodyPr wrap="square" lIns="45720" rIns="45720" tIns="27432" bIns="27432" anchor="t">
            <a:noAutofit/>
          </a:bodyPr>
          <a:lstStyle/>
          <a:p>
            <a:pPr algn="l">
              <a:lnSpc>
                <a:spcPct val="100000"/>
              </a:lnSpc>
            </a:pPr>
            <a:r>
              <a:rPr sz="1900" b="1" i="0">
                <a:solidFill>
                  <a:srgbClr val="F7F2E8"/>
                </a:solidFill>
                <a:latin typeface="Palatino Linotype"/>
              </a:rPr>
              <a:t>Mover</a:t>
            </a:r>
          </a:p>
        </p:txBody>
      </p:sp>
      <p:sp>
        <p:nvSpPr>
          <p:cNvPr id="11" name="TextBox 10"/>
          <p:cNvSpPr txBox="1"/>
          <p:nvPr/>
        </p:nvSpPr>
        <p:spPr>
          <a:xfrm>
            <a:off x="694944" y="2898648"/>
            <a:ext cx="2343835" cy="1042415"/>
          </a:xfrm>
          <a:prstGeom prst="rect">
            <a:avLst/>
          </a:prstGeom>
          <a:noFill/>
        </p:spPr>
        <p:txBody>
          <a:bodyPr wrap="square" lIns="45720" rIns="45720" tIns="27432" bIns="27432" anchor="t">
            <a:noAutofit/>
          </a:bodyPr>
          <a:lstStyle/>
          <a:p>
            <a:pPr algn="l">
              <a:lnSpc>
                <a:spcPct val="100000"/>
              </a:lnSpc>
            </a:pPr>
            <a:r>
              <a:rPr sz="1500" b="0" i="0">
                <a:solidFill>
                  <a:srgbClr val="A7B2B0"/>
                </a:solidFill>
                <a:latin typeface="Segoe UI"/>
              </a:rPr>
              <a:t>Mueve o copia archivos por glob pattern.</a:t>
            </a:r>
          </a:p>
        </p:txBody>
      </p:sp>
      <p:sp>
        <p:nvSpPr>
          <p:cNvPr id="12" name="Rounded Rectangle 11"/>
          <p:cNvSpPr/>
          <p:nvPr/>
        </p:nvSpPr>
        <p:spPr>
          <a:xfrm>
            <a:off x="3386251" y="2279904"/>
            <a:ext cx="2599867" cy="1752600"/>
          </a:xfrm>
          <a:prstGeom prst="roundRect">
            <a:avLst>
              <a:gd name="adj" fmla="val 6260"/>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3550843" y="2407920"/>
            <a:ext cx="502920" cy="45720"/>
          </a:xfrm>
          <a:prstGeom prst="rect">
            <a:avLst/>
          </a:prstGeom>
          <a:solidFill>
            <a:srgbClr val="46D2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3514267" y="2499360"/>
            <a:ext cx="2343835" cy="399288"/>
          </a:xfrm>
          <a:prstGeom prst="rect">
            <a:avLst/>
          </a:prstGeom>
          <a:noFill/>
        </p:spPr>
        <p:txBody>
          <a:bodyPr wrap="square" lIns="45720" rIns="45720" tIns="27432" bIns="27432" anchor="t">
            <a:noAutofit/>
          </a:bodyPr>
          <a:lstStyle/>
          <a:p>
            <a:pPr algn="l">
              <a:lnSpc>
                <a:spcPct val="100000"/>
              </a:lnSpc>
            </a:pPr>
            <a:r>
              <a:rPr sz="1900" b="1" i="0">
                <a:solidFill>
                  <a:srgbClr val="F7F2E8"/>
                </a:solidFill>
                <a:latin typeface="Palatino Linotype"/>
              </a:rPr>
              <a:t>Deleter</a:t>
            </a:r>
          </a:p>
        </p:txBody>
      </p:sp>
      <p:sp>
        <p:nvSpPr>
          <p:cNvPr id="15" name="TextBox 14"/>
          <p:cNvSpPr txBox="1"/>
          <p:nvPr/>
        </p:nvSpPr>
        <p:spPr>
          <a:xfrm>
            <a:off x="3514267" y="2898648"/>
            <a:ext cx="2343835" cy="1042415"/>
          </a:xfrm>
          <a:prstGeom prst="rect">
            <a:avLst/>
          </a:prstGeom>
          <a:noFill/>
        </p:spPr>
        <p:txBody>
          <a:bodyPr wrap="square" lIns="45720" rIns="45720" tIns="27432" bIns="27432" anchor="t">
            <a:noAutofit/>
          </a:bodyPr>
          <a:lstStyle/>
          <a:p>
            <a:pPr algn="l">
              <a:lnSpc>
                <a:spcPct val="100000"/>
              </a:lnSpc>
            </a:pPr>
            <a:r>
              <a:rPr sz="1500" b="0" i="0">
                <a:solidFill>
                  <a:srgbClr val="A7B2B0"/>
                </a:solidFill>
                <a:latin typeface="Segoe UI"/>
              </a:rPr>
              <a:t>Elimina por glob dentro de un directorio de trabajo protegido.</a:t>
            </a:r>
          </a:p>
        </p:txBody>
      </p:sp>
      <p:sp>
        <p:nvSpPr>
          <p:cNvPr id="16" name="Rounded Rectangle 15"/>
          <p:cNvSpPr/>
          <p:nvPr/>
        </p:nvSpPr>
        <p:spPr>
          <a:xfrm>
            <a:off x="6205575" y="2279904"/>
            <a:ext cx="2599867" cy="1752600"/>
          </a:xfrm>
          <a:prstGeom prst="roundRect">
            <a:avLst>
              <a:gd name="adj" fmla="val 6260"/>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6370167" y="2407920"/>
            <a:ext cx="502920" cy="45720"/>
          </a:xfrm>
          <a:prstGeom prst="rect">
            <a:avLst/>
          </a:prstGeom>
          <a:solidFill>
            <a:srgbClr val="46D2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6333591" y="2499360"/>
            <a:ext cx="2343835" cy="399288"/>
          </a:xfrm>
          <a:prstGeom prst="rect">
            <a:avLst/>
          </a:prstGeom>
          <a:noFill/>
        </p:spPr>
        <p:txBody>
          <a:bodyPr wrap="square" lIns="45720" rIns="45720" tIns="27432" bIns="27432" anchor="t">
            <a:noAutofit/>
          </a:bodyPr>
          <a:lstStyle/>
          <a:p>
            <a:pPr algn="l">
              <a:lnSpc>
                <a:spcPct val="100000"/>
              </a:lnSpc>
            </a:pPr>
            <a:r>
              <a:rPr sz="1900" b="1" i="0">
                <a:solidFill>
                  <a:srgbClr val="F7F2E8"/>
                </a:solidFill>
                <a:latin typeface="Palatino Linotype"/>
              </a:rPr>
              <a:t>File-Interpreter</a:t>
            </a:r>
          </a:p>
        </p:txBody>
      </p:sp>
      <p:sp>
        <p:nvSpPr>
          <p:cNvPr id="19" name="TextBox 18"/>
          <p:cNvSpPr txBox="1"/>
          <p:nvPr/>
        </p:nvSpPr>
        <p:spPr>
          <a:xfrm>
            <a:off x="6333591" y="2898648"/>
            <a:ext cx="2343835" cy="1042415"/>
          </a:xfrm>
          <a:prstGeom prst="rect">
            <a:avLst/>
          </a:prstGeom>
          <a:noFill/>
        </p:spPr>
        <p:txBody>
          <a:bodyPr wrap="square" lIns="45720" rIns="45720" tIns="27432" bIns="27432" anchor="t">
            <a:noAutofit/>
          </a:bodyPr>
          <a:lstStyle/>
          <a:p>
            <a:pPr algn="l">
              <a:lnSpc>
                <a:spcPct val="100000"/>
              </a:lnSpc>
            </a:pPr>
            <a:r>
              <a:rPr sz="1500" b="0" i="0">
                <a:solidFill>
                  <a:srgbClr val="A7B2B0"/>
                </a:solidFill>
                <a:latin typeface="Segoe UI"/>
              </a:rPr>
              <a:t>Lee DOCX, PPTX, XLSX, PDF y más, opcionalmente resumiéndolos.</a:t>
            </a:r>
          </a:p>
        </p:txBody>
      </p:sp>
      <p:sp>
        <p:nvSpPr>
          <p:cNvPr id="20" name="Rounded Rectangle 19"/>
          <p:cNvSpPr/>
          <p:nvPr/>
        </p:nvSpPr>
        <p:spPr>
          <a:xfrm>
            <a:off x="9024899" y="2279904"/>
            <a:ext cx="2599867" cy="1752600"/>
          </a:xfrm>
          <a:prstGeom prst="roundRect">
            <a:avLst>
              <a:gd name="adj" fmla="val 6260"/>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ectangle 20"/>
          <p:cNvSpPr/>
          <p:nvPr/>
        </p:nvSpPr>
        <p:spPr>
          <a:xfrm>
            <a:off x="9189491" y="2407920"/>
            <a:ext cx="502920" cy="45720"/>
          </a:xfrm>
          <a:prstGeom prst="rect">
            <a:avLst/>
          </a:prstGeom>
          <a:solidFill>
            <a:srgbClr val="46D2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9152915" y="2499360"/>
            <a:ext cx="2343835" cy="399288"/>
          </a:xfrm>
          <a:prstGeom prst="rect">
            <a:avLst/>
          </a:prstGeom>
          <a:noFill/>
        </p:spPr>
        <p:txBody>
          <a:bodyPr wrap="square" lIns="45720" rIns="45720" tIns="27432" bIns="27432" anchor="t">
            <a:noAutofit/>
          </a:bodyPr>
          <a:lstStyle/>
          <a:p>
            <a:pPr algn="l">
              <a:lnSpc>
                <a:spcPct val="100000"/>
              </a:lnSpc>
            </a:pPr>
            <a:r>
              <a:rPr sz="1900" b="1" i="0">
                <a:solidFill>
                  <a:srgbClr val="F7F2E8"/>
                </a:solidFill>
                <a:latin typeface="Palatino Linotype"/>
              </a:rPr>
              <a:t>File-Extractor</a:t>
            </a:r>
          </a:p>
        </p:txBody>
      </p:sp>
      <p:sp>
        <p:nvSpPr>
          <p:cNvPr id="23" name="TextBox 22"/>
          <p:cNvSpPr txBox="1"/>
          <p:nvPr/>
        </p:nvSpPr>
        <p:spPr>
          <a:xfrm>
            <a:off x="9152915" y="2898648"/>
            <a:ext cx="2343835" cy="1042415"/>
          </a:xfrm>
          <a:prstGeom prst="rect">
            <a:avLst/>
          </a:prstGeom>
          <a:noFill/>
        </p:spPr>
        <p:txBody>
          <a:bodyPr wrap="square" lIns="45720" rIns="45720" tIns="27432" bIns="27432" anchor="t">
            <a:noAutofit/>
          </a:bodyPr>
          <a:lstStyle/>
          <a:p>
            <a:pPr algn="l">
              <a:lnSpc>
                <a:spcPct val="100000"/>
              </a:lnSpc>
            </a:pPr>
            <a:r>
              <a:rPr sz="1500" b="0" i="0">
                <a:solidFill>
                  <a:srgbClr val="A7B2B0"/>
                </a:solidFill>
                <a:latin typeface="Segoe UI"/>
              </a:rPr>
              <a:t>Extrae texto crudo de PDF, DOCX y documentos similares.</a:t>
            </a:r>
          </a:p>
        </p:txBody>
      </p:sp>
      <p:sp>
        <p:nvSpPr>
          <p:cNvPr id="24" name="Rounded Rectangle 23"/>
          <p:cNvSpPr/>
          <p:nvPr/>
        </p:nvSpPr>
        <p:spPr>
          <a:xfrm>
            <a:off x="566928" y="4251960"/>
            <a:ext cx="2599867" cy="1752600"/>
          </a:xfrm>
          <a:prstGeom prst="roundRect">
            <a:avLst>
              <a:gd name="adj" fmla="val 6260"/>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ectangle 24"/>
          <p:cNvSpPr/>
          <p:nvPr/>
        </p:nvSpPr>
        <p:spPr>
          <a:xfrm>
            <a:off x="731520" y="4379976"/>
            <a:ext cx="502920" cy="45720"/>
          </a:xfrm>
          <a:prstGeom prst="rect">
            <a:avLst/>
          </a:prstGeom>
          <a:solidFill>
            <a:srgbClr val="46D2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694944" y="4471416"/>
            <a:ext cx="2343835" cy="399288"/>
          </a:xfrm>
          <a:prstGeom prst="rect">
            <a:avLst/>
          </a:prstGeom>
          <a:noFill/>
        </p:spPr>
        <p:txBody>
          <a:bodyPr wrap="square" lIns="45720" rIns="45720" tIns="27432" bIns="27432" anchor="t">
            <a:noAutofit/>
          </a:bodyPr>
          <a:lstStyle/>
          <a:p>
            <a:pPr algn="l">
              <a:lnSpc>
                <a:spcPct val="100000"/>
              </a:lnSpc>
            </a:pPr>
            <a:r>
              <a:rPr sz="1900" b="1" i="0">
                <a:solidFill>
                  <a:srgbClr val="F7F2E8"/>
                </a:solidFill>
                <a:latin typeface="Palatino Linotype"/>
              </a:rPr>
              <a:t>De-Compresser</a:t>
            </a:r>
          </a:p>
        </p:txBody>
      </p:sp>
      <p:sp>
        <p:nvSpPr>
          <p:cNvPr id="27" name="TextBox 26"/>
          <p:cNvSpPr txBox="1"/>
          <p:nvPr/>
        </p:nvSpPr>
        <p:spPr>
          <a:xfrm>
            <a:off x="694944" y="4870704"/>
            <a:ext cx="2343835" cy="1042415"/>
          </a:xfrm>
          <a:prstGeom prst="rect">
            <a:avLst/>
          </a:prstGeom>
          <a:noFill/>
        </p:spPr>
        <p:txBody>
          <a:bodyPr wrap="square" lIns="45720" rIns="45720" tIns="27432" bIns="27432" anchor="t">
            <a:noAutofit/>
          </a:bodyPr>
          <a:lstStyle/>
          <a:p>
            <a:pPr algn="l">
              <a:lnSpc>
                <a:spcPct val="100000"/>
              </a:lnSpc>
            </a:pPr>
            <a:r>
              <a:rPr sz="1500" b="0" i="0">
                <a:solidFill>
                  <a:srgbClr val="A7B2B0"/>
                </a:solidFill>
                <a:latin typeface="Segoe UI"/>
              </a:rPr>
              <a:t>Comprime o descomprime archivos .zip, .7z, .gz y tar.</a:t>
            </a:r>
          </a:p>
        </p:txBody>
      </p:sp>
      <p:sp>
        <p:nvSpPr>
          <p:cNvPr id="28" name="Rounded Rectangle 27"/>
          <p:cNvSpPr/>
          <p:nvPr/>
        </p:nvSpPr>
        <p:spPr>
          <a:xfrm>
            <a:off x="3386251" y="4251960"/>
            <a:ext cx="2599867" cy="1752600"/>
          </a:xfrm>
          <a:prstGeom prst="roundRect">
            <a:avLst>
              <a:gd name="adj" fmla="val 6260"/>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Rectangle 28"/>
          <p:cNvSpPr/>
          <p:nvPr/>
        </p:nvSpPr>
        <p:spPr>
          <a:xfrm>
            <a:off x="3550843" y="4379976"/>
            <a:ext cx="502920" cy="45720"/>
          </a:xfrm>
          <a:prstGeom prst="rect">
            <a:avLst/>
          </a:prstGeom>
          <a:solidFill>
            <a:srgbClr val="46D2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3514267" y="4471416"/>
            <a:ext cx="2343835" cy="399288"/>
          </a:xfrm>
          <a:prstGeom prst="rect">
            <a:avLst/>
          </a:prstGeom>
          <a:noFill/>
        </p:spPr>
        <p:txBody>
          <a:bodyPr wrap="square" lIns="45720" rIns="45720" tIns="27432" bIns="27432" anchor="t">
            <a:noAutofit/>
          </a:bodyPr>
          <a:lstStyle/>
          <a:p>
            <a:pPr algn="l">
              <a:lnSpc>
                <a:spcPct val="100000"/>
              </a:lnSpc>
            </a:pPr>
            <a:r>
              <a:rPr sz="1900" b="1" i="0">
                <a:solidFill>
                  <a:srgbClr val="F7F2E8"/>
                </a:solidFill>
                <a:latin typeface="Palatino Linotype"/>
              </a:rPr>
              <a:t>J-Decompiler</a:t>
            </a:r>
          </a:p>
        </p:txBody>
      </p:sp>
      <p:sp>
        <p:nvSpPr>
          <p:cNvPr id="31" name="TextBox 30"/>
          <p:cNvSpPr txBox="1"/>
          <p:nvPr/>
        </p:nvSpPr>
        <p:spPr>
          <a:xfrm>
            <a:off x="3514267" y="4870704"/>
            <a:ext cx="2343835" cy="1042415"/>
          </a:xfrm>
          <a:prstGeom prst="rect">
            <a:avLst/>
          </a:prstGeom>
          <a:noFill/>
        </p:spPr>
        <p:txBody>
          <a:bodyPr wrap="square" lIns="45720" rIns="45720" tIns="27432" bIns="27432" anchor="t">
            <a:noAutofit/>
          </a:bodyPr>
          <a:lstStyle/>
          <a:p>
            <a:pPr algn="l">
              <a:lnSpc>
                <a:spcPct val="100000"/>
              </a:lnSpc>
            </a:pPr>
            <a:r>
              <a:rPr sz="1500" b="0" i="0">
                <a:solidFill>
                  <a:srgbClr val="A7B2B0"/>
                </a:solidFill>
                <a:latin typeface="Segoe UI"/>
              </a:rPr>
              <a:t>Descompila archivos JAR y WAR con el jd-cli incluido.</a:t>
            </a:r>
          </a:p>
        </p:txBody>
      </p:sp>
      <p:sp>
        <p:nvSpPr>
          <p:cNvPr id="32" name="Rounded Rectangle 31"/>
          <p:cNvSpPr/>
          <p:nvPr/>
        </p:nvSpPr>
        <p:spPr>
          <a:xfrm>
            <a:off x="6205575" y="4251960"/>
            <a:ext cx="2599867" cy="1752600"/>
          </a:xfrm>
          <a:prstGeom prst="roundRect">
            <a:avLst>
              <a:gd name="adj" fmla="val 6260"/>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Rectangle 32"/>
          <p:cNvSpPr/>
          <p:nvPr/>
        </p:nvSpPr>
        <p:spPr>
          <a:xfrm>
            <a:off x="6370167" y="4379976"/>
            <a:ext cx="502920" cy="45720"/>
          </a:xfrm>
          <a:prstGeom prst="rect">
            <a:avLst/>
          </a:prstGeom>
          <a:solidFill>
            <a:srgbClr val="46D2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6333591" y="4471416"/>
            <a:ext cx="2343835" cy="399288"/>
          </a:xfrm>
          <a:prstGeom prst="rect">
            <a:avLst/>
          </a:prstGeom>
          <a:noFill/>
        </p:spPr>
        <p:txBody>
          <a:bodyPr wrap="square" lIns="45720" rIns="45720" tIns="27432" bIns="27432" anchor="t">
            <a:noAutofit/>
          </a:bodyPr>
          <a:lstStyle/>
          <a:p>
            <a:pPr algn="l">
              <a:lnSpc>
                <a:spcPct val="100000"/>
              </a:lnSpc>
            </a:pPr>
            <a:r>
              <a:rPr sz="1900" b="1" i="0">
                <a:solidFill>
                  <a:srgbClr val="F7F2E8"/>
                </a:solidFill>
                <a:latin typeface="Palatino Linotype"/>
              </a:rPr>
              <a:t>Gitter</a:t>
            </a:r>
          </a:p>
        </p:txBody>
      </p:sp>
      <p:sp>
        <p:nvSpPr>
          <p:cNvPr id="35" name="TextBox 34"/>
          <p:cNvSpPr txBox="1"/>
          <p:nvPr/>
        </p:nvSpPr>
        <p:spPr>
          <a:xfrm>
            <a:off x="6333591" y="4870704"/>
            <a:ext cx="2343835" cy="1042415"/>
          </a:xfrm>
          <a:prstGeom prst="rect">
            <a:avLst/>
          </a:prstGeom>
          <a:noFill/>
        </p:spPr>
        <p:txBody>
          <a:bodyPr wrap="square" lIns="45720" rIns="45720" tIns="27432" bIns="27432" anchor="t">
            <a:noAutofit/>
          </a:bodyPr>
          <a:lstStyle/>
          <a:p>
            <a:pPr algn="l">
              <a:lnSpc>
                <a:spcPct val="100000"/>
              </a:lnSpc>
            </a:pPr>
            <a:r>
              <a:rPr sz="1500" b="0" i="0">
                <a:solidFill>
                  <a:srgbClr val="A7B2B0"/>
                </a:solidFill>
                <a:latin typeface="Segoe UI"/>
              </a:rPr>
              <a:t>Ejecuta operaciones de git y comandos git personalizados.</a:t>
            </a:r>
          </a:p>
        </p:txBody>
      </p:sp>
      <p:cxnSp>
        <p:nvCxnSpPr>
          <p:cNvPr id="36" name="Connector 35"/>
          <p:cNvCxnSpPr/>
          <p:nvPr/>
        </p:nvCxnSpPr>
        <p:spPr>
          <a:xfrm>
            <a:off x="566928" y="6373368"/>
            <a:ext cx="11057839" cy="0"/>
          </a:xfrm>
          <a:prstGeom prst="line">
            <a:avLst/>
          </a:prstGeom>
          <a:ln w="7620">
            <a:solidFill>
              <a:srgbClr val="2A3A40"/>
            </a:solidFill>
          </a:ln>
        </p:spPr>
        <p:style>
          <a:lnRef idx="2">
            <a:schemeClr val="accent1"/>
          </a:lnRef>
          <a:fillRef idx="0">
            <a:schemeClr val="accent1"/>
          </a:fillRef>
          <a:effectRef idx="1">
            <a:schemeClr val="accent1"/>
          </a:effectRef>
          <a:fontRef idx="minor">
            <a:schemeClr val="tx1"/>
          </a:fontRef>
        </p:style>
      </p:cxnSp>
      <p:sp>
        <p:nvSpPr>
          <p:cNvPr id="37" name="TextBox 36"/>
          <p:cNvSpPr txBox="1"/>
          <p:nvPr/>
        </p:nvSpPr>
        <p:spPr>
          <a:xfrm>
            <a:off x="566928" y="6419088"/>
            <a:ext cx="6858000" cy="274320"/>
          </a:xfrm>
          <a:prstGeom prst="rect">
            <a:avLst/>
          </a:prstGeom>
          <a:noFill/>
        </p:spPr>
        <p:txBody>
          <a:bodyPr wrap="square" lIns="45720" rIns="45720" tIns="27432" bIns="27432" anchor="t">
            <a:noAutofit/>
          </a:bodyPr>
          <a:lstStyle/>
          <a:p>
            <a:pPr algn="l">
              <a:lnSpc>
                <a:spcPct val="100000"/>
              </a:lnSpc>
            </a:pPr>
            <a:r>
              <a:rPr sz="850" b="0" i="0" spc="120">
                <a:solidFill>
                  <a:srgbClr val="A7B2B0"/>
                </a:solidFill>
                <a:latin typeface="Segoe UI Semibold"/>
              </a:rPr>
              <a:t>TLAMATINI  ·  IV · EL BESTIARIO</a:t>
            </a:r>
          </a:p>
        </p:txBody>
      </p:sp>
      <p:sp>
        <p:nvSpPr>
          <p:cNvPr id="38" name="TextBox 37"/>
          <p:cNvSpPr txBox="1"/>
          <p:nvPr/>
        </p:nvSpPr>
        <p:spPr>
          <a:xfrm>
            <a:off x="8698687" y="6419088"/>
            <a:ext cx="2926080" cy="274320"/>
          </a:xfrm>
          <a:prstGeom prst="rect">
            <a:avLst/>
          </a:prstGeom>
          <a:noFill/>
        </p:spPr>
        <p:txBody>
          <a:bodyPr wrap="square" lIns="45720" rIns="45720" tIns="27432" bIns="27432" anchor="t">
            <a:noAutofit/>
          </a:bodyPr>
          <a:lstStyle/>
          <a:p>
            <a:pPr algn="r">
              <a:lnSpc>
                <a:spcPct val="100000"/>
              </a:lnSpc>
            </a:pPr>
            <a:r>
              <a:rPr sz="850" b="0" i="0" spc="100">
                <a:solidFill>
                  <a:srgbClr val="A7B2B0"/>
                </a:solidFill>
                <a:latin typeface="Segoe UI Semibold"/>
              </a:rPr>
              <a:t>v1.91.1   ·   71</a:t>
            </a:r>
          </a:p>
        </p:txBody>
      </p:sp>
    </p:spTree>
  </p:cSld>
  <p:clrMapOvr>
    <a:masterClrMapping/>
  </p:clrMapOvr>
</p:sld>
</file>

<file path=ppt/slides/slide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content.png"/>
          <p:cNvPicPr>
            <a:picLocks noChangeAspect="1"/>
          </p:cNvPicPr>
          <p:nvPr/>
        </p:nvPicPr>
        <p:blipFill>
          <a:blip r:embed="rId2"/>
          <a:stretch>
            <a:fillRect/>
          </a:stretch>
        </p:blipFill>
        <p:spPr>
          <a:xfrm>
            <a:off x="0" y="0"/>
            <a:ext cx="12191695" cy="6858000"/>
          </a:xfrm>
          <a:prstGeom prst="rect">
            <a:avLst/>
          </a:prstGeom>
        </p:spPr>
      </p:pic>
      <p:sp>
        <p:nvSpPr>
          <p:cNvPr id="3" name="Diamond 2"/>
          <p:cNvSpPr/>
          <p:nvPr/>
        </p:nvSpPr>
        <p:spPr>
          <a:xfrm>
            <a:off x="566928" y="457200"/>
            <a:ext cx="100584" cy="100584"/>
          </a:xfrm>
          <a:prstGeom prst="diamond">
            <a:avLst/>
          </a:prstGeom>
          <a:solidFill>
            <a:srgbClr val="D25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49808" y="365760"/>
            <a:ext cx="8229600" cy="292608"/>
          </a:xfrm>
          <a:prstGeom prst="rect">
            <a:avLst/>
          </a:prstGeom>
          <a:noFill/>
        </p:spPr>
        <p:txBody>
          <a:bodyPr wrap="square" lIns="45720" rIns="45720" tIns="27432" bIns="27432" anchor="t">
            <a:noAutofit/>
          </a:bodyPr>
          <a:lstStyle/>
          <a:p>
            <a:pPr algn="l">
              <a:lnSpc>
                <a:spcPct val="100000"/>
              </a:lnSpc>
            </a:pPr>
            <a:r>
              <a:rPr sz="1100" b="0" i="0" spc="240">
                <a:solidFill>
                  <a:srgbClr val="C98457"/>
                </a:solidFill>
                <a:latin typeface="Segoe UI Semibold"/>
              </a:rPr>
              <a:t>FAMILIA DE AGENTS  ·  3 AGENTS</a:t>
            </a:r>
          </a:p>
        </p:txBody>
      </p:sp>
      <p:sp>
        <p:nvSpPr>
          <p:cNvPr id="5" name="TextBox 4"/>
          <p:cNvSpPr txBox="1"/>
          <p:nvPr/>
        </p:nvSpPr>
        <p:spPr>
          <a:xfrm>
            <a:off x="539496" y="676656"/>
            <a:ext cx="11057839" cy="658368"/>
          </a:xfrm>
          <a:prstGeom prst="rect">
            <a:avLst/>
          </a:prstGeom>
          <a:noFill/>
        </p:spPr>
        <p:txBody>
          <a:bodyPr wrap="square" lIns="45720" rIns="45720" tIns="27432" bIns="27432" anchor="t">
            <a:noAutofit/>
          </a:bodyPr>
          <a:lstStyle/>
          <a:p>
            <a:pPr algn="l">
              <a:lnSpc>
                <a:spcPct val="100000"/>
              </a:lnSpc>
            </a:pPr>
            <a:r>
              <a:rPr sz="3100" b="0" i="0">
                <a:solidFill>
                  <a:srgbClr val="F7F2E8"/>
                </a:solidFill>
                <a:latin typeface="Palatino Linotype"/>
              </a:rPr>
              <a:t>Documentos</a:t>
            </a:r>
          </a:p>
        </p:txBody>
      </p:sp>
      <p:sp>
        <p:nvSpPr>
          <p:cNvPr id="6" name="Rectangle 5"/>
          <p:cNvSpPr/>
          <p:nvPr/>
        </p:nvSpPr>
        <p:spPr>
          <a:xfrm>
            <a:off x="566928" y="1344168"/>
            <a:ext cx="822960" cy="36576"/>
          </a:xfrm>
          <a:prstGeom prst="rect">
            <a:avLst/>
          </a:prstGeom>
          <a:solidFill>
            <a:srgbClr val="D25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566928" y="1444752"/>
            <a:ext cx="10692079" cy="585216"/>
          </a:xfrm>
          <a:prstGeom prst="rect">
            <a:avLst/>
          </a:prstGeom>
          <a:noFill/>
        </p:spPr>
        <p:txBody>
          <a:bodyPr wrap="square" lIns="45720" rIns="45720" tIns="27432" bIns="27432" anchor="t">
            <a:noAutofit/>
          </a:bodyPr>
          <a:lstStyle/>
          <a:p>
            <a:pPr algn="l">
              <a:lnSpc>
                <a:spcPct val="100000"/>
              </a:lnSpc>
            </a:pPr>
            <a:r>
              <a:rPr sz="1450" b="0" i="0">
                <a:solidFill>
                  <a:srgbClr val="A7B2B0"/>
                </a:solidFill>
                <a:latin typeface="Segoe UI Semilight"/>
              </a:rPr>
              <a:t>Componen, tipografían y presentan.</a:t>
            </a:r>
          </a:p>
        </p:txBody>
      </p:sp>
      <p:sp>
        <p:nvSpPr>
          <p:cNvPr id="8" name="Rounded Rectangle 7"/>
          <p:cNvSpPr/>
          <p:nvPr/>
        </p:nvSpPr>
        <p:spPr>
          <a:xfrm>
            <a:off x="566928" y="3204972"/>
            <a:ext cx="3539642" cy="1874520"/>
          </a:xfrm>
          <a:prstGeom prst="roundRect">
            <a:avLst>
              <a:gd name="adj" fmla="val 5853"/>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ectangle 8"/>
          <p:cNvSpPr/>
          <p:nvPr/>
        </p:nvSpPr>
        <p:spPr>
          <a:xfrm>
            <a:off x="731520" y="3332988"/>
            <a:ext cx="502920" cy="45720"/>
          </a:xfrm>
          <a:prstGeom prst="rect">
            <a:avLst/>
          </a:prstGeom>
          <a:solidFill>
            <a:srgbClr val="D25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694944" y="3424428"/>
            <a:ext cx="3283610" cy="429768"/>
          </a:xfrm>
          <a:prstGeom prst="rect">
            <a:avLst/>
          </a:prstGeom>
          <a:noFill/>
        </p:spPr>
        <p:txBody>
          <a:bodyPr wrap="square" lIns="45720" rIns="45720" tIns="27432" bIns="27432" anchor="t">
            <a:noAutofit/>
          </a:bodyPr>
          <a:lstStyle/>
          <a:p>
            <a:pPr algn="l">
              <a:lnSpc>
                <a:spcPct val="100000"/>
              </a:lnSpc>
            </a:pPr>
            <a:r>
              <a:rPr sz="2100" b="1" i="0">
                <a:solidFill>
                  <a:srgbClr val="F7F2E8"/>
                </a:solidFill>
                <a:latin typeface="Palatino Linotype"/>
              </a:rPr>
              <a:t>PDFer</a:t>
            </a:r>
          </a:p>
        </p:txBody>
      </p:sp>
      <p:sp>
        <p:nvSpPr>
          <p:cNvPr id="11" name="TextBox 10"/>
          <p:cNvSpPr txBox="1"/>
          <p:nvPr/>
        </p:nvSpPr>
        <p:spPr>
          <a:xfrm>
            <a:off x="694944" y="3854196"/>
            <a:ext cx="3283610" cy="1133856"/>
          </a:xfrm>
          <a:prstGeom prst="rect">
            <a:avLst/>
          </a:prstGeom>
          <a:noFill/>
        </p:spPr>
        <p:txBody>
          <a:bodyPr wrap="square" lIns="45720" rIns="45720" tIns="27432" bIns="27432" anchor="t">
            <a:noAutofit/>
          </a:bodyPr>
          <a:lstStyle/>
          <a:p>
            <a:pPr algn="l">
              <a:lnSpc>
                <a:spcPct val="100000"/>
              </a:lnSpc>
            </a:pPr>
            <a:r>
              <a:rPr sz="1650" b="0" i="0">
                <a:solidFill>
                  <a:srgbClr val="A7B2B0"/>
                </a:solidFill>
                <a:latin typeface="Segoe UI"/>
              </a:rPr>
              <a:t>Compone PDFs a partir de texto, Markdown, HTML e imágenes: 24 estilos, 20 temas.</a:t>
            </a:r>
          </a:p>
        </p:txBody>
      </p:sp>
      <p:sp>
        <p:nvSpPr>
          <p:cNvPr id="12" name="Rounded Rectangle 11"/>
          <p:cNvSpPr/>
          <p:nvPr/>
        </p:nvSpPr>
        <p:spPr>
          <a:xfrm>
            <a:off x="4326026" y="3204972"/>
            <a:ext cx="3539642" cy="1874520"/>
          </a:xfrm>
          <a:prstGeom prst="roundRect">
            <a:avLst>
              <a:gd name="adj" fmla="val 5853"/>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4490618" y="3332988"/>
            <a:ext cx="502920" cy="45720"/>
          </a:xfrm>
          <a:prstGeom prst="rect">
            <a:avLst/>
          </a:prstGeom>
          <a:solidFill>
            <a:srgbClr val="D25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4454042" y="3424428"/>
            <a:ext cx="3283610" cy="429768"/>
          </a:xfrm>
          <a:prstGeom prst="rect">
            <a:avLst/>
          </a:prstGeom>
          <a:noFill/>
        </p:spPr>
        <p:txBody>
          <a:bodyPr wrap="square" lIns="45720" rIns="45720" tIns="27432" bIns="27432" anchor="t">
            <a:noAutofit/>
          </a:bodyPr>
          <a:lstStyle/>
          <a:p>
            <a:pPr algn="l">
              <a:lnSpc>
                <a:spcPct val="100000"/>
              </a:lnSpc>
            </a:pPr>
            <a:r>
              <a:rPr sz="2100" b="1" i="0">
                <a:solidFill>
                  <a:srgbClr val="F7F2E8"/>
                </a:solidFill>
                <a:latin typeface="Palatino Linotype"/>
              </a:rPr>
              <a:t>PPTXer</a:t>
            </a:r>
          </a:p>
        </p:txBody>
      </p:sp>
      <p:sp>
        <p:nvSpPr>
          <p:cNvPr id="15" name="TextBox 14"/>
          <p:cNvSpPr txBox="1"/>
          <p:nvPr/>
        </p:nvSpPr>
        <p:spPr>
          <a:xfrm>
            <a:off x="4454042" y="3854196"/>
            <a:ext cx="3283610" cy="1133856"/>
          </a:xfrm>
          <a:prstGeom prst="rect">
            <a:avLst/>
          </a:prstGeom>
          <a:noFill/>
        </p:spPr>
        <p:txBody>
          <a:bodyPr wrap="square" lIns="45720" rIns="45720" tIns="27432" bIns="27432" anchor="t">
            <a:noAutofit/>
          </a:bodyPr>
          <a:lstStyle/>
          <a:p>
            <a:pPr algn="l">
              <a:lnSpc>
                <a:spcPct val="100000"/>
              </a:lnSpc>
            </a:pPr>
            <a:r>
              <a:rPr sz="1650" b="0" i="0">
                <a:solidFill>
                  <a:srgbClr val="A7B2B0"/>
                </a:solidFill>
                <a:latin typeface="Segoe UI"/>
              </a:rPr>
              <a:t>Construye decks editables de PowerPoint cuyo texto se mide, nunca se trunca.</a:t>
            </a:r>
          </a:p>
        </p:txBody>
      </p:sp>
      <p:sp>
        <p:nvSpPr>
          <p:cNvPr id="16" name="Rounded Rectangle 15"/>
          <p:cNvSpPr/>
          <p:nvPr/>
        </p:nvSpPr>
        <p:spPr>
          <a:xfrm>
            <a:off x="8085124" y="3204972"/>
            <a:ext cx="3539642" cy="1874520"/>
          </a:xfrm>
          <a:prstGeom prst="roundRect">
            <a:avLst>
              <a:gd name="adj" fmla="val 5853"/>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8249716" y="3332988"/>
            <a:ext cx="502920" cy="45720"/>
          </a:xfrm>
          <a:prstGeom prst="rect">
            <a:avLst/>
          </a:prstGeom>
          <a:solidFill>
            <a:srgbClr val="D25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213140" y="3424428"/>
            <a:ext cx="3283610" cy="429768"/>
          </a:xfrm>
          <a:prstGeom prst="rect">
            <a:avLst/>
          </a:prstGeom>
          <a:noFill/>
        </p:spPr>
        <p:txBody>
          <a:bodyPr wrap="square" lIns="45720" rIns="45720" tIns="27432" bIns="27432" anchor="t">
            <a:noAutofit/>
          </a:bodyPr>
          <a:lstStyle/>
          <a:p>
            <a:pPr algn="l">
              <a:lnSpc>
                <a:spcPct val="100000"/>
              </a:lnSpc>
            </a:pPr>
            <a:r>
              <a:rPr sz="2100" b="1" i="0">
                <a:solidFill>
                  <a:srgbClr val="F7F2E8"/>
                </a:solidFill>
                <a:latin typeface="Palatino Linotype"/>
              </a:rPr>
              <a:t>LaTeXer</a:t>
            </a:r>
          </a:p>
        </p:txBody>
      </p:sp>
      <p:sp>
        <p:nvSpPr>
          <p:cNvPr id="19" name="TextBox 18"/>
          <p:cNvSpPr txBox="1"/>
          <p:nvPr/>
        </p:nvSpPr>
        <p:spPr>
          <a:xfrm>
            <a:off x="8213140" y="3854196"/>
            <a:ext cx="3283610" cy="1133856"/>
          </a:xfrm>
          <a:prstGeom prst="rect">
            <a:avLst/>
          </a:prstGeom>
          <a:noFill/>
        </p:spPr>
        <p:txBody>
          <a:bodyPr wrap="square" lIns="45720" rIns="45720" tIns="27432" bIns="27432" anchor="t">
            <a:noAutofit/>
          </a:bodyPr>
          <a:lstStyle/>
          <a:p>
            <a:pPr algn="l">
              <a:lnSpc>
                <a:spcPct val="100000"/>
              </a:lnSpc>
            </a:pPr>
            <a:r>
              <a:rPr sz="1650" b="0" i="0">
                <a:solidFill>
                  <a:srgbClr val="A7B2B0"/>
                </a:solidFill>
                <a:latin typeface="Segoe UI"/>
              </a:rPr>
              <a:t>Tipografía proyectos de LaTeX, con una escalera de reparación auto-sanadora de ocho peldaños.</a:t>
            </a:r>
          </a:p>
        </p:txBody>
      </p:sp>
      <p:cxnSp>
        <p:nvCxnSpPr>
          <p:cNvPr id="20" name="Connector 19"/>
          <p:cNvCxnSpPr/>
          <p:nvPr/>
        </p:nvCxnSpPr>
        <p:spPr>
          <a:xfrm>
            <a:off x="566928" y="6373368"/>
            <a:ext cx="11057839" cy="0"/>
          </a:xfrm>
          <a:prstGeom prst="line">
            <a:avLst/>
          </a:prstGeom>
          <a:ln w="7620">
            <a:solidFill>
              <a:srgbClr val="2A3A40"/>
            </a:solidFill>
          </a:ln>
        </p:spPr>
        <p:style>
          <a:lnRef idx="2">
            <a:schemeClr val="accent1"/>
          </a:lnRef>
          <a:fillRef idx="0">
            <a:schemeClr val="accent1"/>
          </a:fillRef>
          <a:effectRef idx="1">
            <a:schemeClr val="accent1"/>
          </a:effectRef>
          <a:fontRef idx="minor">
            <a:schemeClr val="tx1"/>
          </a:fontRef>
        </p:style>
      </p:cxnSp>
      <p:sp>
        <p:nvSpPr>
          <p:cNvPr id="21" name="TextBox 20"/>
          <p:cNvSpPr txBox="1"/>
          <p:nvPr/>
        </p:nvSpPr>
        <p:spPr>
          <a:xfrm>
            <a:off x="566928" y="6419088"/>
            <a:ext cx="6858000" cy="274320"/>
          </a:xfrm>
          <a:prstGeom prst="rect">
            <a:avLst/>
          </a:prstGeom>
          <a:noFill/>
        </p:spPr>
        <p:txBody>
          <a:bodyPr wrap="square" lIns="45720" rIns="45720" tIns="27432" bIns="27432" anchor="t">
            <a:noAutofit/>
          </a:bodyPr>
          <a:lstStyle/>
          <a:p>
            <a:pPr algn="l">
              <a:lnSpc>
                <a:spcPct val="100000"/>
              </a:lnSpc>
            </a:pPr>
            <a:r>
              <a:rPr sz="850" b="0" i="0" spc="120">
                <a:solidFill>
                  <a:srgbClr val="A7B2B0"/>
                </a:solidFill>
                <a:latin typeface="Segoe UI Semibold"/>
              </a:rPr>
              <a:t>TLAMATINI  ·  IV · EL BESTIARIO</a:t>
            </a:r>
          </a:p>
        </p:txBody>
      </p:sp>
      <p:sp>
        <p:nvSpPr>
          <p:cNvPr id="22" name="TextBox 21"/>
          <p:cNvSpPr txBox="1"/>
          <p:nvPr/>
        </p:nvSpPr>
        <p:spPr>
          <a:xfrm>
            <a:off x="8698687" y="6419088"/>
            <a:ext cx="2926080" cy="274320"/>
          </a:xfrm>
          <a:prstGeom prst="rect">
            <a:avLst/>
          </a:prstGeom>
          <a:noFill/>
        </p:spPr>
        <p:txBody>
          <a:bodyPr wrap="square" lIns="45720" rIns="45720" tIns="27432" bIns="27432" anchor="t">
            <a:noAutofit/>
          </a:bodyPr>
          <a:lstStyle/>
          <a:p>
            <a:pPr algn="r">
              <a:lnSpc>
                <a:spcPct val="100000"/>
              </a:lnSpc>
            </a:pPr>
            <a:r>
              <a:rPr sz="850" b="0" i="0" spc="100">
                <a:solidFill>
                  <a:srgbClr val="A7B2B0"/>
                </a:solidFill>
                <a:latin typeface="Segoe UI Semibold"/>
              </a:rPr>
              <a:t>v1.91.1   ·   72</a:t>
            </a:r>
          </a:p>
        </p:txBody>
      </p:sp>
    </p:spTree>
  </p:cSld>
  <p:clrMapOvr>
    <a:masterClrMapping/>
  </p:clrMapOvr>
</p:sld>
</file>

<file path=ppt/slides/slide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content.png"/>
          <p:cNvPicPr>
            <a:picLocks noChangeAspect="1"/>
          </p:cNvPicPr>
          <p:nvPr/>
        </p:nvPicPr>
        <p:blipFill>
          <a:blip r:embed="rId2"/>
          <a:stretch>
            <a:fillRect/>
          </a:stretch>
        </p:blipFill>
        <p:spPr>
          <a:xfrm>
            <a:off x="0" y="0"/>
            <a:ext cx="12191695" cy="6858000"/>
          </a:xfrm>
          <a:prstGeom prst="rect">
            <a:avLst/>
          </a:prstGeom>
        </p:spPr>
      </p:pic>
      <p:sp>
        <p:nvSpPr>
          <p:cNvPr id="3" name="Diamond 2"/>
          <p:cNvSpPr/>
          <p:nvPr/>
        </p:nvSpPr>
        <p:spPr>
          <a:xfrm>
            <a:off x="566928" y="457200"/>
            <a:ext cx="100584" cy="100584"/>
          </a:xfrm>
          <a:prstGeom prst="diamond">
            <a:avLst/>
          </a:prstGeom>
          <a:solidFill>
            <a:srgbClr val="D25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49808" y="365760"/>
            <a:ext cx="8229600" cy="292608"/>
          </a:xfrm>
          <a:prstGeom prst="rect">
            <a:avLst/>
          </a:prstGeom>
          <a:noFill/>
        </p:spPr>
        <p:txBody>
          <a:bodyPr wrap="square" lIns="45720" rIns="45720" tIns="27432" bIns="27432" anchor="t">
            <a:noAutofit/>
          </a:bodyPr>
          <a:lstStyle/>
          <a:p>
            <a:pPr algn="l">
              <a:lnSpc>
                <a:spcPct val="100000"/>
              </a:lnSpc>
            </a:pPr>
            <a:r>
              <a:rPr sz="1100" b="0" i="0" spc="240">
                <a:solidFill>
                  <a:srgbClr val="C98457"/>
                </a:solidFill>
                <a:latin typeface="Segoe UI Semibold"/>
              </a:rPr>
              <a:t>FAMILIA DE AGENTS  ·  7 AGENTS</a:t>
            </a:r>
          </a:p>
        </p:txBody>
      </p:sp>
      <p:sp>
        <p:nvSpPr>
          <p:cNvPr id="5" name="TextBox 4"/>
          <p:cNvSpPr txBox="1"/>
          <p:nvPr/>
        </p:nvSpPr>
        <p:spPr>
          <a:xfrm>
            <a:off x="539496" y="676656"/>
            <a:ext cx="11057839" cy="658368"/>
          </a:xfrm>
          <a:prstGeom prst="rect">
            <a:avLst/>
          </a:prstGeom>
          <a:noFill/>
        </p:spPr>
        <p:txBody>
          <a:bodyPr wrap="square" lIns="45720" rIns="45720" tIns="27432" bIns="27432" anchor="t">
            <a:noAutofit/>
          </a:bodyPr>
          <a:lstStyle/>
          <a:p>
            <a:pPr algn="l">
              <a:lnSpc>
                <a:spcPct val="100000"/>
              </a:lnSpc>
            </a:pPr>
            <a:r>
              <a:rPr sz="3100" b="0" i="0">
                <a:solidFill>
                  <a:srgbClr val="F7F2E8"/>
                </a:solidFill>
                <a:latin typeface="Palatino Linotype"/>
              </a:rPr>
              <a:t>Web, datos y APIs</a:t>
            </a:r>
          </a:p>
        </p:txBody>
      </p:sp>
      <p:sp>
        <p:nvSpPr>
          <p:cNvPr id="6" name="Rectangle 5"/>
          <p:cNvSpPr/>
          <p:nvPr/>
        </p:nvSpPr>
        <p:spPr>
          <a:xfrm>
            <a:off x="566928" y="1344168"/>
            <a:ext cx="822960" cy="36576"/>
          </a:xfrm>
          <a:prstGeom prst="rect">
            <a:avLst/>
          </a:prstGeom>
          <a:solidFill>
            <a:srgbClr val="D25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566928" y="1444752"/>
            <a:ext cx="10692079" cy="585216"/>
          </a:xfrm>
          <a:prstGeom prst="rect">
            <a:avLst/>
          </a:prstGeom>
          <a:noFill/>
        </p:spPr>
        <p:txBody>
          <a:bodyPr wrap="square" lIns="45720" rIns="45720" tIns="27432" bIns="27432" anchor="t">
            <a:noAutofit/>
          </a:bodyPr>
          <a:lstStyle/>
          <a:p>
            <a:pPr algn="l">
              <a:lnSpc>
                <a:spcPct val="100000"/>
              </a:lnSpc>
            </a:pPr>
            <a:r>
              <a:rPr sz="1450" b="0" i="0">
                <a:solidFill>
                  <a:srgbClr val="A7B2B0"/>
                </a:solidFill>
                <a:latin typeface="Segoe UI Semilight"/>
              </a:rPr>
              <a:t>Busca, navega, llama y mide.</a:t>
            </a:r>
          </a:p>
        </p:txBody>
      </p:sp>
      <p:sp>
        <p:nvSpPr>
          <p:cNvPr id="8" name="Rounded Rectangle 7"/>
          <p:cNvSpPr/>
          <p:nvPr/>
        </p:nvSpPr>
        <p:spPr>
          <a:xfrm>
            <a:off x="566928" y="2218943"/>
            <a:ext cx="2599867" cy="1813560"/>
          </a:xfrm>
          <a:prstGeom prst="roundRect">
            <a:avLst>
              <a:gd name="adj" fmla="val 6050"/>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ectangle 8"/>
          <p:cNvSpPr/>
          <p:nvPr/>
        </p:nvSpPr>
        <p:spPr>
          <a:xfrm>
            <a:off x="731520" y="2346960"/>
            <a:ext cx="502920" cy="45720"/>
          </a:xfrm>
          <a:prstGeom prst="rect">
            <a:avLst/>
          </a:prstGeom>
          <a:solidFill>
            <a:srgbClr val="3BBE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694944" y="2438399"/>
            <a:ext cx="2343835" cy="399288"/>
          </a:xfrm>
          <a:prstGeom prst="rect">
            <a:avLst/>
          </a:prstGeom>
          <a:noFill/>
        </p:spPr>
        <p:txBody>
          <a:bodyPr wrap="square" lIns="45720" rIns="45720" tIns="27432" bIns="27432" anchor="t">
            <a:noAutofit/>
          </a:bodyPr>
          <a:lstStyle/>
          <a:p>
            <a:pPr algn="l">
              <a:lnSpc>
                <a:spcPct val="100000"/>
              </a:lnSpc>
            </a:pPr>
            <a:r>
              <a:rPr sz="1900" b="1" i="0">
                <a:solidFill>
                  <a:srgbClr val="F7F2E8"/>
                </a:solidFill>
                <a:latin typeface="Palatino Linotype"/>
              </a:rPr>
              <a:t>Googler</a:t>
            </a:r>
          </a:p>
        </p:txBody>
      </p:sp>
      <p:sp>
        <p:nvSpPr>
          <p:cNvPr id="11" name="TextBox 10"/>
          <p:cNvSpPr txBox="1"/>
          <p:nvPr/>
        </p:nvSpPr>
        <p:spPr>
          <a:xfrm>
            <a:off x="694944" y="2837687"/>
            <a:ext cx="2343835" cy="1103376"/>
          </a:xfrm>
          <a:prstGeom prst="rect">
            <a:avLst/>
          </a:prstGeom>
          <a:noFill/>
        </p:spPr>
        <p:txBody>
          <a:bodyPr wrap="square" lIns="45720" rIns="45720" tIns="27432" bIns="27432" anchor="t">
            <a:noAutofit/>
          </a:bodyPr>
          <a:lstStyle/>
          <a:p>
            <a:pPr algn="l">
              <a:lnSpc>
                <a:spcPct val="100000"/>
              </a:lnSpc>
            </a:pPr>
            <a:r>
              <a:rPr sz="1500" b="0" i="0">
                <a:solidFill>
                  <a:srgbClr val="A7B2B0"/>
                </a:solidFill>
                <a:latin typeface="Segoe UI"/>
              </a:rPr>
              <a:t>Búsqueda web resiliente de dos niveles con un constructor estructurado de Google-dorks.</a:t>
            </a:r>
          </a:p>
        </p:txBody>
      </p:sp>
      <p:sp>
        <p:nvSpPr>
          <p:cNvPr id="12" name="Rounded Rectangle 11"/>
          <p:cNvSpPr/>
          <p:nvPr/>
        </p:nvSpPr>
        <p:spPr>
          <a:xfrm>
            <a:off x="3386251" y="2218943"/>
            <a:ext cx="2599867" cy="1813560"/>
          </a:xfrm>
          <a:prstGeom prst="roundRect">
            <a:avLst>
              <a:gd name="adj" fmla="val 6050"/>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3550843" y="2346960"/>
            <a:ext cx="502920" cy="45720"/>
          </a:xfrm>
          <a:prstGeom prst="rect">
            <a:avLst/>
          </a:prstGeom>
          <a:solidFill>
            <a:srgbClr val="3BBE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3514267" y="2438399"/>
            <a:ext cx="2343835" cy="399288"/>
          </a:xfrm>
          <a:prstGeom prst="rect">
            <a:avLst/>
          </a:prstGeom>
          <a:noFill/>
        </p:spPr>
        <p:txBody>
          <a:bodyPr wrap="square" lIns="45720" rIns="45720" tIns="27432" bIns="27432" anchor="t">
            <a:noAutofit/>
          </a:bodyPr>
          <a:lstStyle/>
          <a:p>
            <a:pPr algn="l">
              <a:lnSpc>
                <a:spcPct val="100000"/>
              </a:lnSpc>
            </a:pPr>
            <a:r>
              <a:rPr sz="1900" b="1" i="0">
                <a:solidFill>
                  <a:srgbClr val="F7F2E8"/>
                </a:solidFill>
                <a:latin typeface="Palatino Linotype"/>
              </a:rPr>
              <a:t>Crawler</a:t>
            </a:r>
          </a:p>
        </p:txBody>
      </p:sp>
      <p:sp>
        <p:nvSpPr>
          <p:cNvPr id="15" name="TextBox 14"/>
          <p:cNvSpPr txBox="1"/>
          <p:nvPr/>
        </p:nvSpPr>
        <p:spPr>
          <a:xfrm>
            <a:off x="3514267" y="2837687"/>
            <a:ext cx="2343835" cy="1103376"/>
          </a:xfrm>
          <a:prstGeom prst="rect">
            <a:avLst/>
          </a:prstGeom>
          <a:noFill/>
        </p:spPr>
        <p:txBody>
          <a:bodyPr wrap="square" lIns="45720" rIns="45720" tIns="27432" bIns="27432" anchor="t">
            <a:noAutofit/>
          </a:bodyPr>
          <a:lstStyle/>
          <a:p>
            <a:pPr algn="l">
              <a:lnSpc>
                <a:spcPct val="100000"/>
              </a:lnSpc>
            </a:pPr>
            <a:r>
              <a:rPr sz="1500" b="0" i="0">
                <a:solidFill>
                  <a:srgbClr val="A7B2B0"/>
                </a:solidFill>
                <a:latin typeface="Segoe UI"/>
              </a:rPr>
              <a:t>Trae una página en crudo o como texto y la analiza con un modelo.</a:t>
            </a:r>
          </a:p>
        </p:txBody>
      </p:sp>
      <p:sp>
        <p:nvSpPr>
          <p:cNvPr id="16" name="Rounded Rectangle 15"/>
          <p:cNvSpPr/>
          <p:nvPr/>
        </p:nvSpPr>
        <p:spPr>
          <a:xfrm>
            <a:off x="6205575" y="2218943"/>
            <a:ext cx="2599867" cy="1813560"/>
          </a:xfrm>
          <a:prstGeom prst="roundRect">
            <a:avLst>
              <a:gd name="adj" fmla="val 6050"/>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6370167" y="2346960"/>
            <a:ext cx="502920" cy="45720"/>
          </a:xfrm>
          <a:prstGeom prst="rect">
            <a:avLst/>
          </a:prstGeom>
          <a:solidFill>
            <a:srgbClr val="3BBE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6333591" y="2438399"/>
            <a:ext cx="2343835" cy="399288"/>
          </a:xfrm>
          <a:prstGeom prst="rect">
            <a:avLst/>
          </a:prstGeom>
          <a:noFill/>
        </p:spPr>
        <p:txBody>
          <a:bodyPr wrap="square" lIns="45720" rIns="45720" tIns="27432" bIns="27432" anchor="t">
            <a:noAutofit/>
          </a:bodyPr>
          <a:lstStyle/>
          <a:p>
            <a:pPr algn="l">
              <a:lnSpc>
                <a:spcPct val="100000"/>
              </a:lnSpc>
            </a:pPr>
            <a:r>
              <a:rPr sz="1900" b="1" i="0">
                <a:solidFill>
                  <a:srgbClr val="F7F2E8"/>
                </a:solidFill>
                <a:latin typeface="Palatino Linotype"/>
              </a:rPr>
              <a:t>Playwrighter</a:t>
            </a:r>
          </a:p>
        </p:txBody>
      </p:sp>
      <p:sp>
        <p:nvSpPr>
          <p:cNvPr id="19" name="TextBox 18"/>
          <p:cNvSpPr txBox="1"/>
          <p:nvPr/>
        </p:nvSpPr>
        <p:spPr>
          <a:xfrm>
            <a:off x="6333591" y="2837687"/>
            <a:ext cx="2343835" cy="1103376"/>
          </a:xfrm>
          <a:prstGeom prst="rect">
            <a:avLst/>
          </a:prstGeom>
          <a:noFill/>
        </p:spPr>
        <p:txBody>
          <a:bodyPr wrap="square" lIns="45720" rIns="45720" tIns="27432" bIns="27432" anchor="t">
            <a:noAutofit/>
          </a:bodyPr>
          <a:lstStyle/>
          <a:p>
            <a:pPr algn="l">
              <a:lnSpc>
                <a:spcPct val="100000"/>
              </a:lnSpc>
            </a:pPr>
            <a:r>
              <a:rPr sz="1500" b="0" i="0">
                <a:solidFill>
                  <a:srgbClr val="A7B2B0"/>
                </a:solidFill>
                <a:latin typeface="Segoe UI"/>
              </a:rPr>
              <a:t>Maneja un browser real a través de pasos con script: inicia sesión, llena, hace clic, extrae.</a:t>
            </a:r>
          </a:p>
        </p:txBody>
      </p:sp>
      <p:sp>
        <p:nvSpPr>
          <p:cNvPr id="20" name="Rounded Rectangle 19"/>
          <p:cNvSpPr/>
          <p:nvPr/>
        </p:nvSpPr>
        <p:spPr>
          <a:xfrm>
            <a:off x="9024899" y="2218943"/>
            <a:ext cx="2599867" cy="1813560"/>
          </a:xfrm>
          <a:prstGeom prst="roundRect">
            <a:avLst>
              <a:gd name="adj" fmla="val 6050"/>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ectangle 20"/>
          <p:cNvSpPr/>
          <p:nvPr/>
        </p:nvSpPr>
        <p:spPr>
          <a:xfrm>
            <a:off x="9189491" y="2346960"/>
            <a:ext cx="502920" cy="45720"/>
          </a:xfrm>
          <a:prstGeom prst="rect">
            <a:avLst/>
          </a:prstGeom>
          <a:solidFill>
            <a:srgbClr val="3BBE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9152915" y="2438399"/>
            <a:ext cx="2343835" cy="399288"/>
          </a:xfrm>
          <a:prstGeom prst="rect">
            <a:avLst/>
          </a:prstGeom>
          <a:noFill/>
        </p:spPr>
        <p:txBody>
          <a:bodyPr wrap="square" lIns="45720" rIns="45720" tIns="27432" bIns="27432" anchor="t">
            <a:noAutofit/>
          </a:bodyPr>
          <a:lstStyle/>
          <a:p>
            <a:pPr algn="l">
              <a:lnSpc>
                <a:spcPct val="100000"/>
              </a:lnSpc>
            </a:pPr>
            <a:r>
              <a:rPr sz="1900" b="1" i="0">
                <a:solidFill>
                  <a:srgbClr val="F7F2E8"/>
                </a:solidFill>
                <a:latin typeface="Palatino Linotype"/>
              </a:rPr>
              <a:t>Apirer</a:t>
            </a:r>
          </a:p>
        </p:txBody>
      </p:sp>
      <p:sp>
        <p:nvSpPr>
          <p:cNvPr id="23" name="TextBox 22"/>
          <p:cNvSpPr txBox="1"/>
          <p:nvPr/>
        </p:nvSpPr>
        <p:spPr>
          <a:xfrm>
            <a:off x="9152915" y="2837687"/>
            <a:ext cx="2343835" cy="1103376"/>
          </a:xfrm>
          <a:prstGeom prst="rect">
            <a:avLst/>
          </a:prstGeom>
          <a:noFill/>
        </p:spPr>
        <p:txBody>
          <a:bodyPr wrap="square" lIns="45720" rIns="45720" tIns="27432" bIns="27432" anchor="t">
            <a:noAutofit/>
          </a:bodyPr>
          <a:lstStyle/>
          <a:p>
            <a:pPr algn="l">
              <a:lnSpc>
                <a:spcPct val="100000"/>
              </a:lnSpc>
            </a:pPr>
            <a:r>
              <a:rPr sz="1500" b="0" i="0">
                <a:solidFill>
                  <a:srgbClr val="A7B2B0"/>
                </a:solidFill>
                <a:latin typeface="Segoe UI"/>
              </a:rPr>
              <a:t>Llama APIs REST con cualquier método, headers, body y timeout.</a:t>
            </a:r>
          </a:p>
        </p:txBody>
      </p:sp>
      <p:sp>
        <p:nvSpPr>
          <p:cNvPr id="24" name="Rounded Rectangle 23"/>
          <p:cNvSpPr/>
          <p:nvPr/>
        </p:nvSpPr>
        <p:spPr>
          <a:xfrm>
            <a:off x="566928" y="4251960"/>
            <a:ext cx="2599867" cy="1813560"/>
          </a:xfrm>
          <a:prstGeom prst="roundRect">
            <a:avLst>
              <a:gd name="adj" fmla="val 6050"/>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ectangle 24"/>
          <p:cNvSpPr/>
          <p:nvPr/>
        </p:nvSpPr>
        <p:spPr>
          <a:xfrm>
            <a:off x="731520" y="4379976"/>
            <a:ext cx="502920" cy="45720"/>
          </a:xfrm>
          <a:prstGeom prst="rect">
            <a:avLst/>
          </a:prstGeom>
          <a:solidFill>
            <a:srgbClr val="3BBE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694944" y="4471416"/>
            <a:ext cx="2343835" cy="399288"/>
          </a:xfrm>
          <a:prstGeom prst="rect">
            <a:avLst/>
          </a:prstGeom>
          <a:noFill/>
        </p:spPr>
        <p:txBody>
          <a:bodyPr wrap="square" lIns="45720" rIns="45720" tIns="27432" bIns="27432" anchor="t">
            <a:noAutofit/>
          </a:bodyPr>
          <a:lstStyle/>
          <a:p>
            <a:pPr algn="l">
              <a:lnSpc>
                <a:spcPct val="100000"/>
              </a:lnSpc>
            </a:pPr>
            <a:r>
              <a:rPr sz="1900" b="1" i="0">
                <a:solidFill>
                  <a:srgbClr val="F7F2E8"/>
                </a:solidFill>
                <a:latin typeface="Palatino Linotype"/>
              </a:rPr>
              <a:t>SQLer</a:t>
            </a:r>
          </a:p>
        </p:txBody>
      </p:sp>
      <p:sp>
        <p:nvSpPr>
          <p:cNvPr id="27" name="TextBox 26"/>
          <p:cNvSpPr txBox="1"/>
          <p:nvPr/>
        </p:nvSpPr>
        <p:spPr>
          <a:xfrm>
            <a:off x="694944" y="4870704"/>
            <a:ext cx="2343835" cy="1103376"/>
          </a:xfrm>
          <a:prstGeom prst="rect">
            <a:avLst/>
          </a:prstGeom>
          <a:noFill/>
        </p:spPr>
        <p:txBody>
          <a:bodyPr wrap="square" lIns="45720" rIns="45720" tIns="27432" bIns="27432" anchor="t">
            <a:noAutofit/>
          </a:bodyPr>
          <a:lstStyle/>
          <a:p>
            <a:pPr algn="l">
              <a:lnSpc>
                <a:spcPct val="100000"/>
              </a:lnSpc>
            </a:pPr>
            <a:r>
              <a:rPr sz="1500" b="0" i="0">
                <a:solidFill>
                  <a:srgbClr val="A7B2B0"/>
                </a:solidFill>
                <a:latin typeface="Segoe UI"/>
              </a:rPr>
              <a:t>Ejecuta Python contra Microsoft SQL Server con un cursor listo.</a:t>
            </a:r>
          </a:p>
        </p:txBody>
      </p:sp>
      <p:sp>
        <p:nvSpPr>
          <p:cNvPr id="28" name="Rounded Rectangle 27"/>
          <p:cNvSpPr/>
          <p:nvPr/>
        </p:nvSpPr>
        <p:spPr>
          <a:xfrm>
            <a:off x="3386251" y="4251960"/>
            <a:ext cx="2599867" cy="1813560"/>
          </a:xfrm>
          <a:prstGeom prst="roundRect">
            <a:avLst>
              <a:gd name="adj" fmla="val 6050"/>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Rectangle 28"/>
          <p:cNvSpPr/>
          <p:nvPr/>
        </p:nvSpPr>
        <p:spPr>
          <a:xfrm>
            <a:off x="3550843" y="4379976"/>
            <a:ext cx="502920" cy="45720"/>
          </a:xfrm>
          <a:prstGeom prst="rect">
            <a:avLst/>
          </a:prstGeom>
          <a:solidFill>
            <a:srgbClr val="3BBE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3514267" y="4471416"/>
            <a:ext cx="2343835" cy="399288"/>
          </a:xfrm>
          <a:prstGeom prst="rect">
            <a:avLst/>
          </a:prstGeom>
          <a:noFill/>
        </p:spPr>
        <p:txBody>
          <a:bodyPr wrap="square" lIns="45720" rIns="45720" tIns="27432" bIns="27432" anchor="t">
            <a:noAutofit/>
          </a:bodyPr>
          <a:lstStyle/>
          <a:p>
            <a:pPr algn="l">
              <a:lnSpc>
                <a:spcPct val="100000"/>
              </a:lnSpc>
            </a:pPr>
            <a:r>
              <a:rPr sz="1900" b="1" i="0">
                <a:solidFill>
                  <a:srgbClr val="F7F2E8"/>
                </a:solidFill>
                <a:latin typeface="Palatino Linotype"/>
              </a:rPr>
              <a:t>Mongoxer</a:t>
            </a:r>
          </a:p>
        </p:txBody>
      </p:sp>
      <p:sp>
        <p:nvSpPr>
          <p:cNvPr id="31" name="TextBox 30"/>
          <p:cNvSpPr txBox="1"/>
          <p:nvPr/>
        </p:nvSpPr>
        <p:spPr>
          <a:xfrm>
            <a:off x="3514267" y="4870704"/>
            <a:ext cx="2343835" cy="1103376"/>
          </a:xfrm>
          <a:prstGeom prst="rect">
            <a:avLst/>
          </a:prstGeom>
          <a:noFill/>
        </p:spPr>
        <p:txBody>
          <a:bodyPr wrap="square" lIns="45720" rIns="45720" tIns="27432" bIns="27432" anchor="t">
            <a:noAutofit/>
          </a:bodyPr>
          <a:lstStyle/>
          <a:p>
            <a:pPr algn="l">
              <a:lnSpc>
                <a:spcPct val="100000"/>
              </a:lnSpc>
            </a:pPr>
            <a:r>
              <a:rPr sz="1500" b="0" i="0">
                <a:solidFill>
                  <a:srgbClr val="A7B2B0"/>
                </a:solidFill>
                <a:latin typeface="Segoe UI"/>
              </a:rPr>
              <a:t>Ejecuta Python contra MongoDB con un handle de base de datos listo.</a:t>
            </a:r>
          </a:p>
        </p:txBody>
      </p:sp>
      <p:sp>
        <p:nvSpPr>
          <p:cNvPr id="32" name="Rounded Rectangle 31"/>
          <p:cNvSpPr/>
          <p:nvPr/>
        </p:nvSpPr>
        <p:spPr>
          <a:xfrm>
            <a:off x="6205575" y="4251960"/>
            <a:ext cx="2599867" cy="1813560"/>
          </a:xfrm>
          <a:prstGeom prst="roundRect">
            <a:avLst>
              <a:gd name="adj" fmla="val 6050"/>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Rectangle 32"/>
          <p:cNvSpPr/>
          <p:nvPr/>
        </p:nvSpPr>
        <p:spPr>
          <a:xfrm>
            <a:off x="6370167" y="4379976"/>
            <a:ext cx="502920" cy="45720"/>
          </a:xfrm>
          <a:prstGeom prst="rect">
            <a:avLst/>
          </a:prstGeom>
          <a:solidFill>
            <a:srgbClr val="3BBE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6333591" y="4471416"/>
            <a:ext cx="2343835" cy="688848"/>
          </a:xfrm>
          <a:prstGeom prst="rect">
            <a:avLst/>
          </a:prstGeom>
          <a:noFill/>
        </p:spPr>
        <p:txBody>
          <a:bodyPr wrap="square" lIns="45720" rIns="45720" tIns="27432" bIns="27432" anchor="t">
            <a:noAutofit/>
          </a:bodyPr>
          <a:lstStyle/>
          <a:p>
            <a:pPr algn="l">
              <a:lnSpc>
                <a:spcPct val="100000"/>
              </a:lnSpc>
            </a:pPr>
            <a:r>
              <a:rPr sz="1900" b="1" i="0">
                <a:solidFill>
                  <a:srgbClr val="F7F2E8"/>
                </a:solidFill>
                <a:latin typeface="Palatino Linotype"/>
              </a:rPr>
              <a:t>NetSpeed-
Calculator</a:t>
            </a:r>
          </a:p>
        </p:txBody>
      </p:sp>
      <p:sp>
        <p:nvSpPr>
          <p:cNvPr id="35" name="TextBox 34"/>
          <p:cNvSpPr txBox="1"/>
          <p:nvPr/>
        </p:nvSpPr>
        <p:spPr>
          <a:xfrm>
            <a:off x="6333591" y="5160264"/>
            <a:ext cx="2343835" cy="813816"/>
          </a:xfrm>
          <a:prstGeom prst="rect">
            <a:avLst/>
          </a:prstGeom>
          <a:noFill/>
        </p:spPr>
        <p:txBody>
          <a:bodyPr wrap="square" lIns="45720" rIns="45720" tIns="27432" bIns="27432" anchor="t">
            <a:noAutofit/>
          </a:bodyPr>
          <a:lstStyle/>
          <a:p>
            <a:pPr algn="l">
              <a:lnSpc>
                <a:spcPct val="100000"/>
              </a:lnSpc>
            </a:pPr>
            <a:r>
              <a:rPr sz="1500" b="0" i="0">
                <a:solidFill>
                  <a:srgbClr val="A7B2B0"/>
                </a:solidFill>
                <a:latin typeface="Segoe UI"/>
              </a:rPr>
              <a:t>Mide tu conexión con intervalos de confianza y bufferbloat.</a:t>
            </a:r>
          </a:p>
        </p:txBody>
      </p:sp>
      <p:cxnSp>
        <p:nvCxnSpPr>
          <p:cNvPr id="36" name="Connector 35"/>
          <p:cNvCxnSpPr/>
          <p:nvPr/>
        </p:nvCxnSpPr>
        <p:spPr>
          <a:xfrm>
            <a:off x="566928" y="6373368"/>
            <a:ext cx="11057839" cy="0"/>
          </a:xfrm>
          <a:prstGeom prst="line">
            <a:avLst/>
          </a:prstGeom>
          <a:ln w="7620">
            <a:solidFill>
              <a:srgbClr val="2A3A40"/>
            </a:solidFill>
          </a:ln>
        </p:spPr>
        <p:style>
          <a:lnRef idx="2">
            <a:schemeClr val="accent1"/>
          </a:lnRef>
          <a:fillRef idx="0">
            <a:schemeClr val="accent1"/>
          </a:fillRef>
          <a:effectRef idx="1">
            <a:schemeClr val="accent1"/>
          </a:effectRef>
          <a:fontRef idx="minor">
            <a:schemeClr val="tx1"/>
          </a:fontRef>
        </p:style>
      </p:cxnSp>
      <p:sp>
        <p:nvSpPr>
          <p:cNvPr id="37" name="TextBox 36"/>
          <p:cNvSpPr txBox="1"/>
          <p:nvPr/>
        </p:nvSpPr>
        <p:spPr>
          <a:xfrm>
            <a:off x="566928" y="6419088"/>
            <a:ext cx="6858000" cy="274320"/>
          </a:xfrm>
          <a:prstGeom prst="rect">
            <a:avLst/>
          </a:prstGeom>
          <a:noFill/>
        </p:spPr>
        <p:txBody>
          <a:bodyPr wrap="square" lIns="45720" rIns="45720" tIns="27432" bIns="27432" anchor="t">
            <a:noAutofit/>
          </a:bodyPr>
          <a:lstStyle/>
          <a:p>
            <a:pPr algn="l">
              <a:lnSpc>
                <a:spcPct val="100000"/>
              </a:lnSpc>
            </a:pPr>
            <a:r>
              <a:rPr sz="850" b="0" i="0" spc="120">
                <a:solidFill>
                  <a:srgbClr val="A7B2B0"/>
                </a:solidFill>
                <a:latin typeface="Segoe UI Semibold"/>
              </a:rPr>
              <a:t>TLAMATINI  ·  IV · EL BESTIARIO</a:t>
            </a:r>
          </a:p>
        </p:txBody>
      </p:sp>
      <p:sp>
        <p:nvSpPr>
          <p:cNvPr id="38" name="TextBox 37"/>
          <p:cNvSpPr txBox="1"/>
          <p:nvPr/>
        </p:nvSpPr>
        <p:spPr>
          <a:xfrm>
            <a:off x="8698687" y="6419088"/>
            <a:ext cx="2926080" cy="274320"/>
          </a:xfrm>
          <a:prstGeom prst="rect">
            <a:avLst/>
          </a:prstGeom>
          <a:noFill/>
        </p:spPr>
        <p:txBody>
          <a:bodyPr wrap="square" lIns="45720" rIns="45720" tIns="27432" bIns="27432" anchor="t">
            <a:noAutofit/>
          </a:bodyPr>
          <a:lstStyle/>
          <a:p>
            <a:pPr algn="r">
              <a:lnSpc>
                <a:spcPct val="100000"/>
              </a:lnSpc>
            </a:pPr>
            <a:r>
              <a:rPr sz="850" b="0" i="0" spc="100">
                <a:solidFill>
                  <a:srgbClr val="A7B2B0"/>
                </a:solidFill>
                <a:latin typeface="Segoe UI Semibold"/>
              </a:rPr>
              <a:t>v1.91.1   ·   73</a:t>
            </a:r>
          </a:p>
        </p:txBody>
      </p:sp>
    </p:spTree>
  </p:cSld>
  <p:clrMapOvr>
    <a:masterClrMapping/>
  </p:clrMapOvr>
</p:sld>
</file>

<file path=ppt/slides/slide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content.png"/>
          <p:cNvPicPr>
            <a:picLocks noChangeAspect="1"/>
          </p:cNvPicPr>
          <p:nvPr/>
        </p:nvPicPr>
        <p:blipFill>
          <a:blip r:embed="rId2"/>
          <a:stretch>
            <a:fillRect/>
          </a:stretch>
        </p:blipFill>
        <p:spPr>
          <a:xfrm>
            <a:off x="0" y="0"/>
            <a:ext cx="12191695" cy="6858000"/>
          </a:xfrm>
          <a:prstGeom prst="rect">
            <a:avLst/>
          </a:prstGeom>
        </p:spPr>
      </p:pic>
      <p:sp>
        <p:nvSpPr>
          <p:cNvPr id="3" name="Diamond 2"/>
          <p:cNvSpPr/>
          <p:nvPr/>
        </p:nvSpPr>
        <p:spPr>
          <a:xfrm>
            <a:off x="566928" y="457200"/>
            <a:ext cx="100584" cy="100584"/>
          </a:xfrm>
          <a:prstGeom prst="diamond">
            <a:avLst/>
          </a:prstGeom>
          <a:solidFill>
            <a:srgbClr val="D25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49808" y="365760"/>
            <a:ext cx="8229600" cy="292608"/>
          </a:xfrm>
          <a:prstGeom prst="rect">
            <a:avLst/>
          </a:prstGeom>
          <a:noFill/>
        </p:spPr>
        <p:txBody>
          <a:bodyPr wrap="square" lIns="45720" rIns="45720" tIns="27432" bIns="27432" anchor="t">
            <a:noAutofit/>
          </a:bodyPr>
          <a:lstStyle/>
          <a:p>
            <a:pPr algn="l">
              <a:lnSpc>
                <a:spcPct val="100000"/>
              </a:lnSpc>
            </a:pPr>
            <a:r>
              <a:rPr sz="1100" b="0" i="0" spc="240">
                <a:solidFill>
                  <a:srgbClr val="C98457"/>
                </a:solidFill>
                <a:latin typeface="Segoe UI Semibold"/>
              </a:rPr>
              <a:t>FAMILIA DE AGENTS  ·  6 AGENTS</a:t>
            </a:r>
          </a:p>
        </p:txBody>
      </p:sp>
      <p:sp>
        <p:nvSpPr>
          <p:cNvPr id="5" name="TextBox 4"/>
          <p:cNvSpPr txBox="1"/>
          <p:nvPr/>
        </p:nvSpPr>
        <p:spPr>
          <a:xfrm>
            <a:off x="539496" y="676656"/>
            <a:ext cx="11057839" cy="658368"/>
          </a:xfrm>
          <a:prstGeom prst="rect">
            <a:avLst/>
          </a:prstGeom>
          <a:noFill/>
        </p:spPr>
        <p:txBody>
          <a:bodyPr wrap="square" lIns="45720" rIns="45720" tIns="27432" bIns="27432" anchor="t">
            <a:noAutofit/>
          </a:bodyPr>
          <a:lstStyle/>
          <a:p>
            <a:pPr algn="l">
              <a:lnSpc>
                <a:spcPct val="100000"/>
              </a:lnSpc>
            </a:pPr>
            <a:r>
              <a:rPr sz="3100" b="0" i="0">
                <a:solidFill>
                  <a:srgbClr val="F7F2E8"/>
                </a:solidFill>
                <a:latin typeface="Palatino Linotype"/>
              </a:rPr>
              <a:t>DevOps e infraestructura</a:t>
            </a:r>
          </a:p>
        </p:txBody>
      </p:sp>
      <p:sp>
        <p:nvSpPr>
          <p:cNvPr id="6" name="Rectangle 5"/>
          <p:cNvSpPr/>
          <p:nvPr/>
        </p:nvSpPr>
        <p:spPr>
          <a:xfrm>
            <a:off x="566928" y="1344168"/>
            <a:ext cx="822960" cy="36576"/>
          </a:xfrm>
          <a:prstGeom prst="rect">
            <a:avLst/>
          </a:prstGeom>
          <a:solidFill>
            <a:srgbClr val="D25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566928" y="1444752"/>
            <a:ext cx="10692079" cy="585216"/>
          </a:xfrm>
          <a:prstGeom prst="rect">
            <a:avLst/>
          </a:prstGeom>
          <a:noFill/>
        </p:spPr>
        <p:txBody>
          <a:bodyPr wrap="square" lIns="45720" rIns="45720" tIns="27432" bIns="27432" anchor="t">
            <a:noAutofit/>
          </a:bodyPr>
          <a:lstStyle/>
          <a:p>
            <a:pPr algn="l">
              <a:lnSpc>
                <a:spcPct val="100000"/>
              </a:lnSpc>
            </a:pPr>
            <a:r>
              <a:rPr sz="1450" b="0" i="0">
                <a:solidFill>
                  <a:srgbClr val="A7B2B0"/>
                </a:solidFill>
                <a:latin typeface="Segoe UI Semilight"/>
              </a:rPr>
              <a:t>Containers, clusters, pipelines y hosts.</a:t>
            </a:r>
          </a:p>
        </p:txBody>
      </p:sp>
      <p:sp>
        <p:nvSpPr>
          <p:cNvPr id="8" name="Rounded Rectangle 7"/>
          <p:cNvSpPr/>
          <p:nvPr/>
        </p:nvSpPr>
        <p:spPr>
          <a:xfrm>
            <a:off x="566928" y="2409444"/>
            <a:ext cx="3539642" cy="1623060"/>
          </a:xfrm>
          <a:prstGeom prst="roundRect">
            <a:avLst>
              <a:gd name="adj" fmla="val 6760"/>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ectangle 8"/>
          <p:cNvSpPr/>
          <p:nvPr/>
        </p:nvSpPr>
        <p:spPr>
          <a:xfrm>
            <a:off x="731520" y="2537460"/>
            <a:ext cx="502920" cy="45720"/>
          </a:xfrm>
          <a:prstGeom prst="rect">
            <a:avLst/>
          </a:prstGeom>
          <a:solidFill>
            <a:srgbClr val="C984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694944" y="2628900"/>
            <a:ext cx="3283610" cy="429768"/>
          </a:xfrm>
          <a:prstGeom prst="rect">
            <a:avLst/>
          </a:prstGeom>
          <a:noFill/>
        </p:spPr>
        <p:txBody>
          <a:bodyPr wrap="square" lIns="45720" rIns="45720" tIns="27432" bIns="27432" anchor="t">
            <a:noAutofit/>
          </a:bodyPr>
          <a:lstStyle/>
          <a:p>
            <a:pPr algn="l">
              <a:lnSpc>
                <a:spcPct val="100000"/>
              </a:lnSpc>
            </a:pPr>
            <a:r>
              <a:rPr sz="2100" b="1" i="0">
                <a:solidFill>
                  <a:srgbClr val="F7F2E8"/>
                </a:solidFill>
                <a:latin typeface="Palatino Linotype"/>
              </a:rPr>
              <a:t>Dockerer</a:t>
            </a:r>
          </a:p>
        </p:txBody>
      </p:sp>
      <p:sp>
        <p:nvSpPr>
          <p:cNvPr id="11" name="TextBox 10"/>
          <p:cNvSpPr txBox="1"/>
          <p:nvPr/>
        </p:nvSpPr>
        <p:spPr>
          <a:xfrm>
            <a:off x="694944" y="3058668"/>
            <a:ext cx="3283610" cy="882396"/>
          </a:xfrm>
          <a:prstGeom prst="rect">
            <a:avLst/>
          </a:prstGeom>
          <a:noFill/>
        </p:spPr>
        <p:txBody>
          <a:bodyPr wrap="square" lIns="45720" rIns="45720" tIns="27432" bIns="27432" anchor="t">
            <a:noAutofit/>
          </a:bodyPr>
          <a:lstStyle/>
          <a:p>
            <a:pPr algn="l">
              <a:lnSpc>
                <a:spcPct val="100000"/>
              </a:lnSpc>
            </a:pPr>
            <a:r>
              <a:rPr sz="1650" b="0" i="0">
                <a:solidFill>
                  <a:srgbClr val="A7B2B0"/>
                </a:solidFill>
                <a:latin typeface="Segoe UI"/>
              </a:rPr>
              <a:t>Un front-end de Docker y docker-compose.</a:t>
            </a:r>
          </a:p>
        </p:txBody>
      </p:sp>
      <p:sp>
        <p:nvSpPr>
          <p:cNvPr id="12" name="Rounded Rectangle 11"/>
          <p:cNvSpPr/>
          <p:nvPr/>
        </p:nvSpPr>
        <p:spPr>
          <a:xfrm>
            <a:off x="4326026" y="2409444"/>
            <a:ext cx="3539642" cy="1623060"/>
          </a:xfrm>
          <a:prstGeom prst="roundRect">
            <a:avLst>
              <a:gd name="adj" fmla="val 6760"/>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4490618" y="2537460"/>
            <a:ext cx="502920" cy="45720"/>
          </a:xfrm>
          <a:prstGeom prst="rect">
            <a:avLst/>
          </a:prstGeom>
          <a:solidFill>
            <a:srgbClr val="C984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4454042" y="2628900"/>
            <a:ext cx="3283610" cy="429768"/>
          </a:xfrm>
          <a:prstGeom prst="rect">
            <a:avLst/>
          </a:prstGeom>
          <a:noFill/>
        </p:spPr>
        <p:txBody>
          <a:bodyPr wrap="square" lIns="45720" rIns="45720" tIns="27432" bIns="27432" anchor="t">
            <a:noAutofit/>
          </a:bodyPr>
          <a:lstStyle/>
          <a:p>
            <a:pPr algn="l">
              <a:lnSpc>
                <a:spcPct val="100000"/>
              </a:lnSpc>
            </a:pPr>
            <a:r>
              <a:rPr sz="2100" b="1" i="0">
                <a:solidFill>
                  <a:srgbClr val="F7F2E8"/>
                </a:solidFill>
                <a:latin typeface="Palatino Linotype"/>
              </a:rPr>
              <a:t>Kuberneter</a:t>
            </a:r>
          </a:p>
        </p:txBody>
      </p:sp>
      <p:sp>
        <p:nvSpPr>
          <p:cNvPr id="15" name="TextBox 14"/>
          <p:cNvSpPr txBox="1"/>
          <p:nvPr/>
        </p:nvSpPr>
        <p:spPr>
          <a:xfrm>
            <a:off x="4454042" y="3058668"/>
            <a:ext cx="3283610" cy="882396"/>
          </a:xfrm>
          <a:prstGeom prst="rect">
            <a:avLst/>
          </a:prstGeom>
          <a:noFill/>
        </p:spPr>
        <p:txBody>
          <a:bodyPr wrap="square" lIns="45720" rIns="45720" tIns="27432" bIns="27432" anchor="t">
            <a:noAutofit/>
          </a:bodyPr>
          <a:lstStyle/>
          <a:p>
            <a:pPr algn="l">
              <a:lnSpc>
                <a:spcPct val="100000"/>
              </a:lnSpc>
            </a:pPr>
            <a:r>
              <a:rPr sz="1650" b="0" i="0">
                <a:solidFill>
                  <a:srgbClr val="A7B2B0"/>
                </a:solidFill>
                <a:latin typeface="Segoe UI"/>
              </a:rPr>
              <a:t>Un front-end de kubectl con un resultado estructurado y veraz.</a:t>
            </a:r>
          </a:p>
        </p:txBody>
      </p:sp>
      <p:sp>
        <p:nvSpPr>
          <p:cNvPr id="16" name="Rounded Rectangle 15"/>
          <p:cNvSpPr/>
          <p:nvPr/>
        </p:nvSpPr>
        <p:spPr>
          <a:xfrm>
            <a:off x="8085124" y="2409444"/>
            <a:ext cx="3539642" cy="1623060"/>
          </a:xfrm>
          <a:prstGeom prst="roundRect">
            <a:avLst>
              <a:gd name="adj" fmla="val 6760"/>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8249716" y="2537460"/>
            <a:ext cx="502920" cy="45720"/>
          </a:xfrm>
          <a:prstGeom prst="rect">
            <a:avLst/>
          </a:prstGeom>
          <a:solidFill>
            <a:srgbClr val="C984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213140" y="2628900"/>
            <a:ext cx="3283610" cy="429768"/>
          </a:xfrm>
          <a:prstGeom prst="rect">
            <a:avLst/>
          </a:prstGeom>
          <a:noFill/>
        </p:spPr>
        <p:txBody>
          <a:bodyPr wrap="square" lIns="45720" rIns="45720" tIns="27432" bIns="27432" anchor="t">
            <a:noAutofit/>
          </a:bodyPr>
          <a:lstStyle/>
          <a:p>
            <a:pPr algn="l">
              <a:lnSpc>
                <a:spcPct val="100000"/>
              </a:lnSpc>
            </a:pPr>
            <a:r>
              <a:rPr sz="2100" b="1" i="0">
                <a:solidFill>
                  <a:srgbClr val="F7F2E8"/>
                </a:solidFill>
                <a:latin typeface="Palatino Linotype"/>
              </a:rPr>
              <a:t>Jenkinser</a:t>
            </a:r>
          </a:p>
        </p:txBody>
      </p:sp>
      <p:sp>
        <p:nvSpPr>
          <p:cNvPr id="19" name="TextBox 18"/>
          <p:cNvSpPr txBox="1"/>
          <p:nvPr/>
        </p:nvSpPr>
        <p:spPr>
          <a:xfrm>
            <a:off x="8213140" y="3058668"/>
            <a:ext cx="3283610" cy="882396"/>
          </a:xfrm>
          <a:prstGeom prst="rect">
            <a:avLst/>
          </a:prstGeom>
          <a:noFill/>
        </p:spPr>
        <p:txBody>
          <a:bodyPr wrap="square" lIns="45720" rIns="45720" tIns="27432" bIns="27432" anchor="t">
            <a:noAutofit/>
          </a:bodyPr>
          <a:lstStyle/>
          <a:p>
            <a:pPr algn="l">
              <a:lnSpc>
                <a:spcPct val="100000"/>
              </a:lnSpc>
            </a:pPr>
            <a:r>
              <a:rPr sz="1650" b="0" i="0">
                <a:solidFill>
                  <a:srgbClr val="A7B2B0"/>
                </a:solidFill>
                <a:latin typeface="Segoe UI"/>
              </a:rPr>
              <a:t>Dispara jobs de Jenkins, manejando el crumb de CSRF.</a:t>
            </a:r>
          </a:p>
        </p:txBody>
      </p:sp>
      <p:sp>
        <p:nvSpPr>
          <p:cNvPr id="20" name="Rounded Rectangle 19"/>
          <p:cNvSpPr/>
          <p:nvPr/>
        </p:nvSpPr>
        <p:spPr>
          <a:xfrm>
            <a:off x="566928" y="4251960"/>
            <a:ext cx="3539642" cy="1623060"/>
          </a:xfrm>
          <a:prstGeom prst="roundRect">
            <a:avLst>
              <a:gd name="adj" fmla="val 6760"/>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ectangle 20"/>
          <p:cNvSpPr/>
          <p:nvPr/>
        </p:nvSpPr>
        <p:spPr>
          <a:xfrm>
            <a:off x="731520" y="4379976"/>
            <a:ext cx="502920" cy="45720"/>
          </a:xfrm>
          <a:prstGeom prst="rect">
            <a:avLst/>
          </a:prstGeom>
          <a:solidFill>
            <a:srgbClr val="C984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694944" y="4471416"/>
            <a:ext cx="3283610" cy="429768"/>
          </a:xfrm>
          <a:prstGeom prst="rect">
            <a:avLst/>
          </a:prstGeom>
          <a:noFill/>
        </p:spPr>
        <p:txBody>
          <a:bodyPr wrap="square" lIns="45720" rIns="45720" tIns="27432" bIns="27432" anchor="t">
            <a:noAutofit/>
          </a:bodyPr>
          <a:lstStyle/>
          <a:p>
            <a:pPr algn="l">
              <a:lnSpc>
                <a:spcPct val="100000"/>
              </a:lnSpc>
            </a:pPr>
            <a:r>
              <a:rPr sz="2100" b="1" i="0">
                <a:solidFill>
                  <a:srgbClr val="F7F2E8"/>
                </a:solidFill>
                <a:latin typeface="Palatino Linotype"/>
              </a:rPr>
              <a:t>SSHer</a:t>
            </a:r>
          </a:p>
        </p:txBody>
      </p:sp>
      <p:sp>
        <p:nvSpPr>
          <p:cNvPr id="23" name="TextBox 22"/>
          <p:cNvSpPr txBox="1"/>
          <p:nvPr/>
        </p:nvSpPr>
        <p:spPr>
          <a:xfrm>
            <a:off x="694944" y="4901184"/>
            <a:ext cx="3283610" cy="882396"/>
          </a:xfrm>
          <a:prstGeom prst="rect">
            <a:avLst/>
          </a:prstGeom>
          <a:noFill/>
        </p:spPr>
        <p:txBody>
          <a:bodyPr wrap="square" lIns="45720" rIns="45720" tIns="27432" bIns="27432" anchor="t">
            <a:noAutofit/>
          </a:bodyPr>
          <a:lstStyle/>
          <a:p>
            <a:pPr algn="l">
              <a:lnSpc>
                <a:spcPct val="100000"/>
              </a:lnSpc>
            </a:pPr>
            <a:r>
              <a:rPr sz="1650" b="0" i="0">
                <a:solidFill>
                  <a:srgbClr val="A7B2B0"/>
                </a:solidFill>
                <a:latin typeface="Segoe UI"/>
              </a:rPr>
              <a:t>Ejecuta un comando en un host remoto por SSH.</a:t>
            </a:r>
          </a:p>
        </p:txBody>
      </p:sp>
      <p:sp>
        <p:nvSpPr>
          <p:cNvPr id="24" name="Rounded Rectangle 23"/>
          <p:cNvSpPr/>
          <p:nvPr/>
        </p:nvSpPr>
        <p:spPr>
          <a:xfrm>
            <a:off x="4326026" y="4251960"/>
            <a:ext cx="3539642" cy="1623060"/>
          </a:xfrm>
          <a:prstGeom prst="roundRect">
            <a:avLst>
              <a:gd name="adj" fmla="val 6760"/>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ectangle 24"/>
          <p:cNvSpPr/>
          <p:nvPr/>
        </p:nvSpPr>
        <p:spPr>
          <a:xfrm>
            <a:off x="4490618" y="4379976"/>
            <a:ext cx="502920" cy="45720"/>
          </a:xfrm>
          <a:prstGeom prst="rect">
            <a:avLst/>
          </a:prstGeom>
          <a:solidFill>
            <a:srgbClr val="C984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4454042" y="4471416"/>
            <a:ext cx="3283610" cy="429768"/>
          </a:xfrm>
          <a:prstGeom prst="rect">
            <a:avLst/>
          </a:prstGeom>
          <a:noFill/>
        </p:spPr>
        <p:txBody>
          <a:bodyPr wrap="square" lIns="45720" rIns="45720" tIns="27432" bIns="27432" anchor="t">
            <a:noAutofit/>
          </a:bodyPr>
          <a:lstStyle/>
          <a:p>
            <a:pPr algn="l">
              <a:lnSpc>
                <a:spcPct val="100000"/>
              </a:lnSpc>
            </a:pPr>
            <a:r>
              <a:rPr sz="2100" b="1" i="0">
                <a:solidFill>
                  <a:srgbClr val="F7F2E8"/>
                </a:solidFill>
                <a:latin typeface="Palatino Linotype"/>
              </a:rPr>
              <a:t>SCPer</a:t>
            </a:r>
          </a:p>
        </p:txBody>
      </p:sp>
      <p:sp>
        <p:nvSpPr>
          <p:cNvPr id="27" name="TextBox 26"/>
          <p:cNvSpPr txBox="1"/>
          <p:nvPr/>
        </p:nvSpPr>
        <p:spPr>
          <a:xfrm>
            <a:off x="4454042" y="4901184"/>
            <a:ext cx="3283610" cy="882396"/>
          </a:xfrm>
          <a:prstGeom prst="rect">
            <a:avLst/>
          </a:prstGeom>
          <a:noFill/>
        </p:spPr>
        <p:txBody>
          <a:bodyPr wrap="square" lIns="45720" rIns="45720" tIns="27432" bIns="27432" anchor="t">
            <a:noAutofit/>
          </a:bodyPr>
          <a:lstStyle/>
          <a:p>
            <a:pPr algn="l">
              <a:lnSpc>
                <a:spcPct val="100000"/>
              </a:lnSpc>
            </a:pPr>
            <a:r>
              <a:rPr sz="1650" b="0" i="0">
                <a:solidFill>
                  <a:srgbClr val="A7B2B0"/>
                </a:solidFill>
                <a:latin typeface="Segoe UI"/>
              </a:rPr>
              <a:t>Envía o recibe archivos por SCP.</a:t>
            </a:r>
          </a:p>
        </p:txBody>
      </p:sp>
      <p:sp>
        <p:nvSpPr>
          <p:cNvPr id="28" name="Rounded Rectangle 27"/>
          <p:cNvSpPr/>
          <p:nvPr/>
        </p:nvSpPr>
        <p:spPr>
          <a:xfrm>
            <a:off x="8085124" y="4251960"/>
            <a:ext cx="3539642" cy="1623060"/>
          </a:xfrm>
          <a:prstGeom prst="roundRect">
            <a:avLst>
              <a:gd name="adj" fmla="val 6760"/>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Rectangle 28"/>
          <p:cNvSpPr/>
          <p:nvPr/>
        </p:nvSpPr>
        <p:spPr>
          <a:xfrm>
            <a:off x="8249716" y="4379976"/>
            <a:ext cx="502920" cy="45720"/>
          </a:xfrm>
          <a:prstGeom prst="rect">
            <a:avLst/>
          </a:prstGeom>
          <a:solidFill>
            <a:srgbClr val="C984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8213140" y="4471416"/>
            <a:ext cx="3283610" cy="429768"/>
          </a:xfrm>
          <a:prstGeom prst="rect">
            <a:avLst/>
          </a:prstGeom>
          <a:noFill/>
        </p:spPr>
        <p:txBody>
          <a:bodyPr wrap="square" lIns="45720" rIns="45720" tIns="27432" bIns="27432" anchor="t">
            <a:noAutofit/>
          </a:bodyPr>
          <a:lstStyle/>
          <a:p>
            <a:pPr algn="l">
              <a:lnSpc>
                <a:spcPct val="100000"/>
              </a:lnSpc>
            </a:pPr>
            <a:r>
              <a:rPr sz="2100" b="1" i="0">
                <a:solidFill>
                  <a:srgbClr val="F7F2E8"/>
                </a:solidFill>
                <a:latin typeface="Palatino Linotype"/>
              </a:rPr>
              <a:t>PSer</a:t>
            </a:r>
          </a:p>
        </p:txBody>
      </p:sp>
      <p:sp>
        <p:nvSpPr>
          <p:cNvPr id="31" name="TextBox 30"/>
          <p:cNvSpPr txBox="1"/>
          <p:nvPr/>
        </p:nvSpPr>
        <p:spPr>
          <a:xfrm>
            <a:off x="8213140" y="4901184"/>
            <a:ext cx="3283610" cy="882396"/>
          </a:xfrm>
          <a:prstGeom prst="rect">
            <a:avLst/>
          </a:prstGeom>
          <a:noFill/>
        </p:spPr>
        <p:txBody>
          <a:bodyPr wrap="square" lIns="45720" rIns="45720" tIns="27432" bIns="27432" anchor="t">
            <a:noAutofit/>
          </a:bodyPr>
          <a:lstStyle/>
          <a:p>
            <a:pPr algn="l">
              <a:lnSpc>
                <a:spcPct val="100000"/>
              </a:lnSpc>
            </a:pPr>
            <a:r>
              <a:rPr sz="1650" b="0" i="0">
                <a:solidFill>
                  <a:srgbClr val="A7B2B0"/>
                </a:solidFill>
                <a:latin typeface="Segoe UI"/>
              </a:rPr>
              <a:t>Encuentra un proceso en ejecución a partir de un nombre difuso con ayuda de un modelo.</a:t>
            </a:r>
          </a:p>
        </p:txBody>
      </p:sp>
      <p:cxnSp>
        <p:nvCxnSpPr>
          <p:cNvPr id="32" name="Connector 31"/>
          <p:cNvCxnSpPr/>
          <p:nvPr/>
        </p:nvCxnSpPr>
        <p:spPr>
          <a:xfrm>
            <a:off x="566928" y="6373368"/>
            <a:ext cx="11057839" cy="0"/>
          </a:xfrm>
          <a:prstGeom prst="line">
            <a:avLst/>
          </a:prstGeom>
          <a:ln w="7620">
            <a:solidFill>
              <a:srgbClr val="2A3A40"/>
            </a:solidFill>
          </a:ln>
        </p:spPr>
        <p:style>
          <a:lnRef idx="2">
            <a:schemeClr val="accent1"/>
          </a:lnRef>
          <a:fillRef idx="0">
            <a:schemeClr val="accent1"/>
          </a:fillRef>
          <a:effectRef idx="1">
            <a:schemeClr val="accent1"/>
          </a:effectRef>
          <a:fontRef idx="minor">
            <a:schemeClr val="tx1"/>
          </a:fontRef>
        </p:style>
      </p:cxnSp>
      <p:sp>
        <p:nvSpPr>
          <p:cNvPr id="33" name="TextBox 32"/>
          <p:cNvSpPr txBox="1"/>
          <p:nvPr/>
        </p:nvSpPr>
        <p:spPr>
          <a:xfrm>
            <a:off x="566928" y="6419088"/>
            <a:ext cx="6858000" cy="274320"/>
          </a:xfrm>
          <a:prstGeom prst="rect">
            <a:avLst/>
          </a:prstGeom>
          <a:noFill/>
        </p:spPr>
        <p:txBody>
          <a:bodyPr wrap="square" lIns="45720" rIns="45720" tIns="27432" bIns="27432" anchor="t">
            <a:noAutofit/>
          </a:bodyPr>
          <a:lstStyle/>
          <a:p>
            <a:pPr algn="l">
              <a:lnSpc>
                <a:spcPct val="100000"/>
              </a:lnSpc>
            </a:pPr>
            <a:r>
              <a:rPr sz="850" b="0" i="0" spc="120">
                <a:solidFill>
                  <a:srgbClr val="A7B2B0"/>
                </a:solidFill>
                <a:latin typeface="Segoe UI Semibold"/>
              </a:rPr>
              <a:t>TLAMATINI  ·  IV · EL BESTIARIO</a:t>
            </a:r>
          </a:p>
        </p:txBody>
      </p:sp>
      <p:sp>
        <p:nvSpPr>
          <p:cNvPr id="34" name="TextBox 33"/>
          <p:cNvSpPr txBox="1"/>
          <p:nvPr/>
        </p:nvSpPr>
        <p:spPr>
          <a:xfrm>
            <a:off x="8698687" y="6419088"/>
            <a:ext cx="2926080" cy="274320"/>
          </a:xfrm>
          <a:prstGeom prst="rect">
            <a:avLst/>
          </a:prstGeom>
          <a:noFill/>
        </p:spPr>
        <p:txBody>
          <a:bodyPr wrap="square" lIns="45720" rIns="45720" tIns="27432" bIns="27432" anchor="t">
            <a:noAutofit/>
          </a:bodyPr>
          <a:lstStyle/>
          <a:p>
            <a:pPr algn="r">
              <a:lnSpc>
                <a:spcPct val="100000"/>
              </a:lnSpc>
            </a:pPr>
            <a:r>
              <a:rPr sz="850" b="0" i="0" spc="100">
                <a:solidFill>
                  <a:srgbClr val="A7B2B0"/>
                </a:solidFill>
                <a:latin typeface="Segoe UI Semibold"/>
              </a:rPr>
              <a:t>v1.91.1   ·   74</a:t>
            </a:r>
          </a:p>
        </p:txBody>
      </p:sp>
    </p:spTree>
  </p:cSld>
  <p:clrMapOvr>
    <a:masterClrMapping/>
  </p:clrMapOvr>
</p:sld>
</file>

<file path=ppt/slides/slide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content.png"/>
          <p:cNvPicPr>
            <a:picLocks noChangeAspect="1"/>
          </p:cNvPicPr>
          <p:nvPr/>
        </p:nvPicPr>
        <p:blipFill>
          <a:blip r:embed="rId2"/>
          <a:stretch>
            <a:fillRect/>
          </a:stretch>
        </p:blipFill>
        <p:spPr>
          <a:xfrm>
            <a:off x="0" y="0"/>
            <a:ext cx="12191695" cy="6858000"/>
          </a:xfrm>
          <a:prstGeom prst="rect">
            <a:avLst/>
          </a:prstGeom>
        </p:spPr>
      </p:pic>
      <p:sp>
        <p:nvSpPr>
          <p:cNvPr id="3" name="Diamond 2"/>
          <p:cNvSpPr/>
          <p:nvPr/>
        </p:nvSpPr>
        <p:spPr>
          <a:xfrm>
            <a:off x="566928" y="457200"/>
            <a:ext cx="100584" cy="100584"/>
          </a:xfrm>
          <a:prstGeom prst="diamond">
            <a:avLst/>
          </a:prstGeom>
          <a:solidFill>
            <a:srgbClr val="D25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49808" y="365760"/>
            <a:ext cx="8229600" cy="292608"/>
          </a:xfrm>
          <a:prstGeom prst="rect">
            <a:avLst/>
          </a:prstGeom>
          <a:noFill/>
        </p:spPr>
        <p:txBody>
          <a:bodyPr wrap="square" lIns="45720" rIns="45720" tIns="27432" bIns="27432" anchor="t">
            <a:noAutofit/>
          </a:bodyPr>
          <a:lstStyle/>
          <a:p>
            <a:pPr algn="l">
              <a:lnSpc>
                <a:spcPct val="100000"/>
              </a:lnSpc>
            </a:pPr>
            <a:r>
              <a:rPr sz="1100" b="0" i="0" spc="240">
                <a:solidFill>
                  <a:srgbClr val="C98457"/>
                </a:solidFill>
                <a:latin typeface="Segoe UI Semibold"/>
              </a:rPr>
              <a:t>FAMILIA DE AGENTS  ·  8 AGENTS</a:t>
            </a:r>
          </a:p>
        </p:txBody>
      </p:sp>
      <p:sp>
        <p:nvSpPr>
          <p:cNvPr id="5" name="TextBox 4"/>
          <p:cNvSpPr txBox="1"/>
          <p:nvPr/>
        </p:nvSpPr>
        <p:spPr>
          <a:xfrm>
            <a:off x="539496" y="676656"/>
            <a:ext cx="11057839" cy="658368"/>
          </a:xfrm>
          <a:prstGeom prst="rect">
            <a:avLst/>
          </a:prstGeom>
          <a:noFill/>
        </p:spPr>
        <p:txBody>
          <a:bodyPr wrap="square" lIns="45720" rIns="45720" tIns="27432" bIns="27432" anchor="t">
            <a:noAutofit/>
          </a:bodyPr>
          <a:lstStyle/>
          <a:p>
            <a:pPr algn="l">
              <a:lnSpc>
                <a:spcPct val="100000"/>
              </a:lnSpc>
            </a:pPr>
            <a:r>
              <a:rPr sz="3100" b="0" i="0">
                <a:solidFill>
                  <a:srgbClr val="F7F2E8"/>
                </a:solidFill>
                <a:latin typeface="Palatino Linotype"/>
              </a:rPr>
              <a:t>Calidad y seguridad</a:t>
            </a:r>
          </a:p>
        </p:txBody>
      </p:sp>
      <p:sp>
        <p:nvSpPr>
          <p:cNvPr id="6" name="Rectangle 5"/>
          <p:cNvSpPr/>
          <p:nvPr/>
        </p:nvSpPr>
        <p:spPr>
          <a:xfrm>
            <a:off x="566928" y="1344168"/>
            <a:ext cx="822960" cy="36576"/>
          </a:xfrm>
          <a:prstGeom prst="rect">
            <a:avLst/>
          </a:prstGeom>
          <a:solidFill>
            <a:srgbClr val="D25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566928" y="1444752"/>
            <a:ext cx="10692079" cy="585216"/>
          </a:xfrm>
          <a:prstGeom prst="rect">
            <a:avLst/>
          </a:prstGeom>
          <a:noFill/>
        </p:spPr>
        <p:txBody>
          <a:bodyPr wrap="square" lIns="45720" rIns="45720" tIns="27432" bIns="27432" anchor="t">
            <a:noAutofit/>
          </a:bodyPr>
          <a:lstStyle/>
          <a:p>
            <a:pPr algn="l">
              <a:lnSpc>
                <a:spcPct val="100000"/>
              </a:lnSpc>
            </a:pPr>
            <a:r>
              <a:rPr sz="1450" b="0" i="0">
                <a:solidFill>
                  <a:srgbClr val="A7B2B0"/>
                </a:solidFill>
                <a:latin typeface="Segoe UI Semilight"/>
              </a:rPr>
              <a:t>Revisa, analiza, evalúa y protege.</a:t>
            </a:r>
          </a:p>
        </p:txBody>
      </p:sp>
      <p:sp>
        <p:nvSpPr>
          <p:cNvPr id="8" name="Rounded Rectangle 7"/>
          <p:cNvSpPr/>
          <p:nvPr/>
        </p:nvSpPr>
        <p:spPr>
          <a:xfrm>
            <a:off x="566928" y="2084831"/>
            <a:ext cx="2599867" cy="1947672"/>
          </a:xfrm>
          <a:prstGeom prst="roundRect">
            <a:avLst>
              <a:gd name="adj" fmla="val 5633"/>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ectangle 8"/>
          <p:cNvSpPr/>
          <p:nvPr/>
        </p:nvSpPr>
        <p:spPr>
          <a:xfrm>
            <a:off x="731520" y="2212848"/>
            <a:ext cx="502920" cy="45720"/>
          </a:xfrm>
          <a:prstGeom prst="rect">
            <a:avLst/>
          </a:prstGeom>
          <a:solidFill>
            <a:srgbClr val="D957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694944" y="2304287"/>
            <a:ext cx="2343835" cy="399288"/>
          </a:xfrm>
          <a:prstGeom prst="rect">
            <a:avLst/>
          </a:prstGeom>
          <a:noFill/>
        </p:spPr>
        <p:txBody>
          <a:bodyPr wrap="square" lIns="45720" rIns="45720" tIns="27432" bIns="27432" anchor="t">
            <a:noAutofit/>
          </a:bodyPr>
          <a:lstStyle/>
          <a:p>
            <a:pPr algn="l">
              <a:lnSpc>
                <a:spcPct val="100000"/>
              </a:lnSpc>
            </a:pPr>
            <a:r>
              <a:rPr sz="1900" b="1" i="0">
                <a:solidFill>
                  <a:srgbClr val="F7F2E8"/>
                </a:solidFill>
                <a:latin typeface="Palatino Linotype"/>
              </a:rPr>
              <a:t>Reviewer</a:t>
            </a:r>
          </a:p>
        </p:txBody>
      </p:sp>
      <p:sp>
        <p:nvSpPr>
          <p:cNvPr id="11" name="TextBox 10"/>
          <p:cNvSpPr txBox="1"/>
          <p:nvPr/>
        </p:nvSpPr>
        <p:spPr>
          <a:xfrm>
            <a:off x="694944" y="2703575"/>
            <a:ext cx="2343835" cy="1237488"/>
          </a:xfrm>
          <a:prstGeom prst="rect">
            <a:avLst/>
          </a:prstGeom>
          <a:noFill/>
        </p:spPr>
        <p:txBody>
          <a:bodyPr wrap="square" lIns="45720" rIns="45720" tIns="27432" bIns="27432" anchor="t">
            <a:noAutofit/>
          </a:bodyPr>
          <a:lstStyle/>
          <a:p>
            <a:pPr algn="l">
              <a:lnSpc>
                <a:spcPct val="100000"/>
              </a:lnSpc>
            </a:pPr>
            <a:r>
              <a:rPr sz="1500" b="0" i="0">
                <a:solidFill>
                  <a:srgbClr val="A7B2B0"/>
                </a:solidFill>
                <a:latin typeface="Segoe UI"/>
              </a:rPr>
              <a:t>Revisión guiada por modelo de un git diff con un veredicto APPROVE o REQUEST_CHANGES.</a:t>
            </a:r>
          </a:p>
        </p:txBody>
      </p:sp>
      <p:sp>
        <p:nvSpPr>
          <p:cNvPr id="12" name="Rounded Rectangle 11"/>
          <p:cNvSpPr/>
          <p:nvPr/>
        </p:nvSpPr>
        <p:spPr>
          <a:xfrm>
            <a:off x="3386251" y="2084831"/>
            <a:ext cx="2599867" cy="1947672"/>
          </a:xfrm>
          <a:prstGeom prst="roundRect">
            <a:avLst>
              <a:gd name="adj" fmla="val 5633"/>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3550843" y="2212848"/>
            <a:ext cx="502920" cy="45720"/>
          </a:xfrm>
          <a:prstGeom prst="rect">
            <a:avLst/>
          </a:prstGeom>
          <a:solidFill>
            <a:srgbClr val="D957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3514267" y="2304287"/>
            <a:ext cx="2343835" cy="399288"/>
          </a:xfrm>
          <a:prstGeom prst="rect">
            <a:avLst/>
          </a:prstGeom>
          <a:noFill/>
        </p:spPr>
        <p:txBody>
          <a:bodyPr wrap="square" lIns="45720" rIns="45720" tIns="27432" bIns="27432" anchor="t">
            <a:noAutofit/>
          </a:bodyPr>
          <a:lstStyle/>
          <a:p>
            <a:pPr algn="l">
              <a:lnSpc>
                <a:spcPct val="100000"/>
              </a:lnSpc>
            </a:pPr>
            <a:r>
              <a:rPr sz="1900" b="1" i="0">
                <a:solidFill>
                  <a:srgbClr val="F7F2E8"/>
                </a:solidFill>
                <a:latin typeface="Palatino Linotype"/>
              </a:rPr>
              <a:t>Analyzer</a:t>
            </a:r>
          </a:p>
        </p:txBody>
      </p:sp>
      <p:sp>
        <p:nvSpPr>
          <p:cNvPr id="15" name="TextBox 14"/>
          <p:cNvSpPr txBox="1"/>
          <p:nvPr/>
        </p:nvSpPr>
        <p:spPr>
          <a:xfrm>
            <a:off x="3514267" y="2703575"/>
            <a:ext cx="2343835" cy="1237488"/>
          </a:xfrm>
          <a:prstGeom prst="rect">
            <a:avLst/>
          </a:prstGeom>
          <a:noFill/>
        </p:spPr>
        <p:txBody>
          <a:bodyPr wrap="square" lIns="45720" rIns="45720" tIns="27432" bIns="27432" anchor="t">
            <a:noAutofit/>
          </a:bodyPr>
          <a:lstStyle/>
          <a:p>
            <a:pPr algn="l">
              <a:lnSpc>
                <a:spcPct val="100000"/>
              </a:lnSpc>
            </a:pPr>
            <a:r>
              <a:rPr sz="1500" b="0" i="0">
                <a:solidFill>
                  <a:srgbClr val="A7B2B0"/>
                </a:solidFill>
                <a:latin typeface="Segoe UI"/>
              </a:rPr>
              <a:t>Análisis estático determinista: bandit, semgrep, ruff, eslint, gitleaks, pip-audit.</a:t>
            </a:r>
          </a:p>
        </p:txBody>
      </p:sp>
      <p:sp>
        <p:nvSpPr>
          <p:cNvPr id="16" name="Rounded Rectangle 15"/>
          <p:cNvSpPr/>
          <p:nvPr/>
        </p:nvSpPr>
        <p:spPr>
          <a:xfrm>
            <a:off x="6205575" y="2084831"/>
            <a:ext cx="2599867" cy="1947672"/>
          </a:xfrm>
          <a:prstGeom prst="roundRect">
            <a:avLst>
              <a:gd name="adj" fmla="val 5633"/>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6370167" y="2212848"/>
            <a:ext cx="502920" cy="45720"/>
          </a:xfrm>
          <a:prstGeom prst="rect">
            <a:avLst/>
          </a:prstGeom>
          <a:solidFill>
            <a:srgbClr val="D957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6333591" y="2304287"/>
            <a:ext cx="2343835" cy="399288"/>
          </a:xfrm>
          <a:prstGeom prst="rect">
            <a:avLst/>
          </a:prstGeom>
          <a:noFill/>
        </p:spPr>
        <p:txBody>
          <a:bodyPr wrap="square" lIns="45720" rIns="45720" tIns="27432" bIns="27432" anchor="t">
            <a:noAutofit/>
          </a:bodyPr>
          <a:lstStyle/>
          <a:p>
            <a:pPr algn="l">
              <a:lnSpc>
                <a:spcPct val="100000"/>
              </a:lnSpc>
            </a:pPr>
            <a:r>
              <a:rPr sz="1900" b="1" i="0">
                <a:solidFill>
                  <a:srgbClr val="F7F2E8"/>
                </a:solidFill>
                <a:latin typeface="Palatino Linotype"/>
              </a:rPr>
              <a:t>Kalier</a:t>
            </a:r>
          </a:p>
        </p:txBody>
      </p:sp>
      <p:sp>
        <p:nvSpPr>
          <p:cNvPr id="19" name="TextBox 18"/>
          <p:cNvSpPr txBox="1"/>
          <p:nvPr/>
        </p:nvSpPr>
        <p:spPr>
          <a:xfrm>
            <a:off x="6333591" y="2703575"/>
            <a:ext cx="2343835" cy="1237488"/>
          </a:xfrm>
          <a:prstGeom prst="rect">
            <a:avLst/>
          </a:prstGeom>
          <a:noFill/>
        </p:spPr>
        <p:txBody>
          <a:bodyPr wrap="square" lIns="45720" rIns="45720" tIns="27432" bIns="27432" anchor="t">
            <a:noAutofit/>
          </a:bodyPr>
          <a:lstStyle/>
          <a:p>
            <a:pPr algn="l">
              <a:lnSpc>
                <a:spcPct val="100000"/>
              </a:lnSpc>
            </a:pPr>
            <a:r>
              <a:rPr sz="1500" b="0" i="0">
                <a:solidFill>
                  <a:srgbClr val="A7B2B0"/>
                </a:solidFill>
                <a:latin typeface="Segoe UI"/>
              </a:rPr>
              <a:t>Herramientas autorizadas de Kali Linux a través de MCP-Kali-Server.</a:t>
            </a:r>
          </a:p>
        </p:txBody>
      </p:sp>
      <p:sp>
        <p:nvSpPr>
          <p:cNvPr id="20" name="Rounded Rectangle 19"/>
          <p:cNvSpPr/>
          <p:nvPr/>
        </p:nvSpPr>
        <p:spPr>
          <a:xfrm>
            <a:off x="9024899" y="2084831"/>
            <a:ext cx="2599867" cy="1947672"/>
          </a:xfrm>
          <a:prstGeom prst="roundRect">
            <a:avLst>
              <a:gd name="adj" fmla="val 5633"/>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ectangle 20"/>
          <p:cNvSpPr/>
          <p:nvPr/>
        </p:nvSpPr>
        <p:spPr>
          <a:xfrm>
            <a:off x="9189491" y="2212848"/>
            <a:ext cx="502920" cy="45720"/>
          </a:xfrm>
          <a:prstGeom prst="rect">
            <a:avLst/>
          </a:prstGeom>
          <a:solidFill>
            <a:srgbClr val="D957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9152915" y="2304287"/>
            <a:ext cx="2343835" cy="399288"/>
          </a:xfrm>
          <a:prstGeom prst="rect">
            <a:avLst/>
          </a:prstGeom>
          <a:noFill/>
        </p:spPr>
        <p:txBody>
          <a:bodyPr wrap="square" lIns="45720" rIns="45720" tIns="27432" bIns="27432" anchor="t">
            <a:noAutofit/>
          </a:bodyPr>
          <a:lstStyle/>
          <a:p>
            <a:pPr algn="l">
              <a:lnSpc>
                <a:spcPct val="100000"/>
              </a:lnSpc>
            </a:pPr>
            <a:r>
              <a:rPr sz="1900" b="1" i="0">
                <a:solidFill>
                  <a:srgbClr val="F7F2E8"/>
                </a:solidFill>
                <a:latin typeface="Palatino Linotype"/>
              </a:rPr>
              <a:t>Discoverer</a:t>
            </a:r>
          </a:p>
        </p:txBody>
      </p:sp>
      <p:sp>
        <p:nvSpPr>
          <p:cNvPr id="23" name="TextBox 22"/>
          <p:cNvSpPr txBox="1"/>
          <p:nvPr/>
        </p:nvSpPr>
        <p:spPr>
          <a:xfrm>
            <a:off x="9152915" y="2703575"/>
            <a:ext cx="2343835" cy="1237488"/>
          </a:xfrm>
          <a:prstGeom prst="rect">
            <a:avLst/>
          </a:prstGeom>
          <a:noFill/>
        </p:spPr>
        <p:txBody>
          <a:bodyPr wrap="square" lIns="45720" rIns="45720" tIns="27432" bIns="27432" anchor="t">
            <a:noAutofit/>
          </a:bodyPr>
          <a:lstStyle/>
          <a:p>
            <a:pPr algn="l">
              <a:lnSpc>
                <a:spcPct val="100000"/>
              </a:lnSpc>
            </a:pPr>
            <a:r>
              <a:rPr sz="1500" b="0" i="0">
                <a:solidFill>
                  <a:srgbClr val="A7B2B0"/>
                </a:solidFill>
                <a:latin typeface="Segoe UI"/>
              </a:rPr>
              <a:t>La suite de reconocimiento de ProjectDiscovery sobre un toolchain de Go privado y autoinstalable.</a:t>
            </a:r>
          </a:p>
        </p:txBody>
      </p:sp>
      <p:sp>
        <p:nvSpPr>
          <p:cNvPr id="24" name="Rounded Rectangle 23"/>
          <p:cNvSpPr/>
          <p:nvPr/>
        </p:nvSpPr>
        <p:spPr>
          <a:xfrm>
            <a:off x="566928" y="4251960"/>
            <a:ext cx="2599867" cy="1947672"/>
          </a:xfrm>
          <a:prstGeom prst="roundRect">
            <a:avLst>
              <a:gd name="adj" fmla="val 5633"/>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ectangle 24"/>
          <p:cNvSpPr/>
          <p:nvPr/>
        </p:nvSpPr>
        <p:spPr>
          <a:xfrm>
            <a:off x="731520" y="4379976"/>
            <a:ext cx="502920" cy="45720"/>
          </a:xfrm>
          <a:prstGeom prst="rect">
            <a:avLst/>
          </a:prstGeom>
          <a:solidFill>
            <a:srgbClr val="D957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694944" y="4471416"/>
            <a:ext cx="2343835" cy="399288"/>
          </a:xfrm>
          <a:prstGeom prst="rect">
            <a:avLst/>
          </a:prstGeom>
          <a:noFill/>
        </p:spPr>
        <p:txBody>
          <a:bodyPr wrap="square" lIns="45720" rIns="45720" tIns="27432" bIns="27432" anchor="t">
            <a:noAutofit/>
          </a:bodyPr>
          <a:lstStyle/>
          <a:p>
            <a:pPr algn="l">
              <a:lnSpc>
                <a:spcPct val="100000"/>
              </a:lnSpc>
            </a:pPr>
            <a:r>
              <a:rPr sz="1900" b="1" i="0">
                <a:solidFill>
                  <a:srgbClr val="F7F2E8"/>
                </a:solidFill>
                <a:latin typeface="Palatino Linotype"/>
              </a:rPr>
              <a:t>Nmapper</a:t>
            </a:r>
          </a:p>
        </p:txBody>
      </p:sp>
      <p:sp>
        <p:nvSpPr>
          <p:cNvPr id="27" name="TextBox 26"/>
          <p:cNvSpPr txBox="1"/>
          <p:nvPr/>
        </p:nvSpPr>
        <p:spPr>
          <a:xfrm>
            <a:off x="694944" y="4870704"/>
            <a:ext cx="2343835" cy="1237488"/>
          </a:xfrm>
          <a:prstGeom prst="rect">
            <a:avLst/>
          </a:prstGeom>
          <a:noFill/>
        </p:spPr>
        <p:txBody>
          <a:bodyPr wrap="square" lIns="45720" rIns="45720" tIns="27432" bIns="27432" anchor="t">
            <a:noAutofit/>
          </a:bodyPr>
          <a:lstStyle/>
          <a:p>
            <a:pPr algn="l">
              <a:lnSpc>
                <a:spcPct val="100000"/>
              </a:lnSpc>
            </a:pPr>
            <a:r>
              <a:rPr sz="1500" b="0" i="0">
                <a:solidFill>
                  <a:srgbClr val="A7B2B0"/>
                </a:solidFill>
                <a:latin typeface="Segoe UI"/>
              </a:rPr>
              <a:t>Un puente de nmap local y de sólo uso; escaneo connect sin privilegios de forma predeterminada.</a:t>
            </a:r>
          </a:p>
        </p:txBody>
      </p:sp>
      <p:sp>
        <p:nvSpPr>
          <p:cNvPr id="28" name="Rounded Rectangle 27"/>
          <p:cNvSpPr/>
          <p:nvPr/>
        </p:nvSpPr>
        <p:spPr>
          <a:xfrm>
            <a:off x="3386251" y="4251960"/>
            <a:ext cx="2599867" cy="1947672"/>
          </a:xfrm>
          <a:prstGeom prst="roundRect">
            <a:avLst>
              <a:gd name="adj" fmla="val 5633"/>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Rectangle 28"/>
          <p:cNvSpPr/>
          <p:nvPr/>
        </p:nvSpPr>
        <p:spPr>
          <a:xfrm>
            <a:off x="3550843" y="4379976"/>
            <a:ext cx="502920" cy="45720"/>
          </a:xfrm>
          <a:prstGeom prst="rect">
            <a:avLst/>
          </a:prstGeom>
          <a:solidFill>
            <a:srgbClr val="D957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3514267" y="4471416"/>
            <a:ext cx="2343835" cy="399288"/>
          </a:xfrm>
          <a:prstGeom prst="rect">
            <a:avLst/>
          </a:prstGeom>
          <a:noFill/>
        </p:spPr>
        <p:txBody>
          <a:bodyPr wrap="square" lIns="45720" rIns="45720" tIns="27432" bIns="27432" anchor="t">
            <a:noAutofit/>
          </a:bodyPr>
          <a:lstStyle/>
          <a:p>
            <a:pPr algn="l">
              <a:lnSpc>
                <a:spcPct val="100000"/>
              </a:lnSpc>
            </a:pPr>
            <a:r>
              <a:rPr sz="1900" b="1" i="0">
                <a:solidFill>
                  <a:srgbClr val="F7F2E8"/>
                </a:solidFill>
                <a:latin typeface="Palatino Linotype"/>
              </a:rPr>
              <a:t>Kyber-KeyGen</a:t>
            </a:r>
          </a:p>
        </p:txBody>
      </p:sp>
      <p:sp>
        <p:nvSpPr>
          <p:cNvPr id="31" name="TextBox 30"/>
          <p:cNvSpPr txBox="1"/>
          <p:nvPr/>
        </p:nvSpPr>
        <p:spPr>
          <a:xfrm>
            <a:off x="3514267" y="4870704"/>
            <a:ext cx="2343835" cy="1237488"/>
          </a:xfrm>
          <a:prstGeom prst="rect">
            <a:avLst/>
          </a:prstGeom>
          <a:noFill/>
        </p:spPr>
        <p:txBody>
          <a:bodyPr wrap="square" lIns="45720" rIns="45720" tIns="27432" bIns="27432" anchor="t">
            <a:noAutofit/>
          </a:bodyPr>
          <a:lstStyle/>
          <a:p>
            <a:pPr algn="l">
              <a:lnSpc>
                <a:spcPct val="100000"/>
              </a:lnSpc>
            </a:pPr>
            <a:r>
              <a:rPr sz="1500" b="0" i="0">
                <a:solidFill>
                  <a:srgbClr val="A7B2B0"/>
                </a:solidFill>
                <a:latin typeface="Segoe UI"/>
              </a:rPr>
              <a:t>Genera pares de claves poscuánticas CRYSTALS-Kyber.</a:t>
            </a:r>
          </a:p>
        </p:txBody>
      </p:sp>
      <p:sp>
        <p:nvSpPr>
          <p:cNvPr id="32" name="Rounded Rectangle 31"/>
          <p:cNvSpPr/>
          <p:nvPr/>
        </p:nvSpPr>
        <p:spPr>
          <a:xfrm>
            <a:off x="6205575" y="4251960"/>
            <a:ext cx="2599867" cy="1947672"/>
          </a:xfrm>
          <a:prstGeom prst="roundRect">
            <a:avLst>
              <a:gd name="adj" fmla="val 5633"/>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Rectangle 32"/>
          <p:cNvSpPr/>
          <p:nvPr/>
        </p:nvSpPr>
        <p:spPr>
          <a:xfrm>
            <a:off x="6370167" y="4379976"/>
            <a:ext cx="502920" cy="45720"/>
          </a:xfrm>
          <a:prstGeom prst="rect">
            <a:avLst/>
          </a:prstGeom>
          <a:solidFill>
            <a:srgbClr val="D957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6333591" y="4471416"/>
            <a:ext cx="2343835" cy="399288"/>
          </a:xfrm>
          <a:prstGeom prst="rect">
            <a:avLst/>
          </a:prstGeom>
          <a:noFill/>
        </p:spPr>
        <p:txBody>
          <a:bodyPr wrap="square" lIns="45720" rIns="45720" tIns="27432" bIns="27432" anchor="t">
            <a:noAutofit/>
          </a:bodyPr>
          <a:lstStyle/>
          <a:p>
            <a:pPr algn="l">
              <a:lnSpc>
                <a:spcPct val="100000"/>
              </a:lnSpc>
            </a:pPr>
            <a:r>
              <a:rPr sz="1900" b="1" i="0">
                <a:solidFill>
                  <a:srgbClr val="F7F2E8"/>
                </a:solidFill>
                <a:latin typeface="Palatino Linotype"/>
              </a:rPr>
              <a:t>Kyber-Cipher</a:t>
            </a:r>
          </a:p>
        </p:txBody>
      </p:sp>
      <p:sp>
        <p:nvSpPr>
          <p:cNvPr id="35" name="TextBox 34"/>
          <p:cNvSpPr txBox="1"/>
          <p:nvPr/>
        </p:nvSpPr>
        <p:spPr>
          <a:xfrm>
            <a:off x="6333591" y="4870704"/>
            <a:ext cx="2343835" cy="1237488"/>
          </a:xfrm>
          <a:prstGeom prst="rect">
            <a:avLst/>
          </a:prstGeom>
          <a:noFill/>
        </p:spPr>
        <p:txBody>
          <a:bodyPr wrap="square" lIns="45720" rIns="45720" tIns="27432" bIns="27432" anchor="t">
            <a:noAutofit/>
          </a:bodyPr>
          <a:lstStyle/>
          <a:p>
            <a:pPr algn="l">
              <a:lnSpc>
                <a:spcPct val="100000"/>
              </a:lnSpc>
            </a:pPr>
            <a:r>
              <a:rPr sz="1500" b="0" i="0">
                <a:solidFill>
                  <a:srgbClr val="A7B2B0"/>
                </a:solidFill>
                <a:latin typeface="Segoe UI"/>
              </a:rPr>
              <a:t>Cifra con criptografía poscuántica Kyber.</a:t>
            </a:r>
          </a:p>
        </p:txBody>
      </p:sp>
      <p:sp>
        <p:nvSpPr>
          <p:cNvPr id="36" name="Rounded Rectangle 35"/>
          <p:cNvSpPr/>
          <p:nvPr/>
        </p:nvSpPr>
        <p:spPr>
          <a:xfrm>
            <a:off x="9024899" y="4251960"/>
            <a:ext cx="2599867" cy="1947672"/>
          </a:xfrm>
          <a:prstGeom prst="roundRect">
            <a:avLst>
              <a:gd name="adj" fmla="val 5633"/>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Rectangle 36"/>
          <p:cNvSpPr/>
          <p:nvPr/>
        </p:nvSpPr>
        <p:spPr>
          <a:xfrm>
            <a:off x="9189491" y="4379976"/>
            <a:ext cx="502920" cy="45720"/>
          </a:xfrm>
          <a:prstGeom prst="rect">
            <a:avLst/>
          </a:prstGeom>
          <a:solidFill>
            <a:srgbClr val="D957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8" name="TextBox 37"/>
          <p:cNvSpPr txBox="1"/>
          <p:nvPr/>
        </p:nvSpPr>
        <p:spPr>
          <a:xfrm>
            <a:off x="9152915" y="4471416"/>
            <a:ext cx="2343835" cy="399288"/>
          </a:xfrm>
          <a:prstGeom prst="rect">
            <a:avLst/>
          </a:prstGeom>
          <a:noFill/>
        </p:spPr>
        <p:txBody>
          <a:bodyPr wrap="square" lIns="45720" rIns="45720" tIns="27432" bIns="27432" anchor="t">
            <a:noAutofit/>
          </a:bodyPr>
          <a:lstStyle/>
          <a:p>
            <a:pPr algn="l">
              <a:lnSpc>
                <a:spcPct val="100000"/>
              </a:lnSpc>
            </a:pPr>
            <a:r>
              <a:rPr sz="1900" b="1" i="0">
                <a:solidFill>
                  <a:srgbClr val="F7F2E8"/>
                </a:solidFill>
                <a:latin typeface="Palatino Linotype"/>
              </a:rPr>
              <a:t>Kyber-DeCipher</a:t>
            </a:r>
          </a:p>
        </p:txBody>
      </p:sp>
      <p:sp>
        <p:nvSpPr>
          <p:cNvPr id="39" name="TextBox 38"/>
          <p:cNvSpPr txBox="1"/>
          <p:nvPr/>
        </p:nvSpPr>
        <p:spPr>
          <a:xfrm>
            <a:off x="9152915" y="4870704"/>
            <a:ext cx="2343835" cy="1237488"/>
          </a:xfrm>
          <a:prstGeom prst="rect">
            <a:avLst/>
          </a:prstGeom>
          <a:noFill/>
        </p:spPr>
        <p:txBody>
          <a:bodyPr wrap="square" lIns="45720" rIns="45720" tIns="27432" bIns="27432" anchor="t">
            <a:noAutofit/>
          </a:bodyPr>
          <a:lstStyle/>
          <a:p>
            <a:pPr algn="l">
              <a:lnSpc>
                <a:spcPct val="100000"/>
              </a:lnSpc>
            </a:pPr>
            <a:r>
              <a:rPr sz="1500" b="0" i="0">
                <a:solidFill>
                  <a:srgbClr val="A7B2B0"/>
                </a:solidFill>
                <a:latin typeface="Segoe UI"/>
              </a:rPr>
              <a:t>Descifra datos protegidos con Kyber.</a:t>
            </a:r>
          </a:p>
        </p:txBody>
      </p:sp>
      <p:cxnSp>
        <p:nvCxnSpPr>
          <p:cNvPr id="40" name="Connector 39"/>
          <p:cNvCxnSpPr/>
          <p:nvPr/>
        </p:nvCxnSpPr>
        <p:spPr>
          <a:xfrm>
            <a:off x="566928" y="6373368"/>
            <a:ext cx="11057839" cy="0"/>
          </a:xfrm>
          <a:prstGeom prst="line">
            <a:avLst/>
          </a:prstGeom>
          <a:ln w="7620">
            <a:solidFill>
              <a:srgbClr val="2A3A40"/>
            </a:solidFill>
          </a:ln>
        </p:spPr>
        <p:style>
          <a:lnRef idx="2">
            <a:schemeClr val="accent1"/>
          </a:lnRef>
          <a:fillRef idx="0">
            <a:schemeClr val="accent1"/>
          </a:fillRef>
          <a:effectRef idx="1">
            <a:schemeClr val="accent1"/>
          </a:effectRef>
          <a:fontRef idx="minor">
            <a:schemeClr val="tx1"/>
          </a:fontRef>
        </p:style>
      </p:cxnSp>
      <p:sp>
        <p:nvSpPr>
          <p:cNvPr id="41" name="TextBox 40"/>
          <p:cNvSpPr txBox="1"/>
          <p:nvPr/>
        </p:nvSpPr>
        <p:spPr>
          <a:xfrm>
            <a:off x="566928" y="6419088"/>
            <a:ext cx="6858000" cy="274320"/>
          </a:xfrm>
          <a:prstGeom prst="rect">
            <a:avLst/>
          </a:prstGeom>
          <a:noFill/>
        </p:spPr>
        <p:txBody>
          <a:bodyPr wrap="square" lIns="45720" rIns="45720" tIns="27432" bIns="27432" anchor="t">
            <a:noAutofit/>
          </a:bodyPr>
          <a:lstStyle/>
          <a:p>
            <a:pPr algn="l">
              <a:lnSpc>
                <a:spcPct val="100000"/>
              </a:lnSpc>
            </a:pPr>
            <a:r>
              <a:rPr sz="850" b="0" i="0" spc="120">
                <a:solidFill>
                  <a:srgbClr val="A7B2B0"/>
                </a:solidFill>
                <a:latin typeface="Segoe UI Semibold"/>
              </a:rPr>
              <a:t>TLAMATINI  ·  IV · EL BESTIARIO</a:t>
            </a:r>
          </a:p>
        </p:txBody>
      </p:sp>
      <p:sp>
        <p:nvSpPr>
          <p:cNvPr id="42" name="TextBox 41"/>
          <p:cNvSpPr txBox="1"/>
          <p:nvPr/>
        </p:nvSpPr>
        <p:spPr>
          <a:xfrm>
            <a:off x="8698687" y="6419088"/>
            <a:ext cx="2926080" cy="274320"/>
          </a:xfrm>
          <a:prstGeom prst="rect">
            <a:avLst/>
          </a:prstGeom>
          <a:noFill/>
        </p:spPr>
        <p:txBody>
          <a:bodyPr wrap="square" lIns="45720" rIns="45720" tIns="27432" bIns="27432" anchor="t">
            <a:noAutofit/>
          </a:bodyPr>
          <a:lstStyle/>
          <a:p>
            <a:pPr algn="r">
              <a:lnSpc>
                <a:spcPct val="100000"/>
              </a:lnSpc>
            </a:pPr>
            <a:r>
              <a:rPr sz="850" b="0" i="0" spc="100">
                <a:solidFill>
                  <a:srgbClr val="A7B2B0"/>
                </a:solidFill>
                <a:latin typeface="Segoe UI Semibold"/>
              </a:rPr>
              <a:t>v1.91.1   ·   75</a:t>
            </a:r>
          </a:p>
        </p:txBody>
      </p:sp>
    </p:spTree>
  </p:cSld>
  <p:clrMapOvr>
    <a:masterClrMapping/>
  </p:clrMapOvr>
</p:sld>
</file>

<file path=ppt/slides/slide7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content.png"/>
          <p:cNvPicPr>
            <a:picLocks noChangeAspect="1"/>
          </p:cNvPicPr>
          <p:nvPr/>
        </p:nvPicPr>
        <p:blipFill>
          <a:blip r:embed="rId2"/>
          <a:stretch>
            <a:fillRect/>
          </a:stretch>
        </p:blipFill>
        <p:spPr>
          <a:xfrm>
            <a:off x="0" y="0"/>
            <a:ext cx="12191695" cy="6858000"/>
          </a:xfrm>
          <a:prstGeom prst="rect">
            <a:avLst/>
          </a:prstGeom>
        </p:spPr>
      </p:pic>
      <p:sp>
        <p:nvSpPr>
          <p:cNvPr id="3" name="Diamond 2"/>
          <p:cNvSpPr/>
          <p:nvPr/>
        </p:nvSpPr>
        <p:spPr>
          <a:xfrm>
            <a:off x="566928" y="457200"/>
            <a:ext cx="100584" cy="100584"/>
          </a:xfrm>
          <a:prstGeom prst="diamond">
            <a:avLst/>
          </a:prstGeom>
          <a:solidFill>
            <a:srgbClr val="D25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49808" y="365760"/>
            <a:ext cx="8229600" cy="292608"/>
          </a:xfrm>
          <a:prstGeom prst="rect">
            <a:avLst/>
          </a:prstGeom>
          <a:noFill/>
        </p:spPr>
        <p:txBody>
          <a:bodyPr wrap="square" lIns="45720" rIns="45720" tIns="27432" bIns="27432" anchor="t">
            <a:noAutofit/>
          </a:bodyPr>
          <a:lstStyle/>
          <a:p>
            <a:pPr algn="l">
              <a:lnSpc>
                <a:spcPct val="100000"/>
              </a:lnSpc>
            </a:pPr>
            <a:r>
              <a:rPr sz="1100" b="0" i="0" spc="240">
                <a:solidFill>
                  <a:srgbClr val="C98457"/>
                </a:solidFill>
                <a:latin typeface="Segoe UI Semibold"/>
              </a:rPr>
              <a:t>FAMILIA DE AGENTS  ·  6 AGENTS</a:t>
            </a:r>
          </a:p>
        </p:txBody>
      </p:sp>
      <p:sp>
        <p:nvSpPr>
          <p:cNvPr id="5" name="TextBox 4"/>
          <p:cNvSpPr txBox="1"/>
          <p:nvPr/>
        </p:nvSpPr>
        <p:spPr>
          <a:xfrm>
            <a:off x="539496" y="676656"/>
            <a:ext cx="11057839" cy="658368"/>
          </a:xfrm>
          <a:prstGeom prst="rect">
            <a:avLst/>
          </a:prstGeom>
          <a:noFill/>
        </p:spPr>
        <p:txBody>
          <a:bodyPr wrap="square" lIns="45720" rIns="45720" tIns="27432" bIns="27432" anchor="t">
            <a:noAutofit/>
          </a:bodyPr>
          <a:lstStyle/>
          <a:p>
            <a:pPr algn="l">
              <a:lnSpc>
                <a:spcPct val="100000"/>
              </a:lnSpc>
            </a:pPr>
            <a:r>
              <a:rPr sz="3100" b="0" i="0">
                <a:solidFill>
                  <a:srgbClr val="F7F2E8"/>
                </a:solidFill>
                <a:latin typeface="Palatino Linotype"/>
              </a:rPr>
              <a:t>Firmware y engines</a:t>
            </a:r>
          </a:p>
        </p:txBody>
      </p:sp>
      <p:sp>
        <p:nvSpPr>
          <p:cNvPr id="6" name="Rectangle 5"/>
          <p:cNvSpPr/>
          <p:nvPr/>
        </p:nvSpPr>
        <p:spPr>
          <a:xfrm>
            <a:off x="566928" y="1344168"/>
            <a:ext cx="822960" cy="36576"/>
          </a:xfrm>
          <a:prstGeom prst="rect">
            <a:avLst/>
          </a:prstGeom>
          <a:solidFill>
            <a:srgbClr val="D25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566928" y="1444752"/>
            <a:ext cx="10692079" cy="585216"/>
          </a:xfrm>
          <a:prstGeom prst="rect">
            <a:avLst/>
          </a:prstGeom>
          <a:noFill/>
        </p:spPr>
        <p:txBody>
          <a:bodyPr wrap="square" lIns="45720" rIns="45720" tIns="27432" bIns="27432" anchor="t">
            <a:noAutofit/>
          </a:bodyPr>
          <a:lstStyle/>
          <a:p>
            <a:pPr algn="l">
              <a:lnSpc>
                <a:spcPct val="100000"/>
              </a:lnSpc>
            </a:pPr>
            <a:r>
              <a:rPr sz="1450" b="0" i="0">
                <a:solidFill>
                  <a:srgbClr val="A7B2B0"/>
                </a:solidFill>
                <a:latin typeface="Segoe UI Semilight"/>
              </a:rPr>
              <a:t>Placas reales y editores en vivo.</a:t>
            </a:r>
          </a:p>
        </p:txBody>
      </p:sp>
      <p:sp>
        <p:nvSpPr>
          <p:cNvPr id="8" name="Rounded Rectangle 7"/>
          <p:cNvSpPr/>
          <p:nvPr/>
        </p:nvSpPr>
        <p:spPr>
          <a:xfrm>
            <a:off x="566928" y="2409444"/>
            <a:ext cx="3539642" cy="1623060"/>
          </a:xfrm>
          <a:prstGeom prst="roundRect">
            <a:avLst>
              <a:gd name="adj" fmla="val 6760"/>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ectangle 8"/>
          <p:cNvSpPr/>
          <p:nvPr/>
        </p:nvSpPr>
        <p:spPr>
          <a:xfrm>
            <a:off x="731520" y="2537460"/>
            <a:ext cx="502920" cy="45720"/>
          </a:xfrm>
          <a:prstGeom prst="rect">
            <a:avLst/>
          </a:prstGeom>
          <a:solidFill>
            <a:srgbClr val="E2B4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694944" y="2628900"/>
            <a:ext cx="3283610" cy="429768"/>
          </a:xfrm>
          <a:prstGeom prst="rect">
            <a:avLst/>
          </a:prstGeom>
          <a:noFill/>
        </p:spPr>
        <p:txBody>
          <a:bodyPr wrap="square" lIns="45720" rIns="45720" tIns="27432" bIns="27432" anchor="t">
            <a:noAutofit/>
          </a:bodyPr>
          <a:lstStyle/>
          <a:p>
            <a:pPr algn="l">
              <a:lnSpc>
                <a:spcPct val="100000"/>
              </a:lnSpc>
            </a:pPr>
            <a:r>
              <a:rPr sz="2100" b="1" i="0">
                <a:solidFill>
                  <a:srgbClr val="F7F2E8"/>
                </a:solidFill>
                <a:latin typeface="Palatino Linotype"/>
              </a:rPr>
              <a:t>STM32er</a:t>
            </a:r>
          </a:p>
        </p:txBody>
      </p:sp>
      <p:sp>
        <p:nvSpPr>
          <p:cNvPr id="11" name="TextBox 10"/>
          <p:cNvSpPr txBox="1"/>
          <p:nvPr/>
        </p:nvSpPr>
        <p:spPr>
          <a:xfrm>
            <a:off x="694944" y="3058668"/>
            <a:ext cx="3283610" cy="882396"/>
          </a:xfrm>
          <a:prstGeom prst="rect">
            <a:avLst/>
          </a:prstGeom>
          <a:noFill/>
        </p:spPr>
        <p:txBody>
          <a:bodyPr wrap="square" lIns="45720" rIns="45720" tIns="27432" bIns="27432" anchor="t">
            <a:noAutofit/>
          </a:bodyPr>
          <a:lstStyle/>
          <a:p>
            <a:pPr algn="l">
              <a:lnSpc>
                <a:spcPct val="100000"/>
              </a:lnSpc>
            </a:pPr>
            <a:r>
              <a:rPr sz="1650" b="0" i="0">
                <a:solidFill>
                  <a:srgbClr val="A7B2B0"/>
                </a:solidFill>
                <a:latin typeface="Segoe UI"/>
              </a:rPr>
              <a:t>Firmware de STM32 desde la Blue Pill hasta la H7: compilar, flashear, observar, fail-safe.</a:t>
            </a:r>
          </a:p>
        </p:txBody>
      </p:sp>
      <p:sp>
        <p:nvSpPr>
          <p:cNvPr id="12" name="Rounded Rectangle 11"/>
          <p:cNvSpPr/>
          <p:nvPr/>
        </p:nvSpPr>
        <p:spPr>
          <a:xfrm>
            <a:off x="4326026" y="2409444"/>
            <a:ext cx="3539642" cy="1623060"/>
          </a:xfrm>
          <a:prstGeom prst="roundRect">
            <a:avLst>
              <a:gd name="adj" fmla="val 6760"/>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4490618" y="2537460"/>
            <a:ext cx="502920" cy="45720"/>
          </a:xfrm>
          <a:prstGeom prst="rect">
            <a:avLst/>
          </a:prstGeom>
          <a:solidFill>
            <a:srgbClr val="E2B4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4454042" y="2628900"/>
            <a:ext cx="3283610" cy="429768"/>
          </a:xfrm>
          <a:prstGeom prst="rect">
            <a:avLst/>
          </a:prstGeom>
          <a:noFill/>
        </p:spPr>
        <p:txBody>
          <a:bodyPr wrap="square" lIns="45720" rIns="45720" tIns="27432" bIns="27432" anchor="t">
            <a:noAutofit/>
          </a:bodyPr>
          <a:lstStyle/>
          <a:p>
            <a:pPr algn="l">
              <a:lnSpc>
                <a:spcPct val="100000"/>
              </a:lnSpc>
            </a:pPr>
            <a:r>
              <a:rPr sz="2100" b="1" i="0">
                <a:solidFill>
                  <a:srgbClr val="F7F2E8"/>
                </a:solidFill>
                <a:latin typeface="Palatino Linotype"/>
              </a:rPr>
              <a:t>ESP32er</a:t>
            </a:r>
          </a:p>
        </p:txBody>
      </p:sp>
      <p:sp>
        <p:nvSpPr>
          <p:cNvPr id="15" name="TextBox 14"/>
          <p:cNvSpPr txBox="1"/>
          <p:nvPr/>
        </p:nvSpPr>
        <p:spPr>
          <a:xfrm>
            <a:off x="4454042" y="3058668"/>
            <a:ext cx="3283610" cy="882396"/>
          </a:xfrm>
          <a:prstGeom prst="rect">
            <a:avLst/>
          </a:prstGeom>
          <a:noFill/>
        </p:spPr>
        <p:txBody>
          <a:bodyPr wrap="square" lIns="45720" rIns="45720" tIns="27432" bIns="27432" anchor="t">
            <a:noAutofit/>
          </a:bodyPr>
          <a:lstStyle/>
          <a:p>
            <a:pPr algn="l">
              <a:lnSpc>
                <a:spcPct val="100000"/>
              </a:lnSpc>
            </a:pPr>
            <a:r>
              <a:rPr sz="1650" b="0" i="0">
                <a:solidFill>
                  <a:srgbClr val="A7B2B0"/>
                </a:solidFill>
                <a:latin typeface="Segoe UI"/>
              </a:rPr>
              <a:t>Firmware de ESP32 a través de PlatformIO, desde una plantilla que compila de inmediato.</a:t>
            </a:r>
          </a:p>
        </p:txBody>
      </p:sp>
      <p:sp>
        <p:nvSpPr>
          <p:cNvPr id="16" name="Rounded Rectangle 15"/>
          <p:cNvSpPr/>
          <p:nvPr/>
        </p:nvSpPr>
        <p:spPr>
          <a:xfrm>
            <a:off x="8085124" y="2409444"/>
            <a:ext cx="3539642" cy="1623060"/>
          </a:xfrm>
          <a:prstGeom prst="roundRect">
            <a:avLst>
              <a:gd name="adj" fmla="val 6760"/>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8249716" y="2537460"/>
            <a:ext cx="502920" cy="45720"/>
          </a:xfrm>
          <a:prstGeom prst="rect">
            <a:avLst/>
          </a:prstGeom>
          <a:solidFill>
            <a:srgbClr val="E2B4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213140" y="2628900"/>
            <a:ext cx="3283610" cy="429768"/>
          </a:xfrm>
          <a:prstGeom prst="rect">
            <a:avLst/>
          </a:prstGeom>
          <a:noFill/>
        </p:spPr>
        <p:txBody>
          <a:bodyPr wrap="square" lIns="45720" rIns="45720" tIns="27432" bIns="27432" anchor="t">
            <a:noAutofit/>
          </a:bodyPr>
          <a:lstStyle/>
          <a:p>
            <a:pPr algn="l">
              <a:lnSpc>
                <a:spcPct val="100000"/>
              </a:lnSpc>
            </a:pPr>
            <a:r>
              <a:rPr sz="2100" b="1" i="0">
                <a:solidFill>
                  <a:srgbClr val="F7F2E8"/>
                </a:solidFill>
                <a:latin typeface="Palatino Linotype"/>
              </a:rPr>
              <a:t>Arduiner</a:t>
            </a:r>
          </a:p>
        </p:txBody>
      </p:sp>
      <p:sp>
        <p:nvSpPr>
          <p:cNvPr id="19" name="TextBox 18"/>
          <p:cNvSpPr txBox="1"/>
          <p:nvPr/>
        </p:nvSpPr>
        <p:spPr>
          <a:xfrm>
            <a:off x="8213140" y="3058668"/>
            <a:ext cx="3283610" cy="882396"/>
          </a:xfrm>
          <a:prstGeom prst="rect">
            <a:avLst/>
          </a:prstGeom>
          <a:noFill/>
        </p:spPr>
        <p:txBody>
          <a:bodyPr wrap="square" lIns="45720" rIns="45720" tIns="27432" bIns="27432" anchor="t">
            <a:noAutofit/>
          </a:bodyPr>
          <a:lstStyle/>
          <a:p>
            <a:pPr algn="l">
              <a:lnSpc>
                <a:spcPct val="100000"/>
              </a:lnSpc>
            </a:pPr>
            <a:r>
              <a:rPr sz="1650" b="0" i="0">
                <a:solidFill>
                  <a:srgbClr val="A7B2B0"/>
                </a:solidFill>
                <a:latin typeface="Segoe UI"/>
              </a:rPr>
              <a:t>Firmware de Arduino a través de arduino-cli, con los cores instalados automáticamente.</a:t>
            </a:r>
          </a:p>
        </p:txBody>
      </p:sp>
      <p:sp>
        <p:nvSpPr>
          <p:cNvPr id="20" name="Rounded Rectangle 19"/>
          <p:cNvSpPr/>
          <p:nvPr/>
        </p:nvSpPr>
        <p:spPr>
          <a:xfrm>
            <a:off x="566928" y="4251960"/>
            <a:ext cx="3539642" cy="1623060"/>
          </a:xfrm>
          <a:prstGeom prst="roundRect">
            <a:avLst>
              <a:gd name="adj" fmla="val 6760"/>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ectangle 20"/>
          <p:cNvSpPr/>
          <p:nvPr/>
        </p:nvSpPr>
        <p:spPr>
          <a:xfrm>
            <a:off x="731520" y="4379976"/>
            <a:ext cx="502920" cy="45720"/>
          </a:xfrm>
          <a:prstGeom prst="rect">
            <a:avLst/>
          </a:prstGeom>
          <a:solidFill>
            <a:srgbClr val="E2B4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694944" y="4471416"/>
            <a:ext cx="3283610" cy="429768"/>
          </a:xfrm>
          <a:prstGeom prst="rect">
            <a:avLst/>
          </a:prstGeom>
          <a:noFill/>
        </p:spPr>
        <p:txBody>
          <a:bodyPr wrap="square" lIns="45720" rIns="45720" tIns="27432" bIns="27432" anchor="t">
            <a:noAutofit/>
          </a:bodyPr>
          <a:lstStyle/>
          <a:p>
            <a:pPr algn="l">
              <a:lnSpc>
                <a:spcPct val="100000"/>
              </a:lnSpc>
            </a:pPr>
            <a:r>
              <a:rPr sz="2100" b="1" i="0">
                <a:solidFill>
                  <a:srgbClr val="F7F2E8"/>
                </a:solidFill>
                <a:latin typeface="Palatino Linotype"/>
              </a:rPr>
              <a:t>ESPHomer</a:t>
            </a:r>
          </a:p>
        </p:txBody>
      </p:sp>
      <p:sp>
        <p:nvSpPr>
          <p:cNvPr id="23" name="TextBox 22"/>
          <p:cNvSpPr txBox="1"/>
          <p:nvPr/>
        </p:nvSpPr>
        <p:spPr>
          <a:xfrm>
            <a:off x="694944" y="4901184"/>
            <a:ext cx="3283610" cy="882396"/>
          </a:xfrm>
          <a:prstGeom prst="rect">
            <a:avLst/>
          </a:prstGeom>
          <a:noFill/>
        </p:spPr>
        <p:txBody>
          <a:bodyPr wrap="square" lIns="45720" rIns="45720" tIns="27432" bIns="27432" anchor="t">
            <a:noAutofit/>
          </a:bodyPr>
          <a:lstStyle/>
          <a:p>
            <a:pPr algn="l">
              <a:lnSpc>
                <a:spcPct val="100000"/>
              </a:lnSpc>
            </a:pPr>
            <a:r>
              <a:rPr sz="1650" b="0" i="0">
                <a:solidFill>
                  <a:srgbClr val="A7B2B0"/>
                </a:solidFill>
                <a:latin typeface="Segoe UI"/>
              </a:rPr>
              <a:t>Dispositivos de domótica ESPHome desde YAML, sin C++ requerido.</a:t>
            </a:r>
          </a:p>
        </p:txBody>
      </p:sp>
      <p:sp>
        <p:nvSpPr>
          <p:cNvPr id="24" name="Rounded Rectangle 23"/>
          <p:cNvSpPr/>
          <p:nvPr/>
        </p:nvSpPr>
        <p:spPr>
          <a:xfrm>
            <a:off x="4326026" y="4251960"/>
            <a:ext cx="3539642" cy="1623060"/>
          </a:xfrm>
          <a:prstGeom prst="roundRect">
            <a:avLst>
              <a:gd name="adj" fmla="val 6760"/>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ectangle 24"/>
          <p:cNvSpPr/>
          <p:nvPr/>
        </p:nvSpPr>
        <p:spPr>
          <a:xfrm>
            <a:off x="4490618" y="4379976"/>
            <a:ext cx="502920" cy="45720"/>
          </a:xfrm>
          <a:prstGeom prst="rect">
            <a:avLst/>
          </a:prstGeom>
          <a:solidFill>
            <a:srgbClr val="E2B4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4454042" y="4471416"/>
            <a:ext cx="3283610" cy="429768"/>
          </a:xfrm>
          <a:prstGeom prst="rect">
            <a:avLst/>
          </a:prstGeom>
          <a:noFill/>
        </p:spPr>
        <p:txBody>
          <a:bodyPr wrap="square" lIns="45720" rIns="45720" tIns="27432" bIns="27432" anchor="t">
            <a:noAutofit/>
          </a:bodyPr>
          <a:lstStyle/>
          <a:p>
            <a:pPr algn="l">
              <a:lnSpc>
                <a:spcPct val="100000"/>
              </a:lnSpc>
            </a:pPr>
            <a:r>
              <a:rPr sz="2100" b="1" i="0">
                <a:solidFill>
                  <a:srgbClr val="F7F2E8"/>
                </a:solidFill>
                <a:latin typeface="Palatino Linotype"/>
              </a:rPr>
              <a:t>Unrealer</a:t>
            </a:r>
          </a:p>
        </p:txBody>
      </p:sp>
      <p:sp>
        <p:nvSpPr>
          <p:cNvPr id="27" name="TextBox 26"/>
          <p:cNvSpPr txBox="1"/>
          <p:nvPr/>
        </p:nvSpPr>
        <p:spPr>
          <a:xfrm>
            <a:off x="4454042" y="4901184"/>
            <a:ext cx="3283610" cy="882396"/>
          </a:xfrm>
          <a:prstGeom prst="rect">
            <a:avLst/>
          </a:prstGeom>
          <a:noFill/>
        </p:spPr>
        <p:txBody>
          <a:bodyPr wrap="square" lIns="45720" rIns="45720" tIns="27432" bIns="27432" anchor="t">
            <a:noAutofit/>
          </a:bodyPr>
          <a:lstStyle/>
          <a:p>
            <a:pPr algn="l">
              <a:lnSpc>
                <a:spcPct val="100000"/>
              </a:lnSpc>
            </a:pPr>
            <a:r>
              <a:rPr sz="1650" b="0" i="0">
                <a:solidFill>
                  <a:srgbClr val="A7B2B0"/>
                </a:solidFill>
                <a:latin typeface="Segoe UI"/>
              </a:rPr>
              <a:t>Maneja un editor de Unreal Engine 5 en vivo: 53 comandos en nueve categorías.</a:t>
            </a:r>
          </a:p>
        </p:txBody>
      </p:sp>
      <p:sp>
        <p:nvSpPr>
          <p:cNvPr id="28" name="Rounded Rectangle 27"/>
          <p:cNvSpPr/>
          <p:nvPr/>
        </p:nvSpPr>
        <p:spPr>
          <a:xfrm>
            <a:off x="8085124" y="4251960"/>
            <a:ext cx="3539642" cy="1623060"/>
          </a:xfrm>
          <a:prstGeom prst="roundRect">
            <a:avLst>
              <a:gd name="adj" fmla="val 6760"/>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Rectangle 28"/>
          <p:cNvSpPr/>
          <p:nvPr/>
        </p:nvSpPr>
        <p:spPr>
          <a:xfrm>
            <a:off x="8249716" y="4379976"/>
            <a:ext cx="502920" cy="45720"/>
          </a:xfrm>
          <a:prstGeom prst="rect">
            <a:avLst/>
          </a:prstGeom>
          <a:solidFill>
            <a:srgbClr val="E2B4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8213140" y="4471416"/>
            <a:ext cx="3283610" cy="429768"/>
          </a:xfrm>
          <a:prstGeom prst="rect">
            <a:avLst/>
          </a:prstGeom>
          <a:noFill/>
        </p:spPr>
        <p:txBody>
          <a:bodyPr wrap="square" lIns="45720" rIns="45720" tIns="27432" bIns="27432" anchor="t">
            <a:noAutofit/>
          </a:bodyPr>
          <a:lstStyle/>
          <a:p>
            <a:pPr algn="l">
              <a:lnSpc>
                <a:spcPct val="100000"/>
              </a:lnSpc>
            </a:pPr>
            <a:r>
              <a:rPr sz="2100" b="1" i="0">
                <a:solidFill>
                  <a:srgbClr val="F7F2E8"/>
                </a:solidFill>
                <a:latin typeface="Palatino Linotype"/>
              </a:rPr>
              <a:t>Blenderer</a:t>
            </a:r>
          </a:p>
        </p:txBody>
      </p:sp>
      <p:sp>
        <p:nvSpPr>
          <p:cNvPr id="31" name="TextBox 30"/>
          <p:cNvSpPr txBox="1"/>
          <p:nvPr/>
        </p:nvSpPr>
        <p:spPr>
          <a:xfrm>
            <a:off x="8213140" y="4901184"/>
            <a:ext cx="3283610" cy="882396"/>
          </a:xfrm>
          <a:prstGeom prst="rect">
            <a:avLst/>
          </a:prstGeom>
          <a:noFill/>
        </p:spPr>
        <p:txBody>
          <a:bodyPr wrap="square" lIns="45720" rIns="45720" tIns="27432" bIns="27432" anchor="t">
            <a:noAutofit/>
          </a:bodyPr>
          <a:lstStyle/>
          <a:p>
            <a:pPr algn="l">
              <a:lnSpc>
                <a:spcPct val="100000"/>
              </a:lnSpc>
            </a:pPr>
            <a:r>
              <a:rPr sz="1650" b="0" i="0">
                <a:solidFill>
                  <a:srgbClr val="A7B2B0"/>
                </a:solidFill>
                <a:latin typeface="Segoe UI"/>
              </a:rPr>
              <a:t>Maneja Blender a través del socket del add-on oficial de Blender MCP.</a:t>
            </a:r>
          </a:p>
        </p:txBody>
      </p:sp>
      <p:cxnSp>
        <p:nvCxnSpPr>
          <p:cNvPr id="32" name="Connector 31"/>
          <p:cNvCxnSpPr/>
          <p:nvPr/>
        </p:nvCxnSpPr>
        <p:spPr>
          <a:xfrm>
            <a:off x="566928" y="6373368"/>
            <a:ext cx="11057839" cy="0"/>
          </a:xfrm>
          <a:prstGeom prst="line">
            <a:avLst/>
          </a:prstGeom>
          <a:ln w="7620">
            <a:solidFill>
              <a:srgbClr val="2A3A40"/>
            </a:solidFill>
          </a:ln>
        </p:spPr>
        <p:style>
          <a:lnRef idx="2">
            <a:schemeClr val="accent1"/>
          </a:lnRef>
          <a:fillRef idx="0">
            <a:schemeClr val="accent1"/>
          </a:fillRef>
          <a:effectRef idx="1">
            <a:schemeClr val="accent1"/>
          </a:effectRef>
          <a:fontRef idx="minor">
            <a:schemeClr val="tx1"/>
          </a:fontRef>
        </p:style>
      </p:cxnSp>
      <p:sp>
        <p:nvSpPr>
          <p:cNvPr id="33" name="TextBox 32"/>
          <p:cNvSpPr txBox="1"/>
          <p:nvPr/>
        </p:nvSpPr>
        <p:spPr>
          <a:xfrm>
            <a:off x="566928" y="6419088"/>
            <a:ext cx="6858000" cy="274320"/>
          </a:xfrm>
          <a:prstGeom prst="rect">
            <a:avLst/>
          </a:prstGeom>
          <a:noFill/>
        </p:spPr>
        <p:txBody>
          <a:bodyPr wrap="square" lIns="45720" rIns="45720" tIns="27432" bIns="27432" anchor="t">
            <a:noAutofit/>
          </a:bodyPr>
          <a:lstStyle/>
          <a:p>
            <a:pPr algn="l">
              <a:lnSpc>
                <a:spcPct val="100000"/>
              </a:lnSpc>
            </a:pPr>
            <a:r>
              <a:rPr sz="850" b="0" i="0" spc="120">
                <a:solidFill>
                  <a:srgbClr val="A7B2B0"/>
                </a:solidFill>
                <a:latin typeface="Segoe UI Semibold"/>
              </a:rPr>
              <a:t>TLAMATINI  ·  IV · EL BESTIARIO</a:t>
            </a:r>
          </a:p>
        </p:txBody>
      </p:sp>
      <p:sp>
        <p:nvSpPr>
          <p:cNvPr id="34" name="TextBox 33"/>
          <p:cNvSpPr txBox="1"/>
          <p:nvPr/>
        </p:nvSpPr>
        <p:spPr>
          <a:xfrm>
            <a:off x="8698687" y="6419088"/>
            <a:ext cx="2926080" cy="274320"/>
          </a:xfrm>
          <a:prstGeom prst="rect">
            <a:avLst/>
          </a:prstGeom>
          <a:noFill/>
        </p:spPr>
        <p:txBody>
          <a:bodyPr wrap="square" lIns="45720" rIns="45720" tIns="27432" bIns="27432" anchor="t">
            <a:noAutofit/>
          </a:bodyPr>
          <a:lstStyle/>
          <a:p>
            <a:pPr algn="r">
              <a:lnSpc>
                <a:spcPct val="100000"/>
              </a:lnSpc>
            </a:pPr>
            <a:r>
              <a:rPr sz="850" b="0" i="0" spc="100">
                <a:solidFill>
                  <a:srgbClr val="A7B2B0"/>
                </a:solidFill>
                <a:latin typeface="Segoe UI Semibold"/>
              </a:rPr>
              <a:t>v1.91.1   ·   76</a:t>
            </a:r>
          </a:p>
        </p:txBody>
      </p:sp>
    </p:spTree>
  </p:cSld>
  <p:clrMapOvr>
    <a:masterClrMapping/>
  </p:clrMapOvr>
</p:sld>
</file>

<file path=ppt/slides/slide7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content.png"/>
          <p:cNvPicPr>
            <a:picLocks noChangeAspect="1"/>
          </p:cNvPicPr>
          <p:nvPr/>
        </p:nvPicPr>
        <p:blipFill>
          <a:blip r:embed="rId2"/>
          <a:stretch>
            <a:fillRect/>
          </a:stretch>
        </p:blipFill>
        <p:spPr>
          <a:xfrm>
            <a:off x="0" y="0"/>
            <a:ext cx="12191695" cy="6858000"/>
          </a:xfrm>
          <a:prstGeom prst="rect">
            <a:avLst/>
          </a:prstGeom>
        </p:spPr>
      </p:pic>
      <p:sp>
        <p:nvSpPr>
          <p:cNvPr id="3" name="Diamond 2"/>
          <p:cNvSpPr/>
          <p:nvPr/>
        </p:nvSpPr>
        <p:spPr>
          <a:xfrm>
            <a:off x="566928" y="457200"/>
            <a:ext cx="100584" cy="100584"/>
          </a:xfrm>
          <a:prstGeom prst="diamond">
            <a:avLst/>
          </a:prstGeom>
          <a:solidFill>
            <a:srgbClr val="D25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49808" y="365760"/>
            <a:ext cx="8229600" cy="292608"/>
          </a:xfrm>
          <a:prstGeom prst="rect">
            <a:avLst/>
          </a:prstGeom>
          <a:noFill/>
        </p:spPr>
        <p:txBody>
          <a:bodyPr wrap="square" lIns="45720" rIns="45720" tIns="27432" bIns="27432" anchor="t">
            <a:noAutofit/>
          </a:bodyPr>
          <a:lstStyle/>
          <a:p>
            <a:pPr algn="l">
              <a:lnSpc>
                <a:spcPct val="100000"/>
              </a:lnSpc>
            </a:pPr>
            <a:r>
              <a:rPr sz="1100" b="0" i="0" spc="240">
                <a:solidFill>
                  <a:srgbClr val="C98457"/>
                </a:solidFill>
                <a:latin typeface="Segoe UI Semibold"/>
              </a:rPr>
              <a:t>FAMILIA DE AGENTS  ·  5 AGENTS</a:t>
            </a:r>
          </a:p>
        </p:txBody>
      </p:sp>
      <p:sp>
        <p:nvSpPr>
          <p:cNvPr id="5" name="TextBox 4"/>
          <p:cNvSpPr txBox="1"/>
          <p:nvPr/>
        </p:nvSpPr>
        <p:spPr>
          <a:xfrm>
            <a:off x="539496" y="676656"/>
            <a:ext cx="11057839" cy="658368"/>
          </a:xfrm>
          <a:prstGeom prst="rect">
            <a:avLst/>
          </a:prstGeom>
          <a:noFill/>
        </p:spPr>
        <p:txBody>
          <a:bodyPr wrap="square" lIns="45720" rIns="45720" tIns="27432" bIns="27432" anchor="t">
            <a:noAutofit/>
          </a:bodyPr>
          <a:lstStyle/>
          <a:p>
            <a:pPr algn="l">
              <a:lnSpc>
                <a:spcPct val="100000"/>
              </a:lnSpc>
            </a:pPr>
            <a:r>
              <a:rPr sz="3100" b="0" i="0">
                <a:solidFill>
                  <a:srgbClr val="F7F2E8"/>
                </a:solidFill>
                <a:latin typeface="Palatino Linotype"/>
              </a:rPr>
              <a:t>Escritorio y captura</a:t>
            </a:r>
          </a:p>
        </p:txBody>
      </p:sp>
      <p:sp>
        <p:nvSpPr>
          <p:cNvPr id="6" name="Rectangle 5"/>
          <p:cNvSpPr/>
          <p:nvPr/>
        </p:nvSpPr>
        <p:spPr>
          <a:xfrm>
            <a:off x="566928" y="1344168"/>
            <a:ext cx="822960" cy="36576"/>
          </a:xfrm>
          <a:prstGeom prst="rect">
            <a:avLst/>
          </a:prstGeom>
          <a:solidFill>
            <a:srgbClr val="D25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566928" y="1444752"/>
            <a:ext cx="10692079" cy="585216"/>
          </a:xfrm>
          <a:prstGeom prst="rect">
            <a:avLst/>
          </a:prstGeom>
          <a:noFill/>
        </p:spPr>
        <p:txBody>
          <a:bodyPr wrap="square" lIns="45720" rIns="45720" tIns="27432" bIns="27432" anchor="t">
            <a:noAutofit/>
          </a:bodyPr>
          <a:lstStyle/>
          <a:p>
            <a:pPr algn="l">
              <a:lnSpc>
                <a:spcPct val="100000"/>
              </a:lnSpc>
            </a:pPr>
            <a:r>
              <a:rPr sz="1450" b="0" i="0">
                <a:solidFill>
                  <a:srgbClr val="A7B2B0"/>
                </a:solidFill>
                <a:latin typeface="Segoe UI Semilight"/>
              </a:rPr>
              <a:t>Ve la pantalla, mueve el puntero, escribe.</a:t>
            </a:r>
          </a:p>
        </p:txBody>
      </p:sp>
      <p:sp>
        <p:nvSpPr>
          <p:cNvPr id="8" name="Rounded Rectangle 7"/>
          <p:cNvSpPr/>
          <p:nvPr/>
        </p:nvSpPr>
        <p:spPr>
          <a:xfrm>
            <a:off x="566928" y="2409444"/>
            <a:ext cx="3539642" cy="1623060"/>
          </a:xfrm>
          <a:prstGeom prst="roundRect">
            <a:avLst>
              <a:gd name="adj" fmla="val 6760"/>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ectangle 8"/>
          <p:cNvSpPr/>
          <p:nvPr/>
        </p:nvSpPr>
        <p:spPr>
          <a:xfrm>
            <a:off x="731520" y="2537460"/>
            <a:ext cx="502920" cy="45720"/>
          </a:xfrm>
          <a:prstGeom prst="rect">
            <a:avLst/>
          </a:prstGeom>
          <a:solidFill>
            <a:srgbClr val="46D2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694944" y="2628900"/>
            <a:ext cx="3283610" cy="429768"/>
          </a:xfrm>
          <a:prstGeom prst="rect">
            <a:avLst/>
          </a:prstGeom>
          <a:noFill/>
        </p:spPr>
        <p:txBody>
          <a:bodyPr wrap="square" lIns="45720" rIns="45720" tIns="27432" bIns="27432" anchor="t">
            <a:noAutofit/>
          </a:bodyPr>
          <a:lstStyle/>
          <a:p>
            <a:pPr algn="l">
              <a:lnSpc>
                <a:spcPct val="100000"/>
              </a:lnSpc>
            </a:pPr>
            <a:r>
              <a:rPr sz="2100" b="1" i="0">
                <a:solidFill>
                  <a:srgbClr val="F7F2E8"/>
                </a:solidFill>
                <a:latin typeface="Palatino Linotype"/>
              </a:rPr>
              <a:t>Mouser</a:t>
            </a:r>
          </a:p>
        </p:txBody>
      </p:sp>
      <p:sp>
        <p:nvSpPr>
          <p:cNvPr id="11" name="TextBox 10"/>
          <p:cNvSpPr txBox="1"/>
          <p:nvPr/>
        </p:nvSpPr>
        <p:spPr>
          <a:xfrm>
            <a:off x="694944" y="3058668"/>
            <a:ext cx="3283610" cy="882396"/>
          </a:xfrm>
          <a:prstGeom prst="rect">
            <a:avLst/>
          </a:prstGeom>
          <a:noFill/>
        </p:spPr>
        <p:txBody>
          <a:bodyPr wrap="square" lIns="45720" rIns="45720" tIns="27432" bIns="27432" anchor="t">
            <a:noAutofit/>
          </a:bodyPr>
          <a:lstStyle/>
          <a:p>
            <a:pPr algn="l">
              <a:lnSpc>
                <a:spcPct val="100000"/>
              </a:lnSpc>
            </a:pPr>
            <a:r>
              <a:rPr sz="1650" b="0" i="0">
                <a:solidFill>
                  <a:srgbClr val="A7B2B0"/>
                </a:solidFill>
                <a:latin typeface="Segoe UI"/>
              </a:rPr>
              <a:t>Mueve y hace clic en espacios de coordenadas declarados explícitamente.</a:t>
            </a:r>
          </a:p>
        </p:txBody>
      </p:sp>
      <p:sp>
        <p:nvSpPr>
          <p:cNvPr id="12" name="Rounded Rectangle 11"/>
          <p:cNvSpPr/>
          <p:nvPr/>
        </p:nvSpPr>
        <p:spPr>
          <a:xfrm>
            <a:off x="4326026" y="2409444"/>
            <a:ext cx="3539642" cy="1623060"/>
          </a:xfrm>
          <a:prstGeom prst="roundRect">
            <a:avLst>
              <a:gd name="adj" fmla="val 6760"/>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4490618" y="2537460"/>
            <a:ext cx="502920" cy="45720"/>
          </a:xfrm>
          <a:prstGeom prst="rect">
            <a:avLst/>
          </a:prstGeom>
          <a:solidFill>
            <a:srgbClr val="46D2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4454042" y="2628900"/>
            <a:ext cx="3283610" cy="429768"/>
          </a:xfrm>
          <a:prstGeom prst="rect">
            <a:avLst/>
          </a:prstGeom>
          <a:noFill/>
        </p:spPr>
        <p:txBody>
          <a:bodyPr wrap="square" lIns="45720" rIns="45720" tIns="27432" bIns="27432" anchor="t">
            <a:noAutofit/>
          </a:bodyPr>
          <a:lstStyle/>
          <a:p>
            <a:pPr algn="l">
              <a:lnSpc>
                <a:spcPct val="100000"/>
              </a:lnSpc>
            </a:pPr>
            <a:r>
              <a:rPr sz="2100" b="1" i="0">
                <a:solidFill>
                  <a:srgbClr val="F7F2E8"/>
                </a:solidFill>
                <a:latin typeface="Palatino Linotype"/>
              </a:rPr>
              <a:t>Keyboarder</a:t>
            </a:r>
          </a:p>
        </p:txBody>
      </p:sp>
      <p:sp>
        <p:nvSpPr>
          <p:cNvPr id="15" name="TextBox 14"/>
          <p:cNvSpPr txBox="1"/>
          <p:nvPr/>
        </p:nvSpPr>
        <p:spPr>
          <a:xfrm>
            <a:off x="4454042" y="3058668"/>
            <a:ext cx="3283610" cy="882396"/>
          </a:xfrm>
          <a:prstGeom prst="rect">
            <a:avLst/>
          </a:prstGeom>
          <a:noFill/>
        </p:spPr>
        <p:txBody>
          <a:bodyPr wrap="square" lIns="45720" rIns="45720" tIns="27432" bIns="27432" anchor="t">
            <a:noAutofit/>
          </a:bodyPr>
          <a:lstStyle/>
          <a:p>
            <a:pPr algn="l">
              <a:lnSpc>
                <a:spcPct val="100000"/>
              </a:lnSpc>
            </a:pPr>
            <a:r>
              <a:rPr sz="1650" b="0" i="0">
                <a:solidFill>
                  <a:srgbClr val="A7B2B0"/>
                </a:solidFill>
                <a:latin typeface="Segoe UI"/>
              </a:rPr>
              <a:t>Escribe Unicode en una ventana de primer plano verificada.</a:t>
            </a:r>
          </a:p>
        </p:txBody>
      </p:sp>
      <p:sp>
        <p:nvSpPr>
          <p:cNvPr id="16" name="Rounded Rectangle 15"/>
          <p:cNvSpPr/>
          <p:nvPr/>
        </p:nvSpPr>
        <p:spPr>
          <a:xfrm>
            <a:off x="8085124" y="2409444"/>
            <a:ext cx="3539642" cy="1623060"/>
          </a:xfrm>
          <a:prstGeom prst="roundRect">
            <a:avLst>
              <a:gd name="adj" fmla="val 6760"/>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8249716" y="2537460"/>
            <a:ext cx="502920" cy="45720"/>
          </a:xfrm>
          <a:prstGeom prst="rect">
            <a:avLst/>
          </a:prstGeom>
          <a:solidFill>
            <a:srgbClr val="46D2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213140" y="2628900"/>
            <a:ext cx="3283610" cy="429768"/>
          </a:xfrm>
          <a:prstGeom prst="rect">
            <a:avLst/>
          </a:prstGeom>
          <a:noFill/>
        </p:spPr>
        <p:txBody>
          <a:bodyPr wrap="square" lIns="45720" rIns="45720" tIns="27432" bIns="27432" anchor="t">
            <a:noAutofit/>
          </a:bodyPr>
          <a:lstStyle/>
          <a:p>
            <a:pPr algn="l">
              <a:lnSpc>
                <a:spcPct val="100000"/>
              </a:lnSpc>
            </a:pPr>
            <a:r>
              <a:rPr sz="2100" b="1" i="0">
                <a:solidFill>
                  <a:srgbClr val="F7F2E8"/>
                </a:solidFill>
                <a:latin typeface="Palatino Linotype"/>
              </a:rPr>
              <a:t>Windower</a:t>
            </a:r>
          </a:p>
        </p:txBody>
      </p:sp>
      <p:sp>
        <p:nvSpPr>
          <p:cNvPr id="19" name="TextBox 18"/>
          <p:cNvSpPr txBox="1"/>
          <p:nvPr/>
        </p:nvSpPr>
        <p:spPr>
          <a:xfrm>
            <a:off x="8213140" y="3058668"/>
            <a:ext cx="3283610" cy="882396"/>
          </a:xfrm>
          <a:prstGeom prst="rect">
            <a:avLst/>
          </a:prstGeom>
          <a:noFill/>
        </p:spPr>
        <p:txBody>
          <a:bodyPr wrap="square" lIns="45720" rIns="45720" tIns="27432" bIns="27432" anchor="t">
            <a:noAutofit/>
          </a:bodyPr>
          <a:lstStyle/>
          <a:p>
            <a:pPr algn="l">
              <a:lnSpc>
                <a:spcPct val="100000"/>
              </a:lnSpc>
            </a:pPr>
            <a:r>
              <a:rPr sz="1650" b="0" i="0">
                <a:solidFill>
                  <a:srgbClr val="A7B2B0"/>
                </a:solidFill>
                <a:latin typeface="Segoe UI"/>
              </a:rPr>
              <a:t>Enfoca, acomoda en mosaico, redimensiona, lista y cierra ventanas por título.</a:t>
            </a:r>
          </a:p>
        </p:txBody>
      </p:sp>
      <p:sp>
        <p:nvSpPr>
          <p:cNvPr id="20" name="Rounded Rectangle 19"/>
          <p:cNvSpPr/>
          <p:nvPr/>
        </p:nvSpPr>
        <p:spPr>
          <a:xfrm>
            <a:off x="566928" y="4251960"/>
            <a:ext cx="3539642" cy="1623060"/>
          </a:xfrm>
          <a:prstGeom prst="roundRect">
            <a:avLst>
              <a:gd name="adj" fmla="val 6760"/>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ectangle 20"/>
          <p:cNvSpPr/>
          <p:nvPr/>
        </p:nvSpPr>
        <p:spPr>
          <a:xfrm>
            <a:off x="731520" y="4379976"/>
            <a:ext cx="502920" cy="45720"/>
          </a:xfrm>
          <a:prstGeom prst="rect">
            <a:avLst/>
          </a:prstGeom>
          <a:solidFill>
            <a:srgbClr val="46D2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694944" y="4471416"/>
            <a:ext cx="3283610" cy="429768"/>
          </a:xfrm>
          <a:prstGeom prst="rect">
            <a:avLst/>
          </a:prstGeom>
          <a:noFill/>
        </p:spPr>
        <p:txBody>
          <a:bodyPr wrap="square" lIns="45720" rIns="45720" tIns="27432" bIns="27432" anchor="t">
            <a:noAutofit/>
          </a:bodyPr>
          <a:lstStyle/>
          <a:p>
            <a:pPr algn="l">
              <a:lnSpc>
                <a:spcPct val="100000"/>
              </a:lnSpc>
            </a:pPr>
            <a:r>
              <a:rPr sz="2100" b="1" i="0">
                <a:solidFill>
                  <a:srgbClr val="F7F2E8"/>
                </a:solidFill>
                <a:latin typeface="Palatino Linotype"/>
              </a:rPr>
              <a:t>Shoter</a:t>
            </a:r>
          </a:p>
        </p:txBody>
      </p:sp>
      <p:sp>
        <p:nvSpPr>
          <p:cNvPr id="23" name="TextBox 22"/>
          <p:cNvSpPr txBox="1"/>
          <p:nvPr/>
        </p:nvSpPr>
        <p:spPr>
          <a:xfrm>
            <a:off x="694944" y="4901184"/>
            <a:ext cx="3283610" cy="882396"/>
          </a:xfrm>
          <a:prstGeom prst="rect">
            <a:avLst/>
          </a:prstGeom>
          <a:noFill/>
        </p:spPr>
        <p:txBody>
          <a:bodyPr wrap="square" lIns="45720" rIns="45720" tIns="27432" bIns="27432" anchor="t">
            <a:noAutofit/>
          </a:bodyPr>
          <a:lstStyle/>
          <a:p>
            <a:pPr algn="l">
              <a:lnSpc>
                <a:spcPct val="100000"/>
              </a:lnSpc>
            </a:pPr>
            <a:r>
              <a:rPr sz="1650" b="0" i="0">
                <a:solidFill>
                  <a:srgbClr val="A7B2B0"/>
                </a:solidFill>
                <a:latin typeface="Segoe UI"/>
              </a:rPr>
              <a:t>Screenshots de todo el escritorio con geometría de captura publicada.</a:t>
            </a:r>
          </a:p>
        </p:txBody>
      </p:sp>
      <p:sp>
        <p:nvSpPr>
          <p:cNvPr id="24" name="Rounded Rectangle 23"/>
          <p:cNvSpPr/>
          <p:nvPr/>
        </p:nvSpPr>
        <p:spPr>
          <a:xfrm>
            <a:off x="4326026" y="4251960"/>
            <a:ext cx="3539642" cy="1623060"/>
          </a:xfrm>
          <a:prstGeom prst="roundRect">
            <a:avLst>
              <a:gd name="adj" fmla="val 6760"/>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ectangle 24"/>
          <p:cNvSpPr/>
          <p:nvPr/>
        </p:nvSpPr>
        <p:spPr>
          <a:xfrm>
            <a:off x="4490618" y="4379976"/>
            <a:ext cx="502920" cy="45720"/>
          </a:xfrm>
          <a:prstGeom prst="rect">
            <a:avLst/>
          </a:prstGeom>
          <a:solidFill>
            <a:srgbClr val="46D2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4454042" y="4471416"/>
            <a:ext cx="3283610" cy="429768"/>
          </a:xfrm>
          <a:prstGeom prst="rect">
            <a:avLst/>
          </a:prstGeom>
          <a:noFill/>
        </p:spPr>
        <p:txBody>
          <a:bodyPr wrap="square" lIns="45720" rIns="45720" tIns="27432" bIns="27432" anchor="t">
            <a:noAutofit/>
          </a:bodyPr>
          <a:lstStyle/>
          <a:p>
            <a:pPr algn="l">
              <a:lnSpc>
                <a:spcPct val="100000"/>
              </a:lnSpc>
            </a:pPr>
            <a:r>
              <a:rPr sz="2100" b="1" i="0">
                <a:solidFill>
                  <a:srgbClr val="F7F2E8"/>
                </a:solidFill>
                <a:latin typeface="Palatino Linotype"/>
              </a:rPr>
              <a:t>Camcorder</a:t>
            </a:r>
          </a:p>
        </p:txBody>
      </p:sp>
      <p:sp>
        <p:nvSpPr>
          <p:cNvPr id="27" name="TextBox 26"/>
          <p:cNvSpPr txBox="1"/>
          <p:nvPr/>
        </p:nvSpPr>
        <p:spPr>
          <a:xfrm>
            <a:off x="4454042" y="4901184"/>
            <a:ext cx="3283610" cy="882396"/>
          </a:xfrm>
          <a:prstGeom prst="rect">
            <a:avLst/>
          </a:prstGeom>
          <a:noFill/>
        </p:spPr>
        <p:txBody>
          <a:bodyPr wrap="square" lIns="45720" rIns="45720" tIns="27432" bIns="27432" anchor="t">
            <a:noAutofit/>
          </a:bodyPr>
          <a:lstStyle/>
          <a:p>
            <a:pPr algn="l">
              <a:lnSpc>
                <a:spcPct val="100000"/>
              </a:lnSpc>
            </a:pPr>
            <a:r>
              <a:rPr sz="1650" b="0" i="0">
                <a:solidFill>
                  <a:srgbClr val="A7B2B0"/>
                </a:solidFill>
                <a:latin typeface="Segoe UI"/>
              </a:rPr>
              <a:t>Foto o video de webcam a la resolución nativa de la cámara.</a:t>
            </a:r>
          </a:p>
        </p:txBody>
      </p:sp>
      <p:cxnSp>
        <p:nvCxnSpPr>
          <p:cNvPr id="28" name="Connector 27"/>
          <p:cNvCxnSpPr/>
          <p:nvPr/>
        </p:nvCxnSpPr>
        <p:spPr>
          <a:xfrm>
            <a:off x="566928" y="6373368"/>
            <a:ext cx="11057839" cy="0"/>
          </a:xfrm>
          <a:prstGeom prst="line">
            <a:avLst/>
          </a:prstGeom>
          <a:ln w="7620">
            <a:solidFill>
              <a:srgbClr val="2A3A40"/>
            </a:solidFill>
          </a:ln>
        </p:spPr>
        <p:style>
          <a:lnRef idx="2">
            <a:schemeClr val="accent1"/>
          </a:lnRef>
          <a:fillRef idx="0">
            <a:schemeClr val="accent1"/>
          </a:fillRef>
          <a:effectRef idx="1">
            <a:schemeClr val="accent1"/>
          </a:effectRef>
          <a:fontRef idx="minor">
            <a:schemeClr val="tx1"/>
          </a:fontRef>
        </p:style>
      </p:cxnSp>
      <p:sp>
        <p:nvSpPr>
          <p:cNvPr id="29" name="TextBox 28"/>
          <p:cNvSpPr txBox="1"/>
          <p:nvPr/>
        </p:nvSpPr>
        <p:spPr>
          <a:xfrm>
            <a:off x="566928" y="6419088"/>
            <a:ext cx="6858000" cy="274320"/>
          </a:xfrm>
          <a:prstGeom prst="rect">
            <a:avLst/>
          </a:prstGeom>
          <a:noFill/>
        </p:spPr>
        <p:txBody>
          <a:bodyPr wrap="square" lIns="45720" rIns="45720" tIns="27432" bIns="27432" anchor="t">
            <a:noAutofit/>
          </a:bodyPr>
          <a:lstStyle/>
          <a:p>
            <a:pPr algn="l">
              <a:lnSpc>
                <a:spcPct val="100000"/>
              </a:lnSpc>
            </a:pPr>
            <a:r>
              <a:rPr sz="850" b="0" i="0" spc="120">
                <a:solidFill>
                  <a:srgbClr val="A7B2B0"/>
                </a:solidFill>
                <a:latin typeface="Segoe UI Semibold"/>
              </a:rPr>
              <a:t>TLAMATINI  ·  IV · EL BESTIARIO</a:t>
            </a:r>
          </a:p>
        </p:txBody>
      </p:sp>
      <p:sp>
        <p:nvSpPr>
          <p:cNvPr id="30" name="TextBox 29"/>
          <p:cNvSpPr txBox="1"/>
          <p:nvPr/>
        </p:nvSpPr>
        <p:spPr>
          <a:xfrm>
            <a:off x="8698687" y="6419088"/>
            <a:ext cx="2926080" cy="274320"/>
          </a:xfrm>
          <a:prstGeom prst="rect">
            <a:avLst/>
          </a:prstGeom>
          <a:noFill/>
        </p:spPr>
        <p:txBody>
          <a:bodyPr wrap="square" lIns="45720" rIns="45720" tIns="27432" bIns="27432" anchor="t">
            <a:noAutofit/>
          </a:bodyPr>
          <a:lstStyle/>
          <a:p>
            <a:pPr algn="r">
              <a:lnSpc>
                <a:spcPct val="100000"/>
              </a:lnSpc>
            </a:pPr>
            <a:r>
              <a:rPr sz="850" b="0" i="0" spc="100">
                <a:solidFill>
                  <a:srgbClr val="A7B2B0"/>
                </a:solidFill>
                <a:latin typeface="Segoe UI Semibold"/>
              </a:rPr>
              <a:t>v1.91.1   ·   77</a:t>
            </a:r>
          </a:p>
        </p:txBody>
      </p:sp>
    </p:spTree>
  </p:cSld>
  <p:clrMapOvr>
    <a:masterClrMapping/>
  </p:clrMapOvr>
</p:sld>
</file>

<file path=ppt/slides/slide7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content.png"/>
          <p:cNvPicPr>
            <a:picLocks noChangeAspect="1"/>
          </p:cNvPicPr>
          <p:nvPr/>
        </p:nvPicPr>
        <p:blipFill>
          <a:blip r:embed="rId2"/>
          <a:stretch>
            <a:fillRect/>
          </a:stretch>
        </p:blipFill>
        <p:spPr>
          <a:xfrm>
            <a:off x="0" y="0"/>
            <a:ext cx="12191695" cy="6858000"/>
          </a:xfrm>
          <a:prstGeom prst="rect">
            <a:avLst/>
          </a:prstGeom>
        </p:spPr>
      </p:pic>
      <p:sp>
        <p:nvSpPr>
          <p:cNvPr id="3" name="Diamond 2"/>
          <p:cNvSpPr/>
          <p:nvPr/>
        </p:nvSpPr>
        <p:spPr>
          <a:xfrm>
            <a:off x="566928" y="457200"/>
            <a:ext cx="100584" cy="100584"/>
          </a:xfrm>
          <a:prstGeom prst="diamond">
            <a:avLst/>
          </a:prstGeom>
          <a:solidFill>
            <a:srgbClr val="D25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49808" y="365760"/>
            <a:ext cx="8229600" cy="292608"/>
          </a:xfrm>
          <a:prstGeom prst="rect">
            <a:avLst/>
          </a:prstGeom>
          <a:noFill/>
        </p:spPr>
        <p:txBody>
          <a:bodyPr wrap="square" lIns="45720" rIns="45720" tIns="27432" bIns="27432" anchor="t">
            <a:noAutofit/>
          </a:bodyPr>
          <a:lstStyle/>
          <a:p>
            <a:pPr algn="l">
              <a:lnSpc>
                <a:spcPct val="100000"/>
              </a:lnSpc>
            </a:pPr>
            <a:r>
              <a:rPr sz="1100" b="0" i="0" spc="240">
                <a:solidFill>
                  <a:srgbClr val="C98457"/>
                </a:solidFill>
                <a:latin typeface="Segoe UI Semibold"/>
              </a:rPr>
              <a:t>FAMILIA DE AGENTS  ·  7 AGENTS</a:t>
            </a:r>
          </a:p>
        </p:txBody>
      </p:sp>
      <p:sp>
        <p:nvSpPr>
          <p:cNvPr id="5" name="TextBox 4"/>
          <p:cNvSpPr txBox="1"/>
          <p:nvPr/>
        </p:nvSpPr>
        <p:spPr>
          <a:xfrm>
            <a:off x="539496" y="676656"/>
            <a:ext cx="11057839" cy="658368"/>
          </a:xfrm>
          <a:prstGeom prst="rect">
            <a:avLst/>
          </a:prstGeom>
          <a:noFill/>
        </p:spPr>
        <p:txBody>
          <a:bodyPr wrap="square" lIns="45720" rIns="45720" tIns="27432" bIns="27432" anchor="t">
            <a:noAutofit/>
          </a:bodyPr>
          <a:lstStyle/>
          <a:p>
            <a:pPr algn="l">
              <a:lnSpc>
                <a:spcPct val="100000"/>
              </a:lnSpc>
            </a:pPr>
            <a:r>
              <a:rPr sz="3100" b="0" i="0">
                <a:solidFill>
                  <a:srgbClr val="F7F2E8"/>
                </a:solidFill>
                <a:latin typeface="Palatino Linotype"/>
              </a:rPr>
              <a:t>Voz, audio y visión</a:t>
            </a:r>
          </a:p>
        </p:txBody>
      </p:sp>
      <p:sp>
        <p:nvSpPr>
          <p:cNvPr id="6" name="Rectangle 5"/>
          <p:cNvSpPr/>
          <p:nvPr/>
        </p:nvSpPr>
        <p:spPr>
          <a:xfrm>
            <a:off x="566928" y="1344168"/>
            <a:ext cx="822960" cy="36576"/>
          </a:xfrm>
          <a:prstGeom prst="rect">
            <a:avLst/>
          </a:prstGeom>
          <a:solidFill>
            <a:srgbClr val="D25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566928" y="1444752"/>
            <a:ext cx="10692079" cy="585216"/>
          </a:xfrm>
          <a:prstGeom prst="rect">
            <a:avLst/>
          </a:prstGeom>
          <a:noFill/>
        </p:spPr>
        <p:txBody>
          <a:bodyPr wrap="square" lIns="45720" rIns="45720" tIns="27432" bIns="27432" anchor="t">
            <a:noAutofit/>
          </a:bodyPr>
          <a:lstStyle/>
          <a:p>
            <a:pPr algn="l">
              <a:lnSpc>
                <a:spcPct val="100000"/>
              </a:lnSpc>
            </a:pPr>
            <a:r>
              <a:rPr sz="1450" b="0" i="0">
                <a:solidFill>
                  <a:srgbClr val="A7B2B0"/>
                </a:solidFill>
                <a:latin typeface="Segoe UI Semilight"/>
              </a:rPr>
              <a:t>Oye, habla, reproduce y mira.</a:t>
            </a:r>
          </a:p>
        </p:txBody>
      </p:sp>
      <p:sp>
        <p:nvSpPr>
          <p:cNvPr id="8" name="Rounded Rectangle 7"/>
          <p:cNvSpPr/>
          <p:nvPr/>
        </p:nvSpPr>
        <p:spPr>
          <a:xfrm>
            <a:off x="566928" y="2084831"/>
            <a:ext cx="2599867" cy="1947672"/>
          </a:xfrm>
          <a:prstGeom prst="roundRect">
            <a:avLst>
              <a:gd name="adj" fmla="val 5633"/>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ectangle 8"/>
          <p:cNvSpPr/>
          <p:nvPr/>
        </p:nvSpPr>
        <p:spPr>
          <a:xfrm>
            <a:off x="731520" y="2212848"/>
            <a:ext cx="502920" cy="45720"/>
          </a:xfrm>
          <a:prstGeom prst="rect">
            <a:avLst/>
          </a:prstGeom>
          <a:solidFill>
            <a:srgbClr val="D25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694944" y="2304287"/>
            <a:ext cx="2343835" cy="399288"/>
          </a:xfrm>
          <a:prstGeom prst="rect">
            <a:avLst/>
          </a:prstGeom>
          <a:noFill/>
        </p:spPr>
        <p:txBody>
          <a:bodyPr wrap="square" lIns="45720" rIns="45720" tIns="27432" bIns="27432" anchor="t">
            <a:noAutofit/>
          </a:bodyPr>
          <a:lstStyle/>
          <a:p>
            <a:pPr algn="l">
              <a:lnSpc>
                <a:spcPct val="100000"/>
              </a:lnSpc>
            </a:pPr>
            <a:r>
              <a:rPr sz="1900" b="1" i="0">
                <a:solidFill>
                  <a:srgbClr val="F7F2E8"/>
                </a:solidFill>
                <a:latin typeface="Palatino Linotype"/>
              </a:rPr>
              <a:t>Recorder</a:t>
            </a:r>
          </a:p>
        </p:txBody>
      </p:sp>
      <p:sp>
        <p:nvSpPr>
          <p:cNvPr id="11" name="TextBox 10"/>
          <p:cNvSpPr txBox="1"/>
          <p:nvPr/>
        </p:nvSpPr>
        <p:spPr>
          <a:xfrm>
            <a:off x="694944" y="2703575"/>
            <a:ext cx="2343835" cy="1237488"/>
          </a:xfrm>
          <a:prstGeom prst="rect">
            <a:avLst/>
          </a:prstGeom>
          <a:noFill/>
        </p:spPr>
        <p:txBody>
          <a:bodyPr wrap="square" lIns="45720" rIns="45720" tIns="27432" bIns="27432" anchor="t">
            <a:noAutofit/>
          </a:bodyPr>
          <a:lstStyle/>
          <a:p>
            <a:pPr algn="l">
              <a:lnSpc>
                <a:spcPct val="100000"/>
              </a:lnSpc>
            </a:pPr>
            <a:r>
              <a:rPr sz="1500" b="0" i="0">
                <a:solidFill>
                  <a:srgbClr val="A7B2B0"/>
                </a:solidFill>
                <a:latin typeface="Segoe UI"/>
              </a:rPr>
              <a:t>Captura de micrófono a WAV a la frecuencia de muestreo nativa del dispositivo.</a:t>
            </a:r>
          </a:p>
        </p:txBody>
      </p:sp>
      <p:sp>
        <p:nvSpPr>
          <p:cNvPr id="12" name="Rounded Rectangle 11"/>
          <p:cNvSpPr/>
          <p:nvPr/>
        </p:nvSpPr>
        <p:spPr>
          <a:xfrm>
            <a:off x="3386251" y="2084831"/>
            <a:ext cx="2599867" cy="1947672"/>
          </a:xfrm>
          <a:prstGeom prst="roundRect">
            <a:avLst>
              <a:gd name="adj" fmla="val 5633"/>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3550843" y="2212848"/>
            <a:ext cx="502920" cy="45720"/>
          </a:xfrm>
          <a:prstGeom prst="rect">
            <a:avLst/>
          </a:prstGeom>
          <a:solidFill>
            <a:srgbClr val="D25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3514267" y="2304287"/>
            <a:ext cx="2343835" cy="399288"/>
          </a:xfrm>
          <a:prstGeom prst="rect">
            <a:avLst/>
          </a:prstGeom>
          <a:noFill/>
        </p:spPr>
        <p:txBody>
          <a:bodyPr wrap="square" lIns="45720" rIns="45720" tIns="27432" bIns="27432" anchor="t">
            <a:noAutofit/>
          </a:bodyPr>
          <a:lstStyle/>
          <a:p>
            <a:pPr algn="l">
              <a:lnSpc>
                <a:spcPct val="100000"/>
              </a:lnSpc>
            </a:pPr>
            <a:r>
              <a:rPr sz="1900" b="1" i="0">
                <a:solidFill>
                  <a:srgbClr val="F7F2E8"/>
                </a:solidFill>
                <a:latin typeface="Palatino Linotype"/>
              </a:rPr>
              <a:t>Whisperer</a:t>
            </a:r>
          </a:p>
        </p:txBody>
      </p:sp>
      <p:sp>
        <p:nvSpPr>
          <p:cNvPr id="15" name="TextBox 14"/>
          <p:cNvSpPr txBox="1"/>
          <p:nvPr/>
        </p:nvSpPr>
        <p:spPr>
          <a:xfrm>
            <a:off x="3514267" y="2703575"/>
            <a:ext cx="2343835" cy="1237488"/>
          </a:xfrm>
          <a:prstGeom prst="rect">
            <a:avLst/>
          </a:prstGeom>
          <a:noFill/>
        </p:spPr>
        <p:txBody>
          <a:bodyPr wrap="square" lIns="45720" rIns="45720" tIns="27432" bIns="27432" anchor="t">
            <a:noAutofit/>
          </a:bodyPr>
          <a:lstStyle/>
          <a:p>
            <a:pPr algn="l">
              <a:lnSpc>
                <a:spcPct val="100000"/>
              </a:lnSpc>
            </a:pPr>
            <a:r>
              <a:rPr sz="1500" b="0" i="0">
                <a:solidFill>
                  <a:srgbClr val="A7B2B0"/>
                </a:solidFill>
                <a:latin typeface="Segoe UI"/>
              </a:rPr>
              <a:t>De voz a texto que sigue escuchando hasta que dejas de hablar.</a:t>
            </a:r>
          </a:p>
        </p:txBody>
      </p:sp>
      <p:sp>
        <p:nvSpPr>
          <p:cNvPr id="16" name="Rounded Rectangle 15"/>
          <p:cNvSpPr/>
          <p:nvPr/>
        </p:nvSpPr>
        <p:spPr>
          <a:xfrm>
            <a:off x="6205575" y="2084831"/>
            <a:ext cx="2599867" cy="1947672"/>
          </a:xfrm>
          <a:prstGeom prst="roundRect">
            <a:avLst>
              <a:gd name="adj" fmla="val 5633"/>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6370167" y="2212848"/>
            <a:ext cx="502920" cy="45720"/>
          </a:xfrm>
          <a:prstGeom prst="rect">
            <a:avLst/>
          </a:prstGeom>
          <a:solidFill>
            <a:srgbClr val="D25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6333591" y="2304287"/>
            <a:ext cx="2343835" cy="399288"/>
          </a:xfrm>
          <a:prstGeom prst="rect">
            <a:avLst/>
          </a:prstGeom>
          <a:noFill/>
        </p:spPr>
        <p:txBody>
          <a:bodyPr wrap="square" lIns="45720" rIns="45720" tIns="27432" bIns="27432" anchor="t">
            <a:noAutofit/>
          </a:bodyPr>
          <a:lstStyle/>
          <a:p>
            <a:pPr algn="l">
              <a:lnSpc>
                <a:spcPct val="100000"/>
              </a:lnSpc>
            </a:pPr>
            <a:r>
              <a:rPr sz="1900" b="1" i="0">
                <a:solidFill>
                  <a:srgbClr val="F7F2E8"/>
                </a:solidFill>
                <a:latin typeface="Palatino Linotype"/>
              </a:rPr>
              <a:t>Talker</a:t>
            </a:r>
          </a:p>
        </p:txBody>
      </p:sp>
      <p:sp>
        <p:nvSpPr>
          <p:cNvPr id="19" name="TextBox 18"/>
          <p:cNvSpPr txBox="1"/>
          <p:nvPr/>
        </p:nvSpPr>
        <p:spPr>
          <a:xfrm>
            <a:off x="6333591" y="2703575"/>
            <a:ext cx="2343835" cy="1237488"/>
          </a:xfrm>
          <a:prstGeom prst="rect">
            <a:avLst/>
          </a:prstGeom>
          <a:noFill/>
        </p:spPr>
        <p:txBody>
          <a:bodyPr wrap="square" lIns="45720" rIns="45720" tIns="27432" bIns="27432" anchor="t">
            <a:noAutofit/>
          </a:bodyPr>
          <a:lstStyle/>
          <a:p>
            <a:pPr algn="l">
              <a:lnSpc>
                <a:spcPct val="100000"/>
              </a:lnSpc>
            </a:pPr>
            <a:r>
              <a:rPr sz="1500" b="0" i="0">
                <a:solidFill>
                  <a:srgbClr val="A7B2B0"/>
                </a:solidFill>
                <a:latin typeface="Segoe UI"/>
              </a:rPr>
              <a:t>De texto a voz, siempre en la voz femenina de Tlamatini.</a:t>
            </a:r>
          </a:p>
        </p:txBody>
      </p:sp>
      <p:sp>
        <p:nvSpPr>
          <p:cNvPr id="20" name="Rounded Rectangle 19"/>
          <p:cNvSpPr/>
          <p:nvPr/>
        </p:nvSpPr>
        <p:spPr>
          <a:xfrm>
            <a:off x="9024899" y="2084831"/>
            <a:ext cx="2599867" cy="1947672"/>
          </a:xfrm>
          <a:prstGeom prst="roundRect">
            <a:avLst>
              <a:gd name="adj" fmla="val 5633"/>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ectangle 20"/>
          <p:cNvSpPr/>
          <p:nvPr/>
        </p:nvSpPr>
        <p:spPr>
          <a:xfrm>
            <a:off x="9189491" y="2212848"/>
            <a:ext cx="502920" cy="45720"/>
          </a:xfrm>
          <a:prstGeom prst="rect">
            <a:avLst/>
          </a:prstGeom>
          <a:solidFill>
            <a:srgbClr val="D25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9152915" y="2304287"/>
            <a:ext cx="2343835" cy="399288"/>
          </a:xfrm>
          <a:prstGeom prst="rect">
            <a:avLst/>
          </a:prstGeom>
          <a:noFill/>
        </p:spPr>
        <p:txBody>
          <a:bodyPr wrap="square" lIns="45720" rIns="45720" tIns="27432" bIns="27432" anchor="t">
            <a:noAutofit/>
          </a:bodyPr>
          <a:lstStyle/>
          <a:p>
            <a:pPr algn="l">
              <a:lnSpc>
                <a:spcPct val="100000"/>
              </a:lnSpc>
            </a:pPr>
            <a:r>
              <a:rPr sz="1900" b="1" i="0">
                <a:solidFill>
                  <a:srgbClr val="F7F2E8"/>
                </a:solidFill>
                <a:latin typeface="Palatino Linotype"/>
              </a:rPr>
              <a:t>AudioPlayer</a:t>
            </a:r>
          </a:p>
        </p:txBody>
      </p:sp>
      <p:sp>
        <p:nvSpPr>
          <p:cNvPr id="23" name="TextBox 22"/>
          <p:cNvSpPr txBox="1"/>
          <p:nvPr/>
        </p:nvSpPr>
        <p:spPr>
          <a:xfrm>
            <a:off x="9152915" y="2703575"/>
            <a:ext cx="2343835" cy="1237488"/>
          </a:xfrm>
          <a:prstGeom prst="rect">
            <a:avLst/>
          </a:prstGeom>
          <a:noFill/>
        </p:spPr>
        <p:txBody>
          <a:bodyPr wrap="square" lIns="45720" rIns="45720" tIns="27432" bIns="27432" anchor="t">
            <a:noAutofit/>
          </a:bodyPr>
          <a:lstStyle/>
          <a:p>
            <a:pPr algn="l">
              <a:lnSpc>
                <a:spcPct val="100000"/>
              </a:lnSpc>
            </a:pPr>
            <a:r>
              <a:rPr sz="1500" b="0" i="0">
                <a:solidFill>
                  <a:srgbClr val="A7B2B0"/>
                </a:solidFill>
                <a:latin typeface="Segoe UI"/>
              </a:rPr>
              <a:t>Reproduce archivos de audio con control de volumen, truncado y loop.</a:t>
            </a:r>
          </a:p>
        </p:txBody>
      </p:sp>
      <p:sp>
        <p:nvSpPr>
          <p:cNvPr id="24" name="Rounded Rectangle 23"/>
          <p:cNvSpPr/>
          <p:nvPr/>
        </p:nvSpPr>
        <p:spPr>
          <a:xfrm>
            <a:off x="566928" y="4251960"/>
            <a:ext cx="2599867" cy="1947672"/>
          </a:xfrm>
          <a:prstGeom prst="roundRect">
            <a:avLst>
              <a:gd name="adj" fmla="val 5633"/>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ectangle 24"/>
          <p:cNvSpPr/>
          <p:nvPr/>
        </p:nvSpPr>
        <p:spPr>
          <a:xfrm>
            <a:off x="731520" y="4379976"/>
            <a:ext cx="502920" cy="45720"/>
          </a:xfrm>
          <a:prstGeom prst="rect">
            <a:avLst/>
          </a:prstGeom>
          <a:solidFill>
            <a:srgbClr val="D25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694944" y="4471416"/>
            <a:ext cx="2343835" cy="399288"/>
          </a:xfrm>
          <a:prstGeom prst="rect">
            <a:avLst/>
          </a:prstGeom>
          <a:noFill/>
        </p:spPr>
        <p:txBody>
          <a:bodyPr wrap="square" lIns="45720" rIns="45720" tIns="27432" bIns="27432" anchor="t">
            <a:noAutofit/>
          </a:bodyPr>
          <a:lstStyle/>
          <a:p>
            <a:pPr algn="l">
              <a:lnSpc>
                <a:spcPct val="100000"/>
              </a:lnSpc>
            </a:pPr>
            <a:r>
              <a:rPr sz="1900" b="1" i="0">
                <a:solidFill>
                  <a:srgbClr val="F7F2E8"/>
                </a:solidFill>
                <a:latin typeface="Palatino Linotype"/>
              </a:rPr>
              <a:t>VideoPlayer</a:t>
            </a:r>
          </a:p>
        </p:txBody>
      </p:sp>
      <p:sp>
        <p:nvSpPr>
          <p:cNvPr id="27" name="TextBox 26"/>
          <p:cNvSpPr txBox="1"/>
          <p:nvPr/>
        </p:nvSpPr>
        <p:spPr>
          <a:xfrm>
            <a:off x="694944" y="4870704"/>
            <a:ext cx="2343835" cy="1237488"/>
          </a:xfrm>
          <a:prstGeom prst="rect">
            <a:avLst/>
          </a:prstGeom>
          <a:noFill/>
        </p:spPr>
        <p:txBody>
          <a:bodyPr wrap="square" lIns="45720" rIns="45720" tIns="27432" bIns="27432" anchor="t">
            <a:noAutofit/>
          </a:bodyPr>
          <a:lstStyle/>
          <a:p>
            <a:pPr algn="l">
              <a:lnSpc>
                <a:spcPct val="100000"/>
              </a:lnSpc>
            </a:pPr>
            <a:r>
              <a:rPr sz="1500" b="0" i="0">
                <a:solidFill>
                  <a:srgbClr val="A7B2B0"/>
                </a:solidFill>
                <a:latin typeface="Segoe UI"/>
              </a:rPr>
              <a:t>Reproduce video con su audio en una pantalla elegida.</a:t>
            </a:r>
          </a:p>
        </p:txBody>
      </p:sp>
      <p:sp>
        <p:nvSpPr>
          <p:cNvPr id="28" name="Rounded Rectangle 27"/>
          <p:cNvSpPr/>
          <p:nvPr/>
        </p:nvSpPr>
        <p:spPr>
          <a:xfrm>
            <a:off x="3386251" y="4251960"/>
            <a:ext cx="2599867" cy="1947672"/>
          </a:xfrm>
          <a:prstGeom prst="roundRect">
            <a:avLst>
              <a:gd name="adj" fmla="val 5633"/>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Rectangle 28"/>
          <p:cNvSpPr/>
          <p:nvPr/>
        </p:nvSpPr>
        <p:spPr>
          <a:xfrm>
            <a:off x="3550843" y="4379976"/>
            <a:ext cx="502920" cy="45720"/>
          </a:xfrm>
          <a:prstGeom prst="rect">
            <a:avLst/>
          </a:prstGeom>
          <a:solidFill>
            <a:srgbClr val="D25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3514267" y="4471416"/>
            <a:ext cx="2343835" cy="399288"/>
          </a:xfrm>
          <a:prstGeom prst="rect">
            <a:avLst/>
          </a:prstGeom>
          <a:noFill/>
        </p:spPr>
        <p:txBody>
          <a:bodyPr wrap="square" lIns="45720" rIns="45720" tIns="27432" bIns="27432" anchor="t">
            <a:noAutofit/>
          </a:bodyPr>
          <a:lstStyle/>
          <a:p>
            <a:pPr algn="l">
              <a:lnSpc>
                <a:spcPct val="100000"/>
              </a:lnSpc>
            </a:pPr>
            <a:r>
              <a:rPr sz="1900" b="1" i="0">
                <a:solidFill>
                  <a:srgbClr val="F7F2E8"/>
                </a:solidFill>
                <a:latin typeface="Palatino Linotype"/>
              </a:rPr>
              <a:t>Image-Interpreter</a:t>
            </a:r>
          </a:p>
        </p:txBody>
      </p:sp>
      <p:sp>
        <p:nvSpPr>
          <p:cNvPr id="31" name="TextBox 30"/>
          <p:cNvSpPr txBox="1"/>
          <p:nvPr/>
        </p:nvSpPr>
        <p:spPr>
          <a:xfrm>
            <a:off x="3514267" y="4870704"/>
            <a:ext cx="2343835" cy="1237488"/>
          </a:xfrm>
          <a:prstGeom prst="rect">
            <a:avLst/>
          </a:prstGeom>
          <a:noFill/>
        </p:spPr>
        <p:txBody>
          <a:bodyPr wrap="square" lIns="45720" rIns="45720" tIns="27432" bIns="27432" anchor="t">
            <a:noAutofit/>
          </a:bodyPr>
          <a:lstStyle/>
          <a:p>
            <a:pPr algn="l">
              <a:lnSpc>
                <a:spcPct val="100000"/>
              </a:lnSpc>
            </a:pPr>
            <a:r>
              <a:rPr sz="1500" b="0" i="0">
                <a:solidFill>
                  <a:srgbClr val="A7B2B0"/>
                </a:solidFill>
                <a:latin typeface="Segoe UI"/>
              </a:rPr>
              <a:t>Dos modelos de visión en paralelo, fusionados por un tercero en un solo reporte.</a:t>
            </a:r>
          </a:p>
        </p:txBody>
      </p:sp>
      <p:sp>
        <p:nvSpPr>
          <p:cNvPr id="32" name="Rounded Rectangle 31"/>
          <p:cNvSpPr/>
          <p:nvPr/>
        </p:nvSpPr>
        <p:spPr>
          <a:xfrm>
            <a:off x="6205575" y="4251960"/>
            <a:ext cx="2599867" cy="1947672"/>
          </a:xfrm>
          <a:prstGeom prst="roundRect">
            <a:avLst>
              <a:gd name="adj" fmla="val 5633"/>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Rectangle 32"/>
          <p:cNvSpPr/>
          <p:nvPr/>
        </p:nvSpPr>
        <p:spPr>
          <a:xfrm>
            <a:off x="6370167" y="4379976"/>
            <a:ext cx="502920" cy="45720"/>
          </a:xfrm>
          <a:prstGeom prst="rect">
            <a:avLst/>
          </a:prstGeom>
          <a:solidFill>
            <a:srgbClr val="D25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6333591" y="4471416"/>
            <a:ext cx="2343835" cy="399288"/>
          </a:xfrm>
          <a:prstGeom prst="rect">
            <a:avLst/>
          </a:prstGeom>
          <a:noFill/>
        </p:spPr>
        <p:txBody>
          <a:bodyPr wrap="square" lIns="45720" rIns="45720" tIns="27432" bIns="27432" anchor="t">
            <a:noAutofit/>
          </a:bodyPr>
          <a:lstStyle/>
          <a:p>
            <a:pPr algn="l">
              <a:lnSpc>
                <a:spcPct val="100000"/>
              </a:lnSpc>
            </a:pPr>
            <a:r>
              <a:rPr sz="1900" b="1" i="0">
                <a:solidFill>
                  <a:srgbClr val="F7F2E8"/>
                </a:solidFill>
                <a:latin typeface="Palatino Linotype"/>
              </a:rPr>
              <a:t>Video-Analyzer</a:t>
            </a:r>
          </a:p>
        </p:txBody>
      </p:sp>
      <p:sp>
        <p:nvSpPr>
          <p:cNvPr id="35" name="TextBox 34"/>
          <p:cNvSpPr txBox="1"/>
          <p:nvPr/>
        </p:nvSpPr>
        <p:spPr>
          <a:xfrm>
            <a:off x="6333591" y="4870704"/>
            <a:ext cx="2343835" cy="1237488"/>
          </a:xfrm>
          <a:prstGeom prst="rect">
            <a:avLst/>
          </a:prstGeom>
          <a:noFill/>
        </p:spPr>
        <p:txBody>
          <a:bodyPr wrap="square" lIns="45720" rIns="45720" tIns="27432" bIns="27432" anchor="t">
            <a:noAutofit/>
          </a:bodyPr>
          <a:lstStyle/>
          <a:p>
            <a:pPr algn="l">
              <a:lnSpc>
                <a:spcPct val="100000"/>
              </a:lnSpc>
            </a:pPr>
            <a:r>
              <a:rPr sz="1500" b="0" i="0">
                <a:solidFill>
                  <a:srgbClr val="A7B2B0"/>
                </a:solidFill>
                <a:latin typeface="Segoe UI"/>
              </a:rPr>
              <a:t>Dictamina sobre el movimiento de un robot, transcribe pistas de audio, o resume un video.</a:t>
            </a:r>
          </a:p>
        </p:txBody>
      </p:sp>
      <p:cxnSp>
        <p:nvCxnSpPr>
          <p:cNvPr id="36" name="Connector 35"/>
          <p:cNvCxnSpPr/>
          <p:nvPr/>
        </p:nvCxnSpPr>
        <p:spPr>
          <a:xfrm>
            <a:off x="566928" y="6373368"/>
            <a:ext cx="11057839" cy="0"/>
          </a:xfrm>
          <a:prstGeom prst="line">
            <a:avLst/>
          </a:prstGeom>
          <a:ln w="7620">
            <a:solidFill>
              <a:srgbClr val="2A3A40"/>
            </a:solidFill>
          </a:ln>
        </p:spPr>
        <p:style>
          <a:lnRef idx="2">
            <a:schemeClr val="accent1"/>
          </a:lnRef>
          <a:fillRef idx="0">
            <a:schemeClr val="accent1"/>
          </a:fillRef>
          <a:effectRef idx="1">
            <a:schemeClr val="accent1"/>
          </a:effectRef>
          <a:fontRef idx="minor">
            <a:schemeClr val="tx1"/>
          </a:fontRef>
        </p:style>
      </p:cxnSp>
      <p:sp>
        <p:nvSpPr>
          <p:cNvPr id="37" name="TextBox 36"/>
          <p:cNvSpPr txBox="1"/>
          <p:nvPr/>
        </p:nvSpPr>
        <p:spPr>
          <a:xfrm>
            <a:off x="566928" y="6419088"/>
            <a:ext cx="6858000" cy="274320"/>
          </a:xfrm>
          <a:prstGeom prst="rect">
            <a:avLst/>
          </a:prstGeom>
          <a:noFill/>
        </p:spPr>
        <p:txBody>
          <a:bodyPr wrap="square" lIns="45720" rIns="45720" tIns="27432" bIns="27432" anchor="t">
            <a:noAutofit/>
          </a:bodyPr>
          <a:lstStyle/>
          <a:p>
            <a:pPr algn="l">
              <a:lnSpc>
                <a:spcPct val="100000"/>
              </a:lnSpc>
            </a:pPr>
            <a:r>
              <a:rPr sz="850" b="0" i="0" spc="120">
                <a:solidFill>
                  <a:srgbClr val="A7B2B0"/>
                </a:solidFill>
                <a:latin typeface="Segoe UI Semibold"/>
              </a:rPr>
              <a:t>TLAMATINI  ·  IV · EL BESTIARIO</a:t>
            </a:r>
          </a:p>
        </p:txBody>
      </p:sp>
      <p:sp>
        <p:nvSpPr>
          <p:cNvPr id="38" name="TextBox 37"/>
          <p:cNvSpPr txBox="1"/>
          <p:nvPr/>
        </p:nvSpPr>
        <p:spPr>
          <a:xfrm>
            <a:off x="8698687" y="6419088"/>
            <a:ext cx="2926080" cy="274320"/>
          </a:xfrm>
          <a:prstGeom prst="rect">
            <a:avLst/>
          </a:prstGeom>
          <a:noFill/>
        </p:spPr>
        <p:txBody>
          <a:bodyPr wrap="square" lIns="45720" rIns="45720" tIns="27432" bIns="27432" anchor="t">
            <a:noAutofit/>
          </a:bodyPr>
          <a:lstStyle/>
          <a:p>
            <a:pPr algn="r">
              <a:lnSpc>
                <a:spcPct val="100000"/>
              </a:lnSpc>
            </a:pPr>
            <a:r>
              <a:rPr sz="850" b="0" i="0" spc="100">
                <a:solidFill>
                  <a:srgbClr val="A7B2B0"/>
                </a:solidFill>
                <a:latin typeface="Segoe UI Semibold"/>
              </a:rPr>
              <a:t>v1.91.1   ·   78</a:t>
            </a:r>
          </a:p>
        </p:txBody>
      </p:sp>
    </p:spTree>
  </p:cSld>
  <p:clrMapOvr>
    <a:masterClrMapping/>
  </p:clrMapOvr>
</p:sld>
</file>

<file path=ppt/slides/slide7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content.png"/>
          <p:cNvPicPr>
            <a:picLocks noChangeAspect="1"/>
          </p:cNvPicPr>
          <p:nvPr/>
        </p:nvPicPr>
        <p:blipFill>
          <a:blip r:embed="rId2"/>
          <a:stretch>
            <a:fillRect/>
          </a:stretch>
        </p:blipFill>
        <p:spPr>
          <a:xfrm>
            <a:off x="0" y="0"/>
            <a:ext cx="12191695" cy="6858000"/>
          </a:xfrm>
          <a:prstGeom prst="rect">
            <a:avLst/>
          </a:prstGeom>
        </p:spPr>
      </p:pic>
      <p:sp>
        <p:nvSpPr>
          <p:cNvPr id="3" name="Diamond 2"/>
          <p:cNvSpPr/>
          <p:nvPr/>
        </p:nvSpPr>
        <p:spPr>
          <a:xfrm>
            <a:off x="566928" y="457200"/>
            <a:ext cx="100584" cy="100584"/>
          </a:xfrm>
          <a:prstGeom prst="diamond">
            <a:avLst/>
          </a:prstGeom>
          <a:solidFill>
            <a:srgbClr val="D25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49808" y="365760"/>
            <a:ext cx="8229600" cy="292608"/>
          </a:xfrm>
          <a:prstGeom prst="rect">
            <a:avLst/>
          </a:prstGeom>
          <a:noFill/>
        </p:spPr>
        <p:txBody>
          <a:bodyPr wrap="square" lIns="45720" rIns="45720" tIns="27432" bIns="27432" anchor="t">
            <a:noAutofit/>
          </a:bodyPr>
          <a:lstStyle/>
          <a:p>
            <a:pPr algn="l">
              <a:lnSpc>
                <a:spcPct val="100000"/>
              </a:lnSpc>
            </a:pPr>
            <a:r>
              <a:rPr sz="1100" b="0" i="0" spc="240">
                <a:solidFill>
                  <a:srgbClr val="C98457"/>
                </a:solidFill>
                <a:latin typeface="Segoe UI Semibold"/>
              </a:rPr>
              <a:t>FAMILIA DE AGENTS  ·  9 AGENTS</a:t>
            </a:r>
          </a:p>
        </p:txBody>
      </p:sp>
      <p:sp>
        <p:nvSpPr>
          <p:cNvPr id="5" name="TextBox 4"/>
          <p:cNvSpPr txBox="1"/>
          <p:nvPr/>
        </p:nvSpPr>
        <p:spPr>
          <a:xfrm>
            <a:off x="539496" y="676656"/>
            <a:ext cx="11057839" cy="658368"/>
          </a:xfrm>
          <a:prstGeom prst="rect">
            <a:avLst/>
          </a:prstGeom>
          <a:noFill/>
        </p:spPr>
        <p:txBody>
          <a:bodyPr wrap="square" lIns="45720" rIns="45720" tIns="27432" bIns="27432" anchor="t">
            <a:noAutofit/>
          </a:bodyPr>
          <a:lstStyle/>
          <a:p>
            <a:pPr algn="l">
              <a:lnSpc>
                <a:spcPct val="100000"/>
              </a:lnSpc>
            </a:pPr>
            <a:r>
              <a:rPr sz="3100" b="0" i="0">
                <a:solidFill>
                  <a:srgbClr val="F7F2E8"/>
                </a:solidFill>
                <a:latin typeface="Palatino Linotype"/>
              </a:rPr>
              <a:t>Mensajería y monitoreo</a:t>
            </a:r>
          </a:p>
        </p:txBody>
      </p:sp>
      <p:sp>
        <p:nvSpPr>
          <p:cNvPr id="6" name="Rectangle 5"/>
          <p:cNvSpPr/>
          <p:nvPr/>
        </p:nvSpPr>
        <p:spPr>
          <a:xfrm>
            <a:off x="566928" y="1344168"/>
            <a:ext cx="822960" cy="36576"/>
          </a:xfrm>
          <a:prstGeom prst="rect">
            <a:avLst/>
          </a:prstGeom>
          <a:solidFill>
            <a:srgbClr val="D25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566928" y="1444752"/>
            <a:ext cx="10692079" cy="585216"/>
          </a:xfrm>
          <a:prstGeom prst="rect">
            <a:avLst/>
          </a:prstGeom>
          <a:noFill/>
        </p:spPr>
        <p:txBody>
          <a:bodyPr wrap="square" lIns="45720" rIns="45720" tIns="27432" bIns="27432" anchor="t">
            <a:noAutofit/>
          </a:bodyPr>
          <a:lstStyle/>
          <a:p>
            <a:pPr algn="l">
              <a:lnSpc>
                <a:spcPct val="100000"/>
              </a:lnSpc>
            </a:pPr>
            <a:r>
              <a:rPr sz="1450" b="0" i="0">
                <a:solidFill>
                  <a:srgbClr val="A7B2B0"/>
                </a:solidFill>
                <a:latin typeface="Segoe UI Semilight"/>
              </a:rPr>
              <a:t>Alcanza personas y vigila sistemas.</a:t>
            </a:r>
          </a:p>
        </p:txBody>
      </p:sp>
      <p:sp>
        <p:nvSpPr>
          <p:cNvPr id="8" name="Rounded Rectangle 7"/>
          <p:cNvSpPr/>
          <p:nvPr/>
        </p:nvSpPr>
        <p:spPr>
          <a:xfrm>
            <a:off x="566928" y="2084831"/>
            <a:ext cx="3539642" cy="1225295"/>
          </a:xfrm>
          <a:prstGeom prst="roundRect">
            <a:avLst>
              <a:gd name="adj" fmla="val 8955"/>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ectangle 8"/>
          <p:cNvSpPr/>
          <p:nvPr/>
        </p:nvSpPr>
        <p:spPr>
          <a:xfrm>
            <a:off x="731520" y="2212848"/>
            <a:ext cx="502920" cy="45720"/>
          </a:xfrm>
          <a:prstGeom prst="rect">
            <a:avLst/>
          </a:prstGeom>
          <a:solidFill>
            <a:srgbClr val="D957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694944" y="2304287"/>
            <a:ext cx="3283610" cy="376428"/>
          </a:xfrm>
          <a:prstGeom prst="rect">
            <a:avLst/>
          </a:prstGeom>
          <a:noFill/>
        </p:spPr>
        <p:txBody>
          <a:bodyPr wrap="square" lIns="45720" rIns="45720" tIns="27432" bIns="27432" anchor="t">
            <a:noAutofit/>
          </a:bodyPr>
          <a:lstStyle/>
          <a:p>
            <a:pPr algn="l">
              <a:lnSpc>
                <a:spcPct val="100000"/>
              </a:lnSpc>
            </a:pPr>
            <a:r>
              <a:rPr sz="1750" b="1" i="0">
                <a:solidFill>
                  <a:srgbClr val="F7F2E8"/>
                </a:solidFill>
                <a:latin typeface="Palatino Linotype"/>
              </a:rPr>
              <a:t>Notifier</a:t>
            </a:r>
          </a:p>
        </p:txBody>
      </p:sp>
      <p:sp>
        <p:nvSpPr>
          <p:cNvPr id="11" name="TextBox 10"/>
          <p:cNvSpPr txBox="1"/>
          <p:nvPr/>
        </p:nvSpPr>
        <p:spPr>
          <a:xfrm>
            <a:off x="694944" y="2680715"/>
            <a:ext cx="3283610" cy="537971"/>
          </a:xfrm>
          <a:prstGeom prst="rect">
            <a:avLst/>
          </a:prstGeom>
          <a:noFill/>
        </p:spPr>
        <p:txBody>
          <a:bodyPr wrap="square" lIns="45720" rIns="45720" tIns="27432" bIns="27432" anchor="t">
            <a:noAutofit/>
          </a:bodyPr>
          <a:lstStyle/>
          <a:p>
            <a:pPr algn="l">
              <a:lnSpc>
                <a:spcPct val="100000"/>
              </a:lnSpc>
            </a:pPr>
            <a:r>
              <a:rPr sz="1350" b="0" i="0">
                <a:solidFill>
                  <a:srgbClr val="A7B2B0"/>
                </a:solidFill>
                <a:latin typeface="Segoe UI"/>
              </a:rPr>
              <a:t>Muestra una notificación dentro del browser, opcionalmente con un sonido.</a:t>
            </a:r>
          </a:p>
        </p:txBody>
      </p:sp>
      <p:sp>
        <p:nvSpPr>
          <p:cNvPr id="12" name="Rounded Rectangle 11"/>
          <p:cNvSpPr/>
          <p:nvPr/>
        </p:nvSpPr>
        <p:spPr>
          <a:xfrm>
            <a:off x="4326026" y="2084831"/>
            <a:ext cx="3539642" cy="1225295"/>
          </a:xfrm>
          <a:prstGeom prst="roundRect">
            <a:avLst>
              <a:gd name="adj" fmla="val 8955"/>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4490618" y="2212848"/>
            <a:ext cx="502920" cy="45720"/>
          </a:xfrm>
          <a:prstGeom prst="rect">
            <a:avLst/>
          </a:prstGeom>
          <a:solidFill>
            <a:srgbClr val="D957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4454042" y="2304287"/>
            <a:ext cx="3283610" cy="376428"/>
          </a:xfrm>
          <a:prstGeom prst="rect">
            <a:avLst/>
          </a:prstGeom>
          <a:noFill/>
        </p:spPr>
        <p:txBody>
          <a:bodyPr wrap="square" lIns="45720" rIns="45720" tIns="27432" bIns="27432" anchor="t">
            <a:noAutofit/>
          </a:bodyPr>
          <a:lstStyle/>
          <a:p>
            <a:pPr algn="l">
              <a:lnSpc>
                <a:spcPct val="100000"/>
              </a:lnSpc>
            </a:pPr>
            <a:r>
              <a:rPr sz="1750" b="1" i="0">
                <a:solidFill>
                  <a:srgbClr val="F7F2E8"/>
                </a:solidFill>
                <a:latin typeface="Palatino Linotype"/>
              </a:rPr>
              <a:t>Emailer</a:t>
            </a:r>
          </a:p>
        </p:txBody>
      </p:sp>
      <p:sp>
        <p:nvSpPr>
          <p:cNvPr id="15" name="TextBox 14"/>
          <p:cNvSpPr txBox="1"/>
          <p:nvPr/>
        </p:nvSpPr>
        <p:spPr>
          <a:xfrm>
            <a:off x="4454042" y="2680715"/>
            <a:ext cx="3283610" cy="537971"/>
          </a:xfrm>
          <a:prstGeom prst="rect">
            <a:avLst/>
          </a:prstGeom>
          <a:noFill/>
        </p:spPr>
        <p:txBody>
          <a:bodyPr wrap="square" lIns="45720" rIns="45720" tIns="27432" bIns="27432" anchor="t">
            <a:noAutofit/>
          </a:bodyPr>
          <a:lstStyle/>
          <a:p>
            <a:pPr algn="l">
              <a:lnSpc>
                <a:spcPct val="100000"/>
              </a:lnSpc>
            </a:pPr>
            <a:r>
              <a:rPr sz="1400" b="0" i="0">
                <a:solidFill>
                  <a:srgbClr val="A7B2B0"/>
                </a:solidFill>
                <a:latin typeface="Segoe UI"/>
              </a:rPr>
              <a:t>Envía correo por SMTP.</a:t>
            </a:r>
          </a:p>
        </p:txBody>
      </p:sp>
      <p:sp>
        <p:nvSpPr>
          <p:cNvPr id="16" name="Rounded Rectangle 15"/>
          <p:cNvSpPr/>
          <p:nvPr/>
        </p:nvSpPr>
        <p:spPr>
          <a:xfrm>
            <a:off x="8085124" y="2084831"/>
            <a:ext cx="3539642" cy="1225295"/>
          </a:xfrm>
          <a:prstGeom prst="roundRect">
            <a:avLst>
              <a:gd name="adj" fmla="val 8955"/>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8249716" y="2212848"/>
            <a:ext cx="502920" cy="45720"/>
          </a:xfrm>
          <a:prstGeom prst="rect">
            <a:avLst/>
          </a:prstGeom>
          <a:solidFill>
            <a:srgbClr val="D957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213140" y="2304287"/>
            <a:ext cx="3283610" cy="376428"/>
          </a:xfrm>
          <a:prstGeom prst="rect">
            <a:avLst/>
          </a:prstGeom>
          <a:noFill/>
        </p:spPr>
        <p:txBody>
          <a:bodyPr wrap="square" lIns="45720" rIns="45720" tIns="27432" bIns="27432" anchor="t">
            <a:noAutofit/>
          </a:bodyPr>
          <a:lstStyle/>
          <a:p>
            <a:pPr algn="l">
              <a:lnSpc>
                <a:spcPct val="100000"/>
              </a:lnSpc>
            </a:pPr>
            <a:r>
              <a:rPr sz="1750" b="1" i="0">
                <a:solidFill>
                  <a:srgbClr val="F7F2E8"/>
                </a:solidFill>
                <a:latin typeface="Palatino Linotype"/>
              </a:rPr>
              <a:t>RecMailer</a:t>
            </a:r>
          </a:p>
        </p:txBody>
      </p:sp>
      <p:sp>
        <p:nvSpPr>
          <p:cNvPr id="19" name="TextBox 18"/>
          <p:cNvSpPr txBox="1"/>
          <p:nvPr/>
        </p:nvSpPr>
        <p:spPr>
          <a:xfrm>
            <a:off x="8213140" y="2680715"/>
            <a:ext cx="3283610" cy="537971"/>
          </a:xfrm>
          <a:prstGeom prst="rect">
            <a:avLst/>
          </a:prstGeom>
          <a:noFill/>
        </p:spPr>
        <p:txBody>
          <a:bodyPr wrap="square" lIns="45720" rIns="45720" tIns="27432" bIns="27432" anchor="t">
            <a:noAutofit/>
          </a:bodyPr>
          <a:lstStyle/>
          <a:p>
            <a:pPr algn="l">
              <a:lnSpc>
                <a:spcPct val="100000"/>
              </a:lnSpc>
            </a:pPr>
            <a:r>
              <a:rPr sz="1400" b="0" i="0">
                <a:solidFill>
                  <a:srgbClr val="A7B2B0"/>
                </a:solidFill>
                <a:latin typeface="Segoe UI"/>
              </a:rPr>
              <a:t>Vigila un buzón IMAP en busca de mensajes nuevos.</a:t>
            </a:r>
          </a:p>
        </p:txBody>
      </p:sp>
      <p:sp>
        <p:nvSpPr>
          <p:cNvPr id="20" name="Rounded Rectangle 19"/>
          <p:cNvSpPr/>
          <p:nvPr/>
        </p:nvSpPr>
        <p:spPr>
          <a:xfrm>
            <a:off x="566928" y="3529583"/>
            <a:ext cx="3539642" cy="1225295"/>
          </a:xfrm>
          <a:prstGeom prst="roundRect">
            <a:avLst>
              <a:gd name="adj" fmla="val 8955"/>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ectangle 20"/>
          <p:cNvSpPr/>
          <p:nvPr/>
        </p:nvSpPr>
        <p:spPr>
          <a:xfrm>
            <a:off x="731520" y="3657599"/>
            <a:ext cx="502920" cy="45720"/>
          </a:xfrm>
          <a:prstGeom prst="rect">
            <a:avLst/>
          </a:prstGeom>
          <a:solidFill>
            <a:srgbClr val="D957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694944" y="3749039"/>
            <a:ext cx="3283610" cy="376428"/>
          </a:xfrm>
          <a:prstGeom prst="rect">
            <a:avLst/>
          </a:prstGeom>
          <a:noFill/>
        </p:spPr>
        <p:txBody>
          <a:bodyPr wrap="square" lIns="45720" rIns="45720" tIns="27432" bIns="27432" anchor="t">
            <a:noAutofit/>
          </a:bodyPr>
          <a:lstStyle/>
          <a:p>
            <a:pPr algn="l">
              <a:lnSpc>
                <a:spcPct val="100000"/>
              </a:lnSpc>
            </a:pPr>
            <a:r>
              <a:rPr sz="1750" b="1" i="0">
                <a:solidFill>
                  <a:srgbClr val="F7F2E8"/>
                </a:solidFill>
                <a:latin typeface="Palatino Linotype"/>
              </a:rPr>
              <a:t>Telegrammer</a:t>
            </a:r>
          </a:p>
        </p:txBody>
      </p:sp>
      <p:sp>
        <p:nvSpPr>
          <p:cNvPr id="23" name="TextBox 22"/>
          <p:cNvSpPr txBox="1"/>
          <p:nvPr/>
        </p:nvSpPr>
        <p:spPr>
          <a:xfrm>
            <a:off x="694944" y="4125468"/>
            <a:ext cx="3283610" cy="537971"/>
          </a:xfrm>
          <a:prstGeom prst="rect">
            <a:avLst/>
          </a:prstGeom>
          <a:noFill/>
        </p:spPr>
        <p:txBody>
          <a:bodyPr wrap="square" lIns="45720" rIns="45720" tIns="27432" bIns="27432" anchor="t">
            <a:noAutofit/>
          </a:bodyPr>
          <a:lstStyle/>
          <a:p>
            <a:pPr algn="l">
              <a:lnSpc>
                <a:spcPct val="100000"/>
              </a:lnSpc>
            </a:pPr>
            <a:r>
              <a:rPr sz="1400" b="0" i="0">
                <a:solidFill>
                  <a:srgbClr val="A7B2B0"/>
                </a:solidFill>
                <a:latin typeface="Segoe UI"/>
              </a:rPr>
              <a:t>Telegram como el bot o como tu propia cuenta.</a:t>
            </a:r>
          </a:p>
        </p:txBody>
      </p:sp>
      <p:sp>
        <p:nvSpPr>
          <p:cNvPr id="24" name="Rounded Rectangle 23"/>
          <p:cNvSpPr/>
          <p:nvPr/>
        </p:nvSpPr>
        <p:spPr>
          <a:xfrm>
            <a:off x="4326026" y="3529583"/>
            <a:ext cx="3539642" cy="1225295"/>
          </a:xfrm>
          <a:prstGeom prst="roundRect">
            <a:avLst>
              <a:gd name="adj" fmla="val 8955"/>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ectangle 24"/>
          <p:cNvSpPr/>
          <p:nvPr/>
        </p:nvSpPr>
        <p:spPr>
          <a:xfrm>
            <a:off x="4490618" y="3657599"/>
            <a:ext cx="502920" cy="45720"/>
          </a:xfrm>
          <a:prstGeom prst="rect">
            <a:avLst/>
          </a:prstGeom>
          <a:solidFill>
            <a:srgbClr val="D957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4454042" y="3749039"/>
            <a:ext cx="3283610" cy="376428"/>
          </a:xfrm>
          <a:prstGeom prst="rect">
            <a:avLst/>
          </a:prstGeom>
          <a:noFill/>
        </p:spPr>
        <p:txBody>
          <a:bodyPr wrap="square" lIns="45720" rIns="45720" tIns="27432" bIns="27432" anchor="t">
            <a:noAutofit/>
          </a:bodyPr>
          <a:lstStyle/>
          <a:p>
            <a:pPr algn="l">
              <a:lnSpc>
                <a:spcPct val="100000"/>
              </a:lnSpc>
            </a:pPr>
            <a:r>
              <a:rPr sz="1750" b="1" i="0">
                <a:solidFill>
                  <a:srgbClr val="F7F2E8"/>
                </a:solidFill>
                <a:latin typeface="Palatino Linotype"/>
              </a:rPr>
              <a:t>Whatsapper</a:t>
            </a:r>
          </a:p>
        </p:txBody>
      </p:sp>
      <p:sp>
        <p:nvSpPr>
          <p:cNvPr id="27" name="TextBox 26"/>
          <p:cNvSpPr txBox="1"/>
          <p:nvPr/>
        </p:nvSpPr>
        <p:spPr>
          <a:xfrm>
            <a:off x="4454042" y="4125468"/>
            <a:ext cx="3283610" cy="537971"/>
          </a:xfrm>
          <a:prstGeom prst="rect">
            <a:avLst/>
          </a:prstGeom>
          <a:noFill/>
        </p:spPr>
        <p:txBody>
          <a:bodyPr wrap="square" lIns="45720" rIns="45720" tIns="27432" bIns="27432" anchor="t">
            <a:noAutofit/>
          </a:bodyPr>
          <a:lstStyle/>
          <a:p>
            <a:pPr algn="l">
              <a:lnSpc>
                <a:spcPct val="100000"/>
              </a:lnSpc>
            </a:pPr>
            <a:r>
              <a:rPr sz="1250" b="0" i="0">
                <a:solidFill>
                  <a:srgbClr val="A7B2B0"/>
                </a:solidFill>
                <a:latin typeface="Segoe UI"/>
              </a:rPr>
              <a:t>WhatsApp a través de la Cloud API de Meta, o explícitamente desde tu propio número.</a:t>
            </a:r>
          </a:p>
        </p:txBody>
      </p:sp>
      <p:sp>
        <p:nvSpPr>
          <p:cNvPr id="28" name="Rounded Rectangle 27"/>
          <p:cNvSpPr/>
          <p:nvPr/>
        </p:nvSpPr>
        <p:spPr>
          <a:xfrm>
            <a:off x="8085124" y="3529583"/>
            <a:ext cx="3539642" cy="1225295"/>
          </a:xfrm>
          <a:prstGeom prst="roundRect">
            <a:avLst>
              <a:gd name="adj" fmla="val 8955"/>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Rectangle 28"/>
          <p:cNvSpPr/>
          <p:nvPr/>
        </p:nvSpPr>
        <p:spPr>
          <a:xfrm>
            <a:off x="8249716" y="3657599"/>
            <a:ext cx="502920" cy="45720"/>
          </a:xfrm>
          <a:prstGeom prst="rect">
            <a:avLst/>
          </a:prstGeom>
          <a:solidFill>
            <a:srgbClr val="D957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8213140" y="3749039"/>
            <a:ext cx="3283610" cy="376428"/>
          </a:xfrm>
          <a:prstGeom prst="rect">
            <a:avLst/>
          </a:prstGeom>
          <a:noFill/>
        </p:spPr>
        <p:txBody>
          <a:bodyPr wrap="square" lIns="45720" rIns="45720" tIns="27432" bIns="27432" anchor="t">
            <a:noAutofit/>
          </a:bodyPr>
          <a:lstStyle/>
          <a:p>
            <a:pPr algn="l">
              <a:lnSpc>
                <a:spcPct val="100000"/>
              </a:lnSpc>
            </a:pPr>
            <a:r>
              <a:rPr sz="1750" b="1" i="0">
                <a:solidFill>
                  <a:srgbClr val="F7F2E8"/>
                </a:solidFill>
                <a:latin typeface="Palatino Linotype"/>
              </a:rPr>
              <a:t>TeleTlamatini</a:t>
            </a:r>
          </a:p>
        </p:txBody>
      </p:sp>
      <p:sp>
        <p:nvSpPr>
          <p:cNvPr id="31" name="TextBox 30"/>
          <p:cNvSpPr txBox="1"/>
          <p:nvPr/>
        </p:nvSpPr>
        <p:spPr>
          <a:xfrm>
            <a:off x="8213140" y="4125468"/>
            <a:ext cx="3283610" cy="537971"/>
          </a:xfrm>
          <a:prstGeom prst="rect">
            <a:avLst/>
          </a:prstGeom>
          <a:noFill/>
        </p:spPr>
        <p:txBody>
          <a:bodyPr wrap="square" lIns="45720" rIns="45720" tIns="27432" bIns="27432" anchor="t">
            <a:noAutofit/>
          </a:bodyPr>
          <a:lstStyle/>
          <a:p>
            <a:pPr algn="l">
              <a:lnSpc>
                <a:spcPct val="100000"/>
              </a:lnSpc>
            </a:pPr>
            <a:r>
              <a:rPr sz="1400" b="0" i="0">
                <a:solidFill>
                  <a:srgbClr val="A7B2B0"/>
                </a:solidFill>
                <a:latin typeface="Segoe UI"/>
              </a:rPr>
              <a:t>Lleva el chat completo de Tlamatini, Multi-Turn incluido, a Telegram.</a:t>
            </a:r>
          </a:p>
        </p:txBody>
      </p:sp>
      <p:sp>
        <p:nvSpPr>
          <p:cNvPr id="32" name="Rounded Rectangle 31"/>
          <p:cNvSpPr/>
          <p:nvPr/>
        </p:nvSpPr>
        <p:spPr>
          <a:xfrm>
            <a:off x="566928" y="4974336"/>
            <a:ext cx="3539642" cy="1225295"/>
          </a:xfrm>
          <a:prstGeom prst="roundRect">
            <a:avLst>
              <a:gd name="adj" fmla="val 8955"/>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Rectangle 32"/>
          <p:cNvSpPr/>
          <p:nvPr/>
        </p:nvSpPr>
        <p:spPr>
          <a:xfrm>
            <a:off x="731520" y="5102351"/>
            <a:ext cx="502920" cy="45720"/>
          </a:xfrm>
          <a:prstGeom prst="rect">
            <a:avLst/>
          </a:prstGeom>
          <a:solidFill>
            <a:srgbClr val="D957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694944" y="5193792"/>
            <a:ext cx="3283610" cy="376428"/>
          </a:xfrm>
          <a:prstGeom prst="rect">
            <a:avLst/>
          </a:prstGeom>
          <a:noFill/>
        </p:spPr>
        <p:txBody>
          <a:bodyPr wrap="square" lIns="45720" rIns="45720" tIns="27432" bIns="27432" anchor="t">
            <a:noAutofit/>
          </a:bodyPr>
          <a:lstStyle/>
          <a:p>
            <a:pPr algn="l">
              <a:lnSpc>
                <a:spcPct val="100000"/>
              </a:lnSpc>
            </a:pPr>
            <a:r>
              <a:rPr sz="1750" b="1" i="0">
                <a:solidFill>
                  <a:srgbClr val="F7F2E8"/>
                </a:solidFill>
                <a:latin typeface="Palatino Linotype"/>
              </a:rPr>
              <a:t>Instant Messaging Doctor</a:t>
            </a:r>
          </a:p>
        </p:txBody>
      </p:sp>
      <p:sp>
        <p:nvSpPr>
          <p:cNvPr id="35" name="TextBox 34"/>
          <p:cNvSpPr txBox="1"/>
          <p:nvPr/>
        </p:nvSpPr>
        <p:spPr>
          <a:xfrm>
            <a:off x="694944" y="5570220"/>
            <a:ext cx="3283610" cy="537971"/>
          </a:xfrm>
          <a:prstGeom prst="rect">
            <a:avLst/>
          </a:prstGeom>
          <a:noFill/>
        </p:spPr>
        <p:txBody>
          <a:bodyPr wrap="square" lIns="45720" rIns="45720" tIns="27432" bIns="27432" anchor="t">
            <a:noAutofit/>
          </a:bodyPr>
          <a:lstStyle/>
          <a:p>
            <a:pPr algn="l">
              <a:lnSpc>
                <a:spcPct val="100000"/>
              </a:lnSpc>
            </a:pPr>
            <a:r>
              <a:rPr sz="1300" b="0" i="0">
                <a:solidFill>
                  <a:srgbClr val="A7B2B0"/>
                </a:solidFill>
                <a:latin typeface="Segoe UI"/>
              </a:rPr>
              <a:t>Diagnostica y repara de forma segura la disponibilidad de Telegram y WhatsApp.</a:t>
            </a:r>
          </a:p>
        </p:txBody>
      </p:sp>
      <p:sp>
        <p:nvSpPr>
          <p:cNvPr id="36" name="Rounded Rectangle 35"/>
          <p:cNvSpPr/>
          <p:nvPr/>
        </p:nvSpPr>
        <p:spPr>
          <a:xfrm>
            <a:off x="4326026" y="4974336"/>
            <a:ext cx="3539642" cy="1225295"/>
          </a:xfrm>
          <a:prstGeom prst="roundRect">
            <a:avLst>
              <a:gd name="adj" fmla="val 8955"/>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Rectangle 36"/>
          <p:cNvSpPr/>
          <p:nvPr/>
        </p:nvSpPr>
        <p:spPr>
          <a:xfrm>
            <a:off x="4490618" y="5102351"/>
            <a:ext cx="502920" cy="45720"/>
          </a:xfrm>
          <a:prstGeom prst="rect">
            <a:avLst/>
          </a:prstGeom>
          <a:solidFill>
            <a:srgbClr val="D957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8" name="TextBox 37"/>
          <p:cNvSpPr txBox="1"/>
          <p:nvPr/>
        </p:nvSpPr>
        <p:spPr>
          <a:xfrm>
            <a:off x="4454042" y="5193792"/>
            <a:ext cx="3283610" cy="376428"/>
          </a:xfrm>
          <a:prstGeom prst="rect">
            <a:avLst/>
          </a:prstGeom>
          <a:noFill/>
        </p:spPr>
        <p:txBody>
          <a:bodyPr wrap="square" lIns="45720" rIns="45720" tIns="27432" bIns="27432" anchor="t">
            <a:noAutofit/>
          </a:bodyPr>
          <a:lstStyle/>
          <a:p>
            <a:pPr algn="l">
              <a:lnSpc>
                <a:spcPct val="100000"/>
              </a:lnSpc>
            </a:pPr>
            <a:r>
              <a:rPr sz="1750" b="1" i="0">
                <a:solidFill>
                  <a:srgbClr val="F7F2E8"/>
                </a:solidFill>
                <a:latin typeface="Palatino Linotype"/>
              </a:rPr>
              <a:t>Monitor-Log</a:t>
            </a:r>
          </a:p>
        </p:txBody>
      </p:sp>
      <p:sp>
        <p:nvSpPr>
          <p:cNvPr id="39" name="TextBox 38"/>
          <p:cNvSpPr txBox="1"/>
          <p:nvPr/>
        </p:nvSpPr>
        <p:spPr>
          <a:xfrm>
            <a:off x="4454042" y="5570220"/>
            <a:ext cx="3283610" cy="537971"/>
          </a:xfrm>
          <a:prstGeom prst="rect">
            <a:avLst/>
          </a:prstGeom>
          <a:noFill/>
        </p:spPr>
        <p:txBody>
          <a:bodyPr wrap="square" lIns="45720" rIns="45720" tIns="27432" bIns="27432" anchor="t">
            <a:noAutofit/>
          </a:bodyPr>
          <a:lstStyle/>
          <a:p>
            <a:pPr algn="l">
              <a:lnSpc>
                <a:spcPct val="100000"/>
              </a:lnSpc>
            </a:pPr>
            <a:r>
              <a:rPr sz="1400" b="0" i="0">
                <a:solidFill>
                  <a:srgbClr val="A7B2B0"/>
                </a:solidFill>
                <a:latin typeface="Segoe UI"/>
              </a:rPr>
              <a:t>Monitor de logs impulsado por modelo.</a:t>
            </a:r>
          </a:p>
        </p:txBody>
      </p:sp>
      <p:sp>
        <p:nvSpPr>
          <p:cNvPr id="40" name="Rounded Rectangle 39"/>
          <p:cNvSpPr/>
          <p:nvPr/>
        </p:nvSpPr>
        <p:spPr>
          <a:xfrm>
            <a:off x="8085124" y="4974336"/>
            <a:ext cx="3539642" cy="1225295"/>
          </a:xfrm>
          <a:prstGeom prst="roundRect">
            <a:avLst>
              <a:gd name="adj" fmla="val 8955"/>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1" name="Rectangle 40"/>
          <p:cNvSpPr/>
          <p:nvPr/>
        </p:nvSpPr>
        <p:spPr>
          <a:xfrm>
            <a:off x="8249716" y="5102351"/>
            <a:ext cx="502920" cy="45720"/>
          </a:xfrm>
          <a:prstGeom prst="rect">
            <a:avLst/>
          </a:prstGeom>
          <a:solidFill>
            <a:srgbClr val="D957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2" name="TextBox 41"/>
          <p:cNvSpPr txBox="1"/>
          <p:nvPr/>
        </p:nvSpPr>
        <p:spPr>
          <a:xfrm>
            <a:off x="8213140" y="5193792"/>
            <a:ext cx="3283610" cy="376428"/>
          </a:xfrm>
          <a:prstGeom prst="rect">
            <a:avLst/>
          </a:prstGeom>
          <a:noFill/>
        </p:spPr>
        <p:txBody>
          <a:bodyPr wrap="square" lIns="45720" rIns="45720" tIns="27432" bIns="27432" anchor="t">
            <a:noAutofit/>
          </a:bodyPr>
          <a:lstStyle/>
          <a:p>
            <a:pPr algn="l">
              <a:lnSpc>
                <a:spcPct val="100000"/>
              </a:lnSpc>
            </a:pPr>
            <a:r>
              <a:rPr sz="1750" b="1" i="0">
                <a:solidFill>
                  <a:srgbClr val="F7F2E8"/>
                </a:solidFill>
                <a:latin typeface="Palatino Linotype"/>
              </a:rPr>
              <a:t>Monitor Netstat</a:t>
            </a:r>
          </a:p>
        </p:txBody>
      </p:sp>
      <p:sp>
        <p:nvSpPr>
          <p:cNvPr id="43" name="TextBox 42"/>
          <p:cNvSpPr txBox="1"/>
          <p:nvPr/>
        </p:nvSpPr>
        <p:spPr>
          <a:xfrm>
            <a:off x="8213140" y="5570220"/>
            <a:ext cx="3283610" cy="537971"/>
          </a:xfrm>
          <a:prstGeom prst="rect">
            <a:avLst/>
          </a:prstGeom>
          <a:noFill/>
        </p:spPr>
        <p:txBody>
          <a:bodyPr wrap="square" lIns="45720" rIns="45720" tIns="27432" bIns="27432" anchor="t">
            <a:noAutofit/>
          </a:bodyPr>
          <a:lstStyle/>
          <a:p>
            <a:pPr algn="l">
              <a:lnSpc>
                <a:spcPct val="100000"/>
              </a:lnSpc>
            </a:pPr>
            <a:r>
              <a:rPr sz="1400" b="0" i="0">
                <a:solidFill>
                  <a:srgbClr val="A7B2B0"/>
                </a:solidFill>
                <a:latin typeface="Segoe UI"/>
              </a:rPr>
              <a:t>Monitor de puertos de red impulsado por modelo.</a:t>
            </a:r>
          </a:p>
        </p:txBody>
      </p:sp>
      <p:cxnSp>
        <p:nvCxnSpPr>
          <p:cNvPr id="44" name="Connector 43"/>
          <p:cNvCxnSpPr/>
          <p:nvPr/>
        </p:nvCxnSpPr>
        <p:spPr>
          <a:xfrm>
            <a:off x="566928" y="6373368"/>
            <a:ext cx="11057839" cy="0"/>
          </a:xfrm>
          <a:prstGeom prst="line">
            <a:avLst/>
          </a:prstGeom>
          <a:ln w="7620">
            <a:solidFill>
              <a:srgbClr val="2A3A40"/>
            </a:solidFill>
          </a:ln>
        </p:spPr>
        <p:style>
          <a:lnRef idx="2">
            <a:schemeClr val="accent1"/>
          </a:lnRef>
          <a:fillRef idx="0">
            <a:schemeClr val="accent1"/>
          </a:fillRef>
          <a:effectRef idx="1">
            <a:schemeClr val="accent1"/>
          </a:effectRef>
          <a:fontRef idx="minor">
            <a:schemeClr val="tx1"/>
          </a:fontRef>
        </p:style>
      </p:cxnSp>
      <p:sp>
        <p:nvSpPr>
          <p:cNvPr id="45" name="TextBox 44"/>
          <p:cNvSpPr txBox="1"/>
          <p:nvPr/>
        </p:nvSpPr>
        <p:spPr>
          <a:xfrm>
            <a:off x="566928" y="6419088"/>
            <a:ext cx="6858000" cy="274320"/>
          </a:xfrm>
          <a:prstGeom prst="rect">
            <a:avLst/>
          </a:prstGeom>
          <a:noFill/>
        </p:spPr>
        <p:txBody>
          <a:bodyPr wrap="square" lIns="45720" rIns="45720" tIns="27432" bIns="27432" anchor="t">
            <a:noAutofit/>
          </a:bodyPr>
          <a:lstStyle/>
          <a:p>
            <a:pPr algn="l">
              <a:lnSpc>
                <a:spcPct val="100000"/>
              </a:lnSpc>
            </a:pPr>
            <a:r>
              <a:rPr sz="850" b="0" i="0" spc="120">
                <a:solidFill>
                  <a:srgbClr val="A7B2B0"/>
                </a:solidFill>
                <a:latin typeface="Segoe UI Semibold"/>
              </a:rPr>
              <a:t>TLAMATINI  ·  IV · EL BESTIARIO</a:t>
            </a:r>
          </a:p>
        </p:txBody>
      </p:sp>
      <p:sp>
        <p:nvSpPr>
          <p:cNvPr id="46" name="TextBox 45"/>
          <p:cNvSpPr txBox="1"/>
          <p:nvPr/>
        </p:nvSpPr>
        <p:spPr>
          <a:xfrm>
            <a:off x="8698687" y="6419088"/>
            <a:ext cx="2926080" cy="274320"/>
          </a:xfrm>
          <a:prstGeom prst="rect">
            <a:avLst/>
          </a:prstGeom>
          <a:noFill/>
        </p:spPr>
        <p:txBody>
          <a:bodyPr wrap="square" lIns="45720" rIns="45720" tIns="27432" bIns="27432" anchor="t">
            <a:noAutofit/>
          </a:bodyPr>
          <a:lstStyle/>
          <a:p>
            <a:pPr algn="r">
              <a:lnSpc>
                <a:spcPct val="100000"/>
              </a:lnSpc>
            </a:pPr>
            <a:r>
              <a:rPr sz="850" b="0" i="0" spc="100">
                <a:solidFill>
                  <a:srgbClr val="A7B2B0"/>
                </a:solidFill>
                <a:latin typeface="Segoe UI Semibold"/>
              </a:rPr>
              <a:t>v1.91.1   ·   79</a:t>
            </a:r>
          </a:p>
        </p:txBody>
      </p:sp>
    </p:spTree>
  </p:cSld>
  <p:clrMapOvr>
    <a:masterClrMapping/>
  </p:clrMapOvr>
</p:sld>
</file>

<file path=ppt/slides/slide8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divider.png"/>
          <p:cNvPicPr>
            <a:picLocks noChangeAspect="1"/>
          </p:cNvPicPr>
          <p:nvPr/>
        </p:nvPicPr>
        <p:blipFill>
          <a:blip r:embed="rId2"/>
          <a:stretch>
            <a:fillRect/>
          </a:stretch>
        </p:blipFill>
        <p:spPr>
          <a:xfrm>
            <a:off x="0" y="0"/>
            <a:ext cx="12191695" cy="6858000"/>
          </a:xfrm>
          <a:prstGeom prst="rect">
            <a:avLst/>
          </a:prstGeom>
        </p:spPr>
      </p:pic>
      <p:sp>
        <p:nvSpPr>
          <p:cNvPr id="3" name="TextBox 2"/>
          <p:cNvSpPr txBox="1"/>
          <p:nvPr/>
        </p:nvSpPr>
        <p:spPr>
          <a:xfrm>
            <a:off x="822960" y="868680"/>
            <a:ext cx="4572000" cy="365760"/>
          </a:xfrm>
          <a:prstGeom prst="rect">
            <a:avLst/>
          </a:prstGeom>
          <a:noFill/>
        </p:spPr>
        <p:txBody>
          <a:bodyPr wrap="square" lIns="45720" rIns="45720" tIns="27432" bIns="27432" anchor="t">
            <a:noAutofit/>
          </a:bodyPr>
          <a:lstStyle/>
          <a:p>
            <a:pPr algn="l">
              <a:lnSpc>
                <a:spcPct val="100000"/>
              </a:lnSpc>
            </a:pPr>
            <a:r>
              <a:rPr sz="1300" b="0" i="0" spc="340">
                <a:solidFill>
                  <a:srgbClr val="46D2E2"/>
                </a:solidFill>
                <a:latin typeface="Segoe UI Semibold"/>
              </a:rPr>
              <a:t>CHAPTER</a:t>
            </a:r>
          </a:p>
        </p:txBody>
      </p:sp>
      <p:sp>
        <p:nvSpPr>
          <p:cNvPr id="4" name="TextBox 3"/>
          <p:cNvSpPr txBox="1"/>
          <p:nvPr/>
        </p:nvSpPr>
        <p:spPr>
          <a:xfrm>
            <a:off x="749808" y="1261872"/>
            <a:ext cx="5029200" cy="1691640"/>
          </a:xfrm>
          <a:prstGeom prst="rect">
            <a:avLst/>
          </a:prstGeom>
          <a:noFill/>
        </p:spPr>
        <p:txBody>
          <a:bodyPr wrap="square" lIns="45720" rIns="45720" tIns="27432" bIns="27432" anchor="t">
            <a:noAutofit/>
          </a:bodyPr>
          <a:lstStyle/>
          <a:p>
            <a:pPr algn="l">
              <a:lnSpc>
                <a:spcPct val="100000"/>
              </a:lnSpc>
            </a:pPr>
            <a:r>
              <a:rPr sz="10550" b="0" i="0">
                <a:solidFill>
                  <a:srgbClr val="C98457"/>
                </a:solidFill>
                <a:latin typeface="Palatino Linotype"/>
              </a:rPr>
              <a:t>V</a:t>
            </a:r>
          </a:p>
        </p:txBody>
      </p:sp>
      <p:sp>
        <p:nvSpPr>
          <p:cNvPr id="5" name="TextBox 4"/>
          <p:cNvSpPr txBox="1"/>
          <p:nvPr/>
        </p:nvSpPr>
        <p:spPr>
          <a:xfrm>
            <a:off x="822960" y="2971800"/>
            <a:ext cx="6766560" cy="1280160"/>
          </a:xfrm>
          <a:prstGeom prst="rect">
            <a:avLst/>
          </a:prstGeom>
          <a:noFill/>
        </p:spPr>
        <p:txBody>
          <a:bodyPr wrap="square" lIns="45720" rIns="45720" tIns="27432" bIns="27432" anchor="t">
            <a:noAutofit/>
          </a:bodyPr>
          <a:lstStyle/>
          <a:p>
            <a:pPr algn="l">
              <a:lnSpc>
                <a:spcPct val="100000"/>
              </a:lnSpc>
            </a:pPr>
            <a:r>
              <a:rPr sz="4600" b="0" i="0">
                <a:solidFill>
                  <a:srgbClr val="F7F2E8"/>
                </a:solidFill>
                <a:latin typeface="Palatino Linotype"/>
              </a:rPr>
              <a:t>Capacidades profundas</a:t>
            </a:r>
          </a:p>
        </p:txBody>
      </p:sp>
      <p:sp>
        <p:nvSpPr>
          <p:cNvPr id="6" name="Rectangle 5"/>
          <p:cNvSpPr/>
          <p:nvPr/>
        </p:nvSpPr>
        <p:spPr>
          <a:xfrm>
            <a:off x="841248" y="4315968"/>
            <a:ext cx="1005840" cy="45720"/>
          </a:xfrm>
          <a:prstGeom prst="rect">
            <a:avLst/>
          </a:prstGeom>
          <a:solidFill>
            <a:srgbClr val="46D2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822960" y="4443984"/>
            <a:ext cx="6400800" cy="731520"/>
          </a:xfrm>
          <a:prstGeom prst="rect">
            <a:avLst/>
          </a:prstGeom>
          <a:noFill/>
        </p:spPr>
        <p:txBody>
          <a:bodyPr wrap="square" lIns="45720" rIns="45720" tIns="27432" bIns="27432" anchor="t">
            <a:noAutofit/>
          </a:bodyPr>
          <a:lstStyle/>
          <a:p>
            <a:pPr algn="l">
              <a:lnSpc>
                <a:spcPct val="100000"/>
              </a:lnSpc>
            </a:pPr>
            <a:r>
              <a:rPr sz="1800" b="0" i="0">
                <a:solidFill>
                  <a:srgbClr val="ECE7DC"/>
                </a:solidFill>
                <a:latin typeface="Segoe UI Light"/>
              </a:rPr>
              <a:t>Los subsistemas que le dan alcance: otros agents, otros servidores, documentos, tarjetas, motores y sentidos.</a:t>
            </a:r>
          </a:p>
        </p:txBody>
      </p:sp>
      <p:cxnSp>
        <p:nvCxnSpPr>
          <p:cNvPr id="8" name="Connector 7"/>
          <p:cNvCxnSpPr/>
          <p:nvPr/>
        </p:nvCxnSpPr>
        <p:spPr>
          <a:xfrm>
            <a:off x="566928" y="6373368"/>
            <a:ext cx="11057839" cy="0"/>
          </a:xfrm>
          <a:prstGeom prst="line">
            <a:avLst/>
          </a:prstGeom>
          <a:ln w="7620">
            <a:solidFill>
              <a:srgbClr val="2A3A40"/>
            </a:solidFill>
          </a:ln>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566928" y="6419088"/>
            <a:ext cx="6858000" cy="274320"/>
          </a:xfrm>
          <a:prstGeom prst="rect">
            <a:avLst/>
          </a:prstGeom>
          <a:noFill/>
        </p:spPr>
        <p:txBody>
          <a:bodyPr wrap="square" lIns="45720" rIns="45720" tIns="27432" bIns="27432" anchor="t">
            <a:noAutofit/>
          </a:bodyPr>
          <a:lstStyle/>
          <a:p>
            <a:pPr algn="l">
              <a:lnSpc>
                <a:spcPct val="100000"/>
              </a:lnSpc>
            </a:pPr>
            <a:r>
              <a:rPr sz="850" b="0" i="0" spc="120">
                <a:solidFill>
                  <a:srgbClr val="A7B2B0"/>
                </a:solidFill>
                <a:latin typeface="Segoe UI Semibold"/>
              </a:rPr>
              <a:t>TLAMATINI  ·  CAPÍTULO V</a:t>
            </a:r>
          </a:p>
        </p:txBody>
      </p:sp>
      <p:sp>
        <p:nvSpPr>
          <p:cNvPr id="10" name="TextBox 9"/>
          <p:cNvSpPr txBox="1"/>
          <p:nvPr/>
        </p:nvSpPr>
        <p:spPr>
          <a:xfrm>
            <a:off x="8698687" y="6419088"/>
            <a:ext cx="2926080" cy="274320"/>
          </a:xfrm>
          <a:prstGeom prst="rect">
            <a:avLst/>
          </a:prstGeom>
          <a:noFill/>
        </p:spPr>
        <p:txBody>
          <a:bodyPr wrap="square" lIns="45720" rIns="45720" tIns="27432" bIns="27432" anchor="t">
            <a:noAutofit/>
          </a:bodyPr>
          <a:lstStyle/>
          <a:p>
            <a:pPr algn="r">
              <a:lnSpc>
                <a:spcPct val="100000"/>
              </a:lnSpc>
            </a:pPr>
            <a:r>
              <a:rPr sz="850" b="0" i="0" spc="100">
                <a:solidFill>
                  <a:srgbClr val="A7B2B0"/>
                </a:solidFill>
                <a:latin typeface="Segoe UI Semibold"/>
              </a:rPr>
              <a:t>v1.91.1   ·   80</a:t>
            </a:r>
          </a:p>
        </p:txBody>
      </p:sp>
    </p:spTree>
  </p:cSld>
  <p:clrMapOvr>
    <a:masterClrMapping/>
  </p:clrMapOvr>
</p:sld>
</file>

<file path=ppt/slides/slide8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content.png"/>
          <p:cNvPicPr>
            <a:picLocks noChangeAspect="1"/>
          </p:cNvPicPr>
          <p:nvPr/>
        </p:nvPicPr>
        <p:blipFill>
          <a:blip r:embed="rId2"/>
          <a:stretch>
            <a:fillRect/>
          </a:stretch>
        </p:blipFill>
        <p:spPr>
          <a:xfrm>
            <a:off x="0" y="0"/>
            <a:ext cx="12191695" cy="6858000"/>
          </a:xfrm>
          <a:prstGeom prst="rect">
            <a:avLst/>
          </a:prstGeom>
        </p:spPr>
      </p:pic>
      <p:sp>
        <p:nvSpPr>
          <p:cNvPr id="3" name="Diamond 2"/>
          <p:cNvSpPr/>
          <p:nvPr/>
        </p:nvSpPr>
        <p:spPr>
          <a:xfrm>
            <a:off x="566928" y="457200"/>
            <a:ext cx="100584" cy="100584"/>
          </a:xfrm>
          <a:prstGeom prst="diamond">
            <a:avLst/>
          </a:prstGeom>
          <a:solidFill>
            <a:srgbClr val="46D2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49808" y="365760"/>
            <a:ext cx="8229600" cy="292608"/>
          </a:xfrm>
          <a:prstGeom prst="rect">
            <a:avLst/>
          </a:prstGeom>
          <a:noFill/>
        </p:spPr>
        <p:txBody>
          <a:bodyPr wrap="square" lIns="45720" rIns="45720" tIns="27432" bIns="27432" anchor="t">
            <a:noAutofit/>
          </a:bodyPr>
          <a:lstStyle/>
          <a:p>
            <a:pPr algn="l">
              <a:lnSpc>
                <a:spcPct val="100000"/>
              </a:lnSpc>
            </a:pPr>
            <a:r>
              <a:rPr sz="1100" b="0" i="0" spc="240">
                <a:solidFill>
                  <a:srgbClr val="C98457"/>
                </a:solidFill>
                <a:latin typeface="Segoe UI Semibold"/>
              </a:rPr>
              <a:t>ACPX</a:t>
            </a:r>
          </a:p>
        </p:txBody>
      </p:sp>
      <p:sp>
        <p:nvSpPr>
          <p:cNvPr id="5" name="TextBox 4"/>
          <p:cNvSpPr txBox="1"/>
          <p:nvPr/>
        </p:nvSpPr>
        <p:spPr>
          <a:xfrm>
            <a:off x="539496" y="676656"/>
            <a:ext cx="11057839" cy="658368"/>
          </a:xfrm>
          <a:prstGeom prst="rect">
            <a:avLst/>
          </a:prstGeom>
          <a:noFill/>
        </p:spPr>
        <p:txBody>
          <a:bodyPr wrap="square" lIns="45720" rIns="45720" tIns="27432" bIns="27432" anchor="t">
            <a:noAutofit/>
          </a:bodyPr>
          <a:lstStyle/>
          <a:p>
            <a:pPr algn="l">
              <a:lnSpc>
                <a:spcPct val="100000"/>
              </a:lnSpc>
            </a:pPr>
            <a:r>
              <a:rPr sz="3100" b="0" i="0">
                <a:solidFill>
                  <a:srgbClr val="F7F2E8"/>
                </a:solidFill>
                <a:latin typeface="Palatino Linotype"/>
              </a:rPr>
              <a:t>Otros agents de programación como sus hijos</a:t>
            </a:r>
          </a:p>
        </p:txBody>
      </p:sp>
      <p:sp>
        <p:nvSpPr>
          <p:cNvPr id="6" name="Rectangle 5"/>
          <p:cNvSpPr/>
          <p:nvPr/>
        </p:nvSpPr>
        <p:spPr>
          <a:xfrm>
            <a:off x="566928" y="1344168"/>
            <a:ext cx="822960" cy="36576"/>
          </a:xfrm>
          <a:prstGeom prst="rect">
            <a:avLst/>
          </a:prstGeom>
          <a:solidFill>
            <a:srgbClr val="46D2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566928" y="1444752"/>
            <a:ext cx="10692079" cy="585216"/>
          </a:xfrm>
          <a:prstGeom prst="rect">
            <a:avLst/>
          </a:prstGeom>
          <a:noFill/>
        </p:spPr>
        <p:txBody>
          <a:bodyPr wrap="square" lIns="45720" rIns="45720" tIns="27432" bIns="27432" anchor="t">
            <a:noAutofit/>
          </a:bodyPr>
          <a:lstStyle/>
          <a:p>
            <a:pPr algn="l">
              <a:lnSpc>
                <a:spcPct val="100000"/>
              </a:lnSpc>
            </a:pPr>
            <a:r>
              <a:rPr sz="1450" b="0" i="0">
                <a:solidFill>
                  <a:srgbClr val="A7B2B0"/>
                </a:solidFill>
                <a:latin typeface="Segoe UI Semilight"/>
              </a:rPr>
              <a:t>ACPX arranca CLIs externos de agents de programación como hijos fuera del proceso, habla con ellos por stdin y stdout, guarda una transcripción NDJSON de cada turno, y lo pone todo a disposición del modelo como doce tools.</a:t>
            </a:r>
          </a:p>
        </p:txBody>
      </p:sp>
      <p:sp>
        <p:nvSpPr>
          <p:cNvPr id="8" name="Rounded Rectangle 7"/>
          <p:cNvSpPr/>
          <p:nvPr/>
        </p:nvSpPr>
        <p:spPr>
          <a:xfrm>
            <a:off x="566928" y="2084831"/>
            <a:ext cx="5212080" cy="932688"/>
          </a:xfrm>
          <a:prstGeom prst="roundRect">
            <a:avLst>
              <a:gd name="adj" fmla="val 9803"/>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Diamond 8"/>
          <p:cNvSpPr/>
          <p:nvPr/>
        </p:nvSpPr>
        <p:spPr>
          <a:xfrm>
            <a:off x="768096" y="2487168"/>
            <a:ext cx="128016" cy="128016"/>
          </a:xfrm>
          <a:prstGeom prst="diamond">
            <a:avLst/>
          </a:prstGeom>
          <a:solidFill>
            <a:srgbClr val="3BBE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1024128" y="2139696"/>
            <a:ext cx="1554480" cy="822960"/>
          </a:xfrm>
          <a:prstGeom prst="rect">
            <a:avLst/>
          </a:prstGeom>
          <a:noFill/>
        </p:spPr>
        <p:txBody>
          <a:bodyPr wrap="square" lIns="45720" rIns="45720" tIns="27432" bIns="27432" anchor="ctr">
            <a:noAutofit/>
          </a:bodyPr>
          <a:lstStyle/>
          <a:p>
            <a:pPr algn="l">
              <a:lnSpc>
                <a:spcPct val="100000"/>
              </a:lnSpc>
            </a:pPr>
            <a:r>
              <a:rPr sz="1600" b="0" i="0">
                <a:solidFill>
                  <a:srgbClr val="F7F2E8"/>
                </a:solidFill>
                <a:latin typeface="Segoe UI Semibold"/>
              </a:rPr>
              <a:t>Pares</a:t>
            </a:r>
          </a:p>
        </p:txBody>
      </p:sp>
      <p:sp>
        <p:nvSpPr>
          <p:cNvPr id="11" name="TextBox 10"/>
          <p:cNvSpPr txBox="1"/>
          <p:nvPr/>
        </p:nvSpPr>
        <p:spPr>
          <a:xfrm>
            <a:off x="2670048" y="2139696"/>
            <a:ext cx="2971800" cy="822960"/>
          </a:xfrm>
          <a:prstGeom prst="rect">
            <a:avLst/>
          </a:prstGeom>
          <a:noFill/>
        </p:spPr>
        <p:txBody>
          <a:bodyPr wrap="square" lIns="45720" rIns="45720" tIns="27432" bIns="27432" anchor="ctr">
            <a:noAutofit/>
          </a:bodyPr>
          <a:lstStyle/>
          <a:p>
            <a:pPr algn="l">
              <a:lnSpc>
                <a:spcPct val="100000"/>
              </a:lnSpc>
            </a:pPr>
            <a:r>
              <a:rPr sz="1400" b="0" i="0">
                <a:solidFill>
                  <a:srgbClr val="A7B2B0"/>
                </a:solidFill>
                <a:latin typeface="Segoe UI"/>
              </a:rPr>
              <a:t>14 CLIs, incluidos Claude Code, Codex, Gemini, Cursor y Qwen.</a:t>
            </a:r>
          </a:p>
        </p:txBody>
      </p:sp>
      <p:sp>
        <p:nvSpPr>
          <p:cNvPr id="12" name="Rounded Rectangle 11"/>
          <p:cNvSpPr/>
          <p:nvPr/>
        </p:nvSpPr>
        <p:spPr>
          <a:xfrm>
            <a:off x="566928" y="3145536"/>
            <a:ext cx="5212080" cy="932688"/>
          </a:xfrm>
          <a:prstGeom prst="roundRect">
            <a:avLst>
              <a:gd name="adj" fmla="val 9803"/>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Diamond 12"/>
          <p:cNvSpPr/>
          <p:nvPr/>
        </p:nvSpPr>
        <p:spPr>
          <a:xfrm>
            <a:off x="768096" y="3547872"/>
            <a:ext cx="128016" cy="128016"/>
          </a:xfrm>
          <a:prstGeom prst="diamond">
            <a:avLst/>
          </a:prstGeom>
          <a:solidFill>
            <a:srgbClr val="C984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1024128" y="3200400"/>
            <a:ext cx="1554480" cy="822960"/>
          </a:xfrm>
          <a:prstGeom prst="rect">
            <a:avLst/>
          </a:prstGeom>
          <a:noFill/>
        </p:spPr>
        <p:txBody>
          <a:bodyPr wrap="square" lIns="45720" rIns="45720" tIns="27432" bIns="27432" anchor="ctr">
            <a:noAutofit/>
          </a:bodyPr>
          <a:lstStyle/>
          <a:p>
            <a:pPr algn="l">
              <a:lnSpc>
                <a:spcPct val="100000"/>
              </a:lnSpc>
            </a:pPr>
            <a:r>
              <a:rPr sz="1600" b="0" i="0">
                <a:solidFill>
                  <a:srgbClr val="F7F2E8"/>
                </a:solidFill>
                <a:latin typeface="Segoe UI Semibold"/>
              </a:rPr>
              <a:t>Doce tools</a:t>
            </a:r>
          </a:p>
        </p:txBody>
      </p:sp>
      <p:sp>
        <p:nvSpPr>
          <p:cNvPr id="15" name="TextBox 14"/>
          <p:cNvSpPr txBox="1"/>
          <p:nvPr/>
        </p:nvSpPr>
        <p:spPr>
          <a:xfrm>
            <a:off x="2670048" y="3200400"/>
            <a:ext cx="2971800" cy="822960"/>
          </a:xfrm>
          <a:prstGeom prst="rect">
            <a:avLst/>
          </a:prstGeom>
          <a:noFill/>
        </p:spPr>
        <p:txBody>
          <a:bodyPr wrap="square" lIns="45720" rIns="45720" tIns="27432" bIns="27432" anchor="ctr">
            <a:noAutofit/>
          </a:bodyPr>
          <a:lstStyle/>
          <a:p>
            <a:pPr algn="l">
              <a:lnSpc>
                <a:spcPct val="100000"/>
              </a:lnSpc>
            </a:pPr>
            <a:r>
              <a:rPr sz="1400" b="0" i="0">
                <a:solidFill>
                  <a:srgbClr val="A7B2B0"/>
                </a:solidFill>
                <a:latin typeface="Segoe UI"/>
              </a:rPr>
              <a:t>Arrancar, enviar, esperar, relevar, transcripción, status, matar, doctor, skills.</a:t>
            </a:r>
          </a:p>
        </p:txBody>
      </p:sp>
      <p:sp>
        <p:nvSpPr>
          <p:cNvPr id="16" name="Rounded Rectangle 15"/>
          <p:cNvSpPr/>
          <p:nvPr/>
        </p:nvSpPr>
        <p:spPr>
          <a:xfrm>
            <a:off x="566928" y="4206240"/>
            <a:ext cx="5212080" cy="932688"/>
          </a:xfrm>
          <a:prstGeom prst="roundRect">
            <a:avLst>
              <a:gd name="adj" fmla="val 9803"/>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Diamond 16"/>
          <p:cNvSpPr/>
          <p:nvPr/>
        </p:nvSpPr>
        <p:spPr>
          <a:xfrm>
            <a:off x="768096" y="4608575"/>
            <a:ext cx="128016" cy="128016"/>
          </a:xfrm>
          <a:prstGeom prst="diamond">
            <a:avLst/>
          </a:prstGeom>
          <a:solidFill>
            <a:srgbClr val="E2B4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1024128" y="4261103"/>
            <a:ext cx="1554480" cy="822960"/>
          </a:xfrm>
          <a:prstGeom prst="rect">
            <a:avLst/>
          </a:prstGeom>
          <a:noFill/>
        </p:spPr>
        <p:txBody>
          <a:bodyPr wrap="square" lIns="45720" rIns="45720" tIns="27432" bIns="27432" anchor="ctr">
            <a:noAutofit/>
          </a:bodyPr>
          <a:lstStyle/>
          <a:p>
            <a:pPr algn="l">
              <a:lnSpc>
                <a:spcPct val="100000"/>
              </a:lnSpc>
            </a:pPr>
            <a:r>
              <a:rPr sz="1600" b="0" i="0">
                <a:solidFill>
                  <a:srgbClr val="F7F2E8"/>
                </a:solidFill>
                <a:latin typeface="Segoe UI Semibold"/>
              </a:rPr>
              <a:t>Veraz</a:t>
            </a:r>
          </a:p>
        </p:txBody>
      </p:sp>
      <p:sp>
        <p:nvSpPr>
          <p:cNvPr id="19" name="TextBox 18"/>
          <p:cNvSpPr txBox="1"/>
          <p:nvPr/>
        </p:nvSpPr>
        <p:spPr>
          <a:xfrm>
            <a:off x="2670048" y="4261103"/>
            <a:ext cx="2971800" cy="822960"/>
          </a:xfrm>
          <a:prstGeom prst="rect">
            <a:avLst/>
          </a:prstGeom>
          <a:noFill/>
        </p:spPr>
        <p:txBody>
          <a:bodyPr wrap="square" lIns="45720" rIns="45720" tIns="27432" bIns="27432" anchor="ctr">
            <a:noAutofit/>
          </a:bodyPr>
          <a:lstStyle/>
          <a:p>
            <a:pPr algn="l">
              <a:lnSpc>
                <a:spcPct val="100000"/>
              </a:lnSpc>
            </a:pPr>
            <a:r>
              <a:rPr sz="1400" b="0" i="0">
                <a:solidFill>
                  <a:srgbClr val="A7B2B0"/>
                </a:solidFill>
                <a:latin typeface="Segoe UI"/>
              </a:rPr>
              <a:t>Una negativa devuelve ok: false con un código con nombre.</a:t>
            </a:r>
          </a:p>
        </p:txBody>
      </p:sp>
      <p:sp>
        <p:nvSpPr>
          <p:cNvPr id="20" name="Rounded Rectangle 19"/>
          <p:cNvSpPr/>
          <p:nvPr/>
        </p:nvSpPr>
        <p:spPr>
          <a:xfrm>
            <a:off x="566928" y="5266944"/>
            <a:ext cx="5212080" cy="932688"/>
          </a:xfrm>
          <a:prstGeom prst="roundRect">
            <a:avLst>
              <a:gd name="adj" fmla="val 9803"/>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Diamond 20"/>
          <p:cNvSpPr/>
          <p:nvPr/>
        </p:nvSpPr>
        <p:spPr>
          <a:xfrm>
            <a:off x="768096" y="5669279"/>
            <a:ext cx="128016" cy="128016"/>
          </a:xfrm>
          <a:prstGeom prst="diamond">
            <a:avLst/>
          </a:prstGeom>
          <a:solidFill>
            <a:srgbClr val="46D2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1024128" y="5321807"/>
            <a:ext cx="1554480" cy="822960"/>
          </a:xfrm>
          <a:prstGeom prst="rect">
            <a:avLst/>
          </a:prstGeom>
          <a:noFill/>
        </p:spPr>
        <p:txBody>
          <a:bodyPr wrap="square" lIns="45720" rIns="45720" tIns="27432" bIns="27432" anchor="ctr">
            <a:noAutofit/>
          </a:bodyPr>
          <a:lstStyle/>
          <a:p>
            <a:pPr algn="l">
              <a:lnSpc>
                <a:spcPct val="100000"/>
              </a:lnSpc>
            </a:pPr>
            <a:r>
              <a:rPr sz="1600" b="0" i="0">
                <a:solidFill>
                  <a:srgbClr val="F7F2E8"/>
                </a:solidFill>
                <a:latin typeface="Segoe UI Semibold"/>
              </a:rPr>
              <a:t>Sin shell</a:t>
            </a:r>
          </a:p>
        </p:txBody>
      </p:sp>
      <p:sp>
        <p:nvSpPr>
          <p:cNvPr id="23" name="TextBox 22"/>
          <p:cNvSpPr txBox="1"/>
          <p:nvPr/>
        </p:nvSpPr>
        <p:spPr>
          <a:xfrm>
            <a:off x="2670048" y="5321807"/>
            <a:ext cx="2971800" cy="822960"/>
          </a:xfrm>
          <a:prstGeom prst="rect">
            <a:avLst/>
          </a:prstGeom>
          <a:noFill/>
        </p:spPr>
        <p:txBody>
          <a:bodyPr wrap="square" lIns="45720" rIns="45720" tIns="27432" bIns="27432" anchor="ctr">
            <a:noAutofit/>
          </a:bodyPr>
          <a:lstStyle/>
          <a:p>
            <a:pPr algn="l">
              <a:lnSpc>
                <a:spcPct val="100000"/>
              </a:lnSpc>
            </a:pPr>
            <a:r>
              <a:rPr sz="1400" b="0" i="0">
                <a:solidFill>
                  <a:srgbClr val="A7B2B0"/>
                </a:solidFill>
                <a:latin typeface="Segoe UI"/>
              </a:rPr>
              <a:t>Los shims se reescriben para que los prompts largos nunca se corten.</a:t>
            </a:r>
          </a:p>
        </p:txBody>
      </p:sp>
      <p:sp>
        <p:nvSpPr>
          <p:cNvPr id="24" name="Rounded Rectangle 23"/>
          <p:cNvSpPr/>
          <p:nvPr/>
        </p:nvSpPr>
        <p:spPr>
          <a:xfrm>
            <a:off x="6144768" y="2084831"/>
            <a:ext cx="5479999" cy="3456431"/>
          </a:xfrm>
          <a:prstGeom prst="roundRect">
            <a:avLst>
              <a:gd name="adj" fmla="val 2116"/>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ounded Rectangle 24"/>
          <p:cNvSpPr/>
          <p:nvPr/>
        </p:nvSpPr>
        <p:spPr>
          <a:xfrm>
            <a:off x="6144768" y="2084831"/>
            <a:ext cx="5479999" cy="384048"/>
          </a:xfrm>
          <a:prstGeom prst="roundRect">
            <a:avLst>
              <a:gd name="adj" fmla="val 19047"/>
            </a:avLst>
          </a:prstGeom>
          <a:solidFill>
            <a:srgbClr val="151F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6217920" y="2121408"/>
            <a:ext cx="2155295" cy="310896"/>
          </a:xfrm>
          <a:prstGeom prst="rect">
            <a:avLst/>
          </a:prstGeom>
          <a:noFill/>
        </p:spPr>
        <p:txBody>
          <a:bodyPr wrap="square" lIns="45720" rIns="45720" tIns="27432" bIns="27432" anchor="ctr">
            <a:noAutofit/>
          </a:bodyPr>
          <a:lstStyle/>
          <a:p>
            <a:pPr algn="l">
              <a:lnSpc>
                <a:spcPct val="100000"/>
              </a:lnSpc>
            </a:pPr>
            <a:r>
              <a:rPr sz="1000" b="0" i="0" spc="120">
                <a:solidFill>
                  <a:srgbClr val="E2B462"/>
                </a:solidFill>
                <a:latin typeface="Segoe UI Semibold"/>
              </a:rPr>
              <a:t>CÓDIGO DE NO ENTREGA</a:t>
            </a:r>
          </a:p>
        </p:txBody>
      </p:sp>
      <p:sp>
        <p:nvSpPr>
          <p:cNvPr id="27" name="TextBox 26"/>
          <p:cNvSpPr txBox="1"/>
          <p:nvPr/>
        </p:nvSpPr>
        <p:spPr>
          <a:xfrm>
            <a:off x="8519519" y="2121408"/>
            <a:ext cx="3032095" cy="310896"/>
          </a:xfrm>
          <a:prstGeom prst="rect">
            <a:avLst/>
          </a:prstGeom>
          <a:noFill/>
        </p:spPr>
        <p:txBody>
          <a:bodyPr wrap="square" lIns="45720" rIns="45720" tIns="27432" bIns="27432" anchor="ctr">
            <a:noAutofit/>
          </a:bodyPr>
          <a:lstStyle/>
          <a:p>
            <a:pPr algn="l">
              <a:lnSpc>
                <a:spcPct val="100000"/>
              </a:lnSpc>
            </a:pPr>
            <a:r>
              <a:rPr sz="1000" b="0" i="0" spc="120">
                <a:solidFill>
                  <a:srgbClr val="E2B462"/>
                </a:solidFill>
                <a:latin typeface="Segoe UI Semibold"/>
              </a:rPr>
              <a:t>SIGNIFICADO</a:t>
            </a:r>
          </a:p>
        </p:txBody>
      </p:sp>
      <p:sp>
        <p:nvSpPr>
          <p:cNvPr id="28" name="TextBox 27"/>
          <p:cNvSpPr txBox="1"/>
          <p:nvPr/>
        </p:nvSpPr>
        <p:spPr>
          <a:xfrm>
            <a:off x="6217920" y="2505456"/>
            <a:ext cx="2155295" cy="438911"/>
          </a:xfrm>
          <a:prstGeom prst="rect">
            <a:avLst/>
          </a:prstGeom>
          <a:noFill/>
        </p:spPr>
        <p:txBody>
          <a:bodyPr wrap="square" lIns="45720" rIns="45720" tIns="27432" bIns="27432" anchor="ctr">
            <a:noAutofit/>
          </a:bodyPr>
          <a:lstStyle/>
          <a:p>
            <a:pPr algn="l">
              <a:lnSpc>
                <a:spcPct val="100000"/>
              </a:lnSpc>
            </a:pPr>
            <a:r>
              <a:rPr sz="1200" b="0" i="0">
                <a:solidFill>
                  <a:srgbClr val="F7F2E8"/>
                </a:solidFill>
                <a:latin typeface="Segoe UI Semibold"/>
              </a:rPr>
              <a:t>PERMISSION_BLOCKED</a:t>
            </a:r>
          </a:p>
        </p:txBody>
      </p:sp>
      <p:sp>
        <p:nvSpPr>
          <p:cNvPr id="29" name="TextBox 28"/>
          <p:cNvSpPr txBox="1"/>
          <p:nvPr/>
        </p:nvSpPr>
        <p:spPr>
          <a:xfrm>
            <a:off x="8519519" y="2505456"/>
            <a:ext cx="3032095" cy="438911"/>
          </a:xfrm>
          <a:prstGeom prst="rect">
            <a:avLst/>
          </a:prstGeom>
          <a:noFill/>
        </p:spPr>
        <p:txBody>
          <a:bodyPr wrap="square" lIns="45720" rIns="45720" tIns="27432" bIns="27432" anchor="ctr">
            <a:noAutofit/>
          </a:bodyPr>
          <a:lstStyle/>
          <a:p>
            <a:pPr algn="l">
              <a:lnSpc>
                <a:spcPct val="100000"/>
              </a:lnSpc>
            </a:pPr>
            <a:r>
              <a:rPr sz="1200" b="0" i="0">
                <a:solidFill>
                  <a:srgbClr val="A7B2B0"/>
                </a:solidFill>
                <a:latin typeface="Segoe UI"/>
              </a:rPr>
              <a:t>El hijo se detuvo en su propio aviso de permisos.</a:t>
            </a:r>
          </a:p>
        </p:txBody>
      </p:sp>
      <p:sp>
        <p:nvSpPr>
          <p:cNvPr id="30" name="Rectangle 29"/>
          <p:cNvSpPr/>
          <p:nvPr/>
        </p:nvSpPr>
        <p:spPr>
          <a:xfrm>
            <a:off x="6163056" y="2980944"/>
            <a:ext cx="5443423" cy="512063"/>
          </a:xfrm>
          <a:prstGeom prst="rect">
            <a:avLst/>
          </a:prstGeom>
          <a:solidFill>
            <a:srgbClr val="1824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TextBox 30"/>
          <p:cNvSpPr txBox="1"/>
          <p:nvPr/>
        </p:nvSpPr>
        <p:spPr>
          <a:xfrm>
            <a:off x="6217920" y="3017520"/>
            <a:ext cx="2155295" cy="438911"/>
          </a:xfrm>
          <a:prstGeom prst="rect">
            <a:avLst/>
          </a:prstGeom>
          <a:noFill/>
        </p:spPr>
        <p:txBody>
          <a:bodyPr wrap="square" lIns="45720" rIns="45720" tIns="27432" bIns="27432" anchor="ctr">
            <a:noAutofit/>
          </a:bodyPr>
          <a:lstStyle/>
          <a:p>
            <a:pPr algn="l">
              <a:lnSpc>
                <a:spcPct val="100000"/>
              </a:lnSpc>
            </a:pPr>
            <a:r>
              <a:rPr sz="1200" b="0" i="0">
                <a:solidFill>
                  <a:srgbClr val="F7F2E8"/>
                </a:solidFill>
                <a:latin typeface="Segoe UI Semibold"/>
              </a:rPr>
              <a:t>AUTH_FAILED · CONFIG_INVALID</a:t>
            </a:r>
          </a:p>
        </p:txBody>
      </p:sp>
      <p:sp>
        <p:nvSpPr>
          <p:cNvPr id="32" name="TextBox 31"/>
          <p:cNvSpPr txBox="1"/>
          <p:nvPr/>
        </p:nvSpPr>
        <p:spPr>
          <a:xfrm>
            <a:off x="8519519" y="3017520"/>
            <a:ext cx="3032095" cy="438911"/>
          </a:xfrm>
          <a:prstGeom prst="rect">
            <a:avLst/>
          </a:prstGeom>
          <a:noFill/>
        </p:spPr>
        <p:txBody>
          <a:bodyPr wrap="square" lIns="45720" rIns="45720" tIns="27432" bIns="27432" anchor="ctr">
            <a:noAutofit/>
          </a:bodyPr>
          <a:lstStyle/>
          <a:p>
            <a:pPr algn="l">
              <a:lnSpc>
                <a:spcPct val="100000"/>
              </a:lnSpc>
            </a:pPr>
            <a:r>
              <a:rPr sz="1200" b="0" i="0">
                <a:solidFill>
                  <a:srgbClr val="A7B2B0"/>
                </a:solidFill>
                <a:latin typeface="Segoe UI"/>
              </a:rPr>
              <a:t>No pudo autenticarse, o rechazó su propia configuración.</a:t>
            </a:r>
          </a:p>
        </p:txBody>
      </p:sp>
      <p:sp>
        <p:nvSpPr>
          <p:cNvPr id="33" name="TextBox 32"/>
          <p:cNvSpPr txBox="1"/>
          <p:nvPr/>
        </p:nvSpPr>
        <p:spPr>
          <a:xfrm>
            <a:off x="6217920" y="3529584"/>
            <a:ext cx="2155295" cy="438911"/>
          </a:xfrm>
          <a:prstGeom prst="rect">
            <a:avLst/>
          </a:prstGeom>
          <a:noFill/>
        </p:spPr>
        <p:txBody>
          <a:bodyPr wrap="square" lIns="45720" rIns="45720" tIns="27432" bIns="27432" anchor="ctr">
            <a:noAutofit/>
          </a:bodyPr>
          <a:lstStyle/>
          <a:p>
            <a:pPr algn="l">
              <a:lnSpc>
                <a:spcPct val="100000"/>
              </a:lnSpc>
            </a:pPr>
            <a:r>
              <a:rPr sz="1200" b="0" i="0">
                <a:solidFill>
                  <a:srgbClr val="F7F2E8"/>
                </a:solidFill>
                <a:latin typeface="Segoe UI Semibold"/>
              </a:rPr>
              <a:t>NO_CREDIT · USAGE_LIMIT</a:t>
            </a:r>
          </a:p>
        </p:txBody>
      </p:sp>
      <p:sp>
        <p:nvSpPr>
          <p:cNvPr id="34" name="TextBox 33"/>
          <p:cNvSpPr txBox="1"/>
          <p:nvPr/>
        </p:nvSpPr>
        <p:spPr>
          <a:xfrm>
            <a:off x="8519519" y="3529584"/>
            <a:ext cx="3032095" cy="438911"/>
          </a:xfrm>
          <a:prstGeom prst="rect">
            <a:avLst/>
          </a:prstGeom>
          <a:noFill/>
        </p:spPr>
        <p:txBody>
          <a:bodyPr wrap="square" lIns="45720" rIns="45720" tIns="27432" bIns="27432" anchor="ctr">
            <a:noAutofit/>
          </a:bodyPr>
          <a:lstStyle/>
          <a:p>
            <a:pPr algn="l">
              <a:lnSpc>
                <a:spcPct val="100000"/>
              </a:lnSpc>
            </a:pPr>
            <a:r>
              <a:rPr sz="1200" b="0" i="0">
                <a:solidFill>
                  <a:srgbClr val="A7B2B0"/>
                </a:solidFill>
                <a:latin typeface="Segoe UI"/>
              </a:rPr>
              <a:t>Sin crédito, o se alcanzó un límite del plan o de tasa.</a:t>
            </a:r>
          </a:p>
        </p:txBody>
      </p:sp>
      <p:sp>
        <p:nvSpPr>
          <p:cNvPr id="35" name="Rectangle 34"/>
          <p:cNvSpPr/>
          <p:nvPr/>
        </p:nvSpPr>
        <p:spPr>
          <a:xfrm>
            <a:off x="6163056" y="4005072"/>
            <a:ext cx="5443423" cy="512063"/>
          </a:xfrm>
          <a:prstGeom prst="rect">
            <a:avLst/>
          </a:prstGeom>
          <a:solidFill>
            <a:srgbClr val="1824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6" name="TextBox 35"/>
          <p:cNvSpPr txBox="1"/>
          <p:nvPr/>
        </p:nvSpPr>
        <p:spPr>
          <a:xfrm>
            <a:off x="6217920" y="4041648"/>
            <a:ext cx="2155295" cy="438911"/>
          </a:xfrm>
          <a:prstGeom prst="rect">
            <a:avLst/>
          </a:prstGeom>
          <a:noFill/>
        </p:spPr>
        <p:txBody>
          <a:bodyPr wrap="square" lIns="45720" rIns="45720" tIns="27432" bIns="27432" anchor="ctr">
            <a:noAutofit/>
          </a:bodyPr>
          <a:lstStyle/>
          <a:p>
            <a:pPr algn="l">
              <a:lnSpc>
                <a:spcPct val="100000"/>
              </a:lnSpc>
            </a:pPr>
            <a:r>
              <a:rPr sz="1200" b="0" i="0">
                <a:solidFill>
                  <a:srgbClr val="F7F2E8"/>
                </a:solidFill>
                <a:latin typeface="Segoe UI Semibold"/>
              </a:rPr>
              <a:t>UPSTREAM_ERROR</a:t>
            </a:r>
          </a:p>
        </p:txBody>
      </p:sp>
      <p:sp>
        <p:nvSpPr>
          <p:cNvPr id="37" name="TextBox 36"/>
          <p:cNvSpPr txBox="1"/>
          <p:nvPr/>
        </p:nvSpPr>
        <p:spPr>
          <a:xfrm>
            <a:off x="8519519" y="4041648"/>
            <a:ext cx="3032095" cy="438911"/>
          </a:xfrm>
          <a:prstGeom prst="rect">
            <a:avLst/>
          </a:prstGeom>
          <a:noFill/>
        </p:spPr>
        <p:txBody>
          <a:bodyPr wrap="square" lIns="45720" rIns="45720" tIns="27432" bIns="27432" anchor="ctr">
            <a:noAutofit/>
          </a:bodyPr>
          <a:lstStyle/>
          <a:p>
            <a:pPr algn="l">
              <a:lnSpc>
                <a:spcPct val="100000"/>
              </a:lnSpc>
            </a:pPr>
            <a:r>
              <a:rPr sz="1200" b="0" i="0">
                <a:solidFill>
                  <a:srgbClr val="A7B2B0"/>
                </a:solidFill>
                <a:latin typeface="Segoe UI"/>
              </a:rPr>
              <a:t>El proveedor del modelo devolvió un error del lado del servidor.</a:t>
            </a:r>
          </a:p>
        </p:txBody>
      </p:sp>
      <p:sp>
        <p:nvSpPr>
          <p:cNvPr id="38" name="TextBox 37"/>
          <p:cNvSpPr txBox="1"/>
          <p:nvPr/>
        </p:nvSpPr>
        <p:spPr>
          <a:xfrm>
            <a:off x="6217920" y="4553712"/>
            <a:ext cx="2155295" cy="438911"/>
          </a:xfrm>
          <a:prstGeom prst="rect">
            <a:avLst/>
          </a:prstGeom>
          <a:noFill/>
        </p:spPr>
        <p:txBody>
          <a:bodyPr wrap="square" lIns="45720" rIns="45720" tIns="27432" bIns="27432" anchor="ctr">
            <a:noAutofit/>
          </a:bodyPr>
          <a:lstStyle/>
          <a:p>
            <a:pPr algn="l">
              <a:lnSpc>
                <a:spcPct val="100000"/>
              </a:lnSpc>
            </a:pPr>
            <a:r>
              <a:rPr sz="1200" b="0" i="0">
                <a:solidFill>
                  <a:srgbClr val="F7F2E8"/>
                </a:solidFill>
                <a:latin typeface="Segoe UI Semibold"/>
              </a:rPr>
              <a:t>NO_OUTPUT · CHILD_ERROR</a:t>
            </a:r>
          </a:p>
        </p:txBody>
      </p:sp>
      <p:sp>
        <p:nvSpPr>
          <p:cNvPr id="39" name="TextBox 38"/>
          <p:cNvSpPr txBox="1"/>
          <p:nvPr/>
        </p:nvSpPr>
        <p:spPr>
          <a:xfrm>
            <a:off x="8519519" y="4553712"/>
            <a:ext cx="3032095" cy="438911"/>
          </a:xfrm>
          <a:prstGeom prst="rect">
            <a:avLst/>
          </a:prstGeom>
          <a:noFill/>
        </p:spPr>
        <p:txBody>
          <a:bodyPr wrap="square" lIns="45720" rIns="45720" tIns="27432" bIns="27432" anchor="ctr">
            <a:noAutofit/>
          </a:bodyPr>
          <a:lstStyle/>
          <a:p>
            <a:pPr algn="l">
              <a:lnSpc>
                <a:spcPct val="100000"/>
              </a:lnSpc>
            </a:pPr>
            <a:r>
              <a:rPr sz="1200" b="0" i="0">
                <a:solidFill>
                  <a:srgbClr val="A7B2B0"/>
                </a:solidFill>
                <a:latin typeface="Segoe UI"/>
              </a:rPr>
              <a:t>No regresó nada legible, o tuvo un error sin dar respuesta.</a:t>
            </a:r>
          </a:p>
        </p:txBody>
      </p:sp>
      <p:sp>
        <p:nvSpPr>
          <p:cNvPr id="40" name="Rectangle 39"/>
          <p:cNvSpPr/>
          <p:nvPr/>
        </p:nvSpPr>
        <p:spPr>
          <a:xfrm>
            <a:off x="6163056" y="5029199"/>
            <a:ext cx="5443423" cy="512063"/>
          </a:xfrm>
          <a:prstGeom prst="rect">
            <a:avLst/>
          </a:prstGeom>
          <a:solidFill>
            <a:srgbClr val="1824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1" name="TextBox 40"/>
          <p:cNvSpPr txBox="1"/>
          <p:nvPr/>
        </p:nvSpPr>
        <p:spPr>
          <a:xfrm>
            <a:off x="6217920" y="5065775"/>
            <a:ext cx="2155295" cy="438911"/>
          </a:xfrm>
          <a:prstGeom prst="rect">
            <a:avLst/>
          </a:prstGeom>
          <a:noFill/>
        </p:spPr>
        <p:txBody>
          <a:bodyPr wrap="square" lIns="45720" rIns="45720" tIns="27432" bIns="27432" anchor="ctr">
            <a:noAutofit/>
          </a:bodyPr>
          <a:lstStyle/>
          <a:p>
            <a:pPr algn="l">
              <a:lnSpc>
                <a:spcPct val="100000"/>
              </a:lnSpc>
            </a:pPr>
            <a:r>
              <a:rPr sz="1200" b="0" i="0">
                <a:solidFill>
                  <a:srgbClr val="F7F2E8"/>
                </a:solidFill>
                <a:latin typeface="Segoe UI Semibold"/>
              </a:rPr>
              <a:t>WORKSPACE_NOT_TRUSTED</a:t>
            </a:r>
          </a:p>
        </p:txBody>
      </p:sp>
      <p:sp>
        <p:nvSpPr>
          <p:cNvPr id="42" name="TextBox 41"/>
          <p:cNvSpPr txBox="1"/>
          <p:nvPr/>
        </p:nvSpPr>
        <p:spPr>
          <a:xfrm>
            <a:off x="8519519" y="5065775"/>
            <a:ext cx="3032095" cy="438911"/>
          </a:xfrm>
          <a:prstGeom prst="rect">
            <a:avLst/>
          </a:prstGeom>
          <a:noFill/>
        </p:spPr>
        <p:txBody>
          <a:bodyPr wrap="square" lIns="45720" rIns="45720" tIns="27432" bIns="27432" anchor="ctr">
            <a:noAutofit/>
          </a:bodyPr>
          <a:lstStyle/>
          <a:p>
            <a:pPr algn="l">
              <a:lnSpc>
                <a:spcPct val="100000"/>
              </a:lnSpc>
            </a:pPr>
            <a:r>
              <a:rPr sz="1200" b="0" i="0">
                <a:solidFill>
                  <a:srgbClr val="A7B2B0"/>
                </a:solidFill>
                <a:latin typeface="Segoe UI"/>
              </a:rPr>
              <a:t>Su carpeta de trabajo no es de confianza, así que se ignoraron los permisos.</a:t>
            </a:r>
          </a:p>
        </p:txBody>
      </p:sp>
      <p:cxnSp>
        <p:nvCxnSpPr>
          <p:cNvPr id="43" name="Connector 42"/>
          <p:cNvCxnSpPr/>
          <p:nvPr/>
        </p:nvCxnSpPr>
        <p:spPr>
          <a:xfrm>
            <a:off x="566928" y="6373368"/>
            <a:ext cx="11057839" cy="0"/>
          </a:xfrm>
          <a:prstGeom prst="line">
            <a:avLst/>
          </a:prstGeom>
          <a:ln w="7620">
            <a:solidFill>
              <a:srgbClr val="2A3A40"/>
            </a:solidFill>
          </a:ln>
        </p:spPr>
        <p:style>
          <a:lnRef idx="2">
            <a:schemeClr val="accent1"/>
          </a:lnRef>
          <a:fillRef idx="0">
            <a:schemeClr val="accent1"/>
          </a:fillRef>
          <a:effectRef idx="1">
            <a:schemeClr val="accent1"/>
          </a:effectRef>
          <a:fontRef idx="minor">
            <a:schemeClr val="tx1"/>
          </a:fontRef>
        </p:style>
      </p:cxnSp>
      <p:sp>
        <p:nvSpPr>
          <p:cNvPr id="44" name="TextBox 43"/>
          <p:cNvSpPr txBox="1"/>
          <p:nvPr/>
        </p:nvSpPr>
        <p:spPr>
          <a:xfrm>
            <a:off x="566928" y="6419088"/>
            <a:ext cx="6858000" cy="274320"/>
          </a:xfrm>
          <a:prstGeom prst="rect">
            <a:avLst/>
          </a:prstGeom>
          <a:noFill/>
        </p:spPr>
        <p:txBody>
          <a:bodyPr wrap="square" lIns="45720" rIns="45720" tIns="27432" bIns="27432" anchor="t">
            <a:noAutofit/>
          </a:bodyPr>
          <a:lstStyle/>
          <a:p>
            <a:pPr algn="l">
              <a:lnSpc>
                <a:spcPct val="100000"/>
              </a:lnSpc>
            </a:pPr>
            <a:r>
              <a:rPr sz="850" b="0" i="0" spc="120">
                <a:solidFill>
                  <a:srgbClr val="A7B2B0"/>
                </a:solidFill>
                <a:latin typeface="Segoe UI Semibold"/>
              </a:rPr>
              <a:t>TLAMATINI  ·  V · CAPACIDADES PROFUNDAS</a:t>
            </a:r>
          </a:p>
        </p:txBody>
      </p:sp>
      <p:sp>
        <p:nvSpPr>
          <p:cNvPr id="45" name="TextBox 44"/>
          <p:cNvSpPr txBox="1"/>
          <p:nvPr/>
        </p:nvSpPr>
        <p:spPr>
          <a:xfrm>
            <a:off x="8698687" y="6419088"/>
            <a:ext cx="2926080" cy="274320"/>
          </a:xfrm>
          <a:prstGeom prst="rect">
            <a:avLst/>
          </a:prstGeom>
          <a:noFill/>
        </p:spPr>
        <p:txBody>
          <a:bodyPr wrap="square" lIns="45720" rIns="45720" tIns="27432" bIns="27432" anchor="t">
            <a:noAutofit/>
          </a:bodyPr>
          <a:lstStyle/>
          <a:p>
            <a:pPr algn="r">
              <a:lnSpc>
                <a:spcPct val="100000"/>
              </a:lnSpc>
            </a:pPr>
            <a:r>
              <a:rPr sz="850" b="0" i="0" spc="100">
                <a:solidFill>
                  <a:srgbClr val="A7B2B0"/>
                </a:solidFill>
                <a:latin typeface="Segoe UI Semibold"/>
              </a:rPr>
              <a:t>v1.91.1   ·   81</a:t>
            </a:r>
          </a:p>
        </p:txBody>
      </p:sp>
    </p:spTree>
  </p:cSld>
  <p:clrMapOvr>
    <a:masterClrMapping/>
  </p:clrMapOvr>
</p:sld>
</file>

<file path=ppt/slides/slide8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content.png"/>
          <p:cNvPicPr>
            <a:picLocks noChangeAspect="1"/>
          </p:cNvPicPr>
          <p:nvPr/>
        </p:nvPicPr>
        <p:blipFill>
          <a:blip r:embed="rId2"/>
          <a:stretch>
            <a:fillRect/>
          </a:stretch>
        </p:blipFill>
        <p:spPr>
          <a:xfrm>
            <a:off x="0" y="0"/>
            <a:ext cx="12191695" cy="6858000"/>
          </a:xfrm>
          <a:prstGeom prst="rect">
            <a:avLst/>
          </a:prstGeom>
        </p:spPr>
      </p:pic>
      <p:sp>
        <p:nvSpPr>
          <p:cNvPr id="3" name="Diamond 2"/>
          <p:cNvSpPr/>
          <p:nvPr/>
        </p:nvSpPr>
        <p:spPr>
          <a:xfrm>
            <a:off x="566928" y="457200"/>
            <a:ext cx="100584" cy="100584"/>
          </a:xfrm>
          <a:prstGeom prst="diamond">
            <a:avLst/>
          </a:prstGeom>
          <a:solidFill>
            <a:srgbClr val="46D2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49808" y="365760"/>
            <a:ext cx="8229600" cy="292608"/>
          </a:xfrm>
          <a:prstGeom prst="rect">
            <a:avLst/>
          </a:prstGeom>
          <a:noFill/>
        </p:spPr>
        <p:txBody>
          <a:bodyPr wrap="square" lIns="45720" rIns="45720" tIns="27432" bIns="27432" anchor="t">
            <a:noAutofit/>
          </a:bodyPr>
          <a:lstStyle/>
          <a:p>
            <a:pPr algn="l">
              <a:lnSpc>
                <a:spcPct val="100000"/>
              </a:lnSpc>
            </a:pPr>
            <a:r>
              <a:rPr sz="1100" b="0" i="0" spc="240">
                <a:solidFill>
                  <a:srgbClr val="C98457"/>
                </a:solidFill>
                <a:latin typeface="Segoe UI Semibold"/>
              </a:rPr>
              <a:t>EXTERNAL MCPS</a:t>
            </a:r>
          </a:p>
        </p:txBody>
      </p:sp>
      <p:sp>
        <p:nvSpPr>
          <p:cNvPr id="5" name="TextBox 4"/>
          <p:cNvSpPr txBox="1"/>
          <p:nvPr/>
        </p:nvSpPr>
        <p:spPr>
          <a:xfrm>
            <a:off x="539496" y="676656"/>
            <a:ext cx="11057839" cy="658368"/>
          </a:xfrm>
          <a:prstGeom prst="rect">
            <a:avLst/>
          </a:prstGeom>
          <a:noFill/>
        </p:spPr>
        <p:txBody>
          <a:bodyPr wrap="square" lIns="45720" rIns="45720" tIns="27432" bIns="27432" anchor="t">
            <a:noAutofit/>
          </a:bodyPr>
          <a:lstStyle/>
          <a:p>
            <a:pPr algn="l">
              <a:lnSpc>
                <a:spcPct val="100000"/>
              </a:lnSpc>
            </a:pPr>
            <a:r>
              <a:rPr sz="3100" b="0" i="0">
                <a:solidFill>
                  <a:srgbClr val="F7F2E8"/>
                </a:solidFill>
                <a:latin typeface="Palatino Linotype"/>
              </a:rPr>
              <a:t>Un cliente MCP universal</a:t>
            </a:r>
          </a:p>
        </p:txBody>
      </p:sp>
      <p:sp>
        <p:nvSpPr>
          <p:cNvPr id="6" name="Rectangle 5"/>
          <p:cNvSpPr/>
          <p:nvPr/>
        </p:nvSpPr>
        <p:spPr>
          <a:xfrm>
            <a:off x="566928" y="1344168"/>
            <a:ext cx="822960" cy="36576"/>
          </a:xfrm>
          <a:prstGeom prst="rect">
            <a:avLst/>
          </a:prstGeom>
          <a:solidFill>
            <a:srgbClr val="46D2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566928" y="1444752"/>
            <a:ext cx="10692079" cy="585216"/>
          </a:xfrm>
          <a:prstGeom prst="rect">
            <a:avLst/>
          </a:prstGeom>
          <a:noFill/>
        </p:spPr>
        <p:txBody>
          <a:bodyPr wrap="square" lIns="45720" rIns="45720" tIns="27432" bIns="27432" anchor="t">
            <a:noAutofit/>
          </a:bodyPr>
          <a:lstStyle/>
          <a:p>
            <a:pPr algn="l">
              <a:lnSpc>
                <a:spcPct val="100000"/>
              </a:lnSpc>
            </a:pPr>
            <a:r>
              <a:rPr sz="1450" b="0" i="0">
                <a:solidFill>
                  <a:srgbClr val="A7B2B0"/>
                </a:solidFill>
                <a:latin typeface="Segoe UI Semilight"/>
              </a:rPr>
              <a:t>Conecta Tlamatini a cualquier servidor MCP declarado en un catálogo JSON y usa sus tools de inmediato, sin escribir código para el servidor.</a:t>
            </a:r>
          </a:p>
        </p:txBody>
      </p:sp>
      <p:sp>
        <p:nvSpPr>
          <p:cNvPr id="8" name="Rounded Rectangle 7"/>
          <p:cNvSpPr/>
          <p:nvPr/>
        </p:nvSpPr>
        <p:spPr>
          <a:xfrm>
            <a:off x="566928" y="2084831"/>
            <a:ext cx="5212080" cy="932688"/>
          </a:xfrm>
          <a:prstGeom prst="roundRect">
            <a:avLst>
              <a:gd name="adj" fmla="val 9803"/>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Diamond 8"/>
          <p:cNvSpPr/>
          <p:nvPr/>
        </p:nvSpPr>
        <p:spPr>
          <a:xfrm>
            <a:off x="768096" y="2487168"/>
            <a:ext cx="128016" cy="128016"/>
          </a:xfrm>
          <a:prstGeom prst="diamond">
            <a:avLst/>
          </a:prstGeom>
          <a:solidFill>
            <a:srgbClr val="3BBE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1024128" y="2139696"/>
            <a:ext cx="1554480" cy="822960"/>
          </a:xfrm>
          <a:prstGeom prst="rect">
            <a:avLst/>
          </a:prstGeom>
          <a:noFill/>
        </p:spPr>
        <p:txBody>
          <a:bodyPr wrap="square" lIns="45720" rIns="45720" tIns="27432" bIns="27432" anchor="ctr">
            <a:noAutofit/>
          </a:bodyPr>
          <a:lstStyle/>
          <a:p>
            <a:pPr algn="l">
              <a:lnSpc>
                <a:spcPct val="100000"/>
              </a:lnSpc>
            </a:pPr>
            <a:r>
              <a:rPr sz="1600" b="0" i="0">
                <a:solidFill>
                  <a:srgbClr val="F7F2E8"/>
                </a:solidFill>
                <a:latin typeface="Segoe UI Semibold"/>
              </a:rPr>
              <a:t>Transportes</a:t>
            </a:r>
          </a:p>
        </p:txBody>
      </p:sp>
      <p:sp>
        <p:nvSpPr>
          <p:cNvPr id="11" name="TextBox 10"/>
          <p:cNvSpPr txBox="1"/>
          <p:nvPr/>
        </p:nvSpPr>
        <p:spPr>
          <a:xfrm>
            <a:off x="2670048" y="2139696"/>
            <a:ext cx="2971800" cy="822960"/>
          </a:xfrm>
          <a:prstGeom prst="rect">
            <a:avLst/>
          </a:prstGeom>
          <a:noFill/>
        </p:spPr>
        <p:txBody>
          <a:bodyPr wrap="square" lIns="45720" rIns="45720" tIns="27432" bIns="27432" anchor="ctr">
            <a:noAutofit/>
          </a:bodyPr>
          <a:lstStyle/>
          <a:p>
            <a:pPr algn="l">
              <a:lnSpc>
                <a:spcPct val="100000"/>
              </a:lnSpc>
            </a:pPr>
            <a:r>
              <a:rPr sz="1400" b="0" i="0">
                <a:solidFill>
                  <a:srgbClr val="A7B2B0"/>
                </a:solidFill>
                <a:latin typeface="Segoe UI"/>
              </a:rPr>
              <a:t>stdio, HTTP streamable, SSE y WebSocket.</a:t>
            </a:r>
          </a:p>
        </p:txBody>
      </p:sp>
      <p:sp>
        <p:nvSpPr>
          <p:cNvPr id="12" name="Rounded Rectangle 11"/>
          <p:cNvSpPr/>
          <p:nvPr/>
        </p:nvSpPr>
        <p:spPr>
          <a:xfrm>
            <a:off x="566928" y="3145536"/>
            <a:ext cx="5212080" cy="932688"/>
          </a:xfrm>
          <a:prstGeom prst="roundRect">
            <a:avLst>
              <a:gd name="adj" fmla="val 9803"/>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Diamond 12"/>
          <p:cNvSpPr/>
          <p:nvPr/>
        </p:nvSpPr>
        <p:spPr>
          <a:xfrm>
            <a:off x="768096" y="3547872"/>
            <a:ext cx="128016" cy="128016"/>
          </a:xfrm>
          <a:prstGeom prst="diamond">
            <a:avLst/>
          </a:prstGeom>
          <a:solidFill>
            <a:srgbClr val="C984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1024128" y="3200400"/>
            <a:ext cx="1554480" cy="822960"/>
          </a:xfrm>
          <a:prstGeom prst="rect">
            <a:avLst/>
          </a:prstGeom>
          <a:noFill/>
        </p:spPr>
        <p:txBody>
          <a:bodyPr wrap="square" lIns="45720" rIns="45720" tIns="27432" bIns="27432" anchor="ctr">
            <a:noAutofit/>
          </a:bodyPr>
          <a:lstStyle/>
          <a:p>
            <a:pPr algn="l">
              <a:lnSpc>
                <a:spcPct val="100000"/>
              </a:lnSpc>
            </a:pPr>
            <a:r>
              <a:rPr sz="1600" b="0" i="0">
                <a:solidFill>
                  <a:srgbClr val="F7F2E8"/>
                </a:solidFill>
                <a:latin typeface="Segoe UI Semibold"/>
              </a:rPr>
              <a:t>Diez supervisores</a:t>
            </a:r>
          </a:p>
        </p:txBody>
      </p:sp>
      <p:sp>
        <p:nvSpPr>
          <p:cNvPr id="15" name="TextBox 14"/>
          <p:cNvSpPr txBox="1"/>
          <p:nvPr/>
        </p:nvSpPr>
        <p:spPr>
          <a:xfrm>
            <a:off x="2670048" y="3200400"/>
            <a:ext cx="2971800" cy="822960"/>
          </a:xfrm>
          <a:prstGeom prst="rect">
            <a:avLst/>
          </a:prstGeom>
          <a:noFill/>
        </p:spPr>
        <p:txBody>
          <a:bodyPr wrap="square" lIns="45720" rIns="45720" tIns="27432" bIns="27432" anchor="ctr">
            <a:noAutofit/>
          </a:bodyPr>
          <a:lstStyle/>
          <a:p>
            <a:pPr algn="l">
              <a:lnSpc>
                <a:spcPct val="100000"/>
              </a:lnSpc>
            </a:pPr>
            <a:r>
              <a:rPr sz="1400" b="0" i="0">
                <a:solidFill>
                  <a:srgbClr val="A7B2B0"/>
                </a:solidFill>
                <a:latin typeface="Segoe UI"/>
              </a:rPr>
              <a:t>Status, reconectar, doctor, runtimes, importar, listar, llamar, activar, esperar.</a:t>
            </a:r>
          </a:p>
        </p:txBody>
      </p:sp>
      <p:sp>
        <p:nvSpPr>
          <p:cNvPr id="16" name="Rounded Rectangle 15"/>
          <p:cNvSpPr/>
          <p:nvPr/>
        </p:nvSpPr>
        <p:spPr>
          <a:xfrm>
            <a:off x="566928" y="4206240"/>
            <a:ext cx="5212080" cy="932688"/>
          </a:xfrm>
          <a:prstGeom prst="roundRect">
            <a:avLst>
              <a:gd name="adj" fmla="val 9803"/>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Diamond 16"/>
          <p:cNvSpPr/>
          <p:nvPr/>
        </p:nvSpPr>
        <p:spPr>
          <a:xfrm>
            <a:off x="768096" y="4608575"/>
            <a:ext cx="128016" cy="128016"/>
          </a:xfrm>
          <a:prstGeom prst="diamond">
            <a:avLst/>
          </a:prstGeom>
          <a:solidFill>
            <a:srgbClr val="E2B4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1024128" y="4261103"/>
            <a:ext cx="1554480" cy="822960"/>
          </a:xfrm>
          <a:prstGeom prst="rect">
            <a:avLst/>
          </a:prstGeom>
          <a:noFill/>
        </p:spPr>
        <p:txBody>
          <a:bodyPr wrap="square" lIns="45720" rIns="45720" tIns="27432" bIns="27432" anchor="ctr">
            <a:noAutofit/>
          </a:bodyPr>
          <a:lstStyle/>
          <a:p>
            <a:pPr algn="l">
              <a:lnSpc>
                <a:spcPct val="100000"/>
              </a:lnSpc>
            </a:pPr>
            <a:r>
              <a:rPr sz="1600" b="0" i="0">
                <a:solidFill>
                  <a:srgbClr val="F7F2E8"/>
                </a:solidFill>
                <a:latin typeface="Segoe UI Semibold"/>
              </a:rPr>
              <a:t>Runtimes privados</a:t>
            </a:r>
          </a:p>
        </p:txBody>
      </p:sp>
      <p:sp>
        <p:nvSpPr>
          <p:cNvPr id="19" name="TextBox 18"/>
          <p:cNvSpPr txBox="1"/>
          <p:nvPr/>
        </p:nvSpPr>
        <p:spPr>
          <a:xfrm>
            <a:off x="2670048" y="4261103"/>
            <a:ext cx="2971800" cy="822960"/>
          </a:xfrm>
          <a:prstGeom prst="rect">
            <a:avLst/>
          </a:prstGeom>
          <a:noFill/>
        </p:spPr>
        <p:txBody>
          <a:bodyPr wrap="square" lIns="45720" rIns="45720" tIns="27432" bIns="27432" anchor="ctr">
            <a:noAutofit/>
          </a:bodyPr>
          <a:lstStyle/>
          <a:p>
            <a:pPr algn="l">
              <a:lnSpc>
                <a:spcPct val="100000"/>
              </a:lnSpc>
            </a:pPr>
            <a:r>
              <a:rPr sz="1400" b="0" i="0">
                <a:solidFill>
                  <a:srgbClr val="A7B2B0"/>
                </a:solidFill>
                <a:latin typeface="Segoe UI"/>
              </a:rPr>
              <a:t>Node y uv aprovisionados por usuario, sin admin, sin cambiar el PATH.</a:t>
            </a:r>
          </a:p>
        </p:txBody>
      </p:sp>
      <p:sp>
        <p:nvSpPr>
          <p:cNvPr id="20" name="Rounded Rectangle 19"/>
          <p:cNvSpPr/>
          <p:nvPr/>
        </p:nvSpPr>
        <p:spPr>
          <a:xfrm>
            <a:off x="566928" y="5266944"/>
            <a:ext cx="5212080" cy="932688"/>
          </a:xfrm>
          <a:prstGeom prst="roundRect">
            <a:avLst>
              <a:gd name="adj" fmla="val 9803"/>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Diamond 20"/>
          <p:cNvSpPr/>
          <p:nvPr/>
        </p:nvSpPr>
        <p:spPr>
          <a:xfrm>
            <a:off x="768096" y="5669279"/>
            <a:ext cx="128016" cy="128016"/>
          </a:xfrm>
          <a:prstGeom prst="diamond">
            <a:avLst/>
          </a:prstGeom>
          <a:solidFill>
            <a:srgbClr val="46D2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1024128" y="5321807"/>
            <a:ext cx="1554480" cy="822960"/>
          </a:xfrm>
          <a:prstGeom prst="rect">
            <a:avLst/>
          </a:prstGeom>
          <a:noFill/>
        </p:spPr>
        <p:txBody>
          <a:bodyPr wrap="square" lIns="45720" rIns="45720" tIns="27432" bIns="27432" anchor="ctr">
            <a:noAutofit/>
          </a:bodyPr>
          <a:lstStyle/>
          <a:p>
            <a:pPr algn="l">
              <a:lnSpc>
                <a:spcPct val="100000"/>
              </a:lnSpc>
            </a:pPr>
            <a:r>
              <a:rPr sz="1600" b="0" i="0">
                <a:solidFill>
                  <a:srgbClr val="F7F2E8"/>
                </a:solidFill>
                <a:latin typeface="Segoe UI Semibold"/>
              </a:rPr>
              <a:t>Predeterminados</a:t>
            </a:r>
          </a:p>
        </p:txBody>
      </p:sp>
      <p:sp>
        <p:nvSpPr>
          <p:cNvPr id="23" name="TextBox 22"/>
          <p:cNvSpPr txBox="1"/>
          <p:nvPr/>
        </p:nvSpPr>
        <p:spPr>
          <a:xfrm>
            <a:off x="2670048" y="5321807"/>
            <a:ext cx="2971800" cy="822960"/>
          </a:xfrm>
          <a:prstGeom prst="rect">
            <a:avLst/>
          </a:prstGeom>
          <a:noFill/>
        </p:spPr>
        <p:txBody>
          <a:bodyPr wrap="square" lIns="45720" rIns="45720" tIns="27432" bIns="27432" anchor="ctr">
            <a:noAutofit/>
          </a:bodyPr>
          <a:lstStyle/>
          <a:p>
            <a:pPr algn="l">
              <a:lnSpc>
                <a:spcPct val="100000"/>
              </a:lnSpc>
            </a:pPr>
            <a:r>
              <a:rPr sz="1400" b="0" i="0">
                <a:solidFill>
                  <a:srgbClr val="A7B2B0"/>
                </a:solidFill>
                <a:latin typeface="Segoe UI"/>
              </a:rPr>
              <a:t>Memory y Sequential Thinking, inactivos hasta que tú elijas.</a:t>
            </a:r>
          </a:p>
        </p:txBody>
      </p:sp>
      <p:sp>
        <p:nvSpPr>
          <p:cNvPr id="24" name="Rounded Rectangle 23"/>
          <p:cNvSpPr/>
          <p:nvPr/>
        </p:nvSpPr>
        <p:spPr>
          <a:xfrm>
            <a:off x="6144768" y="2084831"/>
            <a:ext cx="5479999" cy="428461"/>
          </a:xfrm>
          <a:prstGeom prst="roundRect">
            <a:avLst>
              <a:gd name="adj" fmla="val 42682"/>
            </a:avLst>
          </a:prstGeom>
          <a:solidFill>
            <a:srgbClr val="3BBE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TextBox 24"/>
          <p:cNvSpPr txBox="1"/>
          <p:nvPr/>
        </p:nvSpPr>
        <p:spPr>
          <a:xfrm>
            <a:off x="6327648" y="2103120"/>
            <a:ext cx="5114239" cy="391885"/>
          </a:xfrm>
          <a:prstGeom prst="rect">
            <a:avLst/>
          </a:prstGeom>
          <a:noFill/>
        </p:spPr>
        <p:txBody>
          <a:bodyPr wrap="square" lIns="45720" rIns="45720" tIns="27432" bIns="27432" anchor="ctr">
            <a:noAutofit/>
          </a:bodyPr>
          <a:lstStyle/>
          <a:p>
            <a:pPr algn="l">
              <a:lnSpc>
                <a:spcPct val="100000"/>
              </a:lnSpc>
            </a:pPr>
            <a:r>
              <a:rPr sz="1500" b="1" i="0">
                <a:solidFill>
                  <a:srgbClr val="090E10"/>
                </a:solidFill>
                <a:latin typeface="Palatino Linotype"/>
              </a:rPr>
              <a:t>1   </a:t>
            </a:r>
            <a:r>
              <a:rPr sz="1500" b="0" i="0">
                <a:solidFill>
                  <a:srgbClr val="090E10"/>
                </a:solidFill>
                <a:latin typeface="Segoe UI Semibold"/>
              </a:rPr>
              <a:t>Clasificar</a:t>
            </a:r>
          </a:p>
        </p:txBody>
      </p:sp>
      <p:sp>
        <p:nvSpPr>
          <p:cNvPr id="26" name="Rounded Rectangle 25"/>
          <p:cNvSpPr/>
          <p:nvPr/>
        </p:nvSpPr>
        <p:spPr>
          <a:xfrm>
            <a:off x="6144768" y="2623021"/>
            <a:ext cx="5479999" cy="428461"/>
          </a:xfrm>
          <a:prstGeom prst="roundRect">
            <a:avLst>
              <a:gd name="adj" fmla="val 42682"/>
            </a:avLst>
          </a:prstGeom>
          <a:solidFill>
            <a:srgbClr val="151F23"/>
          </a:solidFill>
          <a:ln w="9525">
            <a:solidFill>
              <a:srgbClr val="3BBE9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6327648" y="2641309"/>
            <a:ext cx="5114239" cy="391885"/>
          </a:xfrm>
          <a:prstGeom prst="rect">
            <a:avLst/>
          </a:prstGeom>
          <a:noFill/>
        </p:spPr>
        <p:txBody>
          <a:bodyPr wrap="square" lIns="45720" rIns="45720" tIns="27432" bIns="27432" anchor="ctr">
            <a:noAutofit/>
          </a:bodyPr>
          <a:lstStyle/>
          <a:p>
            <a:pPr algn="l">
              <a:lnSpc>
                <a:spcPct val="100000"/>
              </a:lnSpc>
            </a:pPr>
            <a:r>
              <a:rPr sz="1500" b="1" i="0">
                <a:solidFill>
                  <a:srgbClr val="C98457"/>
                </a:solidFill>
                <a:latin typeface="Palatino Linotype"/>
              </a:rPr>
              <a:t>2   </a:t>
            </a:r>
            <a:r>
              <a:rPr sz="1500" b="0" i="0">
                <a:solidFill>
                  <a:srgbClr val="F7F2E8"/>
                </a:solidFill>
                <a:latin typeface="Segoe UI Semibold"/>
              </a:rPr>
              <a:t>Importar</a:t>
            </a:r>
          </a:p>
        </p:txBody>
      </p:sp>
      <p:sp>
        <p:nvSpPr>
          <p:cNvPr id="28" name="Rounded Rectangle 27"/>
          <p:cNvSpPr/>
          <p:nvPr/>
        </p:nvSpPr>
        <p:spPr>
          <a:xfrm>
            <a:off x="6144768" y="3161211"/>
            <a:ext cx="5479999" cy="428461"/>
          </a:xfrm>
          <a:prstGeom prst="roundRect">
            <a:avLst>
              <a:gd name="adj" fmla="val 42682"/>
            </a:avLst>
          </a:prstGeom>
          <a:solidFill>
            <a:srgbClr val="151F23"/>
          </a:solidFill>
          <a:ln w="9525">
            <a:solidFill>
              <a:srgbClr val="3BBE9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6327648" y="3179499"/>
            <a:ext cx="5114239" cy="391885"/>
          </a:xfrm>
          <a:prstGeom prst="rect">
            <a:avLst/>
          </a:prstGeom>
          <a:noFill/>
        </p:spPr>
        <p:txBody>
          <a:bodyPr wrap="square" lIns="45720" rIns="45720" tIns="27432" bIns="27432" anchor="ctr">
            <a:noAutofit/>
          </a:bodyPr>
          <a:lstStyle/>
          <a:p>
            <a:pPr algn="l">
              <a:lnSpc>
                <a:spcPct val="100000"/>
              </a:lnSpc>
            </a:pPr>
            <a:r>
              <a:rPr sz="1500" b="1" i="0">
                <a:solidFill>
                  <a:srgbClr val="C98457"/>
                </a:solidFill>
                <a:latin typeface="Palatino Linotype"/>
              </a:rPr>
              <a:t>3   </a:t>
            </a:r>
            <a:r>
              <a:rPr sz="1500" b="0" i="0">
                <a:solidFill>
                  <a:srgbClr val="F7F2E8"/>
                </a:solidFill>
                <a:latin typeface="Segoe UI Semibold"/>
              </a:rPr>
              <a:t>Diagnosticar</a:t>
            </a:r>
          </a:p>
        </p:txBody>
      </p:sp>
      <p:sp>
        <p:nvSpPr>
          <p:cNvPr id="30" name="Rounded Rectangle 29"/>
          <p:cNvSpPr/>
          <p:nvPr/>
        </p:nvSpPr>
        <p:spPr>
          <a:xfrm>
            <a:off x="6144768" y="3699401"/>
            <a:ext cx="5479999" cy="428461"/>
          </a:xfrm>
          <a:prstGeom prst="roundRect">
            <a:avLst>
              <a:gd name="adj" fmla="val 42682"/>
            </a:avLst>
          </a:prstGeom>
          <a:solidFill>
            <a:srgbClr val="151F23"/>
          </a:solidFill>
          <a:ln w="9525">
            <a:solidFill>
              <a:srgbClr val="3BBE9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TextBox 30"/>
          <p:cNvSpPr txBox="1"/>
          <p:nvPr/>
        </p:nvSpPr>
        <p:spPr>
          <a:xfrm>
            <a:off x="6327648" y="3717689"/>
            <a:ext cx="5114239" cy="391885"/>
          </a:xfrm>
          <a:prstGeom prst="rect">
            <a:avLst/>
          </a:prstGeom>
          <a:noFill/>
        </p:spPr>
        <p:txBody>
          <a:bodyPr wrap="square" lIns="45720" rIns="45720" tIns="27432" bIns="27432" anchor="ctr">
            <a:noAutofit/>
          </a:bodyPr>
          <a:lstStyle/>
          <a:p>
            <a:pPr algn="l">
              <a:lnSpc>
                <a:spcPct val="100000"/>
              </a:lnSpc>
            </a:pPr>
            <a:r>
              <a:rPr sz="1500" b="1" i="0">
                <a:solidFill>
                  <a:srgbClr val="C98457"/>
                </a:solidFill>
                <a:latin typeface="Palatino Linotype"/>
              </a:rPr>
              <a:t>4   </a:t>
            </a:r>
            <a:r>
              <a:rPr sz="1500" b="0" i="0">
                <a:solidFill>
                  <a:srgbClr val="F7F2E8"/>
                </a:solidFill>
                <a:latin typeface="Segoe UI Semibold"/>
              </a:rPr>
              <a:t>Activar</a:t>
            </a:r>
          </a:p>
        </p:txBody>
      </p:sp>
      <p:sp>
        <p:nvSpPr>
          <p:cNvPr id="32" name="Rounded Rectangle 31"/>
          <p:cNvSpPr/>
          <p:nvPr/>
        </p:nvSpPr>
        <p:spPr>
          <a:xfrm>
            <a:off x="6144768" y="4237590"/>
            <a:ext cx="5479999" cy="428461"/>
          </a:xfrm>
          <a:prstGeom prst="roundRect">
            <a:avLst>
              <a:gd name="adj" fmla="val 42682"/>
            </a:avLst>
          </a:prstGeom>
          <a:solidFill>
            <a:srgbClr val="151F23"/>
          </a:solidFill>
          <a:ln w="9525">
            <a:solidFill>
              <a:srgbClr val="3BBE9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TextBox 32"/>
          <p:cNvSpPr txBox="1"/>
          <p:nvPr/>
        </p:nvSpPr>
        <p:spPr>
          <a:xfrm>
            <a:off x="6327648" y="4255878"/>
            <a:ext cx="5114239" cy="391885"/>
          </a:xfrm>
          <a:prstGeom prst="rect">
            <a:avLst/>
          </a:prstGeom>
          <a:noFill/>
        </p:spPr>
        <p:txBody>
          <a:bodyPr wrap="square" lIns="45720" rIns="45720" tIns="27432" bIns="27432" anchor="ctr">
            <a:noAutofit/>
          </a:bodyPr>
          <a:lstStyle/>
          <a:p>
            <a:pPr algn="l">
              <a:lnSpc>
                <a:spcPct val="100000"/>
              </a:lnSpc>
            </a:pPr>
            <a:r>
              <a:rPr sz="1500" b="1" i="0">
                <a:solidFill>
                  <a:srgbClr val="C98457"/>
                </a:solidFill>
                <a:latin typeface="Palatino Linotype"/>
              </a:rPr>
              <a:t>5   </a:t>
            </a:r>
            <a:r>
              <a:rPr sz="1500" b="0" i="0">
                <a:solidFill>
                  <a:srgbClr val="F7F2E8"/>
                </a:solidFill>
                <a:latin typeface="Segoe UI Semibold"/>
              </a:rPr>
              <a:t>Esperar</a:t>
            </a:r>
          </a:p>
        </p:txBody>
      </p:sp>
      <p:sp>
        <p:nvSpPr>
          <p:cNvPr id="34" name="Rounded Rectangle 33"/>
          <p:cNvSpPr/>
          <p:nvPr/>
        </p:nvSpPr>
        <p:spPr>
          <a:xfrm>
            <a:off x="6144768" y="4775780"/>
            <a:ext cx="5479999" cy="428461"/>
          </a:xfrm>
          <a:prstGeom prst="roundRect">
            <a:avLst>
              <a:gd name="adj" fmla="val 42682"/>
            </a:avLst>
          </a:prstGeom>
          <a:solidFill>
            <a:srgbClr val="151F23"/>
          </a:solidFill>
          <a:ln w="9525">
            <a:solidFill>
              <a:srgbClr val="3BBE9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TextBox 34"/>
          <p:cNvSpPr txBox="1"/>
          <p:nvPr/>
        </p:nvSpPr>
        <p:spPr>
          <a:xfrm>
            <a:off x="6327648" y="4794068"/>
            <a:ext cx="5114239" cy="391885"/>
          </a:xfrm>
          <a:prstGeom prst="rect">
            <a:avLst/>
          </a:prstGeom>
          <a:noFill/>
        </p:spPr>
        <p:txBody>
          <a:bodyPr wrap="square" lIns="45720" rIns="45720" tIns="27432" bIns="27432" anchor="ctr">
            <a:noAutofit/>
          </a:bodyPr>
          <a:lstStyle/>
          <a:p>
            <a:pPr algn="l">
              <a:lnSpc>
                <a:spcPct val="100000"/>
              </a:lnSpc>
            </a:pPr>
            <a:r>
              <a:rPr sz="1500" b="1" i="0">
                <a:solidFill>
                  <a:srgbClr val="C98457"/>
                </a:solidFill>
                <a:latin typeface="Palatino Linotype"/>
              </a:rPr>
              <a:t>6   </a:t>
            </a:r>
            <a:r>
              <a:rPr sz="1500" b="0" i="0">
                <a:solidFill>
                  <a:srgbClr val="F7F2E8"/>
                </a:solidFill>
                <a:latin typeface="Segoe UI Semibold"/>
              </a:rPr>
              <a:t>Listar</a:t>
            </a:r>
          </a:p>
        </p:txBody>
      </p:sp>
      <p:sp>
        <p:nvSpPr>
          <p:cNvPr id="36" name="Rounded Rectangle 35"/>
          <p:cNvSpPr/>
          <p:nvPr/>
        </p:nvSpPr>
        <p:spPr>
          <a:xfrm>
            <a:off x="6144768" y="5313970"/>
            <a:ext cx="5479999" cy="428461"/>
          </a:xfrm>
          <a:prstGeom prst="roundRect">
            <a:avLst>
              <a:gd name="adj" fmla="val 42682"/>
            </a:avLst>
          </a:prstGeom>
          <a:solidFill>
            <a:srgbClr val="3BBE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TextBox 36"/>
          <p:cNvSpPr txBox="1"/>
          <p:nvPr/>
        </p:nvSpPr>
        <p:spPr>
          <a:xfrm>
            <a:off x="6327648" y="5332258"/>
            <a:ext cx="5114239" cy="391885"/>
          </a:xfrm>
          <a:prstGeom prst="rect">
            <a:avLst/>
          </a:prstGeom>
          <a:noFill/>
        </p:spPr>
        <p:txBody>
          <a:bodyPr wrap="square" lIns="45720" rIns="45720" tIns="27432" bIns="27432" anchor="ctr">
            <a:noAutofit/>
          </a:bodyPr>
          <a:lstStyle/>
          <a:p>
            <a:pPr algn="l">
              <a:lnSpc>
                <a:spcPct val="100000"/>
              </a:lnSpc>
            </a:pPr>
            <a:r>
              <a:rPr sz="1500" b="1" i="0">
                <a:solidFill>
                  <a:srgbClr val="090E10"/>
                </a:solidFill>
                <a:latin typeface="Palatino Linotype"/>
              </a:rPr>
              <a:t>7   </a:t>
            </a:r>
            <a:r>
              <a:rPr sz="1500" b="0" i="0">
                <a:solidFill>
                  <a:srgbClr val="090E10"/>
                </a:solidFill>
                <a:latin typeface="Segoe UI Semibold"/>
              </a:rPr>
              <a:t>Llamar</a:t>
            </a:r>
          </a:p>
        </p:txBody>
      </p:sp>
      <p:sp>
        <p:nvSpPr>
          <p:cNvPr id="38" name="TextBox 37"/>
          <p:cNvSpPr txBox="1"/>
          <p:nvPr/>
        </p:nvSpPr>
        <p:spPr>
          <a:xfrm>
            <a:off x="6144768" y="5815583"/>
            <a:ext cx="5479999" cy="384048"/>
          </a:xfrm>
          <a:prstGeom prst="rect">
            <a:avLst/>
          </a:prstGeom>
          <a:noFill/>
        </p:spPr>
        <p:txBody>
          <a:bodyPr wrap="square" lIns="45720" rIns="45720" tIns="27432" bIns="27432" anchor="t">
            <a:noAutofit/>
          </a:bodyPr>
          <a:lstStyle/>
          <a:p>
            <a:pPr algn="l">
              <a:lnSpc>
                <a:spcPct val="100000"/>
              </a:lnSpc>
            </a:pPr>
            <a:r>
              <a:rPr sz="1200" b="0" i="1">
                <a:solidFill>
                  <a:srgbClr val="A7B2B0"/>
                </a:solidFill>
                <a:latin typeface="Segoe UI"/>
              </a:rPr>
              <a:t>La skill adding-external-mcp: una secuencia de incorporación protegida.</a:t>
            </a:r>
          </a:p>
        </p:txBody>
      </p:sp>
      <p:cxnSp>
        <p:nvCxnSpPr>
          <p:cNvPr id="39" name="Connector 38"/>
          <p:cNvCxnSpPr/>
          <p:nvPr/>
        </p:nvCxnSpPr>
        <p:spPr>
          <a:xfrm>
            <a:off x="566928" y="6373368"/>
            <a:ext cx="11057839" cy="0"/>
          </a:xfrm>
          <a:prstGeom prst="line">
            <a:avLst/>
          </a:prstGeom>
          <a:ln w="7620">
            <a:solidFill>
              <a:srgbClr val="2A3A40"/>
            </a:solidFill>
          </a:ln>
        </p:spPr>
        <p:style>
          <a:lnRef idx="2">
            <a:schemeClr val="accent1"/>
          </a:lnRef>
          <a:fillRef idx="0">
            <a:schemeClr val="accent1"/>
          </a:fillRef>
          <a:effectRef idx="1">
            <a:schemeClr val="accent1"/>
          </a:effectRef>
          <a:fontRef idx="minor">
            <a:schemeClr val="tx1"/>
          </a:fontRef>
        </p:style>
      </p:cxnSp>
      <p:sp>
        <p:nvSpPr>
          <p:cNvPr id="40" name="TextBox 39"/>
          <p:cNvSpPr txBox="1"/>
          <p:nvPr/>
        </p:nvSpPr>
        <p:spPr>
          <a:xfrm>
            <a:off x="566928" y="6419088"/>
            <a:ext cx="6858000" cy="274320"/>
          </a:xfrm>
          <a:prstGeom prst="rect">
            <a:avLst/>
          </a:prstGeom>
          <a:noFill/>
        </p:spPr>
        <p:txBody>
          <a:bodyPr wrap="square" lIns="45720" rIns="45720" tIns="27432" bIns="27432" anchor="t">
            <a:noAutofit/>
          </a:bodyPr>
          <a:lstStyle/>
          <a:p>
            <a:pPr algn="l">
              <a:lnSpc>
                <a:spcPct val="100000"/>
              </a:lnSpc>
            </a:pPr>
            <a:r>
              <a:rPr sz="850" b="0" i="0" spc="120">
                <a:solidFill>
                  <a:srgbClr val="A7B2B0"/>
                </a:solidFill>
                <a:latin typeface="Segoe UI Semibold"/>
              </a:rPr>
              <a:t>TLAMATINI  ·  V · CAPACIDADES PROFUNDAS</a:t>
            </a:r>
          </a:p>
        </p:txBody>
      </p:sp>
      <p:sp>
        <p:nvSpPr>
          <p:cNvPr id="41" name="TextBox 40"/>
          <p:cNvSpPr txBox="1"/>
          <p:nvPr/>
        </p:nvSpPr>
        <p:spPr>
          <a:xfrm>
            <a:off x="8698687" y="6419088"/>
            <a:ext cx="2926080" cy="274320"/>
          </a:xfrm>
          <a:prstGeom prst="rect">
            <a:avLst/>
          </a:prstGeom>
          <a:noFill/>
        </p:spPr>
        <p:txBody>
          <a:bodyPr wrap="square" lIns="45720" rIns="45720" tIns="27432" bIns="27432" anchor="t">
            <a:noAutofit/>
          </a:bodyPr>
          <a:lstStyle/>
          <a:p>
            <a:pPr algn="r">
              <a:lnSpc>
                <a:spcPct val="100000"/>
              </a:lnSpc>
            </a:pPr>
            <a:r>
              <a:rPr sz="850" b="0" i="0" spc="100">
                <a:solidFill>
                  <a:srgbClr val="A7B2B0"/>
                </a:solidFill>
                <a:latin typeface="Segoe UI Semibold"/>
              </a:rPr>
              <a:t>v1.91.1   ·   82</a:t>
            </a:r>
          </a:p>
        </p:txBody>
      </p:sp>
    </p:spTree>
  </p:cSld>
  <p:clrMapOvr>
    <a:masterClrMapping/>
  </p:clrMapOvr>
</p:sld>
</file>

<file path=ppt/slides/slide8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content.png"/>
          <p:cNvPicPr>
            <a:picLocks noChangeAspect="1"/>
          </p:cNvPicPr>
          <p:nvPr/>
        </p:nvPicPr>
        <p:blipFill>
          <a:blip r:embed="rId2"/>
          <a:stretch>
            <a:fillRect/>
          </a:stretch>
        </p:blipFill>
        <p:spPr>
          <a:xfrm>
            <a:off x="0" y="0"/>
            <a:ext cx="12191695" cy="6858000"/>
          </a:xfrm>
          <a:prstGeom prst="rect">
            <a:avLst/>
          </a:prstGeom>
        </p:spPr>
      </p:pic>
      <p:sp>
        <p:nvSpPr>
          <p:cNvPr id="3" name="Diamond 2"/>
          <p:cNvSpPr/>
          <p:nvPr/>
        </p:nvSpPr>
        <p:spPr>
          <a:xfrm>
            <a:off x="566928" y="457200"/>
            <a:ext cx="100584" cy="100584"/>
          </a:xfrm>
          <a:prstGeom prst="diamond">
            <a:avLst/>
          </a:prstGeom>
          <a:solidFill>
            <a:srgbClr val="46D2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49808" y="365760"/>
            <a:ext cx="8229600" cy="292608"/>
          </a:xfrm>
          <a:prstGeom prst="rect">
            <a:avLst/>
          </a:prstGeom>
          <a:noFill/>
        </p:spPr>
        <p:txBody>
          <a:bodyPr wrap="square" lIns="45720" rIns="45720" tIns="27432" bIns="27432" anchor="t">
            <a:noAutofit/>
          </a:bodyPr>
          <a:lstStyle/>
          <a:p>
            <a:pPr algn="l">
              <a:lnSpc>
                <a:spcPct val="100000"/>
              </a:lnSpc>
            </a:pPr>
            <a:r>
              <a:rPr sz="1100" b="0" i="0" spc="240">
                <a:solidFill>
                  <a:srgbClr val="C98457"/>
                </a:solidFill>
                <a:latin typeface="Segoe UI Semibold"/>
              </a:rPr>
              <a:t>SKILLS</a:t>
            </a:r>
          </a:p>
        </p:txBody>
      </p:sp>
      <p:sp>
        <p:nvSpPr>
          <p:cNvPr id="5" name="TextBox 4"/>
          <p:cNvSpPr txBox="1"/>
          <p:nvPr/>
        </p:nvSpPr>
        <p:spPr>
          <a:xfrm>
            <a:off x="539496" y="676656"/>
            <a:ext cx="11057839" cy="658368"/>
          </a:xfrm>
          <a:prstGeom prst="rect">
            <a:avLst/>
          </a:prstGeom>
          <a:noFill/>
        </p:spPr>
        <p:txBody>
          <a:bodyPr wrap="square" lIns="45720" rIns="45720" tIns="27432" bIns="27432" anchor="t">
            <a:noAutofit/>
          </a:bodyPr>
          <a:lstStyle/>
          <a:p>
            <a:pPr algn="l">
              <a:lnSpc>
                <a:spcPct val="100000"/>
              </a:lnSpc>
            </a:pPr>
            <a:r>
              <a:rPr sz="3100" b="0" i="0">
                <a:solidFill>
                  <a:srgbClr val="F7F2E8"/>
                </a:solidFill>
                <a:latin typeface="Palatino Linotype"/>
              </a:rPr>
              <a:t>Procedimientos, entregados completos</a:t>
            </a:r>
          </a:p>
        </p:txBody>
      </p:sp>
      <p:sp>
        <p:nvSpPr>
          <p:cNvPr id="6" name="Rectangle 5"/>
          <p:cNvSpPr/>
          <p:nvPr/>
        </p:nvSpPr>
        <p:spPr>
          <a:xfrm>
            <a:off x="566928" y="1344168"/>
            <a:ext cx="822960" cy="36576"/>
          </a:xfrm>
          <a:prstGeom prst="rect">
            <a:avLst/>
          </a:prstGeom>
          <a:solidFill>
            <a:srgbClr val="46D2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566928" y="1444752"/>
            <a:ext cx="10692079" cy="585216"/>
          </a:xfrm>
          <a:prstGeom prst="rect">
            <a:avLst/>
          </a:prstGeom>
          <a:noFill/>
        </p:spPr>
        <p:txBody>
          <a:bodyPr wrap="square" lIns="45720" rIns="45720" tIns="27432" bIns="27432" anchor="t">
            <a:noAutofit/>
          </a:bodyPr>
          <a:lstStyle/>
          <a:p>
            <a:pPr algn="l">
              <a:lnSpc>
                <a:spcPct val="100000"/>
              </a:lnSpc>
            </a:pPr>
            <a:r>
              <a:rPr sz="1450" b="0" i="0">
                <a:solidFill>
                  <a:srgbClr val="A7B2B0"/>
                </a:solidFill>
                <a:latin typeface="Segoe UI Semilight"/>
              </a:rPr>
              <a:t>29 paquetes </a:t>
            </a:r>
            <a:r>
              <a:rPr sz="1350" b="0" i="0">
                <a:solidFill>
                  <a:srgbClr val="E2B462"/>
                </a:solidFill>
                <a:latin typeface="Consolas"/>
              </a:rPr>
              <a:t>SKILL.md</a:t>
            </a:r>
            <a:r>
              <a:rPr sz="1450" b="0" i="0">
                <a:solidFill>
                  <a:srgbClr val="A7B2B0"/>
                </a:solidFill>
                <a:latin typeface="Segoe UI Semilight"/>
              </a:rPr>
              <a:t> se cargan al arrancar y se le ofrecen al modelo por medio de </a:t>
            </a:r>
            <a:r>
              <a:rPr sz="1350" b="0" i="0">
                <a:solidFill>
                  <a:srgbClr val="E2B462"/>
                </a:solidFill>
                <a:latin typeface="Consolas"/>
              </a:rPr>
              <a:t>list_skills</a:t>
            </a:r>
            <a:r>
              <a:rPr sz="1450" b="0" i="0">
                <a:solidFill>
                  <a:srgbClr val="A7B2B0"/>
                </a:solidFill>
                <a:latin typeface="Segoe UI Semilight"/>
              </a:rPr>
              <a:t> e </a:t>
            </a:r>
            <a:r>
              <a:rPr sz="1350" b="0" i="0">
                <a:solidFill>
                  <a:srgbClr val="E2B462"/>
                </a:solidFill>
                <a:latin typeface="Consolas"/>
              </a:rPr>
              <a:t>invoke_skill</a:t>
            </a:r>
            <a:r>
              <a:rPr sz="1450" b="0" i="0">
                <a:solidFill>
                  <a:srgbClr val="A7B2B0"/>
                </a:solidFill>
                <a:latin typeface="Segoe UI Semilight"/>
              </a:rPr>
              <a:t>.</a:t>
            </a:r>
          </a:p>
        </p:txBody>
      </p:sp>
      <p:sp>
        <p:nvSpPr>
          <p:cNvPr id="8" name="Rounded Rectangle 7"/>
          <p:cNvSpPr/>
          <p:nvPr/>
        </p:nvSpPr>
        <p:spPr>
          <a:xfrm>
            <a:off x="566928" y="2084831"/>
            <a:ext cx="11057839" cy="932688"/>
          </a:xfrm>
          <a:prstGeom prst="roundRect">
            <a:avLst>
              <a:gd name="adj" fmla="val 9803"/>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Diamond 8"/>
          <p:cNvSpPr/>
          <p:nvPr/>
        </p:nvSpPr>
        <p:spPr>
          <a:xfrm>
            <a:off x="768096" y="2487168"/>
            <a:ext cx="128016" cy="128016"/>
          </a:xfrm>
          <a:prstGeom prst="diamond">
            <a:avLst/>
          </a:prstGeom>
          <a:solidFill>
            <a:srgbClr val="3BBE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1024128" y="2139696"/>
            <a:ext cx="2651760" cy="822960"/>
          </a:xfrm>
          <a:prstGeom prst="rect">
            <a:avLst/>
          </a:prstGeom>
          <a:noFill/>
        </p:spPr>
        <p:txBody>
          <a:bodyPr wrap="square" lIns="45720" rIns="45720" tIns="27432" bIns="27432" anchor="ctr">
            <a:noAutofit/>
          </a:bodyPr>
          <a:lstStyle/>
          <a:p>
            <a:pPr algn="l">
              <a:lnSpc>
                <a:spcPct val="100000"/>
              </a:lnSpc>
            </a:pPr>
            <a:r>
              <a:rPr sz="1600" b="0" i="0">
                <a:solidFill>
                  <a:srgbClr val="F7F2E8"/>
                </a:solidFill>
                <a:latin typeface="Segoe UI Semibold"/>
              </a:rPr>
              <a:t>Catálogo</a:t>
            </a:r>
          </a:p>
        </p:txBody>
      </p:sp>
      <p:sp>
        <p:nvSpPr>
          <p:cNvPr id="11" name="TextBox 10"/>
          <p:cNvSpPr txBox="1"/>
          <p:nvPr/>
        </p:nvSpPr>
        <p:spPr>
          <a:xfrm>
            <a:off x="3767328" y="2139696"/>
            <a:ext cx="7720279" cy="822960"/>
          </a:xfrm>
          <a:prstGeom prst="rect">
            <a:avLst/>
          </a:prstGeom>
          <a:noFill/>
        </p:spPr>
        <p:txBody>
          <a:bodyPr wrap="square" lIns="45720" rIns="45720" tIns="27432" bIns="27432" anchor="ctr">
            <a:noAutofit/>
          </a:bodyPr>
          <a:lstStyle/>
          <a:p>
            <a:pPr algn="l">
              <a:lnSpc>
                <a:spcPct val="100000"/>
              </a:lnSpc>
            </a:pPr>
            <a:r>
              <a:rPr sz="1400" b="0" i="0">
                <a:solidFill>
                  <a:srgbClr val="A7B2B0"/>
                </a:solidFill>
                <a:latin typeface="Segoe UI"/>
              </a:rPr>
              <a:t>29 paquetes, validados por una sola rutina compartida.</a:t>
            </a:r>
          </a:p>
        </p:txBody>
      </p:sp>
      <p:sp>
        <p:nvSpPr>
          <p:cNvPr id="12" name="Rounded Rectangle 11"/>
          <p:cNvSpPr/>
          <p:nvPr/>
        </p:nvSpPr>
        <p:spPr>
          <a:xfrm>
            <a:off x="566928" y="3145536"/>
            <a:ext cx="11057839" cy="932688"/>
          </a:xfrm>
          <a:prstGeom prst="roundRect">
            <a:avLst>
              <a:gd name="adj" fmla="val 9803"/>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Diamond 12"/>
          <p:cNvSpPr/>
          <p:nvPr/>
        </p:nvSpPr>
        <p:spPr>
          <a:xfrm>
            <a:off x="768096" y="3547872"/>
            <a:ext cx="128016" cy="128016"/>
          </a:xfrm>
          <a:prstGeom prst="diamond">
            <a:avLst/>
          </a:prstGeom>
          <a:solidFill>
            <a:srgbClr val="C984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1024128" y="3200400"/>
            <a:ext cx="2651760" cy="822960"/>
          </a:xfrm>
          <a:prstGeom prst="rect">
            <a:avLst/>
          </a:prstGeom>
          <a:noFill/>
        </p:spPr>
        <p:txBody>
          <a:bodyPr wrap="square" lIns="45720" rIns="45720" tIns="27432" bIns="27432" anchor="ctr">
            <a:noAutofit/>
          </a:bodyPr>
          <a:lstStyle/>
          <a:p>
            <a:pPr algn="l">
              <a:lnSpc>
                <a:spcPct val="100000"/>
              </a:lnSpc>
            </a:pPr>
            <a:r>
              <a:rPr sz="1600" b="0" i="0">
                <a:solidFill>
                  <a:srgbClr val="F7F2E8"/>
                </a:solidFill>
                <a:latin typeface="Segoe UI Semibold"/>
              </a:rPr>
              <a:t>Entrega</a:t>
            </a:r>
          </a:p>
        </p:txBody>
      </p:sp>
      <p:sp>
        <p:nvSpPr>
          <p:cNvPr id="15" name="TextBox 14"/>
          <p:cNvSpPr txBox="1"/>
          <p:nvPr/>
        </p:nvSpPr>
        <p:spPr>
          <a:xfrm>
            <a:off x="3767328" y="3200400"/>
            <a:ext cx="7720279" cy="822960"/>
          </a:xfrm>
          <a:prstGeom prst="rect">
            <a:avLst/>
          </a:prstGeom>
          <a:noFill/>
        </p:spPr>
        <p:txBody>
          <a:bodyPr wrap="square" lIns="45720" rIns="45720" tIns="27432" bIns="27432" anchor="ctr">
            <a:noAutofit/>
          </a:bodyPr>
          <a:lstStyle/>
          <a:p>
            <a:pPr algn="l">
              <a:lnSpc>
                <a:spcPct val="100000"/>
              </a:lnSpc>
            </a:pPr>
            <a:r>
              <a:rPr sz="1400" b="0" i="0">
                <a:solidFill>
                  <a:srgbClr val="A7B2B0"/>
                </a:solidFill>
                <a:latin typeface="Segoe UI"/>
              </a:rPr>
              <a:t>invoke_skill devuelve el procedimiento completo y los outputs que todavía se deben.</a:t>
            </a:r>
          </a:p>
        </p:txBody>
      </p:sp>
      <p:sp>
        <p:nvSpPr>
          <p:cNvPr id="16" name="Rounded Rectangle 15"/>
          <p:cNvSpPr/>
          <p:nvPr/>
        </p:nvSpPr>
        <p:spPr>
          <a:xfrm>
            <a:off x="566928" y="4206240"/>
            <a:ext cx="11057839" cy="932688"/>
          </a:xfrm>
          <a:prstGeom prst="roundRect">
            <a:avLst>
              <a:gd name="adj" fmla="val 9803"/>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Diamond 16"/>
          <p:cNvSpPr/>
          <p:nvPr/>
        </p:nvSpPr>
        <p:spPr>
          <a:xfrm>
            <a:off x="768096" y="4608575"/>
            <a:ext cx="128016" cy="128016"/>
          </a:xfrm>
          <a:prstGeom prst="diamond">
            <a:avLst/>
          </a:prstGeom>
          <a:solidFill>
            <a:srgbClr val="E2B4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1024128" y="4261103"/>
            <a:ext cx="2651760" cy="822960"/>
          </a:xfrm>
          <a:prstGeom prst="rect">
            <a:avLst/>
          </a:prstGeom>
          <a:noFill/>
        </p:spPr>
        <p:txBody>
          <a:bodyPr wrap="square" lIns="45720" rIns="45720" tIns="27432" bIns="27432" anchor="ctr">
            <a:noAutofit/>
          </a:bodyPr>
          <a:lstStyle/>
          <a:p>
            <a:pPr algn="l">
              <a:lnSpc>
                <a:spcPct val="100000"/>
              </a:lnSpc>
            </a:pPr>
            <a:r>
              <a:rPr sz="1600" b="0" i="0">
                <a:solidFill>
                  <a:srgbClr val="F7F2E8"/>
                </a:solidFill>
                <a:latin typeface="Segoe UI Semibold"/>
              </a:rPr>
              <a:t>Cumplimiento honesto</a:t>
            </a:r>
          </a:p>
        </p:txBody>
      </p:sp>
      <p:sp>
        <p:nvSpPr>
          <p:cNvPr id="19" name="TextBox 18"/>
          <p:cNvSpPr txBox="1"/>
          <p:nvPr/>
        </p:nvSpPr>
        <p:spPr>
          <a:xfrm>
            <a:off x="3767328" y="4261103"/>
            <a:ext cx="7720279" cy="822960"/>
          </a:xfrm>
          <a:prstGeom prst="rect">
            <a:avLst/>
          </a:prstGeom>
          <a:noFill/>
        </p:spPr>
        <p:txBody>
          <a:bodyPr wrap="square" lIns="45720" rIns="45720" tIns="27432" bIns="27432" anchor="ctr">
            <a:noAutofit/>
          </a:bodyPr>
          <a:lstStyle/>
          <a:p>
            <a:pPr algn="l">
              <a:lnSpc>
                <a:spcPct val="100000"/>
              </a:lnSpc>
            </a:pPr>
            <a:r>
              <a:rPr sz="1400" b="0" i="0">
                <a:solidFill>
                  <a:srgbClr val="A7B2B0"/>
                </a:solidFill>
                <a:latin typeface="Segoe UI"/>
              </a:rPr>
              <a:t>Dice qué se hace cumplir y qué es política declarada.</a:t>
            </a:r>
          </a:p>
        </p:txBody>
      </p:sp>
      <p:sp>
        <p:nvSpPr>
          <p:cNvPr id="20" name="Rounded Rectangle 19"/>
          <p:cNvSpPr/>
          <p:nvPr/>
        </p:nvSpPr>
        <p:spPr>
          <a:xfrm>
            <a:off x="566928" y="5266944"/>
            <a:ext cx="11057839" cy="932688"/>
          </a:xfrm>
          <a:prstGeom prst="roundRect">
            <a:avLst>
              <a:gd name="adj" fmla="val 9803"/>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Diamond 20"/>
          <p:cNvSpPr/>
          <p:nvPr/>
        </p:nvSpPr>
        <p:spPr>
          <a:xfrm>
            <a:off x="768096" y="5669279"/>
            <a:ext cx="128016" cy="128016"/>
          </a:xfrm>
          <a:prstGeom prst="diamond">
            <a:avLst/>
          </a:prstGeom>
          <a:solidFill>
            <a:srgbClr val="46D2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1024128" y="5321807"/>
            <a:ext cx="2651760" cy="822960"/>
          </a:xfrm>
          <a:prstGeom prst="rect">
            <a:avLst/>
          </a:prstGeom>
          <a:noFill/>
        </p:spPr>
        <p:txBody>
          <a:bodyPr wrap="square" lIns="45720" rIns="45720" tIns="27432" bIns="27432" anchor="ctr">
            <a:noAutofit/>
          </a:bodyPr>
          <a:lstStyle/>
          <a:p>
            <a:pPr algn="l">
              <a:lnSpc>
                <a:spcPct val="100000"/>
              </a:lnSpc>
            </a:pPr>
            <a:r>
              <a:rPr sz="1600" b="0" i="0">
                <a:solidFill>
                  <a:srgbClr val="F7F2E8"/>
                </a:solidFill>
                <a:latin typeface="Segoe UI Semibold"/>
              </a:rPr>
              <a:t>Administradas</a:t>
            </a:r>
          </a:p>
        </p:txBody>
      </p:sp>
      <p:sp>
        <p:nvSpPr>
          <p:cNvPr id="23" name="TextBox 22"/>
          <p:cNvSpPr txBox="1"/>
          <p:nvPr/>
        </p:nvSpPr>
        <p:spPr>
          <a:xfrm>
            <a:off x="3767328" y="5321807"/>
            <a:ext cx="7720279" cy="822960"/>
          </a:xfrm>
          <a:prstGeom prst="rect">
            <a:avLst/>
          </a:prstGeom>
          <a:noFill/>
        </p:spPr>
        <p:txBody>
          <a:bodyPr wrap="square" lIns="45720" rIns="45720" tIns="27432" bIns="27432" anchor="ctr">
            <a:noAutofit/>
          </a:bodyPr>
          <a:lstStyle/>
          <a:p>
            <a:pPr algn="l">
              <a:lnSpc>
                <a:spcPct val="100000"/>
              </a:lnSpc>
            </a:pPr>
            <a:r>
              <a:rPr sz="1400" b="0" i="0">
                <a:solidFill>
                  <a:srgbClr val="A7B2B0"/>
                </a:solidFill>
                <a:latin typeface="Segoe UI"/>
              </a:rPr>
              <a:t>Examinar, Configurar, Diagnósticos y Recargar desde el menú.</a:t>
            </a:r>
          </a:p>
        </p:txBody>
      </p:sp>
      <p:cxnSp>
        <p:nvCxnSpPr>
          <p:cNvPr id="24" name="Connector 23"/>
          <p:cNvCxnSpPr/>
          <p:nvPr/>
        </p:nvCxnSpPr>
        <p:spPr>
          <a:xfrm>
            <a:off x="566928" y="6373368"/>
            <a:ext cx="11057839" cy="0"/>
          </a:xfrm>
          <a:prstGeom prst="line">
            <a:avLst/>
          </a:prstGeom>
          <a:ln w="7620">
            <a:solidFill>
              <a:srgbClr val="2A3A40"/>
            </a:solidFill>
          </a:ln>
        </p:spPr>
        <p:style>
          <a:lnRef idx="2">
            <a:schemeClr val="accent1"/>
          </a:lnRef>
          <a:fillRef idx="0">
            <a:schemeClr val="accent1"/>
          </a:fillRef>
          <a:effectRef idx="1">
            <a:schemeClr val="accent1"/>
          </a:effectRef>
          <a:fontRef idx="minor">
            <a:schemeClr val="tx1"/>
          </a:fontRef>
        </p:style>
      </p:cxnSp>
      <p:sp>
        <p:nvSpPr>
          <p:cNvPr id="25" name="TextBox 24"/>
          <p:cNvSpPr txBox="1"/>
          <p:nvPr/>
        </p:nvSpPr>
        <p:spPr>
          <a:xfrm>
            <a:off x="566928" y="6419088"/>
            <a:ext cx="6858000" cy="274320"/>
          </a:xfrm>
          <a:prstGeom prst="rect">
            <a:avLst/>
          </a:prstGeom>
          <a:noFill/>
        </p:spPr>
        <p:txBody>
          <a:bodyPr wrap="square" lIns="45720" rIns="45720" tIns="27432" bIns="27432" anchor="t">
            <a:noAutofit/>
          </a:bodyPr>
          <a:lstStyle/>
          <a:p>
            <a:pPr algn="l">
              <a:lnSpc>
                <a:spcPct val="100000"/>
              </a:lnSpc>
            </a:pPr>
            <a:r>
              <a:rPr sz="850" b="0" i="0" spc="120">
                <a:solidFill>
                  <a:srgbClr val="A7B2B0"/>
                </a:solidFill>
                <a:latin typeface="Segoe UI Semibold"/>
              </a:rPr>
              <a:t>TLAMATINI  ·  V · CAPACIDADES PROFUNDAS</a:t>
            </a:r>
          </a:p>
        </p:txBody>
      </p:sp>
      <p:sp>
        <p:nvSpPr>
          <p:cNvPr id="26" name="TextBox 25"/>
          <p:cNvSpPr txBox="1"/>
          <p:nvPr/>
        </p:nvSpPr>
        <p:spPr>
          <a:xfrm>
            <a:off x="8698687" y="6419088"/>
            <a:ext cx="2926080" cy="274320"/>
          </a:xfrm>
          <a:prstGeom prst="rect">
            <a:avLst/>
          </a:prstGeom>
          <a:noFill/>
        </p:spPr>
        <p:txBody>
          <a:bodyPr wrap="square" lIns="45720" rIns="45720" tIns="27432" bIns="27432" anchor="t">
            <a:noAutofit/>
          </a:bodyPr>
          <a:lstStyle/>
          <a:p>
            <a:pPr algn="r">
              <a:lnSpc>
                <a:spcPct val="100000"/>
              </a:lnSpc>
            </a:pPr>
            <a:r>
              <a:rPr sz="850" b="0" i="0" spc="100">
                <a:solidFill>
                  <a:srgbClr val="A7B2B0"/>
                </a:solidFill>
                <a:latin typeface="Segoe UI Semibold"/>
              </a:rPr>
              <a:t>v1.91.1   ·   83</a:t>
            </a:r>
          </a:p>
        </p:txBody>
      </p:sp>
    </p:spTree>
  </p:cSld>
  <p:clrMapOvr>
    <a:masterClrMapping/>
  </p:clrMapOvr>
</p:sld>
</file>

<file path=ppt/slides/slide8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content.png"/>
          <p:cNvPicPr>
            <a:picLocks noChangeAspect="1"/>
          </p:cNvPicPr>
          <p:nvPr/>
        </p:nvPicPr>
        <p:blipFill>
          <a:blip r:embed="rId2"/>
          <a:stretch>
            <a:fillRect/>
          </a:stretch>
        </p:blipFill>
        <p:spPr>
          <a:xfrm>
            <a:off x="0" y="0"/>
            <a:ext cx="12191695" cy="6858000"/>
          </a:xfrm>
          <a:prstGeom prst="rect">
            <a:avLst/>
          </a:prstGeom>
        </p:spPr>
      </p:pic>
      <p:sp>
        <p:nvSpPr>
          <p:cNvPr id="3" name="Diamond 2"/>
          <p:cNvSpPr/>
          <p:nvPr/>
        </p:nvSpPr>
        <p:spPr>
          <a:xfrm>
            <a:off x="566928" y="457200"/>
            <a:ext cx="100584" cy="100584"/>
          </a:xfrm>
          <a:prstGeom prst="diamond">
            <a:avLst/>
          </a:prstGeom>
          <a:solidFill>
            <a:srgbClr val="46D2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49808" y="365760"/>
            <a:ext cx="8229600" cy="292608"/>
          </a:xfrm>
          <a:prstGeom prst="rect">
            <a:avLst/>
          </a:prstGeom>
          <a:noFill/>
        </p:spPr>
        <p:txBody>
          <a:bodyPr wrap="square" lIns="45720" rIns="45720" tIns="27432" bIns="27432" anchor="t">
            <a:noAutofit/>
          </a:bodyPr>
          <a:lstStyle/>
          <a:p>
            <a:pPr algn="l">
              <a:lnSpc>
                <a:spcPct val="100000"/>
              </a:lnSpc>
            </a:pPr>
            <a:r>
              <a:rPr sz="1100" b="0" i="0" spc="240">
                <a:solidFill>
                  <a:srgbClr val="C98457"/>
                </a:solidFill>
                <a:latin typeface="Segoe UI Semibold"/>
              </a:rPr>
              <a:t>SKILLS</a:t>
            </a:r>
          </a:p>
        </p:txBody>
      </p:sp>
      <p:sp>
        <p:nvSpPr>
          <p:cNvPr id="5" name="TextBox 4"/>
          <p:cNvSpPr txBox="1"/>
          <p:nvPr/>
        </p:nvSpPr>
        <p:spPr>
          <a:xfrm>
            <a:off x="539496" y="676656"/>
            <a:ext cx="11057839" cy="658368"/>
          </a:xfrm>
          <a:prstGeom prst="rect">
            <a:avLst/>
          </a:prstGeom>
          <a:noFill/>
        </p:spPr>
        <p:txBody>
          <a:bodyPr wrap="square" lIns="45720" rIns="45720" tIns="27432" bIns="27432" anchor="t">
            <a:noAutofit/>
          </a:bodyPr>
          <a:lstStyle/>
          <a:p>
            <a:pPr algn="l">
              <a:lnSpc>
                <a:spcPct val="100000"/>
              </a:lnSpc>
            </a:pPr>
            <a:r>
              <a:rPr sz="3100" b="0" i="0">
                <a:solidFill>
                  <a:srgbClr val="F7F2E8"/>
                </a:solidFill>
                <a:latin typeface="Palatino Linotype"/>
              </a:rPr>
              <a:t>Las credenciales se quedan adentro</a:t>
            </a:r>
          </a:p>
        </p:txBody>
      </p:sp>
      <p:sp>
        <p:nvSpPr>
          <p:cNvPr id="6" name="Rectangle 5"/>
          <p:cNvSpPr/>
          <p:nvPr/>
        </p:nvSpPr>
        <p:spPr>
          <a:xfrm>
            <a:off x="566928" y="1344168"/>
            <a:ext cx="822960" cy="36576"/>
          </a:xfrm>
          <a:prstGeom prst="rect">
            <a:avLst/>
          </a:prstGeom>
          <a:solidFill>
            <a:srgbClr val="46D2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ounded Rectangle 6"/>
          <p:cNvSpPr/>
          <p:nvPr/>
        </p:nvSpPr>
        <p:spPr>
          <a:xfrm>
            <a:off x="566928" y="1810511"/>
            <a:ext cx="11057839" cy="3291840"/>
          </a:xfrm>
          <a:prstGeom prst="roundRect">
            <a:avLst>
              <a:gd name="adj" fmla="val 4444"/>
            </a:avLst>
          </a:prstGeom>
          <a:solidFill>
            <a:srgbClr val="121A1D"/>
          </a:solidFill>
          <a:ln w="19050">
            <a:solidFill>
              <a:srgbClr val="46D2E2"/>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ectangle 7"/>
          <p:cNvSpPr/>
          <p:nvPr/>
        </p:nvSpPr>
        <p:spPr>
          <a:xfrm>
            <a:off x="566928" y="1810511"/>
            <a:ext cx="109728" cy="3291840"/>
          </a:xfrm>
          <a:prstGeom prst="rect">
            <a:avLst/>
          </a:prstGeom>
          <a:solidFill>
            <a:srgbClr val="46D2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115568" y="2039112"/>
            <a:ext cx="9960559" cy="2834640"/>
          </a:xfrm>
          <a:prstGeom prst="rect">
            <a:avLst/>
          </a:prstGeom>
          <a:noFill/>
        </p:spPr>
        <p:txBody>
          <a:bodyPr wrap="square" lIns="45720" rIns="45720" tIns="27432" bIns="27432" anchor="ctr">
            <a:noAutofit/>
          </a:bodyPr>
          <a:lstStyle/>
          <a:p>
            <a:pPr algn="l">
              <a:lnSpc>
                <a:spcPct val="100000"/>
              </a:lnSpc>
            </a:pPr>
            <a:r>
              <a:rPr sz="2600" b="0" i="0">
                <a:solidFill>
                  <a:srgbClr val="F7F2E8"/>
                </a:solidFill>
                <a:latin typeface="Segoe UI Light"/>
              </a:rPr>
              <a:t>Un input marcado como sensible, o con nombre de credencial, se redacta de todos los eventos de auditoría y del resultado devuelto: sin prefijo, sin longitud, sin hash.</a:t>
            </a:r>
          </a:p>
        </p:txBody>
      </p:sp>
      <p:sp>
        <p:nvSpPr>
          <p:cNvPr id="10" name="TextBox 9"/>
          <p:cNvSpPr txBox="1"/>
          <p:nvPr/>
        </p:nvSpPr>
        <p:spPr>
          <a:xfrm>
            <a:off x="566928" y="5230368"/>
            <a:ext cx="11057839" cy="457200"/>
          </a:xfrm>
          <a:prstGeom prst="rect">
            <a:avLst/>
          </a:prstGeom>
          <a:noFill/>
        </p:spPr>
        <p:txBody>
          <a:bodyPr wrap="square" lIns="45720" rIns="45720" tIns="27432" bIns="27432" anchor="t">
            <a:noAutofit/>
          </a:bodyPr>
          <a:lstStyle/>
          <a:p>
            <a:pPr algn="l">
              <a:lnSpc>
                <a:spcPct val="100000"/>
              </a:lnSpc>
            </a:pPr>
            <a:r>
              <a:rPr sz="1300" b="0" i="1">
                <a:solidFill>
                  <a:srgbClr val="A7B2B0"/>
                </a:solidFill>
                <a:latin typeface="Segoe UI"/>
              </a:rPr>
              <a:t>De “Procedimientos, entregados completos”</a:t>
            </a:r>
          </a:p>
        </p:txBody>
      </p:sp>
      <p:cxnSp>
        <p:nvCxnSpPr>
          <p:cNvPr id="11" name="Connector 10"/>
          <p:cNvCxnSpPr/>
          <p:nvPr/>
        </p:nvCxnSpPr>
        <p:spPr>
          <a:xfrm>
            <a:off x="566928" y="6373368"/>
            <a:ext cx="11057839" cy="0"/>
          </a:xfrm>
          <a:prstGeom prst="line">
            <a:avLst/>
          </a:prstGeom>
          <a:ln w="7620">
            <a:solidFill>
              <a:srgbClr val="2A3A40"/>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566928" y="6419088"/>
            <a:ext cx="6858000" cy="274320"/>
          </a:xfrm>
          <a:prstGeom prst="rect">
            <a:avLst/>
          </a:prstGeom>
          <a:noFill/>
        </p:spPr>
        <p:txBody>
          <a:bodyPr wrap="square" lIns="45720" rIns="45720" tIns="27432" bIns="27432" anchor="t">
            <a:noAutofit/>
          </a:bodyPr>
          <a:lstStyle/>
          <a:p>
            <a:pPr algn="l">
              <a:lnSpc>
                <a:spcPct val="100000"/>
              </a:lnSpc>
            </a:pPr>
            <a:r>
              <a:rPr sz="850" b="0" i="0" spc="120">
                <a:solidFill>
                  <a:srgbClr val="A7B2B0"/>
                </a:solidFill>
                <a:latin typeface="Segoe UI Semibold"/>
              </a:rPr>
              <a:t>TLAMATINI  ·  V · CAPACIDADES PROFUNDAS</a:t>
            </a:r>
          </a:p>
        </p:txBody>
      </p:sp>
      <p:sp>
        <p:nvSpPr>
          <p:cNvPr id="13" name="TextBox 12"/>
          <p:cNvSpPr txBox="1"/>
          <p:nvPr/>
        </p:nvSpPr>
        <p:spPr>
          <a:xfrm>
            <a:off x="8698687" y="6419088"/>
            <a:ext cx="2926080" cy="274320"/>
          </a:xfrm>
          <a:prstGeom prst="rect">
            <a:avLst/>
          </a:prstGeom>
          <a:noFill/>
        </p:spPr>
        <p:txBody>
          <a:bodyPr wrap="square" lIns="45720" rIns="45720" tIns="27432" bIns="27432" anchor="t">
            <a:noAutofit/>
          </a:bodyPr>
          <a:lstStyle/>
          <a:p>
            <a:pPr algn="r">
              <a:lnSpc>
                <a:spcPct val="100000"/>
              </a:lnSpc>
            </a:pPr>
            <a:r>
              <a:rPr sz="850" b="0" i="0" spc="100">
                <a:solidFill>
                  <a:srgbClr val="A7B2B0"/>
                </a:solidFill>
                <a:latin typeface="Segoe UI Semibold"/>
              </a:rPr>
              <a:t>v1.91.1   ·   84</a:t>
            </a:r>
          </a:p>
        </p:txBody>
      </p:sp>
    </p:spTree>
  </p:cSld>
  <p:clrMapOvr>
    <a:masterClrMapping/>
  </p:clrMapOvr>
</p:sld>
</file>

<file path=ppt/slides/slide8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content.png"/>
          <p:cNvPicPr>
            <a:picLocks noChangeAspect="1"/>
          </p:cNvPicPr>
          <p:nvPr/>
        </p:nvPicPr>
        <p:blipFill>
          <a:blip r:embed="rId2"/>
          <a:stretch>
            <a:fillRect/>
          </a:stretch>
        </p:blipFill>
        <p:spPr>
          <a:xfrm>
            <a:off x="0" y="0"/>
            <a:ext cx="12191695" cy="6858000"/>
          </a:xfrm>
          <a:prstGeom prst="rect">
            <a:avLst/>
          </a:prstGeom>
        </p:spPr>
      </p:pic>
      <p:sp>
        <p:nvSpPr>
          <p:cNvPr id="3" name="Diamond 2"/>
          <p:cNvSpPr/>
          <p:nvPr/>
        </p:nvSpPr>
        <p:spPr>
          <a:xfrm>
            <a:off x="566928" y="457200"/>
            <a:ext cx="100584" cy="100584"/>
          </a:xfrm>
          <a:prstGeom prst="diamond">
            <a:avLst/>
          </a:prstGeom>
          <a:solidFill>
            <a:srgbClr val="46D2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49808" y="365760"/>
            <a:ext cx="8229600" cy="292608"/>
          </a:xfrm>
          <a:prstGeom prst="rect">
            <a:avLst/>
          </a:prstGeom>
          <a:noFill/>
        </p:spPr>
        <p:txBody>
          <a:bodyPr wrap="square" lIns="45720" rIns="45720" tIns="27432" bIns="27432" anchor="t">
            <a:noAutofit/>
          </a:bodyPr>
          <a:lstStyle/>
          <a:p>
            <a:pPr algn="l">
              <a:lnSpc>
                <a:spcPct val="100000"/>
              </a:lnSpc>
            </a:pPr>
            <a:r>
              <a:rPr sz="1100" b="0" i="0" spc="240">
                <a:solidFill>
                  <a:srgbClr val="C98457"/>
                </a:solidFill>
                <a:latin typeface="Segoe UI Semibold"/>
              </a:rPr>
              <a:t>LA FAMILIA DE DOCUMENTOS</a:t>
            </a:r>
          </a:p>
        </p:txBody>
      </p:sp>
      <p:sp>
        <p:nvSpPr>
          <p:cNvPr id="5" name="TextBox 4"/>
          <p:cNvSpPr txBox="1"/>
          <p:nvPr/>
        </p:nvSpPr>
        <p:spPr>
          <a:xfrm>
            <a:off x="539496" y="676656"/>
            <a:ext cx="11057839" cy="658368"/>
          </a:xfrm>
          <a:prstGeom prst="rect">
            <a:avLst/>
          </a:prstGeom>
          <a:noFill/>
        </p:spPr>
        <p:txBody>
          <a:bodyPr wrap="square" lIns="45720" rIns="45720" tIns="27432" bIns="27432" anchor="t">
            <a:noAutofit/>
          </a:bodyPr>
          <a:lstStyle/>
          <a:p>
            <a:pPr algn="l">
              <a:lnSpc>
                <a:spcPct val="100000"/>
              </a:lnSpc>
            </a:pPr>
            <a:r>
              <a:rPr sz="3100" b="0" i="0">
                <a:solidFill>
                  <a:srgbClr val="F7F2E8"/>
                </a:solidFill>
                <a:latin typeface="Palatino Linotype"/>
              </a:rPr>
              <a:t>Componer, presentar, tipografiar</a:t>
            </a:r>
          </a:p>
        </p:txBody>
      </p:sp>
      <p:sp>
        <p:nvSpPr>
          <p:cNvPr id="6" name="Rectangle 5"/>
          <p:cNvSpPr/>
          <p:nvPr/>
        </p:nvSpPr>
        <p:spPr>
          <a:xfrm>
            <a:off x="566928" y="1344168"/>
            <a:ext cx="822960" cy="36576"/>
          </a:xfrm>
          <a:prstGeom prst="rect">
            <a:avLst/>
          </a:prstGeom>
          <a:solidFill>
            <a:srgbClr val="46D2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566928" y="1444752"/>
            <a:ext cx="10692079" cy="585216"/>
          </a:xfrm>
          <a:prstGeom prst="rect">
            <a:avLst/>
          </a:prstGeom>
          <a:noFill/>
        </p:spPr>
        <p:txBody>
          <a:bodyPr wrap="square" lIns="45720" rIns="45720" tIns="27432" bIns="27432" anchor="t">
            <a:noAutofit/>
          </a:bodyPr>
          <a:lstStyle/>
          <a:p>
            <a:pPr algn="l">
              <a:lnSpc>
                <a:spcPct val="100000"/>
              </a:lnSpc>
            </a:pPr>
            <a:r>
              <a:rPr sz="1450" b="0" i="0">
                <a:solidFill>
                  <a:srgbClr val="A7B2B0"/>
                </a:solidFill>
                <a:latin typeface="Segoe UI Semilight"/>
              </a:rPr>
              <a:t>Tres agents producen documentos, cada uno con su propio oficio, y ninguno da por limpio un archivo sólo porque se creó.</a:t>
            </a:r>
          </a:p>
        </p:txBody>
      </p:sp>
      <p:sp>
        <p:nvSpPr>
          <p:cNvPr id="8" name="Rounded Rectangle 7"/>
          <p:cNvSpPr/>
          <p:nvPr/>
        </p:nvSpPr>
        <p:spPr>
          <a:xfrm>
            <a:off x="566928" y="2084831"/>
            <a:ext cx="11057839" cy="3337560"/>
          </a:xfrm>
          <a:prstGeom prst="roundRect">
            <a:avLst>
              <a:gd name="adj" fmla="val 2191"/>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ounded Rectangle 8"/>
          <p:cNvSpPr/>
          <p:nvPr/>
        </p:nvSpPr>
        <p:spPr>
          <a:xfrm>
            <a:off x="566928" y="2084831"/>
            <a:ext cx="11057839" cy="384048"/>
          </a:xfrm>
          <a:prstGeom prst="roundRect">
            <a:avLst>
              <a:gd name="adj" fmla="val 19047"/>
            </a:avLst>
          </a:prstGeom>
          <a:solidFill>
            <a:srgbClr val="151F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640080" y="2121408"/>
            <a:ext cx="1401793" cy="310896"/>
          </a:xfrm>
          <a:prstGeom prst="rect">
            <a:avLst/>
          </a:prstGeom>
          <a:noFill/>
        </p:spPr>
        <p:txBody>
          <a:bodyPr wrap="square" lIns="45720" rIns="45720" tIns="27432" bIns="27432" anchor="ctr">
            <a:noAutofit/>
          </a:bodyPr>
          <a:lstStyle/>
          <a:p>
            <a:pPr algn="l">
              <a:lnSpc>
                <a:spcPct val="100000"/>
              </a:lnSpc>
            </a:pPr>
            <a:r>
              <a:rPr sz="1000" b="0" i="0" spc="120">
                <a:solidFill>
                  <a:srgbClr val="E2B462"/>
                </a:solidFill>
                <a:latin typeface="Segoe UI Semibold"/>
              </a:rPr>
              <a:t>AGENT</a:t>
            </a:r>
          </a:p>
        </p:txBody>
      </p:sp>
      <p:sp>
        <p:nvSpPr>
          <p:cNvPr id="11" name="TextBox 10"/>
          <p:cNvSpPr txBox="1"/>
          <p:nvPr/>
        </p:nvSpPr>
        <p:spPr>
          <a:xfrm>
            <a:off x="2188177" y="2121408"/>
            <a:ext cx="2507577" cy="310896"/>
          </a:xfrm>
          <a:prstGeom prst="rect">
            <a:avLst/>
          </a:prstGeom>
          <a:noFill/>
        </p:spPr>
        <p:txBody>
          <a:bodyPr wrap="square" lIns="45720" rIns="45720" tIns="27432" bIns="27432" anchor="ctr">
            <a:noAutofit/>
          </a:bodyPr>
          <a:lstStyle/>
          <a:p>
            <a:pPr algn="l">
              <a:lnSpc>
                <a:spcPct val="100000"/>
              </a:lnSpc>
            </a:pPr>
            <a:r>
              <a:rPr sz="1000" b="0" i="0" spc="120">
                <a:solidFill>
                  <a:srgbClr val="E2B462"/>
                </a:solidFill>
                <a:latin typeface="Segoe UI Semibold"/>
              </a:rPr>
              <a:t>OFICIO</a:t>
            </a:r>
          </a:p>
        </p:txBody>
      </p:sp>
      <p:sp>
        <p:nvSpPr>
          <p:cNvPr id="12" name="TextBox 11"/>
          <p:cNvSpPr txBox="1"/>
          <p:nvPr/>
        </p:nvSpPr>
        <p:spPr>
          <a:xfrm>
            <a:off x="4842058" y="2121408"/>
            <a:ext cx="6709556" cy="310896"/>
          </a:xfrm>
          <a:prstGeom prst="rect">
            <a:avLst/>
          </a:prstGeom>
          <a:noFill/>
        </p:spPr>
        <p:txBody>
          <a:bodyPr wrap="square" lIns="45720" rIns="45720" tIns="27432" bIns="27432" anchor="ctr">
            <a:noAutofit/>
          </a:bodyPr>
          <a:lstStyle/>
          <a:p>
            <a:pPr algn="l">
              <a:lnSpc>
                <a:spcPct val="100000"/>
              </a:lnSpc>
            </a:pPr>
            <a:r>
              <a:rPr sz="1000" b="0" i="0" spc="120">
                <a:solidFill>
                  <a:srgbClr val="E2B462"/>
                </a:solidFill>
                <a:latin typeface="Segoe UI Semibold"/>
              </a:rPr>
              <a:t>FUNCIONES DISTINTIVAS</a:t>
            </a:r>
          </a:p>
        </p:txBody>
      </p:sp>
      <p:sp>
        <p:nvSpPr>
          <p:cNvPr id="13" name="TextBox 12"/>
          <p:cNvSpPr txBox="1"/>
          <p:nvPr/>
        </p:nvSpPr>
        <p:spPr>
          <a:xfrm>
            <a:off x="640080" y="2505456"/>
            <a:ext cx="1401793" cy="987551"/>
          </a:xfrm>
          <a:prstGeom prst="rect">
            <a:avLst/>
          </a:prstGeom>
          <a:noFill/>
        </p:spPr>
        <p:txBody>
          <a:bodyPr wrap="square" lIns="45720" rIns="45720" tIns="27432" bIns="27432" anchor="ctr">
            <a:noAutofit/>
          </a:bodyPr>
          <a:lstStyle/>
          <a:p>
            <a:pPr algn="l">
              <a:lnSpc>
                <a:spcPct val="100000"/>
              </a:lnSpc>
            </a:pPr>
            <a:r>
              <a:rPr sz="1500" b="0" i="0">
                <a:solidFill>
                  <a:srgbClr val="F7F2E8"/>
                </a:solidFill>
                <a:latin typeface="Segoe UI Semibold"/>
              </a:rPr>
              <a:t>PDFer</a:t>
            </a:r>
          </a:p>
        </p:txBody>
      </p:sp>
      <p:sp>
        <p:nvSpPr>
          <p:cNvPr id="14" name="TextBox 13"/>
          <p:cNvSpPr txBox="1"/>
          <p:nvPr/>
        </p:nvSpPr>
        <p:spPr>
          <a:xfrm>
            <a:off x="2188177" y="2505456"/>
            <a:ext cx="2507577" cy="987551"/>
          </a:xfrm>
          <a:prstGeom prst="rect">
            <a:avLst/>
          </a:prstGeom>
          <a:noFill/>
        </p:spPr>
        <p:txBody>
          <a:bodyPr wrap="square" lIns="45720" rIns="45720" tIns="27432" bIns="27432" anchor="ctr">
            <a:noAutofit/>
          </a:bodyPr>
          <a:lstStyle/>
          <a:p>
            <a:pPr algn="l">
              <a:lnSpc>
                <a:spcPct val="100000"/>
              </a:lnSpc>
            </a:pPr>
            <a:r>
              <a:rPr sz="1500" b="0" i="0">
                <a:solidFill>
                  <a:srgbClr val="A7B2B0"/>
                </a:solidFill>
                <a:latin typeface="Segoe UI"/>
              </a:rPr>
              <a:t>Compone PDFs a partir de texto, Markdown, HTML e imágenes</a:t>
            </a:r>
          </a:p>
        </p:txBody>
      </p:sp>
      <p:sp>
        <p:nvSpPr>
          <p:cNvPr id="15" name="TextBox 14"/>
          <p:cNvSpPr txBox="1"/>
          <p:nvPr/>
        </p:nvSpPr>
        <p:spPr>
          <a:xfrm>
            <a:off x="4842058" y="2505456"/>
            <a:ext cx="6709556" cy="987551"/>
          </a:xfrm>
          <a:prstGeom prst="rect">
            <a:avLst/>
          </a:prstGeom>
          <a:noFill/>
        </p:spPr>
        <p:txBody>
          <a:bodyPr wrap="square" lIns="45720" rIns="45720" tIns="27432" bIns="27432" anchor="ctr">
            <a:noAutofit/>
          </a:bodyPr>
          <a:lstStyle/>
          <a:p>
            <a:pPr algn="l">
              <a:lnSpc>
                <a:spcPct val="100000"/>
              </a:lnSpc>
            </a:pPr>
            <a:r>
              <a:rPr sz="1500" b="0" i="0">
                <a:solidFill>
                  <a:srgbClr val="A7B2B0"/>
                </a:solidFill>
                <a:latin typeface="Segoe UI"/>
              </a:rPr>
              <a:t>24 estilos visuales en cinco familias sobre 20 temas de contenido; tablas y portadas medidas; una auditoría de distribución que vuelve a abrir el archivo y revisa encimados, texto fuera de la página, páginas en blanco y contraste.</a:t>
            </a:r>
          </a:p>
        </p:txBody>
      </p:sp>
      <p:sp>
        <p:nvSpPr>
          <p:cNvPr id="16" name="Rectangle 15"/>
          <p:cNvSpPr/>
          <p:nvPr/>
        </p:nvSpPr>
        <p:spPr>
          <a:xfrm>
            <a:off x="585216" y="3529583"/>
            <a:ext cx="11021263" cy="832104"/>
          </a:xfrm>
          <a:prstGeom prst="rect">
            <a:avLst/>
          </a:prstGeom>
          <a:solidFill>
            <a:srgbClr val="1824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640080" y="3566159"/>
            <a:ext cx="1401793" cy="758952"/>
          </a:xfrm>
          <a:prstGeom prst="rect">
            <a:avLst/>
          </a:prstGeom>
          <a:noFill/>
        </p:spPr>
        <p:txBody>
          <a:bodyPr wrap="square" lIns="45720" rIns="45720" tIns="27432" bIns="27432" anchor="ctr">
            <a:noAutofit/>
          </a:bodyPr>
          <a:lstStyle/>
          <a:p>
            <a:pPr algn="l">
              <a:lnSpc>
                <a:spcPct val="100000"/>
              </a:lnSpc>
            </a:pPr>
            <a:r>
              <a:rPr sz="1500" b="0" i="0">
                <a:solidFill>
                  <a:srgbClr val="F7F2E8"/>
                </a:solidFill>
                <a:latin typeface="Segoe UI Semibold"/>
              </a:rPr>
              <a:t>PPTXer</a:t>
            </a:r>
          </a:p>
        </p:txBody>
      </p:sp>
      <p:sp>
        <p:nvSpPr>
          <p:cNvPr id="18" name="TextBox 17"/>
          <p:cNvSpPr txBox="1"/>
          <p:nvPr/>
        </p:nvSpPr>
        <p:spPr>
          <a:xfrm>
            <a:off x="2188177" y="3566159"/>
            <a:ext cx="2507577" cy="758952"/>
          </a:xfrm>
          <a:prstGeom prst="rect">
            <a:avLst/>
          </a:prstGeom>
          <a:noFill/>
        </p:spPr>
        <p:txBody>
          <a:bodyPr wrap="square" lIns="45720" rIns="45720" tIns="27432" bIns="27432" anchor="ctr">
            <a:noAutofit/>
          </a:bodyPr>
          <a:lstStyle/>
          <a:p>
            <a:pPr algn="l">
              <a:lnSpc>
                <a:spcPct val="100000"/>
              </a:lnSpc>
            </a:pPr>
            <a:r>
              <a:rPr sz="1500" b="0" i="0">
                <a:solidFill>
                  <a:srgbClr val="A7B2B0"/>
                </a:solidFill>
                <a:latin typeface="Segoe UI"/>
              </a:rPr>
              <a:t>Construye presentaciones editables de PowerPoint</a:t>
            </a:r>
          </a:p>
        </p:txBody>
      </p:sp>
      <p:sp>
        <p:nvSpPr>
          <p:cNvPr id="19" name="TextBox 18"/>
          <p:cNvSpPr txBox="1"/>
          <p:nvPr/>
        </p:nvSpPr>
        <p:spPr>
          <a:xfrm>
            <a:off x="4842058" y="3566159"/>
            <a:ext cx="6709556" cy="758952"/>
          </a:xfrm>
          <a:prstGeom prst="rect">
            <a:avLst/>
          </a:prstGeom>
          <a:noFill/>
        </p:spPr>
        <p:txBody>
          <a:bodyPr wrap="square" lIns="45720" rIns="45720" tIns="27432" bIns="27432" anchor="ctr">
            <a:noAutofit/>
          </a:bodyPr>
          <a:lstStyle/>
          <a:p>
            <a:pPr algn="l">
              <a:lnSpc>
                <a:spcPct val="100000"/>
              </a:lnSpc>
            </a:pPr>
            <a:r>
              <a:rPr sz="1500" b="0" i="0">
                <a:solidFill>
                  <a:srgbClr val="A7B2B0"/>
                </a:solidFill>
                <a:latin typeface="Segoe UI"/>
              </a:rPr>
              <a:t>36 tratamientos con nombre y 17 combinaciones de fuentes; el texto se mide antes de colocarlo, así que el contenido largo continúa en una diapositiva nueva; verificación nativa en PowerPoint cuando está instalado.</a:t>
            </a:r>
          </a:p>
        </p:txBody>
      </p:sp>
      <p:sp>
        <p:nvSpPr>
          <p:cNvPr id="20" name="TextBox 19"/>
          <p:cNvSpPr txBox="1"/>
          <p:nvPr/>
        </p:nvSpPr>
        <p:spPr>
          <a:xfrm>
            <a:off x="640080" y="4398264"/>
            <a:ext cx="1401793" cy="987551"/>
          </a:xfrm>
          <a:prstGeom prst="rect">
            <a:avLst/>
          </a:prstGeom>
          <a:noFill/>
        </p:spPr>
        <p:txBody>
          <a:bodyPr wrap="square" lIns="45720" rIns="45720" tIns="27432" bIns="27432" anchor="ctr">
            <a:noAutofit/>
          </a:bodyPr>
          <a:lstStyle/>
          <a:p>
            <a:pPr algn="l">
              <a:lnSpc>
                <a:spcPct val="100000"/>
              </a:lnSpc>
            </a:pPr>
            <a:r>
              <a:rPr sz="1500" b="0" i="0">
                <a:solidFill>
                  <a:srgbClr val="F7F2E8"/>
                </a:solidFill>
                <a:latin typeface="Segoe UI Semibold"/>
              </a:rPr>
              <a:t>LaTeXer</a:t>
            </a:r>
          </a:p>
        </p:txBody>
      </p:sp>
      <p:sp>
        <p:nvSpPr>
          <p:cNvPr id="21" name="TextBox 20"/>
          <p:cNvSpPr txBox="1"/>
          <p:nvPr/>
        </p:nvSpPr>
        <p:spPr>
          <a:xfrm>
            <a:off x="2188177" y="4398264"/>
            <a:ext cx="2507577" cy="987551"/>
          </a:xfrm>
          <a:prstGeom prst="rect">
            <a:avLst/>
          </a:prstGeom>
          <a:noFill/>
        </p:spPr>
        <p:txBody>
          <a:bodyPr wrap="square" lIns="45720" rIns="45720" tIns="27432" bIns="27432" anchor="ctr">
            <a:noAutofit/>
          </a:bodyPr>
          <a:lstStyle/>
          <a:p>
            <a:pPr algn="l">
              <a:lnSpc>
                <a:spcPct val="100000"/>
              </a:lnSpc>
            </a:pPr>
            <a:r>
              <a:rPr sz="1500" b="0" i="0">
                <a:solidFill>
                  <a:srgbClr val="A7B2B0"/>
                </a:solidFill>
                <a:latin typeface="Segoe UI"/>
              </a:rPr>
              <a:t>Tipografía LaTeX real</a:t>
            </a:r>
          </a:p>
        </p:txBody>
      </p:sp>
      <p:sp>
        <p:nvSpPr>
          <p:cNvPr id="22" name="TextBox 21"/>
          <p:cNvSpPr txBox="1"/>
          <p:nvPr/>
        </p:nvSpPr>
        <p:spPr>
          <a:xfrm>
            <a:off x="4842058" y="4398264"/>
            <a:ext cx="6709556" cy="987551"/>
          </a:xfrm>
          <a:prstGeom prst="rect">
            <a:avLst/>
          </a:prstGeom>
          <a:noFill/>
        </p:spPr>
        <p:txBody>
          <a:bodyPr wrap="square" lIns="45720" rIns="45720" tIns="27432" bIns="27432" anchor="ctr">
            <a:noAutofit/>
          </a:bodyPr>
          <a:lstStyle/>
          <a:p>
            <a:pPr algn="l">
              <a:lnSpc>
                <a:spcPct val="100000"/>
              </a:lnSpc>
            </a:pPr>
            <a:r>
              <a:rPr sz="1500" b="0" i="0">
                <a:solidFill>
                  <a:srgbClr val="A7B2B0"/>
                </a:solidFill>
                <a:latin typeface="Segoe UI"/>
              </a:rPr>
              <a:t>Ocho plantillas y 30 estilos distintivos; builds de proyectos completos con convergencia de bibliografía e índice; diagnósticos legibles; una escalera de reparación de ocho peldaños; un build mayormente recortado se entrega como </a:t>
            </a:r>
            <a:r>
              <a:rPr sz="1400" b="0" i="0">
                <a:solidFill>
                  <a:srgbClr val="E2B462"/>
                </a:solidFill>
                <a:latin typeface="Consolas"/>
              </a:rPr>
              <a:t>&lt;name&gt;.DEGRADED.pdf</a:t>
            </a:r>
            <a:r>
              <a:rPr sz="1500" b="0" i="0">
                <a:solidFill>
                  <a:srgbClr val="A7B2B0"/>
                </a:solidFill>
                <a:latin typeface="Segoe UI"/>
              </a:rPr>
              <a:t>; se recomienda MiKTeX.</a:t>
            </a:r>
          </a:p>
        </p:txBody>
      </p:sp>
      <p:cxnSp>
        <p:nvCxnSpPr>
          <p:cNvPr id="23" name="Connector 22"/>
          <p:cNvCxnSpPr/>
          <p:nvPr/>
        </p:nvCxnSpPr>
        <p:spPr>
          <a:xfrm>
            <a:off x="566928" y="6373368"/>
            <a:ext cx="11057839" cy="0"/>
          </a:xfrm>
          <a:prstGeom prst="line">
            <a:avLst/>
          </a:prstGeom>
          <a:ln w="7620">
            <a:solidFill>
              <a:srgbClr val="2A3A40"/>
            </a:solidFill>
          </a:ln>
        </p:spPr>
        <p:style>
          <a:lnRef idx="2">
            <a:schemeClr val="accent1"/>
          </a:lnRef>
          <a:fillRef idx="0">
            <a:schemeClr val="accent1"/>
          </a:fillRef>
          <a:effectRef idx="1">
            <a:schemeClr val="accent1"/>
          </a:effectRef>
          <a:fontRef idx="minor">
            <a:schemeClr val="tx1"/>
          </a:fontRef>
        </p:style>
      </p:cxnSp>
      <p:sp>
        <p:nvSpPr>
          <p:cNvPr id="24" name="TextBox 23"/>
          <p:cNvSpPr txBox="1"/>
          <p:nvPr/>
        </p:nvSpPr>
        <p:spPr>
          <a:xfrm>
            <a:off x="566928" y="6419088"/>
            <a:ext cx="6858000" cy="274320"/>
          </a:xfrm>
          <a:prstGeom prst="rect">
            <a:avLst/>
          </a:prstGeom>
          <a:noFill/>
        </p:spPr>
        <p:txBody>
          <a:bodyPr wrap="square" lIns="45720" rIns="45720" tIns="27432" bIns="27432" anchor="t">
            <a:noAutofit/>
          </a:bodyPr>
          <a:lstStyle/>
          <a:p>
            <a:pPr algn="l">
              <a:lnSpc>
                <a:spcPct val="100000"/>
              </a:lnSpc>
            </a:pPr>
            <a:r>
              <a:rPr sz="850" b="0" i="0" spc="120">
                <a:solidFill>
                  <a:srgbClr val="A7B2B0"/>
                </a:solidFill>
                <a:latin typeface="Segoe UI Semibold"/>
              </a:rPr>
              <a:t>TLAMATINI  ·  V · CAPACIDADES PROFUNDAS</a:t>
            </a:r>
          </a:p>
        </p:txBody>
      </p:sp>
      <p:sp>
        <p:nvSpPr>
          <p:cNvPr id="25" name="TextBox 24"/>
          <p:cNvSpPr txBox="1"/>
          <p:nvPr/>
        </p:nvSpPr>
        <p:spPr>
          <a:xfrm>
            <a:off x="8698687" y="6419088"/>
            <a:ext cx="2926080" cy="274320"/>
          </a:xfrm>
          <a:prstGeom prst="rect">
            <a:avLst/>
          </a:prstGeom>
          <a:noFill/>
        </p:spPr>
        <p:txBody>
          <a:bodyPr wrap="square" lIns="45720" rIns="45720" tIns="27432" bIns="27432" anchor="t">
            <a:noAutofit/>
          </a:bodyPr>
          <a:lstStyle/>
          <a:p>
            <a:pPr algn="r">
              <a:lnSpc>
                <a:spcPct val="100000"/>
              </a:lnSpc>
            </a:pPr>
            <a:r>
              <a:rPr sz="850" b="0" i="0" spc="100">
                <a:solidFill>
                  <a:srgbClr val="A7B2B0"/>
                </a:solidFill>
                <a:latin typeface="Segoe UI Semibold"/>
              </a:rPr>
              <a:t>v1.91.1   ·   85</a:t>
            </a:r>
          </a:p>
        </p:txBody>
      </p:sp>
    </p:spTree>
  </p:cSld>
  <p:clrMapOvr>
    <a:masterClrMapping/>
  </p:clrMapOvr>
</p:sld>
</file>

<file path=ppt/slides/slide8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content.png"/>
          <p:cNvPicPr>
            <a:picLocks noChangeAspect="1"/>
          </p:cNvPicPr>
          <p:nvPr/>
        </p:nvPicPr>
        <p:blipFill>
          <a:blip r:embed="rId2"/>
          <a:stretch>
            <a:fillRect/>
          </a:stretch>
        </p:blipFill>
        <p:spPr>
          <a:xfrm>
            <a:off x="0" y="0"/>
            <a:ext cx="12191695" cy="6858000"/>
          </a:xfrm>
          <a:prstGeom prst="rect">
            <a:avLst/>
          </a:prstGeom>
        </p:spPr>
      </p:pic>
      <p:sp>
        <p:nvSpPr>
          <p:cNvPr id="3" name="Diamond 2"/>
          <p:cNvSpPr/>
          <p:nvPr/>
        </p:nvSpPr>
        <p:spPr>
          <a:xfrm>
            <a:off x="566928" y="457200"/>
            <a:ext cx="100584" cy="100584"/>
          </a:xfrm>
          <a:prstGeom prst="diamond">
            <a:avLst/>
          </a:prstGeom>
          <a:solidFill>
            <a:srgbClr val="46D2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49808" y="365760"/>
            <a:ext cx="8229600" cy="292608"/>
          </a:xfrm>
          <a:prstGeom prst="rect">
            <a:avLst/>
          </a:prstGeom>
          <a:noFill/>
        </p:spPr>
        <p:txBody>
          <a:bodyPr wrap="square" lIns="45720" rIns="45720" tIns="27432" bIns="27432" anchor="t">
            <a:noAutofit/>
          </a:bodyPr>
          <a:lstStyle/>
          <a:p>
            <a:pPr algn="l">
              <a:lnSpc>
                <a:spcPct val="100000"/>
              </a:lnSpc>
            </a:pPr>
            <a:r>
              <a:rPr sz="1100" b="0" i="0" spc="240">
                <a:solidFill>
                  <a:srgbClr val="C98457"/>
                </a:solidFill>
                <a:latin typeface="Segoe UI Semibold"/>
              </a:rPr>
              <a:t>LA FAMILIA DE DOCUMENTOS</a:t>
            </a:r>
          </a:p>
        </p:txBody>
      </p:sp>
      <p:sp>
        <p:nvSpPr>
          <p:cNvPr id="5" name="TextBox 4"/>
          <p:cNvSpPr txBox="1"/>
          <p:nvPr/>
        </p:nvSpPr>
        <p:spPr>
          <a:xfrm>
            <a:off x="539496" y="676656"/>
            <a:ext cx="11057839" cy="658368"/>
          </a:xfrm>
          <a:prstGeom prst="rect">
            <a:avLst/>
          </a:prstGeom>
          <a:noFill/>
        </p:spPr>
        <p:txBody>
          <a:bodyPr wrap="square" lIns="45720" rIns="45720" tIns="27432" bIns="27432" anchor="t">
            <a:noAutofit/>
          </a:bodyPr>
          <a:lstStyle/>
          <a:p>
            <a:pPr algn="l">
              <a:lnSpc>
                <a:spcPct val="100000"/>
              </a:lnSpc>
            </a:pPr>
            <a:r>
              <a:rPr sz="3100" b="0" i="0">
                <a:solidFill>
                  <a:srgbClr val="F7F2E8"/>
                </a:solidFill>
                <a:latin typeface="Palatino Linotype"/>
              </a:rPr>
              <a:t>Creado no es verificado</a:t>
            </a:r>
          </a:p>
        </p:txBody>
      </p:sp>
      <p:sp>
        <p:nvSpPr>
          <p:cNvPr id="6" name="Rectangle 5"/>
          <p:cNvSpPr/>
          <p:nvPr/>
        </p:nvSpPr>
        <p:spPr>
          <a:xfrm>
            <a:off x="566928" y="1344168"/>
            <a:ext cx="822960" cy="36576"/>
          </a:xfrm>
          <a:prstGeom prst="rect">
            <a:avLst/>
          </a:prstGeom>
          <a:solidFill>
            <a:srgbClr val="46D2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ounded Rectangle 6"/>
          <p:cNvSpPr/>
          <p:nvPr/>
        </p:nvSpPr>
        <p:spPr>
          <a:xfrm>
            <a:off x="566928" y="1810511"/>
            <a:ext cx="11057839" cy="3291840"/>
          </a:xfrm>
          <a:prstGeom prst="roundRect">
            <a:avLst>
              <a:gd name="adj" fmla="val 4444"/>
            </a:avLst>
          </a:prstGeom>
          <a:solidFill>
            <a:srgbClr val="121A1D"/>
          </a:solidFill>
          <a:ln w="19050">
            <a:solidFill>
              <a:srgbClr val="46D2E2"/>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ectangle 7"/>
          <p:cNvSpPr/>
          <p:nvPr/>
        </p:nvSpPr>
        <p:spPr>
          <a:xfrm>
            <a:off x="566928" y="1810511"/>
            <a:ext cx="109728" cy="3291840"/>
          </a:xfrm>
          <a:prstGeom prst="rect">
            <a:avLst/>
          </a:prstGeom>
          <a:solidFill>
            <a:srgbClr val="46D2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115568" y="2039112"/>
            <a:ext cx="9960559" cy="2834640"/>
          </a:xfrm>
          <a:prstGeom prst="rect">
            <a:avLst/>
          </a:prstGeom>
          <a:noFill/>
        </p:spPr>
        <p:txBody>
          <a:bodyPr wrap="square" lIns="45720" rIns="45720" tIns="27432" bIns="27432" anchor="ctr">
            <a:noAutofit/>
          </a:bodyPr>
          <a:lstStyle/>
          <a:p>
            <a:pPr algn="l">
              <a:lnSpc>
                <a:spcPct val="100000"/>
              </a:lnSpc>
            </a:pPr>
            <a:r>
              <a:rPr sz="2600" b="0" i="0">
                <a:solidFill>
                  <a:srgbClr val="F7F2E8"/>
                </a:solidFill>
                <a:latin typeface="Segoe UI Light"/>
              </a:rPr>
              <a:t>Un archivo guardado sólo prueba que existe. Lee, de PDFer, </a:t>
            </a:r>
            <a:r>
              <a:rPr sz="2400" b="0" i="0">
                <a:solidFill>
                  <a:srgbClr val="E2B462"/>
                </a:solidFill>
                <a:latin typeface="Consolas"/>
              </a:rPr>
              <a:t>layout_clean</a:t>
            </a:r>
            <a:r>
              <a:rPr sz="2600" b="0" i="0">
                <a:solidFill>
                  <a:srgbClr val="F7F2E8"/>
                </a:solidFill>
                <a:latin typeface="Segoe UI Light"/>
              </a:rPr>
              <a:t>; de PPTXer, </a:t>
            </a:r>
            <a:r>
              <a:rPr sz="2400" b="0" i="0">
                <a:solidFill>
                  <a:srgbClr val="E2B462"/>
                </a:solidFill>
                <a:latin typeface="Consolas"/>
              </a:rPr>
              <a:t>ground_truth</a:t>
            </a:r>
            <a:r>
              <a:rPr sz="2600" b="0" i="0">
                <a:solidFill>
                  <a:srgbClr val="F7F2E8"/>
                </a:solidFill>
                <a:latin typeface="Segoe UI Light"/>
              </a:rPr>
              <a:t>; o de LaTeXer, </a:t>
            </a:r>
            <a:r>
              <a:rPr sz="2400" b="0" i="0">
                <a:solidFill>
                  <a:srgbClr val="E2B462"/>
                </a:solidFill>
                <a:latin typeface="Consolas"/>
              </a:rPr>
              <a:t>status</a:t>
            </a:r>
            <a:r>
              <a:rPr sz="2600" b="0" i="0">
                <a:solidFill>
                  <a:srgbClr val="F7F2E8"/>
                </a:solidFill>
                <a:latin typeface="Segoe UI Light"/>
              </a:rPr>
              <a:t>, antes de dar un documento por limpio.</a:t>
            </a:r>
          </a:p>
        </p:txBody>
      </p:sp>
      <p:sp>
        <p:nvSpPr>
          <p:cNvPr id="10" name="TextBox 9"/>
          <p:cNvSpPr txBox="1"/>
          <p:nvPr/>
        </p:nvSpPr>
        <p:spPr>
          <a:xfrm>
            <a:off x="566928" y="5230368"/>
            <a:ext cx="11057839" cy="457200"/>
          </a:xfrm>
          <a:prstGeom prst="rect">
            <a:avLst/>
          </a:prstGeom>
          <a:noFill/>
        </p:spPr>
        <p:txBody>
          <a:bodyPr wrap="square" lIns="45720" rIns="45720" tIns="27432" bIns="27432" anchor="t">
            <a:noAutofit/>
          </a:bodyPr>
          <a:lstStyle/>
          <a:p>
            <a:pPr algn="l">
              <a:lnSpc>
                <a:spcPct val="100000"/>
              </a:lnSpc>
            </a:pPr>
            <a:r>
              <a:rPr sz="1300" b="0" i="1">
                <a:solidFill>
                  <a:srgbClr val="A7B2B0"/>
                </a:solidFill>
                <a:latin typeface="Segoe UI"/>
              </a:rPr>
              <a:t>De “Componer, presentar, tipografiar”</a:t>
            </a:r>
          </a:p>
        </p:txBody>
      </p:sp>
      <p:cxnSp>
        <p:nvCxnSpPr>
          <p:cNvPr id="11" name="Connector 10"/>
          <p:cNvCxnSpPr/>
          <p:nvPr/>
        </p:nvCxnSpPr>
        <p:spPr>
          <a:xfrm>
            <a:off x="566928" y="6373368"/>
            <a:ext cx="11057839" cy="0"/>
          </a:xfrm>
          <a:prstGeom prst="line">
            <a:avLst/>
          </a:prstGeom>
          <a:ln w="7620">
            <a:solidFill>
              <a:srgbClr val="2A3A40"/>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566928" y="6419088"/>
            <a:ext cx="6858000" cy="274320"/>
          </a:xfrm>
          <a:prstGeom prst="rect">
            <a:avLst/>
          </a:prstGeom>
          <a:noFill/>
        </p:spPr>
        <p:txBody>
          <a:bodyPr wrap="square" lIns="45720" rIns="45720" tIns="27432" bIns="27432" anchor="t">
            <a:noAutofit/>
          </a:bodyPr>
          <a:lstStyle/>
          <a:p>
            <a:pPr algn="l">
              <a:lnSpc>
                <a:spcPct val="100000"/>
              </a:lnSpc>
            </a:pPr>
            <a:r>
              <a:rPr sz="850" b="0" i="0" spc="120">
                <a:solidFill>
                  <a:srgbClr val="A7B2B0"/>
                </a:solidFill>
                <a:latin typeface="Segoe UI Semibold"/>
              </a:rPr>
              <a:t>TLAMATINI  ·  V · CAPACIDADES PROFUNDAS</a:t>
            </a:r>
          </a:p>
        </p:txBody>
      </p:sp>
      <p:sp>
        <p:nvSpPr>
          <p:cNvPr id="13" name="TextBox 12"/>
          <p:cNvSpPr txBox="1"/>
          <p:nvPr/>
        </p:nvSpPr>
        <p:spPr>
          <a:xfrm>
            <a:off x="8698687" y="6419088"/>
            <a:ext cx="2926080" cy="274320"/>
          </a:xfrm>
          <a:prstGeom prst="rect">
            <a:avLst/>
          </a:prstGeom>
          <a:noFill/>
        </p:spPr>
        <p:txBody>
          <a:bodyPr wrap="square" lIns="45720" rIns="45720" tIns="27432" bIns="27432" anchor="t">
            <a:noAutofit/>
          </a:bodyPr>
          <a:lstStyle/>
          <a:p>
            <a:pPr algn="r">
              <a:lnSpc>
                <a:spcPct val="100000"/>
              </a:lnSpc>
            </a:pPr>
            <a:r>
              <a:rPr sz="850" b="0" i="0" spc="100">
                <a:solidFill>
                  <a:srgbClr val="A7B2B0"/>
                </a:solidFill>
                <a:latin typeface="Segoe UI Semibold"/>
              </a:rPr>
              <a:t>v1.91.1   ·   86</a:t>
            </a:r>
          </a:p>
        </p:txBody>
      </p:sp>
    </p:spTree>
  </p:cSld>
  <p:clrMapOvr>
    <a:masterClrMapping/>
  </p:clrMapOvr>
</p:sld>
</file>

<file path=ppt/slides/slide8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content.png"/>
          <p:cNvPicPr>
            <a:picLocks noChangeAspect="1"/>
          </p:cNvPicPr>
          <p:nvPr/>
        </p:nvPicPr>
        <p:blipFill>
          <a:blip r:embed="rId2"/>
          <a:stretch>
            <a:fillRect/>
          </a:stretch>
        </p:blipFill>
        <p:spPr>
          <a:xfrm>
            <a:off x="0" y="0"/>
            <a:ext cx="12191695" cy="6858000"/>
          </a:xfrm>
          <a:prstGeom prst="rect">
            <a:avLst/>
          </a:prstGeom>
        </p:spPr>
      </p:pic>
      <p:sp>
        <p:nvSpPr>
          <p:cNvPr id="3" name="Diamond 2"/>
          <p:cNvSpPr/>
          <p:nvPr/>
        </p:nvSpPr>
        <p:spPr>
          <a:xfrm>
            <a:off x="566928" y="457200"/>
            <a:ext cx="100584" cy="100584"/>
          </a:xfrm>
          <a:prstGeom prst="diamond">
            <a:avLst/>
          </a:prstGeom>
          <a:solidFill>
            <a:srgbClr val="46D2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49808" y="365760"/>
            <a:ext cx="8229600" cy="292608"/>
          </a:xfrm>
          <a:prstGeom prst="rect">
            <a:avLst/>
          </a:prstGeom>
          <a:noFill/>
        </p:spPr>
        <p:txBody>
          <a:bodyPr wrap="square" lIns="45720" rIns="45720" tIns="27432" bIns="27432" anchor="t">
            <a:noAutofit/>
          </a:bodyPr>
          <a:lstStyle/>
          <a:p>
            <a:pPr algn="l">
              <a:lnSpc>
                <a:spcPct val="100000"/>
              </a:lnSpc>
            </a:pPr>
            <a:r>
              <a:rPr sz="1100" b="0" i="0" spc="240">
                <a:solidFill>
                  <a:srgbClr val="C98457"/>
                </a:solidFill>
                <a:latin typeface="Segoe UI Semibold"/>
              </a:rPr>
              <a:t>LATEXER</a:t>
            </a:r>
          </a:p>
        </p:txBody>
      </p:sp>
      <p:sp>
        <p:nvSpPr>
          <p:cNvPr id="5" name="TextBox 4"/>
          <p:cNvSpPr txBox="1"/>
          <p:nvPr/>
        </p:nvSpPr>
        <p:spPr>
          <a:xfrm>
            <a:off x="539496" y="676656"/>
            <a:ext cx="11057839" cy="658368"/>
          </a:xfrm>
          <a:prstGeom prst="rect">
            <a:avLst/>
          </a:prstGeom>
          <a:noFill/>
        </p:spPr>
        <p:txBody>
          <a:bodyPr wrap="square" lIns="45720" rIns="45720" tIns="27432" bIns="27432" anchor="t">
            <a:noAutofit/>
          </a:bodyPr>
          <a:lstStyle/>
          <a:p>
            <a:pPr algn="l">
              <a:lnSpc>
                <a:spcPct val="100000"/>
              </a:lnSpc>
            </a:pPr>
            <a:r>
              <a:rPr sz="3100" b="0" i="0">
                <a:solidFill>
                  <a:srgbClr val="F7F2E8"/>
                </a:solidFill>
                <a:latin typeface="Palatino Linotype"/>
              </a:rPr>
              <a:t>Una escalera de reparación que protege tus palabras</a:t>
            </a:r>
          </a:p>
        </p:txBody>
      </p:sp>
      <p:sp>
        <p:nvSpPr>
          <p:cNvPr id="6" name="Rectangle 5"/>
          <p:cNvSpPr/>
          <p:nvPr/>
        </p:nvSpPr>
        <p:spPr>
          <a:xfrm>
            <a:off x="566928" y="1344168"/>
            <a:ext cx="822960" cy="36576"/>
          </a:xfrm>
          <a:prstGeom prst="rect">
            <a:avLst/>
          </a:prstGeom>
          <a:solidFill>
            <a:srgbClr val="46D2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566928" y="1444752"/>
            <a:ext cx="10692079" cy="585216"/>
          </a:xfrm>
          <a:prstGeom prst="rect">
            <a:avLst/>
          </a:prstGeom>
          <a:noFill/>
        </p:spPr>
        <p:txBody>
          <a:bodyPr wrap="square" lIns="45720" rIns="45720" tIns="27432" bIns="27432" anchor="t">
            <a:noAutofit/>
          </a:bodyPr>
          <a:lstStyle/>
          <a:p>
            <a:pPr algn="l">
              <a:lnSpc>
                <a:spcPct val="100000"/>
              </a:lnSpc>
            </a:pPr>
            <a:r>
              <a:rPr sz="1450" b="0" i="0">
                <a:solidFill>
                  <a:srgbClr val="A7B2B0"/>
                </a:solidFill>
                <a:latin typeface="Segoe UI Semilight"/>
              </a:rPr>
              <a:t>Cuando un build falla, LaTeXer sube ocho peldaños en un orden fijo; cada uno se intenta sólo si el anterior no produjo un PDF.</a:t>
            </a:r>
          </a:p>
        </p:txBody>
      </p:sp>
      <p:sp>
        <p:nvSpPr>
          <p:cNvPr id="8" name="Rounded Rectangle 7"/>
          <p:cNvSpPr/>
          <p:nvPr/>
        </p:nvSpPr>
        <p:spPr>
          <a:xfrm>
            <a:off x="877824" y="2084831"/>
            <a:ext cx="5035143" cy="932688"/>
          </a:xfrm>
          <a:prstGeom prst="roundRect">
            <a:avLst>
              <a:gd name="adj" fmla="val 9803"/>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566928" y="2313432"/>
            <a:ext cx="475488" cy="475488"/>
          </a:xfrm>
          <a:prstGeom prst="ellipse">
            <a:avLst/>
          </a:prstGeom>
          <a:solidFill>
            <a:srgbClr val="151F23"/>
          </a:solidFill>
          <a:ln w="15240">
            <a:solidFill>
              <a:srgbClr val="3BBE9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566928" y="2313432"/>
            <a:ext cx="475488" cy="475488"/>
          </a:xfrm>
          <a:prstGeom prst="rect">
            <a:avLst/>
          </a:prstGeom>
          <a:noFill/>
        </p:spPr>
        <p:txBody>
          <a:bodyPr wrap="square" lIns="45720" rIns="45720" tIns="27432" bIns="27432" anchor="ctr">
            <a:noAutofit/>
          </a:bodyPr>
          <a:lstStyle/>
          <a:p>
            <a:pPr algn="ctr">
              <a:lnSpc>
                <a:spcPct val="100000"/>
              </a:lnSpc>
            </a:pPr>
            <a:r>
              <a:rPr sz="1500" b="1" i="0">
                <a:solidFill>
                  <a:srgbClr val="E2B462"/>
                </a:solidFill>
                <a:latin typeface="Palatino Linotype"/>
              </a:rPr>
              <a:t>1</a:t>
            </a:r>
          </a:p>
        </p:txBody>
      </p:sp>
      <p:sp>
        <p:nvSpPr>
          <p:cNvPr id="11" name="TextBox 10"/>
          <p:cNvSpPr txBox="1"/>
          <p:nvPr/>
        </p:nvSpPr>
        <p:spPr>
          <a:xfrm>
            <a:off x="1133856" y="2121408"/>
            <a:ext cx="1783080" cy="859536"/>
          </a:xfrm>
          <a:prstGeom prst="rect">
            <a:avLst/>
          </a:prstGeom>
          <a:noFill/>
        </p:spPr>
        <p:txBody>
          <a:bodyPr wrap="square" lIns="45720" rIns="45720" tIns="27432" bIns="27432" anchor="ctr">
            <a:noAutofit/>
          </a:bodyPr>
          <a:lstStyle/>
          <a:p>
            <a:pPr algn="l">
              <a:lnSpc>
                <a:spcPct val="100000"/>
              </a:lnSpc>
            </a:pPr>
            <a:r>
              <a:rPr sz="1450" b="1" i="0">
                <a:solidFill>
                  <a:srgbClr val="3BBE93"/>
                </a:solidFill>
                <a:latin typeface="Consolas"/>
              </a:rPr>
              <a:t>lint</a:t>
            </a:r>
          </a:p>
        </p:txBody>
      </p:sp>
      <p:sp>
        <p:nvSpPr>
          <p:cNvPr id="12" name="TextBox 11"/>
          <p:cNvSpPr txBox="1"/>
          <p:nvPr/>
        </p:nvSpPr>
        <p:spPr>
          <a:xfrm>
            <a:off x="2944368" y="2121408"/>
            <a:ext cx="2858871" cy="859536"/>
          </a:xfrm>
          <a:prstGeom prst="rect">
            <a:avLst/>
          </a:prstGeom>
          <a:noFill/>
        </p:spPr>
        <p:txBody>
          <a:bodyPr wrap="square" lIns="45720" rIns="45720" tIns="27432" bIns="27432" anchor="ctr">
            <a:noAutofit/>
          </a:bodyPr>
          <a:lstStyle/>
          <a:p>
            <a:pPr algn="l">
              <a:lnSpc>
                <a:spcPct val="100000"/>
              </a:lnSpc>
            </a:pPr>
            <a:r>
              <a:rPr sz="1300" b="0" i="0">
                <a:solidFill>
                  <a:srgbClr val="A7B2B0"/>
                </a:solidFill>
                <a:latin typeface="Segoe UI"/>
              </a:rPr>
              <a:t>Reparación estructural estática antes de que corra cualquier compilador.</a:t>
            </a:r>
          </a:p>
        </p:txBody>
      </p:sp>
      <p:sp>
        <p:nvSpPr>
          <p:cNvPr id="13" name="Rounded Rectangle 12"/>
          <p:cNvSpPr/>
          <p:nvPr/>
        </p:nvSpPr>
        <p:spPr>
          <a:xfrm>
            <a:off x="877824" y="3145536"/>
            <a:ext cx="5035143" cy="932688"/>
          </a:xfrm>
          <a:prstGeom prst="roundRect">
            <a:avLst>
              <a:gd name="adj" fmla="val 9803"/>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Oval 13"/>
          <p:cNvSpPr/>
          <p:nvPr/>
        </p:nvSpPr>
        <p:spPr>
          <a:xfrm>
            <a:off x="566928" y="3374136"/>
            <a:ext cx="475488" cy="475488"/>
          </a:xfrm>
          <a:prstGeom prst="ellipse">
            <a:avLst/>
          </a:prstGeom>
          <a:solidFill>
            <a:srgbClr val="151F23"/>
          </a:solidFill>
          <a:ln w="15240">
            <a:solidFill>
              <a:srgbClr val="3BBE9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566928" y="3374136"/>
            <a:ext cx="475488" cy="475488"/>
          </a:xfrm>
          <a:prstGeom prst="rect">
            <a:avLst/>
          </a:prstGeom>
          <a:noFill/>
        </p:spPr>
        <p:txBody>
          <a:bodyPr wrap="square" lIns="45720" rIns="45720" tIns="27432" bIns="27432" anchor="ctr">
            <a:noAutofit/>
          </a:bodyPr>
          <a:lstStyle/>
          <a:p>
            <a:pPr algn="ctr">
              <a:lnSpc>
                <a:spcPct val="100000"/>
              </a:lnSpc>
            </a:pPr>
            <a:r>
              <a:rPr sz="1500" b="1" i="0">
                <a:solidFill>
                  <a:srgbClr val="E2B462"/>
                </a:solidFill>
                <a:latin typeface="Palatino Linotype"/>
              </a:rPr>
              <a:t>2</a:t>
            </a:r>
          </a:p>
        </p:txBody>
      </p:sp>
      <p:sp>
        <p:nvSpPr>
          <p:cNvPr id="16" name="TextBox 15"/>
          <p:cNvSpPr txBox="1"/>
          <p:nvPr/>
        </p:nvSpPr>
        <p:spPr>
          <a:xfrm>
            <a:off x="1133856" y="3182112"/>
            <a:ext cx="1783080" cy="859536"/>
          </a:xfrm>
          <a:prstGeom prst="rect">
            <a:avLst/>
          </a:prstGeom>
          <a:noFill/>
        </p:spPr>
        <p:txBody>
          <a:bodyPr wrap="square" lIns="45720" rIns="45720" tIns="27432" bIns="27432" anchor="ctr">
            <a:noAutofit/>
          </a:bodyPr>
          <a:lstStyle/>
          <a:p>
            <a:pPr algn="l">
              <a:lnSpc>
                <a:spcPct val="100000"/>
              </a:lnSpc>
            </a:pPr>
            <a:r>
              <a:rPr sz="1450" b="1" i="0">
                <a:solidFill>
                  <a:srgbClr val="3BBE93"/>
                </a:solidFill>
                <a:latin typeface="Consolas"/>
              </a:rPr>
              <a:t>preamble</a:t>
            </a:r>
          </a:p>
        </p:txBody>
      </p:sp>
      <p:sp>
        <p:nvSpPr>
          <p:cNvPr id="17" name="TextBox 16"/>
          <p:cNvSpPr txBox="1"/>
          <p:nvPr/>
        </p:nvSpPr>
        <p:spPr>
          <a:xfrm>
            <a:off x="2944368" y="3182112"/>
            <a:ext cx="2858871" cy="859536"/>
          </a:xfrm>
          <a:prstGeom prst="rect">
            <a:avLst/>
          </a:prstGeom>
          <a:noFill/>
        </p:spPr>
        <p:txBody>
          <a:bodyPr wrap="square" lIns="45720" rIns="45720" tIns="27432" bIns="27432" anchor="ctr">
            <a:noAutofit/>
          </a:bodyPr>
          <a:lstStyle/>
          <a:p>
            <a:pPr algn="l">
              <a:lnSpc>
                <a:spcPct val="100000"/>
              </a:lnSpc>
            </a:pPr>
            <a:r>
              <a:rPr sz="1300" b="0" i="0">
                <a:solidFill>
                  <a:srgbClr val="A7B2B0"/>
                </a:solidFill>
                <a:latin typeface="Segoe UI"/>
              </a:rPr>
              <a:t>Deduce los paquetes a partir de los comandos que de verdad se usan.</a:t>
            </a:r>
          </a:p>
        </p:txBody>
      </p:sp>
      <p:sp>
        <p:nvSpPr>
          <p:cNvPr id="18" name="Rounded Rectangle 17"/>
          <p:cNvSpPr/>
          <p:nvPr/>
        </p:nvSpPr>
        <p:spPr>
          <a:xfrm>
            <a:off x="877824" y="4206240"/>
            <a:ext cx="5035143" cy="932688"/>
          </a:xfrm>
          <a:prstGeom prst="roundRect">
            <a:avLst>
              <a:gd name="adj" fmla="val 9803"/>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Oval 18"/>
          <p:cNvSpPr/>
          <p:nvPr/>
        </p:nvSpPr>
        <p:spPr>
          <a:xfrm>
            <a:off x="566928" y="4434840"/>
            <a:ext cx="475488" cy="475488"/>
          </a:xfrm>
          <a:prstGeom prst="ellipse">
            <a:avLst/>
          </a:prstGeom>
          <a:solidFill>
            <a:srgbClr val="151F23"/>
          </a:solidFill>
          <a:ln w="15240">
            <a:solidFill>
              <a:srgbClr val="3BBE9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566928" y="4434840"/>
            <a:ext cx="475488" cy="475488"/>
          </a:xfrm>
          <a:prstGeom prst="rect">
            <a:avLst/>
          </a:prstGeom>
          <a:noFill/>
        </p:spPr>
        <p:txBody>
          <a:bodyPr wrap="square" lIns="45720" rIns="45720" tIns="27432" bIns="27432" anchor="ctr">
            <a:noAutofit/>
          </a:bodyPr>
          <a:lstStyle/>
          <a:p>
            <a:pPr algn="ctr">
              <a:lnSpc>
                <a:spcPct val="100000"/>
              </a:lnSpc>
            </a:pPr>
            <a:r>
              <a:rPr sz="1500" b="1" i="0">
                <a:solidFill>
                  <a:srgbClr val="E2B462"/>
                </a:solidFill>
                <a:latin typeface="Palatino Linotype"/>
              </a:rPr>
              <a:t>3</a:t>
            </a:r>
          </a:p>
        </p:txBody>
      </p:sp>
      <p:sp>
        <p:nvSpPr>
          <p:cNvPr id="21" name="TextBox 20"/>
          <p:cNvSpPr txBox="1"/>
          <p:nvPr/>
        </p:nvSpPr>
        <p:spPr>
          <a:xfrm>
            <a:off x="1133856" y="4242816"/>
            <a:ext cx="1783080" cy="859536"/>
          </a:xfrm>
          <a:prstGeom prst="rect">
            <a:avLst/>
          </a:prstGeom>
          <a:noFill/>
        </p:spPr>
        <p:txBody>
          <a:bodyPr wrap="square" lIns="45720" rIns="45720" tIns="27432" bIns="27432" anchor="ctr">
            <a:noAutofit/>
          </a:bodyPr>
          <a:lstStyle/>
          <a:p>
            <a:pPr algn="l">
              <a:lnSpc>
                <a:spcPct val="100000"/>
              </a:lnSpc>
            </a:pPr>
            <a:r>
              <a:rPr sz="1450" b="1" i="0">
                <a:solidFill>
                  <a:srgbClr val="3BBE93"/>
                </a:solidFill>
                <a:latin typeface="Consolas"/>
              </a:rPr>
              <a:t>rules</a:t>
            </a:r>
          </a:p>
        </p:txBody>
      </p:sp>
      <p:sp>
        <p:nvSpPr>
          <p:cNvPr id="22" name="TextBox 21"/>
          <p:cNvSpPr txBox="1"/>
          <p:nvPr/>
        </p:nvSpPr>
        <p:spPr>
          <a:xfrm>
            <a:off x="2944368" y="4242816"/>
            <a:ext cx="2858871" cy="859536"/>
          </a:xfrm>
          <a:prstGeom prst="rect">
            <a:avLst/>
          </a:prstGeom>
          <a:noFill/>
        </p:spPr>
        <p:txBody>
          <a:bodyPr wrap="square" lIns="45720" rIns="45720" tIns="27432" bIns="27432" anchor="ctr">
            <a:noAutofit/>
          </a:bodyPr>
          <a:lstStyle/>
          <a:p>
            <a:pPr algn="l">
              <a:lnSpc>
                <a:spcPct val="100000"/>
              </a:lnSpc>
            </a:pPr>
            <a:r>
              <a:rPr sz="1300" b="0" i="0">
                <a:solidFill>
                  <a:srgbClr val="A7B2B0"/>
                </a:solidFill>
                <a:latin typeface="Segoe UI"/>
              </a:rPr>
              <a:t>Reescrituras deterministas de construcciones que se sabe que están mal.</a:t>
            </a:r>
          </a:p>
        </p:txBody>
      </p:sp>
      <p:sp>
        <p:nvSpPr>
          <p:cNvPr id="23" name="Rounded Rectangle 22"/>
          <p:cNvSpPr/>
          <p:nvPr/>
        </p:nvSpPr>
        <p:spPr>
          <a:xfrm>
            <a:off x="877824" y="5266944"/>
            <a:ext cx="5035143" cy="932688"/>
          </a:xfrm>
          <a:prstGeom prst="roundRect">
            <a:avLst>
              <a:gd name="adj" fmla="val 9803"/>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Oval 23"/>
          <p:cNvSpPr/>
          <p:nvPr/>
        </p:nvSpPr>
        <p:spPr>
          <a:xfrm>
            <a:off x="566928" y="5495544"/>
            <a:ext cx="475488" cy="475488"/>
          </a:xfrm>
          <a:prstGeom prst="ellipse">
            <a:avLst/>
          </a:prstGeom>
          <a:solidFill>
            <a:srgbClr val="151F23"/>
          </a:solidFill>
          <a:ln w="15240">
            <a:solidFill>
              <a:srgbClr val="3BBE9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TextBox 24"/>
          <p:cNvSpPr txBox="1"/>
          <p:nvPr/>
        </p:nvSpPr>
        <p:spPr>
          <a:xfrm>
            <a:off x="566928" y="5495544"/>
            <a:ext cx="475488" cy="475488"/>
          </a:xfrm>
          <a:prstGeom prst="rect">
            <a:avLst/>
          </a:prstGeom>
          <a:noFill/>
        </p:spPr>
        <p:txBody>
          <a:bodyPr wrap="square" lIns="45720" rIns="45720" tIns="27432" bIns="27432" anchor="ctr">
            <a:noAutofit/>
          </a:bodyPr>
          <a:lstStyle/>
          <a:p>
            <a:pPr algn="ctr">
              <a:lnSpc>
                <a:spcPct val="100000"/>
              </a:lnSpc>
            </a:pPr>
            <a:r>
              <a:rPr sz="1500" b="1" i="0">
                <a:solidFill>
                  <a:srgbClr val="E2B462"/>
                </a:solidFill>
                <a:latin typeface="Palatino Linotype"/>
              </a:rPr>
              <a:t>4</a:t>
            </a:r>
          </a:p>
        </p:txBody>
      </p:sp>
      <p:sp>
        <p:nvSpPr>
          <p:cNvPr id="26" name="TextBox 25"/>
          <p:cNvSpPr txBox="1"/>
          <p:nvPr/>
        </p:nvSpPr>
        <p:spPr>
          <a:xfrm>
            <a:off x="1133856" y="5303520"/>
            <a:ext cx="1783080" cy="859536"/>
          </a:xfrm>
          <a:prstGeom prst="rect">
            <a:avLst/>
          </a:prstGeom>
          <a:noFill/>
        </p:spPr>
        <p:txBody>
          <a:bodyPr wrap="square" lIns="45720" rIns="45720" tIns="27432" bIns="27432" anchor="ctr">
            <a:noAutofit/>
          </a:bodyPr>
          <a:lstStyle/>
          <a:p>
            <a:pPr algn="l">
              <a:lnSpc>
                <a:spcPct val="100000"/>
              </a:lnSpc>
            </a:pPr>
            <a:r>
              <a:rPr sz="1450" b="1" i="0">
                <a:solidFill>
                  <a:srgbClr val="3BBE93"/>
                </a:solidFill>
                <a:latin typeface="Consolas"/>
              </a:rPr>
              <a:t>log-directed</a:t>
            </a:r>
          </a:p>
        </p:txBody>
      </p:sp>
      <p:sp>
        <p:nvSpPr>
          <p:cNvPr id="27" name="TextBox 26"/>
          <p:cNvSpPr txBox="1"/>
          <p:nvPr/>
        </p:nvSpPr>
        <p:spPr>
          <a:xfrm>
            <a:off x="2944368" y="5303520"/>
            <a:ext cx="2858871" cy="859536"/>
          </a:xfrm>
          <a:prstGeom prst="rect">
            <a:avLst/>
          </a:prstGeom>
          <a:noFill/>
        </p:spPr>
        <p:txBody>
          <a:bodyPr wrap="square" lIns="45720" rIns="45720" tIns="27432" bIns="27432" anchor="ctr">
            <a:noAutofit/>
          </a:bodyPr>
          <a:lstStyle/>
          <a:p>
            <a:pPr algn="l">
              <a:lnSpc>
                <a:spcPct val="100000"/>
              </a:lnSpc>
            </a:pPr>
            <a:r>
              <a:rPr sz="1300" b="0" i="0">
                <a:solidFill>
                  <a:srgbClr val="A7B2B0"/>
                </a:solidFill>
                <a:latin typeface="Segoe UI"/>
              </a:rPr>
              <a:t>Compila, lee el error real y arregla esa línea.</a:t>
            </a:r>
          </a:p>
        </p:txBody>
      </p:sp>
      <p:sp>
        <p:nvSpPr>
          <p:cNvPr id="28" name="Rounded Rectangle 27"/>
          <p:cNvSpPr/>
          <p:nvPr/>
        </p:nvSpPr>
        <p:spPr>
          <a:xfrm>
            <a:off x="6589623" y="2084831"/>
            <a:ext cx="5035143" cy="932688"/>
          </a:xfrm>
          <a:prstGeom prst="roundRect">
            <a:avLst>
              <a:gd name="adj" fmla="val 9803"/>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Oval 28"/>
          <p:cNvSpPr/>
          <p:nvPr/>
        </p:nvSpPr>
        <p:spPr>
          <a:xfrm>
            <a:off x="6278727" y="2313432"/>
            <a:ext cx="475488" cy="475488"/>
          </a:xfrm>
          <a:prstGeom prst="ellipse">
            <a:avLst/>
          </a:prstGeom>
          <a:solidFill>
            <a:srgbClr val="151F23"/>
          </a:solidFill>
          <a:ln w="15240">
            <a:solidFill>
              <a:srgbClr val="3BBE9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6278727" y="2313432"/>
            <a:ext cx="475488" cy="475488"/>
          </a:xfrm>
          <a:prstGeom prst="rect">
            <a:avLst/>
          </a:prstGeom>
          <a:noFill/>
        </p:spPr>
        <p:txBody>
          <a:bodyPr wrap="square" lIns="45720" rIns="45720" tIns="27432" bIns="27432" anchor="ctr">
            <a:noAutofit/>
          </a:bodyPr>
          <a:lstStyle/>
          <a:p>
            <a:pPr algn="ctr">
              <a:lnSpc>
                <a:spcPct val="100000"/>
              </a:lnSpc>
            </a:pPr>
            <a:r>
              <a:rPr sz="1500" b="1" i="0">
                <a:solidFill>
                  <a:srgbClr val="E2B462"/>
                </a:solidFill>
                <a:latin typeface="Palatino Linotype"/>
              </a:rPr>
              <a:t>5</a:t>
            </a:r>
          </a:p>
        </p:txBody>
      </p:sp>
      <p:sp>
        <p:nvSpPr>
          <p:cNvPr id="31" name="TextBox 30"/>
          <p:cNvSpPr txBox="1"/>
          <p:nvPr/>
        </p:nvSpPr>
        <p:spPr>
          <a:xfrm>
            <a:off x="6845655" y="2121408"/>
            <a:ext cx="1783080" cy="859536"/>
          </a:xfrm>
          <a:prstGeom prst="rect">
            <a:avLst/>
          </a:prstGeom>
          <a:noFill/>
        </p:spPr>
        <p:txBody>
          <a:bodyPr wrap="square" lIns="45720" rIns="45720" tIns="27432" bIns="27432" anchor="ctr">
            <a:noAutofit/>
          </a:bodyPr>
          <a:lstStyle/>
          <a:p>
            <a:pPr algn="l">
              <a:lnSpc>
                <a:spcPct val="100000"/>
              </a:lnSpc>
            </a:pPr>
            <a:r>
              <a:rPr sz="1450" b="1" i="0">
                <a:solidFill>
                  <a:srgbClr val="3BBE93"/>
                </a:solidFill>
                <a:latin typeface="Consolas"/>
              </a:rPr>
              <a:t>acquire</a:t>
            </a:r>
          </a:p>
        </p:txBody>
      </p:sp>
      <p:sp>
        <p:nvSpPr>
          <p:cNvPr id="32" name="TextBox 31"/>
          <p:cNvSpPr txBox="1"/>
          <p:nvPr/>
        </p:nvSpPr>
        <p:spPr>
          <a:xfrm>
            <a:off x="8656167" y="2121408"/>
            <a:ext cx="2858871" cy="859536"/>
          </a:xfrm>
          <a:prstGeom prst="rect">
            <a:avLst/>
          </a:prstGeom>
          <a:noFill/>
        </p:spPr>
        <p:txBody>
          <a:bodyPr wrap="square" lIns="45720" rIns="45720" tIns="27432" bIns="27432" anchor="ctr">
            <a:noAutofit/>
          </a:bodyPr>
          <a:lstStyle/>
          <a:p>
            <a:pPr algn="l">
              <a:lnSpc>
                <a:spcPct val="100000"/>
              </a:lnSpc>
            </a:pPr>
            <a:r>
              <a:rPr sz="1300" b="0" i="0">
                <a:solidFill>
                  <a:srgbClr val="A7B2B0"/>
                </a:solidFill>
                <a:latin typeface="Segoe UI"/>
              </a:rPr>
              <a:t>Instala un paquete que de verdad falta.</a:t>
            </a:r>
          </a:p>
        </p:txBody>
      </p:sp>
      <p:sp>
        <p:nvSpPr>
          <p:cNvPr id="33" name="Rounded Rectangle 32"/>
          <p:cNvSpPr/>
          <p:nvPr/>
        </p:nvSpPr>
        <p:spPr>
          <a:xfrm>
            <a:off x="6589623" y="3145536"/>
            <a:ext cx="5035143" cy="932688"/>
          </a:xfrm>
          <a:prstGeom prst="roundRect">
            <a:avLst>
              <a:gd name="adj" fmla="val 9803"/>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Oval 33"/>
          <p:cNvSpPr/>
          <p:nvPr/>
        </p:nvSpPr>
        <p:spPr>
          <a:xfrm>
            <a:off x="6278727" y="3374136"/>
            <a:ext cx="475488" cy="475488"/>
          </a:xfrm>
          <a:prstGeom prst="ellipse">
            <a:avLst/>
          </a:prstGeom>
          <a:solidFill>
            <a:srgbClr val="151F23"/>
          </a:solidFill>
          <a:ln w="15240">
            <a:solidFill>
              <a:srgbClr val="3BBE9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TextBox 34"/>
          <p:cNvSpPr txBox="1"/>
          <p:nvPr/>
        </p:nvSpPr>
        <p:spPr>
          <a:xfrm>
            <a:off x="6278727" y="3374136"/>
            <a:ext cx="475488" cy="475488"/>
          </a:xfrm>
          <a:prstGeom prst="rect">
            <a:avLst/>
          </a:prstGeom>
          <a:noFill/>
        </p:spPr>
        <p:txBody>
          <a:bodyPr wrap="square" lIns="45720" rIns="45720" tIns="27432" bIns="27432" anchor="ctr">
            <a:noAutofit/>
          </a:bodyPr>
          <a:lstStyle/>
          <a:p>
            <a:pPr algn="ctr">
              <a:lnSpc>
                <a:spcPct val="100000"/>
              </a:lnSpc>
            </a:pPr>
            <a:r>
              <a:rPr sz="1500" b="1" i="0">
                <a:solidFill>
                  <a:srgbClr val="E2B462"/>
                </a:solidFill>
                <a:latin typeface="Palatino Linotype"/>
              </a:rPr>
              <a:t>6</a:t>
            </a:r>
          </a:p>
        </p:txBody>
      </p:sp>
      <p:sp>
        <p:nvSpPr>
          <p:cNvPr id="36" name="TextBox 35"/>
          <p:cNvSpPr txBox="1"/>
          <p:nvPr/>
        </p:nvSpPr>
        <p:spPr>
          <a:xfrm>
            <a:off x="6845655" y="3182112"/>
            <a:ext cx="1783080" cy="859536"/>
          </a:xfrm>
          <a:prstGeom prst="rect">
            <a:avLst/>
          </a:prstGeom>
          <a:noFill/>
        </p:spPr>
        <p:txBody>
          <a:bodyPr wrap="square" lIns="45720" rIns="45720" tIns="27432" bIns="27432" anchor="ctr">
            <a:noAutofit/>
          </a:bodyPr>
          <a:lstStyle/>
          <a:p>
            <a:pPr algn="l">
              <a:lnSpc>
                <a:spcPct val="100000"/>
              </a:lnSpc>
            </a:pPr>
            <a:r>
              <a:rPr sz="1450" b="1" i="0">
                <a:solidFill>
                  <a:srgbClr val="3BBE93"/>
                </a:solidFill>
                <a:latin typeface="Consolas"/>
              </a:rPr>
              <a:t>engine swap</a:t>
            </a:r>
          </a:p>
        </p:txBody>
      </p:sp>
      <p:sp>
        <p:nvSpPr>
          <p:cNvPr id="37" name="TextBox 36"/>
          <p:cNvSpPr txBox="1"/>
          <p:nvPr/>
        </p:nvSpPr>
        <p:spPr>
          <a:xfrm>
            <a:off x="8656167" y="3182112"/>
            <a:ext cx="2858871" cy="859536"/>
          </a:xfrm>
          <a:prstGeom prst="rect">
            <a:avLst/>
          </a:prstGeom>
          <a:noFill/>
        </p:spPr>
        <p:txBody>
          <a:bodyPr wrap="square" lIns="45720" rIns="45720" tIns="27432" bIns="27432" anchor="ctr">
            <a:noAutofit/>
          </a:bodyPr>
          <a:lstStyle/>
          <a:p>
            <a:pPr algn="l">
              <a:lnSpc>
                <a:spcPct val="100000"/>
              </a:lnSpc>
            </a:pPr>
            <a:r>
              <a:rPr sz="1300" b="0" i="0">
                <a:solidFill>
                  <a:srgbClr val="A7B2B0"/>
                </a:solidFill>
                <a:latin typeface="Segoe UI"/>
              </a:rPr>
              <a:t>Reintenta con XeLaTeX o LuaLaTeX.</a:t>
            </a:r>
          </a:p>
        </p:txBody>
      </p:sp>
      <p:sp>
        <p:nvSpPr>
          <p:cNvPr id="38" name="Rounded Rectangle 37"/>
          <p:cNvSpPr/>
          <p:nvPr/>
        </p:nvSpPr>
        <p:spPr>
          <a:xfrm>
            <a:off x="6589623" y="4206240"/>
            <a:ext cx="5035143" cy="932688"/>
          </a:xfrm>
          <a:prstGeom prst="roundRect">
            <a:avLst>
              <a:gd name="adj" fmla="val 9803"/>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9" name="Oval 38"/>
          <p:cNvSpPr/>
          <p:nvPr/>
        </p:nvSpPr>
        <p:spPr>
          <a:xfrm>
            <a:off x="6278727" y="4434840"/>
            <a:ext cx="475488" cy="475488"/>
          </a:xfrm>
          <a:prstGeom prst="ellipse">
            <a:avLst/>
          </a:prstGeom>
          <a:solidFill>
            <a:srgbClr val="151F23"/>
          </a:solidFill>
          <a:ln w="15240">
            <a:solidFill>
              <a:srgbClr val="3BBE9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0" name="TextBox 39"/>
          <p:cNvSpPr txBox="1"/>
          <p:nvPr/>
        </p:nvSpPr>
        <p:spPr>
          <a:xfrm>
            <a:off x="6278727" y="4434840"/>
            <a:ext cx="475488" cy="475488"/>
          </a:xfrm>
          <a:prstGeom prst="rect">
            <a:avLst/>
          </a:prstGeom>
          <a:noFill/>
        </p:spPr>
        <p:txBody>
          <a:bodyPr wrap="square" lIns="45720" rIns="45720" tIns="27432" bIns="27432" anchor="ctr">
            <a:noAutofit/>
          </a:bodyPr>
          <a:lstStyle/>
          <a:p>
            <a:pPr algn="ctr">
              <a:lnSpc>
                <a:spcPct val="100000"/>
              </a:lnSpc>
            </a:pPr>
            <a:r>
              <a:rPr sz="1500" b="1" i="0">
                <a:solidFill>
                  <a:srgbClr val="E2B462"/>
                </a:solidFill>
                <a:latin typeface="Palatino Linotype"/>
              </a:rPr>
              <a:t>7</a:t>
            </a:r>
          </a:p>
        </p:txBody>
      </p:sp>
      <p:sp>
        <p:nvSpPr>
          <p:cNvPr id="41" name="TextBox 40"/>
          <p:cNvSpPr txBox="1"/>
          <p:nvPr/>
        </p:nvSpPr>
        <p:spPr>
          <a:xfrm>
            <a:off x="6845655" y="4242816"/>
            <a:ext cx="1783080" cy="859536"/>
          </a:xfrm>
          <a:prstGeom prst="rect">
            <a:avLst/>
          </a:prstGeom>
          <a:noFill/>
        </p:spPr>
        <p:txBody>
          <a:bodyPr wrap="square" lIns="45720" rIns="45720" tIns="27432" bIns="27432" anchor="ctr">
            <a:noAutofit/>
          </a:bodyPr>
          <a:lstStyle/>
          <a:p>
            <a:pPr algn="l">
              <a:lnSpc>
                <a:spcPct val="100000"/>
              </a:lnSpc>
            </a:pPr>
            <a:r>
              <a:rPr sz="1450" b="1" i="0">
                <a:solidFill>
                  <a:srgbClr val="3BBE93"/>
                </a:solidFill>
                <a:latin typeface="Consolas"/>
              </a:rPr>
              <a:t>model</a:t>
            </a:r>
          </a:p>
        </p:txBody>
      </p:sp>
      <p:sp>
        <p:nvSpPr>
          <p:cNvPr id="42" name="TextBox 41"/>
          <p:cNvSpPr txBox="1"/>
          <p:nvPr/>
        </p:nvSpPr>
        <p:spPr>
          <a:xfrm>
            <a:off x="8656167" y="4242816"/>
            <a:ext cx="2858871" cy="859536"/>
          </a:xfrm>
          <a:prstGeom prst="rect">
            <a:avLst/>
          </a:prstGeom>
          <a:noFill/>
        </p:spPr>
        <p:txBody>
          <a:bodyPr wrap="square" lIns="45720" rIns="45720" tIns="27432" bIns="27432" anchor="ctr">
            <a:noAutofit/>
          </a:bodyPr>
          <a:lstStyle/>
          <a:p>
            <a:pPr algn="l">
              <a:lnSpc>
                <a:spcPct val="100000"/>
              </a:lnSpc>
            </a:pPr>
            <a:r>
              <a:rPr sz="1300" b="0" i="0">
                <a:solidFill>
                  <a:srgbClr val="A7B2B0"/>
                </a:solidFill>
                <a:latin typeface="Segoe UI"/>
              </a:rPr>
              <a:t>Pregunta a un modelo; su respuesta vuelve a entrar en el peldaño 1.</a:t>
            </a:r>
          </a:p>
        </p:txBody>
      </p:sp>
      <p:sp>
        <p:nvSpPr>
          <p:cNvPr id="43" name="Rounded Rectangle 42"/>
          <p:cNvSpPr/>
          <p:nvPr/>
        </p:nvSpPr>
        <p:spPr>
          <a:xfrm>
            <a:off x="6589623" y="5266944"/>
            <a:ext cx="5035143" cy="932688"/>
          </a:xfrm>
          <a:prstGeom prst="roundRect">
            <a:avLst>
              <a:gd name="adj" fmla="val 9803"/>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4" name="Oval 43"/>
          <p:cNvSpPr/>
          <p:nvPr/>
        </p:nvSpPr>
        <p:spPr>
          <a:xfrm>
            <a:off x="6278727" y="5495544"/>
            <a:ext cx="475488" cy="475488"/>
          </a:xfrm>
          <a:prstGeom prst="ellipse">
            <a:avLst/>
          </a:prstGeom>
          <a:solidFill>
            <a:srgbClr val="151F23"/>
          </a:solidFill>
          <a:ln w="15240">
            <a:solidFill>
              <a:srgbClr val="3BBE9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5" name="TextBox 44"/>
          <p:cNvSpPr txBox="1"/>
          <p:nvPr/>
        </p:nvSpPr>
        <p:spPr>
          <a:xfrm>
            <a:off x="6278727" y="5495544"/>
            <a:ext cx="475488" cy="475488"/>
          </a:xfrm>
          <a:prstGeom prst="rect">
            <a:avLst/>
          </a:prstGeom>
          <a:noFill/>
        </p:spPr>
        <p:txBody>
          <a:bodyPr wrap="square" lIns="45720" rIns="45720" tIns="27432" bIns="27432" anchor="ctr">
            <a:noAutofit/>
          </a:bodyPr>
          <a:lstStyle/>
          <a:p>
            <a:pPr algn="ctr">
              <a:lnSpc>
                <a:spcPct val="100000"/>
              </a:lnSpc>
            </a:pPr>
            <a:r>
              <a:rPr sz="1500" b="1" i="0">
                <a:solidFill>
                  <a:srgbClr val="E2B462"/>
                </a:solidFill>
                <a:latin typeface="Palatino Linotype"/>
              </a:rPr>
              <a:t>8</a:t>
            </a:r>
          </a:p>
        </p:txBody>
      </p:sp>
      <p:sp>
        <p:nvSpPr>
          <p:cNvPr id="46" name="TextBox 45"/>
          <p:cNvSpPr txBox="1"/>
          <p:nvPr/>
        </p:nvSpPr>
        <p:spPr>
          <a:xfrm>
            <a:off x="6845655" y="5303520"/>
            <a:ext cx="1783080" cy="859536"/>
          </a:xfrm>
          <a:prstGeom prst="rect">
            <a:avLst/>
          </a:prstGeom>
          <a:noFill/>
        </p:spPr>
        <p:txBody>
          <a:bodyPr wrap="square" lIns="45720" rIns="45720" tIns="27432" bIns="27432" anchor="ctr">
            <a:noAutofit/>
          </a:bodyPr>
          <a:lstStyle/>
          <a:p>
            <a:pPr algn="l">
              <a:lnSpc>
                <a:spcPct val="100000"/>
              </a:lnSpc>
            </a:pPr>
            <a:r>
              <a:rPr sz="1450" b="1" i="0">
                <a:solidFill>
                  <a:srgbClr val="3BBE93"/>
                </a:solidFill>
                <a:latin typeface="Consolas"/>
              </a:rPr>
              <a:t>bisect</a:t>
            </a:r>
          </a:p>
        </p:txBody>
      </p:sp>
      <p:sp>
        <p:nvSpPr>
          <p:cNvPr id="47" name="TextBox 46"/>
          <p:cNvSpPr txBox="1"/>
          <p:nvPr/>
        </p:nvSpPr>
        <p:spPr>
          <a:xfrm>
            <a:off x="8656167" y="5303520"/>
            <a:ext cx="2858871" cy="859536"/>
          </a:xfrm>
          <a:prstGeom prst="rect">
            <a:avLst/>
          </a:prstGeom>
          <a:noFill/>
        </p:spPr>
        <p:txBody>
          <a:bodyPr wrap="square" lIns="45720" rIns="45720" tIns="27432" bIns="27432" anchor="ctr">
            <a:noAutofit/>
          </a:bodyPr>
          <a:lstStyle/>
          <a:p>
            <a:pPr algn="l">
              <a:lnSpc>
                <a:spcPct val="100000"/>
              </a:lnSpc>
            </a:pPr>
            <a:r>
              <a:rPr sz="1300" b="0" i="0">
                <a:solidFill>
                  <a:srgbClr val="A7B2B0"/>
                </a:solidFill>
                <a:latin typeface="Segoe UI"/>
              </a:rPr>
              <a:t>Al final: aparta el bloque con error, y lo dice.</a:t>
            </a:r>
          </a:p>
        </p:txBody>
      </p:sp>
      <p:cxnSp>
        <p:nvCxnSpPr>
          <p:cNvPr id="48" name="Connector 47"/>
          <p:cNvCxnSpPr/>
          <p:nvPr/>
        </p:nvCxnSpPr>
        <p:spPr>
          <a:xfrm>
            <a:off x="566928" y="6373368"/>
            <a:ext cx="11057839" cy="0"/>
          </a:xfrm>
          <a:prstGeom prst="line">
            <a:avLst/>
          </a:prstGeom>
          <a:ln w="7620">
            <a:solidFill>
              <a:srgbClr val="2A3A40"/>
            </a:solidFill>
          </a:ln>
        </p:spPr>
        <p:style>
          <a:lnRef idx="2">
            <a:schemeClr val="accent1"/>
          </a:lnRef>
          <a:fillRef idx="0">
            <a:schemeClr val="accent1"/>
          </a:fillRef>
          <a:effectRef idx="1">
            <a:schemeClr val="accent1"/>
          </a:effectRef>
          <a:fontRef idx="minor">
            <a:schemeClr val="tx1"/>
          </a:fontRef>
        </p:style>
      </p:cxnSp>
      <p:sp>
        <p:nvSpPr>
          <p:cNvPr id="49" name="TextBox 48"/>
          <p:cNvSpPr txBox="1"/>
          <p:nvPr/>
        </p:nvSpPr>
        <p:spPr>
          <a:xfrm>
            <a:off x="566928" y="6419088"/>
            <a:ext cx="6858000" cy="274320"/>
          </a:xfrm>
          <a:prstGeom prst="rect">
            <a:avLst/>
          </a:prstGeom>
          <a:noFill/>
        </p:spPr>
        <p:txBody>
          <a:bodyPr wrap="square" lIns="45720" rIns="45720" tIns="27432" bIns="27432" anchor="t">
            <a:noAutofit/>
          </a:bodyPr>
          <a:lstStyle/>
          <a:p>
            <a:pPr algn="l">
              <a:lnSpc>
                <a:spcPct val="100000"/>
              </a:lnSpc>
            </a:pPr>
            <a:r>
              <a:rPr sz="850" b="0" i="0" spc="120">
                <a:solidFill>
                  <a:srgbClr val="A7B2B0"/>
                </a:solidFill>
                <a:latin typeface="Segoe UI Semibold"/>
              </a:rPr>
              <a:t>TLAMATINI  ·  V · CAPACIDADES PROFUNDAS</a:t>
            </a:r>
          </a:p>
        </p:txBody>
      </p:sp>
      <p:sp>
        <p:nvSpPr>
          <p:cNvPr id="50" name="TextBox 49"/>
          <p:cNvSpPr txBox="1"/>
          <p:nvPr/>
        </p:nvSpPr>
        <p:spPr>
          <a:xfrm>
            <a:off x="8698687" y="6419088"/>
            <a:ext cx="2926080" cy="274320"/>
          </a:xfrm>
          <a:prstGeom prst="rect">
            <a:avLst/>
          </a:prstGeom>
          <a:noFill/>
        </p:spPr>
        <p:txBody>
          <a:bodyPr wrap="square" lIns="45720" rIns="45720" tIns="27432" bIns="27432" anchor="t">
            <a:noAutofit/>
          </a:bodyPr>
          <a:lstStyle/>
          <a:p>
            <a:pPr algn="r">
              <a:lnSpc>
                <a:spcPct val="100000"/>
              </a:lnSpc>
            </a:pPr>
            <a:r>
              <a:rPr sz="850" b="0" i="0" spc="100">
                <a:solidFill>
                  <a:srgbClr val="A7B2B0"/>
                </a:solidFill>
                <a:latin typeface="Segoe UI Semibold"/>
              </a:rPr>
              <a:t>v1.91.1   ·   87</a:t>
            </a:r>
          </a:p>
        </p:txBody>
      </p:sp>
    </p:spTree>
  </p:cSld>
  <p:clrMapOvr>
    <a:masterClrMapping/>
  </p:clrMapOvr>
</p:sld>
</file>

<file path=ppt/slides/slide8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content.png"/>
          <p:cNvPicPr>
            <a:picLocks noChangeAspect="1"/>
          </p:cNvPicPr>
          <p:nvPr/>
        </p:nvPicPr>
        <p:blipFill>
          <a:blip r:embed="rId2"/>
          <a:stretch>
            <a:fillRect/>
          </a:stretch>
        </p:blipFill>
        <p:spPr>
          <a:xfrm>
            <a:off x="0" y="0"/>
            <a:ext cx="12191695" cy="6858000"/>
          </a:xfrm>
          <a:prstGeom prst="rect">
            <a:avLst/>
          </a:prstGeom>
        </p:spPr>
      </p:pic>
      <p:sp>
        <p:nvSpPr>
          <p:cNvPr id="3" name="Diamond 2"/>
          <p:cNvSpPr/>
          <p:nvPr/>
        </p:nvSpPr>
        <p:spPr>
          <a:xfrm>
            <a:off x="566928" y="457200"/>
            <a:ext cx="100584" cy="100584"/>
          </a:xfrm>
          <a:prstGeom prst="diamond">
            <a:avLst/>
          </a:prstGeom>
          <a:solidFill>
            <a:srgbClr val="46D2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49808" y="365760"/>
            <a:ext cx="8229600" cy="292608"/>
          </a:xfrm>
          <a:prstGeom prst="rect">
            <a:avLst/>
          </a:prstGeom>
          <a:noFill/>
        </p:spPr>
        <p:txBody>
          <a:bodyPr wrap="square" lIns="45720" rIns="45720" tIns="27432" bIns="27432" anchor="t">
            <a:noAutofit/>
          </a:bodyPr>
          <a:lstStyle/>
          <a:p>
            <a:pPr algn="l">
              <a:lnSpc>
                <a:spcPct val="100000"/>
              </a:lnSpc>
            </a:pPr>
            <a:r>
              <a:rPr sz="1100" b="0" i="0" spc="240">
                <a:solidFill>
                  <a:srgbClr val="C98457"/>
                </a:solidFill>
                <a:latin typeface="Segoe UI Semibold"/>
              </a:rPr>
              <a:t>FIRMWARE</a:t>
            </a:r>
          </a:p>
        </p:txBody>
      </p:sp>
      <p:sp>
        <p:nvSpPr>
          <p:cNvPr id="5" name="TextBox 4"/>
          <p:cNvSpPr txBox="1"/>
          <p:nvPr/>
        </p:nvSpPr>
        <p:spPr>
          <a:xfrm>
            <a:off x="539496" y="676656"/>
            <a:ext cx="11057839" cy="658368"/>
          </a:xfrm>
          <a:prstGeom prst="rect">
            <a:avLst/>
          </a:prstGeom>
          <a:noFill/>
        </p:spPr>
        <p:txBody>
          <a:bodyPr wrap="square" lIns="45720" rIns="45720" tIns="27432" bIns="27432" anchor="t">
            <a:noAutofit/>
          </a:bodyPr>
          <a:lstStyle/>
          <a:p>
            <a:pPr algn="l">
              <a:lnSpc>
                <a:spcPct val="100000"/>
              </a:lnSpc>
            </a:pPr>
            <a:r>
              <a:rPr sz="3100" b="0" i="0">
                <a:solidFill>
                  <a:srgbClr val="F7F2E8"/>
                </a:solidFill>
                <a:latin typeface="Palatino Linotype"/>
              </a:rPr>
              <a:t>Tarjetas reales, a prueba de errores por diseño</a:t>
            </a:r>
          </a:p>
        </p:txBody>
      </p:sp>
      <p:sp>
        <p:nvSpPr>
          <p:cNvPr id="6" name="Rectangle 5"/>
          <p:cNvSpPr/>
          <p:nvPr/>
        </p:nvSpPr>
        <p:spPr>
          <a:xfrm>
            <a:off x="566928" y="1344168"/>
            <a:ext cx="822960" cy="36576"/>
          </a:xfrm>
          <a:prstGeom prst="rect">
            <a:avLst/>
          </a:prstGeom>
          <a:solidFill>
            <a:srgbClr val="46D2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566928" y="1444752"/>
            <a:ext cx="10692079" cy="585216"/>
          </a:xfrm>
          <a:prstGeom prst="rect">
            <a:avLst/>
          </a:prstGeom>
          <a:noFill/>
        </p:spPr>
        <p:txBody>
          <a:bodyPr wrap="square" lIns="45720" rIns="45720" tIns="27432" bIns="27432" anchor="t">
            <a:noAutofit/>
          </a:bodyPr>
          <a:lstStyle/>
          <a:p>
            <a:pPr algn="l">
              <a:lnSpc>
                <a:spcPct val="100000"/>
              </a:lnSpc>
            </a:pPr>
            <a:r>
              <a:rPr sz="1450" b="0" i="0">
                <a:solidFill>
                  <a:srgbClr val="A7B2B0"/>
                </a:solidFill>
                <a:latin typeface="Segoe UI Semilight"/>
              </a:rPr>
              <a:t>Cuatro agents llevan el firmware desde el andamiaje hasta una tarjeta funcionando, y cada uno se niega antes que flashear algo que no puede estar bien.</a:t>
            </a:r>
          </a:p>
        </p:txBody>
      </p:sp>
      <p:sp>
        <p:nvSpPr>
          <p:cNvPr id="8" name="Rounded Rectangle 7"/>
          <p:cNvSpPr/>
          <p:nvPr/>
        </p:nvSpPr>
        <p:spPr>
          <a:xfrm>
            <a:off x="566928" y="2084831"/>
            <a:ext cx="11057839" cy="3026664"/>
          </a:xfrm>
          <a:prstGeom prst="roundRect">
            <a:avLst>
              <a:gd name="adj" fmla="val 2416"/>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ounded Rectangle 8"/>
          <p:cNvSpPr/>
          <p:nvPr/>
        </p:nvSpPr>
        <p:spPr>
          <a:xfrm>
            <a:off x="566928" y="2084831"/>
            <a:ext cx="11057839" cy="384048"/>
          </a:xfrm>
          <a:prstGeom prst="roundRect">
            <a:avLst>
              <a:gd name="adj" fmla="val 19047"/>
            </a:avLst>
          </a:prstGeom>
          <a:solidFill>
            <a:srgbClr val="151F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640080" y="2121408"/>
            <a:ext cx="1401793" cy="310896"/>
          </a:xfrm>
          <a:prstGeom prst="rect">
            <a:avLst/>
          </a:prstGeom>
          <a:noFill/>
        </p:spPr>
        <p:txBody>
          <a:bodyPr wrap="square" lIns="45720" rIns="45720" tIns="27432" bIns="27432" anchor="ctr">
            <a:noAutofit/>
          </a:bodyPr>
          <a:lstStyle/>
          <a:p>
            <a:pPr algn="l">
              <a:lnSpc>
                <a:spcPct val="100000"/>
              </a:lnSpc>
            </a:pPr>
            <a:r>
              <a:rPr sz="1000" b="0" i="0" spc="120">
                <a:solidFill>
                  <a:srgbClr val="E2B462"/>
                </a:solidFill>
                <a:latin typeface="Segoe UI Semibold"/>
              </a:rPr>
              <a:t>AGENT</a:t>
            </a:r>
          </a:p>
        </p:txBody>
      </p:sp>
      <p:sp>
        <p:nvSpPr>
          <p:cNvPr id="11" name="TextBox 10"/>
          <p:cNvSpPr txBox="1"/>
          <p:nvPr/>
        </p:nvSpPr>
        <p:spPr>
          <a:xfrm>
            <a:off x="2188177" y="2121408"/>
            <a:ext cx="2728734" cy="310896"/>
          </a:xfrm>
          <a:prstGeom prst="rect">
            <a:avLst/>
          </a:prstGeom>
          <a:noFill/>
        </p:spPr>
        <p:txBody>
          <a:bodyPr wrap="square" lIns="45720" rIns="45720" tIns="27432" bIns="27432" anchor="ctr">
            <a:noAutofit/>
          </a:bodyPr>
          <a:lstStyle/>
          <a:p>
            <a:pPr algn="l">
              <a:lnSpc>
                <a:spcPct val="100000"/>
              </a:lnSpc>
            </a:pPr>
            <a:r>
              <a:rPr sz="1000" b="0" i="0" spc="120">
                <a:solidFill>
                  <a:srgbClr val="E2B462"/>
                </a:solidFill>
                <a:latin typeface="Segoe UI Semibold"/>
              </a:rPr>
              <a:t>TOOLCHAIN</a:t>
            </a:r>
          </a:p>
        </p:txBody>
      </p:sp>
      <p:sp>
        <p:nvSpPr>
          <p:cNvPr id="12" name="TextBox 11"/>
          <p:cNvSpPr txBox="1"/>
          <p:nvPr/>
        </p:nvSpPr>
        <p:spPr>
          <a:xfrm>
            <a:off x="5063215" y="2121408"/>
            <a:ext cx="6488399" cy="310896"/>
          </a:xfrm>
          <a:prstGeom prst="rect">
            <a:avLst/>
          </a:prstGeom>
          <a:noFill/>
        </p:spPr>
        <p:txBody>
          <a:bodyPr wrap="square" lIns="45720" rIns="45720" tIns="27432" bIns="27432" anchor="ctr">
            <a:noAutofit/>
          </a:bodyPr>
          <a:lstStyle/>
          <a:p>
            <a:pPr algn="l">
              <a:lnSpc>
                <a:spcPct val="100000"/>
              </a:lnSpc>
            </a:pPr>
            <a:r>
              <a:rPr sz="1000" b="0" i="0" spc="120">
                <a:solidFill>
                  <a:srgbClr val="E2B462"/>
                </a:solidFill>
                <a:latin typeface="Segoe UI Semibold"/>
              </a:rPr>
              <a:t>LO MÁS DESTACADO</a:t>
            </a:r>
          </a:p>
        </p:txBody>
      </p:sp>
      <p:sp>
        <p:nvSpPr>
          <p:cNvPr id="13" name="TextBox 12"/>
          <p:cNvSpPr txBox="1"/>
          <p:nvPr/>
        </p:nvSpPr>
        <p:spPr>
          <a:xfrm>
            <a:off x="640080" y="2505456"/>
            <a:ext cx="1401793" cy="758952"/>
          </a:xfrm>
          <a:prstGeom prst="rect">
            <a:avLst/>
          </a:prstGeom>
          <a:noFill/>
        </p:spPr>
        <p:txBody>
          <a:bodyPr wrap="square" lIns="45720" rIns="45720" tIns="27432" bIns="27432" anchor="ctr">
            <a:noAutofit/>
          </a:bodyPr>
          <a:lstStyle/>
          <a:p>
            <a:pPr algn="l">
              <a:lnSpc>
                <a:spcPct val="100000"/>
              </a:lnSpc>
            </a:pPr>
            <a:r>
              <a:rPr sz="1500" b="0" i="0">
                <a:solidFill>
                  <a:srgbClr val="F7F2E8"/>
                </a:solidFill>
                <a:latin typeface="Segoe UI Semibold"/>
              </a:rPr>
              <a:t>STM32er</a:t>
            </a:r>
          </a:p>
        </p:txBody>
      </p:sp>
      <p:sp>
        <p:nvSpPr>
          <p:cNvPr id="14" name="TextBox 13"/>
          <p:cNvSpPr txBox="1"/>
          <p:nvPr/>
        </p:nvSpPr>
        <p:spPr>
          <a:xfrm>
            <a:off x="2188177" y="2505456"/>
            <a:ext cx="2728734" cy="758952"/>
          </a:xfrm>
          <a:prstGeom prst="rect">
            <a:avLst/>
          </a:prstGeom>
          <a:noFill/>
        </p:spPr>
        <p:txBody>
          <a:bodyPr wrap="square" lIns="45720" rIns="45720" tIns="27432" bIns="27432" anchor="ctr">
            <a:noAutofit/>
          </a:bodyPr>
          <a:lstStyle/>
          <a:p>
            <a:pPr algn="l">
              <a:lnSpc>
                <a:spcPct val="100000"/>
              </a:lnSpc>
            </a:pPr>
            <a:r>
              <a:rPr sz="1500" b="0" i="0">
                <a:solidFill>
                  <a:srgbClr val="A7B2B0"/>
                </a:solidFill>
                <a:latin typeface="Segoe UI"/>
              </a:rPr>
              <a:t>PlatformIO ststm32 y el STM32 Template Project MCP</a:t>
            </a:r>
          </a:p>
        </p:txBody>
      </p:sp>
      <p:sp>
        <p:nvSpPr>
          <p:cNvPr id="15" name="TextBox 14"/>
          <p:cNvSpPr txBox="1"/>
          <p:nvPr/>
        </p:nvSpPr>
        <p:spPr>
          <a:xfrm>
            <a:off x="5063215" y="2505456"/>
            <a:ext cx="6488399" cy="758952"/>
          </a:xfrm>
          <a:prstGeom prst="rect">
            <a:avLst/>
          </a:prstGeom>
          <a:noFill/>
        </p:spPr>
        <p:txBody>
          <a:bodyPr wrap="square" lIns="45720" rIns="45720" tIns="27432" bIns="27432" anchor="ctr">
            <a:noAutofit/>
          </a:bodyPr>
          <a:lstStyle/>
          <a:p>
            <a:pPr algn="l">
              <a:lnSpc>
                <a:spcPct val="100000"/>
              </a:lnSpc>
            </a:pPr>
            <a:r>
              <a:rPr sz="1500" b="0" i="0">
                <a:solidFill>
                  <a:srgbClr val="A7B2B0"/>
                </a:solidFill>
                <a:latin typeface="Segoe UI"/>
              </a:rPr>
              <a:t>De la Blue Pill a F7, G, L, H7, U5 y WB; bootstrap sin configuración; revisiones de la sonda ST-LINK; el silicio más nuevo se rechaza limpiamente hasta que exista su backend nativo.</a:t>
            </a:r>
          </a:p>
        </p:txBody>
      </p:sp>
      <p:sp>
        <p:nvSpPr>
          <p:cNvPr id="16" name="Rectangle 15"/>
          <p:cNvSpPr/>
          <p:nvPr/>
        </p:nvSpPr>
        <p:spPr>
          <a:xfrm>
            <a:off x="585216" y="3300984"/>
            <a:ext cx="11021263" cy="603504"/>
          </a:xfrm>
          <a:prstGeom prst="rect">
            <a:avLst/>
          </a:prstGeom>
          <a:solidFill>
            <a:srgbClr val="1824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640080" y="3337560"/>
            <a:ext cx="1401793" cy="530352"/>
          </a:xfrm>
          <a:prstGeom prst="rect">
            <a:avLst/>
          </a:prstGeom>
          <a:noFill/>
        </p:spPr>
        <p:txBody>
          <a:bodyPr wrap="square" lIns="45720" rIns="45720" tIns="27432" bIns="27432" anchor="ctr">
            <a:noAutofit/>
          </a:bodyPr>
          <a:lstStyle/>
          <a:p>
            <a:pPr algn="l">
              <a:lnSpc>
                <a:spcPct val="100000"/>
              </a:lnSpc>
            </a:pPr>
            <a:r>
              <a:rPr sz="1500" b="0" i="0">
                <a:solidFill>
                  <a:srgbClr val="F7F2E8"/>
                </a:solidFill>
                <a:latin typeface="Segoe UI Semibold"/>
              </a:rPr>
              <a:t>ESP32er</a:t>
            </a:r>
          </a:p>
        </p:txBody>
      </p:sp>
      <p:sp>
        <p:nvSpPr>
          <p:cNvPr id="18" name="TextBox 17"/>
          <p:cNvSpPr txBox="1"/>
          <p:nvPr/>
        </p:nvSpPr>
        <p:spPr>
          <a:xfrm>
            <a:off x="2188177" y="3337560"/>
            <a:ext cx="2728734" cy="530352"/>
          </a:xfrm>
          <a:prstGeom prst="rect">
            <a:avLst/>
          </a:prstGeom>
          <a:noFill/>
        </p:spPr>
        <p:txBody>
          <a:bodyPr wrap="square" lIns="45720" rIns="45720" tIns="27432" bIns="27432" anchor="ctr">
            <a:noAutofit/>
          </a:bodyPr>
          <a:lstStyle/>
          <a:p>
            <a:pPr algn="l">
              <a:lnSpc>
                <a:spcPct val="100000"/>
              </a:lnSpc>
            </a:pPr>
            <a:r>
              <a:rPr sz="1500" b="0" i="0">
                <a:solidFill>
                  <a:srgbClr val="A7B2B0"/>
                </a:solidFill>
                <a:latin typeface="Segoe UI"/>
              </a:rPr>
              <a:t>PlatformIO Core, llamado directamente</a:t>
            </a:r>
          </a:p>
        </p:txBody>
      </p:sp>
      <p:sp>
        <p:nvSpPr>
          <p:cNvPr id="19" name="TextBox 18"/>
          <p:cNvSpPr txBox="1"/>
          <p:nvPr/>
        </p:nvSpPr>
        <p:spPr>
          <a:xfrm>
            <a:off x="5063215" y="3337560"/>
            <a:ext cx="6488399" cy="530352"/>
          </a:xfrm>
          <a:prstGeom prst="rect">
            <a:avLst/>
          </a:prstGeom>
          <a:noFill/>
        </p:spPr>
        <p:txBody>
          <a:bodyPr wrap="square" lIns="45720" rIns="45720" tIns="27432" bIns="27432" anchor="ctr">
            <a:noAutofit/>
          </a:bodyPr>
          <a:lstStyle/>
          <a:p>
            <a:pPr algn="l">
              <a:lnSpc>
                <a:spcPct val="100000"/>
              </a:lnSpc>
            </a:pPr>
            <a:r>
              <a:rPr sz="1500" b="0" i="0">
                <a:solidFill>
                  <a:srgbClr val="A7B2B0"/>
                </a:solidFill>
                <a:latin typeface="Segoe UI"/>
              </a:rPr>
              <a:t>Copia una plantilla de parpadeo e impresión para que un proyecto nuevo compile de inmediato; preflight que conoce el puerto serial.</a:t>
            </a:r>
          </a:p>
        </p:txBody>
      </p:sp>
      <p:sp>
        <p:nvSpPr>
          <p:cNvPr id="20" name="TextBox 19"/>
          <p:cNvSpPr txBox="1"/>
          <p:nvPr/>
        </p:nvSpPr>
        <p:spPr>
          <a:xfrm>
            <a:off x="640080" y="3941063"/>
            <a:ext cx="1401793" cy="530352"/>
          </a:xfrm>
          <a:prstGeom prst="rect">
            <a:avLst/>
          </a:prstGeom>
          <a:noFill/>
        </p:spPr>
        <p:txBody>
          <a:bodyPr wrap="square" lIns="45720" rIns="45720" tIns="27432" bIns="27432" anchor="ctr">
            <a:noAutofit/>
          </a:bodyPr>
          <a:lstStyle/>
          <a:p>
            <a:pPr algn="l">
              <a:lnSpc>
                <a:spcPct val="100000"/>
              </a:lnSpc>
            </a:pPr>
            <a:r>
              <a:rPr sz="1500" b="0" i="0">
                <a:solidFill>
                  <a:srgbClr val="F7F2E8"/>
                </a:solidFill>
                <a:latin typeface="Segoe UI Semibold"/>
              </a:rPr>
              <a:t>Arduiner</a:t>
            </a:r>
          </a:p>
        </p:txBody>
      </p:sp>
      <p:sp>
        <p:nvSpPr>
          <p:cNvPr id="21" name="TextBox 20"/>
          <p:cNvSpPr txBox="1"/>
          <p:nvPr/>
        </p:nvSpPr>
        <p:spPr>
          <a:xfrm>
            <a:off x="2188177" y="3941063"/>
            <a:ext cx="2728734" cy="530352"/>
          </a:xfrm>
          <a:prstGeom prst="rect">
            <a:avLst/>
          </a:prstGeom>
          <a:noFill/>
        </p:spPr>
        <p:txBody>
          <a:bodyPr wrap="square" lIns="45720" rIns="45720" tIns="27432" bIns="27432" anchor="ctr">
            <a:noAutofit/>
          </a:bodyPr>
          <a:lstStyle/>
          <a:p>
            <a:pPr algn="l">
              <a:lnSpc>
                <a:spcPct val="100000"/>
              </a:lnSpc>
            </a:pPr>
            <a:r>
              <a:rPr sz="1500" b="0" i="0">
                <a:solidFill>
                  <a:srgbClr val="A7B2B0"/>
                </a:solidFill>
                <a:latin typeface="Segoe UI"/>
              </a:rPr>
              <a:t>arduino-cli, descargado cuando se necesita</a:t>
            </a:r>
          </a:p>
        </p:txBody>
      </p:sp>
      <p:sp>
        <p:nvSpPr>
          <p:cNvPr id="22" name="TextBox 21"/>
          <p:cNvSpPr txBox="1"/>
          <p:nvPr/>
        </p:nvSpPr>
        <p:spPr>
          <a:xfrm>
            <a:off x="5063215" y="3941063"/>
            <a:ext cx="6488399" cy="530352"/>
          </a:xfrm>
          <a:prstGeom prst="rect">
            <a:avLst/>
          </a:prstGeom>
          <a:noFill/>
        </p:spPr>
        <p:txBody>
          <a:bodyPr wrap="square" lIns="45720" rIns="45720" tIns="27432" bIns="27432" anchor="ctr">
            <a:noAutofit/>
          </a:bodyPr>
          <a:lstStyle/>
          <a:p>
            <a:pPr algn="l">
              <a:lnSpc>
                <a:spcPct val="100000"/>
              </a:lnSpc>
            </a:pPr>
            <a:r>
              <a:rPr sz="1500" b="0" i="0">
                <a:solidFill>
                  <a:srgbClr val="A7B2B0"/>
                </a:solidFill>
                <a:latin typeface="Segoe UI"/>
              </a:rPr>
              <a:t>La tarjeta se elige por su FQBN; el core de la tarjeta se instala automáticamente.</a:t>
            </a:r>
          </a:p>
        </p:txBody>
      </p:sp>
      <p:sp>
        <p:nvSpPr>
          <p:cNvPr id="23" name="Rectangle 22"/>
          <p:cNvSpPr/>
          <p:nvPr/>
        </p:nvSpPr>
        <p:spPr>
          <a:xfrm>
            <a:off x="585216" y="4507992"/>
            <a:ext cx="11021263" cy="603504"/>
          </a:xfrm>
          <a:prstGeom prst="rect">
            <a:avLst/>
          </a:prstGeom>
          <a:solidFill>
            <a:srgbClr val="1824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640080" y="4544568"/>
            <a:ext cx="1401793" cy="530352"/>
          </a:xfrm>
          <a:prstGeom prst="rect">
            <a:avLst/>
          </a:prstGeom>
          <a:noFill/>
        </p:spPr>
        <p:txBody>
          <a:bodyPr wrap="square" lIns="45720" rIns="45720" tIns="27432" bIns="27432" anchor="ctr">
            <a:noAutofit/>
          </a:bodyPr>
          <a:lstStyle/>
          <a:p>
            <a:pPr algn="l">
              <a:lnSpc>
                <a:spcPct val="100000"/>
              </a:lnSpc>
            </a:pPr>
            <a:r>
              <a:rPr sz="1500" b="0" i="0">
                <a:solidFill>
                  <a:srgbClr val="F7F2E8"/>
                </a:solidFill>
                <a:latin typeface="Segoe UI Semibold"/>
              </a:rPr>
              <a:t>ESPHomer</a:t>
            </a:r>
          </a:p>
        </p:txBody>
      </p:sp>
      <p:sp>
        <p:nvSpPr>
          <p:cNvPr id="25" name="TextBox 24"/>
          <p:cNvSpPr txBox="1"/>
          <p:nvPr/>
        </p:nvSpPr>
        <p:spPr>
          <a:xfrm>
            <a:off x="2188177" y="4544568"/>
            <a:ext cx="2728734" cy="530352"/>
          </a:xfrm>
          <a:prstGeom prst="rect">
            <a:avLst/>
          </a:prstGeom>
          <a:noFill/>
        </p:spPr>
        <p:txBody>
          <a:bodyPr wrap="square" lIns="45720" rIns="45720" tIns="27432" bIns="27432" anchor="ctr">
            <a:noAutofit/>
          </a:bodyPr>
          <a:lstStyle/>
          <a:p>
            <a:pPr algn="l">
              <a:lnSpc>
                <a:spcPct val="100000"/>
              </a:lnSpc>
            </a:pPr>
            <a:r>
              <a:rPr sz="1500" b="0" i="0">
                <a:solidFill>
                  <a:srgbClr val="A7B2B0"/>
                </a:solidFill>
                <a:latin typeface="Segoe UI"/>
              </a:rPr>
              <a:t>El CLI de esphome</a:t>
            </a:r>
          </a:p>
        </p:txBody>
      </p:sp>
      <p:sp>
        <p:nvSpPr>
          <p:cNvPr id="26" name="TextBox 25"/>
          <p:cNvSpPr txBox="1"/>
          <p:nvPr/>
        </p:nvSpPr>
        <p:spPr>
          <a:xfrm>
            <a:off x="5063215" y="4544568"/>
            <a:ext cx="6488399" cy="530352"/>
          </a:xfrm>
          <a:prstGeom prst="rect">
            <a:avLst/>
          </a:prstGeom>
          <a:noFill/>
        </p:spPr>
        <p:txBody>
          <a:bodyPr wrap="square" lIns="45720" rIns="45720" tIns="27432" bIns="27432" anchor="ctr">
            <a:noAutofit/>
          </a:bodyPr>
          <a:lstStyle/>
          <a:p>
            <a:pPr algn="l">
              <a:lnSpc>
                <a:spcPct val="100000"/>
              </a:lnSpc>
            </a:pPr>
            <a:r>
              <a:rPr sz="1500" b="0" i="0">
                <a:solidFill>
                  <a:srgbClr val="A7B2B0"/>
                </a:solidFill>
                <a:latin typeface="Segoe UI"/>
              </a:rPr>
              <a:t>Dispositivos de casa inteligente a partir de YAML; generador de configuración sin interfaz; primer flasheo por USB, luego OTA.</a:t>
            </a:r>
          </a:p>
        </p:txBody>
      </p:sp>
      <p:cxnSp>
        <p:nvCxnSpPr>
          <p:cNvPr id="27" name="Connector 26"/>
          <p:cNvCxnSpPr/>
          <p:nvPr/>
        </p:nvCxnSpPr>
        <p:spPr>
          <a:xfrm>
            <a:off x="566928" y="6373368"/>
            <a:ext cx="11057839" cy="0"/>
          </a:xfrm>
          <a:prstGeom prst="line">
            <a:avLst/>
          </a:prstGeom>
          <a:ln w="7620">
            <a:solidFill>
              <a:srgbClr val="2A3A40"/>
            </a:solidFill>
          </a:ln>
        </p:spPr>
        <p:style>
          <a:lnRef idx="2">
            <a:schemeClr val="accent1"/>
          </a:lnRef>
          <a:fillRef idx="0">
            <a:schemeClr val="accent1"/>
          </a:fillRef>
          <a:effectRef idx="1">
            <a:schemeClr val="accent1"/>
          </a:effectRef>
          <a:fontRef idx="minor">
            <a:schemeClr val="tx1"/>
          </a:fontRef>
        </p:style>
      </p:cxnSp>
      <p:sp>
        <p:nvSpPr>
          <p:cNvPr id="28" name="TextBox 27"/>
          <p:cNvSpPr txBox="1"/>
          <p:nvPr/>
        </p:nvSpPr>
        <p:spPr>
          <a:xfrm>
            <a:off x="566928" y="6419088"/>
            <a:ext cx="6858000" cy="274320"/>
          </a:xfrm>
          <a:prstGeom prst="rect">
            <a:avLst/>
          </a:prstGeom>
          <a:noFill/>
        </p:spPr>
        <p:txBody>
          <a:bodyPr wrap="square" lIns="45720" rIns="45720" tIns="27432" bIns="27432" anchor="t">
            <a:noAutofit/>
          </a:bodyPr>
          <a:lstStyle/>
          <a:p>
            <a:pPr algn="l">
              <a:lnSpc>
                <a:spcPct val="100000"/>
              </a:lnSpc>
            </a:pPr>
            <a:r>
              <a:rPr sz="850" b="0" i="0" spc="120">
                <a:solidFill>
                  <a:srgbClr val="A7B2B0"/>
                </a:solidFill>
                <a:latin typeface="Segoe UI Semibold"/>
              </a:rPr>
              <a:t>TLAMATINI  ·  V · CAPACIDADES PROFUNDAS</a:t>
            </a:r>
          </a:p>
        </p:txBody>
      </p:sp>
      <p:sp>
        <p:nvSpPr>
          <p:cNvPr id="29" name="TextBox 28"/>
          <p:cNvSpPr txBox="1"/>
          <p:nvPr/>
        </p:nvSpPr>
        <p:spPr>
          <a:xfrm>
            <a:off x="8698687" y="6419088"/>
            <a:ext cx="2926080" cy="274320"/>
          </a:xfrm>
          <a:prstGeom prst="rect">
            <a:avLst/>
          </a:prstGeom>
          <a:noFill/>
        </p:spPr>
        <p:txBody>
          <a:bodyPr wrap="square" lIns="45720" rIns="45720" tIns="27432" bIns="27432" anchor="t">
            <a:noAutofit/>
          </a:bodyPr>
          <a:lstStyle/>
          <a:p>
            <a:pPr algn="r">
              <a:lnSpc>
                <a:spcPct val="100000"/>
              </a:lnSpc>
            </a:pPr>
            <a:r>
              <a:rPr sz="850" b="0" i="0" spc="100">
                <a:solidFill>
                  <a:srgbClr val="A7B2B0"/>
                </a:solidFill>
                <a:latin typeface="Segoe UI Semibold"/>
              </a:rPr>
              <a:t>v1.91.1   ·   88</a:t>
            </a:r>
          </a:p>
        </p:txBody>
      </p:sp>
    </p:spTree>
  </p:cSld>
  <p:clrMapOvr>
    <a:masterClrMapping/>
  </p:clrMapOvr>
</p:sld>
</file>

<file path=ppt/slides/slide8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content.png"/>
          <p:cNvPicPr>
            <a:picLocks noChangeAspect="1"/>
          </p:cNvPicPr>
          <p:nvPr/>
        </p:nvPicPr>
        <p:blipFill>
          <a:blip r:embed="rId2"/>
          <a:stretch>
            <a:fillRect/>
          </a:stretch>
        </p:blipFill>
        <p:spPr>
          <a:xfrm>
            <a:off x="0" y="0"/>
            <a:ext cx="12191695" cy="6858000"/>
          </a:xfrm>
          <a:prstGeom prst="rect">
            <a:avLst/>
          </a:prstGeom>
        </p:spPr>
      </p:pic>
      <p:sp>
        <p:nvSpPr>
          <p:cNvPr id="3" name="Diamond 2"/>
          <p:cNvSpPr/>
          <p:nvPr/>
        </p:nvSpPr>
        <p:spPr>
          <a:xfrm>
            <a:off x="566928" y="457200"/>
            <a:ext cx="100584" cy="100584"/>
          </a:xfrm>
          <a:prstGeom prst="diamond">
            <a:avLst/>
          </a:prstGeom>
          <a:solidFill>
            <a:srgbClr val="46D2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49808" y="365760"/>
            <a:ext cx="8229600" cy="292608"/>
          </a:xfrm>
          <a:prstGeom prst="rect">
            <a:avLst/>
          </a:prstGeom>
          <a:noFill/>
        </p:spPr>
        <p:txBody>
          <a:bodyPr wrap="square" lIns="45720" rIns="45720" tIns="27432" bIns="27432" anchor="t">
            <a:noAutofit/>
          </a:bodyPr>
          <a:lstStyle/>
          <a:p>
            <a:pPr algn="l">
              <a:lnSpc>
                <a:spcPct val="100000"/>
              </a:lnSpc>
            </a:pPr>
            <a:r>
              <a:rPr sz="1100" b="0" i="0" spc="240">
                <a:solidFill>
                  <a:srgbClr val="C98457"/>
                </a:solidFill>
                <a:latin typeface="Segoe UI Semibold"/>
              </a:rPr>
              <a:t>FIRMWARE</a:t>
            </a:r>
          </a:p>
        </p:txBody>
      </p:sp>
      <p:sp>
        <p:nvSpPr>
          <p:cNvPr id="5" name="TextBox 4"/>
          <p:cNvSpPr txBox="1"/>
          <p:nvPr/>
        </p:nvSpPr>
        <p:spPr>
          <a:xfrm>
            <a:off x="539496" y="676656"/>
            <a:ext cx="11057839" cy="658368"/>
          </a:xfrm>
          <a:prstGeom prst="rect">
            <a:avLst/>
          </a:prstGeom>
          <a:noFill/>
        </p:spPr>
        <p:txBody>
          <a:bodyPr wrap="square" lIns="45720" rIns="45720" tIns="27432" bIns="27432" anchor="t">
            <a:noAutofit/>
          </a:bodyPr>
          <a:lstStyle/>
          <a:p>
            <a:pPr algn="l">
              <a:lnSpc>
                <a:spcPct val="100000"/>
              </a:lnSpc>
            </a:pPr>
            <a:r>
              <a:rPr sz="3100" b="0" i="0">
                <a:solidFill>
                  <a:srgbClr val="F7F2E8"/>
                </a:solidFill>
                <a:latin typeface="Palatino Linotype"/>
              </a:rPr>
              <a:t>Sólo hardware autorizado</a:t>
            </a:r>
          </a:p>
        </p:txBody>
      </p:sp>
      <p:sp>
        <p:nvSpPr>
          <p:cNvPr id="6" name="Rectangle 5"/>
          <p:cNvSpPr/>
          <p:nvPr/>
        </p:nvSpPr>
        <p:spPr>
          <a:xfrm>
            <a:off x="566928" y="1344168"/>
            <a:ext cx="822960" cy="36576"/>
          </a:xfrm>
          <a:prstGeom prst="rect">
            <a:avLst/>
          </a:prstGeom>
          <a:solidFill>
            <a:srgbClr val="46D2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ounded Rectangle 6"/>
          <p:cNvSpPr/>
          <p:nvPr/>
        </p:nvSpPr>
        <p:spPr>
          <a:xfrm>
            <a:off x="566928" y="1810511"/>
            <a:ext cx="11057839" cy="3291840"/>
          </a:xfrm>
          <a:prstGeom prst="roundRect">
            <a:avLst>
              <a:gd name="adj" fmla="val 4444"/>
            </a:avLst>
          </a:prstGeom>
          <a:solidFill>
            <a:srgbClr val="121A1D"/>
          </a:solidFill>
          <a:ln w="19050">
            <a:solidFill>
              <a:srgbClr val="46D2E2"/>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ectangle 7"/>
          <p:cNvSpPr/>
          <p:nvPr/>
        </p:nvSpPr>
        <p:spPr>
          <a:xfrm>
            <a:off x="566928" y="1810511"/>
            <a:ext cx="109728" cy="3291840"/>
          </a:xfrm>
          <a:prstGeom prst="rect">
            <a:avLst/>
          </a:prstGeom>
          <a:solidFill>
            <a:srgbClr val="46D2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115568" y="2039112"/>
            <a:ext cx="9960559" cy="2834640"/>
          </a:xfrm>
          <a:prstGeom prst="rect">
            <a:avLst/>
          </a:prstGeom>
          <a:noFill/>
        </p:spPr>
        <p:txBody>
          <a:bodyPr wrap="square" lIns="45720" rIns="45720" tIns="27432" bIns="27432" anchor="ctr">
            <a:noAutofit/>
          </a:bodyPr>
          <a:lstStyle/>
          <a:p>
            <a:pPr algn="l">
              <a:lnSpc>
                <a:spcPct val="100000"/>
              </a:lnSpc>
            </a:pPr>
            <a:r>
              <a:rPr sz="2600" b="0" i="0">
                <a:solidFill>
                  <a:srgbClr val="F7F2E8"/>
                </a:solidFill>
                <a:latin typeface="Segoe UI Light"/>
              </a:rPr>
              <a:t>Flashear, borrar, reiniciar y subir cambian un dispositivo real conectado. STM32er maneja firmware crítico de robots, y por eso su preflight falla de forma segura.</a:t>
            </a:r>
          </a:p>
        </p:txBody>
      </p:sp>
      <p:sp>
        <p:nvSpPr>
          <p:cNvPr id="10" name="TextBox 9"/>
          <p:cNvSpPr txBox="1"/>
          <p:nvPr/>
        </p:nvSpPr>
        <p:spPr>
          <a:xfrm>
            <a:off x="566928" y="5230368"/>
            <a:ext cx="11057839" cy="457200"/>
          </a:xfrm>
          <a:prstGeom prst="rect">
            <a:avLst/>
          </a:prstGeom>
          <a:noFill/>
        </p:spPr>
        <p:txBody>
          <a:bodyPr wrap="square" lIns="45720" rIns="45720" tIns="27432" bIns="27432" anchor="t">
            <a:noAutofit/>
          </a:bodyPr>
          <a:lstStyle/>
          <a:p>
            <a:pPr algn="l">
              <a:lnSpc>
                <a:spcPct val="100000"/>
              </a:lnSpc>
            </a:pPr>
            <a:r>
              <a:rPr sz="1300" b="0" i="1">
                <a:solidFill>
                  <a:srgbClr val="A7B2B0"/>
                </a:solidFill>
                <a:latin typeface="Segoe UI"/>
              </a:rPr>
              <a:t>De “Tarjetas reales, a prueba de errores por diseño”</a:t>
            </a:r>
          </a:p>
        </p:txBody>
      </p:sp>
      <p:cxnSp>
        <p:nvCxnSpPr>
          <p:cNvPr id="11" name="Connector 10"/>
          <p:cNvCxnSpPr/>
          <p:nvPr/>
        </p:nvCxnSpPr>
        <p:spPr>
          <a:xfrm>
            <a:off x="566928" y="6373368"/>
            <a:ext cx="11057839" cy="0"/>
          </a:xfrm>
          <a:prstGeom prst="line">
            <a:avLst/>
          </a:prstGeom>
          <a:ln w="7620">
            <a:solidFill>
              <a:srgbClr val="2A3A40"/>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566928" y="6419088"/>
            <a:ext cx="6858000" cy="274320"/>
          </a:xfrm>
          <a:prstGeom prst="rect">
            <a:avLst/>
          </a:prstGeom>
          <a:noFill/>
        </p:spPr>
        <p:txBody>
          <a:bodyPr wrap="square" lIns="45720" rIns="45720" tIns="27432" bIns="27432" anchor="t">
            <a:noAutofit/>
          </a:bodyPr>
          <a:lstStyle/>
          <a:p>
            <a:pPr algn="l">
              <a:lnSpc>
                <a:spcPct val="100000"/>
              </a:lnSpc>
            </a:pPr>
            <a:r>
              <a:rPr sz="850" b="0" i="0" spc="120">
                <a:solidFill>
                  <a:srgbClr val="A7B2B0"/>
                </a:solidFill>
                <a:latin typeface="Segoe UI Semibold"/>
              </a:rPr>
              <a:t>TLAMATINI  ·  V · CAPACIDADES PROFUNDAS</a:t>
            </a:r>
          </a:p>
        </p:txBody>
      </p:sp>
      <p:sp>
        <p:nvSpPr>
          <p:cNvPr id="13" name="TextBox 12"/>
          <p:cNvSpPr txBox="1"/>
          <p:nvPr/>
        </p:nvSpPr>
        <p:spPr>
          <a:xfrm>
            <a:off x="8698687" y="6419088"/>
            <a:ext cx="2926080" cy="274320"/>
          </a:xfrm>
          <a:prstGeom prst="rect">
            <a:avLst/>
          </a:prstGeom>
          <a:noFill/>
        </p:spPr>
        <p:txBody>
          <a:bodyPr wrap="square" lIns="45720" rIns="45720" tIns="27432" bIns="27432" anchor="t">
            <a:noAutofit/>
          </a:bodyPr>
          <a:lstStyle/>
          <a:p>
            <a:pPr algn="r">
              <a:lnSpc>
                <a:spcPct val="100000"/>
              </a:lnSpc>
            </a:pPr>
            <a:r>
              <a:rPr sz="850" b="0" i="0" spc="100">
                <a:solidFill>
                  <a:srgbClr val="A7B2B0"/>
                </a:solidFill>
                <a:latin typeface="Segoe UI Semibold"/>
              </a:rPr>
              <a:t>v1.91.1   ·   89</a:t>
            </a:r>
          </a:p>
        </p:txBody>
      </p:sp>
    </p:spTree>
  </p:cSld>
  <p:clrMapOvr>
    <a:masterClrMapping/>
  </p:clrMapOvr>
</p:sld>
</file>

<file path=ppt/slides/slide9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content.png"/>
          <p:cNvPicPr>
            <a:picLocks noChangeAspect="1"/>
          </p:cNvPicPr>
          <p:nvPr/>
        </p:nvPicPr>
        <p:blipFill>
          <a:blip r:embed="rId2"/>
          <a:stretch>
            <a:fillRect/>
          </a:stretch>
        </p:blipFill>
        <p:spPr>
          <a:xfrm>
            <a:off x="0" y="0"/>
            <a:ext cx="12191695" cy="6858000"/>
          </a:xfrm>
          <a:prstGeom prst="rect">
            <a:avLst/>
          </a:prstGeom>
        </p:spPr>
      </p:pic>
      <p:sp>
        <p:nvSpPr>
          <p:cNvPr id="3" name="Diamond 2"/>
          <p:cNvSpPr/>
          <p:nvPr/>
        </p:nvSpPr>
        <p:spPr>
          <a:xfrm>
            <a:off x="566928" y="457200"/>
            <a:ext cx="100584" cy="100584"/>
          </a:xfrm>
          <a:prstGeom prst="diamond">
            <a:avLst/>
          </a:prstGeom>
          <a:solidFill>
            <a:srgbClr val="46D2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49808" y="365760"/>
            <a:ext cx="8229600" cy="292608"/>
          </a:xfrm>
          <a:prstGeom prst="rect">
            <a:avLst/>
          </a:prstGeom>
          <a:noFill/>
        </p:spPr>
        <p:txBody>
          <a:bodyPr wrap="square" lIns="45720" rIns="45720" tIns="27432" bIns="27432" anchor="t">
            <a:noAutofit/>
          </a:bodyPr>
          <a:lstStyle/>
          <a:p>
            <a:pPr algn="l">
              <a:lnSpc>
                <a:spcPct val="100000"/>
              </a:lnSpc>
            </a:pPr>
            <a:r>
              <a:rPr sz="1100" b="0" i="0" spc="240">
                <a:solidFill>
                  <a:srgbClr val="C98457"/>
                </a:solidFill>
                <a:latin typeface="Segoe UI Semibold"/>
              </a:rPr>
              <a:t>MOTORES CREATIVOS</a:t>
            </a:r>
          </a:p>
        </p:txBody>
      </p:sp>
      <p:sp>
        <p:nvSpPr>
          <p:cNvPr id="5" name="TextBox 4"/>
          <p:cNvSpPr txBox="1"/>
          <p:nvPr/>
        </p:nvSpPr>
        <p:spPr>
          <a:xfrm>
            <a:off x="539496" y="676656"/>
            <a:ext cx="11057839" cy="658368"/>
          </a:xfrm>
          <a:prstGeom prst="rect">
            <a:avLst/>
          </a:prstGeom>
          <a:noFill/>
        </p:spPr>
        <p:txBody>
          <a:bodyPr wrap="square" lIns="45720" rIns="45720" tIns="27432" bIns="27432" anchor="t">
            <a:noAutofit/>
          </a:bodyPr>
          <a:lstStyle/>
          <a:p>
            <a:pPr algn="l">
              <a:lnSpc>
                <a:spcPct val="100000"/>
              </a:lnSpc>
            </a:pPr>
            <a:r>
              <a:rPr sz="3100" b="0" i="0">
                <a:solidFill>
                  <a:srgbClr val="F7F2E8"/>
                </a:solidFill>
                <a:latin typeface="Palatino Linotype"/>
              </a:rPr>
              <a:t>Unreal Engine y Blender, en vivo</a:t>
            </a:r>
          </a:p>
        </p:txBody>
      </p:sp>
      <p:sp>
        <p:nvSpPr>
          <p:cNvPr id="6" name="Rectangle 5"/>
          <p:cNvSpPr/>
          <p:nvPr/>
        </p:nvSpPr>
        <p:spPr>
          <a:xfrm>
            <a:off x="566928" y="1344168"/>
            <a:ext cx="822960" cy="36576"/>
          </a:xfrm>
          <a:prstGeom prst="rect">
            <a:avLst/>
          </a:prstGeom>
          <a:solidFill>
            <a:srgbClr val="46D2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566928" y="1444752"/>
            <a:ext cx="10692079" cy="585216"/>
          </a:xfrm>
          <a:prstGeom prst="rect">
            <a:avLst/>
          </a:prstGeom>
          <a:noFill/>
        </p:spPr>
        <p:txBody>
          <a:bodyPr wrap="square" lIns="45720" rIns="45720" tIns="27432" bIns="27432" anchor="t">
            <a:noAutofit/>
          </a:bodyPr>
          <a:lstStyle/>
          <a:p>
            <a:pPr algn="l">
              <a:lnSpc>
                <a:spcPct val="100000"/>
              </a:lnSpc>
            </a:pPr>
            <a:r>
              <a:rPr sz="1450" b="0" i="0">
                <a:solidFill>
                  <a:srgbClr val="A7B2B0"/>
                </a:solidFill>
                <a:latin typeface="Segoe UI Semilight"/>
              </a:rPr>
              <a:t>Dos agents manejan editores en ejecución por sus propios sockets, desde el chat o desde el canvas.</a:t>
            </a:r>
          </a:p>
        </p:txBody>
      </p:sp>
      <p:sp>
        <p:nvSpPr>
          <p:cNvPr id="8" name="Rounded Rectangle 7"/>
          <p:cNvSpPr/>
          <p:nvPr/>
        </p:nvSpPr>
        <p:spPr>
          <a:xfrm>
            <a:off x="566928" y="2084831"/>
            <a:ext cx="5428335" cy="1956816"/>
          </a:xfrm>
          <a:prstGeom prst="roundRect">
            <a:avLst>
              <a:gd name="adj" fmla="val 5607"/>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ectangle 8"/>
          <p:cNvSpPr/>
          <p:nvPr/>
        </p:nvSpPr>
        <p:spPr>
          <a:xfrm>
            <a:off x="731520" y="2212848"/>
            <a:ext cx="502920" cy="45720"/>
          </a:xfrm>
          <a:prstGeom prst="rect">
            <a:avLst/>
          </a:prstGeom>
          <a:solidFill>
            <a:srgbClr val="3BBE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694944" y="2304287"/>
            <a:ext cx="5172303" cy="353568"/>
          </a:xfrm>
          <a:prstGeom prst="rect">
            <a:avLst/>
          </a:prstGeom>
          <a:noFill/>
        </p:spPr>
        <p:txBody>
          <a:bodyPr wrap="square" lIns="45720" rIns="45720" tIns="27432" bIns="27432" anchor="t">
            <a:noAutofit/>
          </a:bodyPr>
          <a:lstStyle/>
          <a:p>
            <a:pPr algn="l">
              <a:lnSpc>
                <a:spcPct val="100000"/>
              </a:lnSpc>
            </a:pPr>
            <a:r>
              <a:rPr sz="1600" b="0" i="0">
                <a:solidFill>
                  <a:srgbClr val="F7F2E8"/>
                </a:solidFill>
                <a:latin typeface="Segoe UI Semibold"/>
              </a:rPr>
              <a:t>Unrealer</a:t>
            </a:r>
          </a:p>
        </p:txBody>
      </p:sp>
      <p:sp>
        <p:nvSpPr>
          <p:cNvPr id="11" name="TextBox 10"/>
          <p:cNvSpPr txBox="1"/>
          <p:nvPr/>
        </p:nvSpPr>
        <p:spPr>
          <a:xfrm>
            <a:off x="694944" y="2657855"/>
            <a:ext cx="5172303" cy="1292352"/>
          </a:xfrm>
          <a:prstGeom prst="rect">
            <a:avLst/>
          </a:prstGeom>
          <a:noFill/>
        </p:spPr>
        <p:txBody>
          <a:bodyPr wrap="square" lIns="45720" rIns="45720" tIns="27432" bIns="27432" anchor="t">
            <a:noAutofit/>
          </a:bodyPr>
          <a:lstStyle/>
          <a:p>
            <a:pPr algn="l">
              <a:lnSpc>
                <a:spcPct val="100000"/>
              </a:lnSpc>
            </a:pPr>
            <a:r>
              <a:rPr sz="1300" b="0" i="0">
                <a:solidFill>
                  <a:srgbClr val="A7B2B0"/>
                </a:solidFill>
                <a:latin typeface="Segoe UI"/>
              </a:rPr>
              <a:t>Habla con el plugin Unreal MCP por TCP: 53 comandos en nueve categorías (editor, Blueprint, nodos, proyecto, UMG, sistema, nivel, asset y material).</a:t>
            </a:r>
          </a:p>
        </p:txBody>
      </p:sp>
      <p:sp>
        <p:nvSpPr>
          <p:cNvPr id="12" name="Rounded Rectangle 11"/>
          <p:cNvSpPr/>
          <p:nvPr/>
        </p:nvSpPr>
        <p:spPr>
          <a:xfrm>
            <a:off x="6196431" y="2084831"/>
            <a:ext cx="5428335" cy="1956816"/>
          </a:xfrm>
          <a:prstGeom prst="roundRect">
            <a:avLst>
              <a:gd name="adj" fmla="val 5607"/>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6361023" y="2212848"/>
            <a:ext cx="502920" cy="45720"/>
          </a:xfrm>
          <a:prstGeom prst="rect">
            <a:avLst/>
          </a:prstGeom>
          <a:solidFill>
            <a:srgbClr val="C984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324447" y="2304287"/>
            <a:ext cx="5172303" cy="353568"/>
          </a:xfrm>
          <a:prstGeom prst="rect">
            <a:avLst/>
          </a:prstGeom>
          <a:noFill/>
        </p:spPr>
        <p:txBody>
          <a:bodyPr wrap="square" lIns="45720" rIns="45720" tIns="27432" bIns="27432" anchor="t">
            <a:noAutofit/>
          </a:bodyPr>
          <a:lstStyle/>
          <a:p>
            <a:pPr algn="l">
              <a:lnSpc>
                <a:spcPct val="100000"/>
              </a:lnSpc>
            </a:pPr>
            <a:r>
              <a:rPr sz="1600" b="0" i="0">
                <a:solidFill>
                  <a:srgbClr val="F7F2E8"/>
                </a:solidFill>
                <a:latin typeface="Segoe UI Semibold"/>
              </a:rPr>
              <a:t>El fork de Unreal de Tlamatini</a:t>
            </a:r>
          </a:p>
        </p:txBody>
      </p:sp>
      <p:sp>
        <p:nvSpPr>
          <p:cNvPr id="15" name="TextBox 14"/>
          <p:cNvSpPr txBox="1"/>
          <p:nvPr/>
        </p:nvSpPr>
        <p:spPr>
          <a:xfrm>
            <a:off x="6324447" y="2657855"/>
            <a:ext cx="5172303" cy="1292352"/>
          </a:xfrm>
          <a:prstGeom prst="rect">
            <a:avLst/>
          </a:prstGeom>
          <a:noFill/>
        </p:spPr>
        <p:txBody>
          <a:bodyPr wrap="square" lIns="45720" rIns="45720" tIns="27432" bIns="27432" anchor="t">
            <a:noAutofit/>
          </a:bodyPr>
          <a:lstStyle/>
          <a:p>
            <a:pPr algn="l">
              <a:lnSpc>
                <a:spcPct val="100000"/>
              </a:lnSpc>
            </a:pPr>
            <a:r>
              <a:rPr sz="1300" b="0" i="0">
                <a:solidFill>
                  <a:srgbClr val="A7B2B0"/>
                </a:solidFill>
                <a:latin typeface="Segoe UI"/>
              </a:rPr>
              <a:t>XaihtUnrealEngineMCP incluye toda la superficie más un generador de andamiaje para un proyecto C++ de UE 5.8 listo para compilar con una solución de Visual Studio 2026.</a:t>
            </a:r>
          </a:p>
        </p:txBody>
      </p:sp>
      <p:sp>
        <p:nvSpPr>
          <p:cNvPr id="16" name="Rounded Rectangle 15"/>
          <p:cNvSpPr/>
          <p:nvPr/>
        </p:nvSpPr>
        <p:spPr>
          <a:xfrm>
            <a:off x="566928" y="4242816"/>
            <a:ext cx="5428335" cy="1956816"/>
          </a:xfrm>
          <a:prstGeom prst="roundRect">
            <a:avLst>
              <a:gd name="adj" fmla="val 5607"/>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31520" y="4370832"/>
            <a:ext cx="502920" cy="45720"/>
          </a:xfrm>
          <a:prstGeom prst="rect">
            <a:avLst/>
          </a:prstGeom>
          <a:solidFill>
            <a:srgbClr val="E2B4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694944" y="4462272"/>
            <a:ext cx="5172303" cy="353568"/>
          </a:xfrm>
          <a:prstGeom prst="rect">
            <a:avLst/>
          </a:prstGeom>
          <a:noFill/>
        </p:spPr>
        <p:txBody>
          <a:bodyPr wrap="square" lIns="45720" rIns="45720" tIns="27432" bIns="27432" anchor="t">
            <a:noAutofit/>
          </a:bodyPr>
          <a:lstStyle/>
          <a:p>
            <a:pPr algn="l">
              <a:lnSpc>
                <a:spcPct val="100000"/>
              </a:lnSpc>
            </a:pPr>
            <a:r>
              <a:rPr sz="1600" b="0" i="0">
                <a:solidFill>
                  <a:srgbClr val="F7F2E8"/>
                </a:solidFill>
                <a:latin typeface="Segoe UI Semibold"/>
              </a:rPr>
              <a:t>Blenderer</a:t>
            </a:r>
          </a:p>
        </p:txBody>
      </p:sp>
      <p:sp>
        <p:nvSpPr>
          <p:cNvPr id="19" name="TextBox 18"/>
          <p:cNvSpPr txBox="1"/>
          <p:nvPr/>
        </p:nvSpPr>
        <p:spPr>
          <a:xfrm>
            <a:off x="694944" y="4815840"/>
            <a:ext cx="5172303" cy="1292352"/>
          </a:xfrm>
          <a:prstGeom prst="rect">
            <a:avLst/>
          </a:prstGeom>
          <a:noFill/>
        </p:spPr>
        <p:txBody>
          <a:bodyPr wrap="square" lIns="45720" rIns="45720" tIns="27432" bIns="27432" anchor="t">
            <a:noAutofit/>
          </a:bodyPr>
          <a:lstStyle/>
          <a:p>
            <a:pPr algn="l">
              <a:lnSpc>
                <a:spcPct val="100000"/>
              </a:lnSpc>
            </a:pPr>
            <a:r>
              <a:rPr sz="1300" b="0" i="0">
                <a:solidFill>
                  <a:srgbClr val="A7B2B0"/>
                </a:solidFill>
                <a:latin typeface="Segoe UI"/>
              </a:rPr>
              <a:t>Habla el protocolo de ejecución de código del add-on oficial Blender MCP en su socket local, con un catálogo rico de acciones, así que la mayoría de las tareas no necesitan Python escrito a mano.</a:t>
            </a:r>
          </a:p>
        </p:txBody>
      </p:sp>
      <p:sp>
        <p:nvSpPr>
          <p:cNvPr id="20" name="Rounded Rectangle 19"/>
          <p:cNvSpPr/>
          <p:nvPr/>
        </p:nvSpPr>
        <p:spPr>
          <a:xfrm>
            <a:off x="6196431" y="4242816"/>
            <a:ext cx="5428335" cy="1956816"/>
          </a:xfrm>
          <a:prstGeom prst="roundRect">
            <a:avLst>
              <a:gd name="adj" fmla="val 5607"/>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ectangle 20"/>
          <p:cNvSpPr/>
          <p:nvPr/>
        </p:nvSpPr>
        <p:spPr>
          <a:xfrm>
            <a:off x="6361023" y="4370832"/>
            <a:ext cx="502920" cy="45720"/>
          </a:xfrm>
          <a:prstGeom prst="rect">
            <a:avLst/>
          </a:prstGeom>
          <a:solidFill>
            <a:srgbClr val="46D2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6324447" y="4462272"/>
            <a:ext cx="5172303" cy="353568"/>
          </a:xfrm>
          <a:prstGeom prst="rect">
            <a:avLst/>
          </a:prstGeom>
          <a:noFill/>
        </p:spPr>
        <p:txBody>
          <a:bodyPr wrap="square" lIns="45720" rIns="45720" tIns="27432" bIns="27432" anchor="t">
            <a:noAutofit/>
          </a:bodyPr>
          <a:lstStyle/>
          <a:p>
            <a:pPr algn="l">
              <a:lnSpc>
                <a:spcPct val="100000"/>
              </a:lnSpc>
            </a:pPr>
            <a:r>
              <a:rPr sz="1600" b="0" i="0">
                <a:solidFill>
                  <a:srgbClr val="F7F2E8"/>
                </a:solidFill>
                <a:latin typeface="Segoe UI Semibold"/>
              </a:rPr>
              <a:t>Encadenables</a:t>
            </a:r>
          </a:p>
        </p:txBody>
      </p:sp>
      <p:sp>
        <p:nvSpPr>
          <p:cNvPr id="23" name="TextBox 22"/>
          <p:cNvSpPr txBox="1"/>
          <p:nvPr/>
        </p:nvSpPr>
        <p:spPr>
          <a:xfrm>
            <a:off x="6324447" y="4815840"/>
            <a:ext cx="5172303" cy="1292352"/>
          </a:xfrm>
          <a:prstGeom prst="rect">
            <a:avLst/>
          </a:prstGeom>
          <a:noFill/>
        </p:spPr>
        <p:txBody>
          <a:bodyPr wrap="square" lIns="45720" rIns="45720" tIns="27432" bIns="27432" anchor="t">
            <a:noAutofit/>
          </a:bodyPr>
          <a:lstStyle/>
          <a:p>
            <a:pPr algn="l">
              <a:lnSpc>
                <a:spcPct val="100000"/>
              </a:lnSpc>
            </a:pPr>
            <a:r>
              <a:rPr sz="1300" b="0" i="0">
                <a:solidFill>
                  <a:srgbClr val="A7B2B0"/>
                </a:solidFill>
                <a:latin typeface="Segoe UI"/>
              </a:rPr>
              <a:t>Ambos devuelven bloques estructurados, así que Parametrizer puede llevar un resultado al siguiente paso y un Forker puede ramificarse según él.</a:t>
            </a:r>
          </a:p>
        </p:txBody>
      </p:sp>
      <p:cxnSp>
        <p:nvCxnSpPr>
          <p:cNvPr id="24" name="Connector 23"/>
          <p:cNvCxnSpPr/>
          <p:nvPr/>
        </p:nvCxnSpPr>
        <p:spPr>
          <a:xfrm>
            <a:off x="566928" y="6373368"/>
            <a:ext cx="11057839" cy="0"/>
          </a:xfrm>
          <a:prstGeom prst="line">
            <a:avLst/>
          </a:prstGeom>
          <a:ln w="7620">
            <a:solidFill>
              <a:srgbClr val="2A3A40"/>
            </a:solidFill>
          </a:ln>
        </p:spPr>
        <p:style>
          <a:lnRef idx="2">
            <a:schemeClr val="accent1"/>
          </a:lnRef>
          <a:fillRef idx="0">
            <a:schemeClr val="accent1"/>
          </a:fillRef>
          <a:effectRef idx="1">
            <a:schemeClr val="accent1"/>
          </a:effectRef>
          <a:fontRef idx="minor">
            <a:schemeClr val="tx1"/>
          </a:fontRef>
        </p:style>
      </p:cxnSp>
      <p:sp>
        <p:nvSpPr>
          <p:cNvPr id="25" name="TextBox 24"/>
          <p:cNvSpPr txBox="1"/>
          <p:nvPr/>
        </p:nvSpPr>
        <p:spPr>
          <a:xfrm>
            <a:off x="566928" y="6419088"/>
            <a:ext cx="6858000" cy="274320"/>
          </a:xfrm>
          <a:prstGeom prst="rect">
            <a:avLst/>
          </a:prstGeom>
          <a:noFill/>
        </p:spPr>
        <p:txBody>
          <a:bodyPr wrap="square" lIns="45720" rIns="45720" tIns="27432" bIns="27432" anchor="t">
            <a:noAutofit/>
          </a:bodyPr>
          <a:lstStyle/>
          <a:p>
            <a:pPr algn="l">
              <a:lnSpc>
                <a:spcPct val="100000"/>
              </a:lnSpc>
            </a:pPr>
            <a:r>
              <a:rPr sz="850" b="0" i="0" spc="120">
                <a:solidFill>
                  <a:srgbClr val="A7B2B0"/>
                </a:solidFill>
                <a:latin typeface="Segoe UI Semibold"/>
              </a:rPr>
              <a:t>TLAMATINI  ·  V · CAPACIDADES PROFUNDAS</a:t>
            </a:r>
          </a:p>
        </p:txBody>
      </p:sp>
      <p:sp>
        <p:nvSpPr>
          <p:cNvPr id="26" name="TextBox 25"/>
          <p:cNvSpPr txBox="1"/>
          <p:nvPr/>
        </p:nvSpPr>
        <p:spPr>
          <a:xfrm>
            <a:off x="8698687" y="6419088"/>
            <a:ext cx="2926080" cy="274320"/>
          </a:xfrm>
          <a:prstGeom prst="rect">
            <a:avLst/>
          </a:prstGeom>
          <a:noFill/>
        </p:spPr>
        <p:txBody>
          <a:bodyPr wrap="square" lIns="45720" rIns="45720" tIns="27432" bIns="27432" anchor="t">
            <a:noAutofit/>
          </a:bodyPr>
          <a:lstStyle/>
          <a:p>
            <a:pPr algn="r">
              <a:lnSpc>
                <a:spcPct val="100000"/>
              </a:lnSpc>
            </a:pPr>
            <a:r>
              <a:rPr sz="850" b="0" i="0" spc="100">
                <a:solidFill>
                  <a:srgbClr val="A7B2B0"/>
                </a:solidFill>
                <a:latin typeface="Segoe UI Semibold"/>
              </a:rPr>
              <a:t>v1.91.1   ·   90</a:t>
            </a:r>
          </a:p>
        </p:txBody>
      </p:sp>
    </p:spTree>
  </p:cSld>
  <p:clrMapOvr>
    <a:masterClrMapping/>
  </p:clrMapOvr>
</p:sld>
</file>

<file path=ppt/slides/slide9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content.png"/>
          <p:cNvPicPr>
            <a:picLocks noChangeAspect="1"/>
          </p:cNvPicPr>
          <p:nvPr/>
        </p:nvPicPr>
        <p:blipFill>
          <a:blip r:embed="rId2"/>
          <a:stretch>
            <a:fillRect/>
          </a:stretch>
        </p:blipFill>
        <p:spPr>
          <a:xfrm>
            <a:off x="0" y="0"/>
            <a:ext cx="12191695" cy="6858000"/>
          </a:xfrm>
          <a:prstGeom prst="rect">
            <a:avLst/>
          </a:prstGeom>
        </p:spPr>
      </p:pic>
      <p:sp>
        <p:nvSpPr>
          <p:cNvPr id="3" name="Diamond 2"/>
          <p:cNvSpPr/>
          <p:nvPr/>
        </p:nvSpPr>
        <p:spPr>
          <a:xfrm>
            <a:off x="566928" y="457200"/>
            <a:ext cx="100584" cy="100584"/>
          </a:xfrm>
          <a:prstGeom prst="diamond">
            <a:avLst/>
          </a:prstGeom>
          <a:solidFill>
            <a:srgbClr val="46D2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49808" y="365760"/>
            <a:ext cx="8229600" cy="292608"/>
          </a:xfrm>
          <a:prstGeom prst="rect">
            <a:avLst/>
          </a:prstGeom>
          <a:noFill/>
        </p:spPr>
        <p:txBody>
          <a:bodyPr wrap="square" lIns="45720" rIns="45720" tIns="27432" bIns="27432" anchor="t">
            <a:noAutofit/>
          </a:bodyPr>
          <a:lstStyle/>
          <a:p>
            <a:pPr algn="l">
              <a:lnSpc>
                <a:spcPct val="100000"/>
              </a:lnSpc>
            </a:pPr>
            <a:r>
              <a:rPr sz="1100" b="0" i="0" spc="240">
                <a:solidFill>
                  <a:srgbClr val="C98457"/>
                </a:solidFill>
                <a:latin typeface="Segoe UI Semibold"/>
              </a:rPr>
              <a:t>SEGURIDAD</a:t>
            </a:r>
          </a:p>
        </p:txBody>
      </p:sp>
      <p:sp>
        <p:nvSpPr>
          <p:cNvPr id="5" name="TextBox 4"/>
          <p:cNvSpPr txBox="1"/>
          <p:nvPr/>
        </p:nvSpPr>
        <p:spPr>
          <a:xfrm>
            <a:off x="539496" y="676656"/>
            <a:ext cx="11057839" cy="658368"/>
          </a:xfrm>
          <a:prstGeom prst="rect">
            <a:avLst/>
          </a:prstGeom>
          <a:noFill/>
        </p:spPr>
        <p:txBody>
          <a:bodyPr wrap="square" lIns="45720" rIns="45720" tIns="27432" bIns="27432" anchor="t">
            <a:noAutofit/>
          </a:bodyPr>
          <a:lstStyle/>
          <a:p>
            <a:pPr algn="l">
              <a:lnSpc>
                <a:spcPct val="100000"/>
              </a:lnSpc>
            </a:pPr>
            <a:r>
              <a:rPr sz="3100" b="0" i="0">
                <a:solidFill>
                  <a:srgbClr val="F7F2E8"/>
                </a:solidFill>
                <a:latin typeface="Palatino Linotype"/>
              </a:rPr>
              <a:t>Evaluación para objetivos autorizados</a:t>
            </a:r>
          </a:p>
        </p:txBody>
      </p:sp>
      <p:sp>
        <p:nvSpPr>
          <p:cNvPr id="6" name="Rectangle 5"/>
          <p:cNvSpPr/>
          <p:nvPr/>
        </p:nvSpPr>
        <p:spPr>
          <a:xfrm>
            <a:off x="566928" y="1344168"/>
            <a:ext cx="822960" cy="36576"/>
          </a:xfrm>
          <a:prstGeom prst="rect">
            <a:avLst/>
          </a:prstGeom>
          <a:solidFill>
            <a:srgbClr val="46D2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566928" y="1444752"/>
            <a:ext cx="10692079" cy="585216"/>
          </a:xfrm>
          <a:prstGeom prst="rect">
            <a:avLst/>
          </a:prstGeom>
          <a:noFill/>
        </p:spPr>
        <p:txBody>
          <a:bodyPr wrap="square" lIns="45720" rIns="45720" tIns="27432" bIns="27432" anchor="t">
            <a:noAutofit/>
          </a:bodyPr>
          <a:lstStyle/>
          <a:p>
            <a:pPr algn="l">
              <a:lnSpc>
                <a:spcPct val="100000"/>
              </a:lnSpc>
            </a:pPr>
            <a:r>
              <a:rPr sz="1450" b="0" i="0">
                <a:solidFill>
                  <a:srgbClr val="A7B2B0"/>
                </a:solidFill>
                <a:latin typeface="Segoe UI Semilight"/>
              </a:rPr>
              <a:t>Las herramientas ofensivas y defensivas son parte del catálogo, siempre limitadas a sistemas que son tuyos o que tienes autorización explícita para probar.</a:t>
            </a:r>
          </a:p>
        </p:txBody>
      </p:sp>
      <p:sp>
        <p:nvSpPr>
          <p:cNvPr id="8" name="Rounded Rectangle 7"/>
          <p:cNvSpPr/>
          <p:nvPr/>
        </p:nvSpPr>
        <p:spPr>
          <a:xfrm>
            <a:off x="566928" y="2084831"/>
            <a:ext cx="3551834" cy="1956816"/>
          </a:xfrm>
          <a:prstGeom prst="roundRect">
            <a:avLst>
              <a:gd name="adj" fmla="val 5607"/>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ectangle 8"/>
          <p:cNvSpPr/>
          <p:nvPr/>
        </p:nvSpPr>
        <p:spPr>
          <a:xfrm>
            <a:off x="731520" y="2212848"/>
            <a:ext cx="502920" cy="45720"/>
          </a:xfrm>
          <a:prstGeom prst="rect">
            <a:avLst/>
          </a:prstGeom>
          <a:solidFill>
            <a:srgbClr val="3BBE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694944" y="2304287"/>
            <a:ext cx="3295802" cy="353568"/>
          </a:xfrm>
          <a:prstGeom prst="rect">
            <a:avLst/>
          </a:prstGeom>
          <a:noFill/>
        </p:spPr>
        <p:txBody>
          <a:bodyPr wrap="square" lIns="45720" rIns="45720" tIns="27432" bIns="27432" anchor="t">
            <a:noAutofit/>
          </a:bodyPr>
          <a:lstStyle/>
          <a:p>
            <a:pPr algn="l">
              <a:lnSpc>
                <a:spcPct val="100000"/>
              </a:lnSpc>
            </a:pPr>
            <a:r>
              <a:rPr sz="1600" b="0" i="0">
                <a:solidFill>
                  <a:srgbClr val="F7F2E8"/>
                </a:solidFill>
                <a:latin typeface="Segoe UI Semibold"/>
              </a:rPr>
              <a:t>Kalier</a:t>
            </a:r>
          </a:p>
        </p:txBody>
      </p:sp>
      <p:sp>
        <p:nvSpPr>
          <p:cNvPr id="11" name="TextBox 10"/>
          <p:cNvSpPr txBox="1"/>
          <p:nvPr/>
        </p:nvSpPr>
        <p:spPr>
          <a:xfrm>
            <a:off x="694944" y="2657855"/>
            <a:ext cx="3295802" cy="1292352"/>
          </a:xfrm>
          <a:prstGeom prst="rect">
            <a:avLst/>
          </a:prstGeom>
          <a:noFill/>
        </p:spPr>
        <p:txBody>
          <a:bodyPr wrap="square" lIns="45720" rIns="45720" tIns="27432" bIns="27432" anchor="t">
            <a:noAutofit/>
          </a:bodyPr>
          <a:lstStyle/>
          <a:p>
            <a:pPr algn="l">
              <a:lnSpc>
                <a:spcPct val="100000"/>
              </a:lnSpc>
            </a:pPr>
            <a:r>
              <a:rPr sz="1300" b="0" i="0">
                <a:solidFill>
                  <a:srgbClr val="A7B2B0"/>
                </a:solidFill>
                <a:latin typeface="Segoe UI"/>
              </a:rPr>
              <a:t>Herramientas de Kali Linux por medio de MCP-Kali-Server: nmap, gobuster, nikto, sqlmap y más.</a:t>
            </a:r>
          </a:p>
        </p:txBody>
      </p:sp>
      <p:sp>
        <p:nvSpPr>
          <p:cNvPr id="12" name="Rounded Rectangle 11"/>
          <p:cNvSpPr/>
          <p:nvPr/>
        </p:nvSpPr>
        <p:spPr>
          <a:xfrm>
            <a:off x="4319930" y="2084831"/>
            <a:ext cx="3551834" cy="1956816"/>
          </a:xfrm>
          <a:prstGeom prst="roundRect">
            <a:avLst>
              <a:gd name="adj" fmla="val 5607"/>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4484522" y="2212848"/>
            <a:ext cx="502920" cy="45720"/>
          </a:xfrm>
          <a:prstGeom prst="rect">
            <a:avLst/>
          </a:prstGeom>
          <a:solidFill>
            <a:srgbClr val="C984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4447946" y="2304287"/>
            <a:ext cx="3295802" cy="353568"/>
          </a:xfrm>
          <a:prstGeom prst="rect">
            <a:avLst/>
          </a:prstGeom>
          <a:noFill/>
        </p:spPr>
        <p:txBody>
          <a:bodyPr wrap="square" lIns="45720" rIns="45720" tIns="27432" bIns="27432" anchor="t">
            <a:noAutofit/>
          </a:bodyPr>
          <a:lstStyle/>
          <a:p>
            <a:pPr algn="l">
              <a:lnSpc>
                <a:spcPct val="100000"/>
              </a:lnSpc>
            </a:pPr>
            <a:r>
              <a:rPr sz="1600" b="0" i="0">
                <a:solidFill>
                  <a:srgbClr val="F7F2E8"/>
                </a:solidFill>
                <a:latin typeface="Segoe UI Semibold"/>
              </a:rPr>
              <a:t>Discoverer</a:t>
            </a:r>
          </a:p>
        </p:txBody>
      </p:sp>
      <p:sp>
        <p:nvSpPr>
          <p:cNvPr id="15" name="TextBox 14"/>
          <p:cNvSpPr txBox="1"/>
          <p:nvPr/>
        </p:nvSpPr>
        <p:spPr>
          <a:xfrm>
            <a:off x="4447946" y="2657855"/>
            <a:ext cx="3295802" cy="1292352"/>
          </a:xfrm>
          <a:prstGeom prst="rect">
            <a:avLst/>
          </a:prstGeom>
          <a:noFill/>
        </p:spPr>
        <p:txBody>
          <a:bodyPr wrap="square" lIns="45720" rIns="45720" tIns="27432" bIns="27432" anchor="t">
            <a:noAutofit/>
          </a:bodyPr>
          <a:lstStyle/>
          <a:p>
            <a:pPr algn="l">
              <a:lnSpc>
                <a:spcPct val="100000"/>
              </a:lnSpc>
            </a:pPr>
            <a:r>
              <a:rPr sz="1300" b="0" i="0">
                <a:solidFill>
                  <a:srgbClr val="A7B2B0"/>
                </a:solidFill>
                <a:latin typeface="Segoe UI"/>
              </a:rPr>
              <a:t>subfinder, httpx, naabu, katana, nuclei y vulnx sobre un toolchain privado de Go.</a:t>
            </a:r>
          </a:p>
        </p:txBody>
      </p:sp>
      <p:sp>
        <p:nvSpPr>
          <p:cNvPr id="16" name="Rounded Rectangle 15"/>
          <p:cNvSpPr/>
          <p:nvPr/>
        </p:nvSpPr>
        <p:spPr>
          <a:xfrm>
            <a:off x="8072932" y="2084831"/>
            <a:ext cx="3551834" cy="1956816"/>
          </a:xfrm>
          <a:prstGeom prst="roundRect">
            <a:avLst>
              <a:gd name="adj" fmla="val 5607"/>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8237524" y="2212848"/>
            <a:ext cx="502920" cy="45720"/>
          </a:xfrm>
          <a:prstGeom prst="rect">
            <a:avLst/>
          </a:prstGeom>
          <a:solidFill>
            <a:srgbClr val="E2B4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200948" y="2304287"/>
            <a:ext cx="3295802" cy="353568"/>
          </a:xfrm>
          <a:prstGeom prst="rect">
            <a:avLst/>
          </a:prstGeom>
          <a:noFill/>
        </p:spPr>
        <p:txBody>
          <a:bodyPr wrap="square" lIns="45720" rIns="45720" tIns="27432" bIns="27432" anchor="t">
            <a:noAutofit/>
          </a:bodyPr>
          <a:lstStyle/>
          <a:p>
            <a:pPr algn="l">
              <a:lnSpc>
                <a:spcPct val="100000"/>
              </a:lnSpc>
            </a:pPr>
            <a:r>
              <a:rPr sz="1600" b="0" i="0">
                <a:solidFill>
                  <a:srgbClr val="F7F2E8"/>
                </a:solidFill>
                <a:latin typeface="Segoe UI Semibold"/>
              </a:rPr>
              <a:t>Nmapper</a:t>
            </a:r>
          </a:p>
        </p:txBody>
      </p:sp>
      <p:sp>
        <p:nvSpPr>
          <p:cNvPr id="19" name="TextBox 18"/>
          <p:cNvSpPr txBox="1"/>
          <p:nvPr/>
        </p:nvSpPr>
        <p:spPr>
          <a:xfrm>
            <a:off x="8200948" y="2657855"/>
            <a:ext cx="3295802" cy="1292352"/>
          </a:xfrm>
          <a:prstGeom prst="rect">
            <a:avLst/>
          </a:prstGeom>
          <a:noFill/>
        </p:spPr>
        <p:txBody>
          <a:bodyPr wrap="square" lIns="45720" rIns="45720" tIns="27432" bIns="27432" anchor="t">
            <a:noAutofit/>
          </a:bodyPr>
          <a:lstStyle/>
          <a:p>
            <a:pPr algn="l">
              <a:lnSpc>
                <a:spcPct val="100000"/>
              </a:lnSpc>
            </a:pPr>
            <a:r>
              <a:rPr sz="1300" b="0" i="0">
                <a:solidFill>
                  <a:srgbClr val="A7B2B0"/>
                </a:solidFill>
                <a:latin typeface="Segoe UI"/>
              </a:rPr>
              <a:t>Usa el nmap que tú instalaste; nunca lo incluye; el connect scan no necesita admin.</a:t>
            </a:r>
          </a:p>
        </p:txBody>
      </p:sp>
      <p:sp>
        <p:nvSpPr>
          <p:cNvPr id="20" name="Rounded Rectangle 19"/>
          <p:cNvSpPr/>
          <p:nvPr/>
        </p:nvSpPr>
        <p:spPr>
          <a:xfrm>
            <a:off x="566928" y="4242816"/>
            <a:ext cx="3551834" cy="1956816"/>
          </a:xfrm>
          <a:prstGeom prst="roundRect">
            <a:avLst>
              <a:gd name="adj" fmla="val 5607"/>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ectangle 20"/>
          <p:cNvSpPr/>
          <p:nvPr/>
        </p:nvSpPr>
        <p:spPr>
          <a:xfrm>
            <a:off x="731520" y="4370832"/>
            <a:ext cx="502920" cy="45720"/>
          </a:xfrm>
          <a:prstGeom prst="rect">
            <a:avLst/>
          </a:prstGeom>
          <a:solidFill>
            <a:srgbClr val="46D2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694944" y="4462272"/>
            <a:ext cx="3295802" cy="353568"/>
          </a:xfrm>
          <a:prstGeom prst="rect">
            <a:avLst/>
          </a:prstGeom>
          <a:noFill/>
        </p:spPr>
        <p:txBody>
          <a:bodyPr wrap="square" lIns="45720" rIns="45720" tIns="27432" bIns="27432" anchor="t">
            <a:noAutofit/>
          </a:bodyPr>
          <a:lstStyle/>
          <a:p>
            <a:pPr algn="l">
              <a:lnSpc>
                <a:spcPct val="100000"/>
              </a:lnSpc>
            </a:pPr>
            <a:r>
              <a:rPr sz="1600" b="0" i="0">
                <a:solidFill>
                  <a:srgbClr val="F7F2E8"/>
                </a:solidFill>
                <a:latin typeface="Segoe UI Semibold"/>
              </a:rPr>
              <a:t>Analyzer</a:t>
            </a:r>
          </a:p>
        </p:txBody>
      </p:sp>
      <p:sp>
        <p:nvSpPr>
          <p:cNvPr id="23" name="TextBox 22"/>
          <p:cNvSpPr txBox="1"/>
          <p:nvPr/>
        </p:nvSpPr>
        <p:spPr>
          <a:xfrm>
            <a:off x="694944" y="4815840"/>
            <a:ext cx="3295802" cy="1292352"/>
          </a:xfrm>
          <a:prstGeom prst="rect">
            <a:avLst/>
          </a:prstGeom>
          <a:noFill/>
        </p:spPr>
        <p:txBody>
          <a:bodyPr wrap="square" lIns="45720" rIns="45720" tIns="27432" bIns="27432" anchor="t">
            <a:noAutofit/>
          </a:bodyPr>
          <a:lstStyle/>
          <a:p>
            <a:pPr algn="l">
              <a:lnSpc>
                <a:spcPct val="100000"/>
              </a:lnSpc>
            </a:pPr>
            <a:r>
              <a:rPr sz="1300" b="0" i="0">
                <a:solidFill>
                  <a:srgbClr val="A7B2B0"/>
                </a:solidFill>
                <a:latin typeface="Segoe UI"/>
              </a:rPr>
              <a:t>bandit, semgrep, ruff, eslint, gitleaks y pip-audit, de forma determinista.</a:t>
            </a:r>
          </a:p>
        </p:txBody>
      </p:sp>
      <p:sp>
        <p:nvSpPr>
          <p:cNvPr id="24" name="Rounded Rectangle 23"/>
          <p:cNvSpPr/>
          <p:nvPr/>
        </p:nvSpPr>
        <p:spPr>
          <a:xfrm>
            <a:off x="4319930" y="4242816"/>
            <a:ext cx="3551834" cy="1956816"/>
          </a:xfrm>
          <a:prstGeom prst="roundRect">
            <a:avLst>
              <a:gd name="adj" fmla="val 5607"/>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ectangle 24"/>
          <p:cNvSpPr/>
          <p:nvPr/>
        </p:nvSpPr>
        <p:spPr>
          <a:xfrm>
            <a:off x="4484522" y="4370832"/>
            <a:ext cx="502920" cy="45720"/>
          </a:xfrm>
          <a:prstGeom prst="rect">
            <a:avLst/>
          </a:prstGeom>
          <a:solidFill>
            <a:srgbClr val="D25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4447946" y="4462272"/>
            <a:ext cx="3295802" cy="353568"/>
          </a:xfrm>
          <a:prstGeom prst="rect">
            <a:avLst/>
          </a:prstGeom>
          <a:noFill/>
        </p:spPr>
        <p:txBody>
          <a:bodyPr wrap="square" lIns="45720" rIns="45720" tIns="27432" bIns="27432" anchor="t">
            <a:noAutofit/>
          </a:bodyPr>
          <a:lstStyle/>
          <a:p>
            <a:pPr algn="l">
              <a:lnSpc>
                <a:spcPct val="100000"/>
              </a:lnSpc>
            </a:pPr>
            <a:r>
              <a:rPr sz="1600" b="0" i="0">
                <a:solidFill>
                  <a:srgbClr val="F7F2E8"/>
                </a:solidFill>
                <a:latin typeface="Segoe UI Semibold"/>
              </a:rPr>
              <a:t>Reviewer</a:t>
            </a:r>
          </a:p>
        </p:txBody>
      </p:sp>
      <p:sp>
        <p:nvSpPr>
          <p:cNvPr id="27" name="TextBox 26"/>
          <p:cNvSpPr txBox="1"/>
          <p:nvPr/>
        </p:nvSpPr>
        <p:spPr>
          <a:xfrm>
            <a:off x="4447946" y="4815840"/>
            <a:ext cx="3295802" cy="1292352"/>
          </a:xfrm>
          <a:prstGeom prst="rect">
            <a:avLst/>
          </a:prstGeom>
          <a:noFill/>
        </p:spPr>
        <p:txBody>
          <a:bodyPr wrap="square" lIns="45720" rIns="45720" tIns="27432" bIns="27432" anchor="t">
            <a:noAutofit/>
          </a:bodyPr>
          <a:lstStyle/>
          <a:p>
            <a:pPr algn="l">
              <a:lnSpc>
                <a:spcPct val="100000"/>
              </a:lnSpc>
            </a:pPr>
            <a:r>
              <a:rPr sz="1300" b="0" i="0">
                <a:solidFill>
                  <a:srgbClr val="A7B2B0"/>
                </a:solidFill>
                <a:latin typeface="Segoe UI"/>
              </a:rPr>
              <a:t>Una revisión de un diff a nivel senior, con un veredicto según el cual un flow puede ramificarse.</a:t>
            </a:r>
          </a:p>
        </p:txBody>
      </p:sp>
      <p:sp>
        <p:nvSpPr>
          <p:cNvPr id="28" name="Rounded Rectangle 27"/>
          <p:cNvSpPr/>
          <p:nvPr/>
        </p:nvSpPr>
        <p:spPr>
          <a:xfrm>
            <a:off x="8072932" y="4242816"/>
            <a:ext cx="3551834" cy="1956816"/>
          </a:xfrm>
          <a:prstGeom prst="roundRect">
            <a:avLst>
              <a:gd name="adj" fmla="val 5607"/>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Rectangle 28"/>
          <p:cNvSpPr/>
          <p:nvPr/>
        </p:nvSpPr>
        <p:spPr>
          <a:xfrm>
            <a:off x="8237524" y="4370832"/>
            <a:ext cx="502920" cy="45720"/>
          </a:xfrm>
          <a:prstGeom prst="rect">
            <a:avLst/>
          </a:prstGeom>
          <a:solidFill>
            <a:srgbClr val="D957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8200948" y="4462272"/>
            <a:ext cx="3295802" cy="353568"/>
          </a:xfrm>
          <a:prstGeom prst="rect">
            <a:avLst/>
          </a:prstGeom>
          <a:noFill/>
        </p:spPr>
        <p:txBody>
          <a:bodyPr wrap="square" lIns="45720" rIns="45720" tIns="27432" bIns="27432" anchor="t">
            <a:noAutofit/>
          </a:bodyPr>
          <a:lstStyle/>
          <a:p>
            <a:pPr algn="l">
              <a:lnSpc>
                <a:spcPct val="100000"/>
              </a:lnSpc>
            </a:pPr>
            <a:r>
              <a:rPr sz="1600" b="0" i="0">
                <a:solidFill>
                  <a:srgbClr val="F7F2E8"/>
                </a:solidFill>
                <a:latin typeface="Segoe UI Semibold"/>
              </a:rPr>
              <a:t>Kyber</a:t>
            </a:r>
          </a:p>
        </p:txBody>
      </p:sp>
      <p:sp>
        <p:nvSpPr>
          <p:cNvPr id="31" name="TextBox 30"/>
          <p:cNvSpPr txBox="1"/>
          <p:nvPr/>
        </p:nvSpPr>
        <p:spPr>
          <a:xfrm>
            <a:off x="8200948" y="4815840"/>
            <a:ext cx="3295802" cy="1292352"/>
          </a:xfrm>
          <a:prstGeom prst="rect">
            <a:avLst/>
          </a:prstGeom>
          <a:noFill/>
        </p:spPr>
        <p:txBody>
          <a:bodyPr wrap="square" lIns="45720" rIns="45720" tIns="27432" bIns="27432" anchor="t">
            <a:noAutofit/>
          </a:bodyPr>
          <a:lstStyle/>
          <a:p>
            <a:pPr algn="l">
              <a:lnSpc>
                <a:spcPct val="100000"/>
              </a:lnSpc>
            </a:pPr>
            <a:r>
              <a:rPr sz="1300" b="0" i="0">
                <a:solidFill>
                  <a:srgbClr val="A7B2B0"/>
                </a:solidFill>
                <a:latin typeface="Segoe UI"/>
              </a:rPr>
              <a:t>Generación de llaves, cifrado y descifrado poscuánticos.</a:t>
            </a:r>
          </a:p>
        </p:txBody>
      </p:sp>
      <p:cxnSp>
        <p:nvCxnSpPr>
          <p:cNvPr id="32" name="Connector 31"/>
          <p:cNvCxnSpPr/>
          <p:nvPr/>
        </p:nvCxnSpPr>
        <p:spPr>
          <a:xfrm>
            <a:off x="566928" y="6373368"/>
            <a:ext cx="11057839" cy="0"/>
          </a:xfrm>
          <a:prstGeom prst="line">
            <a:avLst/>
          </a:prstGeom>
          <a:ln w="7620">
            <a:solidFill>
              <a:srgbClr val="2A3A40"/>
            </a:solidFill>
          </a:ln>
        </p:spPr>
        <p:style>
          <a:lnRef idx="2">
            <a:schemeClr val="accent1"/>
          </a:lnRef>
          <a:fillRef idx="0">
            <a:schemeClr val="accent1"/>
          </a:fillRef>
          <a:effectRef idx="1">
            <a:schemeClr val="accent1"/>
          </a:effectRef>
          <a:fontRef idx="minor">
            <a:schemeClr val="tx1"/>
          </a:fontRef>
        </p:style>
      </p:cxnSp>
      <p:sp>
        <p:nvSpPr>
          <p:cNvPr id="33" name="TextBox 32"/>
          <p:cNvSpPr txBox="1"/>
          <p:nvPr/>
        </p:nvSpPr>
        <p:spPr>
          <a:xfrm>
            <a:off x="566928" y="6419088"/>
            <a:ext cx="6858000" cy="274320"/>
          </a:xfrm>
          <a:prstGeom prst="rect">
            <a:avLst/>
          </a:prstGeom>
          <a:noFill/>
        </p:spPr>
        <p:txBody>
          <a:bodyPr wrap="square" lIns="45720" rIns="45720" tIns="27432" bIns="27432" anchor="t">
            <a:noAutofit/>
          </a:bodyPr>
          <a:lstStyle/>
          <a:p>
            <a:pPr algn="l">
              <a:lnSpc>
                <a:spcPct val="100000"/>
              </a:lnSpc>
            </a:pPr>
            <a:r>
              <a:rPr sz="850" b="0" i="0" spc="120">
                <a:solidFill>
                  <a:srgbClr val="A7B2B0"/>
                </a:solidFill>
                <a:latin typeface="Segoe UI Semibold"/>
              </a:rPr>
              <a:t>TLAMATINI  ·  V · CAPACIDADES PROFUNDAS</a:t>
            </a:r>
          </a:p>
        </p:txBody>
      </p:sp>
      <p:sp>
        <p:nvSpPr>
          <p:cNvPr id="34" name="TextBox 33"/>
          <p:cNvSpPr txBox="1"/>
          <p:nvPr/>
        </p:nvSpPr>
        <p:spPr>
          <a:xfrm>
            <a:off x="8698687" y="6419088"/>
            <a:ext cx="2926080" cy="274320"/>
          </a:xfrm>
          <a:prstGeom prst="rect">
            <a:avLst/>
          </a:prstGeom>
          <a:noFill/>
        </p:spPr>
        <p:txBody>
          <a:bodyPr wrap="square" lIns="45720" rIns="45720" tIns="27432" bIns="27432" anchor="t">
            <a:noAutofit/>
          </a:bodyPr>
          <a:lstStyle/>
          <a:p>
            <a:pPr algn="r">
              <a:lnSpc>
                <a:spcPct val="100000"/>
              </a:lnSpc>
            </a:pPr>
            <a:r>
              <a:rPr sz="850" b="0" i="0" spc="100">
                <a:solidFill>
                  <a:srgbClr val="A7B2B0"/>
                </a:solidFill>
                <a:latin typeface="Segoe UI Semibold"/>
              </a:rPr>
              <a:t>v1.91.1   ·   91</a:t>
            </a:r>
          </a:p>
        </p:txBody>
      </p:sp>
    </p:spTree>
  </p:cSld>
  <p:clrMapOvr>
    <a:masterClrMapping/>
  </p:clrMapOvr>
</p:sld>
</file>

<file path=ppt/slides/slide9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content.png"/>
          <p:cNvPicPr>
            <a:picLocks noChangeAspect="1"/>
          </p:cNvPicPr>
          <p:nvPr/>
        </p:nvPicPr>
        <p:blipFill>
          <a:blip r:embed="rId2"/>
          <a:stretch>
            <a:fillRect/>
          </a:stretch>
        </p:blipFill>
        <p:spPr>
          <a:xfrm>
            <a:off x="0" y="0"/>
            <a:ext cx="12191695" cy="6858000"/>
          </a:xfrm>
          <a:prstGeom prst="rect">
            <a:avLst/>
          </a:prstGeom>
        </p:spPr>
      </p:pic>
      <p:sp>
        <p:nvSpPr>
          <p:cNvPr id="3" name="Diamond 2"/>
          <p:cNvSpPr/>
          <p:nvPr/>
        </p:nvSpPr>
        <p:spPr>
          <a:xfrm>
            <a:off x="566928" y="457200"/>
            <a:ext cx="100584" cy="100584"/>
          </a:xfrm>
          <a:prstGeom prst="diamond">
            <a:avLst/>
          </a:prstGeom>
          <a:solidFill>
            <a:srgbClr val="46D2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49808" y="365760"/>
            <a:ext cx="8229600" cy="292608"/>
          </a:xfrm>
          <a:prstGeom prst="rect">
            <a:avLst/>
          </a:prstGeom>
          <a:noFill/>
        </p:spPr>
        <p:txBody>
          <a:bodyPr wrap="square" lIns="45720" rIns="45720" tIns="27432" bIns="27432" anchor="t">
            <a:noAutofit/>
          </a:bodyPr>
          <a:lstStyle/>
          <a:p>
            <a:pPr algn="l">
              <a:lnSpc>
                <a:spcPct val="100000"/>
              </a:lnSpc>
            </a:pPr>
            <a:r>
              <a:rPr sz="1100" b="0" i="0" spc="240">
                <a:solidFill>
                  <a:srgbClr val="C98457"/>
                </a:solidFill>
                <a:latin typeface="Segoe UI Semibold"/>
              </a:rPr>
              <a:t>KIT BLUE-HAT</a:t>
            </a:r>
          </a:p>
        </p:txBody>
      </p:sp>
      <p:sp>
        <p:nvSpPr>
          <p:cNvPr id="5" name="TextBox 4"/>
          <p:cNvSpPr txBox="1"/>
          <p:nvPr/>
        </p:nvSpPr>
        <p:spPr>
          <a:xfrm>
            <a:off x="539496" y="676656"/>
            <a:ext cx="11057839" cy="658368"/>
          </a:xfrm>
          <a:prstGeom prst="rect">
            <a:avLst/>
          </a:prstGeom>
          <a:noFill/>
        </p:spPr>
        <p:txBody>
          <a:bodyPr wrap="square" lIns="45720" rIns="45720" tIns="27432" bIns="27432" anchor="t">
            <a:noAutofit/>
          </a:bodyPr>
          <a:lstStyle/>
          <a:p>
            <a:pPr algn="l">
              <a:lnSpc>
                <a:spcPct val="100000"/>
              </a:lnSpc>
            </a:pPr>
            <a:r>
              <a:rPr sz="3100" b="0" i="0">
                <a:solidFill>
                  <a:srgbClr val="F7F2E8"/>
                </a:solidFill>
                <a:latin typeface="Palatino Linotype"/>
              </a:rPr>
              <a:t>Defensa de Windows, operada por una persona</a:t>
            </a:r>
          </a:p>
        </p:txBody>
      </p:sp>
      <p:sp>
        <p:nvSpPr>
          <p:cNvPr id="6" name="Rectangle 5"/>
          <p:cNvSpPr/>
          <p:nvPr/>
        </p:nvSpPr>
        <p:spPr>
          <a:xfrm>
            <a:off x="566928" y="1344168"/>
            <a:ext cx="822960" cy="36576"/>
          </a:xfrm>
          <a:prstGeom prst="rect">
            <a:avLst/>
          </a:prstGeom>
          <a:solidFill>
            <a:srgbClr val="46D2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566928" y="1444752"/>
            <a:ext cx="10692079" cy="585216"/>
          </a:xfrm>
          <a:prstGeom prst="rect">
            <a:avLst/>
          </a:prstGeom>
          <a:noFill/>
        </p:spPr>
        <p:txBody>
          <a:bodyPr wrap="square" lIns="45720" rIns="45720" tIns="27432" bIns="27432" anchor="t">
            <a:noAutofit/>
          </a:bodyPr>
          <a:lstStyle/>
          <a:p>
            <a:pPr algn="l">
              <a:lnSpc>
                <a:spcPct val="100000"/>
              </a:lnSpc>
            </a:pPr>
            <a:r>
              <a:rPr sz="1450" b="0" i="0">
                <a:solidFill>
                  <a:srgbClr val="A7B2B0"/>
                </a:solidFill>
                <a:latin typeface="Segoe UI Semilight"/>
              </a:rPr>
              <a:t>El kit </a:t>
            </a:r>
            <a:r>
              <a:rPr sz="1350" b="0" i="0">
                <a:solidFill>
                  <a:srgbClr val="E2B462"/>
                </a:solidFill>
                <a:latin typeface="Consolas"/>
              </a:rPr>
              <a:t>security/</a:t>
            </a:r>
            <a:r>
              <a:rPr sz="1450" b="0" i="0">
                <a:solidFill>
                  <a:srgbClr val="A7B2B0"/>
                </a:solidFill>
                <a:latin typeface="Segoe UI Semilight"/>
              </a:rPr>
              <a:t> es un conjunto de monitoreo y respuesta que corre un administrador, no un tool del chat: una persona lo lanza, lee su evidencia y decide.</a:t>
            </a:r>
          </a:p>
        </p:txBody>
      </p:sp>
      <p:sp>
        <p:nvSpPr>
          <p:cNvPr id="8" name="Rounded Rectangle 7"/>
          <p:cNvSpPr/>
          <p:nvPr/>
        </p:nvSpPr>
        <p:spPr>
          <a:xfrm>
            <a:off x="566928" y="2084831"/>
            <a:ext cx="5212080" cy="932688"/>
          </a:xfrm>
          <a:prstGeom prst="roundRect">
            <a:avLst>
              <a:gd name="adj" fmla="val 9803"/>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Diamond 8"/>
          <p:cNvSpPr/>
          <p:nvPr/>
        </p:nvSpPr>
        <p:spPr>
          <a:xfrm>
            <a:off x="768096" y="2487168"/>
            <a:ext cx="128016" cy="128016"/>
          </a:xfrm>
          <a:prstGeom prst="diamond">
            <a:avLst/>
          </a:prstGeom>
          <a:solidFill>
            <a:srgbClr val="3BBE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1024128" y="2139696"/>
            <a:ext cx="1554480" cy="822960"/>
          </a:xfrm>
          <a:prstGeom prst="rect">
            <a:avLst/>
          </a:prstGeom>
          <a:noFill/>
        </p:spPr>
        <p:txBody>
          <a:bodyPr wrap="square" lIns="45720" rIns="45720" tIns="27432" bIns="27432" anchor="ctr">
            <a:noAutofit/>
          </a:bodyPr>
          <a:lstStyle/>
          <a:p>
            <a:pPr algn="l">
              <a:lnSpc>
                <a:spcPct val="100000"/>
              </a:lnSpc>
            </a:pPr>
            <a:r>
              <a:rPr sz="1600" b="0" i="0">
                <a:solidFill>
                  <a:srgbClr val="F7F2E8"/>
                </a:solidFill>
                <a:latin typeface="Segoe UI Semibold"/>
              </a:rPr>
              <a:t>Operado por una persona</a:t>
            </a:r>
          </a:p>
        </p:txBody>
      </p:sp>
      <p:sp>
        <p:nvSpPr>
          <p:cNvPr id="11" name="TextBox 10"/>
          <p:cNvSpPr txBox="1"/>
          <p:nvPr/>
        </p:nvSpPr>
        <p:spPr>
          <a:xfrm>
            <a:off x="2670048" y="2139696"/>
            <a:ext cx="2971800" cy="822960"/>
          </a:xfrm>
          <a:prstGeom prst="rect">
            <a:avLst/>
          </a:prstGeom>
          <a:noFill/>
        </p:spPr>
        <p:txBody>
          <a:bodyPr wrap="square" lIns="45720" rIns="45720" tIns="27432" bIns="27432" anchor="ctr">
            <a:noAutofit/>
          </a:bodyPr>
          <a:lstStyle/>
          <a:p>
            <a:pPr algn="l">
              <a:lnSpc>
                <a:spcPct val="100000"/>
              </a:lnSpc>
            </a:pPr>
            <a:r>
              <a:rPr sz="1400" b="0" i="0">
                <a:solidFill>
                  <a:srgbClr val="A7B2B0"/>
                </a:solidFill>
                <a:latin typeface="Segoe UI"/>
              </a:rPr>
              <a:t>Una persona lo lanza y es dueña de cada cambio de política.</a:t>
            </a:r>
          </a:p>
        </p:txBody>
      </p:sp>
      <p:sp>
        <p:nvSpPr>
          <p:cNvPr id="12" name="Rounded Rectangle 11"/>
          <p:cNvSpPr/>
          <p:nvPr/>
        </p:nvSpPr>
        <p:spPr>
          <a:xfrm>
            <a:off x="566928" y="3145536"/>
            <a:ext cx="5212080" cy="932688"/>
          </a:xfrm>
          <a:prstGeom prst="roundRect">
            <a:avLst>
              <a:gd name="adj" fmla="val 9803"/>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Diamond 12"/>
          <p:cNvSpPr/>
          <p:nvPr/>
        </p:nvSpPr>
        <p:spPr>
          <a:xfrm>
            <a:off x="768096" y="3547872"/>
            <a:ext cx="128016" cy="128016"/>
          </a:xfrm>
          <a:prstGeom prst="diamond">
            <a:avLst/>
          </a:prstGeom>
          <a:solidFill>
            <a:srgbClr val="C984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1024128" y="3200400"/>
            <a:ext cx="1554480" cy="822960"/>
          </a:xfrm>
          <a:prstGeom prst="rect">
            <a:avLst/>
          </a:prstGeom>
          <a:noFill/>
        </p:spPr>
        <p:txBody>
          <a:bodyPr wrap="square" lIns="45720" rIns="45720" tIns="27432" bIns="27432" anchor="ctr">
            <a:noAutofit/>
          </a:bodyPr>
          <a:lstStyle/>
          <a:p>
            <a:pPr algn="l">
              <a:lnSpc>
                <a:spcPct val="100000"/>
              </a:lnSpc>
            </a:pPr>
            <a:r>
              <a:rPr sz="1600" b="0" i="0">
                <a:solidFill>
                  <a:srgbClr val="F7F2E8"/>
                </a:solidFill>
                <a:latin typeface="Segoe UI Semibold"/>
              </a:rPr>
              <a:t>Diez familias</a:t>
            </a:r>
          </a:p>
        </p:txBody>
      </p:sp>
      <p:sp>
        <p:nvSpPr>
          <p:cNvPr id="15" name="TextBox 14"/>
          <p:cNvSpPr txBox="1"/>
          <p:nvPr/>
        </p:nvSpPr>
        <p:spPr>
          <a:xfrm>
            <a:off x="2670048" y="3200400"/>
            <a:ext cx="2971800" cy="822960"/>
          </a:xfrm>
          <a:prstGeom prst="rect">
            <a:avLst/>
          </a:prstGeom>
          <a:noFill/>
        </p:spPr>
        <p:txBody>
          <a:bodyPr wrap="square" lIns="45720" rIns="45720" tIns="27432" bIns="27432" anchor="ctr">
            <a:noAutofit/>
          </a:bodyPr>
          <a:lstStyle/>
          <a:p>
            <a:pPr algn="l">
              <a:lnSpc>
                <a:spcPct val="100000"/>
              </a:lnSpc>
            </a:pPr>
            <a:r>
              <a:rPr sz="1400" b="0" i="0">
                <a:solidFill>
                  <a:srgbClr val="A7B2B0"/>
                </a:solidFill>
                <a:latin typeface="Segoe UI"/>
              </a:rPr>
              <a:t>Defender, inicios de sesión, red, procesos, persistencia, ransomware, cuentas.</a:t>
            </a:r>
          </a:p>
        </p:txBody>
      </p:sp>
      <p:sp>
        <p:nvSpPr>
          <p:cNvPr id="16" name="Rounded Rectangle 15"/>
          <p:cNvSpPr/>
          <p:nvPr/>
        </p:nvSpPr>
        <p:spPr>
          <a:xfrm>
            <a:off x="566928" y="4206240"/>
            <a:ext cx="5212080" cy="932688"/>
          </a:xfrm>
          <a:prstGeom prst="roundRect">
            <a:avLst>
              <a:gd name="adj" fmla="val 9803"/>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Diamond 16"/>
          <p:cNvSpPr/>
          <p:nvPr/>
        </p:nvSpPr>
        <p:spPr>
          <a:xfrm>
            <a:off x="768096" y="4608575"/>
            <a:ext cx="128016" cy="128016"/>
          </a:xfrm>
          <a:prstGeom prst="diamond">
            <a:avLst/>
          </a:prstGeom>
          <a:solidFill>
            <a:srgbClr val="E2B4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1024128" y="4261103"/>
            <a:ext cx="1554480" cy="822960"/>
          </a:xfrm>
          <a:prstGeom prst="rect">
            <a:avLst/>
          </a:prstGeom>
          <a:noFill/>
        </p:spPr>
        <p:txBody>
          <a:bodyPr wrap="square" lIns="45720" rIns="45720" tIns="27432" bIns="27432" anchor="ctr">
            <a:noAutofit/>
          </a:bodyPr>
          <a:lstStyle/>
          <a:p>
            <a:pPr algn="l">
              <a:lnSpc>
                <a:spcPct val="100000"/>
              </a:lnSpc>
            </a:pPr>
            <a:r>
              <a:rPr sz="1600" b="0" i="0">
                <a:solidFill>
                  <a:srgbClr val="F7F2E8"/>
                </a:solidFill>
                <a:latin typeface="Segoe UI Semibold"/>
              </a:rPr>
              <a:t>Detectar primero</a:t>
            </a:r>
          </a:p>
        </p:txBody>
      </p:sp>
      <p:sp>
        <p:nvSpPr>
          <p:cNvPr id="19" name="TextBox 18"/>
          <p:cNvSpPr txBox="1"/>
          <p:nvPr/>
        </p:nvSpPr>
        <p:spPr>
          <a:xfrm>
            <a:off x="2670048" y="4261103"/>
            <a:ext cx="2971800" cy="822960"/>
          </a:xfrm>
          <a:prstGeom prst="rect">
            <a:avLst/>
          </a:prstGeom>
          <a:noFill/>
        </p:spPr>
        <p:txBody>
          <a:bodyPr wrap="square" lIns="45720" rIns="45720" tIns="27432" bIns="27432" anchor="ctr">
            <a:noAutofit/>
          </a:bodyPr>
          <a:lstStyle/>
          <a:p>
            <a:pPr algn="l">
              <a:lnSpc>
                <a:spcPct val="100000"/>
              </a:lnSpc>
            </a:pPr>
            <a:r>
              <a:rPr sz="1400" b="0" i="0">
                <a:solidFill>
                  <a:srgbClr val="A7B2B0"/>
                </a:solidFill>
                <a:latin typeface="Segoe UI"/>
              </a:rPr>
              <a:t>Línea base con -DetectOnly antes de armar.</a:t>
            </a:r>
          </a:p>
        </p:txBody>
      </p:sp>
      <p:sp>
        <p:nvSpPr>
          <p:cNvPr id="20" name="Rounded Rectangle 19"/>
          <p:cNvSpPr/>
          <p:nvPr/>
        </p:nvSpPr>
        <p:spPr>
          <a:xfrm>
            <a:off x="566928" y="5266944"/>
            <a:ext cx="5212080" cy="932688"/>
          </a:xfrm>
          <a:prstGeom prst="roundRect">
            <a:avLst>
              <a:gd name="adj" fmla="val 9803"/>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Diamond 20"/>
          <p:cNvSpPr/>
          <p:nvPr/>
        </p:nvSpPr>
        <p:spPr>
          <a:xfrm>
            <a:off x="768096" y="5669279"/>
            <a:ext cx="128016" cy="128016"/>
          </a:xfrm>
          <a:prstGeom prst="diamond">
            <a:avLst/>
          </a:prstGeom>
          <a:solidFill>
            <a:srgbClr val="46D2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1024128" y="5321807"/>
            <a:ext cx="1554480" cy="822960"/>
          </a:xfrm>
          <a:prstGeom prst="rect">
            <a:avLst/>
          </a:prstGeom>
          <a:noFill/>
        </p:spPr>
        <p:txBody>
          <a:bodyPr wrap="square" lIns="45720" rIns="45720" tIns="27432" bIns="27432" anchor="ctr">
            <a:noAutofit/>
          </a:bodyPr>
          <a:lstStyle/>
          <a:p>
            <a:pPr algn="l">
              <a:lnSpc>
                <a:spcPct val="100000"/>
              </a:lnSpc>
            </a:pPr>
            <a:r>
              <a:rPr sz="1600" b="0" i="0">
                <a:solidFill>
                  <a:srgbClr val="F7F2E8"/>
                </a:solidFill>
                <a:latin typeface="Segoe UI Semibold"/>
              </a:rPr>
              <a:t>Concesiones</a:t>
            </a:r>
          </a:p>
        </p:txBody>
      </p:sp>
      <p:sp>
        <p:nvSpPr>
          <p:cNvPr id="23" name="TextBox 22"/>
          <p:cNvSpPr txBox="1"/>
          <p:nvPr/>
        </p:nvSpPr>
        <p:spPr>
          <a:xfrm>
            <a:off x="2670048" y="5321807"/>
            <a:ext cx="2971800" cy="822960"/>
          </a:xfrm>
          <a:prstGeom prst="rect">
            <a:avLst/>
          </a:prstGeom>
          <a:noFill/>
        </p:spPr>
        <p:txBody>
          <a:bodyPr wrap="square" lIns="45720" rIns="45720" tIns="27432" bIns="27432" anchor="ctr">
            <a:noAutofit/>
          </a:bodyPr>
          <a:lstStyle/>
          <a:p>
            <a:pPr algn="l">
              <a:lnSpc>
                <a:spcPct val="100000"/>
              </a:lnSpc>
            </a:pPr>
            <a:r>
              <a:rPr sz="1400" b="0" i="0">
                <a:solidFill>
                  <a:srgbClr val="A7B2B0"/>
                </a:solidFill>
                <a:latin typeface="Segoe UI"/>
              </a:rPr>
              <a:t>Las exclusiones y las reglas en modo Audit se registran y se explican.</a:t>
            </a:r>
          </a:p>
        </p:txBody>
      </p:sp>
      <p:sp>
        <p:nvSpPr>
          <p:cNvPr id="24" name="Rounded Rectangle 23"/>
          <p:cNvSpPr/>
          <p:nvPr/>
        </p:nvSpPr>
        <p:spPr>
          <a:xfrm>
            <a:off x="6144768" y="2084831"/>
            <a:ext cx="5479999" cy="2432303"/>
          </a:xfrm>
          <a:prstGeom prst="roundRect">
            <a:avLst>
              <a:gd name="adj" fmla="val 3007"/>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ounded Rectangle 24"/>
          <p:cNvSpPr/>
          <p:nvPr/>
        </p:nvSpPr>
        <p:spPr>
          <a:xfrm>
            <a:off x="6144768" y="2084831"/>
            <a:ext cx="5479999" cy="384048"/>
          </a:xfrm>
          <a:prstGeom prst="roundRect">
            <a:avLst>
              <a:gd name="adj" fmla="val 19047"/>
            </a:avLst>
          </a:prstGeom>
          <a:solidFill>
            <a:srgbClr val="151F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6217920" y="2121408"/>
            <a:ext cx="1388095" cy="310896"/>
          </a:xfrm>
          <a:prstGeom prst="rect">
            <a:avLst/>
          </a:prstGeom>
          <a:noFill/>
        </p:spPr>
        <p:txBody>
          <a:bodyPr wrap="square" lIns="45720" rIns="45720" tIns="27432" bIns="27432" anchor="ctr">
            <a:noAutofit/>
          </a:bodyPr>
          <a:lstStyle/>
          <a:p>
            <a:pPr algn="l">
              <a:lnSpc>
                <a:spcPct val="100000"/>
              </a:lnSpc>
            </a:pPr>
            <a:r>
              <a:rPr sz="1000" b="0" i="0" spc="120">
                <a:solidFill>
                  <a:srgbClr val="E2B462"/>
                </a:solidFill>
                <a:latin typeface="Segoe UI Semibold"/>
              </a:rPr>
              <a:t>MODO</a:t>
            </a:r>
          </a:p>
        </p:txBody>
      </p:sp>
      <p:sp>
        <p:nvSpPr>
          <p:cNvPr id="27" name="TextBox 26"/>
          <p:cNvSpPr txBox="1"/>
          <p:nvPr/>
        </p:nvSpPr>
        <p:spPr>
          <a:xfrm>
            <a:off x="7752319" y="2121408"/>
            <a:ext cx="3799295" cy="310896"/>
          </a:xfrm>
          <a:prstGeom prst="rect">
            <a:avLst/>
          </a:prstGeom>
          <a:noFill/>
        </p:spPr>
        <p:txBody>
          <a:bodyPr wrap="square" lIns="45720" rIns="45720" tIns="27432" bIns="27432" anchor="ctr">
            <a:noAutofit/>
          </a:bodyPr>
          <a:lstStyle/>
          <a:p>
            <a:pPr algn="l">
              <a:lnSpc>
                <a:spcPct val="100000"/>
              </a:lnSpc>
            </a:pPr>
            <a:r>
              <a:rPr sz="1000" b="0" i="0" spc="120">
                <a:solidFill>
                  <a:srgbClr val="E2B462"/>
                </a:solidFill>
                <a:latin typeface="Segoe UI Semibold"/>
              </a:rPr>
              <a:t>COMPORTAMIENTO</a:t>
            </a:r>
          </a:p>
        </p:txBody>
      </p:sp>
      <p:sp>
        <p:nvSpPr>
          <p:cNvPr id="28" name="TextBox 27"/>
          <p:cNvSpPr txBox="1"/>
          <p:nvPr/>
        </p:nvSpPr>
        <p:spPr>
          <a:xfrm>
            <a:off x="6217920" y="2505456"/>
            <a:ext cx="1388095" cy="438911"/>
          </a:xfrm>
          <a:prstGeom prst="rect">
            <a:avLst/>
          </a:prstGeom>
          <a:noFill/>
        </p:spPr>
        <p:txBody>
          <a:bodyPr wrap="square" lIns="45720" rIns="45720" tIns="27432" bIns="27432" anchor="ctr">
            <a:noAutofit/>
          </a:bodyPr>
          <a:lstStyle/>
          <a:p>
            <a:pPr algn="l">
              <a:lnSpc>
                <a:spcPct val="100000"/>
              </a:lnSpc>
            </a:pPr>
            <a:r>
              <a:rPr sz="1200" b="0" i="0">
                <a:solidFill>
                  <a:srgbClr val="F7F2E8"/>
                </a:solidFill>
                <a:latin typeface="Segoe UI Semibold"/>
              </a:rPr>
              <a:t>-DetectOnly</a:t>
            </a:r>
          </a:p>
        </p:txBody>
      </p:sp>
      <p:sp>
        <p:nvSpPr>
          <p:cNvPr id="29" name="TextBox 28"/>
          <p:cNvSpPr txBox="1"/>
          <p:nvPr/>
        </p:nvSpPr>
        <p:spPr>
          <a:xfrm>
            <a:off x="7752319" y="2505456"/>
            <a:ext cx="3799295" cy="438911"/>
          </a:xfrm>
          <a:prstGeom prst="rect">
            <a:avLst/>
          </a:prstGeom>
          <a:noFill/>
        </p:spPr>
        <p:txBody>
          <a:bodyPr wrap="square" lIns="45720" rIns="45720" tIns="27432" bIns="27432" anchor="ctr">
            <a:noAutofit/>
          </a:bodyPr>
          <a:lstStyle/>
          <a:p>
            <a:pPr algn="l">
              <a:lnSpc>
                <a:spcPct val="100000"/>
              </a:lnSpc>
            </a:pPr>
            <a:r>
              <a:rPr sz="1200" b="0" i="0">
                <a:solidFill>
                  <a:srgbClr val="A7B2B0"/>
                </a:solidFill>
                <a:latin typeface="Segoe UI"/>
              </a:rPr>
              <a:t>Reporta lo que bloquearía o detendría; la primera ejecución segura.</a:t>
            </a:r>
          </a:p>
        </p:txBody>
      </p:sp>
      <p:sp>
        <p:nvSpPr>
          <p:cNvPr id="30" name="Rectangle 29"/>
          <p:cNvSpPr/>
          <p:nvPr/>
        </p:nvSpPr>
        <p:spPr>
          <a:xfrm>
            <a:off x="6163056" y="2980944"/>
            <a:ext cx="5443423" cy="512063"/>
          </a:xfrm>
          <a:prstGeom prst="rect">
            <a:avLst/>
          </a:prstGeom>
          <a:solidFill>
            <a:srgbClr val="1824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TextBox 30"/>
          <p:cNvSpPr txBox="1"/>
          <p:nvPr/>
        </p:nvSpPr>
        <p:spPr>
          <a:xfrm>
            <a:off x="6217920" y="3017520"/>
            <a:ext cx="1388095" cy="438911"/>
          </a:xfrm>
          <a:prstGeom prst="rect">
            <a:avLst/>
          </a:prstGeom>
          <a:noFill/>
        </p:spPr>
        <p:txBody>
          <a:bodyPr wrap="square" lIns="45720" rIns="45720" tIns="27432" bIns="27432" anchor="ctr">
            <a:noAutofit/>
          </a:bodyPr>
          <a:lstStyle/>
          <a:p>
            <a:pPr algn="l">
              <a:lnSpc>
                <a:spcPct val="100000"/>
              </a:lnSpc>
            </a:pPr>
            <a:r>
              <a:rPr sz="1200" b="0" i="0">
                <a:solidFill>
                  <a:srgbClr val="F7F2E8"/>
                </a:solidFill>
                <a:latin typeface="Segoe UI Semibold"/>
              </a:rPr>
              <a:t>default</a:t>
            </a:r>
          </a:p>
        </p:txBody>
      </p:sp>
      <p:sp>
        <p:nvSpPr>
          <p:cNvPr id="32" name="TextBox 31"/>
          <p:cNvSpPr txBox="1"/>
          <p:nvPr/>
        </p:nvSpPr>
        <p:spPr>
          <a:xfrm>
            <a:off x="7752319" y="3017520"/>
            <a:ext cx="3799295" cy="438911"/>
          </a:xfrm>
          <a:prstGeom prst="rect">
            <a:avLst/>
          </a:prstGeom>
          <a:noFill/>
        </p:spPr>
        <p:txBody>
          <a:bodyPr wrap="square" lIns="45720" rIns="45720" tIns="27432" bIns="27432" anchor="ctr">
            <a:noAutofit/>
          </a:bodyPr>
          <a:lstStyle/>
          <a:p>
            <a:pPr algn="l">
              <a:lnSpc>
                <a:spcPct val="100000"/>
              </a:lnSpc>
            </a:pPr>
            <a:r>
              <a:rPr sz="1200" b="0" i="0">
                <a:solidFill>
                  <a:srgbClr val="A7B2B0"/>
                </a:solidFill>
                <a:latin typeface="Segoe UI"/>
              </a:rPr>
              <a:t>Un barrido armado; puede bloquear una IP atacante y detener tools de atacantes conocidos.</a:t>
            </a:r>
          </a:p>
        </p:txBody>
      </p:sp>
      <p:sp>
        <p:nvSpPr>
          <p:cNvPr id="33" name="TextBox 32"/>
          <p:cNvSpPr txBox="1"/>
          <p:nvPr/>
        </p:nvSpPr>
        <p:spPr>
          <a:xfrm>
            <a:off x="6217920" y="3529584"/>
            <a:ext cx="1388095" cy="438911"/>
          </a:xfrm>
          <a:prstGeom prst="rect">
            <a:avLst/>
          </a:prstGeom>
          <a:noFill/>
        </p:spPr>
        <p:txBody>
          <a:bodyPr wrap="square" lIns="45720" rIns="45720" tIns="27432" bIns="27432" anchor="ctr">
            <a:noAutofit/>
          </a:bodyPr>
          <a:lstStyle/>
          <a:p>
            <a:pPr algn="l">
              <a:lnSpc>
                <a:spcPct val="100000"/>
              </a:lnSpc>
            </a:pPr>
            <a:r>
              <a:rPr sz="1200" b="0" i="0">
                <a:solidFill>
                  <a:srgbClr val="F7F2E8"/>
                </a:solidFill>
                <a:latin typeface="Segoe UI Semibold"/>
              </a:rPr>
              <a:t>-Watch</a:t>
            </a:r>
          </a:p>
        </p:txBody>
      </p:sp>
      <p:sp>
        <p:nvSpPr>
          <p:cNvPr id="34" name="TextBox 33"/>
          <p:cNvSpPr txBox="1"/>
          <p:nvPr/>
        </p:nvSpPr>
        <p:spPr>
          <a:xfrm>
            <a:off x="7752319" y="3529584"/>
            <a:ext cx="3799295" cy="438911"/>
          </a:xfrm>
          <a:prstGeom prst="rect">
            <a:avLst/>
          </a:prstGeom>
          <a:noFill/>
        </p:spPr>
        <p:txBody>
          <a:bodyPr wrap="square" lIns="45720" rIns="45720" tIns="27432" bIns="27432" anchor="ctr">
            <a:noAutofit/>
          </a:bodyPr>
          <a:lstStyle/>
          <a:p>
            <a:pPr algn="l">
              <a:lnSpc>
                <a:spcPct val="100000"/>
              </a:lnSpc>
            </a:pPr>
            <a:r>
              <a:rPr sz="1200" b="0" i="0">
                <a:solidFill>
                  <a:srgbClr val="A7B2B0"/>
                </a:solidFill>
                <a:latin typeface="Segoe UI"/>
              </a:rPr>
              <a:t>Barridos continuos hasta Ctrl+C, cada 60 segundos de forma predeterminada.</a:t>
            </a:r>
          </a:p>
        </p:txBody>
      </p:sp>
      <p:sp>
        <p:nvSpPr>
          <p:cNvPr id="35" name="Rectangle 34"/>
          <p:cNvSpPr/>
          <p:nvPr/>
        </p:nvSpPr>
        <p:spPr>
          <a:xfrm>
            <a:off x="6163056" y="4005072"/>
            <a:ext cx="5443423" cy="512063"/>
          </a:xfrm>
          <a:prstGeom prst="rect">
            <a:avLst/>
          </a:prstGeom>
          <a:solidFill>
            <a:srgbClr val="1824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6" name="TextBox 35"/>
          <p:cNvSpPr txBox="1"/>
          <p:nvPr/>
        </p:nvSpPr>
        <p:spPr>
          <a:xfrm>
            <a:off x="6217920" y="4041648"/>
            <a:ext cx="1388095" cy="438911"/>
          </a:xfrm>
          <a:prstGeom prst="rect">
            <a:avLst/>
          </a:prstGeom>
          <a:noFill/>
        </p:spPr>
        <p:txBody>
          <a:bodyPr wrap="square" lIns="45720" rIns="45720" tIns="27432" bIns="27432" anchor="ctr">
            <a:noAutofit/>
          </a:bodyPr>
          <a:lstStyle/>
          <a:p>
            <a:pPr algn="l">
              <a:lnSpc>
                <a:spcPct val="100000"/>
              </a:lnSpc>
            </a:pPr>
            <a:r>
              <a:rPr sz="1200" b="0" i="0">
                <a:solidFill>
                  <a:srgbClr val="F7F2E8"/>
                </a:solidFill>
                <a:latin typeface="Segoe UI Semibold"/>
              </a:rPr>
              <a:t>-Aggressive</a:t>
            </a:r>
          </a:p>
        </p:txBody>
      </p:sp>
      <p:sp>
        <p:nvSpPr>
          <p:cNvPr id="37" name="TextBox 36"/>
          <p:cNvSpPr txBox="1"/>
          <p:nvPr/>
        </p:nvSpPr>
        <p:spPr>
          <a:xfrm>
            <a:off x="7752319" y="4041648"/>
            <a:ext cx="3799295" cy="438911"/>
          </a:xfrm>
          <a:prstGeom prst="rect">
            <a:avLst/>
          </a:prstGeom>
          <a:noFill/>
        </p:spPr>
        <p:txBody>
          <a:bodyPr wrap="square" lIns="45720" rIns="45720" tIns="27432" bIns="27432" anchor="ctr">
            <a:noAutofit/>
          </a:bodyPr>
          <a:lstStyle/>
          <a:p>
            <a:pPr algn="l">
              <a:lnSpc>
                <a:spcPct val="100000"/>
              </a:lnSpc>
            </a:pPr>
            <a:r>
              <a:rPr sz="1200" b="0" i="0">
                <a:solidFill>
                  <a:srgbClr val="A7B2B0"/>
                </a:solidFill>
                <a:latin typeface="Segoe UI"/>
              </a:rPr>
              <a:t>También detiene tools de doble uso fuera de los paths de Tlamatini; sólo en incidentes.</a:t>
            </a:r>
          </a:p>
        </p:txBody>
      </p:sp>
      <p:cxnSp>
        <p:nvCxnSpPr>
          <p:cNvPr id="38" name="Connector 37"/>
          <p:cNvCxnSpPr/>
          <p:nvPr/>
        </p:nvCxnSpPr>
        <p:spPr>
          <a:xfrm>
            <a:off x="566928" y="6373368"/>
            <a:ext cx="11057839" cy="0"/>
          </a:xfrm>
          <a:prstGeom prst="line">
            <a:avLst/>
          </a:prstGeom>
          <a:ln w="7620">
            <a:solidFill>
              <a:srgbClr val="2A3A40"/>
            </a:solidFill>
          </a:ln>
        </p:spPr>
        <p:style>
          <a:lnRef idx="2">
            <a:schemeClr val="accent1"/>
          </a:lnRef>
          <a:fillRef idx="0">
            <a:schemeClr val="accent1"/>
          </a:fillRef>
          <a:effectRef idx="1">
            <a:schemeClr val="accent1"/>
          </a:effectRef>
          <a:fontRef idx="minor">
            <a:schemeClr val="tx1"/>
          </a:fontRef>
        </p:style>
      </p:cxnSp>
      <p:sp>
        <p:nvSpPr>
          <p:cNvPr id="39" name="TextBox 38"/>
          <p:cNvSpPr txBox="1"/>
          <p:nvPr/>
        </p:nvSpPr>
        <p:spPr>
          <a:xfrm>
            <a:off x="566928" y="6419088"/>
            <a:ext cx="6858000" cy="274320"/>
          </a:xfrm>
          <a:prstGeom prst="rect">
            <a:avLst/>
          </a:prstGeom>
          <a:noFill/>
        </p:spPr>
        <p:txBody>
          <a:bodyPr wrap="square" lIns="45720" rIns="45720" tIns="27432" bIns="27432" anchor="t">
            <a:noAutofit/>
          </a:bodyPr>
          <a:lstStyle/>
          <a:p>
            <a:pPr algn="l">
              <a:lnSpc>
                <a:spcPct val="100000"/>
              </a:lnSpc>
            </a:pPr>
            <a:r>
              <a:rPr sz="850" b="0" i="0" spc="120">
                <a:solidFill>
                  <a:srgbClr val="A7B2B0"/>
                </a:solidFill>
                <a:latin typeface="Segoe UI Semibold"/>
              </a:rPr>
              <a:t>TLAMATINI  ·  V · CAPACIDADES PROFUNDAS</a:t>
            </a:r>
          </a:p>
        </p:txBody>
      </p:sp>
      <p:sp>
        <p:nvSpPr>
          <p:cNvPr id="40" name="TextBox 39"/>
          <p:cNvSpPr txBox="1"/>
          <p:nvPr/>
        </p:nvSpPr>
        <p:spPr>
          <a:xfrm>
            <a:off x="8698687" y="6419088"/>
            <a:ext cx="2926080" cy="274320"/>
          </a:xfrm>
          <a:prstGeom prst="rect">
            <a:avLst/>
          </a:prstGeom>
          <a:noFill/>
        </p:spPr>
        <p:txBody>
          <a:bodyPr wrap="square" lIns="45720" rIns="45720" tIns="27432" bIns="27432" anchor="t">
            <a:noAutofit/>
          </a:bodyPr>
          <a:lstStyle/>
          <a:p>
            <a:pPr algn="r">
              <a:lnSpc>
                <a:spcPct val="100000"/>
              </a:lnSpc>
            </a:pPr>
            <a:r>
              <a:rPr sz="850" b="0" i="0" spc="100">
                <a:solidFill>
                  <a:srgbClr val="A7B2B0"/>
                </a:solidFill>
                <a:latin typeface="Segoe UI Semibold"/>
              </a:rPr>
              <a:t>v1.91.1   ·   92</a:t>
            </a:r>
          </a:p>
        </p:txBody>
      </p:sp>
    </p:spTree>
  </p:cSld>
  <p:clrMapOvr>
    <a:masterClrMapping/>
  </p:clrMapOvr>
</p:sld>
</file>

<file path=ppt/slides/slide9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content.png"/>
          <p:cNvPicPr>
            <a:picLocks noChangeAspect="1"/>
          </p:cNvPicPr>
          <p:nvPr/>
        </p:nvPicPr>
        <p:blipFill>
          <a:blip r:embed="rId2"/>
          <a:stretch>
            <a:fillRect/>
          </a:stretch>
        </p:blipFill>
        <p:spPr>
          <a:xfrm>
            <a:off x="0" y="0"/>
            <a:ext cx="12191695" cy="6858000"/>
          </a:xfrm>
          <a:prstGeom prst="rect">
            <a:avLst/>
          </a:prstGeom>
        </p:spPr>
      </p:pic>
      <p:sp>
        <p:nvSpPr>
          <p:cNvPr id="3" name="Diamond 2"/>
          <p:cNvSpPr/>
          <p:nvPr/>
        </p:nvSpPr>
        <p:spPr>
          <a:xfrm>
            <a:off x="566928" y="457200"/>
            <a:ext cx="100584" cy="100584"/>
          </a:xfrm>
          <a:prstGeom prst="diamond">
            <a:avLst/>
          </a:prstGeom>
          <a:solidFill>
            <a:srgbClr val="46D2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49808" y="365760"/>
            <a:ext cx="8229600" cy="292608"/>
          </a:xfrm>
          <a:prstGeom prst="rect">
            <a:avLst/>
          </a:prstGeom>
          <a:noFill/>
        </p:spPr>
        <p:txBody>
          <a:bodyPr wrap="square" lIns="45720" rIns="45720" tIns="27432" bIns="27432" anchor="t">
            <a:noAutofit/>
          </a:bodyPr>
          <a:lstStyle/>
          <a:p>
            <a:pPr algn="l">
              <a:lnSpc>
                <a:spcPct val="100000"/>
              </a:lnSpc>
            </a:pPr>
            <a:r>
              <a:rPr sz="1100" b="0" i="0" spc="240">
                <a:solidFill>
                  <a:srgbClr val="C98457"/>
                </a:solidFill>
                <a:latin typeface="Segoe UI Semibold"/>
              </a:rPr>
              <a:t>VOZ</a:t>
            </a:r>
          </a:p>
        </p:txBody>
      </p:sp>
      <p:sp>
        <p:nvSpPr>
          <p:cNvPr id="5" name="TextBox 4"/>
          <p:cNvSpPr txBox="1"/>
          <p:nvPr/>
        </p:nvSpPr>
        <p:spPr>
          <a:xfrm>
            <a:off x="539496" y="676656"/>
            <a:ext cx="11057839" cy="658368"/>
          </a:xfrm>
          <a:prstGeom prst="rect">
            <a:avLst/>
          </a:prstGeom>
          <a:noFill/>
        </p:spPr>
        <p:txBody>
          <a:bodyPr wrap="square" lIns="45720" rIns="45720" tIns="27432" bIns="27432" anchor="t">
            <a:noAutofit/>
          </a:bodyPr>
          <a:lstStyle/>
          <a:p>
            <a:pPr algn="l">
              <a:lnSpc>
                <a:spcPct val="100000"/>
              </a:lnSpc>
            </a:pPr>
            <a:r>
              <a:rPr sz="3100" b="0" i="0">
                <a:solidFill>
                  <a:srgbClr val="F7F2E8"/>
                </a:solidFill>
                <a:latin typeface="Palatino Linotype"/>
              </a:rPr>
              <a:t>Te escucha hasta que paras, y te contesta con su voz</a:t>
            </a:r>
          </a:p>
        </p:txBody>
      </p:sp>
      <p:sp>
        <p:nvSpPr>
          <p:cNvPr id="6" name="Rectangle 5"/>
          <p:cNvSpPr/>
          <p:nvPr/>
        </p:nvSpPr>
        <p:spPr>
          <a:xfrm>
            <a:off x="566928" y="1344168"/>
            <a:ext cx="822960" cy="36576"/>
          </a:xfrm>
          <a:prstGeom prst="rect">
            <a:avLst/>
          </a:prstGeom>
          <a:solidFill>
            <a:srgbClr val="46D2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566928" y="1444752"/>
            <a:ext cx="10692079" cy="585216"/>
          </a:xfrm>
          <a:prstGeom prst="rect">
            <a:avLst/>
          </a:prstGeom>
          <a:noFill/>
        </p:spPr>
        <p:txBody>
          <a:bodyPr wrap="square" lIns="45720" rIns="45720" tIns="27432" bIns="27432" anchor="t">
            <a:noAutofit/>
          </a:bodyPr>
          <a:lstStyle/>
          <a:p>
            <a:pPr algn="l">
              <a:lnSpc>
                <a:spcPct val="100000"/>
              </a:lnSpc>
            </a:pPr>
            <a:r>
              <a:rPr sz="1450" b="0" i="0">
                <a:solidFill>
                  <a:srgbClr val="A7B2B0"/>
                </a:solidFill>
                <a:latin typeface="Segoe UI Semilight"/>
              </a:rPr>
              <a:t>El dictado directo en el chat, el Whisperer de workflows, Talker y los comandos del catálogo tienen contratos de voz distintos.</a:t>
            </a:r>
          </a:p>
        </p:txBody>
      </p:sp>
      <p:sp>
        <p:nvSpPr>
          <p:cNvPr id="8" name="Rounded Rectangle 7"/>
          <p:cNvSpPr/>
          <p:nvPr/>
        </p:nvSpPr>
        <p:spPr>
          <a:xfrm>
            <a:off x="566928" y="2084831"/>
            <a:ext cx="11057839" cy="579120"/>
          </a:xfrm>
          <a:prstGeom prst="roundRect">
            <a:avLst>
              <a:gd name="adj" fmla="val 15789"/>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Diamond 8"/>
          <p:cNvSpPr/>
          <p:nvPr/>
        </p:nvSpPr>
        <p:spPr>
          <a:xfrm>
            <a:off x="768096" y="2310384"/>
            <a:ext cx="128016" cy="128016"/>
          </a:xfrm>
          <a:prstGeom prst="diamond">
            <a:avLst/>
          </a:prstGeom>
          <a:solidFill>
            <a:srgbClr val="3BBE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1024128" y="2139696"/>
            <a:ext cx="2651760" cy="469392"/>
          </a:xfrm>
          <a:prstGeom prst="rect">
            <a:avLst/>
          </a:prstGeom>
          <a:noFill/>
        </p:spPr>
        <p:txBody>
          <a:bodyPr wrap="square" lIns="45720" rIns="45720" tIns="27432" bIns="27432" anchor="ctr">
            <a:noAutofit/>
          </a:bodyPr>
          <a:lstStyle/>
          <a:p>
            <a:pPr algn="l">
              <a:lnSpc>
                <a:spcPct val="100000"/>
              </a:lnSpc>
            </a:pPr>
            <a:r>
              <a:rPr sz="1600" b="0" i="0">
                <a:solidFill>
                  <a:srgbClr val="F7F2E8"/>
                </a:solidFill>
                <a:latin typeface="Segoe UI Semibold"/>
              </a:rPr>
              <a:t>Compuerta de sonido</a:t>
            </a:r>
          </a:p>
        </p:txBody>
      </p:sp>
      <p:sp>
        <p:nvSpPr>
          <p:cNvPr id="11" name="TextBox 10"/>
          <p:cNvSpPr txBox="1"/>
          <p:nvPr/>
        </p:nvSpPr>
        <p:spPr>
          <a:xfrm>
            <a:off x="3767328" y="2139696"/>
            <a:ext cx="7720279" cy="469392"/>
          </a:xfrm>
          <a:prstGeom prst="rect">
            <a:avLst/>
          </a:prstGeom>
          <a:noFill/>
        </p:spPr>
        <p:txBody>
          <a:bodyPr wrap="square" lIns="45720" rIns="45720" tIns="27432" bIns="27432" anchor="ctr">
            <a:noAutofit/>
          </a:bodyPr>
          <a:lstStyle/>
          <a:p>
            <a:pPr algn="l">
              <a:lnSpc>
                <a:spcPct val="100000"/>
              </a:lnSpc>
            </a:pPr>
            <a:r>
              <a:rPr sz="1400" b="0" i="0">
                <a:solidFill>
                  <a:srgbClr val="A7B2B0"/>
                </a:solidFill>
                <a:latin typeface="Segoe UI"/>
              </a:rPr>
              <a:t>Graba mientras hablas; se detiene después de 3.5 s de silencio.</a:t>
            </a:r>
          </a:p>
        </p:txBody>
      </p:sp>
      <p:sp>
        <p:nvSpPr>
          <p:cNvPr id="12" name="Rounded Rectangle 11"/>
          <p:cNvSpPr/>
          <p:nvPr/>
        </p:nvSpPr>
        <p:spPr>
          <a:xfrm>
            <a:off x="566928" y="2791968"/>
            <a:ext cx="11057839" cy="579120"/>
          </a:xfrm>
          <a:prstGeom prst="roundRect">
            <a:avLst>
              <a:gd name="adj" fmla="val 15789"/>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Diamond 12"/>
          <p:cNvSpPr/>
          <p:nvPr/>
        </p:nvSpPr>
        <p:spPr>
          <a:xfrm>
            <a:off x="768096" y="3017520"/>
            <a:ext cx="128016" cy="128016"/>
          </a:xfrm>
          <a:prstGeom prst="diamond">
            <a:avLst/>
          </a:prstGeom>
          <a:solidFill>
            <a:srgbClr val="C984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1024128" y="2846832"/>
            <a:ext cx="2651760" cy="469392"/>
          </a:xfrm>
          <a:prstGeom prst="rect">
            <a:avLst/>
          </a:prstGeom>
          <a:noFill/>
        </p:spPr>
        <p:txBody>
          <a:bodyPr wrap="square" lIns="45720" rIns="45720" tIns="27432" bIns="27432" anchor="ctr">
            <a:noAutofit/>
          </a:bodyPr>
          <a:lstStyle/>
          <a:p>
            <a:pPr algn="l">
              <a:lnSpc>
                <a:spcPct val="100000"/>
              </a:lnSpc>
            </a:pPr>
            <a:r>
              <a:rPr sz="1600" b="0" i="0">
                <a:solidFill>
                  <a:srgbClr val="F7F2E8"/>
                </a:solidFill>
                <a:latin typeface="Segoe UI Semibold"/>
              </a:rPr>
              <a:t>Duración en workflows</a:t>
            </a:r>
          </a:p>
        </p:txBody>
      </p:sp>
      <p:sp>
        <p:nvSpPr>
          <p:cNvPr id="15" name="TextBox 14"/>
          <p:cNvSpPr txBox="1"/>
          <p:nvPr/>
        </p:nvSpPr>
        <p:spPr>
          <a:xfrm>
            <a:off x="3767328" y="2846832"/>
            <a:ext cx="7720279" cy="469392"/>
          </a:xfrm>
          <a:prstGeom prst="rect">
            <a:avLst/>
          </a:prstGeom>
          <a:noFill/>
        </p:spPr>
        <p:txBody>
          <a:bodyPr wrap="square" lIns="45720" rIns="45720" tIns="27432" bIns="27432" anchor="ctr">
            <a:noAutofit/>
          </a:bodyPr>
          <a:lstStyle/>
          <a:p>
            <a:pPr algn="l">
              <a:lnSpc>
                <a:spcPct val="100000"/>
              </a:lnSpc>
            </a:pPr>
            <a:r>
              <a:rPr sz="1400" b="0" i="0">
                <a:solidFill>
                  <a:srgbClr val="A7B2B0"/>
                </a:solidFill>
                <a:latin typeface="Segoe UI"/>
              </a:rPr>
              <a:t>La grabación independiente o de workflow puede usar una duración fija explícita.</a:t>
            </a:r>
          </a:p>
        </p:txBody>
      </p:sp>
      <p:sp>
        <p:nvSpPr>
          <p:cNvPr id="16" name="Rounded Rectangle 15"/>
          <p:cNvSpPr/>
          <p:nvPr/>
        </p:nvSpPr>
        <p:spPr>
          <a:xfrm>
            <a:off x="566928" y="3499103"/>
            <a:ext cx="11057839" cy="579120"/>
          </a:xfrm>
          <a:prstGeom prst="roundRect">
            <a:avLst>
              <a:gd name="adj" fmla="val 15789"/>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Diamond 16"/>
          <p:cNvSpPr/>
          <p:nvPr/>
        </p:nvSpPr>
        <p:spPr>
          <a:xfrm>
            <a:off x="768096" y="3724655"/>
            <a:ext cx="128016" cy="128016"/>
          </a:xfrm>
          <a:prstGeom prst="diamond">
            <a:avLst/>
          </a:prstGeom>
          <a:solidFill>
            <a:srgbClr val="E2B4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1024128" y="3553967"/>
            <a:ext cx="2651760" cy="469392"/>
          </a:xfrm>
          <a:prstGeom prst="rect">
            <a:avLst/>
          </a:prstGeom>
          <a:noFill/>
        </p:spPr>
        <p:txBody>
          <a:bodyPr wrap="square" lIns="45720" rIns="45720" tIns="27432" bIns="27432" anchor="ctr">
            <a:noAutofit/>
          </a:bodyPr>
          <a:lstStyle/>
          <a:p>
            <a:pPr algn="l">
              <a:lnSpc>
                <a:spcPct val="100000"/>
              </a:lnSpc>
            </a:pPr>
            <a:r>
              <a:rPr sz="1600" b="0" i="0">
                <a:solidFill>
                  <a:srgbClr val="F7F2E8"/>
                </a:solidFill>
                <a:latin typeface="Segoe UI Semibold"/>
              </a:rPr>
              <a:t>Primero lo local</a:t>
            </a:r>
          </a:p>
        </p:txBody>
      </p:sp>
      <p:sp>
        <p:nvSpPr>
          <p:cNvPr id="19" name="TextBox 18"/>
          <p:cNvSpPr txBox="1"/>
          <p:nvPr/>
        </p:nvSpPr>
        <p:spPr>
          <a:xfrm>
            <a:off x="3767328" y="3553967"/>
            <a:ext cx="7720279" cy="469392"/>
          </a:xfrm>
          <a:prstGeom prst="rect">
            <a:avLst/>
          </a:prstGeom>
          <a:noFill/>
        </p:spPr>
        <p:txBody>
          <a:bodyPr wrap="square" lIns="45720" rIns="45720" tIns="27432" bIns="27432" anchor="ctr">
            <a:noAutofit/>
          </a:bodyPr>
          <a:lstStyle/>
          <a:p>
            <a:pPr algn="l">
              <a:lnSpc>
                <a:spcPct val="100000"/>
              </a:lnSpc>
            </a:pPr>
            <a:r>
              <a:rPr sz="1400" b="0" i="0">
                <a:solidFill>
                  <a:srgbClr val="A7B2B0"/>
                </a:solidFill>
                <a:latin typeface="Segoe UI"/>
              </a:rPr>
              <a:t>faster-whisper en GPU o CPU, o un proveedor en la nube.</a:t>
            </a:r>
          </a:p>
        </p:txBody>
      </p:sp>
      <p:sp>
        <p:nvSpPr>
          <p:cNvPr id="20" name="Rounded Rectangle 19"/>
          <p:cNvSpPr/>
          <p:nvPr/>
        </p:nvSpPr>
        <p:spPr>
          <a:xfrm>
            <a:off x="566928" y="4206240"/>
            <a:ext cx="11057839" cy="579120"/>
          </a:xfrm>
          <a:prstGeom prst="roundRect">
            <a:avLst>
              <a:gd name="adj" fmla="val 15789"/>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Diamond 20"/>
          <p:cNvSpPr/>
          <p:nvPr/>
        </p:nvSpPr>
        <p:spPr>
          <a:xfrm>
            <a:off x="768096" y="4431791"/>
            <a:ext cx="128016" cy="128016"/>
          </a:xfrm>
          <a:prstGeom prst="diamond">
            <a:avLst/>
          </a:prstGeom>
          <a:solidFill>
            <a:srgbClr val="46D2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1024128" y="4261103"/>
            <a:ext cx="2651760" cy="469392"/>
          </a:xfrm>
          <a:prstGeom prst="rect">
            <a:avLst/>
          </a:prstGeom>
          <a:noFill/>
        </p:spPr>
        <p:txBody>
          <a:bodyPr wrap="square" lIns="45720" rIns="45720" tIns="27432" bIns="27432" anchor="ctr">
            <a:noAutofit/>
          </a:bodyPr>
          <a:lstStyle/>
          <a:p>
            <a:pPr algn="l">
              <a:lnSpc>
                <a:spcPct val="100000"/>
              </a:lnSpc>
            </a:pPr>
            <a:r>
              <a:rPr sz="1600" b="0" i="0">
                <a:solidFill>
                  <a:srgbClr val="F7F2E8"/>
                </a:solidFill>
                <a:latin typeface="Segoe UI Semibold"/>
              </a:rPr>
              <a:t>Su voz</a:t>
            </a:r>
          </a:p>
        </p:txBody>
      </p:sp>
      <p:sp>
        <p:nvSpPr>
          <p:cNvPr id="23" name="TextBox 22"/>
          <p:cNvSpPr txBox="1"/>
          <p:nvPr/>
        </p:nvSpPr>
        <p:spPr>
          <a:xfrm>
            <a:off x="3767328" y="4261103"/>
            <a:ext cx="7720279" cy="469392"/>
          </a:xfrm>
          <a:prstGeom prst="rect">
            <a:avLst/>
          </a:prstGeom>
          <a:noFill/>
        </p:spPr>
        <p:txBody>
          <a:bodyPr wrap="square" lIns="45720" rIns="45720" tIns="27432" bIns="27432" anchor="ctr">
            <a:noAutofit/>
          </a:bodyPr>
          <a:lstStyle/>
          <a:p>
            <a:pPr algn="l">
              <a:lnSpc>
                <a:spcPct val="100000"/>
              </a:lnSpc>
            </a:pPr>
            <a:r>
              <a:rPr sz="1400" b="0" i="0">
                <a:solidFill>
                  <a:srgbClr val="A7B2B0"/>
                </a:solidFill>
                <a:latin typeface="Segoe UI"/>
              </a:rPr>
              <a:t>Sólo femenina: tara, leah, jess, mia o zoe.</a:t>
            </a:r>
          </a:p>
        </p:txBody>
      </p:sp>
      <p:sp>
        <p:nvSpPr>
          <p:cNvPr id="24" name="Rounded Rectangle 23"/>
          <p:cNvSpPr/>
          <p:nvPr/>
        </p:nvSpPr>
        <p:spPr>
          <a:xfrm>
            <a:off x="566928" y="4913376"/>
            <a:ext cx="11057839" cy="579120"/>
          </a:xfrm>
          <a:prstGeom prst="roundRect">
            <a:avLst>
              <a:gd name="adj" fmla="val 15789"/>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Diamond 24"/>
          <p:cNvSpPr/>
          <p:nvPr/>
        </p:nvSpPr>
        <p:spPr>
          <a:xfrm>
            <a:off x="768096" y="5138927"/>
            <a:ext cx="128016" cy="128016"/>
          </a:xfrm>
          <a:prstGeom prst="diamond">
            <a:avLst/>
          </a:prstGeom>
          <a:solidFill>
            <a:srgbClr val="D25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1024128" y="4968239"/>
            <a:ext cx="2651760" cy="469392"/>
          </a:xfrm>
          <a:prstGeom prst="rect">
            <a:avLst/>
          </a:prstGeom>
          <a:noFill/>
        </p:spPr>
        <p:txBody>
          <a:bodyPr wrap="square" lIns="45720" rIns="45720" tIns="27432" bIns="27432" anchor="ctr">
            <a:noAutofit/>
          </a:bodyPr>
          <a:lstStyle/>
          <a:p>
            <a:pPr algn="l">
              <a:lnSpc>
                <a:spcPct val="100000"/>
              </a:lnSpc>
            </a:pPr>
            <a:r>
              <a:rPr sz="1600" b="0" i="0">
                <a:solidFill>
                  <a:srgbClr val="F7F2E8"/>
                </a:solidFill>
                <a:latin typeface="Segoe UI Semibold"/>
              </a:rPr>
              <a:t>Micrófono directo</a:t>
            </a:r>
          </a:p>
        </p:txBody>
      </p:sp>
      <p:sp>
        <p:nvSpPr>
          <p:cNvPr id="27" name="TextBox 26"/>
          <p:cNvSpPr txBox="1"/>
          <p:nvPr/>
        </p:nvSpPr>
        <p:spPr>
          <a:xfrm>
            <a:off x="3767328" y="4968239"/>
            <a:ext cx="7720279" cy="469392"/>
          </a:xfrm>
          <a:prstGeom prst="rect">
            <a:avLst/>
          </a:prstGeom>
          <a:noFill/>
        </p:spPr>
        <p:txBody>
          <a:bodyPr wrap="square" lIns="45720" rIns="45720" tIns="27432" bIns="27432" anchor="ctr">
            <a:noAutofit/>
          </a:bodyPr>
          <a:lstStyle/>
          <a:p>
            <a:pPr algn="l">
              <a:lnSpc>
                <a:spcPct val="100000"/>
              </a:lnSpc>
            </a:pPr>
            <a:r>
              <a:rPr sz="1350" b="0" i="0">
                <a:solidFill>
                  <a:srgbClr val="A7B2B0"/>
                </a:solidFill>
                <a:latin typeface="Segoe UI"/>
              </a:rPr>
              <a:t>Compuerta, reconocimiento, y luego enviar o conservar un borrador editable; sin consola extra.</a:t>
            </a:r>
          </a:p>
        </p:txBody>
      </p:sp>
      <p:sp>
        <p:nvSpPr>
          <p:cNvPr id="28" name="Rounded Rectangle 27"/>
          <p:cNvSpPr/>
          <p:nvPr/>
        </p:nvSpPr>
        <p:spPr>
          <a:xfrm>
            <a:off x="566928" y="5620512"/>
            <a:ext cx="11057839" cy="579120"/>
          </a:xfrm>
          <a:prstGeom prst="roundRect">
            <a:avLst>
              <a:gd name="adj" fmla="val 15789"/>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Diamond 28"/>
          <p:cNvSpPr/>
          <p:nvPr/>
        </p:nvSpPr>
        <p:spPr>
          <a:xfrm>
            <a:off x="768096" y="5846063"/>
            <a:ext cx="128016" cy="128016"/>
          </a:xfrm>
          <a:prstGeom prst="diamond">
            <a:avLst/>
          </a:prstGeom>
          <a:solidFill>
            <a:srgbClr val="D957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1024128" y="5675375"/>
            <a:ext cx="2651760" cy="469392"/>
          </a:xfrm>
          <a:prstGeom prst="rect">
            <a:avLst/>
          </a:prstGeom>
          <a:noFill/>
        </p:spPr>
        <p:txBody>
          <a:bodyPr wrap="square" lIns="45720" rIns="45720" tIns="27432" bIns="27432" anchor="ctr">
            <a:noAutofit/>
          </a:bodyPr>
          <a:lstStyle/>
          <a:p>
            <a:pPr algn="l">
              <a:lnSpc>
                <a:spcPct val="100000"/>
              </a:lnSpc>
            </a:pPr>
            <a:r>
              <a:rPr sz="1600" b="0" i="0">
                <a:solidFill>
                  <a:srgbClr val="F7F2E8"/>
                </a:solidFill>
                <a:latin typeface="Segoe UI Semibold"/>
              </a:rPr>
              <a:t>Comandos del catálogo</a:t>
            </a:r>
          </a:p>
        </p:txBody>
      </p:sp>
      <p:sp>
        <p:nvSpPr>
          <p:cNvPr id="31" name="TextBox 30"/>
          <p:cNvSpPr txBox="1"/>
          <p:nvPr/>
        </p:nvSpPr>
        <p:spPr>
          <a:xfrm>
            <a:off x="3767328" y="5675375"/>
            <a:ext cx="7720279" cy="469392"/>
          </a:xfrm>
          <a:prstGeom prst="rect">
            <a:avLst/>
          </a:prstGeom>
          <a:noFill/>
        </p:spPr>
        <p:txBody>
          <a:bodyPr wrap="square" lIns="45720" rIns="45720" tIns="27432" bIns="27432" anchor="ctr">
            <a:noAutofit/>
          </a:bodyPr>
          <a:lstStyle/>
          <a:p>
            <a:pPr algn="l">
              <a:lnSpc>
                <a:spcPct val="100000"/>
              </a:lnSpc>
            </a:pPr>
            <a:r>
              <a:rPr sz="1400" b="0" i="0">
                <a:solidFill>
                  <a:srgbClr val="A7B2B0"/>
                </a:solidFill>
                <a:latin typeface="Segoe UI"/>
              </a:rPr>
              <a:t>Las tarjetas mediadas por el modelo pueden pedir que se lea de vuelta antes de actuar.</a:t>
            </a:r>
          </a:p>
        </p:txBody>
      </p:sp>
      <p:cxnSp>
        <p:nvCxnSpPr>
          <p:cNvPr id="32" name="Connector 31"/>
          <p:cNvCxnSpPr/>
          <p:nvPr/>
        </p:nvCxnSpPr>
        <p:spPr>
          <a:xfrm>
            <a:off x="566928" y="6373368"/>
            <a:ext cx="11057839" cy="0"/>
          </a:xfrm>
          <a:prstGeom prst="line">
            <a:avLst/>
          </a:prstGeom>
          <a:ln w="7620">
            <a:solidFill>
              <a:srgbClr val="2A3A40"/>
            </a:solidFill>
          </a:ln>
        </p:spPr>
        <p:style>
          <a:lnRef idx="2">
            <a:schemeClr val="accent1"/>
          </a:lnRef>
          <a:fillRef idx="0">
            <a:schemeClr val="accent1"/>
          </a:fillRef>
          <a:effectRef idx="1">
            <a:schemeClr val="accent1"/>
          </a:effectRef>
          <a:fontRef idx="minor">
            <a:schemeClr val="tx1"/>
          </a:fontRef>
        </p:style>
      </p:cxnSp>
      <p:sp>
        <p:nvSpPr>
          <p:cNvPr id="33" name="TextBox 32"/>
          <p:cNvSpPr txBox="1"/>
          <p:nvPr/>
        </p:nvSpPr>
        <p:spPr>
          <a:xfrm>
            <a:off x="566928" y="6419088"/>
            <a:ext cx="6858000" cy="274320"/>
          </a:xfrm>
          <a:prstGeom prst="rect">
            <a:avLst/>
          </a:prstGeom>
          <a:noFill/>
        </p:spPr>
        <p:txBody>
          <a:bodyPr wrap="square" lIns="45720" rIns="45720" tIns="27432" bIns="27432" anchor="t">
            <a:noAutofit/>
          </a:bodyPr>
          <a:lstStyle/>
          <a:p>
            <a:pPr algn="l">
              <a:lnSpc>
                <a:spcPct val="100000"/>
              </a:lnSpc>
            </a:pPr>
            <a:r>
              <a:rPr sz="850" b="0" i="0" spc="120">
                <a:solidFill>
                  <a:srgbClr val="A7B2B0"/>
                </a:solidFill>
                <a:latin typeface="Segoe UI Semibold"/>
              </a:rPr>
              <a:t>TLAMATINI  ·  V · CAPACIDADES PROFUNDAS</a:t>
            </a:r>
          </a:p>
        </p:txBody>
      </p:sp>
      <p:sp>
        <p:nvSpPr>
          <p:cNvPr id="34" name="TextBox 33"/>
          <p:cNvSpPr txBox="1"/>
          <p:nvPr/>
        </p:nvSpPr>
        <p:spPr>
          <a:xfrm>
            <a:off x="8698687" y="6419088"/>
            <a:ext cx="2926080" cy="274320"/>
          </a:xfrm>
          <a:prstGeom prst="rect">
            <a:avLst/>
          </a:prstGeom>
          <a:noFill/>
        </p:spPr>
        <p:txBody>
          <a:bodyPr wrap="square" lIns="45720" rIns="45720" tIns="27432" bIns="27432" anchor="t">
            <a:noAutofit/>
          </a:bodyPr>
          <a:lstStyle/>
          <a:p>
            <a:pPr algn="r">
              <a:lnSpc>
                <a:spcPct val="100000"/>
              </a:lnSpc>
            </a:pPr>
            <a:r>
              <a:rPr sz="850" b="0" i="0" spc="100">
                <a:solidFill>
                  <a:srgbClr val="A7B2B0"/>
                </a:solidFill>
                <a:latin typeface="Segoe UI Semibold"/>
              </a:rPr>
              <a:t>v1.91.1   ·   93</a:t>
            </a:r>
          </a:p>
        </p:txBody>
      </p:sp>
    </p:spTree>
  </p:cSld>
  <p:clrMapOvr>
    <a:masterClrMapping/>
  </p:clrMapOvr>
</p:sld>
</file>

<file path=ppt/slides/slide9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content.png"/>
          <p:cNvPicPr>
            <a:picLocks noChangeAspect="1"/>
          </p:cNvPicPr>
          <p:nvPr/>
        </p:nvPicPr>
        <p:blipFill>
          <a:blip r:embed="rId2"/>
          <a:stretch>
            <a:fillRect/>
          </a:stretch>
        </p:blipFill>
        <p:spPr>
          <a:xfrm>
            <a:off x="0" y="0"/>
            <a:ext cx="12191695" cy="6858000"/>
          </a:xfrm>
          <a:prstGeom prst="rect">
            <a:avLst/>
          </a:prstGeom>
        </p:spPr>
      </p:pic>
      <p:sp>
        <p:nvSpPr>
          <p:cNvPr id="3" name="Diamond 2"/>
          <p:cNvSpPr/>
          <p:nvPr/>
        </p:nvSpPr>
        <p:spPr>
          <a:xfrm>
            <a:off x="566928" y="457200"/>
            <a:ext cx="100584" cy="100584"/>
          </a:xfrm>
          <a:prstGeom prst="diamond">
            <a:avLst/>
          </a:prstGeom>
          <a:solidFill>
            <a:srgbClr val="46D2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49808" y="365760"/>
            <a:ext cx="8229600" cy="292608"/>
          </a:xfrm>
          <a:prstGeom prst="rect">
            <a:avLst/>
          </a:prstGeom>
          <a:noFill/>
        </p:spPr>
        <p:txBody>
          <a:bodyPr wrap="square" lIns="45720" rIns="45720" tIns="27432" bIns="27432" anchor="t">
            <a:noAutofit/>
          </a:bodyPr>
          <a:lstStyle/>
          <a:p>
            <a:pPr algn="l">
              <a:lnSpc>
                <a:spcPct val="100000"/>
              </a:lnSpc>
            </a:pPr>
            <a:r>
              <a:rPr sz="1100" b="0" i="0" spc="240">
                <a:solidFill>
                  <a:srgbClr val="C98457"/>
                </a:solidFill>
                <a:latin typeface="Segoe UI Semibold"/>
              </a:rPr>
              <a:t>VISIÓN Y VIDEO</a:t>
            </a:r>
          </a:p>
        </p:txBody>
      </p:sp>
      <p:sp>
        <p:nvSpPr>
          <p:cNvPr id="5" name="TextBox 4"/>
          <p:cNvSpPr txBox="1"/>
          <p:nvPr/>
        </p:nvSpPr>
        <p:spPr>
          <a:xfrm>
            <a:off x="539496" y="676656"/>
            <a:ext cx="11057839" cy="658368"/>
          </a:xfrm>
          <a:prstGeom prst="rect">
            <a:avLst/>
          </a:prstGeom>
          <a:noFill/>
        </p:spPr>
        <p:txBody>
          <a:bodyPr wrap="square" lIns="45720" rIns="45720" tIns="27432" bIns="27432" anchor="t">
            <a:noAutofit/>
          </a:bodyPr>
          <a:lstStyle/>
          <a:p>
            <a:pPr algn="l">
              <a:lnSpc>
                <a:spcPct val="100000"/>
              </a:lnSpc>
            </a:pPr>
            <a:r>
              <a:rPr sz="3100" b="0" i="0">
                <a:solidFill>
                  <a:srgbClr val="F7F2E8"/>
                </a:solidFill>
                <a:latin typeface="Palatino Linotype"/>
              </a:rPr>
              <a:t>Ojos que reportan sus límites</a:t>
            </a:r>
          </a:p>
        </p:txBody>
      </p:sp>
      <p:sp>
        <p:nvSpPr>
          <p:cNvPr id="6" name="Rectangle 5"/>
          <p:cNvSpPr/>
          <p:nvPr/>
        </p:nvSpPr>
        <p:spPr>
          <a:xfrm>
            <a:off x="566928" y="1344168"/>
            <a:ext cx="822960" cy="36576"/>
          </a:xfrm>
          <a:prstGeom prst="rect">
            <a:avLst/>
          </a:prstGeom>
          <a:solidFill>
            <a:srgbClr val="46D2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566928" y="1444752"/>
            <a:ext cx="10692079" cy="585216"/>
          </a:xfrm>
          <a:prstGeom prst="rect">
            <a:avLst/>
          </a:prstGeom>
          <a:noFill/>
        </p:spPr>
        <p:txBody>
          <a:bodyPr wrap="square" lIns="45720" rIns="45720" tIns="27432" bIns="27432" anchor="t">
            <a:noAutofit/>
          </a:bodyPr>
          <a:lstStyle/>
          <a:p>
            <a:pPr algn="l">
              <a:lnSpc>
                <a:spcPct val="100000"/>
              </a:lnSpc>
            </a:pPr>
            <a:r>
              <a:rPr sz="1450" b="0" i="0">
                <a:solidFill>
                  <a:srgbClr val="A7B2B0"/>
                </a:solidFill>
                <a:latin typeface="Segoe UI Semilight"/>
              </a:rPr>
              <a:t>El análisis de imágenes y de video combina observadores independientes, así que la suposición de un modelo nunca se presenta como un hecho.</a:t>
            </a:r>
          </a:p>
        </p:txBody>
      </p:sp>
      <p:sp>
        <p:nvSpPr>
          <p:cNvPr id="8" name="Rounded Rectangle 7"/>
          <p:cNvSpPr/>
          <p:nvPr/>
        </p:nvSpPr>
        <p:spPr>
          <a:xfrm>
            <a:off x="566928" y="2084831"/>
            <a:ext cx="3551834" cy="1956816"/>
          </a:xfrm>
          <a:prstGeom prst="roundRect">
            <a:avLst>
              <a:gd name="adj" fmla="val 5607"/>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ectangle 8"/>
          <p:cNvSpPr/>
          <p:nvPr/>
        </p:nvSpPr>
        <p:spPr>
          <a:xfrm>
            <a:off x="731520" y="2212848"/>
            <a:ext cx="502920" cy="45720"/>
          </a:xfrm>
          <a:prstGeom prst="rect">
            <a:avLst/>
          </a:prstGeom>
          <a:solidFill>
            <a:srgbClr val="3BBE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694944" y="2304287"/>
            <a:ext cx="3295802" cy="353568"/>
          </a:xfrm>
          <a:prstGeom prst="rect">
            <a:avLst/>
          </a:prstGeom>
          <a:noFill/>
        </p:spPr>
        <p:txBody>
          <a:bodyPr wrap="square" lIns="45720" rIns="45720" tIns="27432" bIns="27432" anchor="t">
            <a:noAutofit/>
          </a:bodyPr>
          <a:lstStyle/>
          <a:p>
            <a:pPr algn="l">
              <a:lnSpc>
                <a:spcPct val="100000"/>
              </a:lnSpc>
            </a:pPr>
            <a:r>
              <a:rPr sz="1600" b="0" i="0">
                <a:solidFill>
                  <a:srgbClr val="F7F2E8"/>
                </a:solidFill>
                <a:latin typeface="Segoe UI Semibold"/>
              </a:rPr>
              <a:t>Image-Interpreter</a:t>
            </a:r>
          </a:p>
        </p:txBody>
      </p:sp>
      <p:sp>
        <p:nvSpPr>
          <p:cNvPr id="11" name="TextBox 10"/>
          <p:cNvSpPr txBox="1"/>
          <p:nvPr/>
        </p:nvSpPr>
        <p:spPr>
          <a:xfrm>
            <a:off x="694944" y="2657855"/>
            <a:ext cx="3295802" cy="1292352"/>
          </a:xfrm>
          <a:prstGeom prst="rect">
            <a:avLst/>
          </a:prstGeom>
          <a:noFill/>
        </p:spPr>
        <p:txBody>
          <a:bodyPr wrap="square" lIns="45720" rIns="45720" tIns="27432" bIns="27432" anchor="t">
            <a:noAutofit/>
          </a:bodyPr>
          <a:lstStyle/>
          <a:p>
            <a:pPr algn="l">
              <a:lnSpc>
                <a:spcPct val="100000"/>
              </a:lnSpc>
            </a:pPr>
            <a:r>
              <a:rPr sz="1300" b="0" i="0">
                <a:solidFill>
                  <a:srgbClr val="A7B2B0"/>
                </a:solidFill>
                <a:latin typeface="Segoe UI"/>
              </a:rPr>
              <a:t>Dos modelos de visión leen cada imagen en paralelo con sus propias conexiones; un tercero combina ambos. Una lista separada por comas lee varias imágenes.</a:t>
            </a:r>
          </a:p>
        </p:txBody>
      </p:sp>
      <p:sp>
        <p:nvSpPr>
          <p:cNvPr id="12" name="Rounded Rectangle 11"/>
          <p:cNvSpPr/>
          <p:nvPr/>
        </p:nvSpPr>
        <p:spPr>
          <a:xfrm>
            <a:off x="4319930" y="2084831"/>
            <a:ext cx="3551834" cy="1956816"/>
          </a:xfrm>
          <a:prstGeom prst="roundRect">
            <a:avLst>
              <a:gd name="adj" fmla="val 5607"/>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4484522" y="2212848"/>
            <a:ext cx="502920" cy="45720"/>
          </a:xfrm>
          <a:prstGeom prst="rect">
            <a:avLst/>
          </a:prstGeom>
          <a:solidFill>
            <a:srgbClr val="C984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4447946" y="2304287"/>
            <a:ext cx="3295802" cy="353568"/>
          </a:xfrm>
          <a:prstGeom prst="rect">
            <a:avLst/>
          </a:prstGeom>
          <a:noFill/>
        </p:spPr>
        <p:txBody>
          <a:bodyPr wrap="square" lIns="45720" rIns="45720" tIns="27432" bIns="27432" anchor="t">
            <a:noAutofit/>
          </a:bodyPr>
          <a:lstStyle/>
          <a:p>
            <a:pPr algn="l">
              <a:lnSpc>
                <a:spcPct val="100000"/>
              </a:lnSpc>
            </a:pPr>
            <a:r>
              <a:rPr sz="1600" b="0" i="0">
                <a:solidFill>
                  <a:srgbClr val="F7F2E8"/>
                </a:solidFill>
                <a:latin typeface="Segoe UI Semibold"/>
              </a:rPr>
              <a:t>Video-Analyzer · robótica</a:t>
            </a:r>
          </a:p>
        </p:txBody>
      </p:sp>
      <p:sp>
        <p:nvSpPr>
          <p:cNvPr id="15" name="TextBox 14"/>
          <p:cNvSpPr txBox="1"/>
          <p:nvPr/>
        </p:nvSpPr>
        <p:spPr>
          <a:xfrm>
            <a:off x="4447946" y="2657855"/>
            <a:ext cx="3295802" cy="1292352"/>
          </a:xfrm>
          <a:prstGeom prst="rect">
            <a:avLst/>
          </a:prstGeom>
          <a:noFill/>
        </p:spPr>
        <p:txBody>
          <a:bodyPr wrap="square" lIns="45720" rIns="45720" tIns="27432" bIns="27432" anchor="t">
            <a:noAutofit/>
          </a:bodyPr>
          <a:lstStyle/>
          <a:p>
            <a:pPr algn="l">
              <a:lnSpc>
                <a:spcPct val="100000"/>
              </a:lnSpc>
            </a:pPr>
            <a:r>
              <a:rPr sz="1300" b="0" i="0">
                <a:solidFill>
                  <a:srgbClr val="A7B2B0"/>
                </a:solidFill>
                <a:latin typeface="Segoe UI"/>
              </a:rPr>
              <a:t>Una compuerta de movimiento determinista más dos modelos de visión; PASS sólo cuando ambos coinciden.</a:t>
            </a:r>
          </a:p>
        </p:txBody>
      </p:sp>
      <p:sp>
        <p:nvSpPr>
          <p:cNvPr id="16" name="Rounded Rectangle 15"/>
          <p:cNvSpPr/>
          <p:nvPr/>
        </p:nvSpPr>
        <p:spPr>
          <a:xfrm>
            <a:off x="8072932" y="2084831"/>
            <a:ext cx="3551834" cy="1956816"/>
          </a:xfrm>
          <a:prstGeom prst="roundRect">
            <a:avLst>
              <a:gd name="adj" fmla="val 5607"/>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8237524" y="2212848"/>
            <a:ext cx="502920" cy="45720"/>
          </a:xfrm>
          <a:prstGeom prst="rect">
            <a:avLst/>
          </a:prstGeom>
          <a:solidFill>
            <a:srgbClr val="E2B4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200948" y="2304287"/>
            <a:ext cx="3295802" cy="353568"/>
          </a:xfrm>
          <a:prstGeom prst="rect">
            <a:avLst/>
          </a:prstGeom>
          <a:noFill/>
        </p:spPr>
        <p:txBody>
          <a:bodyPr wrap="square" lIns="45720" rIns="45720" tIns="27432" bIns="27432" anchor="t">
            <a:noAutofit/>
          </a:bodyPr>
          <a:lstStyle/>
          <a:p>
            <a:pPr algn="l">
              <a:lnSpc>
                <a:spcPct val="100000"/>
              </a:lnSpc>
            </a:pPr>
            <a:r>
              <a:rPr sz="1600" b="0" i="0">
                <a:solidFill>
                  <a:srgbClr val="F7F2E8"/>
                </a:solidFill>
                <a:latin typeface="Segoe UI Semibold"/>
              </a:rPr>
              <a:t>Video-Analyzer · transcripción</a:t>
            </a:r>
          </a:p>
        </p:txBody>
      </p:sp>
      <p:sp>
        <p:nvSpPr>
          <p:cNvPr id="19" name="TextBox 18"/>
          <p:cNvSpPr txBox="1"/>
          <p:nvPr/>
        </p:nvSpPr>
        <p:spPr>
          <a:xfrm>
            <a:off x="8200948" y="2657855"/>
            <a:ext cx="3295802" cy="1292352"/>
          </a:xfrm>
          <a:prstGeom prst="rect">
            <a:avLst/>
          </a:prstGeom>
          <a:noFill/>
        </p:spPr>
        <p:txBody>
          <a:bodyPr wrap="square" lIns="45720" rIns="45720" tIns="27432" bIns="27432" anchor="t">
            <a:noAutofit/>
          </a:bodyPr>
          <a:lstStyle/>
          <a:p>
            <a:pPr algn="l">
              <a:lnSpc>
                <a:spcPct val="100000"/>
              </a:lnSpc>
            </a:pPr>
            <a:r>
              <a:rPr sz="1300" b="0" i="0">
                <a:solidFill>
                  <a:srgbClr val="A7B2B0"/>
                </a:solidFill>
                <a:latin typeface="Segoe UI"/>
              </a:rPr>
              <a:t>Voz con marcas de tiempo de las pistas de audio elegidas o de un link web, de forma local.</a:t>
            </a:r>
          </a:p>
        </p:txBody>
      </p:sp>
      <p:sp>
        <p:nvSpPr>
          <p:cNvPr id="20" name="Rounded Rectangle 19"/>
          <p:cNvSpPr/>
          <p:nvPr/>
        </p:nvSpPr>
        <p:spPr>
          <a:xfrm>
            <a:off x="566928" y="4242816"/>
            <a:ext cx="3551834" cy="1956816"/>
          </a:xfrm>
          <a:prstGeom prst="roundRect">
            <a:avLst>
              <a:gd name="adj" fmla="val 5607"/>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ectangle 20"/>
          <p:cNvSpPr/>
          <p:nvPr/>
        </p:nvSpPr>
        <p:spPr>
          <a:xfrm>
            <a:off x="731520" y="4370832"/>
            <a:ext cx="502920" cy="45720"/>
          </a:xfrm>
          <a:prstGeom prst="rect">
            <a:avLst/>
          </a:prstGeom>
          <a:solidFill>
            <a:srgbClr val="46D2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694944" y="4462272"/>
            <a:ext cx="3295802" cy="353568"/>
          </a:xfrm>
          <a:prstGeom prst="rect">
            <a:avLst/>
          </a:prstGeom>
          <a:noFill/>
        </p:spPr>
        <p:txBody>
          <a:bodyPr wrap="square" lIns="45720" rIns="45720" tIns="27432" bIns="27432" anchor="t">
            <a:noAutofit/>
          </a:bodyPr>
          <a:lstStyle/>
          <a:p>
            <a:pPr algn="l">
              <a:lnSpc>
                <a:spcPct val="100000"/>
              </a:lnSpc>
            </a:pPr>
            <a:r>
              <a:rPr sz="1600" b="0" i="0">
                <a:solidFill>
                  <a:srgbClr val="F7F2E8"/>
                </a:solidFill>
                <a:latin typeface="Segoe UI Semibold"/>
              </a:rPr>
              <a:t>Video-Analyzer · resumen</a:t>
            </a:r>
          </a:p>
        </p:txBody>
      </p:sp>
      <p:sp>
        <p:nvSpPr>
          <p:cNvPr id="23" name="TextBox 22"/>
          <p:cNvSpPr txBox="1"/>
          <p:nvPr/>
        </p:nvSpPr>
        <p:spPr>
          <a:xfrm>
            <a:off x="694944" y="4815840"/>
            <a:ext cx="3295802" cy="1292352"/>
          </a:xfrm>
          <a:prstGeom prst="rect">
            <a:avLst/>
          </a:prstGeom>
          <a:noFill/>
        </p:spPr>
        <p:txBody>
          <a:bodyPr wrap="square" lIns="45720" rIns="45720" tIns="27432" bIns="27432" anchor="t">
            <a:noAutofit/>
          </a:bodyPr>
          <a:lstStyle/>
          <a:p>
            <a:pPr algn="l">
              <a:lnSpc>
                <a:spcPct val="100000"/>
              </a:lnSpc>
            </a:pPr>
            <a:r>
              <a:rPr sz="1300" b="0" i="0">
                <a:solidFill>
                  <a:srgbClr val="A7B2B0"/>
                </a:solidFill>
                <a:latin typeface="Segoe UI"/>
              </a:rPr>
              <a:t>Voz más evidencia visual muestreada: escenas, texto, hechos, decisiones y límites; un link web se descarga primero.</a:t>
            </a:r>
          </a:p>
        </p:txBody>
      </p:sp>
      <p:sp>
        <p:nvSpPr>
          <p:cNvPr id="24" name="Rounded Rectangle 23"/>
          <p:cNvSpPr/>
          <p:nvPr/>
        </p:nvSpPr>
        <p:spPr>
          <a:xfrm>
            <a:off x="4319930" y="4242816"/>
            <a:ext cx="3551834" cy="1956816"/>
          </a:xfrm>
          <a:prstGeom prst="roundRect">
            <a:avLst>
              <a:gd name="adj" fmla="val 5607"/>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ectangle 24"/>
          <p:cNvSpPr/>
          <p:nvPr/>
        </p:nvSpPr>
        <p:spPr>
          <a:xfrm>
            <a:off x="4484522" y="4370832"/>
            <a:ext cx="502920" cy="45720"/>
          </a:xfrm>
          <a:prstGeom prst="rect">
            <a:avLst/>
          </a:prstGeom>
          <a:solidFill>
            <a:srgbClr val="D25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4447946" y="4462272"/>
            <a:ext cx="3295802" cy="353568"/>
          </a:xfrm>
          <a:prstGeom prst="rect">
            <a:avLst/>
          </a:prstGeom>
          <a:noFill/>
        </p:spPr>
        <p:txBody>
          <a:bodyPr wrap="square" lIns="45720" rIns="45720" tIns="27432" bIns="27432" anchor="t">
            <a:noAutofit/>
          </a:bodyPr>
          <a:lstStyle/>
          <a:p>
            <a:pPr algn="l">
              <a:lnSpc>
                <a:spcPct val="100000"/>
              </a:lnSpc>
            </a:pPr>
            <a:r>
              <a:rPr sz="1600" b="0" i="0">
                <a:solidFill>
                  <a:srgbClr val="F7F2E8"/>
                </a:solidFill>
                <a:latin typeface="Segoe UI Semibold"/>
              </a:rPr>
              <a:t>Captura</a:t>
            </a:r>
          </a:p>
        </p:txBody>
      </p:sp>
      <p:sp>
        <p:nvSpPr>
          <p:cNvPr id="27" name="TextBox 26"/>
          <p:cNvSpPr txBox="1"/>
          <p:nvPr/>
        </p:nvSpPr>
        <p:spPr>
          <a:xfrm>
            <a:off x="4447946" y="4815840"/>
            <a:ext cx="3295802" cy="1292352"/>
          </a:xfrm>
          <a:prstGeom prst="rect">
            <a:avLst/>
          </a:prstGeom>
          <a:noFill/>
        </p:spPr>
        <p:txBody>
          <a:bodyPr wrap="square" lIns="45720" rIns="45720" tIns="27432" bIns="27432" anchor="t">
            <a:noAutofit/>
          </a:bodyPr>
          <a:lstStyle/>
          <a:p>
            <a:pPr algn="l">
              <a:lnSpc>
                <a:spcPct val="100000"/>
              </a:lnSpc>
            </a:pPr>
            <a:r>
              <a:rPr sz="1300" b="0" i="0">
                <a:solidFill>
                  <a:srgbClr val="A7B2B0"/>
                </a:solidFill>
                <a:latin typeface="Segoe UI"/>
              </a:rPr>
              <a:t>Shoter, Camcorder y Recorder guardan en tus carpetas conocidas con nombres exactos.</a:t>
            </a:r>
          </a:p>
        </p:txBody>
      </p:sp>
      <p:sp>
        <p:nvSpPr>
          <p:cNvPr id="28" name="Rounded Rectangle 27"/>
          <p:cNvSpPr/>
          <p:nvPr/>
        </p:nvSpPr>
        <p:spPr>
          <a:xfrm>
            <a:off x="8072932" y="4242816"/>
            <a:ext cx="3551834" cy="1956816"/>
          </a:xfrm>
          <a:prstGeom prst="roundRect">
            <a:avLst>
              <a:gd name="adj" fmla="val 5607"/>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Rectangle 28"/>
          <p:cNvSpPr/>
          <p:nvPr/>
        </p:nvSpPr>
        <p:spPr>
          <a:xfrm>
            <a:off x="8237524" y="4370832"/>
            <a:ext cx="502920" cy="45720"/>
          </a:xfrm>
          <a:prstGeom prst="rect">
            <a:avLst/>
          </a:prstGeom>
          <a:solidFill>
            <a:srgbClr val="D957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8200948" y="4462272"/>
            <a:ext cx="3295802" cy="353568"/>
          </a:xfrm>
          <a:prstGeom prst="rect">
            <a:avLst/>
          </a:prstGeom>
          <a:noFill/>
        </p:spPr>
        <p:txBody>
          <a:bodyPr wrap="square" lIns="45720" rIns="45720" tIns="27432" bIns="27432" anchor="t">
            <a:noAutofit/>
          </a:bodyPr>
          <a:lstStyle/>
          <a:p>
            <a:pPr algn="l">
              <a:lnSpc>
                <a:spcPct val="100000"/>
              </a:lnSpc>
            </a:pPr>
            <a:r>
              <a:rPr sz="1600" b="0" i="0">
                <a:solidFill>
                  <a:srgbClr val="F7F2E8"/>
                </a:solidFill>
                <a:latin typeface="Segoe UI Semibold"/>
              </a:rPr>
              <a:t>Pegar en el chat</a:t>
            </a:r>
          </a:p>
        </p:txBody>
      </p:sp>
      <p:sp>
        <p:nvSpPr>
          <p:cNvPr id="31" name="TextBox 30"/>
          <p:cNvSpPr txBox="1"/>
          <p:nvPr/>
        </p:nvSpPr>
        <p:spPr>
          <a:xfrm>
            <a:off x="8200948" y="4815840"/>
            <a:ext cx="3295802" cy="1292352"/>
          </a:xfrm>
          <a:prstGeom prst="rect">
            <a:avLst/>
          </a:prstGeom>
          <a:noFill/>
        </p:spPr>
        <p:txBody>
          <a:bodyPr wrap="square" lIns="45720" rIns="45720" tIns="27432" bIns="27432" anchor="t">
            <a:noAutofit/>
          </a:bodyPr>
          <a:lstStyle/>
          <a:p>
            <a:pPr algn="l">
              <a:lnSpc>
                <a:spcPct val="100000"/>
              </a:lnSpc>
            </a:pPr>
            <a:r>
              <a:rPr sz="1300" b="0" i="0">
                <a:solidFill>
                  <a:srgbClr val="A7B2B0"/>
                </a:solidFill>
                <a:latin typeface="Segoe UI"/>
              </a:rPr>
              <a:t>Un screenshot pegado en el chat se vuelve un path que ella puede analizar.</a:t>
            </a:r>
          </a:p>
        </p:txBody>
      </p:sp>
      <p:cxnSp>
        <p:nvCxnSpPr>
          <p:cNvPr id="32" name="Connector 31"/>
          <p:cNvCxnSpPr/>
          <p:nvPr/>
        </p:nvCxnSpPr>
        <p:spPr>
          <a:xfrm>
            <a:off x="566928" y="6373368"/>
            <a:ext cx="11057839" cy="0"/>
          </a:xfrm>
          <a:prstGeom prst="line">
            <a:avLst/>
          </a:prstGeom>
          <a:ln w="7620">
            <a:solidFill>
              <a:srgbClr val="2A3A40"/>
            </a:solidFill>
          </a:ln>
        </p:spPr>
        <p:style>
          <a:lnRef idx="2">
            <a:schemeClr val="accent1"/>
          </a:lnRef>
          <a:fillRef idx="0">
            <a:schemeClr val="accent1"/>
          </a:fillRef>
          <a:effectRef idx="1">
            <a:schemeClr val="accent1"/>
          </a:effectRef>
          <a:fontRef idx="minor">
            <a:schemeClr val="tx1"/>
          </a:fontRef>
        </p:style>
      </p:cxnSp>
      <p:sp>
        <p:nvSpPr>
          <p:cNvPr id="33" name="TextBox 32"/>
          <p:cNvSpPr txBox="1"/>
          <p:nvPr/>
        </p:nvSpPr>
        <p:spPr>
          <a:xfrm>
            <a:off x="566928" y="6419088"/>
            <a:ext cx="6858000" cy="274320"/>
          </a:xfrm>
          <a:prstGeom prst="rect">
            <a:avLst/>
          </a:prstGeom>
          <a:noFill/>
        </p:spPr>
        <p:txBody>
          <a:bodyPr wrap="square" lIns="45720" rIns="45720" tIns="27432" bIns="27432" anchor="t">
            <a:noAutofit/>
          </a:bodyPr>
          <a:lstStyle/>
          <a:p>
            <a:pPr algn="l">
              <a:lnSpc>
                <a:spcPct val="100000"/>
              </a:lnSpc>
            </a:pPr>
            <a:r>
              <a:rPr sz="850" b="0" i="0" spc="120">
                <a:solidFill>
                  <a:srgbClr val="A7B2B0"/>
                </a:solidFill>
                <a:latin typeface="Segoe UI Semibold"/>
              </a:rPr>
              <a:t>TLAMATINI  ·  V · CAPACIDADES PROFUNDAS</a:t>
            </a:r>
          </a:p>
        </p:txBody>
      </p:sp>
      <p:sp>
        <p:nvSpPr>
          <p:cNvPr id="34" name="TextBox 33"/>
          <p:cNvSpPr txBox="1"/>
          <p:nvPr/>
        </p:nvSpPr>
        <p:spPr>
          <a:xfrm>
            <a:off x="8698687" y="6419088"/>
            <a:ext cx="2926080" cy="274320"/>
          </a:xfrm>
          <a:prstGeom prst="rect">
            <a:avLst/>
          </a:prstGeom>
          <a:noFill/>
        </p:spPr>
        <p:txBody>
          <a:bodyPr wrap="square" lIns="45720" rIns="45720" tIns="27432" bIns="27432" anchor="t">
            <a:noAutofit/>
          </a:bodyPr>
          <a:lstStyle/>
          <a:p>
            <a:pPr algn="r">
              <a:lnSpc>
                <a:spcPct val="100000"/>
              </a:lnSpc>
            </a:pPr>
            <a:r>
              <a:rPr sz="850" b="0" i="0" spc="100">
                <a:solidFill>
                  <a:srgbClr val="A7B2B0"/>
                </a:solidFill>
                <a:latin typeface="Segoe UI Semibold"/>
              </a:rPr>
              <a:t>v1.91.1   ·   94</a:t>
            </a:r>
          </a:p>
        </p:txBody>
      </p:sp>
    </p:spTree>
  </p:cSld>
  <p:clrMapOvr>
    <a:masterClrMapping/>
  </p:clrMapOvr>
</p:sld>
</file>

<file path=ppt/slides/slide9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content.png"/>
          <p:cNvPicPr>
            <a:picLocks noChangeAspect="1"/>
          </p:cNvPicPr>
          <p:nvPr/>
        </p:nvPicPr>
        <p:blipFill>
          <a:blip r:embed="rId2"/>
          <a:stretch>
            <a:fillRect/>
          </a:stretch>
        </p:blipFill>
        <p:spPr>
          <a:xfrm>
            <a:off x="0" y="0"/>
            <a:ext cx="12191695" cy="6858000"/>
          </a:xfrm>
          <a:prstGeom prst="rect">
            <a:avLst/>
          </a:prstGeom>
        </p:spPr>
      </p:pic>
      <p:sp>
        <p:nvSpPr>
          <p:cNvPr id="3" name="Diamond 2"/>
          <p:cNvSpPr/>
          <p:nvPr/>
        </p:nvSpPr>
        <p:spPr>
          <a:xfrm>
            <a:off x="566928" y="457200"/>
            <a:ext cx="100584" cy="100584"/>
          </a:xfrm>
          <a:prstGeom prst="diamond">
            <a:avLst/>
          </a:prstGeom>
          <a:solidFill>
            <a:srgbClr val="46D2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49808" y="365760"/>
            <a:ext cx="8229600" cy="292608"/>
          </a:xfrm>
          <a:prstGeom prst="rect">
            <a:avLst/>
          </a:prstGeom>
          <a:noFill/>
        </p:spPr>
        <p:txBody>
          <a:bodyPr wrap="square" lIns="45720" rIns="45720" tIns="27432" bIns="27432" anchor="t">
            <a:noAutofit/>
          </a:bodyPr>
          <a:lstStyle/>
          <a:p>
            <a:pPr algn="l">
              <a:lnSpc>
                <a:spcPct val="100000"/>
              </a:lnSpc>
            </a:pPr>
            <a:r>
              <a:rPr sz="1100" b="0" i="0" spc="240">
                <a:solidFill>
                  <a:srgbClr val="C98457"/>
                </a:solidFill>
                <a:latin typeface="Segoe UI Semibold"/>
              </a:rPr>
              <a:t>ESCRITORIO Y BROWSER</a:t>
            </a:r>
          </a:p>
        </p:txBody>
      </p:sp>
      <p:sp>
        <p:nvSpPr>
          <p:cNvPr id="5" name="TextBox 4"/>
          <p:cNvSpPr txBox="1"/>
          <p:nvPr/>
        </p:nvSpPr>
        <p:spPr>
          <a:xfrm>
            <a:off x="539496" y="676656"/>
            <a:ext cx="11057839" cy="658368"/>
          </a:xfrm>
          <a:prstGeom prst="rect">
            <a:avLst/>
          </a:prstGeom>
          <a:noFill/>
        </p:spPr>
        <p:txBody>
          <a:bodyPr wrap="square" lIns="45720" rIns="45720" tIns="27432" bIns="27432" anchor="t">
            <a:noAutofit/>
          </a:bodyPr>
          <a:lstStyle/>
          <a:p>
            <a:pPr algn="l">
              <a:lnSpc>
                <a:spcPct val="100000"/>
              </a:lnSpc>
            </a:pPr>
            <a:r>
              <a:rPr sz="3100" b="0" i="0">
                <a:solidFill>
                  <a:srgbClr val="F7F2E8"/>
                </a:solidFill>
                <a:latin typeface="Palatino Linotype"/>
              </a:rPr>
              <a:t>Manos precisas en un escritorio real</a:t>
            </a:r>
          </a:p>
        </p:txBody>
      </p:sp>
      <p:sp>
        <p:nvSpPr>
          <p:cNvPr id="6" name="Rectangle 5"/>
          <p:cNvSpPr/>
          <p:nvPr/>
        </p:nvSpPr>
        <p:spPr>
          <a:xfrm>
            <a:off x="566928" y="1344168"/>
            <a:ext cx="822960" cy="36576"/>
          </a:xfrm>
          <a:prstGeom prst="rect">
            <a:avLst/>
          </a:prstGeom>
          <a:solidFill>
            <a:srgbClr val="46D2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566928" y="1444752"/>
            <a:ext cx="10692079" cy="585216"/>
          </a:xfrm>
          <a:prstGeom prst="rect">
            <a:avLst/>
          </a:prstGeom>
          <a:noFill/>
        </p:spPr>
        <p:txBody>
          <a:bodyPr wrap="square" lIns="45720" rIns="45720" tIns="27432" bIns="27432" anchor="t">
            <a:noAutofit/>
          </a:bodyPr>
          <a:lstStyle/>
          <a:p>
            <a:pPr algn="l">
              <a:lnSpc>
                <a:spcPct val="100000"/>
              </a:lnSpc>
            </a:pPr>
            <a:r>
              <a:rPr sz="1450" b="0" i="0">
                <a:solidFill>
                  <a:srgbClr val="A7B2B0"/>
                </a:solidFill>
                <a:latin typeface="Segoe UI Semilight"/>
              </a:rPr>
              <a:t>Los agents de escritorio declaran sus espacios de coordenadas y su evidencia, porque un clic que cae en el lugar equivocado es peor que no hacer clic.</a:t>
            </a:r>
          </a:p>
        </p:txBody>
      </p:sp>
      <p:sp>
        <p:nvSpPr>
          <p:cNvPr id="8" name="Rounded Rectangle 7"/>
          <p:cNvSpPr/>
          <p:nvPr/>
        </p:nvSpPr>
        <p:spPr>
          <a:xfrm>
            <a:off x="566928" y="2084831"/>
            <a:ext cx="3551834" cy="1956816"/>
          </a:xfrm>
          <a:prstGeom prst="roundRect">
            <a:avLst>
              <a:gd name="adj" fmla="val 5607"/>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ectangle 8"/>
          <p:cNvSpPr/>
          <p:nvPr/>
        </p:nvSpPr>
        <p:spPr>
          <a:xfrm>
            <a:off x="731520" y="2212848"/>
            <a:ext cx="502920" cy="45720"/>
          </a:xfrm>
          <a:prstGeom prst="rect">
            <a:avLst/>
          </a:prstGeom>
          <a:solidFill>
            <a:srgbClr val="3BBE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694944" y="2304287"/>
            <a:ext cx="3295802" cy="353568"/>
          </a:xfrm>
          <a:prstGeom prst="rect">
            <a:avLst/>
          </a:prstGeom>
          <a:noFill/>
        </p:spPr>
        <p:txBody>
          <a:bodyPr wrap="square" lIns="45720" rIns="45720" tIns="27432" bIns="27432" anchor="t">
            <a:noAutofit/>
          </a:bodyPr>
          <a:lstStyle/>
          <a:p>
            <a:pPr algn="l">
              <a:lnSpc>
                <a:spcPct val="100000"/>
              </a:lnSpc>
            </a:pPr>
            <a:r>
              <a:rPr sz="1600" b="0" i="0">
                <a:solidFill>
                  <a:srgbClr val="F7F2E8"/>
                </a:solidFill>
                <a:latin typeface="Segoe UI Semibold"/>
              </a:rPr>
              <a:t>Mouser</a:t>
            </a:r>
          </a:p>
        </p:txBody>
      </p:sp>
      <p:sp>
        <p:nvSpPr>
          <p:cNvPr id="11" name="TextBox 10"/>
          <p:cNvSpPr txBox="1"/>
          <p:nvPr/>
        </p:nvSpPr>
        <p:spPr>
          <a:xfrm>
            <a:off x="694944" y="2657855"/>
            <a:ext cx="3295802" cy="1292352"/>
          </a:xfrm>
          <a:prstGeom prst="rect">
            <a:avLst/>
          </a:prstGeom>
          <a:noFill/>
        </p:spPr>
        <p:txBody>
          <a:bodyPr wrap="square" lIns="45720" rIns="45720" tIns="27432" bIns="27432" anchor="t">
            <a:noAutofit/>
          </a:bodyPr>
          <a:lstStyle/>
          <a:p>
            <a:pPr algn="l">
              <a:lnSpc>
                <a:spcPct val="100000"/>
              </a:lnSpc>
            </a:pPr>
            <a:r>
              <a:rPr sz="1300" b="0" i="0">
                <a:solidFill>
                  <a:srgbClr val="A7B2B0"/>
                </a:solidFill>
                <a:latin typeface="Segoe UI"/>
              </a:rPr>
              <a:t>Las coordenadas se declaran: pantalla física, escritorio, normalizadas, ventana o screenshot.</a:t>
            </a:r>
          </a:p>
        </p:txBody>
      </p:sp>
      <p:sp>
        <p:nvSpPr>
          <p:cNvPr id="12" name="Rounded Rectangle 11"/>
          <p:cNvSpPr/>
          <p:nvPr/>
        </p:nvSpPr>
        <p:spPr>
          <a:xfrm>
            <a:off x="4319930" y="2084831"/>
            <a:ext cx="3551834" cy="1956816"/>
          </a:xfrm>
          <a:prstGeom prst="roundRect">
            <a:avLst>
              <a:gd name="adj" fmla="val 5607"/>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4484522" y="2212848"/>
            <a:ext cx="502920" cy="45720"/>
          </a:xfrm>
          <a:prstGeom prst="rect">
            <a:avLst/>
          </a:prstGeom>
          <a:solidFill>
            <a:srgbClr val="C984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4447946" y="2304287"/>
            <a:ext cx="3295802" cy="353568"/>
          </a:xfrm>
          <a:prstGeom prst="rect">
            <a:avLst/>
          </a:prstGeom>
          <a:noFill/>
        </p:spPr>
        <p:txBody>
          <a:bodyPr wrap="square" lIns="45720" rIns="45720" tIns="27432" bIns="27432" anchor="t">
            <a:noAutofit/>
          </a:bodyPr>
          <a:lstStyle/>
          <a:p>
            <a:pPr algn="l">
              <a:lnSpc>
                <a:spcPct val="100000"/>
              </a:lnSpc>
            </a:pPr>
            <a:r>
              <a:rPr sz="1600" b="0" i="0">
                <a:solidFill>
                  <a:srgbClr val="F7F2E8"/>
                </a:solidFill>
                <a:latin typeface="Segoe UI Semibold"/>
              </a:rPr>
              <a:t>Shoter</a:t>
            </a:r>
          </a:p>
        </p:txBody>
      </p:sp>
      <p:sp>
        <p:nvSpPr>
          <p:cNvPr id="15" name="TextBox 14"/>
          <p:cNvSpPr txBox="1"/>
          <p:nvPr/>
        </p:nvSpPr>
        <p:spPr>
          <a:xfrm>
            <a:off x="4447946" y="2657855"/>
            <a:ext cx="3295802" cy="1292352"/>
          </a:xfrm>
          <a:prstGeom prst="rect">
            <a:avLst/>
          </a:prstGeom>
          <a:noFill/>
        </p:spPr>
        <p:txBody>
          <a:bodyPr wrap="square" lIns="45720" rIns="45720" tIns="27432" bIns="27432" anchor="t">
            <a:noAutofit/>
          </a:bodyPr>
          <a:lstStyle/>
          <a:p>
            <a:pPr algn="l">
              <a:lnSpc>
                <a:spcPct val="100000"/>
              </a:lnSpc>
            </a:pPr>
            <a:r>
              <a:rPr sz="1300" b="0" i="0">
                <a:solidFill>
                  <a:srgbClr val="A7B2B0"/>
                </a:solidFill>
                <a:latin typeface="Segoe UI"/>
              </a:rPr>
              <a:t>Publica el rectángulo exacto capturado, el tamaño de la imagen y la geometría del monitor.</a:t>
            </a:r>
          </a:p>
        </p:txBody>
      </p:sp>
      <p:sp>
        <p:nvSpPr>
          <p:cNvPr id="16" name="Rounded Rectangle 15"/>
          <p:cNvSpPr/>
          <p:nvPr/>
        </p:nvSpPr>
        <p:spPr>
          <a:xfrm>
            <a:off x="8072932" y="2084831"/>
            <a:ext cx="3551834" cy="1956816"/>
          </a:xfrm>
          <a:prstGeom prst="roundRect">
            <a:avLst>
              <a:gd name="adj" fmla="val 5607"/>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8237524" y="2212848"/>
            <a:ext cx="502920" cy="45720"/>
          </a:xfrm>
          <a:prstGeom prst="rect">
            <a:avLst/>
          </a:prstGeom>
          <a:solidFill>
            <a:srgbClr val="E2B4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200948" y="2304287"/>
            <a:ext cx="3295802" cy="353568"/>
          </a:xfrm>
          <a:prstGeom prst="rect">
            <a:avLst/>
          </a:prstGeom>
          <a:noFill/>
        </p:spPr>
        <p:txBody>
          <a:bodyPr wrap="square" lIns="45720" rIns="45720" tIns="27432" bIns="27432" anchor="t">
            <a:noAutofit/>
          </a:bodyPr>
          <a:lstStyle/>
          <a:p>
            <a:pPr algn="l">
              <a:lnSpc>
                <a:spcPct val="100000"/>
              </a:lnSpc>
            </a:pPr>
            <a:r>
              <a:rPr sz="1600" b="0" i="0">
                <a:solidFill>
                  <a:srgbClr val="F7F2E8"/>
                </a:solidFill>
                <a:latin typeface="Segoe UI Semibold"/>
              </a:rPr>
              <a:t>Keyboarder</a:t>
            </a:r>
          </a:p>
        </p:txBody>
      </p:sp>
      <p:sp>
        <p:nvSpPr>
          <p:cNvPr id="19" name="TextBox 18"/>
          <p:cNvSpPr txBox="1"/>
          <p:nvPr/>
        </p:nvSpPr>
        <p:spPr>
          <a:xfrm>
            <a:off x="8200948" y="2657855"/>
            <a:ext cx="3295802" cy="1292352"/>
          </a:xfrm>
          <a:prstGeom prst="rect">
            <a:avLst/>
          </a:prstGeom>
          <a:noFill/>
        </p:spPr>
        <p:txBody>
          <a:bodyPr wrap="square" lIns="45720" rIns="45720" tIns="27432" bIns="27432" anchor="t">
            <a:noAutofit/>
          </a:bodyPr>
          <a:lstStyle/>
          <a:p>
            <a:pPr algn="l">
              <a:lnSpc>
                <a:spcPct val="100000"/>
              </a:lnSpc>
            </a:pPr>
            <a:r>
              <a:rPr sz="1300" b="0" i="0">
                <a:solidFill>
                  <a:srgbClr val="A7B2B0"/>
                </a:solidFill>
                <a:latin typeface="Segoe UI"/>
              </a:rPr>
              <a:t>Liga cada tecla a una ventana verificada y se detiene si se pierde el foco.</a:t>
            </a:r>
          </a:p>
        </p:txBody>
      </p:sp>
      <p:sp>
        <p:nvSpPr>
          <p:cNvPr id="20" name="Rounded Rectangle 19"/>
          <p:cNvSpPr/>
          <p:nvPr/>
        </p:nvSpPr>
        <p:spPr>
          <a:xfrm>
            <a:off x="566928" y="4242816"/>
            <a:ext cx="3551834" cy="1956816"/>
          </a:xfrm>
          <a:prstGeom prst="roundRect">
            <a:avLst>
              <a:gd name="adj" fmla="val 5607"/>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ectangle 20"/>
          <p:cNvSpPr/>
          <p:nvPr/>
        </p:nvSpPr>
        <p:spPr>
          <a:xfrm>
            <a:off x="731520" y="4370832"/>
            <a:ext cx="502920" cy="45720"/>
          </a:xfrm>
          <a:prstGeom prst="rect">
            <a:avLst/>
          </a:prstGeom>
          <a:solidFill>
            <a:srgbClr val="46D2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694944" y="4462272"/>
            <a:ext cx="3295802" cy="353568"/>
          </a:xfrm>
          <a:prstGeom prst="rect">
            <a:avLst/>
          </a:prstGeom>
          <a:noFill/>
        </p:spPr>
        <p:txBody>
          <a:bodyPr wrap="square" lIns="45720" rIns="45720" tIns="27432" bIns="27432" anchor="t">
            <a:noAutofit/>
          </a:bodyPr>
          <a:lstStyle/>
          <a:p>
            <a:pPr algn="l">
              <a:lnSpc>
                <a:spcPct val="100000"/>
              </a:lnSpc>
            </a:pPr>
            <a:r>
              <a:rPr sz="1600" b="0" i="0">
                <a:solidFill>
                  <a:srgbClr val="F7F2E8"/>
                </a:solidFill>
                <a:latin typeface="Segoe UI Semibold"/>
              </a:rPr>
              <a:t>Entregar no es aceptar</a:t>
            </a:r>
          </a:p>
        </p:txBody>
      </p:sp>
      <p:sp>
        <p:nvSpPr>
          <p:cNvPr id="23" name="TextBox 22"/>
          <p:cNvSpPr txBox="1"/>
          <p:nvPr/>
        </p:nvSpPr>
        <p:spPr>
          <a:xfrm>
            <a:off x="694944" y="4815840"/>
            <a:ext cx="3295802" cy="1292352"/>
          </a:xfrm>
          <a:prstGeom prst="rect">
            <a:avLst/>
          </a:prstGeom>
          <a:noFill/>
        </p:spPr>
        <p:txBody>
          <a:bodyPr wrap="square" lIns="45720" rIns="45720" tIns="27432" bIns="27432" anchor="t">
            <a:noAutofit/>
          </a:bodyPr>
          <a:lstStyle/>
          <a:p>
            <a:pPr algn="l">
              <a:lnSpc>
                <a:spcPct val="100000"/>
              </a:lnSpc>
            </a:pPr>
            <a:r>
              <a:rPr sz="1200" b="0" i="0">
                <a:solidFill>
                  <a:srgbClr val="E2B462"/>
                </a:solidFill>
                <a:latin typeface="Consolas"/>
              </a:rPr>
              <a:t>input_sent</a:t>
            </a:r>
            <a:r>
              <a:rPr sz="1300" b="0" i="0">
                <a:solidFill>
                  <a:srgbClr val="A7B2B0"/>
                </a:solidFill>
                <a:latin typeface="Segoe UI"/>
              </a:rPr>
              <a:t> sólo prueba la entrega; el input interrumpido se inspecciona antes de repetir.</a:t>
            </a:r>
          </a:p>
        </p:txBody>
      </p:sp>
      <p:sp>
        <p:nvSpPr>
          <p:cNvPr id="24" name="Rounded Rectangle 23"/>
          <p:cNvSpPr/>
          <p:nvPr/>
        </p:nvSpPr>
        <p:spPr>
          <a:xfrm>
            <a:off x="4319930" y="4242816"/>
            <a:ext cx="3551834" cy="1956816"/>
          </a:xfrm>
          <a:prstGeom prst="roundRect">
            <a:avLst>
              <a:gd name="adj" fmla="val 5607"/>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ectangle 24"/>
          <p:cNvSpPr/>
          <p:nvPr/>
        </p:nvSpPr>
        <p:spPr>
          <a:xfrm>
            <a:off x="4484522" y="4370832"/>
            <a:ext cx="502920" cy="45720"/>
          </a:xfrm>
          <a:prstGeom prst="rect">
            <a:avLst/>
          </a:prstGeom>
          <a:solidFill>
            <a:srgbClr val="D25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4447946" y="4462272"/>
            <a:ext cx="3295802" cy="353568"/>
          </a:xfrm>
          <a:prstGeom prst="rect">
            <a:avLst/>
          </a:prstGeom>
          <a:noFill/>
        </p:spPr>
        <p:txBody>
          <a:bodyPr wrap="square" lIns="45720" rIns="45720" tIns="27432" bIns="27432" anchor="t">
            <a:noAutofit/>
          </a:bodyPr>
          <a:lstStyle/>
          <a:p>
            <a:pPr algn="l">
              <a:lnSpc>
                <a:spcPct val="100000"/>
              </a:lnSpc>
            </a:pPr>
            <a:r>
              <a:rPr sz="1600" b="0" i="0">
                <a:solidFill>
                  <a:srgbClr val="F7F2E8"/>
                </a:solidFill>
                <a:latin typeface="Segoe UI Semibold"/>
              </a:rPr>
              <a:t>Playwrighter</a:t>
            </a:r>
          </a:p>
        </p:txBody>
      </p:sp>
      <p:sp>
        <p:nvSpPr>
          <p:cNvPr id="27" name="TextBox 26"/>
          <p:cNvSpPr txBox="1"/>
          <p:nvPr/>
        </p:nvSpPr>
        <p:spPr>
          <a:xfrm>
            <a:off x="4447946" y="4815840"/>
            <a:ext cx="3295802" cy="1292352"/>
          </a:xfrm>
          <a:prstGeom prst="rect">
            <a:avLst/>
          </a:prstGeom>
          <a:noFill/>
        </p:spPr>
        <p:txBody>
          <a:bodyPr wrap="square" lIns="45720" rIns="45720" tIns="27432" bIns="27432" anchor="t">
            <a:noAutofit/>
          </a:bodyPr>
          <a:lstStyle/>
          <a:p>
            <a:pPr algn="l">
              <a:lnSpc>
                <a:spcPct val="100000"/>
              </a:lnSpc>
            </a:pPr>
            <a:r>
              <a:rPr sz="1300" b="0" i="0">
                <a:solidFill>
                  <a:srgbClr val="A7B2B0"/>
                </a:solidFill>
                <a:latin typeface="Segoe UI"/>
              </a:rPr>
              <a:t>Un browser real con pasos declarados, con un ajuste para dejarlo abierto y mirarlo.</a:t>
            </a:r>
          </a:p>
        </p:txBody>
      </p:sp>
      <p:sp>
        <p:nvSpPr>
          <p:cNvPr id="28" name="Rounded Rectangle 27"/>
          <p:cNvSpPr/>
          <p:nvPr/>
        </p:nvSpPr>
        <p:spPr>
          <a:xfrm>
            <a:off x="8072932" y="4242816"/>
            <a:ext cx="3551834" cy="1956816"/>
          </a:xfrm>
          <a:prstGeom prst="roundRect">
            <a:avLst>
              <a:gd name="adj" fmla="val 5607"/>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Rectangle 28"/>
          <p:cNvSpPr/>
          <p:nvPr/>
        </p:nvSpPr>
        <p:spPr>
          <a:xfrm>
            <a:off x="8237524" y="4370832"/>
            <a:ext cx="502920" cy="45720"/>
          </a:xfrm>
          <a:prstGeom prst="rect">
            <a:avLst/>
          </a:prstGeom>
          <a:solidFill>
            <a:srgbClr val="D957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8200948" y="4462272"/>
            <a:ext cx="3295802" cy="353568"/>
          </a:xfrm>
          <a:prstGeom prst="rect">
            <a:avLst/>
          </a:prstGeom>
          <a:noFill/>
        </p:spPr>
        <p:txBody>
          <a:bodyPr wrap="square" lIns="45720" rIns="45720" tIns="27432" bIns="27432" anchor="t">
            <a:noAutofit/>
          </a:bodyPr>
          <a:lstStyle/>
          <a:p>
            <a:pPr algn="l">
              <a:lnSpc>
                <a:spcPct val="100000"/>
              </a:lnSpc>
            </a:pPr>
            <a:r>
              <a:rPr sz="1600" b="0" i="0">
                <a:solidFill>
                  <a:srgbClr val="F7F2E8"/>
                </a:solidFill>
                <a:latin typeface="Segoe UI Semibold"/>
              </a:rPr>
              <a:t>Windower</a:t>
            </a:r>
          </a:p>
        </p:txBody>
      </p:sp>
      <p:sp>
        <p:nvSpPr>
          <p:cNvPr id="31" name="TextBox 30"/>
          <p:cNvSpPr txBox="1"/>
          <p:nvPr/>
        </p:nvSpPr>
        <p:spPr>
          <a:xfrm>
            <a:off x="8200948" y="4815840"/>
            <a:ext cx="3295802" cy="1292352"/>
          </a:xfrm>
          <a:prstGeom prst="rect">
            <a:avLst/>
          </a:prstGeom>
          <a:noFill/>
        </p:spPr>
        <p:txBody>
          <a:bodyPr wrap="square" lIns="45720" rIns="45720" tIns="27432" bIns="27432" anchor="t">
            <a:noAutofit/>
          </a:bodyPr>
          <a:lstStyle/>
          <a:p>
            <a:pPr algn="l">
              <a:lnSpc>
                <a:spcPct val="100000"/>
              </a:lnSpc>
            </a:pPr>
            <a:r>
              <a:rPr sz="1300" b="0" i="0">
                <a:solidFill>
                  <a:srgbClr val="A7B2B0"/>
                </a:solidFill>
                <a:latin typeface="Segoe UI"/>
              </a:rPr>
              <a:t>Enfoca, mueve, cambia de tamaño, acomoda en mosaico, fija y cierra ventanas por su título.</a:t>
            </a:r>
          </a:p>
        </p:txBody>
      </p:sp>
      <p:cxnSp>
        <p:nvCxnSpPr>
          <p:cNvPr id="32" name="Connector 31"/>
          <p:cNvCxnSpPr/>
          <p:nvPr/>
        </p:nvCxnSpPr>
        <p:spPr>
          <a:xfrm>
            <a:off x="566928" y="6373368"/>
            <a:ext cx="11057839" cy="0"/>
          </a:xfrm>
          <a:prstGeom prst="line">
            <a:avLst/>
          </a:prstGeom>
          <a:ln w="7620">
            <a:solidFill>
              <a:srgbClr val="2A3A40"/>
            </a:solidFill>
          </a:ln>
        </p:spPr>
        <p:style>
          <a:lnRef idx="2">
            <a:schemeClr val="accent1"/>
          </a:lnRef>
          <a:fillRef idx="0">
            <a:schemeClr val="accent1"/>
          </a:fillRef>
          <a:effectRef idx="1">
            <a:schemeClr val="accent1"/>
          </a:effectRef>
          <a:fontRef idx="minor">
            <a:schemeClr val="tx1"/>
          </a:fontRef>
        </p:style>
      </p:cxnSp>
      <p:sp>
        <p:nvSpPr>
          <p:cNvPr id="33" name="TextBox 32"/>
          <p:cNvSpPr txBox="1"/>
          <p:nvPr/>
        </p:nvSpPr>
        <p:spPr>
          <a:xfrm>
            <a:off x="566928" y="6419088"/>
            <a:ext cx="6858000" cy="274320"/>
          </a:xfrm>
          <a:prstGeom prst="rect">
            <a:avLst/>
          </a:prstGeom>
          <a:noFill/>
        </p:spPr>
        <p:txBody>
          <a:bodyPr wrap="square" lIns="45720" rIns="45720" tIns="27432" bIns="27432" anchor="t">
            <a:noAutofit/>
          </a:bodyPr>
          <a:lstStyle/>
          <a:p>
            <a:pPr algn="l">
              <a:lnSpc>
                <a:spcPct val="100000"/>
              </a:lnSpc>
            </a:pPr>
            <a:r>
              <a:rPr sz="850" b="0" i="0" spc="120">
                <a:solidFill>
                  <a:srgbClr val="A7B2B0"/>
                </a:solidFill>
                <a:latin typeface="Segoe UI Semibold"/>
              </a:rPr>
              <a:t>TLAMATINI  ·  V · CAPACIDADES PROFUNDAS</a:t>
            </a:r>
          </a:p>
        </p:txBody>
      </p:sp>
      <p:sp>
        <p:nvSpPr>
          <p:cNvPr id="34" name="TextBox 33"/>
          <p:cNvSpPr txBox="1"/>
          <p:nvPr/>
        </p:nvSpPr>
        <p:spPr>
          <a:xfrm>
            <a:off x="8698687" y="6419088"/>
            <a:ext cx="2926080" cy="274320"/>
          </a:xfrm>
          <a:prstGeom prst="rect">
            <a:avLst/>
          </a:prstGeom>
          <a:noFill/>
        </p:spPr>
        <p:txBody>
          <a:bodyPr wrap="square" lIns="45720" rIns="45720" tIns="27432" bIns="27432" anchor="t">
            <a:noAutofit/>
          </a:bodyPr>
          <a:lstStyle/>
          <a:p>
            <a:pPr algn="r">
              <a:lnSpc>
                <a:spcPct val="100000"/>
              </a:lnSpc>
            </a:pPr>
            <a:r>
              <a:rPr sz="850" b="0" i="0" spc="100">
                <a:solidFill>
                  <a:srgbClr val="A7B2B0"/>
                </a:solidFill>
                <a:latin typeface="Segoe UI Semibold"/>
              </a:rPr>
              <a:t>v1.91.1   ·   95</a:t>
            </a:r>
          </a:p>
        </p:txBody>
      </p:sp>
    </p:spTree>
  </p:cSld>
  <p:clrMapOvr>
    <a:masterClrMapping/>
  </p:clrMapOvr>
</p:sld>
</file>

<file path=ppt/slides/slide9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content.png"/>
          <p:cNvPicPr>
            <a:picLocks noChangeAspect="1"/>
          </p:cNvPicPr>
          <p:nvPr/>
        </p:nvPicPr>
        <p:blipFill>
          <a:blip r:embed="rId2"/>
          <a:stretch>
            <a:fillRect/>
          </a:stretch>
        </p:blipFill>
        <p:spPr>
          <a:xfrm>
            <a:off x="0" y="0"/>
            <a:ext cx="12191695" cy="6858000"/>
          </a:xfrm>
          <a:prstGeom prst="rect">
            <a:avLst/>
          </a:prstGeom>
        </p:spPr>
      </p:pic>
      <p:sp>
        <p:nvSpPr>
          <p:cNvPr id="3" name="Diamond 2"/>
          <p:cNvSpPr/>
          <p:nvPr/>
        </p:nvSpPr>
        <p:spPr>
          <a:xfrm>
            <a:off x="566928" y="457200"/>
            <a:ext cx="100584" cy="100584"/>
          </a:xfrm>
          <a:prstGeom prst="diamond">
            <a:avLst/>
          </a:prstGeom>
          <a:solidFill>
            <a:srgbClr val="46D2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49808" y="365760"/>
            <a:ext cx="8229600" cy="292608"/>
          </a:xfrm>
          <a:prstGeom prst="rect">
            <a:avLst/>
          </a:prstGeom>
          <a:noFill/>
        </p:spPr>
        <p:txBody>
          <a:bodyPr wrap="square" lIns="45720" rIns="45720" tIns="27432" bIns="27432" anchor="t">
            <a:noAutofit/>
          </a:bodyPr>
          <a:lstStyle/>
          <a:p>
            <a:pPr algn="l">
              <a:lnSpc>
                <a:spcPct val="100000"/>
              </a:lnSpc>
            </a:pPr>
            <a:r>
              <a:rPr sz="1100" b="0" i="0" spc="240">
                <a:solidFill>
                  <a:srgbClr val="C98457"/>
                </a:solidFill>
                <a:latin typeface="Segoe UI Semibold"/>
              </a:rPr>
              <a:t>BÚSQUEDA WEB</a:t>
            </a:r>
          </a:p>
        </p:txBody>
      </p:sp>
      <p:sp>
        <p:nvSpPr>
          <p:cNvPr id="5" name="TextBox 4"/>
          <p:cNvSpPr txBox="1"/>
          <p:nvPr/>
        </p:nvSpPr>
        <p:spPr>
          <a:xfrm>
            <a:off x="539496" y="676656"/>
            <a:ext cx="11057839" cy="658368"/>
          </a:xfrm>
          <a:prstGeom prst="rect">
            <a:avLst/>
          </a:prstGeom>
          <a:noFill/>
        </p:spPr>
        <p:txBody>
          <a:bodyPr wrap="square" lIns="45720" rIns="45720" tIns="27432" bIns="27432" anchor="t">
            <a:noAutofit/>
          </a:bodyPr>
          <a:lstStyle/>
          <a:p>
            <a:pPr algn="l">
              <a:lnSpc>
                <a:spcPct val="100000"/>
              </a:lnSpc>
            </a:pPr>
            <a:r>
              <a:rPr sz="3100" b="0" i="0">
                <a:solidFill>
                  <a:srgbClr val="F7F2E8"/>
                </a:solidFill>
                <a:latin typeface="Palatino Linotype"/>
              </a:rPr>
              <a:t>Tres niveles de búsqueda, un solo presupuesto de tiempo</a:t>
            </a:r>
          </a:p>
        </p:txBody>
      </p:sp>
      <p:sp>
        <p:nvSpPr>
          <p:cNvPr id="6" name="Rectangle 5"/>
          <p:cNvSpPr/>
          <p:nvPr/>
        </p:nvSpPr>
        <p:spPr>
          <a:xfrm>
            <a:off x="566928" y="1344168"/>
            <a:ext cx="822960" cy="36576"/>
          </a:xfrm>
          <a:prstGeom prst="rect">
            <a:avLst/>
          </a:prstGeom>
          <a:solidFill>
            <a:srgbClr val="46D2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566928" y="1444752"/>
            <a:ext cx="10692079" cy="585216"/>
          </a:xfrm>
          <a:prstGeom prst="rect">
            <a:avLst/>
          </a:prstGeom>
          <a:noFill/>
        </p:spPr>
        <p:txBody>
          <a:bodyPr wrap="square" lIns="45720" rIns="45720" tIns="27432" bIns="27432" anchor="t">
            <a:noAutofit/>
          </a:bodyPr>
          <a:lstStyle/>
          <a:p>
            <a:pPr algn="l">
              <a:lnSpc>
                <a:spcPct val="100000"/>
              </a:lnSpc>
            </a:pPr>
            <a:r>
              <a:rPr sz="1450" b="0" i="0">
                <a:solidFill>
                  <a:srgbClr val="A7B2B0"/>
                </a:solidFill>
                <a:latin typeface="Segoe UI Semilight"/>
              </a:rPr>
              <a:t>El tool de búsqueda del chat y el agent del pool usan la misma implementación de Googler, con un presupuesto predeterminado de 120 segundos y resultados explícitos.</a:t>
            </a:r>
          </a:p>
        </p:txBody>
      </p:sp>
      <p:sp>
        <p:nvSpPr>
          <p:cNvPr id="8" name="Rounded Rectangle 7"/>
          <p:cNvSpPr/>
          <p:nvPr/>
        </p:nvSpPr>
        <p:spPr>
          <a:xfrm>
            <a:off x="566928" y="2084831"/>
            <a:ext cx="11057839" cy="720547"/>
          </a:xfrm>
          <a:prstGeom prst="roundRect">
            <a:avLst>
              <a:gd name="adj" fmla="val 12690"/>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Diamond 8"/>
          <p:cNvSpPr/>
          <p:nvPr/>
        </p:nvSpPr>
        <p:spPr>
          <a:xfrm>
            <a:off x="768096" y="2381097"/>
            <a:ext cx="128016" cy="128016"/>
          </a:xfrm>
          <a:prstGeom prst="diamond">
            <a:avLst/>
          </a:prstGeom>
          <a:solidFill>
            <a:srgbClr val="3BBE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1024128" y="2139696"/>
            <a:ext cx="2651760" cy="610819"/>
          </a:xfrm>
          <a:prstGeom prst="rect">
            <a:avLst/>
          </a:prstGeom>
          <a:noFill/>
        </p:spPr>
        <p:txBody>
          <a:bodyPr wrap="square" lIns="45720" rIns="45720" tIns="27432" bIns="27432" anchor="ctr">
            <a:noAutofit/>
          </a:bodyPr>
          <a:lstStyle/>
          <a:p>
            <a:pPr algn="l">
              <a:lnSpc>
                <a:spcPct val="100000"/>
              </a:lnSpc>
            </a:pPr>
            <a:r>
              <a:rPr sz="1600" b="0" i="0">
                <a:solidFill>
                  <a:srgbClr val="F7F2E8"/>
                </a:solidFill>
                <a:latin typeface="Segoe UI Semibold"/>
              </a:rPr>
              <a:t>Nivel 0</a:t>
            </a:r>
          </a:p>
        </p:txBody>
      </p:sp>
      <p:sp>
        <p:nvSpPr>
          <p:cNvPr id="11" name="TextBox 10"/>
          <p:cNvSpPr txBox="1"/>
          <p:nvPr/>
        </p:nvSpPr>
        <p:spPr>
          <a:xfrm>
            <a:off x="3767328" y="2139696"/>
            <a:ext cx="7720279" cy="610819"/>
          </a:xfrm>
          <a:prstGeom prst="rect">
            <a:avLst/>
          </a:prstGeom>
          <a:noFill/>
        </p:spPr>
        <p:txBody>
          <a:bodyPr wrap="square" lIns="45720" rIns="45720" tIns="27432" bIns="27432" anchor="ctr">
            <a:noAutofit/>
          </a:bodyPr>
          <a:lstStyle/>
          <a:p>
            <a:pPr algn="l">
              <a:lnSpc>
                <a:spcPct val="100000"/>
              </a:lnSpc>
            </a:pPr>
            <a:r>
              <a:rPr sz="1400" b="0" i="0">
                <a:solidFill>
                  <a:srgbClr val="A7B2B0"/>
                </a:solidFill>
                <a:latin typeface="Segoe UI"/>
              </a:rPr>
              <a:t>Seis vías HTTP en paralelo; la relevancia se revisa antes de aceptar.</a:t>
            </a:r>
          </a:p>
        </p:txBody>
      </p:sp>
      <p:sp>
        <p:nvSpPr>
          <p:cNvPr id="12" name="Rounded Rectangle 11"/>
          <p:cNvSpPr/>
          <p:nvPr/>
        </p:nvSpPr>
        <p:spPr>
          <a:xfrm>
            <a:off x="566928" y="2933395"/>
            <a:ext cx="11057839" cy="720547"/>
          </a:xfrm>
          <a:prstGeom prst="roundRect">
            <a:avLst>
              <a:gd name="adj" fmla="val 12690"/>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Diamond 12"/>
          <p:cNvSpPr/>
          <p:nvPr/>
        </p:nvSpPr>
        <p:spPr>
          <a:xfrm>
            <a:off x="768096" y="3229660"/>
            <a:ext cx="128016" cy="128016"/>
          </a:xfrm>
          <a:prstGeom prst="diamond">
            <a:avLst/>
          </a:prstGeom>
          <a:solidFill>
            <a:srgbClr val="C984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1024128" y="2988259"/>
            <a:ext cx="2651760" cy="610819"/>
          </a:xfrm>
          <a:prstGeom prst="rect">
            <a:avLst/>
          </a:prstGeom>
          <a:noFill/>
        </p:spPr>
        <p:txBody>
          <a:bodyPr wrap="square" lIns="45720" rIns="45720" tIns="27432" bIns="27432" anchor="ctr">
            <a:noAutofit/>
          </a:bodyPr>
          <a:lstStyle/>
          <a:p>
            <a:pPr algn="l">
              <a:lnSpc>
                <a:spcPct val="100000"/>
              </a:lnSpc>
            </a:pPr>
            <a:r>
              <a:rPr sz="1600" b="0" i="0">
                <a:solidFill>
                  <a:srgbClr val="F7F2E8"/>
                </a:solidFill>
                <a:latin typeface="Segoe UI Semibold"/>
              </a:rPr>
              <a:t>Nivel 1</a:t>
            </a:r>
          </a:p>
        </p:txBody>
      </p:sp>
      <p:sp>
        <p:nvSpPr>
          <p:cNvPr id="15" name="TextBox 14"/>
          <p:cNvSpPr txBox="1"/>
          <p:nvPr/>
        </p:nvSpPr>
        <p:spPr>
          <a:xfrm>
            <a:off x="3767328" y="2988259"/>
            <a:ext cx="7720279" cy="610819"/>
          </a:xfrm>
          <a:prstGeom prst="rect">
            <a:avLst/>
          </a:prstGeom>
          <a:noFill/>
        </p:spPr>
        <p:txBody>
          <a:bodyPr wrap="square" lIns="45720" rIns="45720" tIns="27432" bIns="27432" anchor="ctr">
            <a:noAutofit/>
          </a:bodyPr>
          <a:lstStyle/>
          <a:p>
            <a:pPr algn="l">
              <a:lnSpc>
                <a:spcPct val="100000"/>
              </a:lnSpc>
            </a:pPr>
            <a:r>
              <a:rPr sz="1400" b="0" i="0">
                <a:solidFill>
                  <a:srgbClr val="A7B2B0"/>
                </a:solidFill>
                <a:latin typeface="Segoe UI"/>
              </a:rPr>
              <a:t>Ocho vías del browser en el orden del registro de salud; perfil persistente de Chrome.</a:t>
            </a:r>
          </a:p>
        </p:txBody>
      </p:sp>
      <p:sp>
        <p:nvSpPr>
          <p:cNvPr id="16" name="Rounded Rectangle 15"/>
          <p:cNvSpPr/>
          <p:nvPr/>
        </p:nvSpPr>
        <p:spPr>
          <a:xfrm>
            <a:off x="566928" y="3781958"/>
            <a:ext cx="11057839" cy="720547"/>
          </a:xfrm>
          <a:prstGeom prst="roundRect">
            <a:avLst>
              <a:gd name="adj" fmla="val 12690"/>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Diamond 16"/>
          <p:cNvSpPr/>
          <p:nvPr/>
        </p:nvSpPr>
        <p:spPr>
          <a:xfrm>
            <a:off x="768096" y="4078224"/>
            <a:ext cx="128016" cy="128016"/>
          </a:xfrm>
          <a:prstGeom prst="diamond">
            <a:avLst/>
          </a:prstGeom>
          <a:solidFill>
            <a:srgbClr val="E2B4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1024128" y="3836822"/>
            <a:ext cx="2651760" cy="610819"/>
          </a:xfrm>
          <a:prstGeom prst="rect">
            <a:avLst/>
          </a:prstGeom>
          <a:noFill/>
        </p:spPr>
        <p:txBody>
          <a:bodyPr wrap="square" lIns="45720" rIns="45720" tIns="27432" bIns="27432" anchor="ctr">
            <a:noAutofit/>
          </a:bodyPr>
          <a:lstStyle/>
          <a:p>
            <a:pPr algn="l">
              <a:lnSpc>
                <a:spcPct val="100000"/>
              </a:lnSpc>
            </a:pPr>
            <a:r>
              <a:rPr sz="1600" b="0" i="0">
                <a:solidFill>
                  <a:srgbClr val="F7F2E8"/>
                </a:solidFill>
                <a:latin typeface="Segoe UI Semibold"/>
              </a:rPr>
              <a:t>Nivel 2</a:t>
            </a:r>
          </a:p>
        </p:txBody>
      </p:sp>
      <p:sp>
        <p:nvSpPr>
          <p:cNvPr id="19" name="TextBox 18"/>
          <p:cNvSpPr txBox="1"/>
          <p:nvPr/>
        </p:nvSpPr>
        <p:spPr>
          <a:xfrm>
            <a:off x="3767328" y="3836822"/>
            <a:ext cx="7720279" cy="610819"/>
          </a:xfrm>
          <a:prstGeom prst="rect">
            <a:avLst/>
          </a:prstGeom>
          <a:noFill/>
        </p:spPr>
        <p:txBody>
          <a:bodyPr wrap="square" lIns="45720" rIns="45720" tIns="27432" bIns="27432" anchor="ctr">
            <a:noAutofit/>
          </a:bodyPr>
          <a:lstStyle/>
          <a:p>
            <a:pPr algn="l">
              <a:lnSpc>
                <a:spcPct val="100000"/>
              </a:lnSpc>
            </a:pPr>
            <a:r>
              <a:rPr sz="1400" b="0" i="0">
                <a:solidFill>
                  <a:srgbClr val="A7B2B0"/>
                </a:solidFill>
                <a:latin typeface="Segoe UI"/>
              </a:rPr>
              <a:t>Fuentes de conocimiento abierto claramente atribuidas cuando las vías de búsqueda no funcionan.</a:t>
            </a:r>
          </a:p>
        </p:txBody>
      </p:sp>
      <p:sp>
        <p:nvSpPr>
          <p:cNvPr id="20" name="Rounded Rectangle 19"/>
          <p:cNvSpPr/>
          <p:nvPr/>
        </p:nvSpPr>
        <p:spPr>
          <a:xfrm>
            <a:off x="566928" y="4630521"/>
            <a:ext cx="11057839" cy="720547"/>
          </a:xfrm>
          <a:prstGeom prst="roundRect">
            <a:avLst>
              <a:gd name="adj" fmla="val 12690"/>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Diamond 20"/>
          <p:cNvSpPr/>
          <p:nvPr/>
        </p:nvSpPr>
        <p:spPr>
          <a:xfrm>
            <a:off x="768096" y="4926787"/>
            <a:ext cx="128016" cy="128016"/>
          </a:xfrm>
          <a:prstGeom prst="diamond">
            <a:avLst/>
          </a:prstGeom>
          <a:solidFill>
            <a:srgbClr val="46D2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1024128" y="4685385"/>
            <a:ext cx="2651760" cy="610819"/>
          </a:xfrm>
          <a:prstGeom prst="rect">
            <a:avLst/>
          </a:prstGeom>
          <a:noFill/>
        </p:spPr>
        <p:txBody>
          <a:bodyPr wrap="square" lIns="45720" rIns="45720" tIns="27432" bIns="27432" anchor="ctr">
            <a:noAutofit/>
          </a:bodyPr>
          <a:lstStyle/>
          <a:p>
            <a:pPr algn="l">
              <a:lnSpc>
                <a:spcPct val="100000"/>
              </a:lnSpc>
            </a:pPr>
            <a:r>
              <a:rPr sz="1600" b="0" i="0">
                <a:solidFill>
                  <a:srgbClr val="F7F2E8"/>
                </a:solidFill>
                <a:latin typeface="Segoe UI Semibold"/>
              </a:rPr>
              <a:t>Trabajo acotado</a:t>
            </a:r>
          </a:p>
        </p:txBody>
      </p:sp>
      <p:sp>
        <p:nvSpPr>
          <p:cNvPr id="23" name="TextBox 22"/>
          <p:cNvSpPr txBox="1"/>
          <p:nvPr/>
        </p:nvSpPr>
        <p:spPr>
          <a:xfrm>
            <a:off x="3767328" y="4685385"/>
            <a:ext cx="7720279" cy="610819"/>
          </a:xfrm>
          <a:prstGeom prst="rect">
            <a:avLst/>
          </a:prstGeom>
          <a:noFill/>
        </p:spPr>
        <p:txBody>
          <a:bodyPr wrap="square" lIns="45720" rIns="45720" tIns="27432" bIns="27432" anchor="ctr">
            <a:noAutofit/>
          </a:bodyPr>
          <a:lstStyle/>
          <a:p>
            <a:pPr algn="l">
              <a:lnSpc>
                <a:spcPct val="100000"/>
              </a:lnSpc>
            </a:pPr>
            <a:r>
              <a:rPr sz="1400" b="0" i="0">
                <a:solidFill>
                  <a:srgbClr val="A7B2B0"/>
                </a:solidFill>
                <a:latin typeface="Segoe UI"/>
              </a:rPr>
              <a:t>120 segundos de forma predeterminada, cancelación y resultados de error con nombre.</a:t>
            </a:r>
          </a:p>
        </p:txBody>
      </p:sp>
      <p:sp>
        <p:nvSpPr>
          <p:cNvPr id="24" name="Rounded Rectangle 23"/>
          <p:cNvSpPr/>
          <p:nvPr/>
        </p:nvSpPr>
        <p:spPr>
          <a:xfrm>
            <a:off x="566928" y="5479084"/>
            <a:ext cx="11057839" cy="720547"/>
          </a:xfrm>
          <a:prstGeom prst="roundRect">
            <a:avLst>
              <a:gd name="adj" fmla="val 12690"/>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Diamond 24"/>
          <p:cNvSpPr/>
          <p:nvPr/>
        </p:nvSpPr>
        <p:spPr>
          <a:xfrm>
            <a:off x="768096" y="5775350"/>
            <a:ext cx="128016" cy="128016"/>
          </a:xfrm>
          <a:prstGeom prst="diamond">
            <a:avLst/>
          </a:prstGeom>
          <a:solidFill>
            <a:srgbClr val="D25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1024128" y="5533948"/>
            <a:ext cx="2651760" cy="610819"/>
          </a:xfrm>
          <a:prstGeom prst="rect">
            <a:avLst/>
          </a:prstGeom>
          <a:noFill/>
        </p:spPr>
        <p:txBody>
          <a:bodyPr wrap="square" lIns="45720" rIns="45720" tIns="27432" bIns="27432" anchor="ctr">
            <a:noAutofit/>
          </a:bodyPr>
          <a:lstStyle/>
          <a:p>
            <a:pPr algn="l">
              <a:lnSpc>
                <a:spcPct val="100000"/>
              </a:lnSpc>
            </a:pPr>
            <a:r>
              <a:rPr sz="1600" b="0" i="0">
                <a:solidFill>
                  <a:srgbClr val="F7F2E8"/>
                </a:solidFill>
                <a:latin typeface="Segoe UI Semibold"/>
              </a:rPr>
              <a:t>Contrato de dorks</a:t>
            </a:r>
          </a:p>
        </p:txBody>
      </p:sp>
      <p:sp>
        <p:nvSpPr>
          <p:cNvPr id="27" name="TextBox 26"/>
          <p:cNvSpPr txBox="1"/>
          <p:nvPr/>
        </p:nvSpPr>
        <p:spPr>
          <a:xfrm>
            <a:off x="3767328" y="5533948"/>
            <a:ext cx="7720279" cy="610819"/>
          </a:xfrm>
          <a:prstGeom prst="rect">
            <a:avLst/>
          </a:prstGeom>
          <a:noFill/>
        </p:spPr>
        <p:txBody>
          <a:bodyPr wrap="square" lIns="45720" rIns="45720" tIns="27432" bIns="27432" anchor="ctr">
            <a:noAutofit/>
          </a:bodyPr>
          <a:lstStyle/>
          <a:p>
            <a:pPr algn="l">
              <a:lnSpc>
                <a:spcPct val="100000"/>
              </a:lnSpc>
            </a:pPr>
            <a:r>
              <a:rPr sz="1400" b="0" i="0">
                <a:solidFill>
                  <a:srgbClr val="A7B2B0"/>
                </a:solidFill>
                <a:latin typeface="Segoe UI"/>
              </a:rPr>
              <a:t>Los engines explícitos se saltan los niveles alternativos; links_only entrega URLs.</a:t>
            </a:r>
          </a:p>
        </p:txBody>
      </p:sp>
      <p:cxnSp>
        <p:nvCxnSpPr>
          <p:cNvPr id="28" name="Connector 27"/>
          <p:cNvCxnSpPr/>
          <p:nvPr/>
        </p:nvCxnSpPr>
        <p:spPr>
          <a:xfrm>
            <a:off x="566928" y="6373368"/>
            <a:ext cx="11057839" cy="0"/>
          </a:xfrm>
          <a:prstGeom prst="line">
            <a:avLst/>
          </a:prstGeom>
          <a:ln w="7620">
            <a:solidFill>
              <a:srgbClr val="2A3A40"/>
            </a:solidFill>
          </a:ln>
        </p:spPr>
        <p:style>
          <a:lnRef idx="2">
            <a:schemeClr val="accent1"/>
          </a:lnRef>
          <a:fillRef idx="0">
            <a:schemeClr val="accent1"/>
          </a:fillRef>
          <a:effectRef idx="1">
            <a:schemeClr val="accent1"/>
          </a:effectRef>
          <a:fontRef idx="minor">
            <a:schemeClr val="tx1"/>
          </a:fontRef>
        </p:style>
      </p:cxnSp>
      <p:sp>
        <p:nvSpPr>
          <p:cNvPr id="29" name="TextBox 28"/>
          <p:cNvSpPr txBox="1"/>
          <p:nvPr/>
        </p:nvSpPr>
        <p:spPr>
          <a:xfrm>
            <a:off x="566928" y="6419088"/>
            <a:ext cx="6858000" cy="274320"/>
          </a:xfrm>
          <a:prstGeom prst="rect">
            <a:avLst/>
          </a:prstGeom>
          <a:noFill/>
        </p:spPr>
        <p:txBody>
          <a:bodyPr wrap="square" lIns="45720" rIns="45720" tIns="27432" bIns="27432" anchor="t">
            <a:noAutofit/>
          </a:bodyPr>
          <a:lstStyle/>
          <a:p>
            <a:pPr algn="l">
              <a:lnSpc>
                <a:spcPct val="100000"/>
              </a:lnSpc>
            </a:pPr>
            <a:r>
              <a:rPr sz="850" b="0" i="0" spc="120">
                <a:solidFill>
                  <a:srgbClr val="A7B2B0"/>
                </a:solidFill>
                <a:latin typeface="Segoe UI Semibold"/>
              </a:rPr>
              <a:t>TLAMATINI  ·  V · CAPACIDADES PROFUNDAS</a:t>
            </a:r>
          </a:p>
        </p:txBody>
      </p:sp>
      <p:sp>
        <p:nvSpPr>
          <p:cNvPr id="30" name="TextBox 29"/>
          <p:cNvSpPr txBox="1"/>
          <p:nvPr/>
        </p:nvSpPr>
        <p:spPr>
          <a:xfrm>
            <a:off x="8698687" y="6419088"/>
            <a:ext cx="2926080" cy="274320"/>
          </a:xfrm>
          <a:prstGeom prst="rect">
            <a:avLst/>
          </a:prstGeom>
          <a:noFill/>
        </p:spPr>
        <p:txBody>
          <a:bodyPr wrap="square" lIns="45720" rIns="45720" tIns="27432" bIns="27432" anchor="t">
            <a:noAutofit/>
          </a:bodyPr>
          <a:lstStyle/>
          <a:p>
            <a:pPr algn="r">
              <a:lnSpc>
                <a:spcPct val="100000"/>
              </a:lnSpc>
            </a:pPr>
            <a:r>
              <a:rPr sz="850" b="0" i="0" spc="100">
                <a:solidFill>
                  <a:srgbClr val="A7B2B0"/>
                </a:solidFill>
                <a:latin typeface="Segoe UI Semibold"/>
              </a:rPr>
              <a:t>v1.91.1   ·   96</a:t>
            </a:r>
          </a:p>
        </p:txBody>
      </p:sp>
    </p:spTree>
  </p:cSld>
  <p:clrMapOvr>
    <a:masterClrMapping/>
  </p:clrMapOvr>
</p:sld>
</file>

<file path=ppt/slides/slide9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content.png"/>
          <p:cNvPicPr>
            <a:picLocks noChangeAspect="1"/>
          </p:cNvPicPr>
          <p:nvPr/>
        </p:nvPicPr>
        <p:blipFill>
          <a:blip r:embed="rId2"/>
          <a:stretch>
            <a:fillRect/>
          </a:stretch>
        </p:blipFill>
        <p:spPr>
          <a:xfrm>
            <a:off x="0" y="0"/>
            <a:ext cx="12191695" cy="6858000"/>
          </a:xfrm>
          <a:prstGeom prst="rect">
            <a:avLst/>
          </a:prstGeom>
        </p:spPr>
      </p:pic>
      <p:sp>
        <p:nvSpPr>
          <p:cNvPr id="3" name="Diamond 2"/>
          <p:cNvSpPr/>
          <p:nvPr/>
        </p:nvSpPr>
        <p:spPr>
          <a:xfrm>
            <a:off x="566928" y="457200"/>
            <a:ext cx="100584" cy="100584"/>
          </a:xfrm>
          <a:prstGeom prst="diamond">
            <a:avLst/>
          </a:prstGeom>
          <a:solidFill>
            <a:srgbClr val="46D2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49808" y="365760"/>
            <a:ext cx="8229600" cy="292608"/>
          </a:xfrm>
          <a:prstGeom prst="rect">
            <a:avLst/>
          </a:prstGeom>
          <a:noFill/>
        </p:spPr>
        <p:txBody>
          <a:bodyPr wrap="square" lIns="45720" rIns="45720" tIns="27432" bIns="27432" anchor="t">
            <a:noAutofit/>
          </a:bodyPr>
          <a:lstStyle/>
          <a:p>
            <a:pPr algn="l">
              <a:lnSpc>
                <a:spcPct val="100000"/>
              </a:lnSpc>
            </a:pPr>
            <a:r>
              <a:rPr sz="1100" b="0" i="0" spc="240">
                <a:solidFill>
                  <a:srgbClr val="C98457"/>
                </a:solidFill>
                <a:latin typeface="Segoe UI Semibold"/>
              </a:rPr>
              <a:t>LECTURA WEB</a:t>
            </a:r>
          </a:p>
        </p:txBody>
      </p:sp>
      <p:sp>
        <p:nvSpPr>
          <p:cNvPr id="5" name="TextBox 4"/>
          <p:cNvSpPr txBox="1"/>
          <p:nvPr/>
        </p:nvSpPr>
        <p:spPr>
          <a:xfrm>
            <a:off x="539496" y="676656"/>
            <a:ext cx="11057839" cy="658368"/>
          </a:xfrm>
          <a:prstGeom prst="rect">
            <a:avLst/>
          </a:prstGeom>
          <a:noFill/>
        </p:spPr>
        <p:txBody>
          <a:bodyPr wrap="square" lIns="45720" rIns="45720" tIns="27432" bIns="27432" anchor="t">
            <a:noAutofit/>
          </a:bodyPr>
          <a:lstStyle/>
          <a:p>
            <a:pPr algn="l">
              <a:lnSpc>
                <a:spcPct val="100000"/>
              </a:lnSpc>
            </a:pPr>
            <a:r>
              <a:rPr sz="3100" b="0" i="0">
                <a:solidFill>
                  <a:srgbClr val="F7F2E8"/>
                </a:solidFill>
                <a:latin typeface="Palatino Linotype"/>
              </a:rPr>
              <a:t>Lee la página pedida, reporta lo que pasó</a:t>
            </a:r>
          </a:p>
        </p:txBody>
      </p:sp>
      <p:sp>
        <p:nvSpPr>
          <p:cNvPr id="6" name="Rectangle 5"/>
          <p:cNvSpPr/>
          <p:nvPr/>
        </p:nvSpPr>
        <p:spPr>
          <a:xfrm>
            <a:off x="566928" y="1344168"/>
            <a:ext cx="822960" cy="36576"/>
          </a:xfrm>
          <a:prstGeom prst="rect">
            <a:avLst/>
          </a:prstGeom>
          <a:solidFill>
            <a:srgbClr val="46D2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566928" y="1444752"/>
            <a:ext cx="10692079" cy="585216"/>
          </a:xfrm>
          <a:prstGeom prst="rect">
            <a:avLst/>
          </a:prstGeom>
          <a:noFill/>
        </p:spPr>
        <p:txBody>
          <a:bodyPr wrap="square" lIns="45720" rIns="45720" tIns="27432" bIns="27432" anchor="t">
            <a:noAutofit/>
          </a:bodyPr>
          <a:lstStyle/>
          <a:p>
            <a:pPr algn="l">
              <a:lnSpc>
                <a:spcPct val="100000"/>
              </a:lnSpc>
            </a:pPr>
            <a:r>
              <a:rPr sz="1450" b="0" i="0">
                <a:solidFill>
                  <a:srgbClr val="A7B2B0"/>
                </a:solidFill>
                <a:latin typeface="Segoe UI Semilight"/>
              </a:rPr>
              <a:t>Crawler empieza con la página dada, acota su trabajo y mantiene las páginas de rechazo lejos del modelo.</a:t>
            </a:r>
          </a:p>
        </p:txBody>
      </p:sp>
      <p:sp>
        <p:nvSpPr>
          <p:cNvPr id="8" name="Rounded Rectangle 7"/>
          <p:cNvSpPr/>
          <p:nvPr/>
        </p:nvSpPr>
        <p:spPr>
          <a:xfrm>
            <a:off x="566928" y="2084831"/>
            <a:ext cx="5428335" cy="1956816"/>
          </a:xfrm>
          <a:prstGeom prst="roundRect">
            <a:avLst>
              <a:gd name="adj" fmla="val 5607"/>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ectangle 8"/>
          <p:cNvSpPr/>
          <p:nvPr/>
        </p:nvSpPr>
        <p:spPr>
          <a:xfrm>
            <a:off x="731520" y="2212848"/>
            <a:ext cx="502920" cy="45720"/>
          </a:xfrm>
          <a:prstGeom prst="rect">
            <a:avLst/>
          </a:prstGeom>
          <a:solidFill>
            <a:srgbClr val="3BBE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694944" y="2304287"/>
            <a:ext cx="5172303" cy="353568"/>
          </a:xfrm>
          <a:prstGeom prst="rect">
            <a:avLst/>
          </a:prstGeom>
          <a:noFill/>
        </p:spPr>
        <p:txBody>
          <a:bodyPr wrap="square" lIns="45720" rIns="45720" tIns="27432" bIns="27432" anchor="t">
            <a:noAutofit/>
          </a:bodyPr>
          <a:lstStyle/>
          <a:p>
            <a:pPr algn="l">
              <a:lnSpc>
                <a:spcPct val="100000"/>
              </a:lnSpc>
            </a:pPr>
            <a:r>
              <a:rPr sz="1600" b="0" i="0">
                <a:solidFill>
                  <a:srgbClr val="F7F2E8"/>
                </a:solidFill>
                <a:latin typeface="Segoe UI Semibold"/>
              </a:rPr>
              <a:t>Primero la página</a:t>
            </a:r>
          </a:p>
        </p:txBody>
      </p:sp>
      <p:sp>
        <p:nvSpPr>
          <p:cNvPr id="11" name="TextBox 10"/>
          <p:cNvSpPr txBox="1"/>
          <p:nvPr/>
        </p:nvSpPr>
        <p:spPr>
          <a:xfrm>
            <a:off x="694944" y="2657855"/>
            <a:ext cx="5172303" cy="1292352"/>
          </a:xfrm>
          <a:prstGeom prst="rect">
            <a:avLst/>
          </a:prstGeom>
          <a:noFill/>
        </p:spPr>
        <p:txBody>
          <a:bodyPr wrap="square" lIns="45720" rIns="45720" tIns="27432" bIns="27432" anchor="t">
            <a:noAutofit/>
          </a:bodyPr>
          <a:lstStyle/>
          <a:p>
            <a:pPr algn="l">
              <a:lnSpc>
                <a:spcPct val="100000"/>
              </a:lnSpc>
            </a:pPr>
            <a:r>
              <a:rPr sz="1300" b="0" i="0">
                <a:solidFill>
                  <a:srgbClr val="A7B2B0"/>
                </a:solidFill>
                <a:latin typeface="Segoe UI"/>
              </a:rPr>
              <a:t>Lee la URL semilla de forma predeterminada; el crawl por rango es explícito.</a:t>
            </a:r>
          </a:p>
        </p:txBody>
      </p:sp>
      <p:sp>
        <p:nvSpPr>
          <p:cNvPr id="12" name="Rounded Rectangle 11"/>
          <p:cNvSpPr/>
          <p:nvPr/>
        </p:nvSpPr>
        <p:spPr>
          <a:xfrm>
            <a:off x="6196431" y="2084831"/>
            <a:ext cx="5428335" cy="1956816"/>
          </a:xfrm>
          <a:prstGeom prst="roundRect">
            <a:avLst>
              <a:gd name="adj" fmla="val 5607"/>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6361023" y="2212848"/>
            <a:ext cx="502920" cy="45720"/>
          </a:xfrm>
          <a:prstGeom prst="rect">
            <a:avLst/>
          </a:prstGeom>
          <a:solidFill>
            <a:srgbClr val="C984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324447" y="2304287"/>
            <a:ext cx="5172303" cy="353568"/>
          </a:xfrm>
          <a:prstGeom prst="rect">
            <a:avLst/>
          </a:prstGeom>
          <a:noFill/>
        </p:spPr>
        <p:txBody>
          <a:bodyPr wrap="square" lIns="45720" rIns="45720" tIns="27432" bIns="27432" anchor="t">
            <a:noAutofit/>
          </a:bodyPr>
          <a:lstStyle/>
          <a:p>
            <a:pPr algn="l">
              <a:lnSpc>
                <a:spcPct val="100000"/>
              </a:lnSpc>
            </a:pPr>
            <a:r>
              <a:rPr sz="1600" b="0" i="0">
                <a:solidFill>
                  <a:srgbClr val="F7F2E8"/>
                </a:solidFill>
                <a:latin typeface="Segoe UI Semibold"/>
              </a:rPr>
              <a:t>Presupuestos</a:t>
            </a:r>
          </a:p>
        </p:txBody>
      </p:sp>
      <p:sp>
        <p:nvSpPr>
          <p:cNvPr id="15" name="TextBox 14"/>
          <p:cNvSpPr txBox="1"/>
          <p:nvPr/>
        </p:nvSpPr>
        <p:spPr>
          <a:xfrm>
            <a:off x="6324447" y="2657855"/>
            <a:ext cx="5172303" cy="1292352"/>
          </a:xfrm>
          <a:prstGeom prst="rect">
            <a:avLst/>
          </a:prstGeom>
          <a:noFill/>
        </p:spPr>
        <p:txBody>
          <a:bodyPr wrap="square" lIns="45720" rIns="45720" tIns="27432" bIns="27432" anchor="t">
            <a:noAutofit/>
          </a:bodyPr>
          <a:lstStyle/>
          <a:p>
            <a:pPr algn="l">
              <a:lnSpc>
                <a:spcPct val="100000"/>
              </a:lnSpc>
            </a:pPr>
            <a:r>
              <a:rPr sz="1300" b="0" i="0">
                <a:solidFill>
                  <a:srgbClr val="A7B2B0"/>
                </a:solidFill>
                <a:latin typeface="Segoe UI"/>
              </a:rPr>
              <a:t>Valores predeterminados: 25 páginas, 900 segundos en total, 45 segundos por descarga.</a:t>
            </a:r>
          </a:p>
        </p:txBody>
      </p:sp>
      <p:sp>
        <p:nvSpPr>
          <p:cNvPr id="16" name="Rounded Rectangle 15"/>
          <p:cNvSpPr/>
          <p:nvPr/>
        </p:nvSpPr>
        <p:spPr>
          <a:xfrm>
            <a:off x="566928" y="4242816"/>
            <a:ext cx="5428335" cy="1956816"/>
          </a:xfrm>
          <a:prstGeom prst="roundRect">
            <a:avLst>
              <a:gd name="adj" fmla="val 5607"/>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31520" y="4370832"/>
            <a:ext cx="502920" cy="45720"/>
          </a:xfrm>
          <a:prstGeom prst="rect">
            <a:avLst/>
          </a:prstGeom>
          <a:solidFill>
            <a:srgbClr val="E2B4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694944" y="4462272"/>
            <a:ext cx="5172303" cy="353568"/>
          </a:xfrm>
          <a:prstGeom prst="rect">
            <a:avLst/>
          </a:prstGeom>
          <a:noFill/>
        </p:spPr>
        <p:txBody>
          <a:bodyPr wrap="square" lIns="45720" rIns="45720" tIns="27432" bIns="27432" anchor="t">
            <a:noAutofit/>
          </a:bodyPr>
          <a:lstStyle/>
          <a:p>
            <a:pPr algn="l">
              <a:lnSpc>
                <a:spcPct val="100000"/>
              </a:lnSpc>
            </a:pPr>
            <a:r>
              <a:rPr sz="1600" b="0" i="0">
                <a:solidFill>
                  <a:srgbClr val="F7F2E8"/>
                </a:solidFill>
                <a:latin typeface="Segoe UI Semibold"/>
              </a:rPr>
              <a:t>Resultado veraz</a:t>
            </a:r>
          </a:p>
        </p:txBody>
      </p:sp>
      <p:sp>
        <p:nvSpPr>
          <p:cNvPr id="19" name="TextBox 18"/>
          <p:cNvSpPr txBox="1"/>
          <p:nvPr/>
        </p:nvSpPr>
        <p:spPr>
          <a:xfrm>
            <a:off x="694944" y="4815840"/>
            <a:ext cx="5172303" cy="1292352"/>
          </a:xfrm>
          <a:prstGeom prst="rect">
            <a:avLst/>
          </a:prstGeom>
          <a:noFill/>
        </p:spPr>
        <p:txBody>
          <a:bodyPr wrap="square" lIns="45720" rIns="45720" tIns="27432" bIns="27432" anchor="t">
            <a:noAutofit/>
          </a:bodyPr>
          <a:lstStyle/>
          <a:p>
            <a:pPr algn="l">
              <a:lnSpc>
                <a:spcPct val="100000"/>
              </a:lnSpc>
            </a:pPr>
            <a:r>
              <a:rPr sz="1300" b="0" i="0">
                <a:solidFill>
                  <a:srgbClr val="A7B2B0"/>
                </a:solidFill>
                <a:latin typeface="Segoe UI"/>
              </a:rPr>
              <a:t>Los rechazos nunca se vuelven contenido fuente; la falta de análisis se reporta claramente.</a:t>
            </a:r>
          </a:p>
        </p:txBody>
      </p:sp>
      <p:sp>
        <p:nvSpPr>
          <p:cNvPr id="20" name="Rounded Rectangle 19"/>
          <p:cNvSpPr/>
          <p:nvPr/>
        </p:nvSpPr>
        <p:spPr>
          <a:xfrm>
            <a:off x="6196431" y="4242816"/>
            <a:ext cx="5428335" cy="1956816"/>
          </a:xfrm>
          <a:prstGeom prst="roundRect">
            <a:avLst>
              <a:gd name="adj" fmla="val 5607"/>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ectangle 20"/>
          <p:cNvSpPr/>
          <p:nvPr/>
        </p:nvSpPr>
        <p:spPr>
          <a:xfrm>
            <a:off x="6361023" y="4370832"/>
            <a:ext cx="502920" cy="45720"/>
          </a:xfrm>
          <a:prstGeom prst="rect">
            <a:avLst/>
          </a:prstGeom>
          <a:solidFill>
            <a:srgbClr val="46D2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6324447" y="4462272"/>
            <a:ext cx="5172303" cy="353568"/>
          </a:xfrm>
          <a:prstGeom prst="rect">
            <a:avLst/>
          </a:prstGeom>
          <a:noFill/>
        </p:spPr>
        <p:txBody>
          <a:bodyPr wrap="square" lIns="45720" rIns="45720" tIns="27432" bIns="27432" anchor="t">
            <a:noAutofit/>
          </a:bodyPr>
          <a:lstStyle/>
          <a:p>
            <a:pPr algn="l">
              <a:lnSpc>
                <a:spcPct val="100000"/>
              </a:lnSpc>
            </a:pPr>
            <a:r>
              <a:rPr sz="1600" b="0" i="0">
                <a:solidFill>
                  <a:srgbClr val="F7F2E8"/>
                </a:solidFill>
                <a:latin typeface="Segoe UI Semibold"/>
              </a:rPr>
              <a:t>Red de seguridad de texto</a:t>
            </a:r>
          </a:p>
        </p:txBody>
      </p:sp>
      <p:sp>
        <p:nvSpPr>
          <p:cNvPr id="23" name="TextBox 22"/>
          <p:cNvSpPr txBox="1"/>
          <p:nvPr/>
        </p:nvSpPr>
        <p:spPr>
          <a:xfrm>
            <a:off x="6324447" y="4815840"/>
            <a:ext cx="5172303" cy="1292352"/>
          </a:xfrm>
          <a:prstGeom prst="rect">
            <a:avLst/>
          </a:prstGeom>
          <a:noFill/>
        </p:spPr>
        <p:txBody>
          <a:bodyPr wrap="square" lIns="45720" rIns="45720" tIns="27432" bIns="27432" anchor="t">
            <a:noAutofit/>
          </a:bodyPr>
          <a:lstStyle/>
          <a:p>
            <a:pPr algn="l">
              <a:lnSpc>
                <a:spcPct val="100000"/>
              </a:lnSpc>
            </a:pPr>
            <a:r>
              <a:rPr sz="1300" b="0" i="0">
                <a:solidFill>
                  <a:srgbClr val="A7B2B0"/>
                </a:solidFill>
                <a:latin typeface="Segoe UI"/>
              </a:rPr>
              <a:t>Debajo del 25% de un fallback de más de 200 caracteres: recupera y avisa.</a:t>
            </a:r>
          </a:p>
        </p:txBody>
      </p:sp>
      <p:cxnSp>
        <p:nvCxnSpPr>
          <p:cNvPr id="24" name="Connector 23"/>
          <p:cNvCxnSpPr/>
          <p:nvPr/>
        </p:nvCxnSpPr>
        <p:spPr>
          <a:xfrm>
            <a:off x="566928" y="6373368"/>
            <a:ext cx="11057839" cy="0"/>
          </a:xfrm>
          <a:prstGeom prst="line">
            <a:avLst/>
          </a:prstGeom>
          <a:ln w="7620">
            <a:solidFill>
              <a:srgbClr val="2A3A40"/>
            </a:solidFill>
          </a:ln>
        </p:spPr>
        <p:style>
          <a:lnRef idx="2">
            <a:schemeClr val="accent1"/>
          </a:lnRef>
          <a:fillRef idx="0">
            <a:schemeClr val="accent1"/>
          </a:fillRef>
          <a:effectRef idx="1">
            <a:schemeClr val="accent1"/>
          </a:effectRef>
          <a:fontRef idx="minor">
            <a:schemeClr val="tx1"/>
          </a:fontRef>
        </p:style>
      </p:cxnSp>
      <p:sp>
        <p:nvSpPr>
          <p:cNvPr id="25" name="TextBox 24"/>
          <p:cNvSpPr txBox="1"/>
          <p:nvPr/>
        </p:nvSpPr>
        <p:spPr>
          <a:xfrm>
            <a:off x="566928" y="6419088"/>
            <a:ext cx="6858000" cy="274320"/>
          </a:xfrm>
          <a:prstGeom prst="rect">
            <a:avLst/>
          </a:prstGeom>
          <a:noFill/>
        </p:spPr>
        <p:txBody>
          <a:bodyPr wrap="square" lIns="45720" rIns="45720" tIns="27432" bIns="27432" anchor="t">
            <a:noAutofit/>
          </a:bodyPr>
          <a:lstStyle/>
          <a:p>
            <a:pPr algn="l">
              <a:lnSpc>
                <a:spcPct val="100000"/>
              </a:lnSpc>
            </a:pPr>
            <a:r>
              <a:rPr sz="850" b="0" i="0" spc="120">
                <a:solidFill>
                  <a:srgbClr val="A7B2B0"/>
                </a:solidFill>
                <a:latin typeface="Segoe UI Semibold"/>
              </a:rPr>
              <a:t>TLAMATINI  ·  V · CAPACIDADES PROFUNDAS</a:t>
            </a:r>
          </a:p>
        </p:txBody>
      </p:sp>
      <p:sp>
        <p:nvSpPr>
          <p:cNvPr id="26" name="TextBox 25"/>
          <p:cNvSpPr txBox="1"/>
          <p:nvPr/>
        </p:nvSpPr>
        <p:spPr>
          <a:xfrm>
            <a:off x="8698687" y="6419088"/>
            <a:ext cx="2926080" cy="274320"/>
          </a:xfrm>
          <a:prstGeom prst="rect">
            <a:avLst/>
          </a:prstGeom>
          <a:noFill/>
        </p:spPr>
        <p:txBody>
          <a:bodyPr wrap="square" lIns="45720" rIns="45720" tIns="27432" bIns="27432" anchor="t">
            <a:noAutofit/>
          </a:bodyPr>
          <a:lstStyle/>
          <a:p>
            <a:pPr algn="r">
              <a:lnSpc>
                <a:spcPct val="100000"/>
              </a:lnSpc>
            </a:pPr>
            <a:r>
              <a:rPr sz="850" b="0" i="0" spc="100">
                <a:solidFill>
                  <a:srgbClr val="A7B2B0"/>
                </a:solidFill>
                <a:latin typeface="Segoe UI Semibold"/>
              </a:rPr>
              <a:t>v1.91.1   ·   97</a:t>
            </a:r>
          </a:p>
        </p:txBody>
      </p:sp>
    </p:spTree>
  </p:cSld>
  <p:clrMapOvr>
    <a:masterClrMapping/>
  </p:clrMapOvr>
</p:sld>
</file>

<file path=ppt/slides/slide9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content.png"/>
          <p:cNvPicPr>
            <a:picLocks noChangeAspect="1"/>
          </p:cNvPicPr>
          <p:nvPr/>
        </p:nvPicPr>
        <p:blipFill>
          <a:blip r:embed="rId2"/>
          <a:stretch>
            <a:fillRect/>
          </a:stretch>
        </p:blipFill>
        <p:spPr>
          <a:xfrm>
            <a:off x="0" y="0"/>
            <a:ext cx="12191695" cy="6858000"/>
          </a:xfrm>
          <a:prstGeom prst="rect">
            <a:avLst/>
          </a:prstGeom>
        </p:spPr>
      </p:pic>
      <p:sp>
        <p:nvSpPr>
          <p:cNvPr id="3" name="Diamond 2"/>
          <p:cNvSpPr/>
          <p:nvPr/>
        </p:nvSpPr>
        <p:spPr>
          <a:xfrm>
            <a:off x="566928" y="457200"/>
            <a:ext cx="100584" cy="100584"/>
          </a:xfrm>
          <a:prstGeom prst="diamond">
            <a:avLst/>
          </a:prstGeom>
          <a:solidFill>
            <a:srgbClr val="46D2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49808" y="365760"/>
            <a:ext cx="8229600" cy="292608"/>
          </a:xfrm>
          <a:prstGeom prst="rect">
            <a:avLst/>
          </a:prstGeom>
          <a:noFill/>
        </p:spPr>
        <p:txBody>
          <a:bodyPr wrap="square" lIns="45720" rIns="45720" tIns="27432" bIns="27432" anchor="t">
            <a:noAutofit/>
          </a:bodyPr>
          <a:lstStyle/>
          <a:p>
            <a:pPr algn="l">
              <a:lnSpc>
                <a:spcPct val="100000"/>
              </a:lnSpc>
            </a:pPr>
            <a:r>
              <a:rPr sz="1100" b="0" i="0" spc="240">
                <a:solidFill>
                  <a:srgbClr val="C98457"/>
                </a:solidFill>
                <a:latin typeface="Segoe UI Semibold"/>
              </a:rPr>
              <a:t>MEDICIÓN DE RED</a:t>
            </a:r>
          </a:p>
        </p:txBody>
      </p:sp>
      <p:sp>
        <p:nvSpPr>
          <p:cNvPr id="5" name="TextBox 4"/>
          <p:cNvSpPr txBox="1"/>
          <p:nvPr/>
        </p:nvSpPr>
        <p:spPr>
          <a:xfrm>
            <a:off x="539496" y="676656"/>
            <a:ext cx="11057839" cy="658368"/>
          </a:xfrm>
          <a:prstGeom prst="rect">
            <a:avLst/>
          </a:prstGeom>
          <a:noFill/>
        </p:spPr>
        <p:txBody>
          <a:bodyPr wrap="square" lIns="45720" rIns="45720" tIns="27432" bIns="27432" anchor="t">
            <a:noAutofit/>
          </a:bodyPr>
          <a:lstStyle/>
          <a:p>
            <a:pPr algn="l">
              <a:lnSpc>
                <a:spcPct val="100000"/>
              </a:lnSpc>
            </a:pPr>
            <a:r>
              <a:rPr sz="3100" b="0" i="0">
                <a:solidFill>
                  <a:srgbClr val="F7F2E8"/>
                </a:solidFill>
                <a:latin typeface="Palatino Linotype"/>
              </a:rPr>
              <a:t>Velocidad medida con su barra de error</a:t>
            </a:r>
          </a:p>
        </p:txBody>
      </p:sp>
      <p:sp>
        <p:nvSpPr>
          <p:cNvPr id="6" name="Rectangle 5"/>
          <p:cNvSpPr/>
          <p:nvPr/>
        </p:nvSpPr>
        <p:spPr>
          <a:xfrm>
            <a:off x="566928" y="1344168"/>
            <a:ext cx="822960" cy="36576"/>
          </a:xfrm>
          <a:prstGeom prst="rect">
            <a:avLst/>
          </a:prstGeom>
          <a:solidFill>
            <a:srgbClr val="46D2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566928" y="1444752"/>
            <a:ext cx="10692079" cy="585216"/>
          </a:xfrm>
          <a:prstGeom prst="rect">
            <a:avLst/>
          </a:prstGeom>
          <a:noFill/>
        </p:spPr>
        <p:txBody>
          <a:bodyPr wrap="square" lIns="45720" rIns="45720" tIns="27432" bIns="27432" anchor="t">
            <a:noAutofit/>
          </a:bodyPr>
          <a:lstStyle/>
          <a:p>
            <a:pPr algn="l">
              <a:lnSpc>
                <a:spcPct val="100000"/>
              </a:lnSpc>
            </a:pPr>
            <a:r>
              <a:rPr sz="1450" b="0" i="0">
                <a:solidFill>
                  <a:srgbClr val="A7B2B0"/>
                </a:solidFill>
                <a:latin typeface="Segoe UI Semilight"/>
              </a:rPr>
              <a:t>NetSpeed-Calculator publica una velocidad con un intervalo de confianza y mide la latencia bajo carga.</a:t>
            </a:r>
          </a:p>
        </p:txBody>
      </p:sp>
      <p:sp>
        <p:nvSpPr>
          <p:cNvPr id="8" name="Rounded Rectangle 7"/>
          <p:cNvSpPr/>
          <p:nvPr/>
        </p:nvSpPr>
        <p:spPr>
          <a:xfrm>
            <a:off x="566928" y="2084831"/>
            <a:ext cx="11057839" cy="1286255"/>
          </a:xfrm>
          <a:prstGeom prst="roundRect">
            <a:avLst>
              <a:gd name="adj" fmla="val 7109"/>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Diamond 8"/>
          <p:cNvSpPr/>
          <p:nvPr/>
        </p:nvSpPr>
        <p:spPr>
          <a:xfrm>
            <a:off x="768096" y="2663952"/>
            <a:ext cx="128016" cy="128016"/>
          </a:xfrm>
          <a:prstGeom prst="diamond">
            <a:avLst/>
          </a:prstGeom>
          <a:solidFill>
            <a:srgbClr val="3BBE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1024128" y="2139696"/>
            <a:ext cx="2651760" cy="1176528"/>
          </a:xfrm>
          <a:prstGeom prst="rect">
            <a:avLst/>
          </a:prstGeom>
          <a:noFill/>
        </p:spPr>
        <p:txBody>
          <a:bodyPr wrap="square" lIns="45720" rIns="45720" tIns="27432" bIns="27432" anchor="ctr">
            <a:noAutofit/>
          </a:bodyPr>
          <a:lstStyle/>
          <a:p>
            <a:pPr algn="l">
              <a:lnSpc>
                <a:spcPct val="100000"/>
              </a:lnSpc>
            </a:pPr>
            <a:r>
              <a:rPr sz="1600" b="0" i="0">
                <a:solidFill>
                  <a:srgbClr val="F7F2E8"/>
                </a:solidFill>
                <a:latin typeface="Segoe UI Semibold"/>
              </a:rPr>
              <a:t>Throughput</a:t>
            </a:r>
          </a:p>
        </p:txBody>
      </p:sp>
      <p:sp>
        <p:nvSpPr>
          <p:cNvPr id="11" name="TextBox 10"/>
          <p:cNvSpPr txBox="1"/>
          <p:nvPr/>
        </p:nvSpPr>
        <p:spPr>
          <a:xfrm>
            <a:off x="3767328" y="2139696"/>
            <a:ext cx="7720279" cy="1176528"/>
          </a:xfrm>
          <a:prstGeom prst="rect">
            <a:avLst/>
          </a:prstGeom>
          <a:noFill/>
        </p:spPr>
        <p:txBody>
          <a:bodyPr wrap="square" lIns="45720" rIns="45720" tIns="27432" bIns="27432" anchor="ctr">
            <a:noAutofit/>
          </a:bodyPr>
          <a:lstStyle/>
          <a:p>
            <a:pPr algn="l">
              <a:lnSpc>
                <a:spcPct val="100000"/>
              </a:lnSpc>
            </a:pPr>
            <a:r>
              <a:rPr sz="1400" b="0" i="0">
                <a:solidFill>
                  <a:srgbClr val="A7B2B0"/>
                </a:solidFill>
                <a:latin typeface="Segoe UI"/>
              </a:rPr>
              <a:t>Streams en paralelo, intervalos t de Student, fusión de efectos aleatorios.</a:t>
            </a:r>
          </a:p>
        </p:txBody>
      </p:sp>
      <p:sp>
        <p:nvSpPr>
          <p:cNvPr id="12" name="Rounded Rectangle 11"/>
          <p:cNvSpPr/>
          <p:nvPr/>
        </p:nvSpPr>
        <p:spPr>
          <a:xfrm>
            <a:off x="566928" y="3499103"/>
            <a:ext cx="11057839" cy="1286255"/>
          </a:xfrm>
          <a:prstGeom prst="roundRect">
            <a:avLst>
              <a:gd name="adj" fmla="val 7109"/>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Diamond 12"/>
          <p:cNvSpPr/>
          <p:nvPr/>
        </p:nvSpPr>
        <p:spPr>
          <a:xfrm>
            <a:off x="768096" y="4078223"/>
            <a:ext cx="128016" cy="128016"/>
          </a:xfrm>
          <a:prstGeom prst="diamond">
            <a:avLst/>
          </a:prstGeom>
          <a:solidFill>
            <a:srgbClr val="C984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1024128" y="3553967"/>
            <a:ext cx="2651760" cy="1176528"/>
          </a:xfrm>
          <a:prstGeom prst="rect">
            <a:avLst/>
          </a:prstGeom>
          <a:noFill/>
        </p:spPr>
        <p:txBody>
          <a:bodyPr wrap="square" lIns="45720" rIns="45720" tIns="27432" bIns="27432" anchor="ctr">
            <a:noAutofit/>
          </a:bodyPr>
          <a:lstStyle/>
          <a:p>
            <a:pPr algn="l">
              <a:lnSpc>
                <a:spcPct val="100000"/>
              </a:lnSpc>
            </a:pPr>
            <a:r>
              <a:rPr sz="1600" b="0" i="0">
                <a:solidFill>
                  <a:srgbClr val="F7F2E8"/>
                </a:solidFill>
                <a:latin typeface="Segoe UI Semibold"/>
              </a:rPr>
              <a:t>Bufferbloat</a:t>
            </a:r>
          </a:p>
        </p:txBody>
      </p:sp>
      <p:sp>
        <p:nvSpPr>
          <p:cNvPr id="15" name="TextBox 14"/>
          <p:cNvSpPr txBox="1"/>
          <p:nvPr/>
        </p:nvSpPr>
        <p:spPr>
          <a:xfrm>
            <a:off x="3767328" y="3553967"/>
            <a:ext cx="7720279" cy="1176528"/>
          </a:xfrm>
          <a:prstGeom prst="rect">
            <a:avLst/>
          </a:prstGeom>
          <a:noFill/>
        </p:spPr>
        <p:txBody>
          <a:bodyPr wrap="square" lIns="45720" rIns="45720" tIns="27432" bIns="27432" anchor="ctr">
            <a:noAutofit/>
          </a:bodyPr>
          <a:lstStyle/>
          <a:p>
            <a:pPr algn="l">
              <a:lnSpc>
                <a:spcPct val="100000"/>
              </a:lnSpc>
            </a:pPr>
            <a:r>
              <a:rPr sz="1400" b="0" i="0">
                <a:solidFill>
                  <a:srgbClr val="A7B2B0"/>
                </a:solidFill>
                <a:latin typeface="Segoe UI"/>
              </a:rPr>
              <a:t>Latencia bajo carga, calificada de A+ a F.</a:t>
            </a:r>
          </a:p>
        </p:txBody>
      </p:sp>
      <p:sp>
        <p:nvSpPr>
          <p:cNvPr id="16" name="Rounded Rectangle 15"/>
          <p:cNvSpPr/>
          <p:nvPr/>
        </p:nvSpPr>
        <p:spPr>
          <a:xfrm>
            <a:off x="566928" y="4913376"/>
            <a:ext cx="11057839" cy="1286255"/>
          </a:xfrm>
          <a:prstGeom prst="roundRect">
            <a:avLst>
              <a:gd name="adj" fmla="val 7109"/>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Diamond 16"/>
          <p:cNvSpPr/>
          <p:nvPr/>
        </p:nvSpPr>
        <p:spPr>
          <a:xfrm>
            <a:off x="768096" y="5492495"/>
            <a:ext cx="128016" cy="128016"/>
          </a:xfrm>
          <a:prstGeom prst="diamond">
            <a:avLst/>
          </a:prstGeom>
          <a:solidFill>
            <a:srgbClr val="E2B4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1024128" y="4968239"/>
            <a:ext cx="2651760" cy="1176528"/>
          </a:xfrm>
          <a:prstGeom prst="rect">
            <a:avLst/>
          </a:prstGeom>
          <a:noFill/>
        </p:spPr>
        <p:txBody>
          <a:bodyPr wrap="square" lIns="45720" rIns="45720" tIns="27432" bIns="27432" anchor="ctr">
            <a:noAutofit/>
          </a:bodyPr>
          <a:lstStyle/>
          <a:p>
            <a:pPr algn="l">
              <a:lnSpc>
                <a:spcPct val="100000"/>
              </a:lnSpc>
            </a:pPr>
            <a:r>
              <a:rPr sz="1600" b="0" i="0">
                <a:solidFill>
                  <a:srgbClr val="F7F2E8"/>
                </a:solidFill>
                <a:latin typeface="Segoe UI Semibold"/>
              </a:rPr>
              <a:t>Con medidor</a:t>
            </a:r>
          </a:p>
        </p:txBody>
      </p:sp>
      <p:sp>
        <p:nvSpPr>
          <p:cNvPr id="19" name="TextBox 18"/>
          <p:cNvSpPr txBox="1"/>
          <p:nvPr/>
        </p:nvSpPr>
        <p:spPr>
          <a:xfrm>
            <a:off x="3767328" y="4968239"/>
            <a:ext cx="7720279" cy="1176528"/>
          </a:xfrm>
          <a:prstGeom prst="rect">
            <a:avLst/>
          </a:prstGeom>
          <a:noFill/>
        </p:spPr>
        <p:txBody>
          <a:bodyPr wrap="square" lIns="45720" rIns="45720" tIns="27432" bIns="27432" anchor="ctr">
            <a:noAutofit/>
          </a:bodyPr>
          <a:lstStyle/>
          <a:p>
            <a:pPr algn="l">
              <a:lnSpc>
                <a:spcPct val="100000"/>
              </a:lnSpc>
            </a:pPr>
            <a:r>
              <a:rPr sz="1400" b="0" i="0">
                <a:solidFill>
                  <a:srgbClr val="A7B2B0"/>
                </a:solidFill>
                <a:latin typeface="Segoe UI"/>
              </a:rPr>
              <a:t>Unos 100 a 200 MB por ejecución completa; pregunta primero.</a:t>
            </a:r>
          </a:p>
        </p:txBody>
      </p:sp>
      <p:cxnSp>
        <p:nvCxnSpPr>
          <p:cNvPr id="20" name="Connector 19"/>
          <p:cNvCxnSpPr/>
          <p:nvPr/>
        </p:nvCxnSpPr>
        <p:spPr>
          <a:xfrm>
            <a:off x="566928" y="6373368"/>
            <a:ext cx="11057839" cy="0"/>
          </a:xfrm>
          <a:prstGeom prst="line">
            <a:avLst/>
          </a:prstGeom>
          <a:ln w="7620">
            <a:solidFill>
              <a:srgbClr val="2A3A40"/>
            </a:solidFill>
          </a:ln>
        </p:spPr>
        <p:style>
          <a:lnRef idx="2">
            <a:schemeClr val="accent1"/>
          </a:lnRef>
          <a:fillRef idx="0">
            <a:schemeClr val="accent1"/>
          </a:fillRef>
          <a:effectRef idx="1">
            <a:schemeClr val="accent1"/>
          </a:effectRef>
          <a:fontRef idx="minor">
            <a:schemeClr val="tx1"/>
          </a:fontRef>
        </p:style>
      </p:cxnSp>
      <p:sp>
        <p:nvSpPr>
          <p:cNvPr id="21" name="TextBox 20"/>
          <p:cNvSpPr txBox="1"/>
          <p:nvPr/>
        </p:nvSpPr>
        <p:spPr>
          <a:xfrm>
            <a:off x="566928" y="6419088"/>
            <a:ext cx="6858000" cy="274320"/>
          </a:xfrm>
          <a:prstGeom prst="rect">
            <a:avLst/>
          </a:prstGeom>
          <a:noFill/>
        </p:spPr>
        <p:txBody>
          <a:bodyPr wrap="square" lIns="45720" rIns="45720" tIns="27432" bIns="27432" anchor="t">
            <a:noAutofit/>
          </a:bodyPr>
          <a:lstStyle/>
          <a:p>
            <a:pPr algn="l">
              <a:lnSpc>
                <a:spcPct val="100000"/>
              </a:lnSpc>
            </a:pPr>
            <a:r>
              <a:rPr sz="850" b="0" i="0" spc="120">
                <a:solidFill>
                  <a:srgbClr val="A7B2B0"/>
                </a:solidFill>
                <a:latin typeface="Segoe UI Semibold"/>
              </a:rPr>
              <a:t>TLAMATINI  ·  V · CAPACIDADES PROFUNDAS</a:t>
            </a:r>
          </a:p>
        </p:txBody>
      </p:sp>
      <p:sp>
        <p:nvSpPr>
          <p:cNvPr id="22" name="TextBox 21"/>
          <p:cNvSpPr txBox="1"/>
          <p:nvPr/>
        </p:nvSpPr>
        <p:spPr>
          <a:xfrm>
            <a:off x="8698687" y="6419088"/>
            <a:ext cx="2926080" cy="274320"/>
          </a:xfrm>
          <a:prstGeom prst="rect">
            <a:avLst/>
          </a:prstGeom>
          <a:noFill/>
        </p:spPr>
        <p:txBody>
          <a:bodyPr wrap="square" lIns="45720" rIns="45720" tIns="27432" bIns="27432" anchor="t">
            <a:noAutofit/>
          </a:bodyPr>
          <a:lstStyle/>
          <a:p>
            <a:pPr algn="r">
              <a:lnSpc>
                <a:spcPct val="100000"/>
              </a:lnSpc>
            </a:pPr>
            <a:r>
              <a:rPr sz="850" b="0" i="0" spc="100">
                <a:solidFill>
                  <a:srgbClr val="A7B2B0"/>
                </a:solidFill>
                <a:latin typeface="Segoe UI Semibold"/>
              </a:rPr>
              <a:t>v1.91.1   ·   98</a:t>
            </a:r>
          </a:p>
        </p:txBody>
      </p:sp>
    </p:spTree>
  </p:cSld>
  <p:clrMapOvr>
    <a:masterClrMapping/>
  </p:clrMapOvr>
</p:sld>
</file>

<file path=ppt/slides/slide9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content.png"/>
          <p:cNvPicPr>
            <a:picLocks noChangeAspect="1"/>
          </p:cNvPicPr>
          <p:nvPr/>
        </p:nvPicPr>
        <p:blipFill>
          <a:blip r:embed="rId2"/>
          <a:stretch>
            <a:fillRect/>
          </a:stretch>
        </p:blipFill>
        <p:spPr>
          <a:xfrm>
            <a:off x="0" y="0"/>
            <a:ext cx="12191695" cy="6858000"/>
          </a:xfrm>
          <a:prstGeom prst="rect">
            <a:avLst/>
          </a:prstGeom>
        </p:spPr>
      </p:pic>
      <p:sp>
        <p:nvSpPr>
          <p:cNvPr id="3" name="Diamond 2"/>
          <p:cNvSpPr/>
          <p:nvPr/>
        </p:nvSpPr>
        <p:spPr>
          <a:xfrm>
            <a:off x="566928" y="457200"/>
            <a:ext cx="100584" cy="100584"/>
          </a:xfrm>
          <a:prstGeom prst="diamond">
            <a:avLst/>
          </a:prstGeom>
          <a:solidFill>
            <a:srgbClr val="46D2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49808" y="365760"/>
            <a:ext cx="8229600" cy="292608"/>
          </a:xfrm>
          <a:prstGeom prst="rect">
            <a:avLst/>
          </a:prstGeom>
          <a:noFill/>
        </p:spPr>
        <p:txBody>
          <a:bodyPr wrap="square" lIns="45720" rIns="45720" tIns="27432" bIns="27432" anchor="t">
            <a:noAutofit/>
          </a:bodyPr>
          <a:lstStyle/>
          <a:p>
            <a:pPr algn="l">
              <a:lnSpc>
                <a:spcPct val="100000"/>
              </a:lnSpc>
            </a:pPr>
            <a:r>
              <a:rPr sz="1100" b="0" i="0" spc="240">
                <a:solidFill>
                  <a:srgbClr val="C98457"/>
                </a:solidFill>
                <a:latin typeface="Segoe UI Semibold"/>
              </a:rPr>
              <a:t>MENSAJERÍA</a:t>
            </a:r>
          </a:p>
        </p:txBody>
      </p:sp>
      <p:sp>
        <p:nvSpPr>
          <p:cNvPr id="5" name="TextBox 4"/>
          <p:cNvSpPr txBox="1"/>
          <p:nvPr/>
        </p:nvSpPr>
        <p:spPr>
          <a:xfrm>
            <a:off x="539496" y="676656"/>
            <a:ext cx="11057839" cy="658368"/>
          </a:xfrm>
          <a:prstGeom prst="rect">
            <a:avLst/>
          </a:prstGeom>
          <a:noFill/>
        </p:spPr>
        <p:txBody>
          <a:bodyPr wrap="square" lIns="45720" rIns="45720" tIns="27432" bIns="27432" anchor="t">
            <a:noAutofit/>
          </a:bodyPr>
          <a:lstStyle/>
          <a:p>
            <a:pPr algn="l">
              <a:lnSpc>
                <a:spcPct val="100000"/>
              </a:lnSpc>
            </a:pPr>
            <a:r>
              <a:rPr sz="3100" b="0" i="0">
                <a:solidFill>
                  <a:srgbClr val="F7F2E8"/>
                </a:solidFill>
                <a:latin typeface="Palatino Linotype"/>
              </a:rPr>
              <a:t>Llegar a las personas de forma deliberada</a:t>
            </a:r>
          </a:p>
        </p:txBody>
      </p:sp>
      <p:sp>
        <p:nvSpPr>
          <p:cNvPr id="6" name="Rectangle 5"/>
          <p:cNvSpPr/>
          <p:nvPr/>
        </p:nvSpPr>
        <p:spPr>
          <a:xfrm>
            <a:off x="566928" y="1344168"/>
            <a:ext cx="822960" cy="36576"/>
          </a:xfrm>
          <a:prstGeom prst="rect">
            <a:avLst/>
          </a:prstGeom>
          <a:solidFill>
            <a:srgbClr val="46D2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566928" y="1444752"/>
            <a:ext cx="10692079" cy="585216"/>
          </a:xfrm>
          <a:prstGeom prst="rect">
            <a:avLst/>
          </a:prstGeom>
          <a:noFill/>
        </p:spPr>
        <p:txBody>
          <a:bodyPr wrap="square" lIns="45720" rIns="45720" tIns="27432" bIns="27432" anchor="t">
            <a:noAutofit/>
          </a:bodyPr>
          <a:lstStyle/>
          <a:p>
            <a:pPr algn="l">
              <a:lnSpc>
                <a:spcPct val="100000"/>
              </a:lnSpc>
            </a:pPr>
            <a:r>
              <a:rPr sz="1450" b="0" i="0">
                <a:solidFill>
                  <a:srgbClr val="A7B2B0"/>
                </a:solidFill>
                <a:latin typeface="Segoe UI Semilight"/>
              </a:rPr>
              <a:t>Los agents de mensajería usan superficies oficiales de forma predeterminada y hacen de cada vía no oficial una elección explícita.</a:t>
            </a:r>
          </a:p>
        </p:txBody>
      </p:sp>
      <p:sp>
        <p:nvSpPr>
          <p:cNvPr id="8" name="Rounded Rectangle 7"/>
          <p:cNvSpPr/>
          <p:nvPr/>
        </p:nvSpPr>
        <p:spPr>
          <a:xfrm>
            <a:off x="566928" y="2084831"/>
            <a:ext cx="3551834" cy="1956816"/>
          </a:xfrm>
          <a:prstGeom prst="roundRect">
            <a:avLst>
              <a:gd name="adj" fmla="val 5607"/>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ectangle 8"/>
          <p:cNvSpPr/>
          <p:nvPr/>
        </p:nvSpPr>
        <p:spPr>
          <a:xfrm>
            <a:off x="731520" y="2212848"/>
            <a:ext cx="502920" cy="45720"/>
          </a:xfrm>
          <a:prstGeom prst="rect">
            <a:avLst/>
          </a:prstGeom>
          <a:solidFill>
            <a:srgbClr val="3BBE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694944" y="2304287"/>
            <a:ext cx="3295802" cy="353568"/>
          </a:xfrm>
          <a:prstGeom prst="rect">
            <a:avLst/>
          </a:prstGeom>
          <a:noFill/>
        </p:spPr>
        <p:txBody>
          <a:bodyPr wrap="square" lIns="45720" rIns="45720" tIns="27432" bIns="27432" anchor="t">
            <a:noAutofit/>
          </a:bodyPr>
          <a:lstStyle/>
          <a:p>
            <a:pPr algn="l">
              <a:lnSpc>
                <a:spcPct val="100000"/>
              </a:lnSpc>
            </a:pPr>
            <a:r>
              <a:rPr sz="1600" b="0" i="0">
                <a:solidFill>
                  <a:srgbClr val="F7F2E8"/>
                </a:solidFill>
                <a:latin typeface="Segoe UI Semibold"/>
              </a:rPr>
              <a:t>Telegrammer</a:t>
            </a:r>
          </a:p>
        </p:txBody>
      </p:sp>
      <p:sp>
        <p:nvSpPr>
          <p:cNvPr id="11" name="TextBox 10"/>
          <p:cNvSpPr txBox="1"/>
          <p:nvPr/>
        </p:nvSpPr>
        <p:spPr>
          <a:xfrm>
            <a:off x="694944" y="2657855"/>
            <a:ext cx="3295802" cy="1292352"/>
          </a:xfrm>
          <a:prstGeom prst="rect">
            <a:avLst/>
          </a:prstGeom>
          <a:noFill/>
        </p:spPr>
        <p:txBody>
          <a:bodyPr wrap="square" lIns="45720" rIns="45720" tIns="27432" bIns="27432" anchor="t">
            <a:noAutofit/>
          </a:bodyPr>
          <a:lstStyle/>
          <a:p>
            <a:pPr algn="l">
              <a:lnSpc>
                <a:spcPct val="100000"/>
              </a:lnSpc>
            </a:pPr>
            <a:r>
              <a:rPr sz="1300" b="0" i="0">
                <a:solidFill>
                  <a:srgbClr val="A7B2B0"/>
                </a:solidFill>
                <a:latin typeface="Segoe UI"/>
              </a:rPr>
              <a:t>Envía como el bot o como tu propia cuenta; “envíalo como yo” elige la tuya.</a:t>
            </a:r>
          </a:p>
        </p:txBody>
      </p:sp>
      <p:sp>
        <p:nvSpPr>
          <p:cNvPr id="12" name="Rounded Rectangle 11"/>
          <p:cNvSpPr/>
          <p:nvPr/>
        </p:nvSpPr>
        <p:spPr>
          <a:xfrm>
            <a:off x="4319930" y="2084831"/>
            <a:ext cx="3551834" cy="1956816"/>
          </a:xfrm>
          <a:prstGeom prst="roundRect">
            <a:avLst>
              <a:gd name="adj" fmla="val 5607"/>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4484522" y="2212848"/>
            <a:ext cx="502920" cy="45720"/>
          </a:xfrm>
          <a:prstGeom prst="rect">
            <a:avLst/>
          </a:prstGeom>
          <a:solidFill>
            <a:srgbClr val="C984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4447946" y="2304287"/>
            <a:ext cx="3295802" cy="353568"/>
          </a:xfrm>
          <a:prstGeom prst="rect">
            <a:avLst/>
          </a:prstGeom>
          <a:noFill/>
        </p:spPr>
        <p:txBody>
          <a:bodyPr wrap="square" lIns="45720" rIns="45720" tIns="27432" bIns="27432" anchor="t">
            <a:noAutofit/>
          </a:bodyPr>
          <a:lstStyle/>
          <a:p>
            <a:pPr algn="l">
              <a:lnSpc>
                <a:spcPct val="100000"/>
              </a:lnSpc>
            </a:pPr>
            <a:r>
              <a:rPr sz="1600" b="0" i="0">
                <a:solidFill>
                  <a:srgbClr val="F7F2E8"/>
                </a:solidFill>
                <a:latin typeface="Segoe UI Semibold"/>
              </a:rPr>
              <a:t>Whatsapper</a:t>
            </a:r>
          </a:p>
        </p:txBody>
      </p:sp>
      <p:sp>
        <p:nvSpPr>
          <p:cNvPr id="15" name="TextBox 14"/>
          <p:cNvSpPr txBox="1"/>
          <p:nvPr/>
        </p:nvSpPr>
        <p:spPr>
          <a:xfrm>
            <a:off x="4447946" y="2657855"/>
            <a:ext cx="3295802" cy="1292352"/>
          </a:xfrm>
          <a:prstGeom prst="rect">
            <a:avLst/>
          </a:prstGeom>
          <a:noFill/>
        </p:spPr>
        <p:txBody>
          <a:bodyPr wrap="square" lIns="45720" rIns="45720" tIns="27432" bIns="27432" anchor="t">
            <a:noAutofit/>
          </a:bodyPr>
          <a:lstStyle/>
          <a:p>
            <a:pPr algn="l">
              <a:lnSpc>
                <a:spcPct val="100000"/>
              </a:lnSpc>
            </a:pPr>
            <a:r>
              <a:rPr sz="1300" b="0" i="0">
                <a:solidFill>
                  <a:srgbClr val="A7B2B0"/>
                </a:solidFill>
                <a:latin typeface="Segoe UI"/>
              </a:rPr>
              <a:t>La Cloud API oficial de Meta de forma predeterminada; tu propio número sólo cuando lo dices.</a:t>
            </a:r>
          </a:p>
        </p:txBody>
      </p:sp>
      <p:sp>
        <p:nvSpPr>
          <p:cNvPr id="16" name="Rounded Rectangle 15"/>
          <p:cNvSpPr/>
          <p:nvPr/>
        </p:nvSpPr>
        <p:spPr>
          <a:xfrm>
            <a:off x="8072932" y="2084831"/>
            <a:ext cx="3551834" cy="1956816"/>
          </a:xfrm>
          <a:prstGeom prst="roundRect">
            <a:avLst>
              <a:gd name="adj" fmla="val 5607"/>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8237524" y="2212848"/>
            <a:ext cx="502920" cy="45720"/>
          </a:xfrm>
          <a:prstGeom prst="rect">
            <a:avLst/>
          </a:prstGeom>
          <a:solidFill>
            <a:srgbClr val="E2B4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200948" y="2304287"/>
            <a:ext cx="3295802" cy="353568"/>
          </a:xfrm>
          <a:prstGeom prst="rect">
            <a:avLst/>
          </a:prstGeom>
          <a:noFill/>
        </p:spPr>
        <p:txBody>
          <a:bodyPr wrap="square" lIns="45720" rIns="45720" tIns="27432" bIns="27432" anchor="t">
            <a:noAutofit/>
          </a:bodyPr>
          <a:lstStyle/>
          <a:p>
            <a:pPr algn="l">
              <a:lnSpc>
                <a:spcPct val="100000"/>
              </a:lnSpc>
            </a:pPr>
            <a:r>
              <a:rPr sz="1600" b="0" i="0">
                <a:solidFill>
                  <a:srgbClr val="F7F2E8"/>
                </a:solidFill>
                <a:latin typeface="Segoe UI Semibold"/>
              </a:rPr>
              <a:t>TeleTlamatini</a:t>
            </a:r>
          </a:p>
        </p:txBody>
      </p:sp>
      <p:sp>
        <p:nvSpPr>
          <p:cNvPr id="19" name="TextBox 18"/>
          <p:cNvSpPr txBox="1"/>
          <p:nvPr/>
        </p:nvSpPr>
        <p:spPr>
          <a:xfrm>
            <a:off x="8200948" y="2657855"/>
            <a:ext cx="3295802" cy="1292352"/>
          </a:xfrm>
          <a:prstGeom prst="rect">
            <a:avLst/>
          </a:prstGeom>
          <a:noFill/>
        </p:spPr>
        <p:txBody>
          <a:bodyPr wrap="square" lIns="45720" rIns="45720" tIns="27432" bIns="27432" anchor="t">
            <a:noAutofit/>
          </a:bodyPr>
          <a:lstStyle/>
          <a:p>
            <a:pPr algn="l">
              <a:lnSpc>
                <a:spcPct val="100000"/>
              </a:lnSpc>
            </a:pPr>
            <a:r>
              <a:rPr sz="1300" b="0" i="0">
                <a:solidFill>
                  <a:srgbClr val="A7B2B0"/>
                </a:solidFill>
                <a:latin typeface="Segoe UI"/>
              </a:rPr>
              <a:t>El chat completo en Telegram, en una cuenta dedicada.</a:t>
            </a:r>
          </a:p>
        </p:txBody>
      </p:sp>
      <p:sp>
        <p:nvSpPr>
          <p:cNvPr id="20" name="Rounded Rectangle 19"/>
          <p:cNvSpPr/>
          <p:nvPr/>
        </p:nvSpPr>
        <p:spPr>
          <a:xfrm>
            <a:off x="566928" y="4242816"/>
            <a:ext cx="3551834" cy="1956816"/>
          </a:xfrm>
          <a:prstGeom prst="roundRect">
            <a:avLst>
              <a:gd name="adj" fmla="val 5607"/>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ectangle 20"/>
          <p:cNvSpPr/>
          <p:nvPr/>
        </p:nvSpPr>
        <p:spPr>
          <a:xfrm>
            <a:off x="731520" y="4370832"/>
            <a:ext cx="502920" cy="45720"/>
          </a:xfrm>
          <a:prstGeom prst="rect">
            <a:avLst/>
          </a:prstGeom>
          <a:solidFill>
            <a:srgbClr val="46D2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694944" y="4462272"/>
            <a:ext cx="3295802" cy="353568"/>
          </a:xfrm>
          <a:prstGeom prst="rect">
            <a:avLst/>
          </a:prstGeom>
          <a:noFill/>
        </p:spPr>
        <p:txBody>
          <a:bodyPr wrap="square" lIns="45720" rIns="45720" tIns="27432" bIns="27432" anchor="t">
            <a:noAutofit/>
          </a:bodyPr>
          <a:lstStyle/>
          <a:p>
            <a:pPr algn="l">
              <a:lnSpc>
                <a:spcPct val="100000"/>
              </a:lnSpc>
            </a:pPr>
            <a:r>
              <a:rPr sz="1600" b="0" i="0">
                <a:solidFill>
                  <a:srgbClr val="F7F2E8"/>
                </a:solidFill>
                <a:latin typeface="Segoe UI Semibold"/>
              </a:rPr>
              <a:t>Instant Messaging Doctor</a:t>
            </a:r>
          </a:p>
        </p:txBody>
      </p:sp>
      <p:sp>
        <p:nvSpPr>
          <p:cNvPr id="23" name="TextBox 22"/>
          <p:cNvSpPr txBox="1"/>
          <p:nvPr/>
        </p:nvSpPr>
        <p:spPr>
          <a:xfrm>
            <a:off x="694944" y="4815840"/>
            <a:ext cx="3295802" cy="1292352"/>
          </a:xfrm>
          <a:prstGeom prst="rect">
            <a:avLst/>
          </a:prstGeom>
          <a:noFill/>
        </p:spPr>
        <p:txBody>
          <a:bodyPr wrap="square" lIns="45720" rIns="45720" tIns="27432" bIns="27432" anchor="t">
            <a:noAutofit/>
          </a:bodyPr>
          <a:lstStyle/>
          <a:p>
            <a:pPr algn="l">
              <a:lnSpc>
                <a:spcPct val="100000"/>
              </a:lnSpc>
            </a:pPr>
            <a:r>
              <a:rPr sz="1300" b="0" i="0">
                <a:solidFill>
                  <a:srgbClr val="A7B2B0"/>
                </a:solidFill>
                <a:latin typeface="Segoe UI"/>
              </a:rPr>
              <a:t>Revisa tokens, contactos, plantillas y ventanas de política.</a:t>
            </a:r>
          </a:p>
        </p:txBody>
      </p:sp>
      <p:sp>
        <p:nvSpPr>
          <p:cNvPr id="24" name="Rounded Rectangle 23"/>
          <p:cNvSpPr/>
          <p:nvPr/>
        </p:nvSpPr>
        <p:spPr>
          <a:xfrm>
            <a:off x="4319930" y="4242816"/>
            <a:ext cx="3551834" cy="1956816"/>
          </a:xfrm>
          <a:prstGeom prst="roundRect">
            <a:avLst>
              <a:gd name="adj" fmla="val 5607"/>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ectangle 24"/>
          <p:cNvSpPr/>
          <p:nvPr/>
        </p:nvSpPr>
        <p:spPr>
          <a:xfrm>
            <a:off x="4484522" y="4370832"/>
            <a:ext cx="502920" cy="45720"/>
          </a:xfrm>
          <a:prstGeom prst="rect">
            <a:avLst/>
          </a:prstGeom>
          <a:solidFill>
            <a:srgbClr val="D25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4447946" y="4462272"/>
            <a:ext cx="3295802" cy="353568"/>
          </a:xfrm>
          <a:prstGeom prst="rect">
            <a:avLst/>
          </a:prstGeom>
          <a:noFill/>
        </p:spPr>
        <p:txBody>
          <a:bodyPr wrap="square" lIns="45720" rIns="45720" tIns="27432" bIns="27432" anchor="t">
            <a:noAutofit/>
          </a:bodyPr>
          <a:lstStyle/>
          <a:p>
            <a:pPr algn="l">
              <a:lnSpc>
                <a:spcPct val="100000"/>
              </a:lnSpc>
            </a:pPr>
            <a:r>
              <a:rPr sz="1600" b="0" i="0">
                <a:solidFill>
                  <a:srgbClr val="F7F2E8"/>
                </a:solidFill>
                <a:latin typeface="Segoe UI Semibold"/>
              </a:rPr>
              <a:t>Contactos</a:t>
            </a:r>
          </a:p>
        </p:txBody>
      </p:sp>
      <p:sp>
        <p:nvSpPr>
          <p:cNvPr id="27" name="TextBox 26"/>
          <p:cNvSpPr txBox="1"/>
          <p:nvPr/>
        </p:nvSpPr>
        <p:spPr>
          <a:xfrm>
            <a:off x="4447946" y="4815840"/>
            <a:ext cx="3295802" cy="1292352"/>
          </a:xfrm>
          <a:prstGeom prst="rect">
            <a:avLst/>
          </a:prstGeom>
          <a:noFill/>
        </p:spPr>
        <p:txBody>
          <a:bodyPr wrap="square" lIns="45720" rIns="45720" tIns="27432" bIns="27432" anchor="t">
            <a:noAutofit/>
          </a:bodyPr>
          <a:lstStyle/>
          <a:p>
            <a:pPr algn="l">
              <a:lnSpc>
                <a:spcPct val="100000"/>
              </a:lnSpc>
            </a:pPr>
            <a:r>
              <a:rPr sz="1300" b="0" i="0">
                <a:solidFill>
                  <a:srgbClr val="A7B2B0"/>
                </a:solidFill>
                <a:latin typeface="Segoe UI"/>
              </a:rPr>
              <a:t>El nombre de un contacto se resuelve a la dirección real cuando se envía un mensaje.</a:t>
            </a:r>
          </a:p>
        </p:txBody>
      </p:sp>
      <p:cxnSp>
        <p:nvCxnSpPr>
          <p:cNvPr id="28" name="Connector 27"/>
          <p:cNvCxnSpPr/>
          <p:nvPr/>
        </p:nvCxnSpPr>
        <p:spPr>
          <a:xfrm>
            <a:off x="566928" y="6373368"/>
            <a:ext cx="11057839" cy="0"/>
          </a:xfrm>
          <a:prstGeom prst="line">
            <a:avLst/>
          </a:prstGeom>
          <a:ln w="7620">
            <a:solidFill>
              <a:srgbClr val="2A3A40"/>
            </a:solidFill>
          </a:ln>
        </p:spPr>
        <p:style>
          <a:lnRef idx="2">
            <a:schemeClr val="accent1"/>
          </a:lnRef>
          <a:fillRef idx="0">
            <a:schemeClr val="accent1"/>
          </a:fillRef>
          <a:effectRef idx="1">
            <a:schemeClr val="accent1"/>
          </a:effectRef>
          <a:fontRef idx="minor">
            <a:schemeClr val="tx1"/>
          </a:fontRef>
        </p:style>
      </p:cxnSp>
      <p:sp>
        <p:nvSpPr>
          <p:cNvPr id="29" name="TextBox 28"/>
          <p:cNvSpPr txBox="1"/>
          <p:nvPr/>
        </p:nvSpPr>
        <p:spPr>
          <a:xfrm>
            <a:off x="566928" y="6419088"/>
            <a:ext cx="6858000" cy="274320"/>
          </a:xfrm>
          <a:prstGeom prst="rect">
            <a:avLst/>
          </a:prstGeom>
          <a:noFill/>
        </p:spPr>
        <p:txBody>
          <a:bodyPr wrap="square" lIns="45720" rIns="45720" tIns="27432" bIns="27432" anchor="t">
            <a:noAutofit/>
          </a:bodyPr>
          <a:lstStyle/>
          <a:p>
            <a:pPr algn="l">
              <a:lnSpc>
                <a:spcPct val="100000"/>
              </a:lnSpc>
            </a:pPr>
            <a:r>
              <a:rPr sz="850" b="0" i="0" spc="120">
                <a:solidFill>
                  <a:srgbClr val="A7B2B0"/>
                </a:solidFill>
                <a:latin typeface="Segoe UI Semibold"/>
              </a:rPr>
              <a:t>TLAMATINI  ·  V · CAPACIDADES PROFUNDAS</a:t>
            </a:r>
          </a:p>
        </p:txBody>
      </p:sp>
      <p:sp>
        <p:nvSpPr>
          <p:cNvPr id="30" name="TextBox 29"/>
          <p:cNvSpPr txBox="1"/>
          <p:nvPr/>
        </p:nvSpPr>
        <p:spPr>
          <a:xfrm>
            <a:off x="8698687" y="6419088"/>
            <a:ext cx="2926080" cy="274320"/>
          </a:xfrm>
          <a:prstGeom prst="rect">
            <a:avLst/>
          </a:prstGeom>
          <a:noFill/>
        </p:spPr>
        <p:txBody>
          <a:bodyPr wrap="square" lIns="45720" rIns="45720" tIns="27432" bIns="27432" anchor="t">
            <a:noAutofit/>
          </a:bodyPr>
          <a:lstStyle/>
          <a:p>
            <a:pPr algn="r">
              <a:lnSpc>
                <a:spcPct val="100000"/>
              </a:lnSpc>
            </a:pPr>
            <a:r>
              <a:rPr sz="850" b="0" i="0" spc="100">
                <a:solidFill>
                  <a:srgbClr val="A7B2B0"/>
                </a:solidFill>
                <a:latin typeface="Segoe UI Semibold"/>
              </a:rPr>
              <a:t>v1.91.1   ·   99</a:t>
            </a:r>
          </a:p>
        </p:txBody>
      </p:sp>
    </p:spTree>
  </p:cSld>
  <p:clrMapOvr>
    <a:masterClrMapping/>
  </p:clrMapOvr>
</p:sld>
</file>

<file path=ppt/slides/slide10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divider.png"/>
          <p:cNvPicPr>
            <a:picLocks noChangeAspect="1"/>
          </p:cNvPicPr>
          <p:nvPr/>
        </p:nvPicPr>
        <p:blipFill>
          <a:blip r:embed="rId2"/>
          <a:stretch>
            <a:fillRect/>
          </a:stretch>
        </p:blipFill>
        <p:spPr>
          <a:xfrm>
            <a:off x="0" y="0"/>
            <a:ext cx="12191695" cy="6858000"/>
          </a:xfrm>
          <a:prstGeom prst="rect">
            <a:avLst/>
          </a:prstGeom>
        </p:spPr>
      </p:pic>
      <p:sp>
        <p:nvSpPr>
          <p:cNvPr id="3" name="TextBox 2"/>
          <p:cNvSpPr txBox="1"/>
          <p:nvPr/>
        </p:nvSpPr>
        <p:spPr>
          <a:xfrm>
            <a:off x="822960" y="868680"/>
            <a:ext cx="4572000" cy="365760"/>
          </a:xfrm>
          <a:prstGeom prst="rect">
            <a:avLst/>
          </a:prstGeom>
          <a:noFill/>
        </p:spPr>
        <p:txBody>
          <a:bodyPr wrap="square" lIns="45720" rIns="45720" tIns="27432" bIns="27432" anchor="t">
            <a:noAutofit/>
          </a:bodyPr>
          <a:lstStyle/>
          <a:p>
            <a:pPr algn="l">
              <a:lnSpc>
                <a:spcPct val="100000"/>
              </a:lnSpc>
            </a:pPr>
            <a:r>
              <a:rPr sz="1300" b="0" i="0" spc="340">
                <a:solidFill>
                  <a:srgbClr val="D9576B"/>
                </a:solidFill>
                <a:latin typeface="Segoe UI Semibold"/>
              </a:rPr>
              <a:t>CHAPTER</a:t>
            </a:r>
          </a:p>
        </p:txBody>
      </p:sp>
      <p:sp>
        <p:nvSpPr>
          <p:cNvPr id="4" name="TextBox 3"/>
          <p:cNvSpPr txBox="1"/>
          <p:nvPr/>
        </p:nvSpPr>
        <p:spPr>
          <a:xfrm>
            <a:off x="749808" y="1261872"/>
            <a:ext cx="5029200" cy="1691640"/>
          </a:xfrm>
          <a:prstGeom prst="rect">
            <a:avLst/>
          </a:prstGeom>
          <a:noFill/>
        </p:spPr>
        <p:txBody>
          <a:bodyPr wrap="square" lIns="45720" rIns="45720" tIns="27432" bIns="27432" anchor="t">
            <a:noAutofit/>
          </a:bodyPr>
          <a:lstStyle/>
          <a:p>
            <a:pPr algn="l">
              <a:lnSpc>
                <a:spcPct val="100000"/>
              </a:lnSpc>
            </a:pPr>
            <a:r>
              <a:rPr sz="10550" b="0" i="0">
                <a:solidFill>
                  <a:srgbClr val="C98457"/>
                </a:solidFill>
                <a:latin typeface="Palatino Linotype"/>
              </a:rPr>
              <a:t>VI</a:t>
            </a:r>
          </a:p>
        </p:txBody>
      </p:sp>
      <p:sp>
        <p:nvSpPr>
          <p:cNvPr id="5" name="TextBox 4"/>
          <p:cNvSpPr txBox="1"/>
          <p:nvPr/>
        </p:nvSpPr>
        <p:spPr>
          <a:xfrm>
            <a:off x="822960" y="2971800"/>
            <a:ext cx="6766560" cy="1280160"/>
          </a:xfrm>
          <a:prstGeom prst="rect">
            <a:avLst/>
          </a:prstGeom>
          <a:noFill/>
        </p:spPr>
        <p:txBody>
          <a:bodyPr wrap="square" lIns="45720" rIns="45720" tIns="27432" bIns="27432" anchor="t">
            <a:noAutofit/>
          </a:bodyPr>
          <a:lstStyle/>
          <a:p>
            <a:pPr algn="l">
              <a:lnSpc>
                <a:spcPct val="100000"/>
              </a:lnSpc>
            </a:pPr>
            <a:r>
              <a:rPr sz="4300" b="0" i="0">
                <a:solidFill>
                  <a:srgbClr val="F7F2E8"/>
                </a:solidFill>
                <a:latin typeface="Palatino Linotype"/>
              </a:rPr>
              <a:t>Las promesas que cumple</a:t>
            </a:r>
          </a:p>
        </p:txBody>
      </p:sp>
      <p:sp>
        <p:nvSpPr>
          <p:cNvPr id="6" name="Rectangle 5"/>
          <p:cNvSpPr/>
          <p:nvPr/>
        </p:nvSpPr>
        <p:spPr>
          <a:xfrm>
            <a:off x="841248" y="4315968"/>
            <a:ext cx="1005840" cy="45720"/>
          </a:xfrm>
          <a:prstGeom prst="rect">
            <a:avLst/>
          </a:prstGeom>
          <a:solidFill>
            <a:srgbClr val="D957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822960" y="4443984"/>
            <a:ext cx="6400800" cy="731520"/>
          </a:xfrm>
          <a:prstGeom prst="rect">
            <a:avLst/>
          </a:prstGeom>
          <a:noFill/>
        </p:spPr>
        <p:txBody>
          <a:bodyPr wrap="square" lIns="45720" rIns="45720" tIns="27432" bIns="27432" anchor="t">
            <a:noAutofit/>
          </a:bodyPr>
          <a:lstStyle/>
          <a:p>
            <a:pPr algn="l">
              <a:lnSpc>
                <a:spcPct val="100000"/>
              </a:lnSpc>
            </a:pPr>
            <a:r>
              <a:rPr sz="1800" b="0" i="0">
                <a:solidFill>
                  <a:srgbClr val="ECE7DC"/>
                </a:solidFill>
                <a:latin typeface="Segoe UI Light"/>
              </a:rPr>
              <a:t>Honestidad, consentimiento, seguridad y control, escritos en el código y no en un folleto.</a:t>
            </a:r>
          </a:p>
        </p:txBody>
      </p:sp>
      <p:sp>
        <p:nvSpPr>
          <p:cNvPr id="8" name="Diamond 7"/>
          <p:cNvSpPr/>
          <p:nvPr/>
        </p:nvSpPr>
        <p:spPr>
          <a:xfrm>
            <a:off x="822960" y="5340096"/>
            <a:ext cx="91440" cy="91440"/>
          </a:xfrm>
          <a:prstGeom prst="diamond">
            <a:avLst/>
          </a:prstGeom>
          <a:solidFill>
            <a:srgbClr val="D957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05840" y="5248656"/>
            <a:ext cx="3108960" cy="274320"/>
          </a:xfrm>
          <a:prstGeom prst="rect">
            <a:avLst/>
          </a:prstGeom>
          <a:noFill/>
        </p:spPr>
        <p:txBody>
          <a:bodyPr wrap="square" lIns="45720" rIns="45720" tIns="27432" bIns="27432" anchor="t">
            <a:noAutofit/>
          </a:bodyPr>
          <a:lstStyle/>
          <a:p>
            <a:pPr algn="l">
              <a:lnSpc>
                <a:spcPct val="100000"/>
              </a:lnSpc>
            </a:pPr>
            <a:r>
              <a:rPr sz="1000" b="0" i="0">
                <a:solidFill>
                  <a:srgbClr val="A7B2B0"/>
                </a:solidFill>
                <a:latin typeface="Segoe UI"/>
              </a:rPr>
              <a:t>Un aviso de contraseña no debe desviar al asistente</a:t>
            </a:r>
          </a:p>
        </p:txBody>
      </p:sp>
      <p:sp>
        <p:nvSpPr>
          <p:cNvPr id="10" name="Diamond 9"/>
          <p:cNvSpPr/>
          <p:nvPr/>
        </p:nvSpPr>
        <p:spPr>
          <a:xfrm>
            <a:off x="822960" y="5614416"/>
            <a:ext cx="91440" cy="91440"/>
          </a:xfrm>
          <a:prstGeom prst="diamond">
            <a:avLst/>
          </a:prstGeom>
          <a:solidFill>
            <a:srgbClr val="D957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1005840" y="5522976"/>
            <a:ext cx="3108960" cy="274320"/>
          </a:xfrm>
          <a:prstGeom prst="rect">
            <a:avLst/>
          </a:prstGeom>
          <a:noFill/>
        </p:spPr>
        <p:txBody>
          <a:bodyPr wrap="square" lIns="45720" rIns="45720" tIns="27432" bIns="27432" anchor="t">
            <a:noAutofit/>
          </a:bodyPr>
          <a:lstStyle/>
          <a:p>
            <a:pPr algn="l">
              <a:lnSpc>
                <a:spcPct val="100000"/>
              </a:lnSpc>
            </a:pPr>
            <a:r>
              <a:rPr sz="1200" b="0" i="0">
                <a:solidFill>
                  <a:srgbClr val="A7B2B0"/>
                </a:solidFill>
                <a:latin typeface="Segoe UI"/>
              </a:rPr>
              <a:t>La verdad antes que la comodidad</a:t>
            </a:r>
          </a:p>
        </p:txBody>
      </p:sp>
      <p:sp>
        <p:nvSpPr>
          <p:cNvPr id="12" name="Diamond 11"/>
          <p:cNvSpPr/>
          <p:nvPr/>
        </p:nvSpPr>
        <p:spPr>
          <a:xfrm>
            <a:off x="822960" y="5888736"/>
            <a:ext cx="91440" cy="91440"/>
          </a:xfrm>
          <a:prstGeom prst="diamond">
            <a:avLst/>
          </a:prstGeom>
          <a:solidFill>
            <a:srgbClr val="D957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1005840" y="5797296"/>
            <a:ext cx="3108960" cy="274320"/>
          </a:xfrm>
          <a:prstGeom prst="rect">
            <a:avLst/>
          </a:prstGeom>
          <a:noFill/>
        </p:spPr>
        <p:txBody>
          <a:bodyPr wrap="square" lIns="45720" rIns="45720" tIns="27432" bIns="27432" anchor="t">
            <a:noAutofit/>
          </a:bodyPr>
          <a:lstStyle/>
          <a:p>
            <a:pPr algn="l">
              <a:lnSpc>
                <a:spcPct val="100000"/>
              </a:lnSpc>
            </a:pPr>
            <a:r>
              <a:rPr sz="1200" b="0" i="0">
                <a:solidFill>
                  <a:srgbClr val="A7B2B0"/>
                </a:solidFill>
                <a:latin typeface="Segoe UI"/>
              </a:rPr>
              <a:t>Fallar abierto o fallar seguro, a propósito</a:t>
            </a:r>
          </a:p>
        </p:txBody>
      </p:sp>
      <p:sp>
        <p:nvSpPr>
          <p:cNvPr id="14" name="Diamond 13"/>
          <p:cNvSpPr/>
          <p:nvPr/>
        </p:nvSpPr>
        <p:spPr>
          <a:xfrm>
            <a:off x="4206240" y="5340096"/>
            <a:ext cx="91440" cy="91440"/>
          </a:xfrm>
          <a:prstGeom prst="diamond">
            <a:avLst/>
          </a:prstGeom>
          <a:solidFill>
            <a:srgbClr val="D957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4389120" y="5248656"/>
            <a:ext cx="3108960" cy="274320"/>
          </a:xfrm>
          <a:prstGeom prst="rect">
            <a:avLst/>
          </a:prstGeom>
          <a:noFill/>
        </p:spPr>
        <p:txBody>
          <a:bodyPr wrap="square" lIns="45720" rIns="45720" tIns="27432" bIns="27432" anchor="t">
            <a:noAutofit/>
          </a:bodyPr>
          <a:lstStyle/>
          <a:p>
            <a:pPr algn="l">
              <a:lnSpc>
                <a:spcPct val="100000"/>
              </a:lnSpc>
            </a:pPr>
            <a:r>
              <a:rPr sz="1200" b="0" i="0">
                <a:solidFill>
                  <a:srgbClr val="A7B2B0"/>
                </a:solidFill>
                <a:latin typeface="Segoe UI"/>
              </a:rPr>
              <a:t>Tus agents, tu jurisdicción</a:t>
            </a:r>
          </a:p>
        </p:txBody>
      </p:sp>
      <p:sp>
        <p:nvSpPr>
          <p:cNvPr id="16" name="Diamond 15"/>
          <p:cNvSpPr/>
          <p:nvPr/>
        </p:nvSpPr>
        <p:spPr>
          <a:xfrm>
            <a:off x="4206240" y="5614416"/>
            <a:ext cx="91440" cy="91440"/>
          </a:xfrm>
          <a:prstGeom prst="diamond">
            <a:avLst/>
          </a:prstGeom>
          <a:solidFill>
            <a:srgbClr val="D957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4389120" y="5522976"/>
            <a:ext cx="3108960" cy="274320"/>
          </a:xfrm>
          <a:prstGeom prst="rect">
            <a:avLst/>
          </a:prstGeom>
          <a:noFill/>
        </p:spPr>
        <p:txBody>
          <a:bodyPr wrap="square" lIns="45720" rIns="45720" tIns="27432" bIns="27432" anchor="t">
            <a:noAutofit/>
          </a:bodyPr>
          <a:lstStyle/>
          <a:p>
            <a:pPr algn="l">
              <a:lnSpc>
                <a:spcPct val="100000"/>
              </a:lnSpc>
            </a:pPr>
            <a:r>
              <a:rPr sz="1200" b="0" i="0">
                <a:solidFill>
                  <a:srgbClr val="A7B2B0"/>
                </a:solidFill>
                <a:latin typeface="Segoe UI"/>
              </a:rPr>
              <a:t>Tus datos, manejados con cuidado</a:t>
            </a:r>
          </a:p>
        </p:txBody>
      </p:sp>
      <p:sp>
        <p:nvSpPr>
          <p:cNvPr id="18" name="Diamond 17"/>
          <p:cNvSpPr/>
          <p:nvPr/>
        </p:nvSpPr>
        <p:spPr>
          <a:xfrm>
            <a:off x="4206240" y="5888736"/>
            <a:ext cx="91440" cy="91440"/>
          </a:xfrm>
          <a:prstGeom prst="diamond">
            <a:avLst/>
          </a:prstGeom>
          <a:solidFill>
            <a:srgbClr val="D957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4389120" y="5797296"/>
            <a:ext cx="3108960" cy="274320"/>
          </a:xfrm>
          <a:prstGeom prst="rect">
            <a:avLst/>
          </a:prstGeom>
          <a:noFill/>
        </p:spPr>
        <p:txBody>
          <a:bodyPr wrap="square" lIns="45720" rIns="45720" tIns="27432" bIns="27432" anchor="t">
            <a:noAutofit/>
          </a:bodyPr>
          <a:lstStyle/>
          <a:p>
            <a:pPr algn="l">
              <a:lnSpc>
                <a:spcPct val="100000"/>
              </a:lnSpc>
            </a:pPr>
            <a:r>
              <a:rPr sz="1200" b="0" i="0">
                <a:solidFill>
                  <a:srgbClr val="A7B2B0"/>
                </a:solidFill>
                <a:latin typeface="Segoe UI"/>
              </a:rPr>
              <a:t>Nada corre donde nadie lo puede ver</a:t>
            </a:r>
          </a:p>
        </p:txBody>
      </p:sp>
      <p:cxnSp>
        <p:nvCxnSpPr>
          <p:cNvPr id="20" name="Connector 19"/>
          <p:cNvCxnSpPr/>
          <p:nvPr/>
        </p:nvCxnSpPr>
        <p:spPr>
          <a:xfrm>
            <a:off x="566928" y="6373368"/>
            <a:ext cx="11057839" cy="0"/>
          </a:xfrm>
          <a:prstGeom prst="line">
            <a:avLst/>
          </a:prstGeom>
          <a:ln w="7620">
            <a:solidFill>
              <a:srgbClr val="2A3A40"/>
            </a:solidFill>
          </a:ln>
        </p:spPr>
        <p:style>
          <a:lnRef idx="2">
            <a:schemeClr val="accent1"/>
          </a:lnRef>
          <a:fillRef idx="0">
            <a:schemeClr val="accent1"/>
          </a:fillRef>
          <a:effectRef idx="1">
            <a:schemeClr val="accent1"/>
          </a:effectRef>
          <a:fontRef idx="minor">
            <a:schemeClr val="tx1"/>
          </a:fontRef>
        </p:style>
      </p:cxnSp>
      <p:sp>
        <p:nvSpPr>
          <p:cNvPr id="21" name="TextBox 20"/>
          <p:cNvSpPr txBox="1"/>
          <p:nvPr/>
        </p:nvSpPr>
        <p:spPr>
          <a:xfrm>
            <a:off x="566928" y="6419088"/>
            <a:ext cx="6858000" cy="274320"/>
          </a:xfrm>
          <a:prstGeom prst="rect">
            <a:avLst/>
          </a:prstGeom>
          <a:noFill/>
        </p:spPr>
        <p:txBody>
          <a:bodyPr wrap="square" lIns="45720" rIns="45720" tIns="27432" bIns="27432" anchor="t">
            <a:noAutofit/>
          </a:bodyPr>
          <a:lstStyle/>
          <a:p>
            <a:pPr algn="l">
              <a:lnSpc>
                <a:spcPct val="100000"/>
              </a:lnSpc>
            </a:pPr>
            <a:r>
              <a:rPr sz="850" b="0" i="0" spc="120">
                <a:solidFill>
                  <a:srgbClr val="A7B2B0"/>
                </a:solidFill>
                <a:latin typeface="Segoe UI Semibold"/>
              </a:rPr>
              <a:t>TLAMATINI  ·  CAPÍTULO VI</a:t>
            </a:r>
          </a:p>
        </p:txBody>
      </p:sp>
      <p:sp>
        <p:nvSpPr>
          <p:cNvPr id="22" name="TextBox 21"/>
          <p:cNvSpPr txBox="1"/>
          <p:nvPr/>
        </p:nvSpPr>
        <p:spPr>
          <a:xfrm>
            <a:off x="8698687" y="6419088"/>
            <a:ext cx="2926080" cy="274320"/>
          </a:xfrm>
          <a:prstGeom prst="rect">
            <a:avLst/>
          </a:prstGeom>
          <a:noFill/>
        </p:spPr>
        <p:txBody>
          <a:bodyPr wrap="square" lIns="45720" rIns="45720" tIns="27432" bIns="27432" anchor="t">
            <a:noAutofit/>
          </a:bodyPr>
          <a:lstStyle/>
          <a:p>
            <a:pPr algn="r">
              <a:lnSpc>
                <a:spcPct val="100000"/>
              </a:lnSpc>
            </a:pPr>
            <a:r>
              <a:rPr sz="850" b="0" i="0" spc="100">
                <a:solidFill>
                  <a:srgbClr val="A7B2B0"/>
                </a:solidFill>
                <a:latin typeface="Segoe UI Semibold"/>
              </a:rPr>
              <a:t>v1.91.1   ·   100</a:t>
            </a:r>
          </a:p>
        </p:txBody>
      </p:sp>
    </p:spTree>
  </p:cSld>
  <p:clrMapOvr>
    <a:masterClrMapping/>
  </p:clrMapOvr>
</p:sld>
</file>

<file path=ppt/slides/slide10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content.png"/>
          <p:cNvPicPr>
            <a:picLocks noChangeAspect="1"/>
          </p:cNvPicPr>
          <p:nvPr/>
        </p:nvPicPr>
        <p:blipFill>
          <a:blip r:embed="rId2"/>
          <a:stretch>
            <a:fillRect/>
          </a:stretch>
        </p:blipFill>
        <p:spPr>
          <a:xfrm>
            <a:off x="0" y="0"/>
            <a:ext cx="12191695" cy="6858000"/>
          </a:xfrm>
          <a:prstGeom prst="rect">
            <a:avLst/>
          </a:prstGeom>
        </p:spPr>
      </p:pic>
      <p:sp>
        <p:nvSpPr>
          <p:cNvPr id="3" name="Diamond 2"/>
          <p:cNvSpPr/>
          <p:nvPr/>
        </p:nvSpPr>
        <p:spPr>
          <a:xfrm>
            <a:off x="566928" y="457200"/>
            <a:ext cx="100584" cy="100584"/>
          </a:xfrm>
          <a:prstGeom prst="diamond">
            <a:avLst/>
          </a:prstGeom>
          <a:solidFill>
            <a:srgbClr val="D957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49808" y="365760"/>
            <a:ext cx="8229600" cy="292608"/>
          </a:xfrm>
          <a:prstGeom prst="rect">
            <a:avLst/>
          </a:prstGeom>
          <a:noFill/>
        </p:spPr>
        <p:txBody>
          <a:bodyPr wrap="square" lIns="45720" rIns="45720" tIns="27432" bIns="27432" anchor="t">
            <a:noAutofit/>
          </a:bodyPr>
          <a:lstStyle/>
          <a:p>
            <a:pPr algn="l">
              <a:lnSpc>
                <a:spcPct val="100000"/>
              </a:lnSpc>
            </a:pPr>
            <a:r>
              <a:rPr sz="1100" b="0" i="0" spc="240">
                <a:solidFill>
                  <a:srgbClr val="C98457"/>
                </a:solidFill>
                <a:latin typeface="Segoe UI Semibold"/>
              </a:rPr>
              <a:t>PROTECCIONES DE INTENCIÓN · v1.90.0</a:t>
            </a:r>
          </a:p>
        </p:txBody>
      </p:sp>
      <p:sp>
        <p:nvSpPr>
          <p:cNvPr id="5" name="TextBox 4"/>
          <p:cNvSpPr txBox="1"/>
          <p:nvPr/>
        </p:nvSpPr>
        <p:spPr>
          <a:xfrm>
            <a:off x="539496" y="676656"/>
            <a:ext cx="11057839" cy="658368"/>
          </a:xfrm>
          <a:prstGeom prst="rect">
            <a:avLst/>
          </a:prstGeom>
          <a:noFill/>
        </p:spPr>
        <p:txBody>
          <a:bodyPr wrap="square" lIns="45720" rIns="45720" tIns="27432" bIns="27432" anchor="t">
            <a:noAutofit/>
          </a:bodyPr>
          <a:lstStyle/>
          <a:p>
            <a:pPr algn="l">
              <a:lnSpc>
                <a:spcPct val="100000"/>
              </a:lnSpc>
            </a:pPr>
            <a:r>
              <a:rPr sz="3100" b="0" i="0">
                <a:solidFill>
                  <a:srgbClr val="F7F2E8"/>
                </a:solidFill>
                <a:latin typeface="Palatino Linotype"/>
              </a:rPr>
              <a:t>Un aviso de contraseña no debe desviar al asistente</a:t>
            </a:r>
          </a:p>
        </p:txBody>
      </p:sp>
      <p:sp>
        <p:nvSpPr>
          <p:cNvPr id="6" name="Rectangle 5"/>
          <p:cNvSpPr/>
          <p:nvPr/>
        </p:nvSpPr>
        <p:spPr>
          <a:xfrm>
            <a:off x="566928" y="1344168"/>
            <a:ext cx="822960" cy="36576"/>
          </a:xfrm>
          <a:prstGeom prst="rect">
            <a:avLst/>
          </a:prstGeom>
          <a:solidFill>
            <a:srgbClr val="D957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566928" y="1444752"/>
            <a:ext cx="10692079" cy="585216"/>
          </a:xfrm>
          <a:prstGeom prst="rect">
            <a:avLst/>
          </a:prstGeom>
          <a:noFill/>
        </p:spPr>
        <p:txBody>
          <a:bodyPr wrap="square" lIns="45720" rIns="45720" tIns="27432" bIns="27432" anchor="t">
            <a:noAutofit/>
          </a:bodyPr>
          <a:lstStyle/>
          <a:p>
            <a:pPr algn="l">
              <a:lnSpc>
                <a:spcPct val="100000"/>
              </a:lnSpc>
            </a:pPr>
            <a:r>
              <a:rPr sz="1450" b="0" i="0">
                <a:solidFill>
                  <a:srgbClr val="A7B2B0"/>
                </a:solidFill>
                <a:latin typeface="Segoe UI Semilight"/>
              </a:rPr>
              <a:t>El asistente de cuentas lanza createsuperuser por medio de Executer y espera el input en su consola.</a:t>
            </a:r>
          </a:p>
        </p:txBody>
      </p:sp>
      <p:sp>
        <p:nvSpPr>
          <p:cNvPr id="8" name="Rounded Rectangle 7"/>
          <p:cNvSpPr/>
          <p:nvPr/>
        </p:nvSpPr>
        <p:spPr>
          <a:xfrm>
            <a:off x="566928" y="2084831"/>
            <a:ext cx="5428335" cy="1956816"/>
          </a:xfrm>
          <a:prstGeom prst="roundRect">
            <a:avLst>
              <a:gd name="adj" fmla="val 5607"/>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ectangle 8"/>
          <p:cNvSpPr/>
          <p:nvPr/>
        </p:nvSpPr>
        <p:spPr>
          <a:xfrm>
            <a:off x="731520" y="2212848"/>
            <a:ext cx="502920" cy="45720"/>
          </a:xfrm>
          <a:prstGeom prst="rect">
            <a:avLst/>
          </a:prstGeom>
          <a:solidFill>
            <a:srgbClr val="3BBE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694944" y="2304287"/>
            <a:ext cx="5172303" cy="353568"/>
          </a:xfrm>
          <a:prstGeom prst="rect">
            <a:avLst/>
          </a:prstGeom>
          <a:noFill/>
        </p:spPr>
        <p:txBody>
          <a:bodyPr wrap="square" lIns="45720" rIns="45720" tIns="27432" bIns="27432" anchor="t">
            <a:noAutofit/>
          </a:bodyPr>
          <a:lstStyle/>
          <a:p>
            <a:pPr algn="l">
              <a:lnSpc>
                <a:spcPct val="100000"/>
              </a:lnSpc>
            </a:pPr>
            <a:r>
              <a:rPr sz="1600" b="0" i="0">
                <a:solidFill>
                  <a:srgbClr val="F7F2E8"/>
                </a:solidFill>
                <a:latin typeface="Segoe UI Semibold"/>
              </a:rPr>
              <a:t>Lanzar</a:t>
            </a:r>
          </a:p>
        </p:txBody>
      </p:sp>
      <p:sp>
        <p:nvSpPr>
          <p:cNvPr id="11" name="TextBox 10"/>
          <p:cNvSpPr txBox="1"/>
          <p:nvPr/>
        </p:nvSpPr>
        <p:spPr>
          <a:xfrm>
            <a:off x="694944" y="2657855"/>
            <a:ext cx="5172303" cy="1292352"/>
          </a:xfrm>
          <a:prstGeom prst="rect">
            <a:avLst/>
          </a:prstGeom>
          <a:noFill/>
        </p:spPr>
        <p:txBody>
          <a:bodyPr wrap="square" lIns="45720" rIns="45720" tIns="27432" bIns="27432" anchor="t">
            <a:noAutofit/>
          </a:bodyPr>
          <a:lstStyle/>
          <a:p>
            <a:pPr algn="l">
              <a:lnSpc>
                <a:spcPct val="100000"/>
              </a:lnSpc>
            </a:pPr>
            <a:r>
              <a:rPr sz="1300" b="0" i="0">
                <a:solidFill>
                  <a:srgbClr val="A7B2B0"/>
                </a:solidFill>
                <a:latin typeface="Segoe UI"/>
              </a:rPr>
              <a:t>Executer abre el comando interactivo de source o congelado en una consola visible.</a:t>
            </a:r>
          </a:p>
        </p:txBody>
      </p:sp>
      <p:sp>
        <p:nvSpPr>
          <p:cNvPr id="12" name="Rounded Rectangle 11"/>
          <p:cNvSpPr/>
          <p:nvPr/>
        </p:nvSpPr>
        <p:spPr>
          <a:xfrm>
            <a:off x="6196431" y="2084831"/>
            <a:ext cx="5428335" cy="1956816"/>
          </a:xfrm>
          <a:prstGeom prst="roundRect">
            <a:avLst>
              <a:gd name="adj" fmla="val 5607"/>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6361023" y="2212848"/>
            <a:ext cx="502920" cy="45720"/>
          </a:xfrm>
          <a:prstGeom prst="rect">
            <a:avLst/>
          </a:prstGeom>
          <a:solidFill>
            <a:srgbClr val="C984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324447" y="2304287"/>
            <a:ext cx="5172303" cy="353568"/>
          </a:xfrm>
          <a:prstGeom prst="rect">
            <a:avLst/>
          </a:prstGeom>
          <a:noFill/>
        </p:spPr>
        <p:txBody>
          <a:bodyPr wrap="square" lIns="45720" rIns="45720" tIns="27432" bIns="27432" anchor="t">
            <a:noAutofit/>
          </a:bodyPr>
          <a:lstStyle/>
          <a:p>
            <a:pPr algn="l">
              <a:lnSpc>
                <a:spcPct val="100000"/>
              </a:lnSpc>
            </a:pPr>
            <a:r>
              <a:rPr sz="1600" b="0" i="0">
                <a:solidFill>
                  <a:srgbClr val="F7F2E8"/>
                </a:solidFill>
                <a:latin typeface="Segoe UI Semibold"/>
              </a:rPr>
              <a:t>Input</a:t>
            </a:r>
          </a:p>
        </p:txBody>
      </p:sp>
      <p:sp>
        <p:nvSpPr>
          <p:cNvPr id="15" name="TextBox 14"/>
          <p:cNvSpPr txBox="1"/>
          <p:nvPr/>
        </p:nvSpPr>
        <p:spPr>
          <a:xfrm>
            <a:off x="6324447" y="2657855"/>
            <a:ext cx="5172303" cy="1292352"/>
          </a:xfrm>
          <a:prstGeom prst="rect">
            <a:avLst/>
          </a:prstGeom>
          <a:noFill/>
        </p:spPr>
        <p:txBody>
          <a:bodyPr wrap="square" lIns="45720" rIns="45720" tIns="27432" bIns="27432" anchor="t">
            <a:noAutofit/>
          </a:bodyPr>
          <a:lstStyle/>
          <a:p>
            <a:pPr algn="l">
              <a:lnSpc>
                <a:spcPct val="100000"/>
              </a:lnSpc>
            </a:pPr>
            <a:r>
              <a:rPr sz="1300" b="0" i="0">
                <a:solidFill>
                  <a:srgbClr val="A7B2B0"/>
                </a:solidFill>
                <a:latin typeface="Segoe UI"/>
              </a:rPr>
              <a:t>El nombre de usuario, el email opcional y la contraseña pertenecen a la interacción del usuario con la consola.</a:t>
            </a:r>
          </a:p>
        </p:txBody>
      </p:sp>
      <p:sp>
        <p:nvSpPr>
          <p:cNvPr id="16" name="Rounded Rectangle 15"/>
          <p:cNvSpPr/>
          <p:nvPr/>
        </p:nvSpPr>
        <p:spPr>
          <a:xfrm>
            <a:off x="566928" y="4242816"/>
            <a:ext cx="5428335" cy="1956816"/>
          </a:xfrm>
          <a:prstGeom prst="roundRect">
            <a:avLst>
              <a:gd name="adj" fmla="val 5607"/>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31520" y="4370832"/>
            <a:ext cx="502920" cy="45720"/>
          </a:xfrm>
          <a:prstGeom prst="rect">
            <a:avLst/>
          </a:prstGeom>
          <a:solidFill>
            <a:srgbClr val="E2B4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694944" y="4462272"/>
            <a:ext cx="5172303" cy="353568"/>
          </a:xfrm>
          <a:prstGeom prst="rect">
            <a:avLst/>
          </a:prstGeom>
          <a:noFill/>
        </p:spPr>
        <p:txBody>
          <a:bodyPr wrap="square" lIns="45720" rIns="45720" tIns="27432" bIns="27432" anchor="t">
            <a:noAutofit/>
          </a:bodyPr>
          <a:lstStyle/>
          <a:p>
            <a:pPr algn="l">
              <a:lnSpc>
                <a:spcPct val="100000"/>
              </a:lnSpc>
            </a:pPr>
            <a:r>
              <a:rPr sz="1600" b="0" i="0">
                <a:solidFill>
                  <a:srgbClr val="F7F2E8"/>
                </a:solidFill>
                <a:latin typeface="Segoe UI Semibold"/>
              </a:rPr>
              <a:t>Esperar</a:t>
            </a:r>
          </a:p>
        </p:txBody>
      </p:sp>
      <p:sp>
        <p:nvSpPr>
          <p:cNvPr id="19" name="TextBox 18"/>
          <p:cNvSpPr txBox="1"/>
          <p:nvPr/>
        </p:nvSpPr>
        <p:spPr>
          <a:xfrm>
            <a:off x="694944" y="4815840"/>
            <a:ext cx="5172303" cy="1292352"/>
          </a:xfrm>
          <a:prstGeom prst="rect">
            <a:avLst/>
          </a:prstGeom>
          <a:noFill/>
        </p:spPr>
        <p:txBody>
          <a:bodyPr wrap="square" lIns="45720" rIns="45720" tIns="27432" bIns="27432" anchor="t">
            <a:noAutofit/>
          </a:bodyPr>
          <a:lstStyle/>
          <a:p>
            <a:pPr algn="l">
              <a:lnSpc>
                <a:spcPct val="100000"/>
              </a:lnSpc>
            </a:pPr>
            <a:r>
              <a:rPr sz="1300" b="0" i="0">
                <a:solidFill>
                  <a:srgbClr val="A7B2B0"/>
                </a:solidFill>
                <a:latin typeface="Segoe UI"/>
              </a:rPr>
              <a:t>DONE / ERROR / NOWINDOW manejan el siguiente paso; sin afirmar éxito automáticamente.</a:t>
            </a:r>
          </a:p>
        </p:txBody>
      </p:sp>
      <p:sp>
        <p:nvSpPr>
          <p:cNvPr id="20" name="Rounded Rectangle 19"/>
          <p:cNvSpPr/>
          <p:nvPr/>
        </p:nvSpPr>
        <p:spPr>
          <a:xfrm>
            <a:off x="6196431" y="4242816"/>
            <a:ext cx="5428335" cy="1956816"/>
          </a:xfrm>
          <a:prstGeom prst="roundRect">
            <a:avLst>
              <a:gd name="adj" fmla="val 5607"/>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ectangle 20"/>
          <p:cNvSpPr/>
          <p:nvPr/>
        </p:nvSpPr>
        <p:spPr>
          <a:xfrm>
            <a:off x="6361023" y="4370832"/>
            <a:ext cx="502920" cy="45720"/>
          </a:xfrm>
          <a:prstGeom prst="rect">
            <a:avLst/>
          </a:prstGeom>
          <a:solidFill>
            <a:srgbClr val="46D2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6324447" y="4462272"/>
            <a:ext cx="5172303" cy="353568"/>
          </a:xfrm>
          <a:prstGeom prst="rect">
            <a:avLst/>
          </a:prstGeom>
          <a:noFill/>
        </p:spPr>
        <p:txBody>
          <a:bodyPr wrap="square" lIns="45720" rIns="45720" tIns="27432" bIns="27432" anchor="t">
            <a:noAutofit/>
          </a:bodyPr>
          <a:lstStyle/>
          <a:p>
            <a:pPr algn="l">
              <a:lnSpc>
                <a:spcPct val="100000"/>
              </a:lnSpc>
            </a:pPr>
            <a:r>
              <a:rPr sz="1600" b="0" i="0">
                <a:solidFill>
                  <a:srgbClr val="F7F2E8"/>
                </a:solidFill>
                <a:latin typeface="Segoe UI Semibold"/>
              </a:rPr>
              <a:t>Notificar</a:t>
            </a:r>
          </a:p>
        </p:txBody>
      </p:sp>
      <p:sp>
        <p:nvSpPr>
          <p:cNvPr id="23" name="TextBox 22"/>
          <p:cNvSpPr txBox="1"/>
          <p:nvPr/>
        </p:nvSpPr>
        <p:spPr>
          <a:xfrm>
            <a:off x="6324447" y="4815840"/>
            <a:ext cx="5172303" cy="1292352"/>
          </a:xfrm>
          <a:prstGeom prst="rect">
            <a:avLst/>
          </a:prstGeom>
          <a:noFill/>
        </p:spPr>
        <p:txBody>
          <a:bodyPr wrap="square" lIns="45720" rIns="45720" tIns="27432" bIns="27432" anchor="t">
            <a:noAutofit/>
          </a:bodyPr>
          <a:lstStyle/>
          <a:p>
            <a:pPr algn="l">
              <a:lnSpc>
                <a:spcPct val="100000"/>
              </a:lnSpc>
            </a:pPr>
            <a:r>
              <a:rPr sz="1300" b="0" i="0">
                <a:solidFill>
                  <a:srgbClr val="A7B2B0"/>
                </a:solidFill>
                <a:latin typeface="Segoe UI"/>
              </a:rPr>
              <a:t>Sólo una solicitud explícita de envío crea una deuda de notificación de término.</a:t>
            </a:r>
          </a:p>
        </p:txBody>
      </p:sp>
      <p:cxnSp>
        <p:nvCxnSpPr>
          <p:cNvPr id="24" name="Connector 23"/>
          <p:cNvCxnSpPr/>
          <p:nvPr/>
        </p:nvCxnSpPr>
        <p:spPr>
          <a:xfrm>
            <a:off x="566928" y="6373368"/>
            <a:ext cx="11057839" cy="0"/>
          </a:xfrm>
          <a:prstGeom prst="line">
            <a:avLst/>
          </a:prstGeom>
          <a:ln w="7620">
            <a:solidFill>
              <a:srgbClr val="2A3A40"/>
            </a:solidFill>
          </a:ln>
        </p:spPr>
        <p:style>
          <a:lnRef idx="2">
            <a:schemeClr val="accent1"/>
          </a:lnRef>
          <a:fillRef idx="0">
            <a:schemeClr val="accent1"/>
          </a:fillRef>
          <a:effectRef idx="1">
            <a:schemeClr val="accent1"/>
          </a:effectRef>
          <a:fontRef idx="minor">
            <a:schemeClr val="tx1"/>
          </a:fontRef>
        </p:style>
      </p:cxnSp>
      <p:sp>
        <p:nvSpPr>
          <p:cNvPr id="25" name="TextBox 24"/>
          <p:cNvSpPr txBox="1"/>
          <p:nvPr/>
        </p:nvSpPr>
        <p:spPr>
          <a:xfrm>
            <a:off x="566928" y="6419088"/>
            <a:ext cx="6858000" cy="274320"/>
          </a:xfrm>
          <a:prstGeom prst="rect">
            <a:avLst/>
          </a:prstGeom>
          <a:noFill/>
        </p:spPr>
        <p:txBody>
          <a:bodyPr wrap="square" lIns="45720" rIns="45720" tIns="27432" bIns="27432" anchor="t">
            <a:noAutofit/>
          </a:bodyPr>
          <a:lstStyle/>
          <a:p>
            <a:pPr algn="l">
              <a:lnSpc>
                <a:spcPct val="100000"/>
              </a:lnSpc>
            </a:pPr>
            <a:r>
              <a:rPr sz="850" b="0" i="0" spc="120">
                <a:solidFill>
                  <a:srgbClr val="A7B2B0"/>
                </a:solidFill>
                <a:latin typeface="Segoe UI Semibold"/>
              </a:rPr>
              <a:t>TLAMATINI  ·  VI · LAS PROMESAS QUE CUMPLE</a:t>
            </a:r>
          </a:p>
        </p:txBody>
      </p:sp>
      <p:sp>
        <p:nvSpPr>
          <p:cNvPr id="26" name="TextBox 25"/>
          <p:cNvSpPr txBox="1"/>
          <p:nvPr/>
        </p:nvSpPr>
        <p:spPr>
          <a:xfrm>
            <a:off x="8698687" y="6419088"/>
            <a:ext cx="2926080" cy="274320"/>
          </a:xfrm>
          <a:prstGeom prst="rect">
            <a:avLst/>
          </a:prstGeom>
          <a:noFill/>
        </p:spPr>
        <p:txBody>
          <a:bodyPr wrap="square" lIns="45720" rIns="45720" tIns="27432" bIns="27432" anchor="t">
            <a:noAutofit/>
          </a:bodyPr>
          <a:lstStyle/>
          <a:p>
            <a:pPr algn="r">
              <a:lnSpc>
                <a:spcPct val="100000"/>
              </a:lnSpc>
            </a:pPr>
            <a:r>
              <a:rPr sz="850" b="0" i="0" spc="100">
                <a:solidFill>
                  <a:srgbClr val="A7B2B0"/>
                </a:solidFill>
                <a:latin typeface="Segoe UI Semibold"/>
              </a:rPr>
              <a:t>v1.91.1   ·   101</a:t>
            </a:r>
          </a:p>
        </p:txBody>
      </p:sp>
    </p:spTree>
  </p:cSld>
  <p:clrMapOvr>
    <a:masterClrMapping/>
  </p:clrMapOvr>
</p:sld>
</file>

<file path=ppt/slides/slide10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content.png"/>
          <p:cNvPicPr>
            <a:picLocks noChangeAspect="1"/>
          </p:cNvPicPr>
          <p:nvPr/>
        </p:nvPicPr>
        <p:blipFill>
          <a:blip r:embed="rId2"/>
          <a:stretch>
            <a:fillRect/>
          </a:stretch>
        </p:blipFill>
        <p:spPr>
          <a:xfrm>
            <a:off x="0" y="0"/>
            <a:ext cx="12191695" cy="6858000"/>
          </a:xfrm>
          <a:prstGeom prst="rect">
            <a:avLst/>
          </a:prstGeom>
        </p:spPr>
      </p:pic>
      <p:sp>
        <p:nvSpPr>
          <p:cNvPr id="3" name="Diamond 2"/>
          <p:cNvSpPr/>
          <p:nvPr/>
        </p:nvSpPr>
        <p:spPr>
          <a:xfrm>
            <a:off x="566928" y="457200"/>
            <a:ext cx="100584" cy="100584"/>
          </a:xfrm>
          <a:prstGeom prst="diamond">
            <a:avLst/>
          </a:prstGeom>
          <a:solidFill>
            <a:srgbClr val="D957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49808" y="365760"/>
            <a:ext cx="8229600" cy="292608"/>
          </a:xfrm>
          <a:prstGeom prst="rect">
            <a:avLst/>
          </a:prstGeom>
          <a:noFill/>
        </p:spPr>
        <p:txBody>
          <a:bodyPr wrap="square" lIns="45720" rIns="45720" tIns="27432" bIns="27432" anchor="t">
            <a:noAutofit/>
          </a:bodyPr>
          <a:lstStyle/>
          <a:p>
            <a:pPr algn="l">
              <a:lnSpc>
                <a:spcPct val="100000"/>
              </a:lnSpc>
            </a:pPr>
            <a:r>
              <a:rPr sz="1100" b="0" i="0" spc="240">
                <a:solidFill>
                  <a:srgbClr val="C98457"/>
                </a:solidFill>
                <a:latin typeface="Segoe UI Semibold"/>
              </a:rPr>
              <a:t>HONESTIDAD</a:t>
            </a:r>
          </a:p>
        </p:txBody>
      </p:sp>
      <p:sp>
        <p:nvSpPr>
          <p:cNvPr id="5" name="TextBox 4"/>
          <p:cNvSpPr txBox="1"/>
          <p:nvPr/>
        </p:nvSpPr>
        <p:spPr>
          <a:xfrm>
            <a:off x="539496" y="676656"/>
            <a:ext cx="11057839" cy="658368"/>
          </a:xfrm>
          <a:prstGeom prst="rect">
            <a:avLst/>
          </a:prstGeom>
          <a:noFill/>
        </p:spPr>
        <p:txBody>
          <a:bodyPr wrap="square" lIns="45720" rIns="45720" tIns="27432" bIns="27432" anchor="t">
            <a:noAutofit/>
          </a:bodyPr>
          <a:lstStyle/>
          <a:p>
            <a:pPr algn="l">
              <a:lnSpc>
                <a:spcPct val="100000"/>
              </a:lnSpc>
            </a:pPr>
            <a:r>
              <a:rPr sz="3100" b="0" i="0">
                <a:solidFill>
                  <a:srgbClr val="F7F2E8"/>
                </a:solidFill>
                <a:latin typeface="Palatino Linotype"/>
              </a:rPr>
              <a:t>La verdad antes que la comodidad</a:t>
            </a:r>
          </a:p>
        </p:txBody>
      </p:sp>
      <p:sp>
        <p:nvSpPr>
          <p:cNvPr id="6" name="Rectangle 5"/>
          <p:cNvSpPr/>
          <p:nvPr/>
        </p:nvSpPr>
        <p:spPr>
          <a:xfrm>
            <a:off x="566928" y="1344168"/>
            <a:ext cx="822960" cy="36576"/>
          </a:xfrm>
          <a:prstGeom prst="rect">
            <a:avLst/>
          </a:prstGeom>
          <a:solidFill>
            <a:srgbClr val="D957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566928" y="1444752"/>
            <a:ext cx="10692079" cy="585216"/>
          </a:xfrm>
          <a:prstGeom prst="rect">
            <a:avLst/>
          </a:prstGeom>
          <a:noFill/>
        </p:spPr>
        <p:txBody>
          <a:bodyPr wrap="square" lIns="45720" rIns="45720" tIns="27432" bIns="27432" anchor="t">
            <a:noAutofit/>
          </a:bodyPr>
          <a:lstStyle/>
          <a:p>
            <a:pPr algn="l">
              <a:lnSpc>
                <a:spcPct val="100000"/>
              </a:lnSpc>
            </a:pPr>
            <a:r>
              <a:rPr sz="1450" b="0" i="0">
                <a:solidFill>
                  <a:srgbClr val="A7B2B0"/>
                </a:solidFill>
                <a:latin typeface="Segoe UI Semilight"/>
              </a:rPr>
              <a:t>Donde un sistema puede equivocarse con total seguridad, Tlamatini está construida para decir lo que sabe y lo que no sabe.</a:t>
            </a:r>
          </a:p>
        </p:txBody>
      </p:sp>
      <p:sp>
        <p:nvSpPr>
          <p:cNvPr id="8" name="Rounded Rectangle 7"/>
          <p:cNvSpPr/>
          <p:nvPr/>
        </p:nvSpPr>
        <p:spPr>
          <a:xfrm>
            <a:off x="566928" y="2084831"/>
            <a:ext cx="3551834" cy="1956816"/>
          </a:xfrm>
          <a:prstGeom prst="roundRect">
            <a:avLst>
              <a:gd name="adj" fmla="val 5607"/>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ectangle 8"/>
          <p:cNvSpPr/>
          <p:nvPr/>
        </p:nvSpPr>
        <p:spPr>
          <a:xfrm>
            <a:off x="731520" y="2212848"/>
            <a:ext cx="502920" cy="45720"/>
          </a:xfrm>
          <a:prstGeom prst="rect">
            <a:avLst/>
          </a:prstGeom>
          <a:solidFill>
            <a:srgbClr val="3BBE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694944" y="2304287"/>
            <a:ext cx="3295802" cy="353568"/>
          </a:xfrm>
          <a:prstGeom prst="rect">
            <a:avLst/>
          </a:prstGeom>
          <a:noFill/>
        </p:spPr>
        <p:txBody>
          <a:bodyPr wrap="square" lIns="45720" rIns="45720" tIns="27432" bIns="27432" anchor="t">
            <a:noAutofit/>
          </a:bodyPr>
          <a:lstStyle/>
          <a:p>
            <a:pPr algn="l">
              <a:lnSpc>
                <a:spcPct val="100000"/>
              </a:lnSpc>
            </a:pPr>
            <a:r>
              <a:rPr sz="1600" b="0" i="0">
                <a:solidFill>
                  <a:srgbClr val="F7F2E8"/>
                </a:solidFill>
                <a:latin typeface="Segoe UI Semibold"/>
              </a:rPr>
              <a:t>Primero el autorreporte</a:t>
            </a:r>
          </a:p>
        </p:txBody>
      </p:sp>
      <p:sp>
        <p:nvSpPr>
          <p:cNvPr id="11" name="TextBox 10"/>
          <p:cNvSpPr txBox="1"/>
          <p:nvPr/>
        </p:nvSpPr>
        <p:spPr>
          <a:xfrm>
            <a:off x="694944" y="2657855"/>
            <a:ext cx="3295802" cy="1292352"/>
          </a:xfrm>
          <a:prstGeom prst="rect">
            <a:avLst/>
          </a:prstGeom>
          <a:noFill/>
        </p:spPr>
        <p:txBody>
          <a:bodyPr wrap="square" lIns="45720" rIns="45720" tIns="27432" bIns="27432" anchor="t">
            <a:noAutofit/>
          </a:bodyPr>
          <a:lstStyle/>
          <a:p>
            <a:pPr algn="l">
              <a:lnSpc>
                <a:spcPct val="100000"/>
              </a:lnSpc>
            </a:pPr>
            <a:r>
              <a:rPr sz="1300" b="0" i="0">
                <a:solidFill>
                  <a:srgbClr val="A7B2B0"/>
                </a:solidFill>
                <a:latin typeface="Segoe UI"/>
              </a:rPr>
              <a:t>El resultado tipado de un agent pesa más que un código de salida de un bit.</a:t>
            </a:r>
          </a:p>
        </p:txBody>
      </p:sp>
      <p:sp>
        <p:nvSpPr>
          <p:cNvPr id="12" name="Rounded Rectangle 11"/>
          <p:cNvSpPr/>
          <p:nvPr/>
        </p:nvSpPr>
        <p:spPr>
          <a:xfrm>
            <a:off x="4319930" y="2084831"/>
            <a:ext cx="3551834" cy="1956816"/>
          </a:xfrm>
          <a:prstGeom prst="roundRect">
            <a:avLst>
              <a:gd name="adj" fmla="val 5607"/>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4484522" y="2212848"/>
            <a:ext cx="502920" cy="45720"/>
          </a:xfrm>
          <a:prstGeom prst="rect">
            <a:avLst/>
          </a:prstGeom>
          <a:solidFill>
            <a:srgbClr val="C984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4447946" y="2304287"/>
            <a:ext cx="3295802" cy="353568"/>
          </a:xfrm>
          <a:prstGeom prst="rect">
            <a:avLst/>
          </a:prstGeom>
          <a:noFill/>
        </p:spPr>
        <p:txBody>
          <a:bodyPr wrap="square" lIns="45720" rIns="45720" tIns="27432" bIns="27432" anchor="t">
            <a:noAutofit/>
          </a:bodyPr>
          <a:lstStyle/>
          <a:p>
            <a:pPr algn="l">
              <a:lnSpc>
                <a:spcPct val="100000"/>
              </a:lnSpc>
            </a:pPr>
            <a:r>
              <a:rPr sz="1600" b="0" i="0">
                <a:solidFill>
                  <a:srgbClr val="F7F2E8"/>
                </a:solidFill>
                <a:latin typeface="Segoe UI Semibold"/>
              </a:rPr>
              <a:t>Degradado es rojo</a:t>
            </a:r>
          </a:p>
        </p:txBody>
      </p:sp>
      <p:sp>
        <p:nvSpPr>
          <p:cNvPr id="15" name="TextBox 14"/>
          <p:cNvSpPr txBox="1"/>
          <p:nvPr/>
        </p:nvSpPr>
        <p:spPr>
          <a:xfrm>
            <a:off x="4447946" y="2657855"/>
            <a:ext cx="3295802" cy="1292352"/>
          </a:xfrm>
          <a:prstGeom prst="rect">
            <a:avLst/>
          </a:prstGeom>
          <a:noFill/>
        </p:spPr>
        <p:txBody>
          <a:bodyPr wrap="square" lIns="45720" rIns="45720" tIns="27432" bIns="27432" anchor="t">
            <a:noAutofit/>
          </a:bodyPr>
          <a:lstStyle/>
          <a:p>
            <a:pPr algn="l">
              <a:lnSpc>
                <a:spcPct val="100000"/>
              </a:lnSpc>
            </a:pPr>
            <a:r>
              <a:rPr sz="1300" b="0" i="0">
                <a:solidFill>
                  <a:srgbClr val="A7B2B0"/>
                </a:solidFill>
                <a:latin typeface="Segoe UI"/>
              </a:rPr>
              <a:t>Un entregable comprometido nunca se pinta de verde.</a:t>
            </a:r>
          </a:p>
        </p:txBody>
      </p:sp>
      <p:sp>
        <p:nvSpPr>
          <p:cNvPr id="16" name="Rounded Rectangle 15"/>
          <p:cNvSpPr/>
          <p:nvPr/>
        </p:nvSpPr>
        <p:spPr>
          <a:xfrm>
            <a:off x="8072932" y="2084831"/>
            <a:ext cx="3551834" cy="1956816"/>
          </a:xfrm>
          <a:prstGeom prst="roundRect">
            <a:avLst>
              <a:gd name="adj" fmla="val 5607"/>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8237524" y="2212848"/>
            <a:ext cx="502920" cy="45720"/>
          </a:xfrm>
          <a:prstGeom prst="rect">
            <a:avLst/>
          </a:prstGeom>
          <a:solidFill>
            <a:srgbClr val="E2B4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200948" y="2304287"/>
            <a:ext cx="3295802" cy="353568"/>
          </a:xfrm>
          <a:prstGeom prst="rect">
            <a:avLst/>
          </a:prstGeom>
          <a:noFill/>
        </p:spPr>
        <p:txBody>
          <a:bodyPr wrap="square" lIns="45720" rIns="45720" tIns="27432" bIns="27432" anchor="t">
            <a:noAutofit/>
          </a:bodyPr>
          <a:lstStyle/>
          <a:p>
            <a:pPr algn="l">
              <a:lnSpc>
                <a:spcPct val="100000"/>
              </a:lnSpc>
            </a:pPr>
            <a:r>
              <a:rPr sz="1600" b="0" i="0">
                <a:solidFill>
                  <a:srgbClr val="F7F2E8"/>
                </a:solidFill>
                <a:latin typeface="Segoe UI Semibold"/>
              </a:rPr>
              <a:t>El silencio tiene nombre</a:t>
            </a:r>
          </a:p>
        </p:txBody>
      </p:sp>
      <p:sp>
        <p:nvSpPr>
          <p:cNvPr id="19" name="TextBox 18"/>
          <p:cNvSpPr txBox="1"/>
          <p:nvPr/>
        </p:nvSpPr>
        <p:spPr>
          <a:xfrm>
            <a:off x="8200948" y="2657855"/>
            <a:ext cx="3295802" cy="1292352"/>
          </a:xfrm>
          <a:prstGeom prst="rect">
            <a:avLst/>
          </a:prstGeom>
          <a:noFill/>
        </p:spPr>
        <p:txBody>
          <a:bodyPr wrap="square" lIns="45720" rIns="45720" tIns="27432" bIns="27432" anchor="t">
            <a:noAutofit/>
          </a:bodyPr>
          <a:lstStyle/>
          <a:p>
            <a:pPr algn="l">
              <a:lnSpc>
                <a:spcPct val="100000"/>
              </a:lnSpc>
            </a:pPr>
            <a:r>
              <a:rPr sz="1300" b="0" i="0">
                <a:solidFill>
                  <a:srgbClr val="A7B2B0"/>
                </a:solidFill>
                <a:latin typeface="Segoe UI"/>
              </a:rPr>
              <a:t>Los archivos saltados, las transferencias muertas y los rechazos llevan una razón.</a:t>
            </a:r>
          </a:p>
        </p:txBody>
      </p:sp>
      <p:sp>
        <p:nvSpPr>
          <p:cNvPr id="20" name="Rounded Rectangle 19"/>
          <p:cNvSpPr/>
          <p:nvPr/>
        </p:nvSpPr>
        <p:spPr>
          <a:xfrm>
            <a:off x="566928" y="4242816"/>
            <a:ext cx="3551834" cy="1956816"/>
          </a:xfrm>
          <a:prstGeom prst="roundRect">
            <a:avLst>
              <a:gd name="adj" fmla="val 5607"/>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ectangle 20"/>
          <p:cNvSpPr/>
          <p:nvPr/>
        </p:nvSpPr>
        <p:spPr>
          <a:xfrm>
            <a:off x="731520" y="4370832"/>
            <a:ext cx="502920" cy="45720"/>
          </a:xfrm>
          <a:prstGeom prst="rect">
            <a:avLst/>
          </a:prstGeom>
          <a:solidFill>
            <a:srgbClr val="46D2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694944" y="4462272"/>
            <a:ext cx="3295802" cy="353568"/>
          </a:xfrm>
          <a:prstGeom prst="rect">
            <a:avLst/>
          </a:prstGeom>
          <a:noFill/>
        </p:spPr>
        <p:txBody>
          <a:bodyPr wrap="square" lIns="45720" rIns="45720" tIns="27432" bIns="27432" anchor="t">
            <a:noAutofit/>
          </a:bodyPr>
          <a:lstStyle/>
          <a:p>
            <a:pPr algn="l">
              <a:lnSpc>
                <a:spcPct val="100000"/>
              </a:lnSpc>
            </a:pPr>
            <a:r>
              <a:rPr sz="1600" b="0" i="0">
                <a:solidFill>
                  <a:srgbClr val="F7F2E8"/>
                </a:solidFill>
                <a:latin typeface="Segoe UI Semibold"/>
              </a:rPr>
              <a:t>La recuperación se narra</a:t>
            </a:r>
          </a:p>
        </p:txBody>
      </p:sp>
      <p:sp>
        <p:nvSpPr>
          <p:cNvPr id="23" name="TextBox 22"/>
          <p:cNvSpPr txBox="1"/>
          <p:nvPr/>
        </p:nvSpPr>
        <p:spPr>
          <a:xfrm>
            <a:off x="694944" y="4815840"/>
            <a:ext cx="3295802" cy="1292352"/>
          </a:xfrm>
          <a:prstGeom prst="rect">
            <a:avLst/>
          </a:prstGeom>
          <a:noFill/>
        </p:spPr>
        <p:txBody>
          <a:bodyPr wrap="square" lIns="45720" rIns="45720" tIns="27432" bIns="27432" anchor="t">
            <a:noAutofit/>
          </a:bodyPr>
          <a:lstStyle/>
          <a:p>
            <a:pPr algn="l">
              <a:lnSpc>
                <a:spcPct val="100000"/>
              </a:lnSpc>
            </a:pPr>
            <a:r>
              <a:rPr sz="1300" b="0" i="0">
                <a:solidFill>
                  <a:srgbClr val="A7B2B0"/>
                </a:solidFill>
                <a:latin typeface="Segoe UI"/>
              </a:rPr>
              <a:t>Los reintentos se muestran en vivo y se resumen en la respuesta.</a:t>
            </a:r>
          </a:p>
        </p:txBody>
      </p:sp>
      <p:sp>
        <p:nvSpPr>
          <p:cNvPr id="24" name="Rounded Rectangle 23"/>
          <p:cNvSpPr/>
          <p:nvPr/>
        </p:nvSpPr>
        <p:spPr>
          <a:xfrm>
            <a:off x="4319930" y="4242816"/>
            <a:ext cx="3551834" cy="1956816"/>
          </a:xfrm>
          <a:prstGeom prst="roundRect">
            <a:avLst>
              <a:gd name="adj" fmla="val 5607"/>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ectangle 24"/>
          <p:cNvSpPr/>
          <p:nvPr/>
        </p:nvSpPr>
        <p:spPr>
          <a:xfrm>
            <a:off x="4484522" y="4370832"/>
            <a:ext cx="502920" cy="45720"/>
          </a:xfrm>
          <a:prstGeom prst="rect">
            <a:avLst/>
          </a:prstGeom>
          <a:solidFill>
            <a:srgbClr val="D25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4447946" y="4462272"/>
            <a:ext cx="3295802" cy="353568"/>
          </a:xfrm>
          <a:prstGeom prst="rect">
            <a:avLst/>
          </a:prstGeom>
          <a:noFill/>
        </p:spPr>
        <p:txBody>
          <a:bodyPr wrap="square" lIns="45720" rIns="45720" tIns="27432" bIns="27432" anchor="t">
            <a:noAutofit/>
          </a:bodyPr>
          <a:lstStyle/>
          <a:p>
            <a:pPr algn="l">
              <a:lnSpc>
                <a:spcPct val="100000"/>
              </a:lnSpc>
            </a:pPr>
            <a:r>
              <a:rPr sz="1600" b="0" i="0">
                <a:solidFill>
                  <a:srgbClr val="F7F2E8"/>
                </a:solidFill>
                <a:latin typeface="Segoe UI Semibold"/>
              </a:rPr>
              <a:t>Creado no es limpio</a:t>
            </a:r>
          </a:p>
        </p:txBody>
      </p:sp>
      <p:sp>
        <p:nvSpPr>
          <p:cNvPr id="27" name="TextBox 26"/>
          <p:cNvSpPr txBox="1"/>
          <p:nvPr/>
        </p:nvSpPr>
        <p:spPr>
          <a:xfrm>
            <a:off x="4447946" y="4815840"/>
            <a:ext cx="3295802" cy="1292352"/>
          </a:xfrm>
          <a:prstGeom prst="rect">
            <a:avLst/>
          </a:prstGeom>
          <a:noFill/>
        </p:spPr>
        <p:txBody>
          <a:bodyPr wrap="square" lIns="45720" rIns="45720" tIns="27432" bIns="27432" anchor="t">
            <a:noAutofit/>
          </a:bodyPr>
          <a:lstStyle/>
          <a:p>
            <a:pPr algn="l">
              <a:lnSpc>
                <a:spcPct val="100000"/>
              </a:lnSpc>
            </a:pPr>
            <a:r>
              <a:rPr sz="1300" b="0" i="0">
                <a:solidFill>
                  <a:srgbClr val="A7B2B0"/>
                </a:solidFill>
                <a:latin typeface="Segoe UI"/>
              </a:rPr>
              <a:t>Los documentos reportan sus auditorías antes de darse por terminados.</a:t>
            </a:r>
          </a:p>
        </p:txBody>
      </p:sp>
      <p:sp>
        <p:nvSpPr>
          <p:cNvPr id="28" name="Rounded Rectangle 27"/>
          <p:cNvSpPr/>
          <p:nvPr/>
        </p:nvSpPr>
        <p:spPr>
          <a:xfrm>
            <a:off x="8072932" y="4242816"/>
            <a:ext cx="3551834" cy="1956816"/>
          </a:xfrm>
          <a:prstGeom prst="roundRect">
            <a:avLst>
              <a:gd name="adj" fmla="val 5607"/>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Rectangle 28"/>
          <p:cNvSpPr/>
          <p:nvPr/>
        </p:nvSpPr>
        <p:spPr>
          <a:xfrm>
            <a:off x="8237524" y="4370832"/>
            <a:ext cx="502920" cy="45720"/>
          </a:xfrm>
          <a:prstGeom prst="rect">
            <a:avLst/>
          </a:prstGeom>
          <a:solidFill>
            <a:srgbClr val="D957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8200948" y="4462272"/>
            <a:ext cx="3295802" cy="353568"/>
          </a:xfrm>
          <a:prstGeom prst="rect">
            <a:avLst/>
          </a:prstGeom>
          <a:noFill/>
        </p:spPr>
        <p:txBody>
          <a:bodyPr wrap="square" lIns="45720" rIns="45720" tIns="27432" bIns="27432" anchor="t">
            <a:noAutofit/>
          </a:bodyPr>
          <a:lstStyle/>
          <a:p>
            <a:pPr algn="l">
              <a:lnSpc>
                <a:spcPct val="100000"/>
              </a:lnSpc>
            </a:pPr>
            <a:r>
              <a:rPr sz="1600" b="0" i="0">
                <a:solidFill>
                  <a:srgbClr val="F7F2E8"/>
                </a:solidFill>
                <a:latin typeface="Segoe UI Semibold"/>
              </a:rPr>
              <a:t>Entregado no es aceptado</a:t>
            </a:r>
          </a:p>
        </p:txBody>
      </p:sp>
      <p:sp>
        <p:nvSpPr>
          <p:cNvPr id="31" name="TextBox 30"/>
          <p:cNvSpPr txBox="1"/>
          <p:nvPr/>
        </p:nvSpPr>
        <p:spPr>
          <a:xfrm>
            <a:off x="8200948" y="4815840"/>
            <a:ext cx="3295802" cy="1292352"/>
          </a:xfrm>
          <a:prstGeom prst="rect">
            <a:avLst/>
          </a:prstGeom>
          <a:noFill/>
        </p:spPr>
        <p:txBody>
          <a:bodyPr wrap="square" lIns="45720" rIns="45720" tIns="27432" bIns="27432" anchor="t">
            <a:noAutofit/>
          </a:bodyPr>
          <a:lstStyle/>
          <a:p>
            <a:pPr algn="l">
              <a:lnSpc>
                <a:spcPct val="100000"/>
              </a:lnSpc>
            </a:pPr>
            <a:r>
              <a:rPr sz="1300" b="0" i="0">
                <a:solidFill>
                  <a:srgbClr val="A7B2B0"/>
                </a:solidFill>
                <a:latin typeface="Segoe UI"/>
              </a:rPr>
              <a:t>La evidencia de input del escritorio se mantiene aparte del éxito.</a:t>
            </a:r>
          </a:p>
        </p:txBody>
      </p:sp>
      <p:cxnSp>
        <p:nvCxnSpPr>
          <p:cNvPr id="32" name="Connector 31"/>
          <p:cNvCxnSpPr/>
          <p:nvPr/>
        </p:nvCxnSpPr>
        <p:spPr>
          <a:xfrm>
            <a:off x="566928" y="6373368"/>
            <a:ext cx="11057839" cy="0"/>
          </a:xfrm>
          <a:prstGeom prst="line">
            <a:avLst/>
          </a:prstGeom>
          <a:ln w="7620">
            <a:solidFill>
              <a:srgbClr val="2A3A40"/>
            </a:solidFill>
          </a:ln>
        </p:spPr>
        <p:style>
          <a:lnRef idx="2">
            <a:schemeClr val="accent1"/>
          </a:lnRef>
          <a:fillRef idx="0">
            <a:schemeClr val="accent1"/>
          </a:fillRef>
          <a:effectRef idx="1">
            <a:schemeClr val="accent1"/>
          </a:effectRef>
          <a:fontRef idx="minor">
            <a:schemeClr val="tx1"/>
          </a:fontRef>
        </p:style>
      </p:cxnSp>
      <p:sp>
        <p:nvSpPr>
          <p:cNvPr id="33" name="TextBox 32"/>
          <p:cNvSpPr txBox="1"/>
          <p:nvPr/>
        </p:nvSpPr>
        <p:spPr>
          <a:xfrm>
            <a:off x="566928" y="6419088"/>
            <a:ext cx="6858000" cy="274320"/>
          </a:xfrm>
          <a:prstGeom prst="rect">
            <a:avLst/>
          </a:prstGeom>
          <a:noFill/>
        </p:spPr>
        <p:txBody>
          <a:bodyPr wrap="square" lIns="45720" rIns="45720" tIns="27432" bIns="27432" anchor="t">
            <a:noAutofit/>
          </a:bodyPr>
          <a:lstStyle/>
          <a:p>
            <a:pPr algn="l">
              <a:lnSpc>
                <a:spcPct val="100000"/>
              </a:lnSpc>
            </a:pPr>
            <a:r>
              <a:rPr sz="850" b="0" i="0" spc="120">
                <a:solidFill>
                  <a:srgbClr val="A7B2B0"/>
                </a:solidFill>
                <a:latin typeface="Segoe UI Semibold"/>
              </a:rPr>
              <a:t>TLAMATINI  ·  VI · LAS PROMESAS QUE CUMPLE</a:t>
            </a:r>
          </a:p>
        </p:txBody>
      </p:sp>
      <p:sp>
        <p:nvSpPr>
          <p:cNvPr id="34" name="TextBox 33"/>
          <p:cNvSpPr txBox="1"/>
          <p:nvPr/>
        </p:nvSpPr>
        <p:spPr>
          <a:xfrm>
            <a:off x="8698687" y="6419088"/>
            <a:ext cx="2926080" cy="274320"/>
          </a:xfrm>
          <a:prstGeom prst="rect">
            <a:avLst/>
          </a:prstGeom>
          <a:noFill/>
        </p:spPr>
        <p:txBody>
          <a:bodyPr wrap="square" lIns="45720" rIns="45720" tIns="27432" bIns="27432" anchor="t">
            <a:noAutofit/>
          </a:bodyPr>
          <a:lstStyle/>
          <a:p>
            <a:pPr algn="r">
              <a:lnSpc>
                <a:spcPct val="100000"/>
              </a:lnSpc>
            </a:pPr>
            <a:r>
              <a:rPr sz="850" b="0" i="0" spc="100">
                <a:solidFill>
                  <a:srgbClr val="A7B2B0"/>
                </a:solidFill>
                <a:latin typeface="Segoe UI Semibold"/>
              </a:rPr>
              <a:t>v1.91.1   ·   102</a:t>
            </a:r>
          </a:p>
        </p:txBody>
      </p:sp>
    </p:spTree>
  </p:cSld>
  <p:clrMapOvr>
    <a:masterClrMapping/>
  </p:clrMapOvr>
</p:sld>
</file>

<file path=ppt/slides/slide10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content.png"/>
          <p:cNvPicPr>
            <a:picLocks noChangeAspect="1"/>
          </p:cNvPicPr>
          <p:nvPr/>
        </p:nvPicPr>
        <p:blipFill>
          <a:blip r:embed="rId2"/>
          <a:stretch>
            <a:fillRect/>
          </a:stretch>
        </p:blipFill>
        <p:spPr>
          <a:xfrm>
            <a:off x="0" y="0"/>
            <a:ext cx="12191695" cy="6858000"/>
          </a:xfrm>
          <a:prstGeom prst="rect">
            <a:avLst/>
          </a:prstGeom>
        </p:spPr>
      </p:pic>
      <p:sp>
        <p:nvSpPr>
          <p:cNvPr id="3" name="Diamond 2"/>
          <p:cNvSpPr/>
          <p:nvPr/>
        </p:nvSpPr>
        <p:spPr>
          <a:xfrm>
            <a:off x="566928" y="457200"/>
            <a:ext cx="100584" cy="100584"/>
          </a:xfrm>
          <a:prstGeom prst="diamond">
            <a:avLst/>
          </a:prstGeom>
          <a:solidFill>
            <a:srgbClr val="D957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49808" y="365760"/>
            <a:ext cx="8229600" cy="292608"/>
          </a:xfrm>
          <a:prstGeom prst="rect">
            <a:avLst/>
          </a:prstGeom>
          <a:noFill/>
        </p:spPr>
        <p:txBody>
          <a:bodyPr wrap="square" lIns="45720" rIns="45720" tIns="27432" bIns="27432" anchor="t">
            <a:noAutofit/>
          </a:bodyPr>
          <a:lstStyle/>
          <a:p>
            <a:pPr algn="l">
              <a:lnSpc>
                <a:spcPct val="100000"/>
              </a:lnSpc>
            </a:pPr>
            <a:r>
              <a:rPr sz="1100" b="0" i="0" spc="240">
                <a:solidFill>
                  <a:srgbClr val="C98457"/>
                </a:solidFill>
                <a:latin typeface="Segoe UI Semibold"/>
              </a:rPr>
              <a:t>MODOS DE FALLA</a:t>
            </a:r>
          </a:p>
        </p:txBody>
      </p:sp>
      <p:sp>
        <p:nvSpPr>
          <p:cNvPr id="5" name="TextBox 4"/>
          <p:cNvSpPr txBox="1"/>
          <p:nvPr/>
        </p:nvSpPr>
        <p:spPr>
          <a:xfrm>
            <a:off x="539496" y="676656"/>
            <a:ext cx="11057839" cy="658368"/>
          </a:xfrm>
          <a:prstGeom prst="rect">
            <a:avLst/>
          </a:prstGeom>
          <a:noFill/>
        </p:spPr>
        <p:txBody>
          <a:bodyPr wrap="square" lIns="45720" rIns="45720" tIns="27432" bIns="27432" anchor="t">
            <a:noAutofit/>
          </a:bodyPr>
          <a:lstStyle/>
          <a:p>
            <a:pPr algn="l">
              <a:lnSpc>
                <a:spcPct val="100000"/>
              </a:lnSpc>
            </a:pPr>
            <a:r>
              <a:rPr sz="3100" b="0" i="0">
                <a:solidFill>
                  <a:srgbClr val="F7F2E8"/>
                </a:solidFill>
                <a:latin typeface="Palatino Linotype"/>
              </a:rPr>
              <a:t>Fallar abierto o fallar seguro, a propósito</a:t>
            </a:r>
          </a:p>
        </p:txBody>
      </p:sp>
      <p:sp>
        <p:nvSpPr>
          <p:cNvPr id="6" name="Rectangle 5"/>
          <p:cNvSpPr/>
          <p:nvPr/>
        </p:nvSpPr>
        <p:spPr>
          <a:xfrm>
            <a:off x="566928" y="1344168"/>
            <a:ext cx="822960" cy="36576"/>
          </a:xfrm>
          <a:prstGeom prst="rect">
            <a:avLst/>
          </a:prstGeom>
          <a:solidFill>
            <a:srgbClr val="D957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566928" y="1444752"/>
            <a:ext cx="10692079" cy="585216"/>
          </a:xfrm>
          <a:prstGeom prst="rect">
            <a:avLst/>
          </a:prstGeom>
          <a:noFill/>
        </p:spPr>
        <p:txBody>
          <a:bodyPr wrap="square" lIns="45720" rIns="45720" tIns="27432" bIns="27432" anchor="t">
            <a:noAutofit/>
          </a:bodyPr>
          <a:lstStyle/>
          <a:p>
            <a:pPr algn="l">
              <a:lnSpc>
                <a:spcPct val="100000"/>
              </a:lnSpc>
            </a:pPr>
            <a:r>
              <a:rPr sz="1450" b="0" i="0">
                <a:solidFill>
                  <a:srgbClr val="A7B2B0"/>
                </a:solidFill>
                <a:latin typeface="Segoe UI Semilight"/>
              </a:rPr>
              <a:t>Cada protección elige su dirección de falla deliberadamente, preguntándose qué error te dañaría más.</a:t>
            </a:r>
          </a:p>
        </p:txBody>
      </p:sp>
      <p:sp>
        <p:nvSpPr>
          <p:cNvPr id="8" name="Rounded Rectangle 7"/>
          <p:cNvSpPr/>
          <p:nvPr/>
        </p:nvSpPr>
        <p:spPr>
          <a:xfrm>
            <a:off x="566928" y="2084831"/>
            <a:ext cx="11057839" cy="3828288"/>
          </a:xfrm>
          <a:prstGeom prst="roundRect">
            <a:avLst>
              <a:gd name="adj" fmla="val 1910"/>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ounded Rectangle 8"/>
          <p:cNvSpPr/>
          <p:nvPr/>
        </p:nvSpPr>
        <p:spPr>
          <a:xfrm>
            <a:off x="566928" y="2084831"/>
            <a:ext cx="11057839" cy="384048"/>
          </a:xfrm>
          <a:prstGeom prst="roundRect">
            <a:avLst>
              <a:gd name="adj" fmla="val 19047"/>
            </a:avLst>
          </a:prstGeom>
          <a:solidFill>
            <a:srgbClr val="151F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640080" y="2121408"/>
            <a:ext cx="3171047" cy="310896"/>
          </a:xfrm>
          <a:prstGeom prst="rect">
            <a:avLst/>
          </a:prstGeom>
          <a:noFill/>
        </p:spPr>
        <p:txBody>
          <a:bodyPr wrap="square" lIns="45720" rIns="45720" tIns="27432" bIns="27432" anchor="ctr">
            <a:noAutofit/>
          </a:bodyPr>
          <a:lstStyle/>
          <a:p>
            <a:pPr algn="l">
              <a:lnSpc>
                <a:spcPct val="100000"/>
              </a:lnSpc>
            </a:pPr>
            <a:r>
              <a:rPr sz="1000" b="0" i="0" spc="120">
                <a:solidFill>
                  <a:srgbClr val="E2B462"/>
                </a:solidFill>
                <a:latin typeface="Segoe UI Semibold"/>
              </a:rPr>
              <a:t>MECANISMO</a:t>
            </a:r>
          </a:p>
        </p:txBody>
      </p:sp>
      <p:sp>
        <p:nvSpPr>
          <p:cNvPr id="11" name="TextBox 10"/>
          <p:cNvSpPr txBox="1"/>
          <p:nvPr/>
        </p:nvSpPr>
        <p:spPr>
          <a:xfrm>
            <a:off x="3957431" y="2121408"/>
            <a:ext cx="1622950" cy="310896"/>
          </a:xfrm>
          <a:prstGeom prst="rect">
            <a:avLst/>
          </a:prstGeom>
          <a:noFill/>
        </p:spPr>
        <p:txBody>
          <a:bodyPr wrap="square" lIns="45720" rIns="45720" tIns="27432" bIns="27432" anchor="ctr">
            <a:noAutofit/>
          </a:bodyPr>
          <a:lstStyle/>
          <a:p>
            <a:pPr algn="l">
              <a:lnSpc>
                <a:spcPct val="100000"/>
              </a:lnSpc>
            </a:pPr>
            <a:r>
              <a:rPr sz="1000" b="0" i="0" spc="120">
                <a:solidFill>
                  <a:srgbClr val="E2B462"/>
                </a:solidFill>
                <a:latin typeface="Segoe UI Semibold"/>
              </a:rPr>
              <a:t>DIRECCIÓN</a:t>
            </a:r>
          </a:p>
        </p:txBody>
      </p:sp>
      <p:sp>
        <p:nvSpPr>
          <p:cNvPr id="12" name="TextBox 11"/>
          <p:cNvSpPr txBox="1"/>
          <p:nvPr/>
        </p:nvSpPr>
        <p:spPr>
          <a:xfrm>
            <a:off x="5726686" y="2121408"/>
            <a:ext cx="5824929" cy="310896"/>
          </a:xfrm>
          <a:prstGeom prst="rect">
            <a:avLst/>
          </a:prstGeom>
          <a:noFill/>
        </p:spPr>
        <p:txBody>
          <a:bodyPr wrap="square" lIns="45720" rIns="45720" tIns="27432" bIns="27432" anchor="ctr">
            <a:noAutofit/>
          </a:bodyPr>
          <a:lstStyle/>
          <a:p>
            <a:pPr algn="l">
              <a:lnSpc>
                <a:spcPct val="100000"/>
              </a:lnSpc>
            </a:pPr>
            <a:r>
              <a:rPr sz="1000" b="0" i="0" spc="120">
                <a:solidFill>
                  <a:srgbClr val="E2B462"/>
                </a:solidFill>
                <a:latin typeface="Segoe UI Semibold"/>
              </a:rPr>
              <a:t>POR QUÉ</a:t>
            </a:r>
          </a:p>
        </p:txBody>
      </p:sp>
      <p:sp>
        <p:nvSpPr>
          <p:cNvPr id="13" name="TextBox 12"/>
          <p:cNvSpPr txBox="1"/>
          <p:nvPr/>
        </p:nvSpPr>
        <p:spPr>
          <a:xfrm>
            <a:off x="640080" y="2505456"/>
            <a:ext cx="3171047" cy="271272"/>
          </a:xfrm>
          <a:prstGeom prst="rect">
            <a:avLst/>
          </a:prstGeom>
          <a:noFill/>
        </p:spPr>
        <p:txBody>
          <a:bodyPr wrap="square" lIns="45720" rIns="45720" tIns="27432" bIns="27432" anchor="ctr">
            <a:noAutofit/>
          </a:bodyPr>
          <a:lstStyle/>
          <a:p>
            <a:pPr algn="l">
              <a:lnSpc>
                <a:spcPct val="100000"/>
              </a:lnSpc>
            </a:pPr>
            <a:r>
              <a:rPr sz="1300" b="0" i="0">
                <a:solidFill>
                  <a:srgbClr val="F7F2E8"/>
                </a:solidFill>
                <a:latin typeface="Segoe UI Semibold"/>
              </a:rPr>
              <a:t>Protección de contenido binario</a:t>
            </a:r>
          </a:p>
        </p:txBody>
      </p:sp>
      <p:sp>
        <p:nvSpPr>
          <p:cNvPr id="14" name="TextBox 13"/>
          <p:cNvSpPr txBox="1"/>
          <p:nvPr/>
        </p:nvSpPr>
        <p:spPr>
          <a:xfrm>
            <a:off x="3957431" y="2505456"/>
            <a:ext cx="1622950" cy="271272"/>
          </a:xfrm>
          <a:prstGeom prst="rect">
            <a:avLst/>
          </a:prstGeom>
          <a:noFill/>
        </p:spPr>
        <p:txBody>
          <a:bodyPr wrap="square" lIns="45720" rIns="45720" tIns="27432" bIns="27432" anchor="ctr">
            <a:noAutofit/>
          </a:bodyPr>
          <a:lstStyle/>
          <a:p>
            <a:pPr algn="l">
              <a:lnSpc>
                <a:spcPct val="100000"/>
              </a:lnSpc>
            </a:pPr>
            <a:r>
              <a:rPr sz="1300" b="0" i="0">
                <a:solidFill>
                  <a:srgbClr val="A7B2B0"/>
                </a:solidFill>
                <a:latin typeface="Segoe UI"/>
              </a:rPr>
              <a:t>Abierto</a:t>
            </a:r>
          </a:p>
        </p:txBody>
      </p:sp>
      <p:sp>
        <p:nvSpPr>
          <p:cNvPr id="15" name="TextBox 14"/>
          <p:cNvSpPr txBox="1"/>
          <p:nvPr/>
        </p:nvSpPr>
        <p:spPr>
          <a:xfrm>
            <a:off x="5726686" y="2505456"/>
            <a:ext cx="5824929" cy="271272"/>
          </a:xfrm>
          <a:prstGeom prst="rect">
            <a:avLst/>
          </a:prstGeom>
          <a:noFill/>
        </p:spPr>
        <p:txBody>
          <a:bodyPr wrap="square" lIns="45720" rIns="45720" tIns="27432" bIns="27432" anchor="ctr">
            <a:noAutofit/>
          </a:bodyPr>
          <a:lstStyle/>
          <a:p>
            <a:pPr algn="l">
              <a:lnSpc>
                <a:spcPct val="100000"/>
              </a:lnSpc>
            </a:pPr>
            <a:r>
              <a:rPr sz="1300" b="0" i="0">
                <a:solidFill>
                  <a:srgbClr val="A7B2B0"/>
                </a:solidFill>
                <a:latin typeface="Segoe UI"/>
              </a:rPr>
              <a:t>Tirar contexto real es peor que incrustar un archivo raro.</a:t>
            </a:r>
          </a:p>
        </p:txBody>
      </p:sp>
      <p:sp>
        <p:nvSpPr>
          <p:cNvPr id="16" name="Rectangle 15"/>
          <p:cNvSpPr/>
          <p:nvPr/>
        </p:nvSpPr>
        <p:spPr>
          <a:xfrm>
            <a:off x="585216" y="2813303"/>
            <a:ext cx="11021263" cy="344424"/>
          </a:xfrm>
          <a:prstGeom prst="rect">
            <a:avLst/>
          </a:prstGeom>
          <a:solidFill>
            <a:srgbClr val="1824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640080" y="2849879"/>
            <a:ext cx="3171047" cy="271272"/>
          </a:xfrm>
          <a:prstGeom prst="rect">
            <a:avLst/>
          </a:prstGeom>
          <a:noFill/>
        </p:spPr>
        <p:txBody>
          <a:bodyPr wrap="square" lIns="45720" rIns="45720" tIns="27432" bIns="27432" anchor="ctr">
            <a:noAutofit/>
          </a:bodyPr>
          <a:lstStyle/>
          <a:p>
            <a:pPr algn="l">
              <a:lnSpc>
                <a:spcPct val="100000"/>
              </a:lnSpc>
            </a:pPr>
            <a:r>
              <a:rPr sz="1300" b="0" i="0">
                <a:solidFill>
                  <a:srgbClr val="F7F2E8"/>
                </a:solidFill>
                <a:latin typeface="Segoe UI Semibold"/>
              </a:rPr>
              <a:t>Análisis del veredicto</a:t>
            </a:r>
          </a:p>
        </p:txBody>
      </p:sp>
      <p:sp>
        <p:nvSpPr>
          <p:cNvPr id="18" name="TextBox 17"/>
          <p:cNvSpPr txBox="1"/>
          <p:nvPr/>
        </p:nvSpPr>
        <p:spPr>
          <a:xfrm>
            <a:off x="3957431" y="2849879"/>
            <a:ext cx="1622950" cy="271272"/>
          </a:xfrm>
          <a:prstGeom prst="rect">
            <a:avLst/>
          </a:prstGeom>
          <a:noFill/>
        </p:spPr>
        <p:txBody>
          <a:bodyPr wrap="square" lIns="45720" rIns="45720" tIns="27432" bIns="27432" anchor="ctr">
            <a:noAutofit/>
          </a:bodyPr>
          <a:lstStyle/>
          <a:p>
            <a:pPr algn="l">
              <a:lnSpc>
                <a:spcPct val="100000"/>
              </a:lnSpc>
            </a:pPr>
            <a:r>
              <a:rPr sz="1300" b="0" i="0">
                <a:solidFill>
                  <a:srgbClr val="A7B2B0"/>
                </a:solidFill>
                <a:latin typeface="Segoe UI"/>
              </a:rPr>
              <a:t>Abierto</a:t>
            </a:r>
          </a:p>
        </p:txBody>
      </p:sp>
      <p:sp>
        <p:nvSpPr>
          <p:cNvPr id="19" name="TextBox 18"/>
          <p:cNvSpPr txBox="1"/>
          <p:nvPr/>
        </p:nvSpPr>
        <p:spPr>
          <a:xfrm>
            <a:off x="5726686" y="2849879"/>
            <a:ext cx="5824929" cy="271272"/>
          </a:xfrm>
          <a:prstGeom prst="rect">
            <a:avLst/>
          </a:prstGeom>
          <a:noFill/>
        </p:spPr>
        <p:txBody>
          <a:bodyPr wrap="square" lIns="45720" rIns="45720" tIns="27432" bIns="27432" anchor="ctr">
            <a:noAutofit/>
          </a:bodyPr>
          <a:lstStyle/>
          <a:p>
            <a:pPr algn="l">
              <a:lnSpc>
                <a:spcPct val="100000"/>
              </a:lnSpc>
            </a:pPr>
            <a:r>
              <a:rPr sz="1300" b="0" i="0">
                <a:solidFill>
                  <a:srgbClr val="A7B2B0"/>
                </a:solidFill>
                <a:latin typeface="Segoe UI"/>
              </a:rPr>
              <a:t>Un error de parseo pasa a la siguiente regla; nunca lanza una excepción.</a:t>
            </a:r>
          </a:p>
        </p:txBody>
      </p:sp>
      <p:sp>
        <p:nvSpPr>
          <p:cNvPr id="20" name="TextBox 19"/>
          <p:cNvSpPr txBox="1"/>
          <p:nvPr/>
        </p:nvSpPr>
        <p:spPr>
          <a:xfrm>
            <a:off x="640080" y="3194304"/>
            <a:ext cx="3171047" cy="271272"/>
          </a:xfrm>
          <a:prstGeom prst="rect">
            <a:avLst/>
          </a:prstGeom>
          <a:noFill/>
        </p:spPr>
        <p:txBody>
          <a:bodyPr wrap="square" lIns="45720" rIns="45720" tIns="27432" bIns="27432" anchor="ctr">
            <a:noAutofit/>
          </a:bodyPr>
          <a:lstStyle/>
          <a:p>
            <a:pPr algn="l">
              <a:lnSpc>
                <a:spcPct val="100000"/>
              </a:lnSpc>
            </a:pPr>
            <a:r>
              <a:rPr sz="1300" b="0" i="0">
                <a:solidFill>
                  <a:srgbClr val="F7F2E8"/>
                </a:solidFill>
                <a:latin typeface="Segoe UI Semibold"/>
              </a:rPr>
              <a:t>Configuración de puerto y consola</a:t>
            </a:r>
          </a:p>
        </p:txBody>
      </p:sp>
      <p:sp>
        <p:nvSpPr>
          <p:cNvPr id="21" name="TextBox 20"/>
          <p:cNvSpPr txBox="1"/>
          <p:nvPr/>
        </p:nvSpPr>
        <p:spPr>
          <a:xfrm>
            <a:off x="3957431" y="3194304"/>
            <a:ext cx="1622950" cy="271272"/>
          </a:xfrm>
          <a:prstGeom prst="rect">
            <a:avLst/>
          </a:prstGeom>
          <a:noFill/>
        </p:spPr>
        <p:txBody>
          <a:bodyPr wrap="square" lIns="45720" rIns="45720" tIns="27432" bIns="27432" anchor="ctr">
            <a:noAutofit/>
          </a:bodyPr>
          <a:lstStyle/>
          <a:p>
            <a:pPr algn="l">
              <a:lnSpc>
                <a:spcPct val="100000"/>
              </a:lnSpc>
            </a:pPr>
            <a:r>
              <a:rPr sz="1300" b="0" i="0">
                <a:solidFill>
                  <a:srgbClr val="A7B2B0"/>
                </a:solidFill>
                <a:latin typeface="Segoe UI"/>
              </a:rPr>
              <a:t>Abierto</a:t>
            </a:r>
          </a:p>
        </p:txBody>
      </p:sp>
      <p:sp>
        <p:nvSpPr>
          <p:cNvPr id="22" name="TextBox 21"/>
          <p:cNvSpPr txBox="1"/>
          <p:nvPr/>
        </p:nvSpPr>
        <p:spPr>
          <a:xfrm>
            <a:off x="5726686" y="3194304"/>
            <a:ext cx="5824929" cy="271272"/>
          </a:xfrm>
          <a:prstGeom prst="rect">
            <a:avLst/>
          </a:prstGeom>
          <a:noFill/>
        </p:spPr>
        <p:txBody>
          <a:bodyPr wrap="square" lIns="45720" rIns="45720" tIns="27432" bIns="27432" anchor="ctr">
            <a:noAutofit/>
          </a:bodyPr>
          <a:lstStyle/>
          <a:p>
            <a:pPr algn="l">
              <a:lnSpc>
                <a:spcPct val="100000"/>
              </a:lnSpc>
            </a:pPr>
            <a:r>
              <a:rPr sz="1300" b="0" i="0">
                <a:solidFill>
                  <a:srgbClr val="A7B2B0"/>
                </a:solidFill>
                <a:latin typeface="Segoe UI"/>
              </a:rPr>
              <a:t>Un error de dedo nunca debe impedir que el servidor arranque.</a:t>
            </a:r>
          </a:p>
        </p:txBody>
      </p:sp>
      <p:sp>
        <p:nvSpPr>
          <p:cNvPr id="23" name="Rectangle 22"/>
          <p:cNvSpPr/>
          <p:nvPr/>
        </p:nvSpPr>
        <p:spPr>
          <a:xfrm>
            <a:off x="585216" y="3502152"/>
            <a:ext cx="11021263" cy="344424"/>
          </a:xfrm>
          <a:prstGeom prst="rect">
            <a:avLst/>
          </a:prstGeom>
          <a:solidFill>
            <a:srgbClr val="1824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640080" y="3538728"/>
            <a:ext cx="3171047" cy="271272"/>
          </a:xfrm>
          <a:prstGeom prst="rect">
            <a:avLst/>
          </a:prstGeom>
          <a:noFill/>
        </p:spPr>
        <p:txBody>
          <a:bodyPr wrap="square" lIns="45720" rIns="45720" tIns="27432" bIns="27432" anchor="ctr">
            <a:noAutofit/>
          </a:bodyPr>
          <a:lstStyle/>
          <a:p>
            <a:pPr algn="l">
              <a:lnSpc>
                <a:spcPct val="100000"/>
              </a:lnSpc>
            </a:pPr>
            <a:r>
              <a:rPr sz="1300" b="0" i="0">
                <a:solidFill>
                  <a:srgbClr val="F7F2E8"/>
                </a:solidFill>
                <a:latin typeface="Segoe UI Semibold"/>
              </a:rPr>
              <a:t>Aprovisionador de runtimes</a:t>
            </a:r>
          </a:p>
        </p:txBody>
      </p:sp>
      <p:sp>
        <p:nvSpPr>
          <p:cNvPr id="25" name="TextBox 24"/>
          <p:cNvSpPr txBox="1"/>
          <p:nvPr/>
        </p:nvSpPr>
        <p:spPr>
          <a:xfrm>
            <a:off x="3957431" y="3538728"/>
            <a:ext cx="1622950" cy="271272"/>
          </a:xfrm>
          <a:prstGeom prst="rect">
            <a:avLst/>
          </a:prstGeom>
          <a:noFill/>
        </p:spPr>
        <p:txBody>
          <a:bodyPr wrap="square" lIns="45720" rIns="45720" tIns="27432" bIns="27432" anchor="ctr">
            <a:noAutofit/>
          </a:bodyPr>
          <a:lstStyle/>
          <a:p>
            <a:pPr algn="l">
              <a:lnSpc>
                <a:spcPct val="100000"/>
              </a:lnSpc>
            </a:pPr>
            <a:r>
              <a:rPr sz="1300" b="0" i="0">
                <a:solidFill>
                  <a:srgbClr val="A7B2B0"/>
                </a:solidFill>
                <a:latin typeface="Segoe UI"/>
              </a:rPr>
              <a:t>Abierto</a:t>
            </a:r>
          </a:p>
        </p:txBody>
      </p:sp>
      <p:sp>
        <p:nvSpPr>
          <p:cNvPr id="26" name="TextBox 25"/>
          <p:cNvSpPr txBox="1"/>
          <p:nvPr/>
        </p:nvSpPr>
        <p:spPr>
          <a:xfrm>
            <a:off x="5726686" y="3538728"/>
            <a:ext cx="5824929" cy="271272"/>
          </a:xfrm>
          <a:prstGeom prst="rect">
            <a:avLst/>
          </a:prstGeom>
          <a:noFill/>
        </p:spPr>
        <p:txBody>
          <a:bodyPr wrap="square" lIns="45720" rIns="45720" tIns="27432" bIns="27432" anchor="ctr">
            <a:noAutofit/>
          </a:bodyPr>
          <a:lstStyle/>
          <a:p>
            <a:pPr algn="l">
              <a:lnSpc>
                <a:spcPct val="100000"/>
              </a:lnSpc>
            </a:pPr>
            <a:r>
              <a:rPr sz="1300" b="0" i="0">
                <a:solidFill>
                  <a:srgbClr val="A7B2B0"/>
                </a:solidFill>
                <a:latin typeface="Segoe UI"/>
              </a:rPr>
              <a:t>Una descarga con error nunca bloquea el arranque.</a:t>
            </a:r>
          </a:p>
        </p:txBody>
      </p:sp>
      <p:sp>
        <p:nvSpPr>
          <p:cNvPr id="27" name="TextBox 26"/>
          <p:cNvSpPr txBox="1"/>
          <p:nvPr/>
        </p:nvSpPr>
        <p:spPr>
          <a:xfrm>
            <a:off x="640080" y="3883152"/>
            <a:ext cx="3171047" cy="271272"/>
          </a:xfrm>
          <a:prstGeom prst="rect">
            <a:avLst/>
          </a:prstGeom>
          <a:noFill/>
        </p:spPr>
        <p:txBody>
          <a:bodyPr wrap="square" lIns="45720" rIns="45720" tIns="27432" bIns="27432" anchor="ctr">
            <a:noAutofit/>
          </a:bodyPr>
          <a:lstStyle/>
          <a:p>
            <a:pPr algn="l">
              <a:lnSpc>
                <a:spcPct val="100000"/>
              </a:lnSpc>
            </a:pPr>
            <a:r>
              <a:rPr sz="1300" b="0" i="0">
                <a:solidFill>
                  <a:srgbClr val="F7F2E8"/>
                </a:solidFill>
                <a:latin typeface="Segoe UI Semibold"/>
              </a:rPr>
              <a:t>Ajustador de Compact mode</a:t>
            </a:r>
          </a:p>
        </p:txBody>
      </p:sp>
      <p:sp>
        <p:nvSpPr>
          <p:cNvPr id="28" name="TextBox 27"/>
          <p:cNvSpPr txBox="1"/>
          <p:nvPr/>
        </p:nvSpPr>
        <p:spPr>
          <a:xfrm>
            <a:off x="3957431" y="3883152"/>
            <a:ext cx="1622950" cy="271272"/>
          </a:xfrm>
          <a:prstGeom prst="rect">
            <a:avLst/>
          </a:prstGeom>
          <a:noFill/>
        </p:spPr>
        <p:txBody>
          <a:bodyPr wrap="square" lIns="45720" rIns="45720" tIns="27432" bIns="27432" anchor="ctr">
            <a:noAutofit/>
          </a:bodyPr>
          <a:lstStyle/>
          <a:p>
            <a:pPr algn="l">
              <a:lnSpc>
                <a:spcPct val="100000"/>
              </a:lnSpc>
            </a:pPr>
            <a:r>
              <a:rPr sz="1300" b="0" i="0">
                <a:solidFill>
                  <a:srgbClr val="A7B2B0"/>
                </a:solidFill>
                <a:latin typeface="Segoe UI"/>
              </a:rPr>
              <a:t>Abierto</a:t>
            </a:r>
          </a:p>
        </p:txBody>
      </p:sp>
      <p:sp>
        <p:nvSpPr>
          <p:cNvPr id="29" name="TextBox 28"/>
          <p:cNvSpPr txBox="1"/>
          <p:nvPr/>
        </p:nvSpPr>
        <p:spPr>
          <a:xfrm>
            <a:off x="5726686" y="3883152"/>
            <a:ext cx="5824929" cy="271272"/>
          </a:xfrm>
          <a:prstGeom prst="rect">
            <a:avLst/>
          </a:prstGeom>
          <a:noFill/>
        </p:spPr>
        <p:txBody>
          <a:bodyPr wrap="square" lIns="45720" rIns="45720" tIns="27432" bIns="27432" anchor="ctr">
            <a:noAutofit/>
          </a:bodyPr>
          <a:lstStyle/>
          <a:p>
            <a:pPr algn="l">
              <a:lnSpc>
                <a:spcPct val="100000"/>
              </a:lnSpc>
            </a:pPr>
            <a:r>
              <a:rPr sz="1300" b="0" i="0">
                <a:solidFill>
                  <a:srgbClr val="A7B2B0"/>
                </a:solidFill>
                <a:latin typeface="Segoe UI"/>
              </a:rPr>
              <a:t>Ante cualquier duda envía la solicitud completa, exactamente como antes.</a:t>
            </a:r>
          </a:p>
        </p:txBody>
      </p:sp>
      <p:sp>
        <p:nvSpPr>
          <p:cNvPr id="30" name="Rectangle 29"/>
          <p:cNvSpPr/>
          <p:nvPr/>
        </p:nvSpPr>
        <p:spPr>
          <a:xfrm>
            <a:off x="585216" y="4191000"/>
            <a:ext cx="11021263" cy="344424"/>
          </a:xfrm>
          <a:prstGeom prst="rect">
            <a:avLst/>
          </a:prstGeom>
          <a:solidFill>
            <a:srgbClr val="1824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TextBox 30"/>
          <p:cNvSpPr txBox="1"/>
          <p:nvPr/>
        </p:nvSpPr>
        <p:spPr>
          <a:xfrm>
            <a:off x="640080" y="4227576"/>
            <a:ext cx="3171047" cy="271272"/>
          </a:xfrm>
          <a:prstGeom prst="rect">
            <a:avLst/>
          </a:prstGeom>
          <a:noFill/>
        </p:spPr>
        <p:txBody>
          <a:bodyPr wrap="square" lIns="45720" rIns="45720" tIns="27432" bIns="27432" anchor="ctr">
            <a:noAutofit/>
          </a:bodyPr>
          <a:lstStyle/>
          <a:p>
            <a:pPr algn="l">
              <a:lnSpc>
                <a:spcPct val="100000"/>
              </a:lnSpc>
            </a:pPr>
            <a:r>
              <a:rPr sz="1300" b="0" i="0">
                <a:solidFill>
                  <a:srgbClr val="F7F2E8"/>
                </a:solidFill>
                <a:latin typeface="Segoe UI Semibold"/>
              </a:rPr>
              <a:t>Ask Execs</a:t>
            </a:r>
          </a:p>
        </p:txBody>
      </p:sp>
      <p:sp>
        <p:nvSpPr>
          <p:cNvPr id="32" name="TextBox 31"/>
          <p:cNvSpPr txBox="1"/>
          <p:nvPr/>
        </p:nvSpPr>
        <p:spPr>
          <a:xfrm>
            <a:off x="3957431" y="4227576"/>
            <a:ext cx="1622950" cy="271272"/>
          </a:xfrm>
          <a:prstGeom prst="rect">
            <a:avLst/>
          </a:prstGeom>
          <a:noFill/>
        </p:spPr>
        <p:txBody>
          <a:bodyPr wrap="square" lIns="45720" rIns="45720" tIns="27432" bIns="27432" anchor="ctr">
            <a:noAutofit/>
          </a:bodyPr>
          <a:lstStyle/>
          <a:p>
            <a:pPr algn="l">
              <a:lnSpc>
                <a:spcPct val="100000"/>
              </a:lnSpc>
            </a:pPr>
            <a:r>
              <a:rPr sz="1300" b="0" i="0">
                <a:solidFill>
                  <a:srgbClr val="A7B2B0"/>
                </a:solidFill>
                <a:latin typeface="Segoe UI"/>
              </a:rPr>
              <a:t>Seguro</a:t>
            </a:r>
          </a:p>
        </p:txBody>
      </p:sp>
      <p:sp>
        <p:nvSpPr>
          <p:cNvPr id="33" name="TextBox 32"/>
          <p:cNvSpPr txBox="1"/>
          <p:nvPr/>
        </p:nvSpPr>
        <p:spPr>
          <a:xfrm>
            <a:off x="5726686" y="4227576"/>
            <a:ext cx="5824929" cy="271272"/>
          </a:xfrm>
          <a:prstGeom prst="rect">
            <a:avLst/>
          </a:prstGeom>
          <a:noFill/>
        </p:spPr>
        <p:txBody>
          <a:bodyPr wrap="square" lIns="45720" rIns="45720" tIns="27432" bIns="27432" anchor="ctr">
            <a:noAutofit/>
          </a:bodyPr>
          <a:lstStyle/>
          <a:p>
            <a:pPr algn="l">
              <a:lnSpc>
                <a:spcPct val="100000"/>
              </a:lnSpc>
            </a:pPr>
            <a:r>
              <a:rPr sz="1300" b="0" i="0">
                <a:solidFill>
                  <a:srgbClr val="A7B2B0"/>
                </a:solidFill>
                <a:latin typeface="Segoe UI"/>
              </a:rPr>
              <a:t>Ante cualquier duda se resuelve como Denegar.</a:t>
            </a:r>
          </a:p>
        </p:txBody>
      </p:sp>
      <p:sp>
        <p:nvSpPr>
          <p:cNvPr id="34" name="TextBox 33"/>
          <p:cNvSpPr txBox="1"/>
          <p:nvPr/>
        </p:nvSpPr>
        <p:spPr>
          <a:xfrm>
            <a:off x="640080" y="4572000"/>
            <a:ext cx="3171047" cy="271272"/>
          </a:xfrm>
          <a:prstGeom prst="rect">
            <a:avLst/>
          </a:prstGeom>
          <a:noFill/>
        </p:spPr>
        <p:txBody>
          <a:bodyPr wrap="square" lIns="45720" rIns="45720" tIns="27432" bIns="27432" anchor="ctr">
            <a:noAutofit/>
          </a:bodyPr>
          <a:lstStyle/>
          <a:p>
            <a:pPr algn="l">
              <a:lnSpc>
                <a:spcPct val="100000"/>
              </a:lnSpc>
            </a:pPr>
            <a:r>
              <a:rPr sz="1300" b="0" i="0">
                <a:solidFill>
                  <a:srgbClr val="F7F2E8"/>
                </a:solidFill>
                <a:latin typeface="Segoe UI Semibold"/>
              </a:rPr>
              <a:t>Copias de la base de datos</a:t>
            </a:r>
          </a:p>
        </p:txBody>
      </p:sp>
      <p:sp>
        <p:nvSpPr>
          <p:cNvPr id="35" name="TextBox 34"/>
          <p:cNvSpPr txBox="1"/>
          <p:nvPr/>
        </p:nvSpPr>
        <p:spPr>
          <a:xfrm>
            <a:off x="3957431" y="4572000"/>
            <a:ext cx="1622950" cy="271272"/>
          </a:xfrm>
          <a:prstGeom prst="rect">
            <a:avLst/>
          </a:prstGeom>
          <a:noFill/>
        </p:spPr>
        <p:txBody>
          <a:bodyPr wrap="square" lIns="45720" rIns="45720" tIns="27432" bIns="27432" anchor="ctr">
            <a:noAutofit/>
          </a:bodyPr>
          <a:lstStyle/>
          <a:p>
            <a:pPr algn="l">
              <a:lnSpc>
                <a:spcPct val="100000"/>
              </a:lnSpc>
            </a:pPr>
            <a:r>
              <a:rPr sz="1300" b="0" i="0">
                <a:solidFill>
                  <a:srgbClr val="A7B2B0"/>
                </a:solidFill>
                <a:latin typeface="Segoe UI"/>
              </a:rPr>
              <a:t>Seguro</a:t>
            </a:r>
          </a:p>
        </p:txBody>
      </p:sp>
      <p:sp>
        <p:nvSpPr>
          <p:cNvPr id="36" name="TextBox 35"/>
          <p:cNvSpPr txBox="1"/>
          <p:nvPr/>
        </p:nvSpPr>
        <p:spPr>
          <a:xfrm>
            <a:off x="5726686" y="4572000"/>
            <a:ext cx="5824929" cy="271272"/>
          </a:xfrm>
          <a:prstGeom prst="rect">
            <a:avLst/>
          </a:prstGeom>
          <a:noFill/>
        </p:spPr>
        <p:txBody>
          <a:bodyPr wrap="square" lIns="45720" rIns="45720" tIns="27432" bIns="27432" anchor="ctr">
            <a:noAutofit/>
          </a:bodyPr>
          <a:lstStyle/>
          <a:p>
            <a:pPr algn="l">
              <a:lnSpc>
                <a:spcPct val="100000"/>
              </a:lnSpc>
            </a:pPr>
            <a:r>
              <a:rPr sz="1300" b="0" i="0">
                <a:solidFill>
                  <a:srgbClr val="A7B2B0"/>
                </a:solidFill>
                <a:latin typeface="Segoe UI"/>
              </a:rPr>
              <a:t>Una copia dudosa o sin revisar se reporta como error.</a:t>
            </a:r>
          </a:p>
        </p:txBody>
      </p:sp>
      <p:sp>
        <p:nvSpPr>
          <p:cNvPr id="37" name="Rectangle 36"/>
          <p:cNvSpPr/>
          <p:nvPr/>
        </p:nvSpPr>
        <p:spPr>
          <a:xfrm>
            <a:off x="585216" y="4879848"/>
            <a:ext cx="11021263" cy="344424"/>
          </a:xfrm>
          <a:prstGeom prst="rect">
            <a:avLst/>
          </a:prstGeom>
          <a:solidFill>
            <a:srgbClr val="1824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8" name="TextBox 37"/>
          <p:cNvSpPr txBox="1"/>
          <p:nvPr/>
        </p:nvSpPr>
        <p:spPr>
          <a:xfrm>
            <a:off x="640080" y="4916424"/>
            <a:ext cx="3171047" cy="271272"/>
          </a:xfrm>
          <a:prstGeom prst="rect">
            <a:avLst/>
          </a:prstGeom>
          <a:noFill/>
        </p:spPr>
        <p:txBody>
          <a:bodyPr wrap="square" lIns="45720" rIns="45720" tIns="27432" bIns="27432" anchor="ctr">
            <a:noAutofit/>
          </a:bodyPr>
          <a:lstStyle/>
          <a:p>
            <a:pPr algn="l">
              <a:lnSpc>
                <a:spcPct val="100000"/>
              </a:lnSpc>
            </a:pPr>
            <a:r>
              <a:rPr sz="1300" b="0" i="0">
                <a:solidFill>
                  <a:srgbClr val="F7F2E8"/>
                </a:solidFill>
                <a:latin typeface="Segoe UI Semibold"/>
              </a:rPr>
              <a:t>Protección del bisect de LaTeXer</a:t>
            </a:r>
          </a:p>
        </p:txBody>
      </p:sp>
      <p:sp>
        <p:nvSpPr>
          <p:cNvPr id="39" name="TextBox 38"/>
          <p:cNvSpPr txBox="1"/>
          <p:nvPr/>
        </p:nvSpPr>
        <p:spPr>
          <a:xfrm>
            <a:off x="3957431" y="4916424"/>
            <a:ext cx="1622950" cy="271272"/>
          </a:xfrm>
          <a:prstGeom prst="rect">
            <a:avLst/>
          </a:prstGeom>
          <a:noFill/>
        </p:spPr>
        <p:txBody>
          <a:bodyPr wrap="square" lIns="45720" rIns="45720" tIns="27432" bIns="27432" anchor="ctr">
            <a:noAutofit/>
          </a:bodyPr>
          <a:lstStyle/>
          <a:p>
            <a:pPr algn="l">
              <a:lnSpc>
                <a:spcPct val="100000"/>
              </a:lnSpc>
            </a:pPr>
            <a:r>
              <a:rPr sz="1300" b="0" i="0">
                <a:solidFill>
                  <a:srgbClr val="A7B2B0"/>
                </a:solidFill>
                <a:latin typeface="Segoe UI"/>
              </a:rPr>
              <a:t>Seguro</a:t>
            </a:r>
          </a:p>
        </p:txBody>
      </p:sp>
      <p:sp>
        <p:nvSpPr>
          <p:cNvPr id="40" name="TextBox 39"/>
          <p:cNvSpPr txBox="1"/>
          <p:nvPr/>
        </p:nvSpPr>
        <p:spPr>
          <a:xfrm>
            <a:off x="5726686" y="4916424"/>
            <a:ext cx="5824929" cy="271272"/>
          </a:xfrm>
          <a:prstGeom prst="rect">
            <a:avLst/>
          </a:prstGeom>
          <a:noFill/>
        </p:spPr>
        <p:txBody>
          <a:bodyPr wrap="square" lIns="45720" rIns="45720" tIns="27432" bIns="27432" anchor="ctr">
            <a:noAutofit/>
          </a:bodyPr>
          <a:lstStyle/>
          <a:p>
            <a:pPr algn="l">
              <a:lnSpc>
                <a:spcPct val="100000"/>
              </a:lnSpc>
            </a:pPr>
            <a:r>
              <a:rPr sz="1300" b="0" i="0">
                <a:solidFill>
                  <a:srgbClr val="A7B2B0"/>
                </a:solidFill>
                <a:latin typeface="Segoe UI"/>
              </a:rPr>
              <a:t>En caso de duda, protege el contenido del autor.</a:t>
            </a:r>
          </a:p>
        </p:txBody>
      </p:sp>
      <p:sp>
        <p:nvSpPr>
          <p:cNvPr id="41" name="TextBox 40"/>
          <p:cNvSpPr txBox="1"/>
          <p:nvPr/>
        </p:nvSpPr>
        <p:spPr>
          <a:xfrm>
            <a:off x="640080" y="5260848"/>
            <a:ext cx="3171047" cy="271272"/>
          </a:xfrm>
          <a:prstGeom prst="rect">
            <a:avLst/>
          </a:prstGeom>
          <a:noFill/>
        </p:spPr>
        <p:txBody>
          <a:bodyPr wrap="square" lIns="45720" rIns="45720" tIns="27432" bIns="27432" anchor="ctr">
            <a:noAutofit/>
          </a:bodyPr>
          <a:lstStyle/>
          <a:p>
            <a:pPr algn="l">
              <a:lnSpc>
                <a:spcPct val="100000"/>
              </a:lnSpc>
            </a:pPr>
            <a:r>
              <a:rPr sz="1300" b="0" i="0">
                <a:solidFill>
                  <a:srgbClr val="F7F2E8"/>
                </a:solidFill>
                <a:latin typeface="Segoe UI Semibold"/>
              </a:rPr>
              <a:t>Preflights de firmware</a:t>
            </a:r>
          </a:p>
        </p:txBody>
      </p:sp>
      <p:sp>
        <p:nvSpPr>
          <p:cNvPr id="42" name="TextBox 41"/>
          <p:cNvSpPr txBox="1"/>
          <p:nvPr/>
        </p:nvSpPr>
        <p:spPr>
          <a:xfrm>
            <a:off x="3957431" y="5260848"/>
            <a:ext cx="1622950" cy="271272"/>
          </a:xfrm>
          <a:prstGeom prst="rect">
            <a:avLst/>
          </a:prstGeom>
          <a:noFill/>
        </p:spPr>
        <p:txBody>
          <a:bodyPr wrap="square" lIns="45720" rIns="45720" tIns="27432" bIns="27432" anchor="ctr">
            <a:noAutofit/>
          </a:bodyPr>
          <a:lstStyle/>
          <a:p>
            <a:pPr algn="l">
              <a:lnSpc>
                <a:spcPct val="100000"/>
              </a:lnSpc>
            </a:pPr>
            <a:r>
              <a:rPr sz="1300" b="0" i="0">
                <a:solidFill>
                  <a:srgbClr val="A7B2B0"/>
                </a:solidFill>
                <a:latin typeface="Segoe UI"/>
              </a:rPr>
              <a:t>Seguro</a:t>
            </a:r>
          </a:p>
        </p:txBody>
      </p:sp>
      <p:sp>
        <p:nvSpPr>
          <p:cNvPr id="43" name="TextBox 42"/>
          <p:cNvSpPr txBox="1"/>
          <p:nvPr/>
        </p:nvSpPr>
        <p:spPr>
          <a:xfrm>
            <a:off x="5726686" y="5260848"/>
            <a:ext cx="5824929" cy="271272"/>
          </a:xfrm>
          <a:prstGeom prst="rect">
            <a:avLst/>
          </a:prstGeom>
          <a:noFill/>
        </p:spPr>
        <p:txBody>
          <a:bodyPr wrap="square" lIns="45720" rIns="45720" tIns="27432" bIns="27432" anchor="ctr">
            <a:noAutofit/>
          </a:bodyPr>
          <a:lstStyle/>
          <a:p>
            <a:pPr algn="l">
              <a:lnSpc>
                <a:spcPct val="100000"/>
              </a:lnSpc>
            </a:pPr>
            <a:r>
              <a:rPr sz="1300" b="0" i="0">
                <a:solidFill>
                  <a:srgbClr val="A7B2B0"/>
                </a:solidFill>
                <a:latin typeface="Segoe UI"/>
              </a:rPr>
              <a:t>Se niegan antes que compilar o flashear el destino equivocado.</a:t>
            </a:r>
          </a:p>
        </p:txBody>
      </p:sp>
      <p:sp>
        <p:nvSpPr>
          <p:cNvPr id="44" name="Rectangle 43"/>
          <p:cNvSpPr/>
          <p:nvPr/>
        </p:nvSpPr>
        <p:spPr>
          <a:xfrm>
            <a:off x="585216" y="5568696"/>
            <a:ext cx="11021263" cy="344424"/>
          </a:xfrm>
          <a:prstGeom prst="rect">
            <a:avLst/>
          </a:prstGeom>
          <a:solidFill>
            <a:srgbClr val="1824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5" name="TextBox 44"/>
          <p:cNvSpPr txBox="1"/>
          <p:nvPr/>
        </p:nvSpPr>
        <p:spPr>
          <a:xfrm>
            <a:off x="640080" y="5605272"/>
            <a:ext cx="3171047" cy="271272"/>
          </a:xfrm>
          <a:prstGeom prst="rect">
            <a:avLst/>
          </a:prstGeom>
          <a:noFill/>
        </p:spPr>
        <p:txBody>
          <a:bodyPr wrap="square" lIns="45720" rIns="45720" tIns="27432" bIns="27432" anchor="ctr">
            <a:noAutofit/>
          </a:bodyPr>
          <a:lstStyle/>
          <a:p>
            <a:pPr algn="l">
              <a:lnSpc>
                <a:spcPct val="100000"/>
              </a:lnSpc>
            </a:pPr>
            <a:r>
              <a:rPr sz="1300" b="0" i="0">
                <a:solidFill>
                  <a:srgbClr val="F7F2E8"/>
                </a:solidFill>
                <a:latin typeface="Segoe UI Semibold"/>
              </a:rPr>
              <a:t>Deleter</a:t>
            </a:r>
          </a:p>
        </p:txBody>
      </p:sp>
      <p:sp>
        <p:nvSpPr>
          <p:cNvPr id="46" name="TextBox 45"/>
          <p:cNvSpPr txBox="1"/>
          <p:nvPr/>
        </p:nvSpPr>
        <p:spPr>
          <a:xfrm>
            <a:off x="3957431" y="5605272"/>
            <a:ext cx="1622950" cy="271272"/>
          </a:xfrm>
          <a:prstGeom prst="rect">
            <a:avLst/>
          </a:prstGeom>
          <a:noFill/>
        </p:spPr>
        <p:txBody>
          <a:bodyPr wrap="square" lIns="45720" rIns="45720" tIns="27432" bIns="27432" anchor="ctr">
            <a:noAutofit/>
          </a:bodyPr>
          <a:lstStyle/>
          <a:p>
            <a:pPr algn="l">
              <a:lnSpc>
                <a:spcPct val="100000"/>
              </a:lnSpc>
            </a:pPr>
            <a:r>
              <a:rPr sz="1300" b="0" i="0">
                <a:solidFill>
                  <a:srgbClr val="A7B2B0"/>
                </a:solidFill>
                <a:latin typeface="Segoe UI"/>
              </a:rPr>
              <a:t>Seguro</a:t>
            </a:r>
          </a:p>
        </p:txBody>
      </p:sp>
      <p:sp>
        <p:nvSpPr>
          <p:cNvPr id="47" name="TextBox 46"/>
          <p:cNvSpPr txBox="1"/>
          <p:nvPr/>
        </p:nvSpPr>
        <p:spPr>
          <a:xfrm>
            <a:off x="5726686" y="5605272"/>
            <a:ext cx="5824929" cy="271272"/>
          </a:xfrm>
          <a:prstGeom prst="rect">
            <a:avLst/>
          </a:prstGeom>
          <a:noFill/>
        </p:spPr>
        <p:txBody>
          <a:bodyPr wrap="square" lIns="45720" rIns="45720" tIns="27432" bIns="27432" anchor="ctr">
            <a:noAutofit/>
          </a:bodyPr>
          <a:lstStyle/>
          <a:p>
            <a:pPr algn="l">
              <a:lnSpc>
                <a:spcPct val="100000"/>
              </a:lnSpc>
            </a:pPr>
            <a:r>
              <a:rPr sz="1300" b="0" i="0">
                <a:solidFill>
                  <a:srgbClr val="A7B2B0"/>
                </a:solidFill>
                <a:latin typeface="Segoe UI"/>
              </a:rPr>
              <a:t>Rechaza carpetas protegidas, raíces de repositorios y raíces de unidades.</a:t>
            </a:r>
          </a:p>
        </p:txBody>
      </p:sp>
      <p:cxnSp>
        <p:nvCxnSpPr>
          <p:cNvPr id="48" name="Connector 47"/>
          <p:cNvCxnSpPr/>
          <p:nvPr/>
        </p:nvCxnSpPr>
        <p:spPr>
          <a:xfrm>
            <a:off x="566928" y="6373368"/>
            <a:ext cx="11057839" cy="0"/>
          </a:xfrm>
          <a:prstGeom prst="line">
            <a:avLst/>
          </a:prstGeom>
          <a:ln w="7620">
            <a:solidFill>
              <a:srgbClr val="2A3A40"/>
            </a:solidFill>
          </a:ln>
        </p:spPr>
        <p:style>
          <a:lnRef idx="2">
            <a:schemeClr val="accent1"/>
          </a:lnRef>
          <a:fillRef idx="0">
            <a:schemeClr val="accent1"/>
          </a:fillRef>
          <a:effectRef idx="1">
            <a:schemeClr val="accent1"/>
          </a:effectRef>
          <a:fontRef idx="minor">
            <a:schemeClr val="tx1"/>
          </a:fontRef>
        </p:style>
      </p:cxnSp>
      <p:sp>
        <p:nvSpPr>
          <p:cNvPr id="49" name="TextBox 48"/>
          <p:cNvSpPr txBox="1"/>
          <p:nvPr/>
        </p:nvSpPr>
        <p:spPr>
          <a:xfrm>
            <a:off x="566928" y="6419088"/>
            <a:ext cx="6858000" cy="274320"/>
          </a:xfrm>
          <a:prstGeom prst="rect">
            <a:avLst/>
          </a:prstGeom>
          <a:noFill/>
        </p:spPr>
        <p:txBody>
          <a:bodyPr wrap="square" lIns="45720" rIns="45720" tIns="27432" bIns="27432" anchor="t">
            <a:noAutofit/>
          </a:bodyPr>
          <a:lstStyle/>
          <a:p>
            <a:pPr algn="l">
              <a:lnSpc>
                <a:spcPct val="100000"/>
              </a:lnSpc>
            </a:pPr>
            <a:r>
              <a:rPr sz="850" b="0" i="0" spc="120">
                <a:solidFill>
                  <a:srgbClr val="A7B2B0"/>
                </a:solidFill>
                <a:latin typeface="Segoe UI Semibold"/>
              </a:rPr>
              <a:t>TLAMATINI  ·  VI · LAS PROMESAS QUE CUMPLE</a:t>
            </a:r>
          </a:p>
        </p:txBody>
      </p:sp>
      <p:sp>
        <p:nvSpPr>
          <p:cNvPr id="50" name="TextBox 49"/>
          <p:cNvSpPr txBox="1"/>
          <p:nvPr/>
        </p:nvSpPr>
        <p:spPr>
          <a:xfrm>
            <a:off x="8698687" y="6419088"/>
            <a:ext cx="2926080" cy="274320"/>
          </a:xfrm>
          <a:prstGeom prst="rect">
            <a:avLst/>
          </a:prstGeom>
          <a:noFill/>
        </p:spPr>
        <p:txBody>
          <a:bodyPr wrap="square" lIns="45720" rIns="45720" tIns="27432" bIns="27432" anchor="t">
            <a:noAutofit/>
          </a:bodyPr>
          <a:lstStyle/>
          <a:p>
            <a:pPr algn="r">
              <a:lnSpc>
                <a:spcPct val="100000"/>
              </a:lnSpc>
            </a:pPr>
            <a:r>
              <a:rPr sz="850" b="0" i="0" spc="100">
                <a:solidFill>
                  <a:srgbClr val="A7B2B0"/>
                </a:solidFill>
                <a:latin typeface="Segoe UI Semibold"/>
              </a:rPr>
              <a:t>v1.91.1   ·   103</a:t>
            </a:r>
          </a:p>
        </p:txBody>
      </p:sp>
    </p:spTree>
  </p:cSld>
  <p:clrMapOvr>
    <a:masterClrMapping/>
  </p:clrMapOvr>
</p:sld>
</file>

<file path=ppt/slides/slide10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content.png"/>
          <p:cNvPicPr>
            <a:picLocks noChangeAspect="1"/>
          </p:cNvPicPr>
          <p:nvPr/>
        </p:nvPicPr>
        <p:blipFill>
          <a:blip r:embed="rId2"/>
          <a:stretch>
            <a:fillRect/>
          </a:stretch>
        </p:blipFill>
        <p:spPr>
          <a:xfrm>
            <a:off x="0" y="0"/>
            <a:ext cx="12191695" cy="6858000"/>
          </a:xfrm>
          <a:prstGeom prst="rect">
            <a:avLst/>
          </a:prstGeom>
        </p:spPr>
      </p:pic>
      <p:sp>
        <p:nvSpPr>
          <p:cNvPr id="3" name="Diamond 2"/>
          <p:cNvSpPr/>
          <p:nvPr/>
        </p:nvSpPr>
        <p:spPr>
          <a:xfrm>
            <a:off x="566928" y="457200"/>
            <a:ext cx="100584" cy="100584"/>
          </a:xfrm>
          <a:prstGeom prst="diamond">
            <a:avLst/>
          </a:prstGeom>
          <a:solidFill>
            <a:srgbClr val="D957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49808" y="365760"/>
            <a:ext cx="8229600" cy="292608"/>
          </a:xfrm>
          <a:prstGeom prst="rect">
            <a:avLst/>
          </a:prstGeom>
          <a:noFill/>
        </p:spPr>
        <p:txBody>
          <a:bodyPr wrap="square" lIns="45720" rIns="45720" tIns="27432" bIns="27432" anchor="t">
            <a:noAutofit/>
          </a:bodyPr>
          <a:lstStyle/>
          <a:p>
            <a:pPr algn="l">
              <a:lnSpc>
                <a:spcPct val="100000"/>
              </a:lnSpc>
            </a:pPr>
            <a:r>
              <a:rPr sz="1100" b="0" i="0" spc="240">
                <a:solidFill>
                  <a:srgbClr val="C98457"/>
                </a:solidFill>
                <a:latin typeface="Segoe UI Semibold"/>
              </a:rPr>
              <a:t>RESPONSABILIDAD</a:t>
            </a:r>
          </a:p>
        </p:txBody>
      </p:sp>
      <p:sp>
        <p:nvSpPr>
          <p:cNvPr id="5" name="TextBox 4"/>
          <p:cNvSpPr txBox="1"/>
          <p:nvPr/>
        </p:nvSpPr>
        <p:spPr>
          <a:xfrm>
            <a:off x="539496" y="676656"/>
            <a:ext cx="11057839" cy="658368"/>
          </a:xfrm>
          <a:prstGeom prst="rect">
            <a:avLst/>
          </a:prstGeom>
          <a:noFill/>
        </p:spPr>
        <p:txBody>
          <a:bodyPr wrap="square" lIns="45720" rIns="45720" tIns="27432" bIns="27432" anchor="t">
            <a:noAutofit/>
          </a:bodyPr>
          <a:lstStyle/>
          <a:p>
            <a:pPr algn="l">
              <a:lnSpc>
                <a:spcPct val="100000"/>
              </a:lnSpc>
            </a:pPr>
            <a:r>
              <a:rPr sz="3100" b="0" i="0">
                <a:solidFill>
                  <a:srgbClr val="F7F2E8"/>
                </a:solidFill>
                <a:latin typeface="Palatino Linotype"/>
              </a:rPr>
              <a:t>Tus agents, tu jurisdicción</a:t>
            </a:r>
          </a:p>
        </p:txBody>
      </p:sp>
      <p:sp>
        <p:nvSpPr>
          <p:cNvPr id="6" name="Rectangle 5"/>
          <p:cNvSpPr/>
          <p:nvPr/>
        </p:nvSpPr>
        <p:spPr>
          <a:xfrm>
            <a:off x="566928" y="1344168"/>
            <a:ext cx="822960" cy="36576"/>
          </a:xfrm>
          <a:prstGeom prst="rect">
            <a:avLst/>
          </a:prstGeom>
          <a:solidFill>
            <a:srgbClr val="D957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566928" y="1444752"/>
            <a:ext cx="10692079" cy="585216"/>
          </a:xfrm>
          <a:prstGeom prst="rect">
            <a:avLst/>
          </a:prstGeom>
          <a:noFill/>
        </p:spPr>
        <p:txBody>
          <a:bodyPr wrap="square" lIns="45720" rIns="45720" tIns="27432" bIns="27432" anchor="t">
            <a:noAutofit/>
          </a:bodyPr>
          <a:lstStyle/>
          <a:p>
            <a:pPr algn="l">
              <a:lnSpc>
                <a:spcPct val="100000"/>
              </a:lnSpc>
            </a:pPr>
            <a:r>
              <a:rPr sz="1450" b="0" i="0">
                <a:solidFill>
                  <a:srgbClr val="A7B2B0"/>
                </a:solidFill>
                <a:latin typeface="Segoe UI Semilight"/>
              </a:rPr>
              <a:t>Cada agent es un programa en Python simple, así que puedes leerlo, auditarlo, editarlo, restringirlo o desactivarlo. Esa transparencia es un medio de control, no una garantía de seguridad.</a:t>
            </a:r>
          </a:p>
        </p:txBody>
      </p:sp>
      <p:sp>
        <p:nvSpPr>
          <p:cNvPr id="8" name="Rounded Rectangle 7"/>
          <p:cNvSpPr/>
          <p:nvPr/>
        </p:nvSpPr>
        <p:spPr>
          <a:xfrm>
            <a:off x="566928" y="2084831"/>
            <a:ext cx="11057839" cy="932688"/>
          </a:xfrm>
          <a:prstGeom prst="roundRect">
            <a:avLst>
              <a:gd name="adj" fmla="val 9803"/>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Diamond 8"/>
          <p:cNvSpPr/>
          <p:nvPr/>
        </p:nvSpPr>
        <p:spPr>
          <a:xfrm>
            <a:off x="768096" y="2487168"/>
            <a:ext cx="128016" cy="128016"/>
          </a:xfrm>
          <a:prstGeom prst="diamond">
            <a:avLst/>
          </a:prstGeom>
          <a:solidFill>
            <a:srgbClr val="3BBE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1024128" y="2139696"/>
            <a:ext cx="2651760" cy="822960"/>
          </a:xfrm>
          <a:prstGeom prst="rect">
            <a:avLst/>
          </a:prstGeom>
          <a:noFill/>
        </p:spPr>
        <p:txBody>
          <a:bodyPr wrap="square" lIns="45720" rIns="45720" tIns="27432" bIns="27432" anchor="ctr">
            <a:noAutofit/>
          </a:bodyPr>
          <a:lstStyle/>
          <a:p>
            <a:pPr algn="l">
              <a:lnSpc>
                <a:spcPct val="100000"/>
              </a:lnSpc>
            </a:pPr>
            <a:r>
              <a:rPr sz="1600" b="0" i="0">
                <a:solidFill>
                  <a:srgbClr val="F7F2E8"/>
                </a:solidFill>
                <a:latin typeface="Segoe UI Semibold"/>
              </a:rPr>
              <a:t>Legible</a:t>
            </a:r>
          </a:p>
        </p:txBody>
      </p:sp>
      <p:sp>
        <p:nvSpPr>
          <p:cNvPr id="11" name="TextBox 10"/>
          <p:cNvSpPr txBox="1"/>
          <p:nvPr/>
        </p:nvSpPr>
        <p:spPr>
          <a:xfrm>
            <a:off x="3767328" y="2139696"/>
            <a:ext cx="7720279" cy="822960"/>
          </a:xfrm>
          <a:prstGeom prst="rect">
            <a:avLst/>
          </a:prstGeom>
          <a:noFill/>
        </p:spPr>
        <p:txBody>
          <a:bodyPr wrap="square" lIns="45720" rIns="45720" tIns="27432" bIns="27432" anchor="ctr">
            <a:noAutofit/>
          </a:bodyPr>
          <a:lstStyle/>
          <a:p>
            <a:pPr algn="l">
              <a:lnSpc>
                <a:spcPct val="100000"/>
              </a:lnSpc>
            </a:pPr>
            <a:r>
              <a:rPr sz="1400" b="0" i="0">
                <a:solidFill>
                  <a:srgbClr val="A7B2B0"/>
                </a:solidFill>
                <a:latin typeface="Segoe UI"/>
              </a:rPr>
              <a:t>Cada agent es Python simple que puedes auditar y cambiar.</a:t>
            </a:r>
          </a:p>
        </p:txBody>
      </p:sp>
      <p:sp>
        <p:nvSpPr>
          <p:cNvPr id="12" name="Rounded Rectangle 11"/>
          <p:cNvSpPr/>
          <p:nvPr/>
        </p:nvSpPr>
        <p:spPr>
          <a:xfrm>
            <a:off x="566928" y="3145536"/>
            <a:ext cx="11057839" cy="932688"/>
          </a:xfrm>
          <a:prstGeom prst="roundRect">
            <a:avLst>
              <a:gd name="adj" fmla="val 9803"/>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Diamond 12"/>
          <p:cNvSpPr/>
          <p:nvPr/>
        </p:nvSpPr>
        <p:spPr>
          <a:xfrm>
            <a:off x="768096" y="3547872"/>
            <a:ext cx="128016" cy="128016"/>
          </a:xfrm>
          <a:prstGeom prst="diamond">
            <a:avLst/>
          </a:prstGeom>
          <a:solidFill>
            <a:srgbClr val="C984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1024128" y="3200400"/>
            <a:ext cx="2651760" cy="822960"/>
          </a:xfrm>
          <a:prstGeom prst="rect">
            <a:avLst/>
          </a:prstGeom>
          <a:noFill/>
        </p:spPr>
        <p:txBody>
          <a:bodyPr wrap="square" lIns="45720" rIns="45720" tIns="27432" bIns="27432" anchor="ctr">
            <a:noAutofit/>
          </a:bodyPr>
          <a:lstStyle/>
          <a:p>
            <a:pPr algn="l">
              <a:lnSpc>
                <a:spcPct val="100000"/>
              </a:lnSpc>
            </a:pPr>
            <a:r>
              <a:rPr sz="1600" b="0" i="0">
                <a:solidFill>
                  <a:srgbClr val="F7F2E8"/>
                </a:solidFill>
                <a:latin typeface="Segoe UI Semibold"/>
              </a:rPr>
              <a:t>Tu decisión</a:t>
            </a:r>
          </a:p>
        </p:txBody>
      </p:sp>
      <p:sp>
        <p:nvSpPr>
          <p:cNvPr id="15" name="TextBox 14"/>
          <p:cNvSpPr txBox="1"/>
          <p:nvPr/>
        </p:nvSpPr>
        <p:spPr>
          <a:xfrm>
            <a:off x="3767328" y="3200400"/>
            <a:ext cx="7720279" cy="822960"/>
          </a:xfrm>
          <a:prstGeom prst="rect">
            <a:avLst/>
          </a:prstGeom>
          <a:noFill/>
        </p:spPr>
        <p:txBody>
          <a:bodyPr wrap="square" lIns="45720" rIns="45720" tIns="27432" bIns="27432" anchor="ctr">
            <a:noAutofit/>
          </a:bodyPr>
          <a:lstStyle/>
          <a:p>
            <a:pPr algn="l">
              <a:lnSpc>
                <a:spcPct val="100000"/>
              </a:lnSpc>
            </a:pPr>
            <a:r>
              <a:rPr sz="1400" b="0" i="0">
                <a:solidFill>
                  <a:srgbClr val="A7B2B0"/>
                </a:solidFill>
                <a:latin typeface="Segoe UI"/>
              </a:rPr>
              <a:t>Tú eliges si un agent corre, dónde y cómo.</a:t>
            </a:r>
          </a:p>
        </p:txBody>
      </p:sp>
      <p:sp>
        <p:nvSpPr>
          <p:cNvPr id="16" name="Rounded Rectangle 15"/>
          <p:cNvSpPr/>
          <p:nvPr/>
        </p:nvSpPr>
        <p:spPr>
          <a:xfrm>
            <a:off x="566928" y="4206240"/>
            <a:ext cx="11057839" cy="932688"/>
          </a:xfrm>
          <a:prstGeom prst="roundRect">
            <a:avLst>
              <a:gd name="adj" fmla="val 9803"/>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Diamond 16"/>
          <p:cNvSpPr/>
          <p:nvPr/>
        </p:nvSpPr>
        <p:spPr>
          <a:xfrm>
            <a:off x="768096" y="4608575"/>
            <a:ext cx="128016" cy="128016"/>
          </a:xfrm>
          <a:prstGeom prst="diamond">
            <a:avLst/>
          </a:prstGeom>
          <a:solidFill>
            <a:srgbClr val="E2B4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1024128" y="4261103"/>
            <a:ext cx="2651760" cy="822960"/>
          </a:xfrm>
          <a:prstGeom prst="rect">
            <a:avLst/>
          </a:prstGeom>
          <a:noFill/>
        </p:spPr>
        <p:txBody>
          <a:bodyPr wrap="square" lIns="45720" rIns="45720" tIns="27432" bIns="27432" anchor="ctr">
            <a:noAutofit/>
          </a:bodyPr>
          <a:lstStyle/>
          <a:p>
            <a:pPr algn="l">
              <a:lnSpc>
                <a:spcPct val="100000"/>
              </a:lnSpc>
            </a:pPr>
            <a:r>
              <a:rPr sz="1600" b="0" i="0">
                <a:solidFill>
                  <a:srgbClr val="F7F2E8"/>
                </a:solidFill>
                <a:latin typeface="Segoe UI Semibold"/>
              </a:rPr>
              <a:t>Tu alcance</a:t>
            </a:r>
          </a:p>
        </p:txBody>
      </p:sp>
      <p:sp>
        <p:nvSpPr>
          <p:cNvPr id="19" name="TextBox 18"/>
          <p:cNvSpPr txBox="1"/>
          <p:nvPr/>
        </p:nvSpPr>
        <p:spPr>
          <a:xfrm>
            <a:off x="3767328" y="4261103"/>
            <a:ext cx="7720279" cy="822960"/>
          </a:xfrm>
          <a:prstGeom prst="rect">
            <a:avLst/>
          </a:prstGeom>
          <a:noFill/>
        </p:spPr>
        <p:txBody>
          <a:bodyPr wrap="square" lIns="45720" rIns="45720" tIns="27432" bIns="27432" anchor="ctr">
            <a:noAutofit/>
          </a:bodyPr>
          <a:lstStyle/>
          <a:p>
            <a:pPr algn="l">
              <a:lnSpc>
                <a:spcPct val="100000"/>
              </a:lnSpc>
            </a:pPr>
            <a:r>
              <a:rPr sz="1400" b="0" i="0">
                <a:solidFill>
                  <a:srgbClr val="A7B2B0"/>
                </a:solidFill>
                <a:latin typeface="Segoe UI"/>
              </a:rPr>
              <a:t>Tú autorizas cada archivo, destino, máquina y dispositivo.</a:t>
            </a:r>
          </a:p>
        </p:txBody>
      </p:sp>
      <p:sp>
        <p:nvSpPr>
          <p:cNvPr id="20" name="Rounded Rectangle 19"/>
          <p:cNvSpPr/>
          <p:nvPr/>
        </p:nvSpPr>
        <p:spPr>
          <a:xfrm>
            <a:off x="566928" y="5266944"/>
            <a:ext cx="11057839" cy="932688"/>
          </a:xfrm>
          <a:prstGeom prst="roundRect">
            <a:avLst>
              <a:gd name="adj" fmla="val 9803"/>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Diamond 20"/>
          <p:cNvSpPr/>
          <p:nvPr/>
        </p:nvSpPr>
        <p:spPr>
          <a:xfrm>
            <a:off x="768096" y="5669279"/>
            <a:ext cx="128016" cy="128016"/>
          </a:xfrm>
          <a:prstGeom prst="diamond">
            <a:avLst/>
          </a:prstGeom>
          <a:solidFill>
            <a:srgbClr val="46D2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1024128" y="5321807"/>
            <a:ext cx="2651760" cy="822960"/>
          </a:xfrm>
          <a:prstGeom prst="rect">
            <a:avLst/>
          </a:prstGeom>
          <a:noFill/>
        </p:spPr>
        <p:txBody>
          <a:bodyPr wrap="square" lIns="45720" rIns="45720" tIns="27432" bIns="27432" anchor="ctr">
            <a:noAutofit/>
          </a:bodyPr>
          <a:lstStyle/>
          <a:p>
            <a:pPr algn="l">
              <a:lnSpc>
                <a:spcPct val="100000"/>
              </a:lnSpc>
            </a:pPr>
            <a:r>
              <a:rPr sz="1600" b="0" i="0">
                <a:solidFill>
                  <a:srgbClr val="F7F2E8"/>
                </a:solidFill>
                <a:latin typeface="Segoe UI Semibold"/>
              </a:rPr>
              <a:t>Tu responsabilidad</a:t>
            </a:r>
          </a:p>
        </p:txBody>
      </p:sp>
      <p:sp>
        <p:nvSpPr>
          <p:cNvPr id="23" name="TextBox 22"/>
          <p:cNvSpPr txBox="1"/>
          <p:nvPr/>
        </p:nvSpPr>
        <p:spPr>
          <a:xfrm>
            <a:off x="3767328" y="5321807"/>
            <a:ext cx="7720279" cy="822960"/>
          </a:xfrm>
          <a:prstGeom prst="rect">
            <a:avLst/>
          </a:prstGeom>
          <a:noFill/>
        </p:spPr>
        <p:txBody>
          <a:bodyPr wrap="square" lIns="45720" rIns="45720" tIns="27432" bIns="27432" anchor="ctr">
            <a:noAutofit/>
          </a:bodyPr>
          <a:lstStyle/>
          <a:p>
            <a:pPr algn="l">
              <a:lnSpc>
                <a:spcPct val="100000"/>
              </a:lnSpc>
            </a:pPr>
            <a:r>
              <a:rPr sz="1400" b="0" i="0">
                <a:solidFill>
                  <a:srgbClr val="A7B2B0"/>
                </a:solidFill>
                <a:latin typeface="Segoe UI"/>
              </a:rPr>
              <a:t>Ejecutar un agent es aceptar sus consecuencias.</a:t>
            </a:r>
          </a:p>
        </p:txBody>
      </p:sp>
      <p:cxnSp>
        <p:nvCxnSpPr>
          <p:cNvPr id="24" name="Connector 23"/>
          <p:cNvCxnSpPr/>
          <p:nvPr/>
        </p:nvCxnSpPr>
        <p:spPr>
          <a:xfrm>
            <a:off x="566928" y="6373368"/>
            <a:ext cx="11057839" cy="0"/>
          </a:xfrm>
          <a:prstGeom prst="line">
            <a:avLst/>
          </a:prstGeom>
          <a:ln w="7620">
            <a:solidFill>
              <a:srgbClr val="2A3A40"/>
            </a:solidFill>
          </a:ln>
        </p:spPr>
        <p:style>
          <a:lnRef idx="2">
            <a:schemeClr val="accent1"/>
          </a:lnRef>
          <a:fillRef idx="0">
            <a:schemeClr val="accent1"/>
          </a:fillRef>
          <a:effectRef idx="1">
            <a:schemeClr val="accent1"/>
          </a:effectRef>
          <a:fontRef idx="minor">
            <a:schemeClr val="tx1"/>
          </a:fontRef>
        </p:style>
      </p:cxnSp>
      <p:sp>
        <p:nvSpPr>
          <p:cNvPr id="25" name="TextBox 24"/>
          <p:cNvSpPr txBox="1"/>
          <p:nvPr/>
        </p:nvSpPr>
        <p:spPr>
          <a:xfrm>
            <a:off x="566928" y="6419088"/>
            <a:ext cx="6858000" cy="274320"/>
          </a:xfrm>
          <a:prstGeom prst="rect">
            <a:avLst/>
          </a:prstGeom>
          <a:noFill/>
        </p:spPr>
        <p:txBody>
          <a:bodyPr wrap="square" lIns="45720" rIns="45720" tIns="27432" bIns="27432" anchor="t">
            <a:noAutofit/>
          </a:bodyPr>
          <a:lstStyle/>
          <a:p>
            <a:pPr algn="l">
              <a:lnSpc>
                <a:spcPct val="100000"/>
              </a:lnSpc>
            </a:pPr>
            <a:r>
              <a:rPr sz="850" b="0" i="0" spc="120">
                <a:solidFill>
                  <a:srgbClr val="A7B2B0"/>
                </a:solidFill>
                <a:latin typeface="Segoe UI Semibold"/>
              </a:rPr>
              <a:t>TLAMATINI  ·  VI · LAS PROMESAS QUE CUMPLE</a:t>
            </a:r>
          </a:p>
        </p:txBody>
      </p:sp>
      <p:sp>
        <p:nvSpPr>
          <p:cNvPr id="26" name="TextBox 25"/>
          <p:cNvSpPr txBox="1"/>
          <p:nvPr/>
        </p:nvSpPr>
        <p:spPr>
          <a:xfrm>
            <a:off x="8698687" y="6419088"/>
            <a:ext cx="2926080" cy="274320"/>
          </a:xfrm>
          <a:prstGeom prst="rect">
            <a:avLst/>
          </a:prstGeom>
          <a:noFill/>
        </p:spPr>
        <p:txBody>
          <a:bodyPr wrap="square" lIns="45720" rIns="45720" tIns="27432" bIns="27432" anchor="t">
            <a:noAutofit/>
          </a:bodyPr>
          <a:lstStyle/>
          <a:p>
            <a:pPr algn="r">
              <a:lnSpc>
                <a:spcPct val="100000"/>
              </a:lnSpc>
            </a:pPr>
            <a:r>
              <a:rPr sz="850" b="0" i="0" spc="100">
                <a:solidFill>
                  <a:srgbClr val="A7B2B0"/>
                </a:solidFill>
                <a:latin typeface="Segoe UI Semibold"/>
              </a:rPr>
              <a:t>v1.91.1   ·   104</a:t>
            </a:r>
          </a:p>
        </p:txBody>
      </p:sp>
    </p:spTree>
  </p:cSld>
  <p:clrMapOvr>
    <a:masterClrMapping/>
  </p:clrMapOvr>
</p:sld>
</file>

<file path=ppt/slides/slide10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content.png"/>
          <p:cNvPicPr>
            <a:picLocks noChangeAspect="1"/>
          </p:cNvPicPr>
          <p:nvPr/>
        </p:nvPicPr>
        <p:blipFill>
          <a:blip r:embed="rId2"/>
          <a:stretch>
            <a:fillRect/>
          </a:stretch>
        </p:blipFill>
        <p:spPr>
          <a:xfrm>
            <a:off x="0" y="0"/>
            <a:ext cx="12191695" cy="6858000"/>
          </a:xfrm>
          <a:prstGeom prst="rect">
            <a:avLst/>
          </a:prstGeom>
        </p:spPr>
      </p:pic>
      <p:sp>
        <p:nvSpPr>
          <p:cNvPr id="3" name="Diamond 2"/>
          <p:cNvSpPr/>
          <p:nvPr/>
        </p:nvSpPr>
        <p:spPr>
          <a:xfrm>
            <a:off x="566928" y="457200"/>
            <a:ext cx="100584" cy="100584"/>
          </a:xfrm>
          <a:prstGeom prst="diamond">
            <a:avLst/>
          </a:prstGeom>
          <a:solidFill>
            <a:srgbClr val="D957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49808" y="365760"/>
            <a:ext cx="8229600" cy="292608"/>
          </a:xfrm>
          <a:prstGeom prst="rect">
            <a:avLst/>
          </a:prstGeom>
          <a:noFill/>
        </p:spPr>
        <p:txBody>
          <a:bodyPr wrap="square" lIns="45720" rIns="45720" tIns="27432" bIns="27432" anchor="t">
            <a:noAutofit/>
          </a:bodyPr>
          <a:lstStyle/>
          <a:p>
            <a:pPr algn="l">
              <a:lnSpc>
                <a:spcPct val="100000"/>
              </a:lnSpc>
            </a:pPr>
            <a:r>
              <a:rPr sz="1100" b="0" i="0" spc="240">
                <a:solidFill>
                  <a:srgbClr val="C98457"/>
                </a:solidFill>
                <a:latin typeface="Segoe UI Semibold"/>
              </a:rPr>
              <a:t>SEGURIDAD DE LOS DATOS</a:t>
            </a:r>
          </a:p>
        </p:txBody>
      </p:sp>
      <p:sp>
        <p:nvSpPr>
          <p:cNvPr id="5" name="TextBox 4"/>
          <p:cNvSpPr txBox="1"/>
          <p:nvPr/>
        </p:nvSpPr>
        <p:spPr>
          <a:xfrm>
            <a:off x="539496" y="676656"/>
            <a:ext cx="11057839" cy="658368"/>
          </a:xfrm>
          <a:prstGeom prst="rect">
            <a:avLst/>
          </a:prstGeom>
          <a:noFill/>
        </p:spPr>
        <p:txBody>
          <a:bodyPr wrap="square" lIns="45720" rIns="45720" tIns="27432" bIns="27432" anchor="t">
            <a:noAutofit/>
          </a:bodyPr>
          <a:lstStyle/>
          <a:p>
            <a:pPr algn="l">
              <a:lnSpc>
                <a:spcPct val="100000"/>
              </a:lnSpc>
            </a:pPr>
            <a:r>
              <a:rPr sz="3100" b="0" i="0">
                <a:solidFill>
                  <a:srgbClr val="F7F2E8"/>
                </a:solidFill>
                <a:latin typeface="Palatino Linotype"/>
              </a:rPr>
              <a:t>Tus datos, manejados con cuidado</a:t>
            </a:r>
          </a:p>
        </p:txBody>
      </p:sp>
      <p:sp>
        <p:nvSpPr>
          <p:cNvPr id="6" name="Rectangle 5"/>
          <p:cNvSpPr/>
          <p:nvPr/>
        </p:nvSpPr>
        <p:spPr>
          <a:xfrm>
            <a:off x="566928" y="1344168"/>
            <a:ext cx="822960" cy="36576"/>
          </a:xfrm>
          <a:prstGeom prst="rect">
            <a:avLst/>
          </a:prstGeom>
          <a:solidFill>
            <a:srgbClr val="D957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566928" y="1444752"/>
            <a:ext cx="10692079" cy="585216"/>
          </a:xfrm>
          <a:prstGeom prst="rect">
            <a:avLst/>
          </a:prstGeom>
          <a:noFill/>
        </p:spPr>
        <p:txBody>
          <a:bodyPr wrap="square" lIns="45720" rIns="45720" tIns="27432" bIns="27432" anchor="t">
            <a:noAutofit/>
          </a:bodyPr>
          <a:lstStyle/>
          <a:p>
            <a:pPr algn="l">
              <a:lnSpc>
                <a:spcPct val="100000"/>
              </a:lnSpc>
            </a:pPr>
            <a:r>
              <a:rPr sz="1450" b="0" i="0">
                <a:solidFill>
                  <a:srgbClr val="A7B2B0"/>
                </a:solidFill>
                <a:latin typeface="Segoe UI Semilight"/>
              </a:rPr>
              <a:t>Las bases de datos, los secretos y los archivos temporales tienen cada uno un camino bien definido.</a:t>
            </a:r>
          </a:p>
        </p:txBody>
      </p:sp>
      <p:sp>
        <p:nvSpPr>
          <p:cNvPr id="8" name="Rounded Rectangle 7"/>
          <p:cNvSpPr/>
          <p:nvPr/>
        </p:nvSpPr>
        <p:spPr>
          <a:xfrm>
            <a:off x="566928" y="2084831"/>
            <a:ext cx="3551834" cy="1956816"/>
          </a:xfrm>
          <a:prstGeom prst="roundRect">
            <a:avLst>
              <a:gd name="adj" fmla="val 5607"/>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ectangle 8"/>
          <p:cNvSpPr/>
          <p:nvPr/>
        </p:nvSpPr>
        <p:spPr>
          <a:xfrm>
            <a:off x="731520" y="2212848"/>
            <a:ext cx="502920" cy="45720"/>
          </a:xfrm>
          <a:prstGeom prst="rect">
            <a:avLst/>
          </a:prstGeom>
          <a:solidFill>
            <a:srgbClr val="3BBE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694944" y="2304287"/>
            <a:ext cx="3295802" cy="353568"/>
          </a:xfrm>
          <a:prstGeom prst="rect">
            <a:avLst/>
          </a:prstGeom>
          <a:noFill/>
        </p:spPr>
        <p:txBody>
          <a:bodyPr wrap="square" lIns="45720" rIns="45720" tIns="27432" bIns="27432" anchor="t">
            <a:noAutofit/>
          </a:bodyPr>
          <a:lstStyle/>
          <a:p>
            <a:pPr algn="l">
              <a:lnSpc>
                <a:spcPct val="100000"/>
              </a:lnSpc>
            </a:pPr>
            <a:r>
              <a:rPr sz="1600" b="0" i="0">
                <a:solidFill>
                  <a:srgbClr val="F7F2E8"/>
                </a:solidFill>
                <a:latin typeface="Segoe UI Semibold"/>
              </a:rPr>
              <a:t>Base de datos segura con WAL</a:t>
            </a:r>
          </a:p>
        </p:txBody>
      </p:sp>
      <p:sp>
        <p:nvSpPr>
          <p:cNvPr id="11" name="TextBox 10"/>
          <p:cNvSpPr txBox="1"/>
          <p:nvPr/>
        </p:nvSpPr>
        <p:spPr>
          <a:xfrm>
            <a:off x="694944" y="2657855"/>
            <a:ext cx="3295802" cy="1292352"/>
          </a:xfrm>
          <a:prstGeom prst="rect">
            <a:avLst/>
          </a:prstGeom>
          <a:noFill/>
        </p:spPr>
        <p:txBody>
          <a:bodyPr wrap="square" lIns="45720" rIns="45720" tIns="27432" bIns="27432" anchor="t">
            <a:noAutofit/>
          </a:bodyPr>
          <a:lstStyle/>
          <a:p>
            <a:pPr algn="l">
              <a:lnSpc>
                <a:spcPct val="100000"/>
              </a:lnSpc>
            </a:pPr>
            <a:r>
              <a:rPr sz="1300" b="0" i="0">
                <a:solidFill>
                  <a:srgbClr val="A7B2B0"/>
                </a:solidFill>
                <a:latin typeface="Segoe UI"/>
              </a:rPr>
              <a:t>Los backups leen a través del write-ahead log con el API de backup en línea de SQLite y se verifican con quick_check.</a:t>
            </a:r>
          </a:p>
        </p:txBody>
      </p:sp>
      <p:sp>
        <p:nvSpPr>
          <p:cNvPr id="12" name="Rounded Rectangle 11"/>
          <p:cNvSpPr/>
          <p:nvPr/>
        </p:nvSpPr>
        <p:spPr>
          <a:xfrm>
            <a:off x="4319930" y="2084831"/>
            <a:ext cx="3551834" cy="1956816"/>
          </a:xfrm>
          <a:prstGeom prst="roundRect">
            <a:avLst>
              <a:gd name="adj" fmla="val 5607"/>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4484522" y="2212848"/>
            <a:ext cx="502920" cy="45720"/>
          </a:xfrm>
          <a:prstGeom prst="rect">
            <a:avLst/>
          </a:prstGeom>
          <a:solidFill>
            <a:srgbClr val="C984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4447946" y="2304287"/>
            <a:ext cx="3295802" cy="353568"/>
          </a:xfrm>
          <a:prstGeom prst="rect">
            <a:avLst/>
          </a:prstGeom>
          <a:noFill/>
        </p:spPr>
        <p:txBody>
          <a:bodyPr wrap="square" lIns="45720" rIns="45720" tIns="27432" bIns="27432" anchor="t">
            <a:noAutofit/>
          </a:bodyPr>
          <a:lstStyle/>
          <a:p>
            <a:pPr algn="l">
              <a:lnSpc>
                <a:spcPct val="100000"/>
              </a:lnSpc>
            </a:pPr>
            <a:r>
              <a:rPr sz="1600" b="0" i="0">
                <a:solidFill>
                  <a:srgbClr val="F7F2E8"/>
                </a:solidFill>
                <a:latin typeface="Segoe UI Semibold"/>
              </a:rPr>
              <a:t>Reemplazo por etapas</a:t>
            </a:r>
          </a:p>
        </p:txBody>
      </p:sp>
      <p:sp>
        <p:nvSpPr>
          <p:cNvPr id="15" name="TextBox 14"/>
          <p:cNvSpPr txBox="1"/>
          <p:nvPr/>
        </p:nvSpPr>
        <p:spPr>
          <a:xfrm>
            <a:off x="4447946" y="2657855"/>
            <a:ext cx="3295802" cy="1292352"/>
          </a:xfrm>
          <a:prstGeom prst="rect">
            <a:avLst/>
          </a:prstGeom>
          <a:noFill/>
        </p:spPr>
        <p:txBody>
          <a:bodyPr wrap="square" lIns="45720" rIns="45720" tIns="27432" bIns="27432" anchor="t">
            <a:noAutofit/>
          </a:bodyPr>
          <a:lstStyle/>
          <a:p>
            <a:pPr algn="l">
              <a:lnSpc>
                <a:spcPct val="100000"/>
              </a:lnSpc>
            </a:pPr>
            <a:r>
              <a:rPr sz="1300" b="0" i="0">
                <a:solidFill>
                  <a:srgbClr val="A7B2B0"/>
                </a:solidFill>
                <a:latin typeface="Segoe UI"/>
              </a:rPr>
              <a:t>Una base de datos nueva espera en DB/ToLoad; la vieja se archiva con sus archivos acompañantes antes de que arranque Django.</a:t>
            </a:r>
          </a:p>
        </p:txBody>
      </p:sp>
      <p:sp>
        <p:nvSpPr>
          <p:cNvPr id="16" name="Rounded Rectangle 15"/>
          <p:cNvSpPr/>
          <p:nvPr/>
        </p:nvSpPr>
        <p:spPr>
          <a:xfrm>
            <a:off x="8072932" y="2084831"/>
            <a:ext cx="3551834" cy="1956816"/>
          </a:xfrm>
          <a:prstGeom prst="roundRect">
            <a:avLst>
              <a:gd name="adj" fmla="val 5607"/>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8237524" y="2212848"/>
            <a:ext cx="502920" cy="45720"/>
          </a:xfrm>
          <a:prstGeom prst="rect">
            <a:avLst/>
          </a:prstGeom>
          <a:solidFill>
            <a:srgbClr val="E2B4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200948" y="2304287"/>
            <a:ext cx="3295802" cy="353568"/>
          </a:xfrm>
          <a:prstGeom prst="rect">
            <a:avLst/>
          </a:prstGeom>
          <a:noFill/>
        </p:spPr>
        <p:txBody>
          <a:bodyPr wrap="square" lIns="45720" rIns="45720" tIns="27432" bIns="27432" anchor="t">
            <a:noAutofit/>
          </a:bodyPr>
          <a:lstStyle/>
          <a:p>
            <a:pPr algn="l">
              <a:lnSpc>
                <a:spcPct val="100000"/>
              </a:lnSpc>
            </a:pPr>
            <a:r>
              <a:rPr sz="1600" b="0" i="0">
                <a:solidFill>
                  <a:srgbClr val="F7F2E8"/>
                </a:solidFill>
                <a:latin typeface="Segoe UI Semibold"/>
              </a:rPr>
              <a:t>Secretos</a:t>
            </a:r>
          </a:p>
        </p:txBody>
      </p:sp>
      <p:sp>
        <p:nvSpPr>
          <p:cNvPr id="19" name="TextBox 18"/>
          <p:cNvSpPr txBox="1"/>
          <p:nvPr/>
        </p:nvSpPr>
        <p:spPr>
          <a:xfrm>
            <a:off x="8200948" y="2657855"/>
            <a:ext cx="3295802" cy="1292352"/>
          </a:xfrm>
          <a:prstGeom prst="rect">
            <a:avLst/>
          </a:prstGeom>
          <a:noFill/>
        </p:spPr>
        <p:txBody>
          <a:bodyPr wrap="square" lIns="45720" rIns="45720" tIns="27432" bIns="27432" anchor="t">
            <a:noAutofit/>
          </a:bodyPr>
          <a:lstStyle/>
          <a:p>
            <a:pPr algn="l">
              <a:lnSpc>
                <a:spcPct val="100000"/>
              </a:lnSpc>
            </a:pPr>
            <a:r>
              <a:rPr sz="1300" b="0" i="0">
                <a:solidFill>
                  <a:srgbClr val="A7B2B0"/>
                </a:solidFill>
                <a:latin typeface="Segoe UI"/>
              </a:rPr>
              <a:t>Los campos secretos conocidos se redactan de los archivos .flw exportados y de los builds públicos.</a:t>
            </a:r>
          </a:p>
        </p:txBody>
      </p:sp>
      <p:sp>
        <p:nvSpPr>
          <p:cNvPr id="20" name="Rounded Rectangle 19"/>
          <p:cNvSpPr/>
          <p:nvPr/>
        </p:nvSpPr>
        <p:spPr>
          <a:xfrm>
            <a:off x="566928" y="4242816"/>
            <a:ext cx="3551834" cy="1956816"/>
          </a:xfrm>
          <a:prstGeom prst="roundRect">
            <a:avLst>
              <a:gd name="adj" fmla="val 5607"/>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ectangle 20"/>
          <p:cNvSpPr/>
          <p:nvPr/>
        </p:nvSpPr>
        <p:spPr>
          <a:xfrm>
            <a:off x="731520" y="4370832"/>
            <a:ext cx="502920" cy="45720"/>
          </a:xfrm>
          <a:prstGeom prst="rect">
            <a:avLst/>
          </a:prstGeom>
          <a:solidFill>
            <a:srgbClr val="46D2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694944" y="4462272"/>
            <a:ext cx="3295802" cy="353568"/>
          </a:xfrm>
          <a:prstGeom prst="rect">
            <a:avLst/>
          </a:prstGeom>
          <a:noFill/>
        </p:spPr>
        <p:txBody>
          <a:bodyPr wrap="square" lIns="45720" rIns="45720" tIns="27432" bIns="27432" anchor="t">
            <a:noAutofit/>
          </a:bodyPr>
          <a:lstStyle/>
          <a:p>
            <a:pPr algn="l">
              <a:lnSpc>
                <a:spcPct val="100000"/>
              </a:lnSpc>
            </a:pPr>
            <a:r>
              <a:rPr sz="1600" b="0" i="0">
                <a:solidFill>
                  <a:srgbClr val="F7F2E8"/>
                </a:solidFill>
                <a:latin typeface="Segoe UI Semibold"/>
              </a:rPr>
              <a:t>Contactos privados</a:t>
            </a:r>
          </a:p>
        </p:txBody>
      </p:sp>
      <p:sp>
        <p:nvSpPr>
          <p:cNvPr id="23" name="TextBox 22"/>
          <p:cNvSpPr txBox="1"/>
          <p:nvPr/>
        </p:nvSpPr>
        <p:spPr>
          <a:xfrm>
            <a:off x="694944" y="4815840"/>
            <a:ext cx="3295802" cy="1292352"/>
          </a:xfrm>
          <a:prstGeom prst="rect">
            <a:avLst/>
          </a:prstGeom>
          <a:noFill/>
        </p:spPr>
        <p:txBody>
          <a:bodyPr wrap="square" lIns="45720" rIns="45720" tIns="27432" bIns="27432" anchor="t">
            <a:noAutofit/>
          </a:bodyPr>
          <a:lstStyle/>
          <a:p>
            <a:pPr algn="l">
              <a:lnSpc>
                <a:spcPct val="100000"/>
              </a:lnSpc>
            </a:pPr>
            <a:r>
              <a:rPr sz="1300" b="0" i="0">
                <a:solidFill>
                  <a:srgbClr val="A7B2B0"/>
                </a:solidFill>
                <a:latin typeface="Segoe UI"/>
              </a:rPr>
              <a:t>Los builds públicos y los snapshots del source no llevan datos de contactos.</a:t>
            </a:r>
          </a:p>
        </p:txBody>
      </p:sp>
      <p:sp>
        <p:nvSpPr>
          <p:cNvPr id="24" name="Rounded Rectangle 23"/>
          <p:cNvSpPr/>
          <p:nvPr/>
        </p:nvSpPr>
        <p:spPr>
          <a:xfrm>
            <a:off x="4319930" y="4242816"/>
            <a:ext cx="3551834" cy="1956816"/>
          </a:xfrm>
          <a:prstGeom prst="roundRect">
            <a:avLst>
              <a:gd name="adj" fmla="val 5607"/>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ectangle 24"/>
          <p:cNvSpPr/>
          <p:nvPr/>
        </p:nvSpPr>
        <p:spPr>
          <a:xfrm>
            <a:off x="4484522" y="4370832"/>
            <a:ext cx="502920" cy="45720"/>
          </a:xfrm>
          <a:prstGeom prst="rect">
            <a:avLst/>
          </a:prstGeom>
          <a:solidFill>
            <a:srgbClr val="D25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4447946" y="4462272"/>
            <a:ext cx="3295802" cy="353568"/>
          </a:xfrm>
          <a:prstGeom prst="rect">
            <a:avLst/>
          </a:prstGeom>
          <a:noFill/>
        </p:spPr>
        <p:txBody>
          <a:bodyPr wrap="square" lIns="45720" rIns="45720" tIns="27432" bIns="27432" anchor="t">
            <a:noAutofit/>
          </a:bodyPr>
          <a:lstStyle/>
          <a:p>
            <a:pPr algn="l">
              <a:lnSpc>
                <a:spcPct val="100000"/>
              </a:lnSpc>
            </a:pPr>
            <a:r>
              <a:rPr sz="1600" b="0" i="0">
                <a:solidFill>
                  <a:srgbClr val="F7F2E8"/>
                </a:solidFill>
                <a:latin typeface="Segoe UI Semibold"/>
              </a:rPr>
              <a:t>Archivos temporales</a:t>
            </a:r>
          </a:p>
        </p:txBody>
      </p:sp>
      <p:sp>
        <p:nvSpPr>
          <p:cNvPr id="27" name="TextBox 26"/>
          <p:cNvSpPr txBox="1"/>
          <p:nvPr/>
        </p:nvSpPr>
        <p:spPr>
          <a:xfrm>
            <a:off x="4447946" y="4815840"/>
            <a:ext cx="3295802" cy="1292352"/>
          </a:xfrm>
          <a:prstGeom prst="rect">
            <a:avLst/>
          </a:prstGeom>
          <a:noFill/>
        </p:spPr>
        <p:txBody>
          <a:bodyPr wrap="square" lIns="45720" rIns="45720" tIns="27432" bIns="27432" anchor="t">
            <a:noAutofit/>
          </a:bodyPr>
          <a:lstStyle/>
          <a:p>
            <a:pPr algn="l">
              <a:lnSpc>
                <a:spcPct val="100000"/>
              </a:lnSpc>
            </a:pPr>
            <a:r>
              <a:rPr sz="1300" b="0" i="0">
                <a:solidFill>
                  <a:srgbClr val="A7B2B0"/>
                </a:solidFill>
                <a:latin typeface="Segoe UI"/>
              </a:rPr>
              <a:t>Los archivos temporales se quedan dentro de la propia carpeta Temp de la aplicación.</a:t>
            </a:r>
          </a:p>
        </p:txBody>
      </p:sp>
      <p:sp>
        <p:nvSpPr>
          <p:cNvPr id="28" name="Rounded Rectangle 27"/>
          <p:cNvSpPr/>
          <p:nvPr/>
        </p:nvSpPr>
        <p:spPr>
          <a:xfrm>
            <a:off x="8072932" y="4242816"/>
            <a:ext cx="3551834" cy="1956816"/>
          </a:xfrm>
          <a:prstGeom prst="roundRect">
            <a:avLst>
              <a:gd name="adj" fmla="val 5607"/>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Rectangle 28"/>
          <p:cNvSpPr/>
          <p:nvPr/>
        </p:nvSpPr>
        <p:spPr>
          <a:xfrm>
            <a:off x="8237524" y="4370832"/>
            <a:ext cx="502920" cy="45720"/>
          </a:xfrm>
          <a:prstGeom prst="rect">
            <a:avLst/>
          </a:prstGeom>
          <a:solidFill>
            <a:srgbClr val="D957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8200948" y="4462272"/>
            <a:ext cx="3295802" cy="353568"/>
          </a:xfrm>
          <a:prstGeom prst="rect">
            <a:avLst/>
          </a:prstGeom>
          <a:noFill/>
        </p:spPr>
        <p:txBody>
          <a:bodyPr wrap="square" lIns="45720" rIns="45720" tIns="27432" bIns="27432" anchor="t">
            <a:noAutofit/>
          </a:bodyPr>
          <a:lstStyle/>
          <a:p>
            <a:pPr algn="l">
              <a:lnSpc>
                <a:spcPct val="100000"/>
              </a:lnSpc>
            </a:pPr>
            <a:r>
              <a:rPr sz="1600" b="0" i="0">
                <a:solidFill>
                  <a:srgbClr val="F7F2E8"/>
                </a:solidFill>
                <a:latin typeface="Segoe UI Semibold"/>
              </a:rPr>
              <a:t>Contraseñas</a:t>
            </a:r>
          </a:p>
        </p:txBody>
      </p:sp>
      <p:sp>
        <p:nvSpPr>
          <p:cNvPr id="31" name="TextBox 30"/>
          <p:cNvSpPr txBox="1"/>
          <p:nvPr/>
        </p:nvSpPr>
        <p:spPr>
          <a:xfrm>
            <a:off x="8200948" y="4815840"/>
            <a:ext cx="3295802" cy="1292352"/>
          </a:xfrm>
          <a:prstGeom prst="rect">
            <a:avLst/>
          </a:prstGeom>
          <a:noFill/>
        </p:spPr>
        <p:txBody>
          <a:bodyPr wrap="square" lIns="45720" rIns="45720" tIns="27432" bIns="27432" anchor="t">
            <a:noAutofit/>
          </a:bodyPr>
          <a:lstStyle/>
          <a:p>
            <a:pPr algn="l">
              <a:lnSpc>
                <a:spcPct val="100000"/>
              </a:lnSpc>
            </a:pPr>
            <a:r>
              <a:rPr sz="1300" b="0" i="0">
                <a:solidFill>
                  <a:srgbClr val="A7B2B0"/>
                </a:solidFill>
                <a:latin typeface="Segoe UI"/>
              </a:rPr>
              <a:t>Las contraseñas de PDF viven sólo en memoria.</a:t>
            </a:r>
          </a:p>
        </p:txBody>
      </p:sp>
      <p:cxnSp>
        <p:nvCxnSpPr>
          <p:cNvPr id="32" name="Connector 31"/>
          <p:cNvCxnSpPr/>
          <p:nvPr/>
        </p:nvCxnSpPr>
        <p:spPr>
          <a:xfrm>
            <a:off x="566928" y="6373368"/>
            <a:ext cx="11057839" cy="0"/>
          </a:xfrm>
          <a:prstGeom prst="line">
            <a:avLst/>
          </a:prstGeom>
          <a:ln w="7620">
            <a:solidFill>
              <a:srgbClr val="2A3A40"/>
            </a:solidFill>
          </a:ln>
        </p:spPr>
        <p:style>
          <a:lnRef idx="2">
            <a:schemeClr val="accent1"/>
          </a:lnRef>
          <a:fillRef idx="0">
            <a:schemeClr val="accent1"/>
          </a:fillRef>
          <a:effectRef idx="1">
            <a:schemeClr val="accent1"/>
          </a:effectRef>
          <a:fontRef idx="minor">
            <a:schemeClr val="tx1"/>
          </a:fontRef>
        </p:style>
      </p:cxnSp>
      <p:sp>
        <p:nvSpPr>
          <p:cNvPr id="33" name="TextBox 32"/>
          <p:cNvSpPr txBox="1"/>
          <p:nvPr/>
        </p:nvSpPr>
        <p:spPr>
          <a:xfrm>
            <a:off x="566928" y="6419088"/>
            <a:ext cx="6858000" cy="274320"/>
          </a:xfrm>
          <a:prstGeom prst="rect">
            <a:avLst/>
          </a:prstGeom>
          <a:noFill/>
        </p:spPr>
        <p:txBody>
          <a:bodyPr wrap="square" lIns="45720" rIns="45720" tIns="27432" bIns="27432" anchor="t">
            <a:noAutofit/>
          </a:bodyPr>
          <a:lstStyle/>
          <a:p>
            <a:pPr algn="l">
              <a:lnSpc>
                <a:spcPct val="100000"/>
              </a:lnSpc>
            </a:pPr>
            <a:r>
              <a:rPr sz="850" b="0" i="0" spc="120">
                <a:solidFill>
                  <a:srgbClr val="A7B2B0"/>
                </a:solidFill>
                <a:latin typeface="Segoe UI Semibold"/>
              </a:rPr>
              <a:t>TLAMATINI  ·  VI · LAS PROMESAS QUE CUMPLE</a:t>
            </a:r>
          </a:p>
        </p:txBody>
      </p:sp>
      <p:sp>
        <p:nvSpPr>
          <p:cNvPr id="34" name="TextBox 33"/>
          <p:cNvSpPr txBox="1"/>
          <p:nvPr/>
        </p:nvSpPr>
        <p:spPr>
          <a:xfrm>
            <a:off x="8698687" y="6419088"/>
            <a:ext cx="2926080" cy="274320"/>
          </a:xfrm>
          <a:prstGeom prst="rect">
            <a:avLst/>
          </a:prstGeom>
          <a:noFill/>
        </p:spPr>
        <p:txBody>
          <a:bodyPr wrap="square" lIns="45720" rIns="45720" tIns="27432" bIns="27432" anchor="t">
            <a:noAutofit/>
          </a:bodyPr>
          <a:lstStyle/>
          <a:p>
            <a:pPr algn="r">
              <a:lnSpc>
                <a:spcPct val="100000"/>
              </a:lnSpc>
            </a:pPr>
            <a:r>
              <a:rPr sz="850" b="0" i="0" spc="100">
                <a:solidFill>
                  <a:srgbClr val="A7B2B0"/>
                </a:solidFill>
                <a:latin typeface="Segoe UI Semibold"/>
              </a:rPr>
              <a:t>v1.91.1   ·   105</a:t>
            </a:r>
          </a:p>
        </p:txBody>
      </p:sp>
    </p:spTree>
  </p:cSld>
  <p:clrMapOvr>
    <a:masterClrMapping/>
  </p:clrMapOvr>
</p:sld>
</file>

<file path=ppt/slides/slide10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content.png"/>
          <p:cNvPicPr>
            <a:picLocks noChangeAspect="1"/>
          </p:cNvPicPr>
          <p:nvPr/>
        </p:nvPicPr>
        <p:blipFill>
          <a:blip r:embed="rId2"/>
          <a:stretch>
            <a:fillRect/>
          </a:stretch>
        </p:blipFill>
        <p:spPr>
          <a:xfrm>
            <a:off x="0" y="0"/>
            <a:ext cx="12191695" cy="6858000"/>
          </a:xfrm>
          <a:prstGeom prst="rect">
            <a:avLst/>
          </a:prstGeom>
        </p:spPr>
      </p:pic>
      <p:sp>
        <p:nvSpPr>
          <p:cNvPr id="3" name="Diamond 2"/>
          <p:cNvSpPr/>
          <p:nvPr/>
        </p:nvSpPr>
        <p:spPr>
          <a:xfrm>
            <a:off x="566928" y="457200"/>
            <a:ext cx="100584" cy="100584"/>
          </a:xfrm>
          <a:prstGeom prst="diamond">
            <a:avLst/>
          </a:prstGeom>
          <a:solidFill>
            <a:srgbClr val="D957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49808" y="365760"/>
            <a:ext cx="8229600" cy="292608"/>
          </a:xfrm>
          <a:prstGeom prst="rect">
            <a:avLst/>
          </a:prstGeom>
          <a:noFill/>
        </p:spPr>
        <p:txBody>
          <a:bodyPr wrap="square" lIns="45720" rIns="45720" tIns="27432" bIns="27432" anchor="t">
            <a:noAutofit/>
          </a:bodyPr>
          <a:lstStyle/>
          <a:p>
            <a:pPr algn="l">
              <a:lnSpc>
                <a:spcPct val="100000"/>
              </a:lnSpc>
            </a:pPr>
            <a:r>
              <a:rPr sz="1100" b="0" i="0" spc="240">
                <a:solidFill>
                  <a:srgbClr val="C98457"/>
                </a:solidFill>
                <a:latin typeface="Segoe UI Semibold"/>
              </a:rPr>
              <a:t>PROBADO A LA VISTA</a:t>
            </a:r>
          </a:p>
        </p:txBody>
      </p:sp>
      <p:sp>
        <p:nvSpPr>
          <p:cNvPr id="5" name="TextBox 4"/>
          <p:cNvSpPr txBox="1"/>
          <p:nvPr/>
        </p:nvSpPr>
        <p:spPr>
          <a:xfrm>
            <a:off x="539496" y="676656"/>
            <a:ext cx="11057839" cy="658368"/>
          </a:xfrm>
          <a:prstGeom prst="rect">
            <a:avLst/>
          </a:prstGeom>
          <a:noFill/>
        </p:spPr>
        <p:txBody>
          <a:bodyPr wrap="square" lIns="45720" rIns="45720" tIns="27432" bIns="27432" anchor="t">
            <a:noAutofit/>
          </a:bodyPr>
          <a:lstStyle/>
          <a:p>
            <a:pPr algn="l">
              <a:lnSpc>
                <a:spcPct val="100000"/>
              </a:lnSpc>
            </a:pPr>
            <a:r>
              <a:rPr sz="3100" b="0" i="0">
                <a:solidFill>
                  <a:srgbClr val="F7F2E8"/>
                </a:solidFill>
                <a:latin typeface="Palatino Linotype"/>
              </a:rPr>
              <a:t>Nada corre donde nadie lo puede ver</a:t>
            </a:r>
          </a:p>
        </p:txBody>
      </p:sp>
      <p:sp>
        <p:nvSpPr>
          <p:cNvPr id="6" name="Rectangle 5"/>
          <p:cNvSpPr/>
          <p:nvPr/>
        </p:nvSpPr>
        <p:spPr>
          <a:xfrm>
            <a:off x="566928" y="1344168"/>
            <a:ext cx="822960" cy="36576"/>
          </a:xfrm>
          <a:prstGeom prst="rect">
            <a:avLst/>
          </a:prstGeom>
          <a:solidFill>
            <a:srgbClr val="D957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566928" y="1444752"/>
            <a:ext cx="10692079" cy="585216"/>
          </a:xfrm>
          <a:prstGeom prst="rect">
            <a:avLst/>
          </a:prstGeom>
          <a:noFill/>
        </p:spPr>
        <p:txBody>
          <a:bodyPr wrap="square" lIns="45720" rIns="45720" tIns="27432" bIns="27432" anchor="t">
            <a:noAutofit/>
          </a:bodyPr>
          <a:lstStyle/>
          <a:p>
            <a:pPr algn="l">
              <a:lnSpc>
                <a:spcPct val="100000"/>
              </a:lnSpc>
            </a:pPr>
            <a:r>
              <a:rPr sz="1450" b="0" i="0">
                <a:solidFill>
                  <a:srgbClr val="A7B2B0"/>
                </a:solidFill>
                <a:latin typeface="Segoe UI Semilight"/>
              </a:rPr>
              <a:t>La regla de desarrollo de Tlamatini es que cada prueba, build y diagnóstico corra de forma visible, en un escritorio real, donde su creadora puede ver cada paso.</a:t>
            </a:r>
          </a:p>
        </p:txBody>
      </p:sp>
      <p:sp>
        <p:nvSpPr>
          <p:cNvPr id="8" name="Rounded Rectangle 7"/>
          <p:cNvSpPr/>
          <p:nvPr/>
        </p:nvSpPr>
        <p:spPr>
          <a:xfrm>
            <a:off x="566928" y="2084831"/>
            <a:ext cx="11057839" cy="932688"/>
          </a:xfrm>
          <a:prstGeom prst="roundRect">
            <a:avLst>
              <a:gd name="adj" fmla="val 9803"/>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Diamond 8"/>
          <p:cNvSpPr/>
          <p:nvPr/>
        </p:nvSpPr>
        <p:spPr>
          <a:xfrm>
            <a:off x="768096" y="2487168"/>
            <a:ext cx="128016" cy="128016"/>
          </a:xfrm>
          <a:prstGeom prst="diamond">
            <a:avLst/>
          </a:prstGeom>
          <a:solidFill>
            <a:srgbClr val="3BBE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1024128" y="2139696"/>
            <a:ext cx="2651760" cy="822960"/>
          </a:xfrm>
          <a:prstGeom prst="rect">
            <a:avLst/>
          </a:prstGeom>
          <a:noFill/>
        </p:spPr>
        <p:txBody>
          <a:bodyPr wrap="square" lIns="45720" rIns="45720" tIns="27432" bIns="27432" anchor="ctr">
            <a:noAutofit/>
          </a:bodyPr>
          <a:lstStyle/>
          <a:p>
            <a:pPr algn="l">
              <a:lnSpc>
                <a:spcPct val="100000"/>
              </a:lnSpc>
            </a:pPr>
            <a:r>
              <a:rPr sz="1600" b="0" i="0">
                <a:solidFill>
                  <a:srgbClr val="F7F2E8"/>
                </a:solidFill>
                <a:latin typeface="Segoe UI Semibold"/>
              </a:rPr>
              <a:t>Visible</a:t>
            </a:r>
          </a:p>
        </p:txBody>
      </p:sp>
      <p:sp>
        <p:nvSpPr>
          <p:cNvPr id="11" name="TextBox 10"/>
          <p:cNvSpPr txBox="1"/>
          <p:nvPr/>
        </p:nvSpPr>
        <p:spPr>
          <a:xfrm>
            <a:off x="3767328" y="2139696"/>
            <a:ext cx="7720279" cy="822960"/>
          </a:xfrm>
          <a:prstGeom prst="rect">
            <a:avLst/>
          </a:prstGeom>
          <a:noFill/>
        </p:spPr>
        <p:txBody>
          <a:bodyPr wrap="square" lIns="45720" rIns="45720" tIns="27432" bIns="27432" anchor="ctr">
            <a:noAutofit/>
          </a:bodyPr>
          <a:lstStyle/>
          <a:p>
            <a:pPr algn="l">
              <a:lnSpc>
                <a:spcPct val="100000"/>
              </a:lnSpc>
            </a:pPr>
            <a:r>
              <a:rPr sz="1400" b="0" i="0">
                <a:solidFill>
                  <a:srgbClr val="A7B2B0"/>
                </a:solidFill>
                <a:latin typeface="Segoe UI"/>
              </a:rPr>
              <a:t>Sólo browsers con ventana y consolas en primer plano.</a:t>
            </a:r>
          </a:p>
        </p:txBody>
      </p:sp>
      <p:sp>
        <p:nvSpPr>
          <p:cNvPr id="12" name="Rounded Rectangle 11"/>
          <p:cNvSpPr/>
          <p:nvPr/>
        </p:nvSpPr>
        <p:spPr>
          <a:xfrm>
            <a:off x="566928" y="3145536"/>
            <a:ext cx="11057839" cy="932688"/>
          </a:xfrm>
          <a:prstGeom prst="roundRect">
            <a:avLst>
              <a:gd name="adj" fmla="val 9803"/>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Diamond 12"/>
          <p:cNvSpPr/>
          <p:nvPr/>
        </p:nvSpPr>
        <p:spPr>
          <a:xfrm>
            <a:off x="768096" y="3547872"/>
            <a:ext cx="128016" cy="128016"/>
          </a:xfrm>
          <a:prstGeom prst="diamond">
            <a:avLst/>
          </a:prstGeom>
          <a:solidFill>
            <a:srgbClr val="C984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1024128" y="3200400"/>
            <a:ext cx="2651760" cy="822960"/>
          </a:xfrm>
          <a:prstGeom prst="rect">
            <a:avLst/>
          </a:prstGeom>
          <a:noFill/>
        </p:spPr>
        <p:txBody>
          <a:bodyPr wrap="square" lIns="45720" rIns="45720" tIns="27432" bIns="27432" anchor="ctr">
            <a:noAutofit/>
          </a:bodyPr>
          <a:lstStyle/>
          <a:p>
            <a:pPr algn="l">
              <a:lnSpc>
                <a:spcPct val="100000"/>
              </a:lnSpc>
            </a:pPr>
            <a:r>
              <a:rPr sz="1600" b="0" i="0">
                <a:solidFill>
                  <a:srgbClr val="F7F2E8"/>
                </a:solidFill>
                <a:latin typeface="Segoe UI Semibold"/>
              </a:rPr>
              <a:t>Fotografiado</a:t>
            </a:r>
          </a:p>
        </p:txBody>
      </p:sp>
      <p:sp>
        <p:nvSpPr>
          <p:cNvPr id="15" name="TextBox 14"/>
          <p:cNvSpPr txBox="1"/>
          <p:nvPr/>
        </p:nvSpPr>
        <p:spPr>
          <a:xfrm>
            <a:off x="3767328" y="3200400"/>
            <a:ext cx="7720279" cy="822960"/>
          </a:xfrm>
          <a:prstGeom prst="rect">
            <a:avLst/>
          </a:prstGeom>
          <a:noFill/>
        </p:spPr>
        <p:txBody>
          <a:bodyPr wrap="square" lIns="45720" rIns="45720" tIns="27432" bIns="27432" anchor="ctr">
            <a:noAutofit/>
          </a:bodyPr>
          <a:lstStyle/>
          <a:p>
            <a:pPr algn="l">
              <a:lnSpc>
                <a:spcPct val="100000"/>
              </a:lnSpc>
            </a:pPr>
            <a:r>
              <a:rPr sz="1400" b="0" i="0">
                <a:solidFill>
                  <a:srgbClr val="A7B2B0"/>
                </a:solidFill>
                <a:latin typeface="Segoe UI"/>
              </a:rPr>
              <a:t>Evidencia de todo el escritorio tomada por el agent Shoter.</a:t>
            </a:r>
          </a:p>
        </p:txBody>
      </p:sp>
      <p:sp>
        <p:nvSpPr>
          <p:cNvPr id="16" name="Rounded Rectangle 15"/>
          <p:cNvSpPr/>
          <p:nvPr/>
        </p:nvSpPr>
        <p:spPr>
          <a:xfrm>
            <a:off x="566928" y="4206240"/>
            <a:ext cx="11057839" cy="932688"/>
          </a:xfrm>
          <a:prstGeom prst="roundRect">
            <a:avLst>
              <a:gd name="adj" fmla="val 9803"/>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Diamond 16"/>
          <p:cNvSpPr/>
          <p:nvPr/>
        </p:nvSpPr>
        <p:spPr>
          <a:xfrm>
            <a:off x="768096" y="4608575"/>
            <a:ext cx="128016" cy="128016"/>
          </a:xfrm>
          <a:prstGeom prst="diamond">
            <a:avLst/>
          </a:prstGeom>
          <a:solidFill>
            <a:srgbClr val="E2B4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1024128" y="4261103"/>
            <a:ext cx="2651760" cy="822960"/>
          </a:xfrm>
          <a:prstGeom prst="rect">
            <a:avLst/>
          </a:prstGeom>
          <a:noFill/>
        </p:spPr>
        <p:txBody>
          <a:bodyPr wrap="square" lIns="45720" rIns="45720" tIns="27432" bIns="27432" anchor="ctr">
            <a:noAutofit/>
          </a:bodyPr>
          <a:lstStyle/>
          <a:p>
            <a:pPr algn="l">
              <a:lnSpc>
                <a:spcPct val="100000"/>
              </a:lnSpc>
            </a:pPr>
            <a:r>
              <a:rPr sz="1600" b="0" i="0">
                <a:solidFill>
                  <a:srgbClr val="F7F2E8"/>
                </a:solidFill>
                <a:latin typeface="Segoe UI Semibold"/>
              </a:rPr>
              <a:t>Veraz</a:t>
            </a:r>
          </a:p>
        </p:txBody>
      </p:sp>
      <p:sp>
        <p:nvSpPr>
          <p:cNvPr id="19" name="TextBox 18"/>
          <p:cNvSpPr txBox="1"/>
          <p:nvPr/>
        </p:nvSpPr>
        <p:spPr>
          <a:xfrm>
            <a:off x="3767328" y="4261103"/>
            <a:ext cx="7720279" cy="822960"/>
          </a:xfrm>
          <a:prstGeom prst="rect">
            <a:avLst/>
          </a:prstGeom>
          <a:noFill/>
        </p:spPr>
        <p:txBody>
          <a:bodyPr wrap="square" lIns="45720" rIns="45720" tIns="27432" bIns="27432" anchor="ctr">
            <a:noAutofit/>
          </a:bodyPr>
          <a:lstStyle/>
          <a:p>
            <a:pPr algn="l">
              <a:lnSpc>
                <a:spcPct val="100000"/>
              </a:lnSpc>
            </a:pPr>
            <a:r>
              <a:rPr sz="1400" b="0" i="0">
                <a:solidFill>
                  <a:srgbClr val="A7B2B0"/>
                </a:solidFill>
                <a:latin typeface="Segoe UI"/>
              </a:rPr>
              <a:t>Los resultados viejos o con tiempo agotado nunca cuentan como aprobados.</a:t>
            </a:r>
          </a:p>
        </p:txBody>
      </p:sp>
      <p:sp>
        <p:nvSpPr>
          <p:cNvPr id="20" name="Rounded Rectangle 19"/>
          <p:cNvSpPr/>
          <p:nvPr/>
        </p:nvSpPr>
        <p:spPr>
          <a:xfrm>
            <a:off x="566928" y="5266944"/>
            <a:ext cx="11057839" cy="932688"/>
          </a:xfrm>
          <a:prstGeom prst="roundRect">
            <a:avLst>
              <a:gd name="adj" fmla="val 9803"/>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Diamond 20"/>
          <p:cNvSpPr/>
          <p:nvPr/>
        </p:nvSpPr>
        <p:spPr>
          <a:xfrm>
            <a:off x="768096" y="5669279"/>
            <a:ext cx="128016" cy="128016"/>
          </a:xfrm>
          <a:prstGeom prst="diamond">
            <a:avLst/>
          </a:prstGeom>
          <a:solidFill>
            <a:srgbClr val="46D2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1024128" y="5321807"/>
            <a:ext cx="2651760" cy="822960"/>
          </a:xfrm>
          <a:prstGeom prst="rect">
            <a:avLst/>
          </a:prstGeom>
          <a:noFill/>
        </p:spPr>
        <p:txBody>
          <a:bodyPr wrap="square" lIns="45720" rIns="45720" tIns="27432" bIns="27432" anchor="ctr">
            <a:noAutofit/>
          </a:bodyPr>
          <a:lstStyle/>
          <a:p>
            <a:pPr algn="l">
              <a:lnSpc>
                <a:spcPct val="100000"/>
              </a:lnSpc>
            </a:pPr>
            <a:r>
              <a:rPr sz="1600" b="0" i="0">
                <a:solidFill>
                  <a:srgbClr val="F7F2E8"/>
                </a:solidFill>
                <a:latin typeface="Segoe UI Semibold"/>
              </a:rPr>
              <a:t>Protecciones contra la deriva</a:t>
            </a:r>
          </a:p>
        </p:txBody>
      </p:sp>
      <p:sp>
        <p:nvSpPr>
          <p:cNvPr id="23" name="TextBox 22"/>
          <p:cNvSpPr txBox="1"/>
          <p:nvPr/>
        </p:nvSpPr>
        <p:spPr>
          <a:xfrm>
            <a:off x="3767328" y="5321807"/>
            <a:ext cx="7720279" cy="822960"/>
          </a:xfrm>
          <a:prstGeom prst="rect">
            <a:avLst/>
          </a:prstGeom>
          <a:noFill/>
        </p:spPr>
        <p:txBody>
          <a:bodyPr wrap="square" lIns="45720" rIns="45720" tIns="27432" bIns="27432" anchor="ctr">
            <a:noAutofit/>
          </a:bodyPr>
          <a:lstStyle/>
          <a:p>
            <a:pPr algn="l">
              <a:lnSpc>
                <a:spcPct val="100000"/>
              </a:lnSpc>
            </a:pPr>
            <a:r>
              <a:rPr sz="1400" b="0" i="0">
                <a:solidFill>
                  <a:srgbClr val="A7B2B0"/>
                </a:solidFill>
                <a:latin typeface="Segoe UI"/>
              </a:rPr>
              <a:t>Las pruebas leen el source real para detener la deriva silenciosa.</a:t>
            </a:r>
          </a:p>
        </p:txBody>
      </p:sp>
      <p:cxnSp>
        <p:nvCxnSpPr>
          <p:cNvPr id="24" name="Connector 23"/>
          <p:cNvCxnSpPr/>
          <p:nvPr/>
        </p:nvCxnSpPr>
        <p:spPr>
          <a:xfrm>
            <a:off x="566928" y="6373368"/>
            <a:ext cx="11057839" cy="0"/>
          </a:xfrm>
          <a:prstGeom prst="line">
            <a:avLst/>
          </a:prstGeom>
          <a:ln w="7620">
            <a:solidFill>
              <a:srgbClr val="2A3A40"/>
            </a:solidFill>
          </a:ln>
        </p:spPr>
        <p:style>
          <a:lnRef idx="2">
            <a:schemeClr val="accent1"/>
          </a:lnRef>
          <a:fillRef idx="0">
            <a:schemeClr val="accent1"/>
          </a:fillRef>
          <a:effectRef idx="1">
            <a:schemeClr val="accent1"/>
          </a:effectRef>
          <a:fontRef idx="minor">
            <a:schemeClr val="tx1"/>
          </a:fontRef>
        </p:style>
      </p:cxnSp>
      <p:sp>
        <p:nvSpPr>
          <p:cNvPr id="25" name="TextBox 24"/>
          <p:cNvSpPr txBox="1"/>
          <p:nvPr/>
        </p:nvSpPr>
        <p:spPr>
          <a:xfrm>
            <a:off x="566928" y="6419088"/>
            <a:ext cx="6858000" cy="274320"/>
          </a:xfrm>
          <a:prstGeom prst="rect">
            <a:avLst/>
          </a:prstGeom>
          <a:noFill/>
        </p:spPr>
        <p:txBody>
          <a:bodyPr wrap="square" lIns="45720" rIns="45720" tIns="27432" bIns="27432" anchor="t">
            <a:noAutofit/>
          </a:bodyPr>
          <a:lstStyle/>
          <a:p>
            <a:pPr algn="l">
              <a:lnSpc>
                <a:spcPct val="100000"/>
              </a:lnSpc>
            </a:pPr>
            <a:r>
              <a:rPr sz="850" b="0" i="0" spc="120">
                <a:solidFill>
                  <a:srgbClr val="A7B2B0"/>
                </a:solidFill>
                <a:latin typeface="Segoe UI Semibold"/>
              </a:rPr>
              <a:t>TLAMATINI  ·  VI · LAS PROMESAS QUE CUMPLE</a:t>
            </a:r>
          </a:p>
        </p:txBody>
      </p:sp>
      <p:sp>
        <p:nvSpPr>
          <p:cNvPr id="26" name="TextBox 25"/>
          <p:cNvSpPr txBox="1"/>
          <p:nvPr/>
        </p:nvSpPr>
        <p:spPr>
          <a:xfrm>
            <a:off x="8698687" y="6419088"/>
            <a:ext cx="2926080" cy="274320"/>
          </a:xfrm>
          <a:prstGeom prst="rect">
            <a:avLst/>
          </a:prstGeom>
          <a:noFill/>
        </p:spPr>
        <p:txBody>
          <a:bodyPr wrap="square" lIns="45720" rIns="45720" tIns="27432" bIns="27432" anchor="t">
            <a:noAutofit/>
          </a:bodyPr>
          <a:lstStyle/>
          <a:p>
            <a:pPr algn="r">
              <a:lnSpc>
                <a:spcPct val="100000"/>
              </a:lnSpc>
            </a:pPr>
            <a:r>
              <a:rPr sz="850" b="0" i="0" spc="100">
                <a:solidFill>
                  <a:srgbClr val="A7B2B0"/>
                </a:solidFill>
                <a:latin typeface="Segoe UI Semibold"/>
              </a:rPr>
              <a:t>v1.91.1   ·   106</a:t>
            </a:r>
          </a:p>
        </p:txBody>
      </p:sp>
    </p:spTree>
  </p:cSld>
  <p:clrMapOvr>
    <a:masterClrMapping/>
  </p:clrMapOvr>
</p:sld>
</file>

<file path=ppt/slides/slide10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divider.png"/>
          <p:cNvPicPr>
            <a:picLocks noChangeAspect="1"/>
          </p:cNvPicPr>
          <p:nvPr/>
        </p:nvPicPr>
        <p:blipFill>
          <a:blip r:embed="rId2"/>
          <a:stretch>
            <a:fillRect/>
          </a:stretch>
        </p:blipFill>
        <p:spPr>
          <a:xfrm>
            <a:off x="0" y="0"/>
            <a:ext cx="12191695" cy="6858000"/>
          </a:xfrm>
          <a:prstGeom prst="rect">
            <a:avLst/>
          </a:prstGeom>
        </p:spPr>
      </p:pic>
      <p:sp>
        <p:nvSpPr>
          <p:cNvPr id="3" name="TextBox 2"/>
          <p:cNvSpPr txBox="1"/>
          <p:nvPr/>
        </p:nvSpPr>
        <p:spPr>
          <a:xfrm>
            <a:off x="822960" y="868680"/>
            <a:ext cx="4572000" cy="365760"/>
          </a:xfrm>
          <a:prstGeom prst="rect">
            <a:avLst/>
          </a:prstGeom>
          <a:noFill/>
        </p:spPr>
        <p:txBody>
          <a:bodyPr wrap="square" lIns="45720" rIns="45720" tIns="27432" bIns="27432" anchor="t">
            <a:noAutofit/>
          </a:bodyPr>
          <a:lstStyle/>
          <a:p>
            <a:pPr algn="l">
              <a:lnSpc>
                <a:spcPct val="100000"/>
              </a:lnSpc>
            </a:pPr>
            <a:r>
              <a:rPr sz="1300" b="0" i="0" spc="340">
                <a:solidFill>
                  <a:srgbClr val="3BBE93"/>
                </a:solidFill>
                <a:latin typeface="Segoe UI Semibold"/>
              </a:rPr>
              <a:t>CHAPTER</a:t>
            </a:r>
          </a:p>
        </p:txBody>
      </p:sp>
      <p:sp>
        <p:nvSpPr>
          <p:cNvPr id="4" name="TextBox 3"/>
          <p:cNvSpPr txBox="1"/>
          <p:nvPr/>
        </p:nvSpPr>
        <p:spPr>
          <a:xfrm>
            <a:off x="749808" y="1261872"/>
            <a:ext cx="5029200" cy="1691640"/>
          </a:xfrm>
          <a:prstGeom prst="rect">
            <a:avLst/>
          </a:prstGeom>
          <a:noFill/>
        </p:spPr>
        <p:txBody>
          <a:bodyPr wrap="square" lIns="45720" rIns="45720" tIns="27432" bIns="27432" anchor="t">
            <a:noAutofit/>
          </a:bodyPr>
          <a:lstStyle/>
          <a:p>
            <a:pPr algn="l">
              <a:lnSpc>
                <a:spcPct val="100000"/>
              </a:lnSpc>
            </a:pPr>
            <a:r>
              <a:rPr sz="10550" b="0" i="0">
                <a:solidFill>
                  <a:srgbClr val="C98457"/>
                </a:solidFill>
                <a:latin typeface="Palatino Linotype"/>
              </a:rPr>
              <a:t>VII</a:t>
            </a:r>
          </a:p>
        </p:txBody>
      </p:sp>
      <p:sp>
        <p:nvSpPr>
          <p:cNvPr id="5" name="TextBox 4"/>
          <p:cNvSpPr txBox="1"/>
          <p:nvPr/>
        </p:nvSpPr>
        <p:spPr>
          <a:xfrm>
            <a:off x="822960" y="2971800"/>
            <a:ext cx="6766560" cy="1280160"/>
          </a:xfrm>
          <a:prstGeom prst="rect">
            <a:avLst/>
          </a:prstGeom>
          <a:noFill/>
        </p:spPr>
        <p:txBody>
          <a:bodyPr wrap="square" lIns="45720" rIns="45720" tIns="27432" bIns="27432" anchor="t">
            <a:noAutofit/>
          </a:bodyPr>
          <a:lstStyle/>
          <a:p>
            <a:pPr algn="l">
              <a:lnSpc>
                <a:spcPct val="100000"/>
              </a:lnSpc>
            </a:pPr>
            <a:r>
              <a:rPr sz="3950" b="0" i="0">
                <a:solidFill>
                  <a:srgbClr val="F7F2E8"/>
                </a:solidFill>
                <a:latin typeface="Palatino Linotype"/>
              </a:rPr>
              <a:t>Instalar, configurar, ejecutar</a:t>
            </a:r>
          </a:p>
        </p:txBody>
      </p:sp>
      <p:sp>
        <p:nvSpPr>
          <p:cNvPr id="6" name="Rectangle 5"/>
          <p:cNvSpPr/>
          <p:nvPr/>
        </p:nvSpPr>
        <p:spPr>
          <a:xfrm>
            <a:off x="841248" y="4315968"/>
            <a:ext cx="1005840" cy="45720"/>
          </a:xfrm>
          <a:prstGeom prst="rect">
            <a:avLst/>
          </a:prstGeom>
          <a:solidFill>
            <a:srgbClr val="3BBE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822960" y="4443984"/>
            <a:ext cx="6400800" cy="731520"/>
          </a:xfrm>
          <a:prstGeom prst="rect">
            <a:avLst/>
          </a:prstGeom>
          <a:noFill/>
        </p:spPr>
        <p:txBody>
          <a:bodyPr wrap="square" lIns="45720" rIns="45720" tIns="27432" bIns="27432" anchor="t">
            <a:noAutofit/>
          </a:bodyPr>
          <a:lstStyle/>
          <a:p>
            <a:pPr algn="l">
              <a:lnSpc>
                <a:spcPct val="100000"/>
              </a:lnSpc>
            </a:pPr>
            <a:r>
              <a:rPr sz="1800" b="0" i="0">
                <a:solidFill>
                  <a:srgbClr val="ECE7DC"/>
                </a:solidFill>
                <a:latin typeface="Segoe UI Light"/>
              </a:rPr>
              <a:t>De una máquina Windows recién instalada a una asistente funcionando, y del source a un release aprobado.</a:t>
            </a:r>
          </a:p>
        </p:txBody>
      </p:sp>
      <p:cxnSp>
        <p:nvCxnSpPr>
          <p:cNvPr id="8" name="Connector 7"/>
          <p:cNvCxnSpPr/>
          <p:nvPr/>
        </p:nvCxnSpPr>
        <p:spPr>
          <a:xfrm>
            <a:off x="566928" y="6373368"/>
            <a:ext cx="11057839" cy="0"/>
          </a:xfrm>
          <a:prstGeom prst="line">
            <a:avLst/>
          </a:prstGeom>
          <a:ln w="7620">
            <a:solidFill>
              <a:srgbClr val="2A3A40"/>
            </a:solidFill>
          </a:ln>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566928" y="6419088"/>
            <a:ext cx="6858000" cy="274320"/>
          </a:xfrm>
          <a:prstGeom prst="rect">
            <a:avLst/>
          </a:prstGeom>
          <a:noFill/>
        </p:spPr>
        <p:txBody>
          <a:bodyPr wrap="square" lIns="45720" rIns="45720" tIns="27432" bIns="27432" anchor="t">
            <a:noAutofit/>
          </a:bodyPr>
          <a:lstStyle/>
          <a:p>
            <a:pPr algn="l">
              <a:lnSpc>
                <a:spcPct val="100000"/>
              </a:lnSpc>
            </a:pPr>
            <a:r>
              <a:rPr sz="850" b="0" i="0" spc="120">
                <a:solidFill>
                  <a:srgbClr val="A7B2B0"/>
                </a:solidFill>
                <a:latin typeface="Segoe UI Semibold"/>
              </a:rPr>
              <a:t>TLAMATINI  ·  CAPÍTULO VII</a:t>
            </a:r>
          </a:p>
        </p:txBody>
      </p:sp>
      <p:sp>
        <p:nvSpPr>
          <p:cNvPr id="10" name="TextBox 9"/>
          <p:cNvSpPr txBox="1"/>
          <p:nvPr/>
        </p:nvSpPr>
        <p:spPr>
          <a:xfrm>
            <a:off x="8698687" y="6419088"/>
            <a:ext cx="2926080" cy="274320"/>
          </a:xfrm>
          <a:prstGeom prst="rect">
            <a:avLst/>
          </a:prstGeom>
          <a:noFill/>
        </p:spPr>
        <p:txBody>
          <a:bodyPr wrap="square" lIns="45720" rIns="45720" tIns="27432" bIns="27432" anchor="t">
            <a:noAutofit/>
          </a:bodyPr>
          <a:lstStyle/>
          <a:p>
            <a:pPr algn="r">
              <a:lnSpc>
                <a:spcPct val="100000"/>
              </a:lnSpc>
            </a:pPr>
            <a:r>
              <a:rPr sz="850" b="0" i="0" spc="100">
                <a:solidFill>
                  <a:srgbClr val="A7B2B0"/>
                </a:solidFill>
                <a:latin typeface="Segoe UI Semibold"/>
              </a:rPr>
              <a:t>v1.91.1   ·   107</a:t>
            </a:r>
          </a:p>
        </p:txBody>
      </p:sp>
    </p:spTree>
  </p:cSld>
  <p:clrMapOvr>
    <a:masterClrMapping/>
  </p:clrMapOvr>
</p:sld>
</file>

<file path=ppt/slides/slide10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content.png"/>
          <p:cNvPicPr>
            <a:picLocks noChangeAspect="1"/>
          </p:cNvPicPr>
          <p:nvPr/>
        </p:nvPicPr>
        <p:blipFill>
          <a:blip r:embed="rId2"/>
          <a:stretch>
            <a:fillRect/>
          </a:stretch>
        </p:blipFill>
        <p:spPr>
          <a:xfrm>
            <a:off x="0" y="0"/>
            <a:ext cx="12191695" cy="6858000"/>
          </a:xfrm>
          <a:prstGeom prst="rect">
            <a:avLst/>
          </a:prstGeom>
        </p:spPr>
      </p:pic>
      <p:sp>
        <p:nvSpPr>
          <p:cNvPr id="3" name="Diamond 2"/>
          <p:cNvSpPr/>
          <p:nvPr/>
        </p:nvSpPr>
        <p:spPr>
          <a:xfrm>
            <a:off x="566928" y="457200"/>
            <a:ext cx="100584" cy="100584"/>
          </a:xfrm>
          <a:prstGeom prst="diamond">
            <a:avLst/>
          </a:prstGeom>
          <a:solidFill>
            <a:srgbClr val="3BBE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49808" y="365760"/>
            <a:ext cx="8229600" cy="292608"/>
          </a:xfrm>
          <a:prstGeom prst="rect">
            <a:avLst/>
          </a:prstGeom>
          <a:noFill/>
        </p:spPr>
        <p:txBody>
          <a:bodyPr wrap="square" lIns="45720" rIns="45720" tIns="27432" bIns="27432" anchor="t">
            <a:noAutofit/>
          </a:bodyPr>
          <a:lstStyle/>
          <a:p>
            <a:pPr algn="l">
              <a:lnSpc>
                <a:spcPct val="100000"/>
              </a:lnSpc>
            </a:pPr>
            <a:r>
              <a:rPr sz="1100" b="0" i="0" spc="240">
                <a:solidFill>
                  <a:srgbClr val="C98457"/>
                </a:solidFill>
                <a:latin typeface="Segoe UI Semibold"/>
              </a:rPr>
              <a:t>PRIMEROS PASOS</a:t>
            </a:r>
          </a:p>
        </p:txBody>
      </p:sp>
      <p:sp>
        <p:nvSpPr>
          <p:cNvPr id="5" name="TextBox 4"/>
          <p:cNvSpPr txBox="1"/>
          <p:nvPr/>
        </p:nvSpPr>
        <p:spPr>
          <a:xfrm>
            <a:off x="539496" y="676656"/>
            <a:ext cx="11057839" cy="658368"/>
          </a:xfrm>
          <a:prstGeom prst="rect">
            <a:avLst/>
          </a:prstGeom>
          <a:noFill/>
        </p:spPr>
        <p:txBody>
          <a:bodyPr wrap="square" lIns="45720" rIns="45720" tIns="27432" bIns="27432" anchor="t">
            <a:noAutofit/>
          </a:bodyPr>
          <a:lstStyle/>
          <a:p>
            <a:pPr algn="l">
              <a:lnSpc>
                <a:spcPct val="100000"/>
              </a:lnSpc>
            </a:pPr>
            <a:r>
              <a:rPr sz="3100" b="0" i="0">
                <a:solidFill>
                  <a:srgbClr val="F7F2E8"/>
                </a:solidFill>
                <a:latin typeface="Palatino Linotype"/>
              </a:rPr>
              <a:t>Cinco pasos para tener Tlamatini funcionando</a:t>
            </a:r>
          </a:p>
        </p:txBody>
      </p:sp>
      <p:sp>
        <p:nvSpPr>
          <p:cNvPr id="6" name="Rectangle 5"/>
          <p:cNvSpPr/>
          <p:nvPr/>
        </p:nvSpPr>
        <p:spPr>
          <a:xfrm>
            <a:off x="566928" y="1344168"/>
            <a:ext cx="822960" cy="36576"/>
          </a:xfrm>
          <a:prstGeom prst="rect">
            <a:avLst/>
          </a:prstGeom>
          <a:solidFill>
            <a:srgbClr val="3BBE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566928" y="1444752"/>
            <a:ext cx="10692079" cy="585216"/>
          </a:xfrm>
          <a:prstGeom prst="rect">
            <a:avLst/>
          </a:prstGeom>
          <a:noFill/>
        </p:spPr>
        <p:txBody>
          <a:bodyPr wrap="square" lIns="45720" rIns="45720" tIns="27432" bIns="27432" anchor="t">
            <a:noAutofit/>
          </a:bodyPr>
          <a:lstStyle/>
          <a:p>
            <a:pPr algn="l">
              <a:lnSpc>
                <a:spcPct val="100000"/>
              </a:lnSpc>
            </a:pPr>
            <a:r>
              <a:rPr sz="1450" b="0" i="0">
                <a:solidFill>
                  <a:srgbClr val="A7B2B0"/>
                </a:solidFill>
                <a:latin typeface="Segoe UI Semilight"/>
              </a:rPr>
              <a:t>Tlamatini en sí es gratis. La única compra es un plan de Ollama, comprado directamente a Ollama.</a:t>
            </a:r>
          </a:p>
        </p:txBody>
      </p:sp>
      <p:sp>
        <p:nvSpPr>
          <p:cNvPr id="8" name="Rounded Rectangle 7"/>
          <p:cNvSpPr/>
          <p:nvPr/>
        </p:nvSpPr>
        <p:spPr>
          <a:xfrm>
            <a:off x="566928" y="2084831"/>
            <a:ext cx="1962851" cy="1874519"/>
          </a:xfrm>
          <a:prstGeom prst="roundRect">
            <a:avLst>
              <a:gd name="adj" fmla="val 5853"/>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694944" y="2194560"/>
            <a:ext cx="384048" cy="384048"/>
          </a:xfrm>
          <a:prstGeom prst="ellipse">
            <a:avLst/>
          </a:prstGeom>
          <a:solidFill>
            <a:srgbClr val="151F23"/>
          </a:solidFill>
          <a:ln w="12700">
            <a:solidFill>
              <a:srgbClr val="E2B462"/>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694944" y="2194560"/>
            <a:ext cx="384048" cy="384048"/>
          </a:xfrm>
          <a:prstGeom prst="rect">
            <a:avLst/>
          </a:prstGeom>
          <a:noFill/>
        </p:spPr>
        <p:txBody>
          <a:bodyPr wrap="square" lIns="45720" rIns="45720" tIns="27432" bIns="27432" anchor="ctr">
            <a:noAutofit/>
          </a:bodyPr>
          <a:lstStyle/>
          <a:p>
            <a:pPr algn="ctr">
              <a:lnSpc>
                <a:spcPct val="100000"/>
              </a:lnSpc>
            </a:pPr>
            <a:r>
              <a:rPr sz="1400" b="1" i="0">
                <a:solidFill>
                  <a:srgbClr val="E2B462"/>
                </a:solidFill>
                <a:latin typeface="Palatino Linotype"/>
              </a:rPr>
              <a:t>1</a:t>
            </a:r>
          </a:p>
        </p:txBody>
      </p:sp>
      <p:sp>
        <p:nvSpPr>
          <p:cNvPr id="11" name="TextBox 10"/>
          <p:cNvSpPr txBox="1"/>
          <p:nvPr/>
        </p:nvSpPr>
        <p:spPr>
          <a:xfrm>
            <a:off x="1152144" y="2157984"/>
            <a:ext cx="1267907" cy="457200"/>
          </a:xfrm>
          <a:prstGeom prst="rect">
            <a:avLst/>
          </a:prstGeom>
          <a:noFill/>
        </p:spPr>
        <p:txBody>
          <a:bodyPr wrap="square" lIns="45720" rIns="45720" tIns="27432" bIns="27432" anchor="ctr">
            <a:noAutofit/>
          </a:bodyPr>
          <a:lstStyle/>
          <a:p>
            <a:pPr algn="l">
              <a:lnSpc>
                <a:spcPct val="100000"/>
              </a:lnSpc>
            </a:pPr>
            <a:r>
              <a:rPr sz="1600" b="0" i="0">
                <a:solidFill>
                  <a:srgbClr val="F7F2E8"/>
                </a:solidFill>
                <a:latin typeface="Segoe UI Semibold"/>
              </a:rPr>
              <a:t>Instalar</a:t>
            </a:r>
          </a:p>
        </p:txBody>
      </p:sp>
      <p:sp>
        <p:nvSpPr>
          <p:cNvPr id="12" name="TextBox 11"/>
          <p:cNvSpPr txBox="1"/>
          <p:nvPr/>
        </p:nvSpPr>
        <p:spPr>
          <a:xfrm>
            <a:off x="694944" y="2651760"/>
            <a:ext cx="1725107" cy="1234439"/>
          </a:xfrm>
          <a:prstGeom prst="rect">
            <a:avLst/>
          </a:prstGeom>
          <a:noFill/>
        </p:spPr>
        <p:txBody>
          <a:bodyPr wrap="square" lIns="45720" rIns="45720" tIns="27432" bIns="27432" anchor="t">
            <a:noAutofit/>
          </a:bodyPr>
          <a:lstStyle/>
          <a:p>
            <a:pPr algn="l">
              <a:lnSpc>
                <a:spcPct val="100000"/>
              </a:lnSpc>
            </a:pPr>
            <a:r>
              <a:rPr sz="1300" b="0" i="0">
                <a:solidFill>
                  <a:srgbClr val="A7B2B0"/>
                </a:solidFill>
                <a:latin typeface="Segoe UI"/>
              </a:rPr>
              <a:t>Ejecuta el instalador recuperable del release (con Python 3.12.10 incluido), o clona el source.</a:t>
            </a:r>
          </a:p>
        </p:txBody>
      </p:sp>
      <p:cxnSp>
        <p:nvCxnSpPr>
          <p:cNvPr id="13" name="Connector 12"/>
          <p:cNvCxnSpPr/>
          <p:nvPr/>
        </p:nvCxnSpPr>
        <p:spPr>
          <a:xfrm>
            <a:off x="2566355" y="2441448"/>
            <a:ext cx="237744" cy="0"/>
          </a:xfrm>
          <a:prstGeom prst="line">
            <a:avLst/>
          </a:prstGeom>
          <a:ln w="17780">
            <a:solidFill>
              <a:srgbClr val="C98457"/>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2840675" y="2084831"/>
            <a:ext cx="1962851" cy="1874519"/>
          </a:xfrm>
          <a:prstGeom prst="roundRect">
            <a:avLst>
              <a:gd name="adj" fmla="val 5853"/>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Oval 14"/>
          <p:cNvSpPr/>
          <p:nvPr/>
        </p:nvSpPr>
        <p:spPr>
          <a:xfrm>
            <a:off x="2968691" y="2194560"/>
            <a:ext cx="384048" cy="384048"/>
          </a:xfrm>
          <a:prstGeom prst="ellipse">
            <a:avLst/>
          </a:prstGeom>
          <a:solidFill>
            <a:srgbClr val="151F23"/>
          </a:solidFill>
          <a:ln w="12700">
            <a:solidFill>
              <a:srgbClr val="E2B462"/>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2968691" y="2194560"/>
            <a:ext cx="384048" cy="384048"/>
          </a:xfrm>
          <a:prstGeom prst="rect">
            <a:avLst/>
          </a:prstGeom>
          <a:noFill/>
        </p:spPr>
        <p:txBody>
          <a:bodyPr wrap="square" lIns="45720" rIns="45720" tIns="27432" bIns="27432" anchor="ctr">
            <a:noAutofit/>
          </a:bodyPr>
          <a:lstStyle/>
          <a:p>
            <a:pPr algn="ctr">
              <a:lnSpc>
                <a:spcPct val="100000"/>
              </a:lnSpc>
            </a:pPr>
            <a:r>
              <a:rPr sz="1400" b="1" i="0">
                <a:solidFill>
                  <a:srgbClr val="E2B462"/>
                </a:solidFill>
                <a:latin typeface="Palatino Linotype"/>
              </a:rPr>
              <a:t>2</a:t>
            </a:r>
          </a:p>
        </p:txBody>
      </p:sp>
      <p:sp>
        <p:nvSpPr>
          <p:cNvPr id="17" name="TextBox 16"/>
          <p:cNvSpPr txBox="1"/>
          <p:nvPr/>
        </p:nvSpPr>
        <p:spPr>
          <a:xfrm>
            <a:off x="3425891" y="2157984"/>
            <a:ext cx="1267907" cy="457200"/>
          </a:xfrm>
          <a:prstGeom prst="rect">
            <a:avLst/>
          </a:prstGeom>
          <a:noFill/>
        </p:spPr>
        <p:txBody>
          <a:bodyPr wrap="square" lIns="45720" rIns="45720" tIns="27432" bIns="27432" anchor="ctr">
            <a:noAutofit/>
          </a:bodyPr>
          <a:lstStyle/>
          <a:p>
            <a:pPr algn="l">
              <a:lnSpc>
                <a:spcPct val="100000"/>
              </a:lnSpc>
            </a:pPr>
            <a:r>
              <a:rPr sz="1600" b="0" i="0">
                <a:solidFill>
                  <a:srgbClr val="F7F2E8"/>
                </a:solidFill>
                <a:latin typeface="Segoe UI Semibold"/>
              </a:rPr>
              <a:t>Ollama</a:t>
            </a:r>
          </a:p>
        </p:txBody>
      </p:sp>
      <p:sp>
        <p:nvSpPr>
          <p:cNvPr id="18" name="TextBox 17"/>
          <p:cNvSpPr txBox="1"/>
          <p:nvPr/>
        </p:nvSpPr>
        <p:spPr>
          <a:xfrm>
            <a:off x="2968691" y="2651760"/>
            <a:ext cx="1725107" cy="1234439"/>
          </a:xfrm>
          <a:prstGeom prst="rect">
            <a:avLst/>
          </a:prstGeom>
          <a:noFill/>
        </p:spPr>
        <p:txBody>
          <a:bodyPr wrap="square" lIns="45720" rIns="45720" tIns="27432" bIns="27432" anchor="t">
            <a:noAutofit/>
          </a:bodyPr>
          <a:lstStyle/>
          <a:p>
            <a:pPr algn="l">
              <a:lnSpc>
                <a:spcPct val="100000"/>
              </a:lnSpc>
            </a:pPr>
            <a:r>
              <a:rPr sz="1300" b="0" i="0">
                <a:solidFill>
                  <a:srgbClr val="A7B2B0"/>
                </a:solidFill>
                <a:latin typeface="Segoe UI"/>
              </a:rPr>
              <a:t>Instala Ollama para Windows.</a:t>
            </a:r>
          </a:p>
        </p:txBody>
      </p:sp>
      <p:cxnSp>
        <p:nvCxnSpPr>
          <p:cNvPr id="19" name="Connector 18"/>
          <p:cNvCxnSpPr/>
          <p:nvPr/>
        </p:nvCxnSpPr>
        <p:spPr>
          <a:xfrm>
            <a:off x="4840102" y="2441448"/>
            <a:ext cx="237744" cy="0"/>
          </a:xfrm>
          <a:prstGeom prst="line">
            <a:avLst/>
          </a:prstGeom>
          <a:ln w="17780">
            <a:solidFill>
              <a:srgbClr val="C98457"/>
            </a:solidFill>
            <a:tailEnd type="triangle" w="med" len="med"/>
          </a:ln>
        </p:spPr>
        <p:style>
          <a:lnRef idx="2">
            <a:schemeClr val="accent1"/>
          </a:lnRef>
          <a:fillRef idx="0">
            <a:schemeClr val="accent1"/>
          </a:fillRef>
          <a:effectRef idx="1">
            <a:schemeClr val="accent1"/>
          </a:effectRef>
          <a:fontRef idx="minor">
            <a:schemeClr val="tx1"/>
          </a:fontRef>
        </p:style>
      </p:cxnSp>
      <p:sp>
        <p:nvSpPr>
          <p:cNvPr id="20" name="Rounded Rectangle 19"/>
          <p:cNvSpPr/>
          <p:nvPr/>
        </p:nvSpPr>
        <p:spPr>
          <a:xfrm>
            <a:off x="5114422" y="2084831"/>
            <a:ext cx="1962851" cy="1874519"/>
          </a:xfrm>
          <a:prstGeom prst="roundRect">
            <a:avLst>
              <a:gd name="adj" fmla="val 5853"/>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Oval 20"/>
          <p:cNvSpPr/>
          <p:nvPr/>
        </p:nvSpPr>
        <p:spPr>
          <a:xfrm>
            <a:off x="5242438" y="2194560"/>
            <a:ext cx="384048" cy="384048"/>
          </a:xfrm>
          <a:prstGeom prst="ellipse">
            <a:avLst/>
          </a:prstGeom>
          <a:solidFill>
            <a:srgbClr val="151F23"/>
          </a:solidFill>
          <a:ln w="12700">
            <a:solidFill>
              <a:srgbClr val="E2B462"/>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5242438" y="2194560"/>
            <a:ext cx="384048" cy="384048"/>
          </a:xfrm>
          <a:prstGeom prst="rect">
            <a:avLst/>
          </a:prstGeom>
          <a:noFill/>
        </p:spPr>
        <p:txBody>
          <a:bodyPr wrap="square" lIns="45720" rIns="45720" tIns="27432" bIns="27432" anchor="ctr">
            <a:noAutofit/>
          </a:bodyPr>
          <a:lstStyle/>
          <a:p>
            <a:pPr algn="ctr">
              <a:lnSpc>
                <a:spcPct val="100000"/>
              </a:lnSpc>
            </a:pPr>
            <a:r>
              <a:rPr sz="1400" b="1" i="0">
                <a:solidFill>
                  <a:srgbClr val="E2B462"/>
                </a:solidFill>
                <a:latin typeface="Palatino Linotype"/>
              </a:rPr>
              <a:t>3</a:t>
            </a:r>
          </a:p>
        </p:txBody>
      </p:sp>
      <p:sp>
        <p:nvSpPr>
          <p:cNvPr id="23" name="TextBox 22"/>
          <p:cNvSpPr txBox="1"/>
          <p:nvPr/>
        </p:nvSpPr>
        <p:spPr>
          <a:xfrm>
            <a:off x="5699638" y="2157984"/>
            <a:ext cx="1267907" cy="457200"/>
          </a:xfrm>
          <a:prstGeom prst="rect">
            <a:avLst/>
          </a:prstGeom>
          <a:noFill/>
        </p:spPr>
        <p:txBody>
          <a:bodyPr wrap="square" lIns="45720" rIns="45720" tIns="27432" bIns="27432" anchor="ctr">
            <a:noAutofit/>
          </a:bodyPr>
          <a:lstStyle/>
          <a:p>
            <a:pPr algn="l">
              <a:lnSpc>
                <a:spcPct val="100000"/>
              </a:lnSpc>
            </a:pPr>
            <a:r>
              <a:rPr sz="1600" b="0" i="0">
                <a:solidFill>
                  <a:srgbClr val="F7F2E8"/>
                </a:solidFill>
                <a:latin typeface="Segoe UI Semibold"/>
              </a:rPr>
              <a:t>Plan Pro</a:t>
            </a:r>
          </a:p>
        </p:txBody>
      </p:sp>
      <p:sp>
        <p:nvSpPr>
          <p:cNvPr id="24" name="TextBox 23"/>
          <p:cNvSpPr txBox="1"/>
          <p:nvPr/>
        </p:nvSpPr>
        <p:spPr>
          <a:xfrm>
            <a:off x="5242438" y="2651760"/>
            <a:ext cx="1725107" cy="1234439"/>
          </a:xfrm>
          <a:prstGeom prst="rect">
            <a:avLst/>
          </a:prstGeom>
          <a:noFill/>
        </p:spPr>
        <p:txBody>
          <a:bodyPr wrap="square" lIns="45720" rIns="45720" tIns="27432" bIns="27432" anchor="t">
            <a:noAutofit/>
          </a:bodyPr>
          <a:lstStyle/>
          <a:p>
            <a:pPr algn="l">
              <a:lnSpc>
                <a:spcPct val="100000"/>
              </a:lnSpc>
            </a:pPr>
            <a:r>
              <a:rPr sz="1300" b="0" i="0">
                <a:solidFill>
                  <a:srgbClr val="A7B2B0"/>
                </a:solidFill>
                <a:latin typeface="Segoe UI"/>
              </a:rPr>
              <a:t>Activa Ollama Pro o superior, y luego ejecuta </a:t>
            </a:r>
            <a:r>
              <a:rPr sz="1200" b="0" i="0">
                <a:solidFill>
                  <a:srgbClr val="E2B462"/>
                </a:solidFill>
                <a:latin typeface="Consolas"/>
              </a:rPr>
              <a:t>ollama signin</a:t>
            </a:r>
            <a:r>
              <a:rPr sz="1300" b="0" i="0">
                <a:solidFill>
                  <a:srgbClr val="A7B2B0"/>
                </a:solidFill>
                <a:latin typeface="Segoe UI"/>
              </a:rPr>
              <a:t>.</a:t>
            </a:r>
          </a:p>
        </p:txBody>
      </p:sp>
      <p:cxnSp>
        <p:nvCxnSpPr>
          <p:cNvPr id="25" name="Connector 24"/>
          <p:cNvCxnSpPr/>
          <p:nvPr/>
        </p:nvCxnSpPr>
        <p:spPr>
          <a:xfrm>
            <a:off x="7113849" y="2441448"/>
            <a:ext cx="237744" cy="0"/>
          </a:xfrm>
          <a:prstGeom prst="line">
            <a:avLst/>
          </a:prstGeom>
          <a:ln w="17780">
            <a:solidFill>
              <a:srgbClr val="C98457"/>
            </a:solidFill>
            <a:tailEnd type="triangle" w="med" len="med"/>
          </a:ln>
        </p:spPr>
        <p:style>
          <a:lnRef idx="2">
            <a:schemeClr val="accent1"/>
          </a:lnRef>
          <a:fillRef idx="0">
            <a:schemeClr val="accent1"/>
          </a:fillRef>
          <a:effectRef idx="1">
            <a:schemeClr val="accent1"/>
          </a:effectRef>
          <a:fontRef idx="minor">
            <a:schemeClr val="tx1"/>
          </a:fontRef>
        </p:style>
      </p:cxnSp>
      <p:sp>
        <p:nvSpPr>
          <p:cNvPr id="26" name="Rounded Rectangle 25"/>
          <p:cNvSpPr/>
          <p:nvPr/>
        </p:nvSpPr>
        <p:spPr>
          <a:xfrm>
            <a:off x="7388169" y="2084831"/>
            <a:ext cx="1962851" cy="1874519"/>
          </a:xfrm>
          <a:prstGeom prst="roundRect">
            <a:avLst>
              <a:gd name="adj" fmla="val 5853"/>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Oval 26"/>
          <p:cNvSpPr/>
          <p:nvPr/>
        </p:nvSpPr>
        <p:spPr>
          <a:xfrm>
            <a:off x="7516185" y="2194560"/>
            <a:ext cx="384048" cy="384048"/>
          </a:xfrm>
          <a:prstGeom prst="ellipse">
            <a:avLst/>
          </a:prstGeom>
          <a:solidFill>
            <a:srgbClr val="151F23"/>
          </a:solidFill>
          <a:ln w="12700">
            <a:solidFill>
              <a:srgbClr val="E2B462"/>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TextBox 27"/>
          <p:cNvSpPr txBox="1"/>
          <p:nvPr/>
        </p:nvSpPr>
        <p:spPr>
          <a:xfrm>
            <a:off x="7516185" y="2194560"/>
            <a:ext cx="384048" cy="384048"/>
          </a:xfrm>
          <a:prstGeom prst="rect">
            <a:avLst/>
          </a:prstGeom>
          <a:noFill/>
        </p:spPr>
        <p:txBody>
          <a:bodyPr wrap="square" lIns="45720" rIns="45720" tIns="27432" bIns="27432" anchor="ctr">
            <a:noAutofit/>
          </a:bodyPr>
          <a:lstStyle/>
          <a:p>
            <a:pPr algn="ctr">
              <a:lnSpc>
                <a:spcPct val="100000"/>
              </a:lnSpc>
            </a:pPr>
            <a:r>
              <a:rPr sz="1400" b="1" i="0">
                <a:solidFill>
                  <a:srgbClr val="E2B462"/>
                </a:solidFill>
                <a:latin typeface="Palatino Linotype"/>
              </a:rPr>
              <a:t>4</a:t>
            </a:r>
          </a:p>
        </p:txBody>
      </p:sp>
      <p:sp>
        <p:nvSpPr>
          <p:cNvPr id="29" name="TextBox 28"/>
          <p:cNvSpPr txBox="1"/>
          <p:nvPr/>
        </p:nvSpPr>
        <p:spPr>
          <a:xfrm>
            <a:off x="7973385" y="2157984"/>
            <a:ext cx="1267907" cy="457200"/>
          </a:xfrm>
          <a:prstGeom prst="rect">
            <a:avLst/>
          </a:prstGeom>
          <a:noFill/>
        </p:spPr>
        <p:txBody>
          <a:bodyPr wrap="square" lIns="45720" rIns="45720" tIns="27432" bIns="27432" anchor="ctr">
            <a:noAutofit/>
          </a:bodyPr>
          <a:lstStyle/>
          <a:p>
            <a:pPr algn="l">
              <a:lnSpc>
                <a:spcPct val="100000"/>
              </a:lnSpc>
            </a:pPr>
            <a:r>
              <a:rPr sz="1600" b="0" i="0">
                <a:solidFill>
                  <a:srgbClr val="F7F2E8"/>
                </a:solidFill>
                <a:latin typeface="Segoe UI Semibold"/>
              </a:rPr>
              <a:t>Modelos</a:t>
            </a:r>
          </a:p>
        </p:txBody>
      </p:sp>
      <p:sp>
        <p:nvSpPr>
          <p:cNvPr id="30" name="TextBox 29"/>
          <p:cNvSpPr txBox="1"/>
          <p:nvPr/>
        </p:nvSpPr>
        <p:spPr>
          <a:xfrm>
            <a:off x="7516185" y="2651760"/>
            <a:ext cx="1725107" cy="1234439"/>
          </a:xfrm>
          <a:prstGeom prst="rect">
            <a:avLst/>
          </a:prstGeom>
          <a:noFill/>
        </p:spPr>
        <p:txBody>
          <a:bodyPr wrap="square" lIns="45720" rIns="45720" tIns="27432" bIns="27432" anchor="t">
            <a:noAutofit/>
          </a:bodyPr>
          <a:lstStyle/>
          <a:p>
            <a:pPr algn="l">
              <a:lnSpc>
                <a:spcPct val="100000"/>
              </a:lnSpc>
            </a:pPr>
            <a:r>
              <a:rPr sz="1300" b="0" i="0">
                <a:solidFill>
                  <a:srgbClr val="A7B2B0"/>
                </a:solidFill>
                <a:latin typeface="Segoe UI"/>
              </a:rPr>
              <a:t>Descarga nomic-embed-text y los modelos en la nube que usa Tlamatini.</a:t>
            </a:r>
          </a:p>
        </p:txBody>
      </p:sp>
      <p:cxnSp>
        <p:nvCxnSpPr>
          <p:cNvPr id="31" name="Connector 30"/>
          <p:cNvCxnSpPr/>
          <p:nvPr/>
        </p:nvCxnSpPr>
        <p:spPr>
          <a:xfrm>
            <a:off x="9387596" y="2441448"/>
            <a:ext cx="237744" cy="0"/>
          </a:xfrm>
          <a:prstGeom prst="line">
            <a:avLst/>
          </a:prstGeom>
          <a:ln w="17780">
            <a:solidFill>
              <a:srgbClr val="C98457"/>
            </a:solidFill>
            <a:tailEnd type="triangle" w="med" len="med"/>
          </a:ln>
        </p:spPr>
        <p:style>
          <a:lnRef idx="2">
            <a:schemeClr val="accent1"/>
          </a:lnRef>
          <a:fillRef idx="0">
            <a:schemeClr val="accent1"/>
          </a:fillRef>
          <a:effectRef idx="1">
            <a:schemeClr val="accent1"/>
          </a:effectRef>
          <a:fontRef idx="minor">
            <a:schemeClr val="tx1"/>
          </a:fontRef>
        </p:style>
      </p:cxnSp>
      <p:sp>
        <p:nvSpPr>
          <p:cNvPr id="32" name="Rounded Rectangle 31"/>
          <p:cNvSpPr/>
          <p:nvPr/>
        </p:nvSpPr>
        <p:spPr>
          <a:xfrm>
            <a:off x="9661916" y="2084831"/>
            <a:ext cx="1962851" cy="1874519"/>
          </a:xfrm>
          <a:prstGeom prst="roundRect">
            <a:avLst>
              <a:gd name="adj" fmla="val 5853"/>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Oval 32"/>
          <p:cNvSpPr/>
          <p:nvPr/>
        </p:nvSpPr>
        <p:spPr>
          <a:xfrm>
            <a:off x="9789932" y="2194560"/>
            <a:ext cx="384048" cy="384048"/>
          </a:xfrm>
          <a:prstGeom prst="ellipse">
            <a:avLst/>
          </a:prstGeom>
          <a:solidFill>
            <a:srgbClr val="151F23"/>
          </a:solidFill>
          <a:ln w="12700">
            <a:solidFill>
              <a:srgbClr val="E2B462"/>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9789932" y="2194560"/>
            <a:ext cx="384048" cy="384048"/>
          </a:xfrm>
          <a:prstGeom prst="rect">
            <a:avLst/>
          </a:prstGeom>
          <a:noFill/>
        </p:spPr>
        <p:txBody>
          <a:bodyPr wrap="square" lIns="45720" rIns="45720" tIns="27432" bIns="27432" anchor="ctr">
            <a:noAutofit/>
          </a:bodyPr>
          <a:lstStyle/>
          <a:p>
            <a:pPr algn="ctr">
              <a:lnSpc>
                <a:spcPct val="100000"/>
              </a:lnSpc>
            </a:pPr>
            <a:r>
              <a:rPr sz="1400" b="1" i="0">
                <a:solidFill>
                  <a:srgbClr val="E2B462"/>
                </a:solidFill>
                <a:latin typeface="Palatino Linotype"/>
              </a:rPr>
              <a:t>5</a:t>
            </a:r>
          </a:p>
        </p:txBody>
      </p:sp>
      <p:sp>
        <p:nvSpPr>
          <p:cNvPr id="35" name="TextBox 34"/>
          <p:cNvSpPr txBox="1"/>
          <p:nvPr/>
        </p:nvSpPr>
        <p:spPr>
          <a:xfrm>
            <a:off x="10247132" y="2157984"/>
            <a:ext cx="1267907" cy="457200"/>
          </a:xfrm>
          <a:prstGeom prst="rect">
            <a:avLst/>
          </a:prstGeom>
          <a:noFill/>
        </p:spPr>
        <p:txBody>
          <a:bodyPr wrap="square" lIns="45720" rIns="45720" tIns="27432" bIns="27432" anchor="ctr">
            <a:noAutofit/>
          </a:bodyPr>
          <a:lstStyle/>
          <a:p>
            <a:pPr algn="l">
              <a:lnSpc>
                <a:spcPct val="100000"/>
              </a:lnSpc>
            </a:pPr>
            <a:r>
              <a:rPr sz="1600" b="0" i="0">
                <a:solidFill>
                  <a:srgbClr val="F7F2E8"/>
                </a:solidFill>
                <a:latin typeface="Segoe UI Semibold"/>
              </a:rPr>
              <a:t>Configurar</a:t>
            </a:r>
          </a:p>
        </p:txBody>
      </p:sp>
      <p:sp>
        <p:nvSpPr>
          <p:cNvPr id="36" name="TextBox 35"/>
          <p:cNvSpPr txBox="1"/>
          <p:nvPr/>
        </p:nvSpPr>
        <p:spPr>
          <a:xfrm>
            <a:off x="9789932" y="2651760"/>
            <a:ext cx="1725107" cy="1234439"/>
          </a:xfrm>
          <a:prstGeom prst="rect">
            <a:avLst/>
          </a:prstGeom>
          <a:noFill/>
        </p:spPr>
        <p:txBody>
          <a:bodyPr wrap="square" lIns="45720" rIns="45720" tIns="27432" bIns="27432" anchor="t">
            <a:noAutofit/>
          </a:bodyPr>
          <a:lstStyle/>
          <a:p>
            <a:pPr algn="l">
              <a:lnSpc>
                <a:spcPct val="100000"/>
              </a:lnSpc>
            </a:pPr>
            <a:r>
              <a:rPr sz="1300" b="0" i="0">
                <a:solidFill>
                  <a:srgbClr val="A7B2B0"/>
                </a:solidFill>
                <a:latin typeface="Segoe UI"/>
              </a:rPr>
              <a:t>Abre Config </a:t>
            </a:r>
            <a:r>
              <a:rPr sz="1300" b="0" i="0">
                <a:solidFill>
                  <a:srgbClr val="A7B2B0"/>
                </a:solidFill>
                <a:latin typeface="Segoe UI Symbol"/>
              </a:rPr>
              <a:t>▸</a:t>
            </a:r>
            <a:r>
              <a:rPr sz="1300" b="0" i="0">
                <a:solidFill>
                  <a:srgbClr val="A7B2B0"/>
                </a:solidFill>
                <a:latin typeface="Segoe UI"/>
              </a:rPr>
              <a:t> Modelos y el Access Keys Wizard, y luego marca Multi-Turn.</a:t>
            </a:r>
          </a:p>
        </p:txBody>
      </p:sp>
      <p:sp>
        <p:nvSpPr>
          <p:cNvPr id="37" name="Rounded Rectangle 36"/>
          <p:cNvSpPr/>
          <p:nvPr/>
        </p:nvSpPr>
        <p:spPr>
          <a:xfrm>
            <a:off x="566928" y="4187952"/>
            <a:ext cx="11057839" cy="2011680"/>
          </a:xfrm>
          <a:prstGeom prst="roundRect">
            <a:avLst>
              <a:gd name="adj" fmla="val 5454"/>
            </a:avLst>
          </a:prstGeom>
          <a:solidFill>
            <a:srgbClr val="090E10"/>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8" name="Oval 37"/>
          <p:cNvSpPr/>
          <p:nvPr/>
        </p:nvSpPr>
        <p:spPr>
          <a:xfrm>
            <a:off x="768096" y="4352544"/>
            <a:ext cx="118872" cy="118872"/>
          </a:xfrm>
          <a:prstGeom prst="ellipse">
            <a:avLst/>
          </a:prstGeom>
          <a:solidFill>
            <a:srgbClr val="D957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9" name="Oval 38"/>
          <p:cNvSpPr/>
          <p:nvPr/>
        </p:nvSpPr>
        <p:spPr>
          <a:xfrm>
            <a:off x="987552" y="4352544"/>
            <a:ext cx="118872" cy="118872"/>
          </a:xfrm>
          <a:prstGeom prst="ellipse">
            <a:avLst/>
          </a:prstGeom>
          <a:solidFill>
            <a:srgbClr val="E2B4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0" name="Oval 39"/>
          <p:cNvSpPr/>
          <p:nvPr/>
        </p:nvSpPr>
        <p:spPr>
          <a:xfrm>
            <a:off x="1207007" y="4352544"/>
            <a:ext cx="118872" cy="118872"/>
          </a:xfrm>
          <a:prstGeom prst="ellipse">
            <a:avLst/>
          </a:prstGeom>
          <a:solidFill>
            <a:srgbClr val="3BBE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1" name="TextBox 40"/>
          <p:cNvSpPr txBox="1"/>
          <p:nvPr/>
        </p:nvSpPr>
        <p:spPr>
          <a:xfrm>
            <a:off x="795528" y="4572000"/>
            <a:ext cx="10600639" cy="1499616"/>
          </a:xfrm>
          <a:prstGeom prst="rect">
            <a:avLst/>
          </a:prstGeom>
          <a:noFill/>
        </p:spPr>
        <p:txBody>
          <a:bodyPr wrap="none" lIns="45720" rIns="45720" tIns="27432" bIns="27432" anchor="t">
            <a:noAutofit/>
          </a:bodyPr>
          <a:lstStyle/>
          <a:p>
            <a:pPr algn="l">
              <a:lnSpc>
                <a:spcPct val="100000"/>
              </a:lnSpc>
            </a:pPr>
            <a:r>
              <a:rPr sz="1300" b="0" i="0">
                <a:solidFill>
                  <a:srgbClr val="ECE7DC"/>
                </a:solidFill>
                <a:latin typeface="Consolas"/>
              </a:rPr>
              <a:t>git clone https://github.com/XAIHT/Tlamatini.git</a:t>
            </a:r>
          </a:p>
          <a:p>
            <a:pPr algn="l">
              <a:lnSpc>
                <a:spcPct val="100000"/>
              </a:lnSpc>
            </a:pPr>
            <a:r>
              <a:rPr sz="1300" b="0" i="0">
                <a:solidFill>
                  <a:srgbClr val="ECE7DC"/>
                </a:solidFill>
                <a:latin typeface="Consolas"/>
              </a:rPr>
              <a:t>cd Tlamatini</a:t>
            </a:r>
          </a:p>
          <a:p>
            <a:pPr algn="l">
              <a:lnSpc>
                <a:spcPct val="100000"/>
              </a:lnSpc>
            </a:pPr>
            <a:r>
              <a:rPr sz="1300" b="0" i="0">
                <a:solidFill>
                  <a:srgbClr val="ECE7DC"/>
                </a:solidFill>
                <a:latin typeface="Consolas"/>
              </a:rPr>
              <a:t>python -m venv venv &amp;&amp; venv\Scripts\activate</a:t>
            </a:r>
          </a:p>
          <a:p>
            <a:pPr algn="l">
              <a:lnSpc>
                <a:spcPct val="100000"/>
              </a:lnSpc>
            </a:pPr>
            <a:r>
              <a:rPr sz="1300" b="0" i="0">
                <a:solidFill>
                  <a:srgbClr val="ECE7DC"/>
                </a:solidFill>
                <a:latin typeface="Consolas"/>
              </a:rPr>
              <a:t>pip install -r requirements.txt</a:t>
            </a:r>
          </a:p>
          <a:p>
            <a:pPr algn="l">
              <a:lnSpc>
                <a:spcPct val="100000"/>
              </a:lnSpc>
            </a:pPr>
            <a:r>
              <a:rPr sz="1300" b="0" i="0">
                <a:solidFill>
                  <a:srgbClr val="ECE7DC"/>
                </a:solidFill>
                <a:latin typeface="Consolas"/>
              </a:rPr>
              <a:t>python Tlamatini/manage.py migrate</a:t>
            </a:r>
          </a:p>
          <a:p>
            <a:pPr algn="l">
              <a:lnSpc>
                <a:spcPct val="100000"/>
              </a:lnSpc>
            </a:pPr>
            <a:r>
              <a:rPr sz="1300" b="0" i="0">
                <a:solidFill>
                  <a:srgbClr val="ECE7DC"/>
                </a:solidFill>
                <a:latin typeface="Consolas"/>
              </a:rPr>
              <a:t>python Tlamatini/manage.py runserver --noreload</a:t>
            </a:r>
          </a:p>
          <a:p>
            <a:pPr algn="l">
              <a:lnSpc>
                <a:spcPct val="100000"/>
              </a:lnSpc>
            </a:pPr>
            <a:r>
              <a:rPr sz="1300" b="0" i="0">
                <a:solidFill>
                  <a:srgbClr val="A7B2B0"/>
                </a:solidFill>
                <a:latin typeface="Consolas"/>
              </a:rPr>
              <a:t># abre http://127.0.0.1:8000/   (login predeterminado: user / changeme)</a:t>
            </a:r>
          </a:p>
        </p:txBody>
      </p:sp>
      <p:cxnSp>
        <p:nvCxnSpPr>
          <p:cNvPr id="42" name="Connector 41"/>
          <p:cNvCxnSpPr/>
          <p:nvPr/>
        </p:nvCxnSpPr>
        <p:spPr>
          <a:xfrm>
            <a:off x="566928" y="6373368"/>
            <a:ext cx="11057839" cy="0"/>
          </a:xfrm>
          <a:prstGeom prst="line">
            <a:avLst/>
          </a:prstGeom>
          <a:ln w="7620">
            <a:solidFill>
              <a:srgbClr val="2A3A40"/>
            </a:solidFill>
          </a:ln>
        </p:spPr>
        <p:style>
          <a:lnRef idx="2">
            <a:schemeClr val="accent1"/>
          </a:lnRef>
          <a:fillRef idx="0">
            <a:schemeClr val="accent1"/>
          </a:fillRef>
          <a:effectRef idx="1">
            <a:schemeClr val="accent1"/>
          </a:effectRef>
          <a:fontRef idx="minor">
            <a:schemeClr val="tx1"/>
          </a:fontRef>
        </p:style>
      </p:cxnSp>
      <p:sp>
        <p:nvSpPr>
          <p:cNvPr id="43" name="TextBox 42"/>
          <p:cNvSpPr txBox="1"/>
          <p:nvPr/>
        </p:nvSpPr>
        <p:spPr>
          <a:xfrm>
            <a:off x="566928" y="6419088"/>
            <a:ext cx="6858000" cy="274320"/>
          </a:xfrm>
          <a:prstGeom prst="rect">
            <a:avLst/>
          </a:prstGeom>
          <a:noFill/>
        </p:spPr>
        <p:txBody>
          <a:bodyPr wrap="square" lIns="45720" rIns="45720" tIns="27432" bIns="27432" anchor="t">
            <a:noAutofit/>
          </a:bodyPr>
          <a:lstStyle/>
          <a:p>
            <a:pPr algn="l">
              <a:lnSpc>
                <a:spcPct val="100000"/>
              </a:lnSpc>
            </a:pPr>
            <a:r>
              <a:rPr sz="850" b="0" i="0" spc="120">
                <a:solidFill>
                  <a:srgbClr val="A7B2B0"/>
                </a:solidFill>
                <a:latin typeface="Segoe UI Semibold"/>
              </a:rPr>
              <a:t>TLAMATINI  ·  VII · INSTALAR, CONFIGURAR, EJECUTAR</a:t>
            </a:r>
          </a:p>
        </p:txBody>
      </p:sp>
      <p:sp>
        <p:nvSpPr>
          <p:cNvPr id="44" name="TextBox 43"/>
          <p:cNvSpPr txBox="1"/>
          <p:nvPr/>
        </p:nvSpPr>
        <p:spPr>
          <a:xfrm>
            <a:off x="8698687" y="6419088"/>
            <a:ext cx="2926080" cy="274320"/>
          </a:xfrm>
          <a:prstGeom prst="rect">
            <a:avLst/>
          </a:prstGeom>
          <a:noFill/>
        </p:spPr>
        <p:txBody>
          <a:bodyPr wrap="square" lIns="45720" rIns="45720" tIns="27432" bIns="27432" anchor="t">
            <a:noAutofit/>
          </a:bodyPr>
          <a:lstStyle/>
          <a:p>
            <a:pPr algn="r">
              <a:lnSpc>
                <a:spcPct val="100000"/>
              </a:lnSpc>
            </a:pPr>
            <a:r>
              <a:rPr sz="850" b="0" i="0" spc="100">
                <a:solidFill>
                  <a:srgbClr val="A7B2B0"/>
                </a:solidFill>
                <a:latin typeface="Segoe UI Semibold"/>
              </a:rPr>
              <a:t>v1.91.1   ·   108</a:t>
            </a:r>
          </a:p>
        </p:txBody>
      </p:sp>
    </p:spTree>
  </p:cSld>
  <p:clrMapOvr>
    <a:masterClrMapping/>
  </p:clrMapOvr>
</p:sld>
</file>

<file path=ppt/slides/slide10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content.png"/>
          <p:cNvPicPr>
            <a:picLocks noChangeAspect="1"/>
          </p:cNvPicPr>
          <p:nvPr/>
        </p:nvPicPr>
        <p:blipFill>
          <a:blip r:embed="rId2"/>
          <a:stretch>
            <a:fillRect/>
          </a:stretch>
        </p:blipFill>
        <p:spPr>
          <a:xfrm>
            <a:off x="0" y="0"/>
            <a:ext cx="12191695" cy="6858000"/>
          </a:xfrm>
          <a:prstGeom prst="rect">
            <a:avLst/>
          </a:prstGeom>
        </p:spPr>
      </p:pic>
      <p:sp>
        <p:nvSpPr>
          <p:cNvPr id="3" name="Diamond 2"/>
          <p:cNvSpPr/>
          <p:nvPr/>
        </p:nvSpPr>
        <p:spPr>
          <a:xfrm>
            <a:off x="566928" y="457200"/>
            <a:ext cx="100584" cy="100584"/>
          </a:xfrm>
          <a:prstGeom prst="diamond">
            <a:avLst/>
          </a:prstGeom>
          <a:solidFill>
            <a:srgbClr val="3BBE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49808" y="365760"/>
            <a:ext cx="8229600" cy="292608"/>
          </a:xfrm>
          <a:prstGeom prst="rect">
            <a:avLst/>
          </a:prstGeom>
          <a:noFill/>
        </p:spPr>
        <p:txBody>
          <a:bodyPr wrap="square" lIns="45720" rIns="45720" tIns="27432" bIns="27432" anchor="t">
            <a:noAutofit/>
          </a:bodyPr>
          <a:lstStyle/>
          <a:p>
            <a:pPr algn="l">
              <a:lnSpc>
                <a:spcPct val="100000"/>
              </a:lnSpc>
            </a:pPr>
            <a:r>
              <a:rPr sz="1100" b="0" i="0" spc="240">
                <a:solidFill>
                  <a:srgbClr val="C98457"/>
                </a:solidFill>
                <a:latin typeface="Segoe UI Semibold"/>
              </a:rPr>
              <a:t>COBERTURA DE DEPENDENCIAS</a:t>
            </a:r>
          </a:p>
        </p:txBody>
      </p:sp>
      <p:sp>
        <p:nvSpPr>
          <p:cNvPr id="5" name="TextBox 4"/>
          <p:cNvSpPr txBox="1"/>
          <p:nvPr/>
        </p:nvSpPr>
        <p:spPr>
          <a:xfrm>
            <a:off x="539496" y="676656"/>
            <a:ext cx="11057839" cy="658368"/>
          </a:xfrm>
          <a:prstGeom prst="rect">
            <a:avLst/>
          </a:prstGeom>
          <a:noFill/>
        </p:spPr>
        <p:txBody>
          <a:bodyPr wrap="square" lIns="45720" rIns="45720" tIns="27432" bIns="27432" anchor="t">
            <a:noAutofit/>
          </a:bodyPr>
          <a:lstStyle/>
          <a:p>
            <a:pPr algn="l">
              <a:lnSpc>
                <a:spcPct val="100000"/>
              </a:lnSpc>
            </a:pPr>
            <a:r>
              <a:rPr sz="3100" b="0" i="0">
                <a:solidFill>
                  <a:srgbClr val="F7F2E8"/>
                </a:solidFill>
                <a:latin typeface="Palatino Linotype"/>
              </a:rPr>
              <a:t>Cada librería de Python referida está contemplada</a:t>
            </a:r>
          </a:p>
        </p:txBody>
      </p:sp>
      <p:sp>
        <p:nvSpPr>
          <p:cNvPr id="6" name="Rectangle 5"/>
          <p:cNvSpPr/>
          <p:nvPr/>
        </p:nvSpPr>
        <p:spPr>
          <a:xfrm>
            <a:off x="566928" y="1344168"/>
            <a:ext cx="822960" cy="36576"/>
          </a:xfrm>
          <a:prstGeom prst="rect">
            <a:avLst/>
          </a:prstGeom>
          <a:solidFill>
            <a:srgbClr val="3BBE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566928" y="1444752"/>
            <a:ext cx="10692079" cy="585216"/>
          </a:xfrm>
          <a:prstGeom prst="rect">
            <a:avLst/>
          </a:prstGeom>
          <a:noFill/>
        </p:spPr>
        <p:txBody>
          <a:bodyPr wrap="square" lIns="45720" rIns="45720" tIns="27432" bIns="27432" anchor="t">
            <a:noAutofit/>
          </a:bodyPr>
          <a:lstStyle/>
          <a:p>
            <a:pPr algn="l">
              <a:lnSpc>
                <a:spcPct val="100000"/>
              </a:lnSpc>
            </a:pPr>
            <a:r>
              <a:rPr sz="1450" b="0" i="0">
                <a:solidFill>
                  <a:srgbClr val="A7B2B0"/>
                </a:solidFill>
                <a:latin typeface="Segoe UI Semilight"/>
              </a:rPr>
              <a:t>La auditoría de dependencias del 18 de octubre cubre los 85 agents, los helpers de build, los imports opcionales y las pruebas.</a:t>
            </a:r>
          </a:p>
        </p:txBody>
      </p:sp>
      <p:sp>
        <p:nvSpPr>
          <p:cNvPr id="8" name="Rounded Rectangle 7"/>
          <p:cNvSpPr/>
          <p:nvPr/>
        </p:nvSpPr>
        <p:spPr>
          <a:xfrm>
            <a:off x="566928" y="2084831"/>
            <a:ext cx="5428335" cy="1956816"/>
          </a:xfrm>
          <a:prstGeom prst="roundRect">
            <a:avLst>
              <a:gd name="adj" fmla="val 5607"/>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ectangle 8"/>
          <p:cNvSpPr/>
          <p:nvPr/>
        </p:nvSpPr>
        <p:spPr>
          <a:xfrm>
            <a:off x="731520" y="2212848"/>
            <a:ext cx="502920" cy="45720"/>
          </a:xfrm>
          <a:prstGeom prst="rect">
            <a:avLst/>
          </a:prstGeom>
          <a:solidFill>
            <a:srgbClr val="3BBE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694944" y="2304287"/>
            <a:ext cx="5172303" cy="353568"/>
          </a:xfrm>
          <a:prstGeom prst="rect">
            <a:avLst/>
          </a:prstGeom>
          <a:noFill/>
        </p:spPr>
        <p:txBody>
          <a:bodyPr wrap="square" lIns="45720" rIns="45720" tIns="27432" bIns="27432" anchor="t">
            <a:noAutofit/>
          </a:bodyPr>
          <a:lstStyle/>
          <a:p>
            <a:pPr algn="l">
              <a:lnSpc>
                <a:spcPct val="100000"/>
              </a:lnSpc>
            </a:pPr>
            <a:r>
              <a:rPr sz="1600" b="0" i="0">
                <a:solidFill>
                  <a:srgbClr val="F7F2E8"/>
                </a:solidFill>
                <a:latin typeface="Segoe UI Semibold"/>
              </a:rPr>
              <a:t>Protección de cobertura</a:t>
            </a:r>
          </a:p>
        </p:txBody>
      </p:sp>
      <p:sp>
        <p:nvSpPr>
          <p:cNvPr id="11" name="TextBox 10"/>
          <p:cNvSpPr txBox="1"/>
          <p:nvPr/>
        </p:nvSpPr>
        <p:spPr>
          <a:xfrm>
            <a:off x="694944" y="2657855"/>
            <a:ext cx="5172303" cy="1292352"/>
          </a:xfrm>
          <a:prstGeom prst="rect">
            <a:avLst/>
          </a:prstGeom>
          <a:noFill/>
        </p:spPr>
        <p:txBody>
          <a:bodyPr wrap="square" lIns="45720" rIns="45720" tIns="27432" bIns="27432" anchor="t">
            <a:noAutofit/>
          </a:bodyPr>
          <a:lstStyle/>
          <a:p>
            <a:pPr algn="l">
              <a:lnSpc>
                <a:spcPct val="100000"/>
              </a:lnSpc>
            </a:pPr>
            <a:r>
              <a:rPr sz="1300" b="0" i="0">
                <a:solidFill>
                  <a:srgbClr val="A7B2B0"/>
                </a:solidFill>
                <a:latin typeface="Segoe UI"/>
              </a:rPr>
              <a:t>scripts/check_requirements_coverage.py revisa los inventarios del source y del build.</a:t>
            </a:r>
          </a:p>
        </p:txBody>
      </p:sp>
      <p:sp>
        <p:nvSpPr>
          <p:cNvPr id="12" name="Rounded Rectangle 11"/>
          <p:cNvSpPr/>
          <p:nvPr/>
        </p:nvSpPr>
        <p:spPr>
          <a:xfrm>
            <a:off x="6196431" y="2084831"/>
            <a:ext cx="5428335" cy="1956816"/>
          </a:xfrm>
          <a:prstGeom prst="roundRect">
            <a:avLst>
              <a:gd name="adj" fmla="val 5607"/>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6361023" y="2212848"/>
            <a:ext cx="502920" cy="45720"/>
          </a:xfrm>
          <a:prstGeom prst="rect">
            <a:avLst/>
          </a:prstGeom>
          <a:solidFill>
            <a:srgbClr val="C984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324447" y="2304287"/>
            <a:ext cx="5172303" cy="353568"/>
          </a:xfrm>
          <a:prstGeom prst="rect">
            <a:avLst/>
          </a:prstGeom>
          <a:noFill/>
        </p:spPr>
        <p:txBody>
          <a:bodyPr wrap="square" lIns="45720" rIns="45720" tIns="27432" bIns="27432" anchor="t">
            <a:noAutofit/>
          </a:bodyPr>
          <a:lstStyle/>
          <a:p>
            <a:pPr algn="l">
              <a:lnSpc>
                <a:spcPct val="100000"/>
              </a:lnSpc>
            </a:pPr>
            <a:r>
              <a:rPr sz="1600" b="0" i="0">
                <a:solidFill>
                  <a:srgbClr val="F7F2E8"/>
                </a:solidFill>
                <a:latin typeface="Segoe UI Semibold"/>
              </a:rPr>
              <a:t>Verificación</a:t>
            </a:r>
          </a:p>
        </p:txBody>
      </p:sp>
      <p:sp>
        <p:nvSpPr>
          <p:cNvPr id="15" name="TextBox 14"/>
          <p:cNvSpPr txBox="1"/>
          <p:nvPr/>
        </p:nvSpPr>
        <p:spPr>
          <a:xfrm>
            <a:off x="6324447" y="2657855"/>
            <a:ext cx="5172303" cy="1292352"/>
          </a:xfrm>
          <a:prstGeom prst="rect">
            <a:avLst/>
          </a:prstGeom>
          <a:noFill/>
        </p:spPr>
        <p:txBody>
          <a:bodyPr wrap="square" lIns="45720" rIns="45720" tIns="27432" bIns="27432" anchor="t">
            <a:noAutofit/>
          </a:bodyPr>
          <a:lstStyle/>
          <a:p>
            <a:pPr algn="l">
              <a:lnSpc>
                <a:spcPct val="100000"/>
              </a:lnSpc>
            </a:pPr>
            <a:r>
              <a:rPr sz="1300" b="0" i="0">
                <a:solidFill>
                  <a:srgbClr val="A7B2B0"/>
                </a:solidFill>
                <a:latin typeface="Segoe UI"/>
              </a:rPr>
              <a:t>18 de octubre: sin declaraciones faltantes, errores de sintaxis ni imports dinámicos sin revisar.</a:t>
            </a:r>
          </a:p>
        </p:txBody>
      </p:sp>
      <p:sp>
        <p:nvSpPr>
          <p:cNvPr id="16" name="Rounded Rectangle 15"/>
          <p:cNvSpPr/>
          <p:nvPr/>
        </p:nvSpPr>
        <p:spPr>
          <a:xfrm>
            <a:off x="566928" y="4242816"/>
            <a:ext cx="5428335" cy="1956816"/>
          </a:xfrm>
          <a:prstGeom prst="roundRect">
            <a:avLst>
              <a:gd name="adj" fmla="val 5607"/>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31520" y="4370832"/>
            <a:ext cx="502920" cy="45720"/>
          </a:xfrm>
          <a:prstGeom prst="rect">
            <a:avLst/>
          </a:prstGeom>
          <a:solidFill>
            <a:srgbClr val="E2B4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694944" y="4462272"/>
            <a:ext cx="5172303" cy="353568"/>
          </a:xfrm>
          <a:prstGeom prst="rect">
            <a:avLst/>
          </a:prstGeom>
          <a:noFill/>
        </p:spPr>
        <p:txBody>
          <a:bodyPr wrap="square" lIns="45720" rIns="45720" tIns="27432" bIns="27432" anchor="t">
            <a:noAutofit/>
          </a:bodyPr>
          <a:lstStyle/>
          <a:p>
            <a:pPr algn="l">
              <a:lnSpc>
                <a:spcPct val="100000"/>
              </a:lnSpc>
            </a:pPr>
            <a:r>
              <a:rPr sz="1600" b="0" i="0">
                <a:solidFill>
                  <a:srgbClr val="F7F2E8"/>
                </a:solidFill>
                <a:latin typeface="Segoe UI Semibold"/>
              </a:rPr>
              <a:t>Evidencia anterior</a:t>
            </a:r>
          </a:p>
        </p:txBody>
      </p:sp>
      <p:sp>
        <p:nvSpPr>
          <p:cNvPr id="19" name="TextBox 18"/>
          <p:cNvSpPr txBox="1"/>
          <p:nvPr/>
        </p:nvSpPr>
        <p:spPr>
          <a:xfrm>
            <a:off x="694944" y="4815840"/>
            <a:ext cx="5172303" cy="1292352"/>
          </a:xfrm>
          <a:prstGeom prst="rect">
            <a:avLst/>
          </a:prstGeom>
          <a:noFill/>
        </p:spPr>
        <p:txBody>
          <a:bodyPr wrap="square" lIns="45720" rIns="45720" tIns="27432" bIns="27432" anchor="t">
            <a:noAutofit/>
          </a:bodyPr>
          <a:lstStyle/>
          <a:p>
            <a:pPr algn="l">
              <a:lnSpc>
                <a:spcPct val="100000"/>
              </a:lnSpc>
            </a:pPr>
            <a:r>
              <a:rPr sz="1300" b="0" i="0">
                <a:solidFill>
                  <a:srgbClr val="A7B2B0"/>
                </a:solidFill>
                <a:latin typeface="Segoe UI"/>
              </a:rPr>
              <a:t>27 de septiembre: pasaron las ejecuciones de prueba de main/ESPHome y las revisiones rápidas de dependencias en un entorno temporal.</a:t>
            </a:r>
          </a:p>
        </p:txBody>
      </p:sp>
      <p:sp>
        <p:nvSpPr>
          <p:cNvPr id="20" name="Rounded Rectangle 19"/>
          <p:cNvSpPr/>
          <p:nvPr/>
        </p:nvSpPr>
        <p:spPr>
          <a:xfrm>
            <a:off x="6196431" y="4242816"/>
            <a:ext cx="5428335" cy="1956816"/>
          </a:xfrm>
          <a:prstGeom prst="roundRect">
            <a:avLst>
              <a:gd name="adj" fmla="val 5607"/>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ectangle 20"/>
          <p:cNvSpPr/>
          <p:nvPr/>
        </p:nvSpPr>
        <p:spPr>
          <a:xfrm>
            <a:off x="6361023" y="4370832"/>
            <a:ext cx="502920" cy="45720"/>
          </a:xfrm>
          <a:prstGeom prst="rect">
            <a:avLst/>
          </a:prstGeom>
          <a:solidFill>
            <a:srgbClr val="46D2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6324447" y="4462272"/>
            <a:ext cx="5172303" cy="353568"/>
          </a:xfrm>
          <a:prstGeom prst="rect">
            <a:avLst/>
          </a:prstGeom>
          <a:noFill/>
        </p:spPr>
        <p:txBody>
          <a:bodyPr wrap="square" lIns="45720" rIns="45720" tIns="27432" bIns="27432" anchor="t">
            <a:noAutofit/>
          </a:bodyPr>
          <a:lstStyle/>
          <a:p>
            <a:pPr algn="l">
              <a:lnSpc>
                <a:spcPct val="100000"/>
              </a:lnSpc>
            </a:pPr>
            <a:r>
              <a:rPr sz="1600" b="0" i="0">
                <a:solidFill>
                  <a:srgbClr val="F7F2E8"/>
                </a:solidFill>
                <a:latin typeface="Segoe UI Semibold"/>
              </a:rPr>
              <a:t>Límites</a:t>
            </a:r>
          </a:p>
        </p:txBody>
      </p:sp>
      <p:sp>
        <p:nvSpPr>
          <p:cNvPr id="23" name="TextBox 22"/>
          <p:cNvSpPr txBox="1"/>
          <p:nvPr/>
        </p:nvSpPr>
        <p:spPr>
          <a:xfrm>
            <a:off x="6324447" y="4815840"/>
            <a:ext cx="5172303" cy="1292352"/>
          </a:xfrm>
          <a:prstGeom prst="rect">
            <a:avLst/>
          </a:prstGeom>
          <a:noFill/>
        </p:spPr>
        <p:txBody>
          <a:bodyPr wrap="square" lIns="45720" rIns="45720" tIns="27432" bIns="27432" anchor="t">
            <a:noAutofit/>
          </a:bodyPr>
          <a:lstStyle/>
          <a:p>
            <a:pPr algn="l">
              <a:lnSpc>
                <a:spcPct val="100000"/>
              </a:lnSpc>
            </a:pPr>
            <a:r>
              <a:rPr sz="1300" b="0" i="0">
                <a:solidFill>
                  <a:srgbClr val="A7B2B0"/>
                </a:solidFill>
                <a:latin typeface="Segoe UI"/>
              </a:rPr>
              <a:t>Una instalación limpia de las dependencias de Python no certifica el instalador compilado ni cada integración externa.</a:t>
            </a:r>
          </a:p>
        </p:txBody>
      </p:sp>
      <p:cxnSp>
        <p:nvCxnSpPr>
          <p:cNvPr id="24" name="Connector 23"/>
          <p:cNvCxnSpPr/>
          <p:nvPr/>
        </p:nvCxnSpPr>
        <p:spPr>
          <a:xfrm>
            <a:off x="566928" y="6373368"/>
            <a:ext cx="11057839" cy="0"/>
          </a:xfrm>
          <a:prstGeom prst="line">
            <a:avLst/>
          </a:prstGeom>
          <a:ln w="7620">
            <a:solidFill>
              <a:srgbClr val="2A3A40"/>
            </a:solidFill>
          </a:ln>
        </p:spPr>
        <p:style>
          <a:lnRef idx="2">
            <a:schemeClr val="accent1"/>
          </a:lnRef>
          <a:fillRef idx="0">
            <a:schemeClr val="accent1"/>
          </a:fillRef>
          <a:effectRef idx="1">
            <a:schemeClr val="accent1"/>
          </a:effectRef>
          <a:fontRef idx="minor">
            <a:schemeClr val="tx1"/>
          </a:fontRef>
        </p:style>
      </p:cxnSp>
      <p:sp>
        <p:nvSpPr>
          <p:cNvPr id="25" name="TextBox 24"/>
          <p:cNvSpPr txBox="1"/>
          <p:nvPr/>
        </p:nvSpPr>
        <p:spPr>
          <a:xfrm>
            <a:off x="566928" y="6419088"/>
            <a:ext cx="6858000" cy="274320"/>
          </a:xfrm>
          <a:prstGeom prst="rect">
            <a:avLst/>
          </a:prstGeom>
          <a:noFill/>
        </p:spPr>
        <p:txBody>
          <a:bodyPr wrap="square" lIns="45720" rIns="45720" tIns="27432" bIns="27432" anchor="t">
            <a:noAutofit/>
          </a:bodyPr>
          <a:lstStyle/>
          <a:p>
            <a:pPr algn="l">
              <a:lnSpc>
                <a:spcPct val="100000"/>
              </a:lnSpc>
            </a:pPr>
            <a:r>
              <a:rPr sz="850" b="0" i="0" spc="120">
                <a:solidFill>
                  <a:srgbClr val="A7B2B0"/>
                </a:solidFill>
                <a:latin typeface="Segoe UI Semibold"/>
              </a:rPr>
              <a:t>TLAMATINI  ·  VII · INSTALAR, CONFIGURAR, EJECUTAR</a:t>
            </a:r>
          </a:p>
        </p:txBody>
      </p:sp>
      <p:sp>
        <p:nvSpPr>
          <p:cNvPr id="26" name="TextBox 25"/>
          <p:cNvSpPr txBox="1"/>
          <p:nvPr/>
        </p:nvSpPr>
        <p:spPr>
          <a:xfrm>
            <a:off x="8698687" y="6419088"/>
            <a:ext cx="2926080" cy="274320"/>
          </a:xfrm>
          <a:prstGeom prst="rect">
            <a:avLst/>
          </a:prstGeom>
          <a:noFill/>
        </p:spPr>
        <p:txBody>
          <a:bodyPr wrap="square" lIns="45720" rIns="45720" tIns="27432" bIns="27432" anchor="t">
            <a:noAutofit/>
          </a:bodyPr>
          <a:lstStyle/>
          <a:p>
            <a:pPr algn="r">
              <a:lnSpc>
                <a:spcPct val="100000"/>
              </a:lnSpc>
            </a:pPr>
            <a:r>
              <a:rPr sz="850" b="0" i="0" spc="100">
                <a:solidFill>
                  <a:srgbClr val="A7B2B0"/>
                </a:solidFill>
                <a:latin typeface="Segoe UI Semibold"/>
              </a:rPr>
              <a:t>v1.91.1   ·   109</a:t>
            </a:r>
          </a:p>
        </p:txBody>
      </p:sp>
    </p:spTree>
  </p:cSld>
  <p:clrMapOvr>
    <a:masterClrMapping/>
  </p:clrMapOvr>
</p:sld>
</file>

<file path=ppt/slides/slide1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content.png"/>
          <p:cNvPicPr>
            <a:picLocks noChangeAspect="1"/>
          </p:cNvPicPr>
          <p:nvPr/>
        </p:nvPicPr>
        <p:blipFill>
          <a:blip r:embed="rId2"/>
          <a:stretch>
            <a:fillRect/>
          </a:stretch>
        </p:blipFill>
        <p:spPr>
          <a:xfrm>
            <a:off x="0" y="0"/>
            <a:ext cx="12191695" cy="6858000"/>
          </a:xfrm>
          <a:prstGeom prst="rect">
            <a:avLst/>
          </a:prstGeom>
        </p:spPr>
      </p:pic>
      <p:sp>
        <p:nvSpPr>
          <p:cNvPr id="3" name="Diamond 2"/>
          <p:cNvSpPr/>
          <p:nvPr/>
        </p:nvSpPr>
        <p:spPr>
          <a:xfrm>
            <a:off x="566928" y="457200"/>
            <a:ext cx="100584" cy="100584"/>
          </a:xfrm>
          <a:prstGeom prst="diamond">
            <a:avLst/>
          </a:prstGeom>
          <a:solidFill>
            <a:srgbClr val="3BBE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49808" y="365760"/>
            <a:ext cx="8229600" cy="292608"/>
          </a:xfrm>
          <a:prstGeom prst="rect">
            <a:avLst/>
          </a:prstGeom>
          <a:noFill/>
        </p:spPr>
        <p:txBody>
          <a:bodyPr wrap="square" lIns="45720" rIns="45720" tIns="27432" bIns="27432" anchor="t">
            <a:noAutofit/>
          </a:bodyPr>
          <a:lstStyle/>
          <a:p>
            <a:pPr algn="l">
              <a:lnSpc>
                <a:spcPct val="100000"/>
              </a:lnSpc>
            </a:pPr>
            <a:r>
              <a:rPr sz="1100" b="0" i="0" spc="240">
                <a:solidFill>
                  <a:srgbClr val="C98457"/>
                </a:solidFill>
                <a:latin typeface="Segoe UI Semibold"/>
              </a:rPr>
              <a:t>RUNTIME</a:t>
            </a:r>
          </a:p>
        </p:txBody>
      </p:sp>
      <p:sp>
        <p:nvSpPr>
          <p:cNvPr id="5" name="TextBox 4"/>
          <p:cNvSpPr txBox="1"/>
          <p:nvPr/>
        </p:nvSpPr>
        <p:spPr>
          <a:xfrm>
            <a:off x="539496" y="676656"/>
            <a:ext cx="11057839" cy="658368"/>
          </a:xfrm>
          <a:prstGeom prst="rect">
            <a:avLst/>
          </a:prstGeom>
          <a:noFill/>
        </p:spPr>
        <p:txBody>
          <a:bodyPr wrap="square" lIns="45720" rIns="45720" tIns="27432" bIns="27432" anchor="t">
            <a:noAutofit/>
          </a:bodyPr>
          <a:lstStyle/>
          <a:p>
            <a:pPr algn="l">
              <a:lnSpc>
                <a:spcPct val="100000"/>
              </a:lnSpc>
            </a:pPr>
            <a:r>
              <a:rPr sz="3100" b="0" i="0">
                <a:solidFill>
                  <a:srgbClr val="F7F2E8"/>
                </a:solidFill>
                <a:latin typeface="Palatino Linotype"/>
              </a:rPr>
              <a:t>Dos modos y sus puertos de servicio</a:t>
            </a:r>
          </a:p>
        </p:txBody>
      </p:sp>
      <p:sp>
        <p:nvSpPr>
          <p:cNvPr id="6" name="Rectangle 5"/>
          <p:cNvSpPr/>
          <p:nvPr/>
        </p:nvSpPr>
        <p:spPr>
          <a:xfrm>
            <a:off x="566928" y="1344168"/>
            <a:ext cx="822960" cy="36576"/>
          </a:xfrm>
          <a:prstGeom prst="rect">
            <a:avLst/>
          </a:prstGeom>
          <a:solidFill>
            <a:srgbClr val="3BBE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566928" y="1444752"/>
            <a:ext cx="10692079" cy="585216"/>
          </a:xfrm>
          <a:prstGeom prst="rect">
            <a:avLst/>
          </a:prstGeom>
          <a:noFill/>
        </p:spPr>
        <p:txBody>
          <a:bodyPr wrap="square" lIns="45720" rIns="45720" tIns="27432" bIns="27432" anchor="t">
            <a:noAutofit/>
          </a:bodyPr>
          <a:lstStyle/>
          <a:p>
            <a:pPr algn="l">
              <a:lnSpc>
                <a:spcPct val="100000"/>
              </a:lnSpc>
            </a:pPr>
            <a:r>
              <a:rPr sz="1450" b="0" i="0">
                <a:solidFill>
                  <a:srgbClr val="A7B2B0"/>
                </a:solidFill>
                <a:latin typeface="Segoe UI Semilight"/>
              </a:rPr>
              <a:t>Tlamatini corre desde el source o como un ejecutable congelado construido con PyInstaller. Sólo cambia la resolución de paths, y </a:t>
            </a:r>
            <a:r>
              <a:rPr sz="1350" b="0" i="0">
                <a:solidFill>
                  <a:srgbClr val="E2B462"/>
                </a:solidFill>
                <a:latin typeface="Consolas"/>
              </a:rPr>
              <a:t>CONFIG_PATH</a:t>
            </a:r>
            <a:r>
              <a:rPr sz="1450" b="0" i="0">
                <a:solidFill>
                  <a:srgbClr val="A7B2B0"/>
                </a:solidFill>
                <a:latin typeface="Segoe UI Semilight"/>
              </a:rPr>
              <a:t> reemplaza la ubicación de la configuración en ambos.</a:t>
            </a:r>
          </a:p>
        </p:txBody>
      </p:sp>
      <p:sp>
        <p:nvSpPr>
          <p:cNvPr id="8" name="Rounded Rectangle 7"/>
          <p:cNvSpPr/>
          <p:nvPr/>
        </p:nvSpPr>
        <p:spPr>
          <a:xfrm>
            <a:off x="566928" y="2084831"/>
            <a:ext cx="5212080" cy="932688"/>
          </a:xfrm>
          <a:prstGeom prst="roundRect">
            <a:avLst>
              <a:gd name="adj" fmla="val 9803"/>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Diamond 8"/>
          <p:cNvSpPr/>
          <p:nvPr/>
        </p:nvSpPr>
        <p:spPr>
          <a:xfrm>
            <a:off x="768096" y="2487168"/>
            <a:ext cx="128016" cy="128016"/>
          </a:xfrm>
          <a:prstGeom prst="diamond">
            <a:avLst/>
          </a:prstGeom>
          <a:solidFill>
            <a:srgbClr val="3BBE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1024128" y="2139696"/>
            <a:ext cx="1554480" cy="822960"/>
          </a:xfrm>
          <a:prstGeom prst="rect">
            <a:avLst/>
          </a:prstGeom>
          <a:noFill/>
        </p:spPr>
        <p:txBody>
          <a:bodyPr wrap="square" lIns="45720" rIns="45720" tIns="27432" bIns="27432" anchor="ctr">
            <a:noAutofit/>
          </a:bodyPr>
          <a:lstStyle/>
          <a:p>
            <a:pPr algn="l">
              <a:lnSpc>
                <a:spcPct val="100000"/>
              </a:lnSpc>
            </a:pPr>
            <a:r>
              <a:rPr sz="1600" b="0" i="0">
                <a:solidFill>
                  <a:srgbClr val="F7F2E8"/>
                </a:solidFill>
                <a:latin typeface="Segoe UI Semibold"/>
              </a:rPr>
              <a:t>Source</a:t>
            </a:r>
          </a:p>
        </p:txBody>
      </p:sp>
      <p:sp>
        <p:nvSpPr>
          <p:cNvPr id="11" name="TextBox 10"/>
          <p:cNvSpPr txBox="1"/>
          <p:nvPr/>
        </p:nvSpPr>
        <p:spPr>
          <a:xfrm>
            <a:off x="2670048" y="2139696"/>
            <a:ext cx="2971800" cy="822960"/>
          </a:xfrm>
          <a:prstGeom prst="rect">
            <a:avLst/>
          </a:prstGeom>
          <a:noFill/>
        </p:spPr>
        <p:txBody>
          <a:bodyPr wrap="square" lIns="45720" rIns="45720" tIns="27432" bIns="27432" anchor="ctr">
            <a:noAutofit/>
          </a:bodyPr>
          <a:lstStyle/>
          <a:p>
            <a:pPr algn="l">
              <a:lnSpc>
                <a:spcPct val="100000"/>
              </a:lnSpc>
            </a:pPr>
            <a:r>
              <a:rPr sz="1400" b="0" i="0">
                <a:solidFill>
                  <a:srgbClr val="A7B2B0"/>
                </a:solidFill>
                <a:latin typeface="Segoe UI"/>
              </a:rPr>
              <a:t>Corre desde el repositorio con manage.py.</a:t>
            </a:r>
          </a:p>
        </p:txBody>
      </p:sp>
      <p:sp>
        <p:nvSpPr>
          <p:cNvPr id="12" name="Rounded Rectangle 11"/>
          <p:cNvSpPr/>
          <p:nvPr/>
        </p:nvSpPr>
        <p:spPr>
          <a:xfrm>
            <a:off x="566928" y="3145536"/>
            <a:ext cx="5212080" cy="932688"/>
          </a:xfrm>
          <a:prstGeom prst="roundRect">
            <a:avLst>
              <a:gd name="adj" fmla="val 9803"/>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Diamond 12"/>
          <p:cNvSpPr/>
          <p:nvPr/>
        </p:nvSpPr>
        <p:spPr>
          <a:xfrm>
            <a:off x="768096" y="3547872"/>
            <a:ext cx="128016" cy="128016"/>
          </a:xfrm>
          <a:prstGeom prst="diamond">
            <a:avLst/>
          </a:prstGeom>
          <a:solidFill>
            <a:srgbClr val="C984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1024128" y="3200400"/>
            <a:ext cx="1554480" cy="822960"/>
          </a:xfrm>
          <a:prstGeom prst="rect">
            <a:avLst/>
          </a:prstGeom>
          <a:noFill/>
        </p:spPr>
        <p:txBody>
          <a:bodyPr wrap="square" lIns="45720" rIns="45720" tIns="27432" bIns="27432" anchor="ctr">
            <a:noAutofit/>
          </a:bodyPr>
          <a:lstStyle/>
          <a:p>
            <a:pPr algn="l">
              <a:lnSpc>
                <a:spcPct val="100000"/>
              </a:lnSpc>
            </a:pPr>
            <a:r>
              <a:rPr sz="1600" b="0" i="0">
                <a:solidFill>
                  <a:srgbClr val="F7F2E8"/>
                </a:solidFill>
                <a:latin typeface="Segoe UI Semibold"/>
              </a:rPr>
              <a:t>Congelado</a:t>
            </a:r>
          </a:p>
        </p:txBody>
      </p:sp>
      <p:sp>
        <p:nvSpPr>
          <p:cNvPr id="15" name="TextBox 14"/>
          <p:cNvSpPr txBox="1"/>
          <p:nvPr/>
        </p:nvSpPr>
        <p:spPr>
          <a:xfrm>
            <a:off x="2670048" y="3200400"/>
            <a:ext cx="2971800" cy="822960"/>
          </a:xfrm>
          <a:prstGeom prst="rect">
            <a:avLst/>
          </a:prstGeom>
          <a:noFill/>
        </p:spPr>
        <p:txBody>
          <a:bodyPr wrap="square" lIns="45720" rIns="45720" tIns="27432" bIns="27432" anchor="ctr">
            <a:noAutofit/>
          </a:bodyPr>
          <a:lstStyle/>
          <a:p>
            <a:pPr algn="l">
              <a:lnSpc>
                <a:spcPct val="100000"/>
              </a:lnSpc>
            </a:pPr>
            <a:r>
              <a:rPr sz="1400" b="0" i="0">
                <a:solidFill>
                  <a:srgbClr val="A7B2B0"/>
                </a:solidFill>
                <a:latin typeface="Segoe UI"/>
              </a:rPr>
              <a:t>Un ejecutable de PyInstaller con su propio Python.</a:t>
            </a:r>
          </a:p>
        </p:txBody>
      </p:sp>
      <p:sp>
        <p:nvSpPr>
          <p:cNvPr id="16" name="Rounded Rectangle 15"/>
          <p:cNvSpPr/>
          <p:nvPr/>
        </p:nvSpPr>
        <p:spPr>
          <a:xfrm>
            <a:off x="566928" y="4206240"/>
            <a:ext cx="5212080" cy="932688"/>
          </a:xfrm>
          <a:prstGeom prst="roundRect">
            <a:avLst>
              <a:gd name="adj" fmla="val 9803"/>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Diamond 16"/>
          <p:cNvSpPr/>
          <p:nvPr/>
        </p:nvSpPr>
        <p:spPr>
          <a:xfrm>
            <a:off x="768096" y="4608575"/>
            <a:ext cx="128016" cy="128016"/>
          </a:xfrm>
          <a:prstGeom prst="diamond">
            <a:avLst/>
          </a:prstGeom>
          <a:solidFill>
            <a:srgbClr val="E2B4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1024128" y="4261103"/>
            <a:ext cx="1554480" cy="822960"/>
          </a:xfrm>
          <a:prstGeom prst="rect">
            <a:avLst/>
          </a:prstGeom>
          <a:noFill/>
        </p:spPr>
        <p:txBody>
          <a:bodyPr wrap="square" lIns="45720" rIns="45720" tIns="27432" bIns="27432" anchor="ctr">
            <a:noAutofit/>
          </a:bodyPr>
          <a:lstStyle/>
          <a:p>
            <a:pPr algn="l">
              <a:lnSpc>
                <a:spcPct val="100000"/>
              </a:lnSpc>
            </a:pPr>
            <a:r>
              <a:rPr sz="1600" b="0" i="0">
                <a:solidFill>
                  <a:srgbClr val="F7F2E8"/>
                </a:solidFill>
                <a:latin typeface="Segoe UI Semibold"/>
              </a:rPr>
              <a:t>Self-modify</a:t>
            </a:r>
          </a:p>
        </p:txBody>
      </p:sp>
      <p:sp>
        <p:nvSpPr>
          <p:cNvPr id="19" name="TextBox 18"/>
          <p:cNvSpPr txBox="1"/>
          <p:nvPr/>
        </p:nvSpPr>
        <p:spPr>
          <a:xfrm>
            <a:off x="2670048" y="4261103"/>
            <a:ext cx="2971800" cy="822960"/>
          </a:xfrm>
          <a:prstGeom prst="rect">
            <a:avLst/>
          </a:prstGeom>
          <a:noFill/>
        </p:spPr>
        <p:txBody>
          <a:bodyPr wrap="square" lIns="45720" rIns="45720" tIns="27432" bIns="27432" anchor="ctr">
            <a:noAutofit/>
          </a:bodyPr>
          <a:lstStyle/>
          <a:p>
            <a:pPr algn="l">
              <a:lnSpc>
                <a:spcPct val="100000"/>
              </a:lnSpc>
            </a:pPr>
            <a:r>
              <a:rPr sz="1400" b="0" i="0">
                <a:solidFill>
                  <a:srgbClr val="A7B2B0"/>
                </a:solidFill>
                <a:latin typeface="Segoe UI"/>
              </a:rPr>
              <a:t>Siempre desde el source; opcional en un build; un interruptor lo envía.</a:t>
            </a:r>
          </a:p>
        </p:txBody>
      </p:sp>
      <p:sp>
        <p:nvSpPr>
          <p:cNvPr id="20" name="Rounded Rectangle 19"/>
          <p:cNvSpPr/>
          <p:nvPr/>
        </p:nvSpPr>
        <p:spPr>
          <a:xfrm>
            <a:off x="566928" y="5266944"/>
            <a:ext cx="5212080" cy="932688"/>
          </a:xfrm>
          <a:prstGeom prst="roundRect">
            <a:avLst>
              <a:gd name="adj" fmla="val 9803"/>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Diamond 20"/>
          <p:cNvSpPr/>
          <p:nvPr/>
        </p:nvSpPr>
        <p:spPr>
          <a:xfrm>
            <a:off x="768096" y="5669279"/>
            <a:ext cx="128016" cy="128016"/>
          </a:xfrm>
          <a:prstGeom prst="diamond">
            <a:avLst/>
          </a:prstGeom>
          <a:solidFill>
            <a:srgbClr val="46D2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1024128" y="5321807"/>
            <a:ext cx="1554480" cy="822960"/>
          </a:xfrm>
          <a:prstGeom prst="rect">
            <a:avLst/>
          </a:prstGeom>
          <a:noFill/>
        </p:spPr>
        <p:txBody>
          <a:bodyPr wrap="square" lIns="45720" rIns="45720" tIns="27432" bIns="27432" anchor="ctr">
            <a:noAutofit/>
          </a:bodyPr>
          <a:lstStyle/>
          <a:p>
            <a:pPr algn="l">
              <a:lnSpc>
                <a:spcPct val="100000"/>
              </a:lnSpc>
            </a:pPr>
            <a:r>
              <a:rPr sz="1600" b="0" i="0">
                <a:solidFill>
                  <a:srgbClr val="F7F2E8"/>
                </a:solidFill>
                <a:latin typeface="Segoe UI Semibold"/>
              </a:rPr>
              <a:t>Puertos</a:t>
            </a:r>
          </a:p>
        </p:txBody>
      </p:sp>
      <p:sp>
        <p:nvSpPr>
          <p:cNvPr id="23" name="TextBox 22"/>
          <p:cNvSpPr txBox="1"/>
          <p:nvPr/>
        </p:nvSpPr>
        <p:spPr>
          <a:xfrm>
            <a:off x="2670048" y="5321807"/>
            <a:ext cx="2971800" cy="822960"/>
          </a:xfrm>
          <a:prstGeom prst="rect">
            <a:avLst/>
          </a:prstGeom>
          <a:noFill/>
        </p:spPr>
        <p:txBody>
          <a:bodyPr wrap="square" lIns="45720" rIns="45720" tIns="27432" bIns="27432" anchor="ctr">
            <a:noAutofit/>
          </a:bodyPr>
          <a:lstStyle/>
          <a:p>
            <a:pPr algn="l">
              <a:lnSpc>
                <a:spcPct val="100000"/>
              </a:lnSpc>
            </a:pPr>
            <a:r>
              <a:rPr sz="1400" b="0" i="0">
                <a:solidFill>
                  <a:srgbClr val="A7B2B0"/>
                </a:solidFill>
                <a:latin typeface="Segoe UI"/>
              </a:rPr>
              <a:t>Predeterminados: 8000, 8765 y 50051; configura los clientes y los servidores juntos.</a:t>
            </a:r>
          </a:p>
        </p:txBody>
      </p:sp>
      <p:sp>
        <p:nvSpPr>
          <p:cNvPr id="24" name="Rounded Rectangle 23"/>
          <p:cNvSpPr/>
          <p:nvPr/>
        </p:nvSpPr>
        <p:spPr>
          <a:xfrm>
            <a:off x="6144768" y="2084831"/>
            <a:ext cx="5479999" cy="2468880"/>
          </a:xfrm>
          <a:prstGeom prst="roundRect">
            <a:avLst>
              <a:gd name="adj" fmla="val 2962"/>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ounded Rectangle 24"/>
          <p:cNvSpPr/>
          <p:nvPr/>
        </p:nvSpPr>
        <p:spPr>
          <a:xfrm>
            <a:off x="6144768" y="2084831"/>
            <a:ext cx="5479999" cy="384048"/>
          </a:xfrm>
          <a:prstGeom prst="roundRect">
            <a:avLst>
              <a:gd name="adj" fmla="val 19047"/>
            </a:avLst>
          </a:prstGeom>
          <a:solidFill>
            <a:srgbClr val="151F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6217920" y="2121408"/>
            <a:ext cx="949695" cy="310896"/>
          </a:xfrm>
          <a:prstGeom prst="rect">
            <a:avLst/>
          </a:prstGeom>
          <a:noFill/>
        </p:spPr>
        <p:txBody>
          <a:bodyPr wrap="square" lIns="45720" rIns="45720" tIns="27432" bIns="27432" anchor="ctr">
            <a:noAutofit/>
          </a:bodyPr>
          <a:lstStyle/>
          <a:p>
            <a:pPr algn="l">
              <a:lnSpc>
                <a:spcPct val="100000"/>
              </a:lnSpc>
            </a:pPr>
            <a:r>
              <a:rPr sz="1000" b="0" i="0" spc="120">
                <a:solidFill>
                  <a:srgbClr val="E2B462"/>
                </a:solidFill>
                <a:latin typeface="Segoe UI Semibold"/>
              </a:rPr>
              <a:t>PUERTO</a:t>
            </a:r>
          </a:p>
        </p:txBody>
      </p:sp>
      <p:sp>
        <p:nvSpPr>
          <p:cNvPr id="27" name="TextBox 26"/>
          <p:cNvSpPr txBox="1"/>
          <p:nvPr/>
        </p:nvSpPr>
        <p:spPr>
          <a:xfrm>
            <a:off x="7313919" y="2121408"/>
            <a:ext cx="1059295" cy="310896"/>
          </a:xfrm>
          <a:prstGeom prst="rect">
            <a:avLst/>
          </a:prstGeom>
          <a:noFill/>
        </p:spPr>
        <p:txBody>
          <a:bodyPr wrap="square" lIns="45720" rIns="45720" tIns="27432" bIns="27432" anchor="ctr">
            <a:noAutofit/>
          </a:bodyPr>
          <a:lstStyle/>
          <a:p>
            <a:pPr algn="l">
              <a:lnSpc>
                <a:spcPct val="100000"/>
              </a:lnSpc>
            </a:pPr>
            <a:r>
              <a:rPr sz="1000" b="0" i="0" spc="120">
                <a:solidFill>
                  <a:srgbClr val="E2B462"/>
                </a:solidFill>
                <a:latin typeface="Segoe UI Semibold"/>
              </a:rPr>
              <a:t>PROTOCOLO</a:t>
            </a:r>
          </a:p>
        </p:txBody>
      </p:sp>
      <p:sp>
        <p:nvSpPr>
          <p:cNvPr id="28" name="TextBox 27"/>
          <p:cNvSpPr txBox="1"/>
          <p:nvPr/>
        </p:nvSpPr>
        <p:spPr>
          <a:xfrm>
            <a:off x="8519519" y="2121408"/>
            <a:ext cx="3032095" cy="310896"/>
          </a:xfrm>
          <a:prstGeom prst="rect">
            <a:avLst/>
          </a:prstGeom>
          <a:noFill/>
        </p:spPr>
        <p:txBody>
          <a:bodyPr wrap="square" lIns="45720" rIns="45720" tIns="27432" bIns="27432" anchor="ctr">
            <a:noAutofit/>
          </a:bodyPr>
          <a:lstStyle/>
          <a:p>
            <a:pPr algn="l">
              <a:lnSpc>
                <a:spcPct val="100000"/>
              </a:lnSpc>
            </a:pPr>
            <a:r>
              <a:rPr sz="1000" b="0" i="0" spc="120">
                <a:solidFill>
                  <a:srgbClr val="E2B462"/>
                </a:solidFill>
                <a:latin typeface="Segoe UI Semibold"/>
              </a:rPr>
              <a:t>SERVICIO</a:t>
            </a:r>
          </a:p>
        </p:txBody>
      </p:sp>
      <p:sp>
        <p:nvSpPr>
          <p:cNvPr id="29" name="TextBox 28"/>
          <p:cNvSpPr txBox="1"/>
          <p:nvPr/>
        </p:nvSpPr>
        <p:spPr>
          <a:xfrm>
            <a:off x="6217920" y="2505456"/>
            <a:ext cx="949695" cy="621792"/>
          </a:xfrm>
          <a:prstGeom prst="rect">
            <a:avLst/>
          </a:prstGeom>
          <a:noFill/>
        </p:spPr>
        <p:txBody>
          <a:bodyPr wrap="square" lIns="45720" rIns="45720" tIns="27432" bIns="27432" anchor="ctr">
            <a:noAutofit/>
          </a:bodyPr>
          <a:lstStyle/>
          <a:p>
            <a:pPr algn="l">
              <a:lnSpc>
                <a:spcPct val="100000"/>
              </a:lnSpc>
            </a:pPr>
            <a:r>
              <a:rPr sz="1200" b="0" i="0">
                <a:solidFill>
                  <a:srgbClr val="F7F2E8"/>
                </a:solidFill>
                <a:latin typeface="Segoe UI Semibold"/>
              </a:rPr>
              <a:t>8000 (predeterminado)</a:t>
            </a:r>
          </a:p>
        </p:txBody>
      </p:sp>
      <p:sp>
        <p:nvSpPr>
          <p:cNvPr id="30" name="TextBox 29"/>
          <p:cNvSpPr txBox="1"/>
          <p:nvPr/>
        </p:nvSpPr>
        <p:spPr>
          <a:xfrm>
            <a:off x="7313919" y="2505456"/>
            <a:ext cx="1059295" cy="621792"/>
          </a:xfrm>
          <a:prstGeom prst="rect">
            <a:avLst/>
          </a:prstGeom>
          <a:noFill/>
        </p:spPr>
        <p:txBody>
          <a:bodyPr wrap="square" lIns="45720" rIns="45720" tIns="27432" bIns="27432" anchor="ctr">
            <a:noAutofit/>
          </a:bodyPr>
          <a:lstStyle/>
          <a:p>
            <a:pPr algn="l">
              <a:lnSpc>
                <a:spcPct val="100000"/>
              </a:lnSpc>
            </a:pPr>
            <a:r>
              <a:rPr sz="1200" b="0" i="0">
                <a:solidFill>
                  <a:srgbClr val="A7B2B0"/>
                </a:solidFill>
                <a:latin typeface="Segoe UI"/>
              </a:rPr>
              <a:t>HTTP + WebSocket</a:t>
            </a:r>
          </a:p>
        </p:txBody>
      </p:sp>
      <p:sp>
        <p:nvSpPr>
          <p:cNvPr id="31" name="TextBox 30"/>
          <p:cNvSpPr txBox="1"/>
          <p:nvPr/>
        </p:nvSpPr>
        <p:spPr>
          <a:xfrm>
            <a:off x="8519519" y="2505456"/>
            <a:ext cx="3032095" cy="621792"/>
          </a:xfrm>
          <a:prstGeom prst="rect">
            <a:avLst/>
          </a:prstGeom>
          <a:noFill/>
        </p:spPr>
        <p:txBody>
          <a:bodyPr wrap="square" lIns="45720" rIns="45720" tIns="27432" bIns="27432" anchor="ctr">
            <a:noAutofit/>
          </a:bodyPr>
          <a:lstStyle/>
          <a:p>
            <a:pPr algn="l">
              <a:lnSpc>
                <a:spcPct val="100000"/>
              </a:lnSpc>
            </a:pPr>
            <a:r>
              <a:rPr sz="1200" b="0" i="0">
                <a:solidFill>
                  <a:srgbClr val="A7B2B0"/>
                </a:solidFill>
                <a:latin typeface="Segoe UI"/>
              </a:rPr>
              <a:t>Interfaz web y chat; cámbialo con django_port.</a:t>
            </a:r>
          </a:p>
        </p:txBody>
      </p:sp>
      <p:sp>
        <p:nvSpPr>
          <p:cNvPr id="32" name="Rectangle 31"/>
          <p:cNvSpPr/>
          <p:nvPr/>
        </p:nvSpPr>
        <p:spPr>
          <a:xfrm>
            <a:off x="6163056" y="3163824"/>
            <a:ext cx="5443423" cy="694944"/>
          </a:xfrm>
          <a:prstGeom prst="rect">
            <a:avLst/>
          </a:prstGeom>
          <a:solidFill>
            <a:srgbClr val="1824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TextBox 32"/>
          <p:cNvSpPr txBox="1"/>
          <p:nvPr/>
        </p:nvSpPr>
        <p:spPr>
          <a:xfrm>
            <a:off x="6217920" y="3200400"/>
            <a:ext cx="949695" cy="621792"/>
          </a:xfrm>
          <a:prstGeom prst="rect">
            <a:avLst/>
          </a:prstGeom>
          <a:noFill/>
        </p:spPr>
        <p:txBody>
          <a:bodyPr wrap="square" lIns="45720" rIns="45720" tIns="27432" bIns="27432" anchor="ctr">
            <a:noAutofit/>
          </a:bodyPr>
          <a:lstStyle/>
          <a:p>
            <a:pPr algn="l">
              <a:lnSpc>
                <a:spcPct val="100000"/>
              </a:lnSpc>
            </a:pPr>
            <a:r>
              <a:rPr sz="1200" b="0" i="0">
                <a:solidFill>
                  <a:srgbClr val="F7F2E8"/>
                </a:solidFill>
                <a:latin typeface="Segoe UI Semibold"/>
              </a:rPr>
              <a:t>8765 (predeterminado)</a:t>
            </a:r>
          </a:p>
        </p:txBody>
      </p:sp>
      <p:sp>
        <p:nvSpPr>
          <p:cNvPr id="34" name="TextBox 33"/>
          <p:cNvSpPr txBox="1"/>
          <p:nvPr/>
        </p:nvSpPr>
        <p:spPr>
          <a:xfrm>
            <a:off x="7313919" y="3200400"/>
            <a:ext cx="1059295" cy="621792"/>
          </a:xfrm>
          <a:prstGeom prst="rect">
            <a:avLst/>
          </a:prstGeom>
          <a:noFill/>
        </p:spPr>
        <p:txBody>
          <a:bodyPr wrap="square" lIns="45720" rIns="45720" tIns="27432" bIns="27432" anchor="ctr">
            <a:noAutofit/>
          </a:bodyPr>
          <a:lstStyle/>
          <a:p>
            <a:pPr algn="l">
              <a:lnSpc>
                <a:spcPct val="100000"/>
              </a:lnSpc>
            </a:pPr>
            <a:r>
              <a:rPr sz="1200" b="0" i="0">
                <a:solidFill>
                  <a:srgbClr val="A7B2B0"/>
                </a:solidFill>
                <a:latin typeface="Segoe UI"/>
              </a:rPr>
              <a:t>WebSocket</a:t>
            </a:r>
          </a:p>
        </p:txBody>
      </p:sp>
      <p:sp>
        <p:nvSpPr>
          <p:cNvPr id="35" name="TextBox 34"/>
          <p:cNvSpPr txBox="1"/>
          <p:nvPr/>
        </p:nvSpPr>
        <p:spPr>
          <a:xfrm>
            <a:off x="8519519" y="3200400"/>
            <a:ext cx="3032095" cy="621792"/>
          </a:xfrm>
          <a:prstGeom prst="rect">
            <a:avLst/>
          </a:prstGeom>
          <a:noFill/>
        </p:spPr>
        <p:txBody>
          <a:bodyPr wrap="square" lIns="45720" rIns="45720" tIns="27432" bIns="27432" anchor="ctr">
            <a:noAutofit/>
          </a:bodyPr>
          <a:lstStyle/>
          <a:p>
            <a:pPr algn="l">
              <a:lnSpc>
                <a:spcPct val="100000"/>
              </a:lnSpc>
            </a:pPr>
            <a:r>
              <a:rPr sz="1200" b="0" i="0">
                <a:solidFill>
                  <a:srgbClr val="A7B2B0"/>
                </a:solidFill>
                <a:latin typeface="Segoe UI"/>
              </a:rPr>
              <a:t>MCP System-Metrics; haz coincidir el puerto del servidor y la URI del cliente.</a:t>
            </a:r>
          </a:p>
        </p:txBody>
      </p:sp>
      <p:sp>
        <p:nvSpPr>
          <p:cNvPr id="36" name="TextBox 35"/>
          <p:cNvSpPr txBox="1"/>
          <p:nvPr/>
        </p:nvSpPr>
        <p:spPr>
          <a:xfrm>
            <a:off x="6217920" y="3895344"/>
            <a:ext cx="949695" cy="621792"/>
          </a:xfrm>
          <a:prstGeom prst="rect">
            <a:avLst/>
          </a:prstGeom>
          <a:noFill/>
        </p:spPr>
        <p:txBody>
          <a:bodyPr wrap="square" lIns="45720" rIns="45720" tIns="27432" bIns="27432" anchor="ctr">
            <a:noAutofit/>
          </a:bodyPr>
          <a:lstStyle/>
          <a:p>
            <a:pPr algn="l">
              <a:lnSpc>
                <a:spcPct val="100000"/>
              </a:lnSpc>
            </a:pPr>
            <a:r>
              <a:rPr sz="1200" b="0" i="0">
                <a:solidFill>
                  <a:srgbClr val="F7F2E8"/>
                </a:solidFill>
                <a:latin typeface="Segoe UI Semibold"/>
              </a:rPr>
              <a:t>50051 (predeterminado)</a:t>
            </a:r>
          </a:p>
        </p:txBody>
      </p:sp>
      <p:sp>
        <p:nvSpPr>
          <p:cNvPr id="37" name="TextBox 36"/>
          <p:cNvSpPr txBox="1"/>
          <p:nvPr/>
        </p:nvSpPr>
        <p:spPr>
          <a:xfrm>
            <a:off x="7313919" y="3895344"/>
            <a:ext cx="1059295" cy="621792"/>
          </a:xfrm>
          <a:prstGeom prst="rect">
            <a:avLst/>
          </a:prstGeom>
          <a:noFill/>
        </p:spPr>
        <p:txBody>
          <a:bodyPr wrap="square" lIns="45720" rIns="45720" tIns="27432" bIns="27432" anchor="ctr">
            <a:noAutofit/>
          </a:bodyPr>
          <a:lstStyle/>
          <a:p>
            <a:pPr algn="l">
              <a:lnSpc>
                <a:spcPct val="100000"/>
              </a:lnSpc>
            </a:pPr>
            <a:r>
              <a:rPr sz="1200" b="0" i="0">
                <a:solidFill>
                  <a:srgbClr val="A7B2B0"/>
                </a:solidFill>
                <a:latin typeface="Segoe UI"/>
              </a:rPr>
              <a:t>gRPC</a:t>
            </a:r>
          </a:p>
        </p:txBody>
      </p:sp>
      <p:sp>
        <p:nvSpPr>
          <p:cNvPr id="38" name="TextBox 37"/>
          <p:cNvSpPr txBox="1"/>
          <p:nvPr/>
        </p:nvSpPr>
        <p:spPr>
          <a:xfrm>
            <a:off x="8519519" y="3895344"/>
            <a:ext cx="3032095" cy="621792"/>
          </a:xfrm>
          <a:prstGeom prst="rect">
            <a:avLst/>
          </a:prstGeom>
          <a:noFill/>
        </p:spPr>
        <p:txBody>
          <a:bodyPr wrap="square" lIns="45720" rIns="45720" tIns="27432" bIns="27432" anchor="ctr">
            <a:noAutofit/>
          </a:bodyPr>
          <a:lstStyle/>
          <a:p>
            <a:pPr algn="l">
              <a:lnSpc>
                <a:spcPct val="100000"/>
              </a:lnSpc>
            </a:pPr>
            <a:r>
              <a:rPr sz="1200" b="0" i="0">
                <a:solidFill>
                  <a:srgbClr val="A7B2B0"/>
                </a:solidFill>
                <a:latin typeface="Segoe UI"/>
              </a:rPr>
              <a:t>MCP Files-Search; haz coincidir el puerto del servidor y la URI del cliente.</a:t>
            </a:r>
          </a:p>
        </p:txBody>
      </p:sp>
      <p:cxnSp>
        <p:nvCxnSpPr>
          <p:cNvPr id="39" name="Connector 38"/>
          <p:cNvCxnSpPr/>
          <p:nvPr/>
        </p:nvCxnSpPr>
        <p:spPr>
          <a:xfrm>
            <a:off x="566928" y="6373368"/>
            <a:ext cx="11057839" cy="0"/>
          </a:xfrm>
          <a:prstGeom prst="line">
            <a:avLst/>
          </a:prstGeom>
          <a:ln w="7620">
            <a:solidFill>
              <a:srgbClr val="2A3A40"/>
            </a:solidFill>
          </a:ln>
        </p:spPr>
        <p:style>
          <a:lnRef idx="2">
            <a:schemeClr val="accent1"/>
          </a:lnRef>
          <a:fillRef idx="0">
            <a:schemeClr val="accent1"/>
          </a:fillRef>
          <a:effectRef idx="1">
            <a:schemeClr val="accent1"/>
          </a:effectRef>
          <a:fontRef idx="minor">
            <a:schemeClr val="tx1"/>
          </a:fontRef>
        </p:style>
      </p:cxnSp>
      <p:sp>
        <p:nvSpPr>
          <p:cNvPr id="40" name="TextBox 39"/>
          <p:cNvSpPr txBox="1"/>
          <p:nvPr/>
        </p:nvSpPr>
        <p:spPr>
          <a:xfrm>
            <a:off x="566928" y="6419088"/>
            <a:ext cx="6858000" cy="274320"/>
          </a:xfrm>
          <a:prstGeom prst="rect">
            <a:avLst/>
          </a:prstGeom>
          <a:noFill/>
        </p:spPr>
        <p:txBody>
          <a:bodyPr wrap="square" lIns="45720" rIns="45720" tIns="27432" bIns="27432" anchor="t">
            <a:noAutofit/>
          </a:bodyPr>
          <a:lstStyle/>
          <a:p>
            <a:pPr algn="l">
              <a:lnSpc>
                <a:spcPct val="100000"/>
              </a:lnSpc>
            </a:pPr>
            <a:r>
              <a:rPr sz="850" b="0" i="0" spc="120">
                <a:solidFill>
                  <a:srgbClr val="A7B2B0"/>
                </a:solidFill>
                <a:latin typeface="Segoe UI Semibold"/>
              </a:rPr>
              <a:t>TLAMATINI  ·  VII · INSTALAR, CONFIGURAR, EJECUTAR</a:t>
            </a:r>
          </a:p>
        </p:txBody>
      </p:sp>
      <p:sp>
        <p:nvSpPr>
          <p:cNvPr id="41" name="TextBox 40"/>
          <p:cNvSpPr txBox="1"/>
          <p:nvPr/>
        </p:nvSpPr>
        <p:spPr>
          <a:xfrm>
            <a:off x="8698687" y="6419088"/>
            <a:ext cx="2926080" cy="274320"/>
          </a:xfrm>
          <a:prstGeom prst="rect">
            <a:avLst/>
          </a:prstGeom>
          <a:noFill/>
        </p:spPr>
        <p:txBody>
          <a:bodyPr wrap="square" lIns="45720" rIns="45720" tIns="27432" bIns="27432" anchor="t">
            <a:noAutofit/>
          </a:bodyPr>
          <a:lstStyle/>
          <a:p>
            <a:pPr algn="r">
              <a:lnSpc>
                <a:spcPct val="100000"/>
              </a:lnSpc>
            </a:pPr>
            <a:r>
              <a:rPr sz="850" b="0" i="0" spc="100">
                <a:solidFill>
                  <a:srgbClr val="A7B2B0"/>
                </a:solidFill>
                <a:latin typeface="Segoe UI Semibold"/>
              </a:rPr>
              <a:t>v1.91.1   ·   110</a:t>
            </a:r>
          </a:p>
        </p:txBody>
      </p:sp>
    </p:spTree>
  </p:cSld>
  <p:clrMapOvr>
    <a:masterClrMapping/>
  </p:clrMapOvr>
</p:sld>
</file>

<file path=ppt/slides/slide1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content.png"/>
          <p:cNvPicPr>
            <a:picLocks noChangeAspect="1"/>
          </p:cNvPicPr>
          <p:nvPr/>
        </p:nvPicPr>
        <p:blipFill>
          <a:blip r:embed="rId2"/>
          <a:stretch>
            <a:fillRect/>
          </a:stretch>
        </p:blipFill>
        <p:spPr>
          <a:xfrm>
            <a:off x="0" y="0"/>
            <a:ext cx="12191695" cy="6858000"/>
          </a:xfrm>
          <a:prstGeom prst="rect">
            <a:avLst/>
          </a:prstGeom>
        </p:spPr>
      </p:pic>
      <p:sp>
        <p:nvSpPr>
          <p:cNvPr id="3" name="Diamond 2"/>
          <p:cNvSpPr/>
          <p:nvPr/>
        </p:nvSpPr>
        <p:spPr>
          <a:xfrm>
            <a:off x="566928" y="457200"/>
            <a:ext cx="100584" cy="100584"/>
          </a:xfrm>
          <a:prstGeom prst="diamond">
            <a:avLst/>
          </a:prstGeom>
          <a:solidFill>
            <a:srgbClr val="3BBE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49808" y="365760"/>
            <a:ext cx="8229600" cy="292608"/>
          </a:xfrm>
          <a:prstGeom prst="rect">
            <a:avLst/>
          </a:prstGeom>
          <a:noFill/>
        </p:spPr>
        <p:txBody>
          <a:bodyPr wrap="square" lIns="45720" rIns="45720" tIns="27432" bIns="27432" anchor="t">
            <a:noAutofit/>
          </a:bodyPr>
          <a:lstStyle/>
          <a:p>
            <a:pPr algn="l">
              <a:lnSpc>
                <a:spcPct val="100000"/>
              </a:lnSpc>
            </a:pPr>
            <a:r>
              <a:rPr sz="1100" b="0" i="0" spc="240">
                <a:solidFill>
                  <a:srgbClr val="C98457"/>
                </a:solidFill>
                <a:latin typeface="Segoe UI Semibold"/>
              </a:rPr>
              <a:t>CONFIGURACIÓN</a:t>
            </a:r>
          </a:p>
        </p:txBody>
      </p:sp>
      <p:sp>
        <p:nvSpPr>
          <p:cNvPr id="5" name="TextBox 4"/>
          <p:cNvSpPr txBox="1"/>
          <p:nvPr/>
        </p:nvSpPr>
        <p:spPr>
          <a:xfrm>
            <a:off x="539496" y="676656"/>
            <a:ext cx="11057839" cy="658368"/>
          </a:xfrm>
          <a:prstGeom prst="rect">
            <a:avLst/>
          </a:prstGeom>
          <a:noFill/>
        </p:spPr>
        <p:txBody>
          <a:bodyPr wrap="square" lIns="45720" rIns="45720" tIns="27432" bIns="27432" anchor="t">
            <a:noAutofit/>
          </a:bodyPr>
          <a:lstStyle/>
          <a:p>
            <a:pPr algn="l">
              <a:lnSpc>
                <a:spcPct val="100000"/>
              </a:lnSpc>
            </a:pPr>
            <a:r>
              <a:rPr sz="3100" b="0" i="0">
                <a:solidFill>
                  <a:srgbClr val="F7F2E8"/>
                </a:solidFill>
                <a:latin typeface="Palatino Linotype"/>
              </a:rPr>
              <a:t>Las configuraciones que más importan  (1/2)</a:t>
            </a:r>
          </a:p>
        </p:txBody>
      </p:sp>
      <p:sp>
        <p:nvSpPr>
          <p:cNvPr id="6" name="Rectangle 5"/>
          <p:cNvSpPr/>
          <p:nvPr/>
        </p:nvSpPr>
        <p:spPr>
          <a:xfrm>
            <a:off x="566928" y="1344168"/>
            <a:ext cx="822960" cy="36576"/>
          </a:xfrm>
          <a:prstGeom prst="rect">
            <a:avLst/>
          </a:prstGeom>
          <a:solidFill>
            <a:srgbClr val="3BBE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566928" y="1444752"/>
            <a:ext cx="10692079" cy="585216"/>
          </a:xfrm>
          <a:prstGeom prst="rect">
            <a:avLst/>
          </a:prstGeom>
          <a:noFill/>
        </p:spPr>
        <p:txBody>
          <a:bodyPr wrap="square" lIns="45720" rIns="45720" tIns="27432" bIns="27432" anchor="t">
            <a:noAutofit/>
          </a:bodyPr>
          <a:lstStyle/>
          <a:p>
            <a:pPr algn="l">
              <a:lnSpc>
                <a:spcPct val="100000"/>
              </a:lnSpc>
            </a:pPr>
            <a:r>
              <a:rPr sz="1450" b="0" i="0">
                <a:solidFill>
                  <a:srgbClr val="A7B2B0"/>
                </a:solidFill>
                <a:latin typeface="Segoe UI Semilight"/>
              </a:rPr>
              <a:t>Unas cuantas llaves de </a:t>
            </a:r>
            <a:r>
              <a:rPr sz="1350" b="0" i="0">
                <a:solidFill>
                  <a:srgbClr val="E2B462"/>
                </a:solidFill>
                <a:latin typeface="Consolas"/>
              </a:rPr>
              <a:t>config.json</a:t>
            </a:r>
            <a:r>
              <a:rPr sz="1450" b="0" i="0">
                <a:solidFill>
                  <a:srgbClr val="A7B2B0"/>
                </a:solidFill>
                <a:latin typeface="Segoe UI Semilight"/>
              </a:rPr>
              <a:t> dan forma a su comportamiento; todo lo demás tiene valores predeterminados sensatos.</a:t>
            </a:r>
          </a:p>
        </p:txBody>
      </p:sp>
      <p:sp>
        <p:nvSpPr>
          <p:cNvPr id="8" name="Rounded Rectangle 7"/>
          <p:cNvSpPr/>
          <p:nvPr/>
        </p:nvSpPr>
        <p:spPr>
          <a:xfrm>
            <a:off x="566928" y="2084831"/>
            <a:ext cx="11057839" cy="4026408"/>
          </a:xfrm>
          <a:prstGeom prst="roundRect">
            <a:avLst>
              <a:gd name="adj" fmla="val 1816"/>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ounded Rectangle 8"/>
          <p:cNvSpPr/>
          <p:nvPr/>
        </p:nvSpPr>
        <p:spPr>
          <a:xfrm>
            <a:off x="566928" y="2084831"/>
            <a:ext cx="11057839" cy="384048"/>
          </a:xfrm>
          <a:prstGeom prst="roundRect">
            <a:avLst>
              <a:gd name="adj" fmla="val 19047"/>
            </a:avLst>
          </a:prstGeom>
          <a:solidFill>
            <a:srgbClr val="151F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640080" y="2121408"/>
            <a:ext cx="3945096" cy="310896"/>
          </a:xfrm>
          <a:prstGeom prst="rect">
            <a:avLst/>
          </a:prstGeom>
          <a:noFill/>
        </p:spPr>
        <p:txBody>
          <a:bodyPr wrap="square" lIns="45720" rIns="45720" tIns="27432" bIns="27432" anchor="ctr">
            <a:noAutofit/>
          </a:bodyPr>
          <a:lstStyle/>
          <a:p>
            <a:pPr algn="l">
              <a:lnSpc>
                <a:spcPct val="100000"/>
              </a:lnSpc>
            </a:pPr>
            <a:r>
              <a:rPr sz="1000" b="0" i="0" spc="120">
                <a:solidFill>
                  <a:srgbClr val="E2B462"/>
                </a:solidFill>
                <a:latin typeface="Segoe UI Semibold"/>
              </a:rPr>
              <a:t>LLAVE</a:t>
            </a:r>
          </a:p>
        </p:txBody>
      </p:sp>
      <p:sp>
        <p:nvSpPr>
          <p:cNvPr id="11" name="TextBox 10"/>
          <p:cNvSpPr txBox="1"/>
          <p:nvPr/>
        </p:nvSpPr>
        <p:spPr>
          <a:xfrm>
            <a:off x="4731480" y="2121408"/>
            <a:ext cx="1622950" cy="310896"/>
          </a:xfrm>
          <a:prstGeom prst="rect">
            <a:avLst/>
          </a:prstGeom>
          <a:noFill/>
        </p:spPr>
        <p:txBody>
          <a:bodyPr wrap="square" lIns="45720" rIns="45720" tIns="27432" bIns="27432" anchor="ctr">
            <a:noAutofit/>
          </a:bodyPr>
          <a:lstStyle/>
          <a:p>
            <a:pPr algn="l">
              <a:lnSpc>
                <a:spcPct val="100000"/>
              </a:lnSpc>
            </a:pPr>
            <a:r>
              <a:rPr sz="1000" b="0" i="0" spc="120">
                <a:solidFill>
                  <a:srgbClr val="E2B462"/>
                </a:solidFill>
                <a:latin typeface="Segoe UI Semibold"/>
              </a:rPr>
              <a:t>PREDETERMINADO</a:t>
            </a:r>
          </a:p>
        </p:txBody>
      </p:sp>
      <p:sp>
        <p:nvSpPr>
          <p:cNvPr id="12" name="TextBox 11"/>
          <p:cNvSpPr txBox="1"/>
          <p:nvPr/>
        </p:nvSpPr>
        <p:spPr>
          <a:xfrm>
            <a:off x="6500734" y="2121408"/>
            <a:ext cx="5050880" cy="310896"/>
          </a:xfrm>
          <a:prstGeom prst="rect">
            <a:avLst/>
          </a:prstGeom>
          <a:noFill/>
        </p:spPr>
        <p:txBody>
          <a:bodyPr wrap="square" lIns="45720" rIns="45720" tIns="27432" bIns="27432" anchor="ctr">
            <a:noAutofit/>
          </a:bodyPr>
          <a:lstStyle/>
          <a:p>
            <a:pPr algn="l">
              <a:lnSpc>
                <a:spcPct val="100000"/>
              </a:lnSpc>
            </a:pPr>
            <a:r>
              <a:rPr sz="1000" b="0" i="0" spc="120">
                <a:solidFill>
                  <a:srgbClr val="E2B462"/>
                </a:solidFill>
                <a:latin typeface="Segoe UI Semibold"/>
              </a:rPr>
              <a:t>PROPÓSITO</a:t>
            </a:r>
          </a:p>
        </p:txBody>
      </p:sp>
      <p:sp>
        <p:nvSpPr>
          <p:cNvPr id="13" name="TextBox 12"/>
          <p:cNvSpPr txBox="1"/>
          <p:nvPr/>
        </p:nvSpPr>
        <p:spPr>
          <a:xfrm>
            <a:off x="640080" y="2505456"/>
            <a:ext cx="3945096" cy="240791"/>
          </a:xfrm>
          <a:prstGeom prst="rect">
            <a:avLst/>
          </a:prstGeom>
          <a:noFill/>
        </p:spPr>
        <p:txBody>
          <a:bodyPr wrap="square" lIns="45720" rIns="45720" tIns="27432" bIns="27432" anchor="ctr">
            <a:noAutofit/>
          </a:bodyPr>
          <a:lstStyle/>
          <a:p>
            <a:pPr algn="l">
              <a:lnSpc>
                <a:spcPct val="100000"/>
              </a:lnSpc>
            </a:pPr>
            <a:r>
              <a:rPr sz="1100" b="0" i="0">
                <a:solidFill>
                  <a:srgbClr val="F7F2E8"/>
                </a:solidFill>
                <a:latin typeface="Segoe UI Semibold"/>
              </a:rPr>
              <a:t>django_port</a:t>
            </a:r>
          </a:p>
        </p:txBody>
      </p:sp>
      <p:sp>
        <p:nvSpPr>
          <p:cNvPr id="14" name="TextBox 13"/>
          <p:cNvSpPr txBox="1"/>
          <p:nvPr/>
        </p:nvSpPr>
        <p:spPr>
          <a:xfrm>
            <a:off x="4731480" y="2505456"/>
            <a:ext cx="1622950" cy="240791"/>
          </a:xfrm>
          <a:prstGeom prst="rect">
            <a:avLst/>
          </a:prstGeom>
          <a:noFill/>
        </p:spPr>
        <p:txBody>
          <a:bodyPr wrap="square" lIns="45720" rIns="45720" tIns="27432" bIns="27432" anchor="ctr">
            <a:noAutofit/>
          </a:bodyPr>
          <a:lstStyle/>
          <a:p>
            <a:pPr algn="l">
              <a:lnSpc>
                <a:spcPct val="100000"/>
              </a:lnSpc>
            </a:pPr>
            <a:r>
              <a:rPr sz="1100" b="0" i="0">
                <a:solidFill>
                  <a:srgbClr val="A7B2B0"/>
                </a:solidFill>
                <a:latin typeface="Segoe UI"/>
              </a:rPr>
              <a:t>8000</a:t>
            </a:r>
          </a:p>
        </p:txBody>
      </p:sp>
      <p:sp>
        <p:nvSpPr>
          <p:cNvPr id="15" name="TextBox 14"/>
          <p:cNvSpPr txBox="1"/>
          <p:nvPr/>
        </p:nvSpPr>
        <p:spPr>
          <a:xfrm>
            <a:off x="6500734" y="2505456"/>
            <a:ext cx="5050880" cy="240791"/>
          </a:xfrm>
          <a:prstGeom prst="rect">
            <a:avLst/>
          </a:prstGeom>
          <a:noFill/>
        </p:spPr>
        <p:txBody>
          <a:bodyPr wrap="square" lIns="45720" rIns="45720" tIns="27432" bIns="27432" anchor="ctr">
            <a:noAutofit/>
          </a:bodyPr>
          <a:lstStyle/>
          <a:p>
            <a:pPr algn="l">
              <a:lnSpc>
                <a:spcPct val="100000"/>
              </a:lnSpc>
            </a:pPr>
            <a:r>
              <a:rPr sz="1100" b="0" i="0">
                <a:solidFill>
                  <a:srgbClr val="A7B2B0"/>
                </a:solidFill>
                <a:latin typeface="Segoe UI"/>
              </a:rPr>
              <a:t>Puerto web para todas las formas de arranque; si falla, vuelve a 8000.</a:t>
            </a:r>
          </a:p>
        </p:txBody>
      </p:sp>
      <p:sp>
        <p:nvSpPr>
          <p:cNvPr id="16" name="Rectangle 15"/>
          <p:cNvSpPr/>
          <p:nvPr/>
        </p:nvSpPr>
        <p:spPr>
          <a:xfrm>
            <a:off x="585216" y="2782823"/>
            <a:ext cx="11021263" cy="313944"/>
          </a:xfrm>
          <a:prstGeom prst="rect">
            <a:avLst/>
          </a:prstGeom>
          <a:solidFill>
            <a:srgbClr val="1824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640080" y="2819399"/>
            <a:ext cx="3945096" cy="240791"/>
          </a:xfrm>
          <a:prstGeom prst="rect">
            <a:avLst/>
          </a:prstGeom>
          <a:noFill/>
        </p:spPr>
        <p:txBody>
          <a:bodyPr wrap="square" lIns="45720" rIns="45720" tIns="27432" bIns="27432" anchor="ctr">
            <a:noAutofit/>
          </a:bodyPr>
          <a:lstStyle/>
          <a:p>
            <a:pPr algn="l">
              <a:lnSpc>
                <a:spcPct val="100000"/>
              </a:lnSpc>
            </a:pPr>
            <a:r>
              <a:rPr sz="1100" b="0" i="0">
                <a:solidFill>
                  <a:srgbClr val="F7F2E8"/>
                </a:solidFill>
                <a:latin typeface="Segoe UI Semibold"/>
              </a:rPr>
              <a:t>unified_agent_max_iterations</a:t>
            </a:r>
          </a:p>
        </p:txBody>
      </p:sp>
      <p:sp>
        <p:nvSpPr>
          <p:cNvPr id="18" name="TextBox 17"/>
          <p:cNvSpPr txBox="1"/>
          <p:nvPr/>
        </p:nvSpPr>
        <p:spPr>
          <a:xfrm>
            <a:off x="4731480" y="2819399"/>
            <a:ext cx="1622950" cy="240791"/>
          </a:xfrm>
          <a:prstGeom prst="rect">
            <a:avLst/>
          </a:prstGeom>
          <a:noFill/>
        </p:spPr>
        <p:txBody>
          <a:bodyPr wrap="square" lIns="45720" rIns="45720" tIns="27432" bIns="27432" anchor="ctr">
            <a:noAutofit/>
          </a:bodyPr>
          <a:lstStyle/>
          <a:p>
            <a:pPr algn="l">
              <a:lnSpc>
                <a:spcPct val="100000"/>
              </a:lnSpc>
            </a:pPr>
            <a:r>
              <a:rPr sz="1100" b="0" i="0">
                <a:solidFill>
                  <a:srgbClr val="A7B2B0"/>
                </a:solidFill>
                <a:latin typeface="Segoe UI"/>
              </a:rPr>
              <a:t>4096</a:t>
            </a:r>
          </a:p>
        </p:txBody>
      </p:sp>
      <p:sp>
        <p:nvSpPr>
          <p:cNvPr id="19" name="TextBox 18"/>
          <p:cNvSpPr txBox="1"/>
          <p:nvPr/>
        </p:nvSpPr>
        <p:spPr>
          <a:xfrm>
            <a:off x="6500734" y="2819399"/>
            <a:ext cx="5050880" cy="240791"/>
          </a:xfrm>
          <a:prstGeom prst="rect">
            <a:avLst/>
          </a:prstGeom>
          <a:noFill/>
        </p:spPr>
        <p:txBody>
          <a:bodyPr wrap="square" lIns="45720" rIns="45720" tIns="27432" bIns="27432" anchor="ctr">
            <a:noAutofit/>
          </a:bodyPr>
          <a:lstStyle/>
          <a:p>
            <a:pPr algn="l">
              <a:lnSpc>
                <a:spcPct val="100000"/>
              </a:lnSpc>
            </a:pPr>
            <a:r>
              <a:rPr sz="1100" b="0" i="0">
                <a:solidFill>
                  <a:srgbClr val="A7B2B0"/>
                </a:solidFill>
                <a:latin typeface="Segoe UI"/>
              </a:rPr>
              <a:t>Límite superior de vueltas del ciclo de tools de Multi-Turn.</a:t>
            </a:r>
          </a:p>
        </p:txBody>
      </p:sp>
      <p:sp>
        <p:nvSpPr>
          <p:cNvPr id="20" name="TextBox 19"/>
          <p:cNvSpPr txBox="1"/>
          <p:nvPr/>
        </p:nvSpPr>
        <p:spPr>
          <a:xfrm>
            <a:off x="640080" y="3133343"/>
            <a:ext cx="3945096" cy="240791"/>
          </a:xfrm>
          <a:prstGeom prst="rect">
            <a:avLst/>
          </a:prstGeom>
          <a:noFill/>
        </p:spPr>
        <p:txBody>
          <a:bodyPr wrap="square" lIns="45720" rIns="45720" tIns="27432" bIns="27432" anchor="ctr">
            <a:noAutofit/>
          </a:bodyPr>
          <a:lstStyle/>
          <a:p>
            <a:pPr algn="l">
              <a:lnSpc>
                <a:spcPct val="100000"/>
              </a:lnSpc>
            </a:pPr>
            <a:r>
              <a:rPr sz="1100" b="0" i="0">
                <a:solidFill>
                  <a:srgbClr val="F7F2E8"/>
                </a:solidFill>
                <a:latin typeface="Segoe UI Semibold"/>
              </a:rPr>
              <a:t>unified_agent_llm_step_timeout_seconds</a:t>
            </a:r>
          </a:p>
        </p:txBody>
      </p:sp>
      <p:sp>
        <p:nvSpPr>
          <p:cNvPr id="21" name="TextBox 20"/>
          <p:cNvSpPr txBox="1"/>
          <p:nvPr/>
        </p:nvSpPr>
        <p:spPr>
          <a:xfrm>
            <a:off x="4731480" y="3133343"/>
            <a:ext cx="1622950" cy="240791"/>
          </a:xfrm>
          <a:prstGeom prst="rect">
            <a:avLst/>
          </a:prstGeom>
          <a:noFill/>
        </p:spPr>
        <p:txBody>
          <a:bodyPr wrap="square" lIns="45720" rIns="45720" tIns="27432" bIns="27432" anchor="ctr">
            <a:noAutofit/>
          </a:bodyPr>
          <a:lstStyle/>
          <a:p>
            <a:pPr algn="l">
              <a:lnSpc>
                <a:spcPct val="100000"/>
              </a:lnSpc>
            </a:pPr>
            <a:r>
              <a:rPr sz="1100" b="0" i="0">
                <a:solidFill>
                  <a:srgbClr val="A7B2B0"/>
                </a:solidFill>
                <a:latin typeface="Segoe UI"/>
              </a:rPr>
              <a:t>900</a:t>
            </a:r>
          </a:p>
        </p:txBody>
      </p:sp>
      <p:sp>
        <p:nvSpPr>
          <p:cNvPr id="22" name="TextBox 21"/>
          <p:cNvSpPr txBox="1"/>
          <p:nvPr/>
        </p:nvSpPr>
        <p:spPr>
          <a:xfrm>
            <a:off x="6500734" y="3133343"/>
            <a:ext cx="5050880" cy="240791"/>
          </a:xfrm>
          <a:prstGeom prst="rect">
            <a:avLst/>
          </a:prstGeom>
          <a:noFill/>
        </p:spPr>
        <p:txBody>
          <a:bodyPr wrap="square" lIns="45720" rIns="45720" tIns="27432" bIns="27432" anchor="ctr">
            <a:noAutofit/>
          </a:bodyPr>
          <a:lstStyle/>
          <a:p>
            <a:pPr algn="l">
              <a:lnSpc>
                <a:spcPct val="100000"/>
              </a:lnSpc>
            </a:pPr>
            <a:r>
              <a:rPr sz="1100" b="0" i="0">
                <a:solidFill>
                  <a:srgbClr val="A7B2B0"/>
                </a:solidFill>
                <a:latin typeface="Segoe UI"/>
              </a:rPr>
              <a:t>Watchdog para un intento del modelo.</a:t>
            </a:r>
          </a:p>
        </p:txBody>
      </p:sp>
      <p:sp>
        <p:nvSpPr>
          <p:cNvPr id="23" name="Rectangle 22"/>
          <p:cNvSpPr/>
          <p:nvPr/>
        </p:nvSpPr>
        <p:spPr>
          <a:xfrm>
            <a:off x="585216" y="3410711"/>
            <a:ext cx="11021263" cy="313944"/>
          </a:xfrm>
          <a:prstGeom prst="rect">
            <a:avLst/>
          </a:prstGeom>
          <a:solidFill>
            <a:srgbClr val="1824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640080" y="3447287"/>
            <a:ext cx="3945096" cy="240791"/>
          </a:xfrm>
          <a:prstGeom prst="rect">
            <a:avLst/>
          </a:prstGeom>
          <a:noFill/>
        </p:spPr>
        <p:txBody>
          <a:bodyPr wrap="square" lIns="45720" rIns="45720" tIns="27432" bIns="27432" anchor="ctr">
            <a:noAutofit/>
          </a:bodyPr>
          <a:lstStyle/>
          <a:p>
            <a:pPr algn="l">
              <a:lnSpc>
                <a:spcPct val="100000"/>
              </a:lnSpc>
            </a:pPr>
            <a:r>
              <a:rPr sz="1100" b="0" i="0">
                <a:solidFill>
                  <a:srgbClr val="F7F2E8"/>
                </a:solidFill>
                <a:latin typeface="Segoe UI Semibold"/>
              </a:rPr>
              <a:t>llm_client_timeout_seconds</a:t>
            </a:r>
          </a:p>
        </p:txBody>
      </p:sp>
      <p:sp>
        <p:nvSpPr>
          <p:cNvPr id="25" name="TextBox 24"/>
          <p:cNvSpPr txBox="1"/>
          <p:nvPr/>
        </p:nvSpPr>
        <p:spPr>
          <a:xfrm>
            <a:off x="4731480" y="3447287"/>
            <a:ext cx="1622950" cy="240791"/>
          </a:xfrm>
          <a:prstGeom prst="rect">
            <a:avLst/>
          </a:prstGeom>
          <a:noFill/>
        </p:spPr>
        <p:txBody>
          <a:bodyPr wrap="square" lIns="45720" rIns="45720" tIns="27432" bIns="27432" anchor="ctr">
            <a:noAutofit/>
          </a:bodyPr>
          <a:lstStyle/>
          <a:p>
            <a:pPr algn="l">
              <a:lnSpc>
                <a:spcPct val="100000"/>
              </a:lnSpc>
            </a:pPr>
            <a:r>
              <a:rPr sz="1100" b="0" i="0">
                <a:solidFill>
                  <a:srgbClr val="A7B2B0"/>
                </a:solidFill>
                <a:latin typeface="Segoe UI"/>
              </a:rPr>
              <a:t>600</a:t>
            </a:r>
          </a:p>
        </p:txBody>
      </p:sp>
      <p:sp>
        <p:nvSpPr>
          <p:cNvPr id="26" name="TextBox 25"/>
          <p:cNvSpPr txBox="1"/>
          <p:nvPr/>
        </p:nvSpPr>
        <p:spPr>
          <a:xfrm>
            <a:off x="6500734" y="3447287"/>
            <a:ext cx="5050880" cy="240791"/>
          </a:xfrm>
          <a:prstGeom prst="rect">
            <a:avLst/>
          </a:prstGeom>
          <a:noFill/>
        </p:spPr>
        <p:txBody>
          <a:bodyPr wrap="square" lIns="45720" rIns="45720" tIns="27432" bIns="27432" anchor="ctr">
            <a:noAutofit/>
          </a:bodyPr>
          <a:lstStyle/>
          <a:p>
            <a:pPr algn="l">
              <a:lnSpc>
                <a:spcPct val="100000"/>
              </a:lnSpc>
            </a:pPr>
            <a:r>
              <a:rPr sz="1100" b="0" i="0">
                <a:solidFill>
                  <a:srgbClr val="A7B2B0"/>
                </a:solidFill>
                <a:latin typeface="Segoe UI"/>
              </a:rPr>
              <a:t>Cuánto puede tardar una llamada al modelo.</a:t>
            </a:r>
          </a:p>
        </p:txBody>
      </p:sp>
      <p:sp>
        <p:nvSpPr>
          <p:cNvPr id="27" name="TextBox 26"/>
          <p:cNvSpPr txBox="1"/>
          <p:nvPr/>
        </p:nvSpPr>
        <p:spPr>
          <a:xfrm>
            <a:off x="640080" y="3761232"/>
            <a:ext cx="3945096" cy="408431"/>
          </a:xfrm>
          <a:prstGeom prst="rect">
            <a:avLst/>
          </a:prstGeom>
          <a:noFill/>
        </p:spPr>
        <p:txBody>
          <a:bodyPr wrap="square" lIns="45720" rIns="45720" tIns="27432" bIns="27432" anchor="ctr">
            <a:noAutofit/>
          </a:bodyPr>
          <a:lstStyle/>
          <a:p>
            <a:pPr algn="l">
              <a:lnSpc>
                <a:spcPct val="100000"/>
              </a:lnSpc>
            </a:pPr>
            <a:r>
              <a:rPr sz="1100" b="0" i="0">
                <a:solidFill>
                  <a:srgbClr val="F7F2E8"/>
                </a:solidFill>
                <a:latin typeface="Segoe UI Semibold"/>
              </a:rPr>
              <a:t>model_brain</a:t>
            </a:r>
          </a:p>
        </p:txBody>
      </p:sp>
      <p:sp>
        <p:nvSpPr>
          <p:cNvPr id="28" name="TextBox 27"/>
          <p:cNvSpPr txBox="1"/>
          <p:nvPr/>
        </p:nvSpPr>
        <p:spPr>
          <a:xfrm>
            <a:off x="4731480" y="3761232"/>
            <a:ext cx="1622950" cy="408431"/>
          </a:xfrm>
          <a:prstGeom prst="rect">
            <a:avLst/>
          </a:prstGeom>
          <a:noFill/>
        </p:spPr>
        <p:txBody>
          <a:bodyPr wrap="square" lIns="45720" rIns="45720" tIns="27432" bIns="27432" anchor="ctr">
            <a:noAutofit/>
          </a:bodyPr>
          <a:lstStyle/>
          <a:p>
            <a:pPr algn="l">
              <a:lnSpc>
                <a:spcPct val="100000"/>
              </a:lnSpc>
            </a:pPr>
            <a:r>
              <a:rPr sz="1100" b="0" i="0">
                <a:solidFill>
                  <a:srgbClr val="A7B2B0"/>
                </a:solidFill>
                <a:latin typeface="Segoe UI"/>
              </a:rPr>
              <a:t>auto</a:t>
            </a:r>
          </a:p>
        </p:txBody>
      </p:sp>
      <p:sp>
        <p:nvSpPr>
          <p:cNvPr id="29" name="TextBox 28"/>
          <p:cNvSpPr txBox="1"/>
          <p:nvPr/>
        </p:nvSpPr>
        <p:spPr>
          <a:xfrm>
            <a:off x="6500734" y="3761232"/>
            <a:ext cx="5050880" cy="408431"/>
          </a:xfrm>
          <a:prstGeom prst="rect">
            <a:avLst/>
          </a:prstGeom>
          <a:noFill/>
        </p:spPr>
        <p:txBody>
          <a:bodyPr wrap="square" lIns="45720" rIns="45720" tIns="27432" bIns="27432" anchor="ctr">
            <a:noAutofit/>
          </a:bodyPr>
          <a:lstStyle/>
          <a:p>
            <a:pPr algn="l">
              <a:lnSpc>
                <a:spcPct val="100000"/>
              </a:lnSpc>
            </a:pPr>
            <a:r>
              <a:rPr sz="1100" b="0" i="0">
                <a:solidFill>
                  <a:srgbClr val="A7B2B0"/>
                </a:solidFill>
                <a:latin typeface="Segoe UI"/>
              </a:rPr>
              <a:t>Ajusta cada modelo a partir de fuentes formales; off restaura el sampler heredado.</a:t>
            </a:r>
          </a:p>
        </p:txBody>
      </p:sp>
      <p:sp>
        <p:nvSpPr>
          <p:cNvPr id="30" name="Rectangle 29"/>
          <p:cNvSpPr/>
          <p:nvPr/>
        </p:nvSpPr>
        <p:spPr>
          <a:xfrm>
            <a:off x="585216" y="4206240"/>
            <a:ext cx="11021263" cy="313944"/>
          </a:xfrm>
          <a:prstGeom prst="rect">
            <a:avLst/>
          </a:prstGeom>
          <a:solidFill>
            <a:srgbClr val="1824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TextBox 30"/>
          <p:cNvSpPr txBox="1"/>
          <p:nvPr/>
        </p:nvSpPr>
        <p:spPr>
          <a:xfrm>
            <a:off x="640080" y="4242816"/>
            <a:ext cx="3945096" cy="240791"/>
          </a:xfrm>
          <a:prstGeom prst="rect">
            <a:avLst/>
          </a:prstGeom>
          <a:noFill/>
        </p:spPr>
        <p:txBody>
          <a:bodyPr wrap="square" lIns="45720" rIns="45720" tIns="27432" bIns="27432" anchor="ctr">
            <a:noAutofit/>
          </a:bodyPr>
          <a:lstStyle/>
          <a:p>
            <a:pPr algn="l">
              <a:lnSpc>
                <a:spcPct val="100000"/>
              </a:lnSpc>
            </a:pPr>
            <a:r>
              <a:rPr sz="1100" b="0" i="0">
                <a:solidFill>
                  <a:srgbClr val="F7F2E8"/>
                </a:solidFill>
                <a:latin typeface="Segoe UI Semibold"/>
              </a:rPr>
              <a:t>ollama_repeat_penalty</a:t>
            </a:r>
          </a:p>
        </p:txBody>
      </p:sp>
      <p:sp>
        <p:nvSpPr>
          <p:cNvPr id="32" name="TextBox 31"/>
          <p:cNvSpPr txBox="1"/>
          <p:nvPr/>
        </p:nvSpPr>
        <p:spPr>
          <a:xfrm>
            <a:off x="4731480" y="4242816"/>
            <a:ext cx="1622950" cy="240791"/>
          </a:xfrm>
          <a:prstGeom prst="rect">
            <a:avLst/>
          </a:prstGeom>
          <a:noFill/>
        </p:spPr>
        <p:txBody>
          <a:bodyPr wrap="square" lIns="45720" rIns="45720" tIns="27432" bIns="27432" anchor="ctr">
            <a:noAutofit/>
          </a:bodyPr>
          <a:lstStyle/>
          <a:p>
            <a:pPr algn="l">
              <a:lnSpc>
                <a:spcPct val="100000"/>
              </a:lnSpc>
            </a:pPr>
            <a:r>
              <a:rPr sz="1100" b="0" i="0">
                <a:solidFill>
                  <a:srgbClr val="A7B2B0"/>
                </a:solidFill>
                <a:latin typeface="Segoe UI"/>
              </a:rPr>
              <a:t>1.2</a:t>
            </a:r>
          </a:p>
        </p:txBody>
      </p:sp>
      <p:sp>
        <p:nvSpPr>
          <p:cNvPr id="33" name="TextBox 32"/>
          <p:cNvSpPr txBox="1"/>
          <p:nvPr/>
        </p:nvSpPr>
        <p:spPr>
          <a:xfrm>
            <a:off x="6500734" y="4242816"/>
            <a:ext cx="5050880" cy="240791"/>
          </a:xfrm>
          <a:prstGeom prst="rect">
            <a:avLst/>
          </a:prstGeom>
          <a:noFill/>
        </p:spPr>
        <p:txBody>
          <a:bodyPr wrap="square" lIns="45720" rIns="45720" tIns="27432" bIns="27432" anchor="ctr">
            <a:noAutofit/>
          </a:bodyPr>
          <a:lstStyle/>
          <a:p>
            <a:pPr algn="l">
              <a:lnSpc>
                <a:spcPct val="100000"/>
              </a:lnSpc>
            </a:pPr>
            <a:r>
              <a:rPr sz="1100" b="0" i="0">
                <a:solidFill>
                  <a:srgbClr val="A7B2B0"/>
                </a:solidFill>
                <a:latin typeface="Segoe UI"/>
              </a:rPr>
              <a:t>Sampler heredado, enviado sólo cuando model_brain está en off.</a:t>
            </a:r>
          </a:p>
        </p:txBody>
      </p:sp>
      <p:sp>
        <p:nvSpPr>
          <p:cNvPr id="34" name="TextBox 33"/>
          <p:cNvSpPr txBox="1"/>
          <p:nvPr/>
        </p:nvSpPr>
        <p:spPr>
          <a:xfrm>
            <a:off x="640080" y="4556760"/>
            <a:ext cx="3945096" cy="240791"/>
          </a:xfrm>
          <a:prstGeom prst="rect">
            <a:avLst/>
          </a:prstGeom>
          <a:noFill/>
        </p:spPr>
        <p:txBody>
          <a:bodyPr wrap="square" lIns="45720" rIns="45720" tIns="27432" bIns="27432" anchor="ctr">
            <a:noAutofit/>
          </a:bodyPr>
          <a:lstStyle/>
          <a:p>
            <a:pPr algn="l">
              <a:lnSpc>
                <a:spcPct val="100000"/>
              </a:lnSpc>
            </a:pPr>
            <a:r>
              <a:rPr sz="1100" b="0" i="0">
                <a:solidFill>
                  <a:srgbClr val="F7F2E8"/>
                </a:solidFill>
                <a:latin typeface="Segoe UI Semibold"/>
              </a:rPr>
              <a:t>ollama_num_ctx</a:t>
            </a:r>
          </a:p>
        </p:txBody>
      </p:sp>
      <p:sp>
        <p:nvSpPr>
          <p:cNvPr id="35" name="TextBox 34"/>
          <p:cNvSpPr txBox="1"/>
          <p:nvPr/>
        </p:nvSpPr>
        <p:spPr>
          <a:xfrm>
            <a:off x="4731480" y="4556760"/>
            <a:ext cx="1622950" cy="240791"/>
          </a:xfrm>
          <a:prstGeom prst="rect">
            <a:avLst/>
          </a:prstGeom>
          <a:noFill/>
        </p:spPr>
        <p:txBody>
          <a:bodyPr wrap="square" lIns="45720" rIns="45720" tIns="27432" bIns="27432" anchor="ctr">
            <a:noAutofit/>
          </a:bodyPr>
          <a:lstStyle/>
          <a:p>
            <a:pPr algn="l">
              <a:lnSpc>
                <a:spcPct val="100000"/>
              </a:lnSpc>
            </a:pPr>
            <a:r>
              <a:rPr sz="1100" b="0" i="0">
                <a:solidFill>
                  <a:srgbClr val="A7B2B0"/>
                </a:solidFill>
                <a:latin typeface="Segoe UI"/>
              </a:rPr>
              <a:t>1048576</a:t>
            </a:r>
          </a:p>
        </p:txBody>
      </p:sp>
      <p:sp>
        <p:nvSpPr>
          <p:cNvPr id="36" name="TextBox 35"/>
          <p:cNvSpPr txBox="1"/>
          <p:nvPr/>
        </p:nvSpPr>
        <p:spPr>
          <a:xfrm>
            <a:off x="6500734" y="4556760"/>
            <a:ext cx="5050880" cy="240791"/>
          </a:xfrm>
          <a:prstGeom prst="rect">
            <a:avLst/>
          </a:prstGeom>
          <a:noFill/>
        </p:spPr>
        <p:txBody>
          <a:bodyPr wrap="square" lIns="45720" rIns="45720" tIns="27432" bIns="27432" anchor="ctr">
            <a:noAutofit/>
          </a:bodyPr>
          <a:lstStyle/>
          <a:p>
            <a:pPr algn="l">
              <a:lnSpc>
                <a:spcPct val="100000"/>
              </a:lnSpc>
            </a:pPr>
            <a:r>
              <a:rPr sz="1100" b="0" i="0">
                <a:solidFill>
                  <a:srgbClr val="A7B2B0"/>
                </a:solidFill>
                <a:latin typeface="Segoe UI"/>
              </a:rPr>
              <a:t>Ventana pedida heredada; el brain la limita a la real.</a:t>
            </a:r>
          </a:p>
        </p:txBody>
      </p:sp>
      <p:sp>
        <p:nvSpPr>
          <p:cNvPr id="37" name="Rectangle 36"/>
          <p:cNvSpPr/>
          <p:nvPr/>
        </p:nvSpPr>
        <p:spPr>
          <a:xfrm>
            <a:off x="585216" y="4834128"/>
            <a:ext cx="11021263" cy="481583"/>
          </a:xfrm>
          <a:prstGeom prst="rect">
            <a:avLst/>
          </a:prstGeom>
          <a:solidFill>
            <a:srgbClr val="1824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8" name="TextBox 37"/>
          <p:cNvSpPr txBox="1"/>
          <p:nvPr/>
        </p:nvSpPr>
        <p:spPr>
          <a:xfrm>
            <a:off x="640080" y="4870704"/>
            <a:ext cx="3945096" cy="408431"/>
          </a:xfrm>
          <a:prstGeom prst="rect">
            <a:avLst/>
          </a:prstGeom>
          <a:noFill/>
        </p:spPr>
        <p:txBody>
          <a:bodyPr wrap="square" lIns="45720" rIns="45720" tIns="27432" bIns="27432" anchor="ctr">
            <a:noAutofit/>
          </a:bodyPr>
          <a:lstStyle/>
          <a:p>
            <a:pPr algn="l">
              <a:lnSpc>
                <a:spcPct val="100000"/>
              </a:lnSpc>
            </a:pPr>
            <a:r>
              <a:rPr sz="1100" b="0" i="0">
                <a:solidFill>
                  <a:srgbClr val="F7F2E8"/>
                </a:solidFill>
                <a:latin typeface="Segoe UI Semibold"/>
              </a:rPr>
              <a:t>context_sidecar_llm_timeout_seconds</a:t>
            </a:r>
          </a:p>
        </p:txBody>
      </p:sp>
      <p:sp>
        <p:nvSpPr>
          <p:cNvPr id="39" name="TextBox 38"/>
          <p:cNvSpPr txBox="1"/>
          <p:nvPr/>
        </p:nvSpPr>
        <p:spPr>
          <a:xfrm>
            <a:off x="4731480" y="4870704"/>
            <a:ext cx="1622950" cy="408431"/>
          </a:xfrm>
          <a:prstGeom prst="rect">
            <a:avLst/>
          </a:prstGeom>
          <a:noFill/>
        </p:spPr>
        <p:txBody>
          <a:bodyPr wrap="square" lIns="45720" rIns="45720" tIns="27432" bIns="27432" anchor="ctr">
            <a:noAutofit/>
          </a:bodyPr>
          <a:lstStyle/>
          <a:p>
            <a:pPr algn="l">
              <a:lnSpc>
                <a:spcPct val="100000"/>
              </a:lnSpc>
            </a:pPr>
            <a:r>
              <a:rPr sz="1100" b="0" i="0">
                <a:solidFill>
                  <a:srgbClr val="A7B2B0"/>
                </a:solidFill>
                <a:latin typeface="Segoe UI"/>
              </a:rPr>
              <a:t>60</a:t>
            </a:r>
          </a:p>
        </p:txBody>
      </p:sp>
      <p:sp>
        <p:nvSpPr>
          <p:cNvPr id="40" name="TextBox 39"/>
          <p:cNvSpPr txBox="1"/>
          <p:nvPr/>
        </p:nvSpPr>
        <p:spPr>
          <a:xfrm>
            <a:off x="6500734" y="4870704"/>
            <a:ext cx="5050880" cy="408431"/>
          </a:xfrm>
          <a:prstGeom prst="rect">
            <a:avLst/>
          </a:prstGeom>
          <a:noFill/>
        </p:spPr>
        <p:txBody>
          <a:bodyPr wrap="square" lIns="45720" rIns="45720" tIns="27432" bIns="27432" anchor="ctr">
            <a:noAutofit/>
          </a:bodyPr>
          <a:lstStyle/>
          <a:p>
            <a:pPr algn="l">
              <a:lnSpc>
                <a:spcPct val="100000"/>
              </a:lnSpc>
            </a:pPr>
            <a:r>
              <a:rPr sz="1100" b="0" i="0">
                <a:solidFill>
                  <a:srgbClr val="A7B2B0"/>
                </a:solidFill>
                <a:latin typeface="Segoe UI"/>
              </a:rPr>
              <a:t>Límite de tiempo para las propias llamadas al modelo de los helpers de contexto.</a:t>
            </a:r>
          </a:p>
        </p:txBody>
      </p:sp>
      <p:sp>
        <p:nvSpPr>
          <p:cNvPr id="41" name="TextBox 40"/>
          <p:cNvSpPr txBox="1"/>
          <p:nvPr/>
        </p:nvSpPr>
        <p:spPr>
          <a:xfrm>
            <a:off x="640080" y="5352288"/>
            <a:ext cx="3945096" cy="408431"/>
          </a:xfrm>
          <a:prstGeom prst="rect">
            <a:avLst/>
          </a:prstGeom>
          <a:noFill/>
        </p:spPr>
        <p:txBody>
          <a:bodyPr wrap="square" lIns="45720" rIns="45720" tIns="27432" bIns="27432" anchor="ctr">
            <a:noAutofit/>
          </a:bodyPr>
          <a:lstStyle/>
          <a:p>
            <a:pPr algn="l">
              <a:lnSpc>
                <a:spcPct val="100000"/>
              </a:lnSpc>
            </a:pPr>
            <a:r>
              <a:rPr sz="1100" b="0" i="0">
                <a:solidFill>
                  <a:srgbClr val="F7F2E8"/>
                </a:solidFill>
                <a:latin typeface="Segoe UI Semibold"/>
              </a:rPr>
              <a:t>context_compact_mode</a:t>
            </a:r>
          </a:p>
        </p:txBody>
      </p:sp>
      <p:sp>
        <p:nvSpPr>
          <p:cNvPr id="42" name="TextBox 41"/>
          <p:cNvSpPr txBox="1"/>
          <p:nvPr/>
        </p:nvSpPr>
        <p:spPr>
          <a:xfrm>
            <a:off x="4731480" y="5352288"/>
            <a:ext cx="1622950" cy="408431"/>
          </a:xfrm>
          <a:prstGeom prst="rect">
            <a:avLst/>
          </a:prstGeom>
          <a:noFill/>
        </p:spPr>
        <p:txBody>
          <a:bodyPr wrap="square" lIns="45720" rIns="45720" tIns="27432" bIns="27432" anchor="ctr">
            <a:noAutofit/>
          </a:bodyPr>
          <a:lstStyle/>
          <a:p>
            <a:pPr algn="l">
              <a:lnSpc>
                <a:spcPct val="100000"/>
              </a:lnSpc>
            </a:pPr>
            <a:r>
              <a:rPr sz="1100" b="0" i="0">
                <a:solidFill>
                  <a:srgbClr val="A7B2B0"/>
                </a:solidFill>
                <a:latin typeface="Segoe UI"/>
              </a:rPr>
              <a:t>auto</a:t>
            </a:r>
          </a:p>
        </p:txBody>
      </p:sp>
      <p:sp>
        <p:nvSpPr>
          <p:cNvPr id="43" name="TextBox 42"/>
          <p:cNvSpPr txBox="1"/>
          <p:nvPr/>
        </p:nvSpPr>
        <p:spPr>
          <a:xfrm>
            <a:off x="6500734" y="5352288"/>
            <a:ext cx="5050880" cy="408431"/>
          </a:xfrm>
          <a:prstGeom prst="rect">
            <a:avLst/>
          </a:prstGeom>
          <a:noFill/>
        </p:spPr>
        <p:txBody>
          <a:bodyPr wrap="square" lIns="45720" rIns="45720" tIns="27432" bIns="27432" anchor="ctr">
            <a:noAutofit/>
          </a:bodyPr>
          <a:lstStyle/>
          <a:p>
            <a:pPr algn="l">
              <a:lnSpc>
                <a:spcPct val="100000"/>
              </a:lnSpc>
            </a:pPr>
            <a:r>
              <a:rPr sz="1100" b="0" i="0">
                <a:solidFill>
                  <a:srgbClr val="A7B2B0"/>
                </a:solidFill>
                <a:latin typeface="Segoe UI"/>
              </a:rPr>
              <a:t>Compact mode se bloquea encendido para los modelos que no pueden contenerlo todo.</a:t>
            </a:r>
          </a:p>
        </p:txBody>
      </p:sp>
      <p:sp>
        <p:nvSpPr>
          <p:cNvPr id="44" name="Rectangle 43"/>
          <p:cNvSpPr/>
          <p:nvPr/>
        </p:nvSpPr>
        <p:spPr>
          <a:xfrm>
            <a:off x="585216" y="5797296"/>
            <a:ext cx="11021263" cy="313944"/>
          </a:xfrm>
          <a:prstGeom prst="rect">
            <a:avLst/>
          </a:prstGeom>
          <a:solidFill>
            <a:srgbClr val="1824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5" name="TextBox 44"/>
          <p:cNvSpPr txBox="1"/>
          <p:nvPr/>
        </p:nvSpPr>
        <p:spPr>
          <a:xfrm>
            <a:off x="640080" y="5833872"/>
            <a:ext cx="3945096" cy="240791"/>
          </a:xfrm>
          <a:prstGeom prst="rect">
            <a:avLst/>
          </a:prstGeom>
          <a:noFill/>
        </p:spPr>
        <p:txBody>
          <a:bodyPr wrap="square" lIns="45720" rIns="45720" tIns="27432" bIns="27432" anchor="ctr">
            <a:noAutofit/>
          </a:bodyPr>
          <a:lstStyle/>
          <a:p>
            <a:pPr algn="l">
              <a:lnSpc>
                <a:spcPct val="100000"/>
              </a:lnSpc>
            </a:pPr>
            <a:r>
              <a:rPr sz="1100" b="0" i="0">
                <a:solidFill>
                  <a:srgbClr val="F7F2E8"/>
                </a:solidFill>
                <a:latin typeface="Segoe UI Semibold"/>
              </a:rPr>
              <a:t>binary_context_detection</a:t>
            </a:r>
          </a:p>
        </p:txBody>
      </p:sp>
      <p:sp>
        <p:nvSpPr>
          <p:cNvPr id="46" name="TextBox 45"/>
          <p:cNvSpPr txBox="1"/>
          <p:nvPr/>
        </p:nvSpPr>
        <p:spPr>
          <a:xfrm>
            <a:off x="4731480" y="5833872"/>
            <a:ext cx="1622950" cy="240791"/>
          </a:xfrm>
          <a:prstGeom prst="rect">
            <a:avLst/>
          </a:prstGeom>
          <a:noFill/>
        </p:spPr>
        <p:txBody>
          <a:bodyPr wrap="square" lIns="45720" rIns="45720" tIns="27432" bIns="27432" anchor="ctr">
            <a:noAutofit/>
          </a:bodyPr>
          <a:lstStyle/>
          <a:p>
            <a:pPr algn="l">
              <a:lnSpc>
                <a:spcPct val="100000"/>
              </a:lnSpc>
            </a:pPr>
            <a:r>
              <a:rPr sz="1100" b="0" i="0">
                <a:solidFill>
                  <a:srgbClr val="A7B2B0"/>
                </a:solidFill>
                <a:latin typeface="Segoe UI"/>
              </a:rPr>
              <a:t>true</a:t>
            </a:r>
          </a:p>
        </p:txBody>
      </p:sp>
      <p:sp>
        <p:nvSpPr>
          <p:cNvPr id="47" name="TextBox 46"/>
          <p:cNvSpPr txBox="1"/>
          <p:nvPr/>
        </p:nvSpPr>
        <p:spPr>
          <a:xfrm>
            <a:off x="6500734" y="5833872"/>
            <a:ext cx="5050880" cy="240791"/>
          </a:xfrm>
          <a:prstGeom prst="rect">
            <a:avLst/>
          </a:prstGeom>
          <a:noFill/>
        </p:spPr>
        <p:txBody>
          <a:bodyPr wrap="square" lIns="45720" rIns="45720" tIns="27432" bIns="27432" anchor="ctr">
            <a:noAutofit/>
          </a:bodyPr>
          <a:lstStyle/>
          <a:p>
            <a:pPr algn="l">
              <a:lnSpc>
                <a:spcPct val="100000"/>
              </a:lnSpc>
            </a:pPr>
            <a:r>
              <a:rPr sz="1100" b="0" i="0">
                <a:solidFill>
                  <a:srgbClr val="A7B2B0"/>
                </a:solidFill>
                <a:latin typeface="Segoe UI"/>
              </a:rPr>
              <a:t>Revisa los archivos por su contenido antes de hacer embeddings.</a:t>
            </a:r>
          </a:p>
        </p:txBody>
      </p:sp>
      <p:cxnSp>
        <p:nvCxnSpPr>
          <p:cNvPr id="48" name="Connector 47"/>
          <p:cNvCxnSpPr/>
          <p:nvPr/>
        </p:nvCxnSpPr>
        <p:spPr>
          <a:xfrm>
            <a:off x="566928" y="6373368"/>
            <a:ext cx="11057839" cy="0"/>
          </a:xfrm>
          <a:prstGeom prst="line">
            <a:avLst/>
          </a:prstGeom>
          <a:ln w="7620">
            <a:solidFill>
              <a:srgbClr val="2A3A40"/>
            </a:solidFill>
          </a:ln>
        </p:spPr>
        <p:style>
          <a:lnRef idx="2">
            <a:schemeClr val="accent1"/>
          </a:lnRef>
          <a:fillRef idx="0">
            <a:schemeClr val="accent1"/>
          </a:fillRef>
          <a:effectRef idx="1">
            <a:schemeClr val="accent1"/>
          </a:effectRef>
          <a:fontRef idx="minor">
            <a:schemeClr val="tx1"/>
          </a:fontRef>
        </p:style>
      </p:cxnSp>
      <p:sp>
        <p:nvSpPr>
          <p:cNvPr id="49" name="TextBox 48"/>
          <p:cNvSpPr txBox="1"/>
          <p:nvPr/>
        </p:nvSpPr>
        <p:spPr>
          <a:xfrm>
            <a:off x="566928" y="6419088"/>
            <a:ext cx="6858000" cy="274320"/>
          </a:xfrm>
          <a:prstGeom prst="rect">
            <a:avLst/>
          </a:prstGeom>
          <a:noFill/>
        </p:spPr>
        <p:txBody>
          <a:bodyPr wrap="square" lIns="45720" rIns="45720" tIns="27432" bIns="27432" anchor="t">
            <a:noAutofit/>
          </a:bodyPr>
          <a:lstStyle/>
          <a:p>
            <a:pPr algn="l">
              <a:lnSpc>
                <a:spcPct val="100000"/>
              </a:lnSpc>
            </a:pPr>
            <a:r>
              <a:rPr sz="850" b="0" i="0" spc="120">
                <a:solidFill>
                  <a:srgbClr val="A7B2B0"/>
                </a:solidFill>
                <a:latin typeface="Segoe UI Semibold"/>
              </a:rPr>
              <a:t>TLAMATINI  ·  VII · INSTALAR, CONFIGURAR, EJECUTAR</a:t>
            </a:r>
          </a:p>
        </p:txBody>
      </p:sp>
      <p:sp>
        <p:nvSpPr>
          <p:cNvPr id="50" name="TextBox 49"/>
          <p:cNvSpPr txBox="1"/>
          <p:nvPr/>
        </p:nvSpPr>
        <p:spPr>
          <a:xfrm>
            <a:off x="8698687" y="6419088"/>
            <a:ext cx="2926080" cy="274320"/>
          </a:xfrm>
          <a:prstGeom prst="rect">
            <a:avLst/>
          </a:prstGeom>
          <a:noFill/>
        </p:spPr>
        <p:txBody>
          <a:bodyPr wrap="square" lIns="45720" rIns="45720" tIns="27432" bIns="27432" anchor="t">
            <a:noAutofit/>
          </a:bodyPr>
          <a:lstStyle/>
          <a:p>
            <a:pPr algn="r">
              <a:lnSpc>
                <a:spcPct val="100000"/>
              </a:lnSpc>
            </a:pPr>
            <a:r>
              <a:rPr sz="850" b="0" i="0" spc="100">
                <a:solidFill>
                  <a:srgbClr val="A7B2B0"/>
                </a:solidFill>
                <a:latin typeface="Segoe UI Semibold"/>
              </a:rPr>
              <a:t>v1.91.1   ·   111</a:t>
            </a:r>
          </a:p>
        </p:txBody>
      </p:sp>
    </p:spTree>
  </p:cSld>
  <p:clrMapOvr>
    <a:masterClrMapping/>
  </p:clrMapOvr>
</p:sld>
</file>

<file path=ppt/slides/slide1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content.png"/>
          <p:cNvPicPr>
            <a:picLocks noChangeAspect="1"/>
          </p:cNvPicPr>
          <p:nvPr/>
        </p:nvPicPr>
        <p:blipFill>
          <a:blip r:embed="rId2"/>
          <a:stretch>
            <a:fillRect/>
          </a:stretch>
        </p:blipFill>
        <p:spPr>
          <a:xfrm>
            <a:off x="0" y="0"/>
            <a:ext cx="12191695" cy="6858000"/>
          </a:xfrm>
          <a:prstGeom prst="rect">
            <a:avLst/>
          </a:prstGeom>
        </p:spPr>
      </p:pic>
      <p:sp>
        <p:nvSpPr>
          <p:cNvPr id="3" name="Diamond 2"/>
          <p:cNvSpPr/>
          <p:nvPr/>
        </p:nvSpPr>
        <p:spPr>
          <a:xfrm>
            <a:off x="566928" y="457200"/>
            <a:ext cx="100584" cy="100584"/>
          </a:xfrm>
          <a:prstGeom prst="diamond">
            <a:avLst/>
          </a:prstGeom>
          <a:solidFill>
            <a:srgbClr val="3BBE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49808" y="365760"/>
            <a:ext cx="8229600" cy="292608"/>
          </a:xfrm>
          <a:prstGeom prst="rect">
            <a:avLst/>
          </a:prstGeom>
          <a:noFill/>
        </p:spPr>
        <p:txBody>
          <a:bodyPr wrap="square" lIns="45720" rIns="45720" tIns="27432" bIns="27432" anchor="t">
            <a:noAutofit/>
          </a:bodyPr>
          <a:lstStyle/>
          <a:p>
            <a:pPr algn="l">
              <a:lnSpc>
                <a:spcPct val="100000"/>
              </a:lnSpc>
            </a:pPr>
            <a:r>
              <a:rPr sz="1100" b="0" i="0" spc="240">
                <a:solidFill>
                  <a:srgbClr val="C98457"/>
                </a:solidFill>
                <a:latin typeface="Segoe UI Semibold"/>
              </a:rPr>
              <a:t>CONFIGURACIÓN</a:t>
            </a:r>
          </a:p>
        </p:txBody>
      </p:sp>
      <p:sp>
        <p:nvSpPr>
          <p:cNvPr id="5" name="TextBox 4"/>
          <p:cNvSpPr txBox="1"/>
          <p:nvPr/>
        </p:nvSpPr>
        <p:spPr>
          <a:xfrm>
            <a:off x="539496" y="676656"/>
            <a:ext cx="11057839" cy="658368"/>
          </a:xfrm>
          <a:prstGeom prst="rect">
            <a:avLst/>
          </a:prstGeom>
          <a:noFill/>
        </p:spPr>
        <p:txBody>
          <a:bodyPr wrap="square" lIns="45720" rIns="45720" tIns="27432" bIns="27432" anchor="t">
            <a:noAutofit/>
          </a:bodyPr>
          <a:lstStyle/>
          <a:p>
            <a:pPr algn="l">
              <a:lnSpc>
                <a:spcPct val="100000"/>
              </a:lnSpc>
            </a:pPr>
            <a:r>
              <a:rPr sz="3100" b="0" i="0">
                <a:solidFill>
                  <a:srgbClr val="F7F2E8"/>
                </a:solidFill>
                <a:latin typeface="Palatino Linotype"/>
              </a:rPr>
              <a:t>Las configuraciones que más importan  (2/2)</a:t>
            </a:r>
          </a:p>
        </p:txBody>
      </p:sp>
      <p:sp>
        <p:nvSpPr>
          <p:cNvPr id="6" name="Rectangle 5"/>
          <p:cNvSpPr/>
          <p:nvPr/>
        </p:nvSpPr>
        <p:spPr>
          <a:xfrm>
            <a:off x="566928" y="1344168"/>
            <a:ext cx="822960" cy="36576"/>
          </a:xfrm>
          <a:prstGeom prst="rect">
            <a:avLst/>
          </a:prstGeom>
          <a:solidFill>
            <a:srgbClr val="3BBE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566928" y="1444752"/>
            <a:ext cx="10692079" cy="585216"/>
          </a:xfrm>
          <a:prstGeom prst="rect">
            <a:avLst/>
          </a:prstGeom>
          <a:noFill/>
        </p:spPr>
        <p:txBody>
          <a:bodyPr wrap="square" lIns="45720" rIns="45720" tIns="27432" bIns="27432" anchor="t">
            <a:noAutofit/>
          </a:bodyPr>
          <a:lstStyle/>
          <a:p>
            <a:pPr algn="l">
              <a:lnSpc>
                <a:spcPct val="100000"/>
              </a:lnSpc>
            </a:pPr>
            <a:r>
              <a:rPr sz="1450" b="0" i="0">
                <a:solidFill>
                  <a:srgbClr val="A7B2B0"/>
                </a:solidFill>
                <a:latin typeface="Segoe UI Semilight"/>
              </a:rPr>
              <a:t>Unas cuantas llaves de </a:t>
            </a:r>
            <a:r>
              <a:rPr sz="1350" b="0" i="0">
                <a:solidFill>
                  <a:srgbClr val="E2B462"/>
                </a:solidFill>
                <a:latin typeface="Consolas"/>
              </a:rPr>
              <a:t>config.json</a:t>
            </a:r>
            <a:r>
              <a:rPr sz="1450" b="0" i="0">
                <a:solidFill>
                  <a:srgbClr val="A7B2B0"/>
                </a:solidFill>
                <a:latin typeface="Segoe UI Semilight"/>
              </a:rPr>
              <a:t> dan forma a su comportamiento; todo lo demás tiene valores predeterminados sensatos.</a:t>
            </a:r>
          </a:p>
        </p:txBody>
      </p:sp>
      <p:sp>
        <p:nvSpPr>
          <p:cNvPr id="8" name="Rounded Rectangle 7"/>
          <p:cNvSpPr/>
          <p:nvPr/>
        </p:nvSpPr>
        <p:spPr>
          <a:xfrm>
            <a:off x="566928" y="2084831"/>
            <a:ext cx="11057839" cy="1965960"/>
          </a:xfrm>
          <a:prstGeom prst="roundRect">
            <a:avLst>
              <a:gd name="adj" fmla="val 3720"/>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ounded Rectangle 8"/>
          <p:cNvSpPr/>
          <p:nvPr/>
        </p:nvSpPr>
        <p:spPr>
          <a:xfrm>
            <a:off x="566928" y="2084831"/>
            <a:ext cx="11057839" cy="384048"/>
          </a:xfrm>
          <a:prstGeom prst="roundRect">
            <a:avLst>
              <a:gd name="adj" fmla="val 19047"/>
            </a:avLst>
          </a:prstGeom>
          <a:solidFill>
            <a:srgbClr val="151F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640080" y="2121408"/>
            <a:ext cx="3945096" cy="310896"/>
          </a:xfrm>
          <a:prstGeom prst="rect">
            <a:avLst/>
          </a:prstGeom>
          <a:noFill/>
        </p:spPr>
        <p:txBody>
          <a:bodyPr wrap="square" lIns="45720" rIns="45720" tIns="27432" bIns="27432" anchor="ctr">
            <a:noAutofit/>
          </a:bodyPr>
          <a:lstStyle/>
          <a:p>
            <a:pPr algn="l">
              <a:lnSpc>
                <a:spcPct val="100000"/>
              </a:lnSpc>
            </a:pPr>
            <a:r>
              <a:rPr sz="1000" b="0" i="0" spc="120">
                <a:solidFill>
                  <a:srgbClr val="E2B462"/>
                </a:solidFill>
                <a:latin typeface="Segoe UI Semibold"/>
              </a:rPr>
              <a:t>LLAVE</a:t>
            </a:r>
          </a:p>
        </p:txBody>
      </p:sp>
      <p:sp>
        <p:nvSpPr>
          <p:cNvPr id="11" name="TextBox 10"/>
          <p:cNvSpPr txBox="1"/>
          <p:nvPr/>
        </p:nvSpPr>
        <p:spPr>
          <a:xfrm>
            <a:off x="4731480" y="2121408"/>
            <a:ext cx="1622950" cy="310896"/>
          </a:xfrm>
          <a:prstGeom prst="rect">
            <a:avLst/>
          </a:prstGeom>
          <a:noFill/>
        </p:spPr>
        <p:txBody>
          <a:bodyPr wrap="square" lIns="45720" rIns="45720" tIns="27432" bIns="27432" anchor="ctr">
            <a:noAutofit/>
          </a:bodyPr>
          <a:lstStyle/>
          <a:p>
            <a:pPr algn="l">
              <a:lnSpc>
                <a:spcPct val="100000"/>
              </a:lnSpc>
            </a:pPr>
            <a:r>
              <a:rPr sz="1000" b="0" i="0" spc="120">
                <a:solidFill>
                  <a:srgbClr val="E2B462"/>
                </a:solidFill>
                <a:latin typeface="Segoe UI Semibold"/>
              </a:rPr>
              <a:t>PREDETERMINADO</a:t>
            </a:r>
          </a:p>
        </p:txBody>
      </p:sp>
      <p:sp>
        <p:nvSpPr>
          <p:cNvPr id="12" name="TextBox 11"/>
          <p:cNvSpPr txBox="1"/>
          <p:nvPr/>
        </p:nvSpPr>
        <p:spPr>
          <a:xfrm>
            <a:off x="6500734" y="2121408"/>
            <a:ext cx="5050880" cy="310896"/>
          </a:xfrm>
          <a:prstGeom prst="rect">
            <a:avLst/>
          </a:prstGeom>
          <a:noFill/>
        </p:spPr>
        <p:txBody>
          <a:bodyPr wrap="square" lIns="45720" rIns="45720" tIns="27432" bIns="27432" anchor="ctr">
            <a:noAutofit/>
          </a:bodyPr>
          <a:lstStyle/>
          <a:p>
            <a:pPr algn="l">
              <a:lnSpc>
                <a:spcPct val="100000"/>
              </a:lnSpc>
            </a:pPr>
            <a:r>
              <a:rPr sz="1000" b="0" i="0" spc="120">
                <a:solidFill>
                  <a:srgbClr val="E2B462"/>
                </a:solidFill>
                <a:latin typeface="Segoe UI Semibold"/>
              </a:rPr>
              <a:t>PROPÓSITO</a:t>
            </a:r>
          </a:p>
        </p:txBody>
      </p:sp>
      <p:sp>
        <p:nvSpPr>
          <p:cNvPr id="13" name="TextBox 12"/>
          <p:cNvSpPr txBox="1"/>
          <p:nvPr/>
        </p:nvSpPr>
        <p:spPr>
          <a:xfrm>
            <a:off x="640080" y="2505456"/>
            <a:ext cx="3945096" cy="301752"/>
          </a:xfrm>
          <a:prstGeom prst="rect">
            <a:avLst/>
          </a:prstGeom>
          <a:noFill/>
        </p:spPr>
        <p:txBody>
          <a:bodyPr wrap="square" lIns="45720" rIns="45720" tIns="27432" bIns="27432" anchor="ctr">
            <a:noAutofit/>
          </a:bodyPr>
          <a:lstStyle/>
          <a:p>
            <a:pPr algn="l">
              <a:lnSpc>
                <a:spcPct val="100000"/>
              </a:lnSpc>
            </a:pPr>
            <a:r>
              <a:rPr sz="1500" b="0" i="0">
                <a:solidFill>
                  <a:srgbClr val="F7F2E8"/>
                </a:solidFill>
                <a:latin typeface="Segoe UI Semibold"/>
              </a:rPr>
              <a:t>console_quick_edit</a:t>
            </a:r>
          </a:p>
        </p:txBody>
      </p:sp>
      <p:sp>
        <p:nvSpPr>
          <p:cNvPr id="14" name="TextBox 13"/>
          <p:cNvSpPr txBox="1"/>
          <p:nvPr/>
        </p:nvSpPr>
        <p:spPr>
          <a:xfrm>
            <a:off x="4731480" y="2505456"/>
            <a:ext cx="1622950" cy="301752"/>
          </a:xfrm>
          <a:prstGeom prst="rect">
            <a:avLst/>
          </a:prstGeom>
          <a:noFill/>
        </p:spPr>
        <p:txBody>
          <a:bodyPr wrap="square" lIns="45720" rIns="45720" tIns="27432" bIns="27432" anchor="ctr">
            <a:noAutofit/>
          </a:bodyPr>
          <a:lstStyle/>
          <a:p>
            <a:pPr algn="l">
              <a:lnSpc>
                <a:spcPct val="100000"/>
              </a:lnSpc>
            </a:pPr>
            <a:r>
              <a:rPr sz="1500" b="0" i="0">
                <a:solidFill>
                  <a:srgbClr val="A7B2B0"/>
                </a:solidFill>
                <a:latin typeface="Segoe UI"/>
              </a:rPr>
              <a:t>false</a:t>
            </a:r>
          </a:p>
        </p:txBody>
      </p:sp>
      <p:sp>
        <p:nvSpPr>
          <p:cNvPr id="15" name="TextBox 14"/>
          <p:cNvSpPr txBox="1"/>
          <p:nvPr/>
        </p:nvSpPr>
        <p:spPr>
          <a:xfrm>
            <a:off x="6500734" y="2505456"/>
            <a:ext cx="5050880" cy="301752"/>
          </a:xfrm>
          <a:prstGeom prst="rect">
            <a:avLst/>
          </a:prstGeom>
          <a:noFill/>
        </p:spPr>
        <p:txBody>
          <a:bodyPr wrap="square" lIns="45720" rIns="45720" tIns="27432" bIns="27432" anchor="ctr">
            <a:noAutofit/>
          </a:bodyPr>
          <a:lstStyle/>
          <a:p>
            <a:pPr algn="l">
              <a:lnSpc>
                <a:spcPct val="100000"/>
              </a:lnSpc>
            </a:pPr>
            <a:r>
              <a:rPr sz="1500" b="0" i="0">
                <a:solidFill>
                  <a:srgbClr val="A7B2B0"/>
                </a:solidFill>
                <a:latin typeface="Segoe UI"/>
              </a:rPr>
              <a:t>Evita que un clic pause una consola congelada.</a:t>
            </a:r>
          </a:p>
        </p:txBody>
      </p:sp>
      <p:sp>
        <p:nvSpPr>
          <p:cNvPr id="16" name="Rectangle 15"/>
          <p:cNvSpPr/>
          <p:nvPr/>
        </p:nvSpPr>
        <p:spPr>
          <a:xfrm>
            <a:off x="585216" y="2843784"/>
            <a:ext cx="11021263" cy="603504"/>
          </a:xfrm>
          <a:prstGeom prst="rect">
            <a:avLst/>
          </a:prstGeom>
          <a:solidFill>
            <a:srgbClr val="1824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640080" y="2880360"/>
            <a:ext cx="3945096" cy="530352"/>
          </a:xfrm>
          <a:prstGeom prst="rect">
            <a:avLst/>
          </a:prstGeom>
          <a:noFill/>
        </p:spPr>
        <p:txBody>
          <a:bodyPr wrap="square" lIns="45720" rIns="45720" tIns="27432" bIns="27432" anchor="ctr">
            <a:noAutofit/>
          </a:bodyPr>
          <a:lstStyle/>
          <a:p>
            <a:pPr algn="l">
              <a:lnSpc>
                <a:spcPct val="100000"/>
              </a:lnSpc>
            </a:pPr>
            <a:r>
              <a:rPr sz="1500" b="0" i="0">
                <a:solidFill>
                  <a:srgbClr val="F7F2E8"/>
                </a:solidFill>
                <a:latin typeface="Segoe UI Semibold"/>
              </a:rPr>
              <a:t>console_colors</a:t>
            </a:r>
          </a:p>
        </p:txBody>
      </p:sp>
      <p:sp>
        <p:nvSpPr>
          <p:cNvPr id="18" name="TextBox 17"/>
          <p:cNvSpPr txBox="1"/>
          <p:nvPr/>
        </p:nvSpPr>
        <p:spPr>
          <a:xfrm>
            <a:off x="4731480" y="2880360"/>
            <a:ext cx="1622950" cy="530352"/>
          </a:xfrm>
          <a:prstGeom prst="rect">
            <a:avLst/>
          </a:prstGeom>
          <a:noFill/>
        </p:spPr>
        <p:txBody>
          <a:bodyPr wrap="square" lIns="45720" rIns="45720" tIns="27432" bIns="27432" anchor="ctr">
            <a:noAutofit/>
          </a:bodyPr>
          <a:lstStyle/>
          <a:p>
            <a:pPr algn="l">
              <a:lnSpc>
                <a:spcPct val="100000"/>
              </a:lnSpc>
            </a:pPr>
            <a:r>
              <a:rPr sz="1500" b="0" i="0">
                <a:solidFill>
                  <a:srgbClr val="A7B2B0"/>
                </a:solidFill>
                <a:latin typeface="Segoe UI"/>
              </a:rPr>
              <a:t>true</a:t>
            </a:r>
          </a:p>
        </p:txBody>
      </p:sp>
      <p:sp>
        <p:nvSpPr>
          <p:cNvPr id="19" name="TextBox 18"/>
          <p:cNvSpPr txBox="1"/>
          <p:nvPr/>
        </p:nvSpPr>
        <p:spPr>
          <a:xfrm>
            <a:off x="6500734" y="2880360"/>
            <a:ext cx="5050880" cy="530352"/>
          </a:xfrm>
          <a:prstGeom prst="rect">
            <a:avLst/>
          </a:prstGeom>
          <a:noFill/>
        </p:spPr>
        <p:txBody>
          <a:bodyPr wrap="square" lIns="45720" rIns="45720" tIns="27432" bIns="27432" anchor="ctr">
            <a:noAutofit/>
          </a:bodyPr>
          <a:lstStyle/>
          <a:p>
            <a:pPr algn="l">
              <a:lnSpc>
                <a:spcPct val="100000"/>
              </a:lnSpc>
            </a:pPr>
            <a:r>
              <a:rPr sz="1500" b="0" i="0">
                <a:solidFill>
                  <a:srgbClr val="A7B2B0"/>
                </a:solidFill>
                <a:latin typeface="Segoe UI"/>
              </a:rPr>
              <a:t>Colorea las líneas de la consola por nivel; el log se queda en texto plano.</a:t>
            </a:r>
          </a:p>
        </p:txBody>
      </p:sp>
      <p:sp>
        <p:nvSpPr>
          <p:cNvPr id="20" name="TextBox 19"/>
          <p:cNvSpPr txBox="1"/>
          <p:nvPr/>
        </p:nvSpPr>
        <p:spPr>
          <a:xfrm>
            <a:off x="640080" y="3483864"/>
            <a:ext cx="3945096" cy="530352"/>
          </a:xfrm>
          <a:prstGeom prst="rect">
            <a:avLst/>
          </a:prstGeom>
          <a:noFill/>
        </p:spPr>
        <p:txBody>
          <a:bodyPr wrap="square" lIns="45720" rIns="45720" tIns="27432" bIns="27432" anchor="ctr">
            <a:noAutofit/>
          </a:bodyPr>
          <a:lstStyle/>
          <a:p>
            <a:pPr algn="l">
              <a:lnSpc>
                <a:spcPct val="100000"/>
              </a:lnSpc>
            </a:pPr>
            <a:r>
              <a:rPr sz="1500" b="0" i="0">
                <a:solidFill>
                  <a:srgbClr val="F7F2E8"/>
                </a:solidFill>
                <a:latin typeface="Segoe UI Semibold"/>
              </a:rPr>
              <a:t>runtime_autoprovision</a:t>
            </a:r>
          </a:p>
        </p:txBody>
      </p:sp>
      <p:sp>
        <p:nvSpPr>
          <p:cNvPr id="21" name="TextBox 20"/>
          <p:cNvSpPr txBox="1"/>
          <p:nvPr/>
        </p:nvSpPr>
        <p:spPr>
          <a:xfrm>
            <a:off x="4731480" y="3483864"/>
            <a:ext cx="1622950" cy="530352"/>
          </a:xfrm>
          <a:prstGeom prst="rect">
            <a:avLst/>
          </a:prstGeom>
          <a:noFill/>
        </p:spPr>
        <p:txBody>
          <a:bodyPr wrap="square" lIns="45720" rIns="45720" tIns="27432" bIns="27432" anchor="ctr">
            <a:noAutofit/>
          </a:bodyPr>
          <a:lstStyle/>
          <a:p>
            <a:pPr algn="l">
              <a:lnSpc>
                <a:spcPct val="100000"/>
              </a:lnSpc>
            </a:pPr>
            <a:r>
              <a:rPr sz="1500" b="0" i="0">
                <a:solidFill>
                  <a:srgbClr val="A7B2B0"/>
                </a:solidFill>
                <a:latin typeface="Segoe UI"/>
              </a:rPr>
              <a:t>true</a:t>
            </a:r>
          </a:p>
        </p:txBody>
      </p:sp>
      <p:sp>
        <p:nvSpPr>
          <p:cNvPr id="22" name="TextBox 21"/>
          <p:cNvSpPr txBox="1"/>
          <p:nvPr/>
        </p:nvSpPr>
        <p:spPr>
          <a:xfrm>
            <a:off x="6500734" y="3483864"/>
            <a:ext cx="5050880" cy="530352"/>
          </a:xfrm>
          <a:prstGeom prst="rect">
            <a:avLst/>
          </a:prstGeom>
          <a:noFill/>
        </p:spPr>
        <p:txBody>
          <a:bodyPr wrap="square" lIns="45720" rIns="45720" tIns="27432" bIns="27432" anchor="ctr">
            <a:noAutofit/>
          </a:bodyPr>
          <a:lstStyle/>
          <a:p>
            <a:pPr algn="l">
              <a:lnSpc>
                <a:spcPct val="100000"/>
              </a:lnSpc>
            </a:pPr>
            <a:r>
              <a:rPr sz="1500" b="0" i="0">
                <a:solidFill>
                  <a:srgbClr val="A7B2B0"/>
                </a:solidFill>
                <a:latin typeface="Segoe UI"/>
              </a:rPr>
              <a:t>Deja que los servidores MCP aprovisionen Node o uv de forma privada.</a:t>
            </a:r>
          </a:p>
        </p:txBody>
      </p:sp>
      <p:cxnSp>
        <p:nvCxnSpPr>
          <p:cNvPr id="23" name="Connector 22"/>
          <p:cNvCxnSpPr/>
          <p:nvPr/>
        </p:nvCxnSpPr>
        <p:spPr>
          <a:xfrm>
            <a:off x="566928" y="6373368"/>
            <a:ext cx="11057839" cy="0"/>
          </a:xfrm>
          <a:prstGeom prst="line">
            <a:avLst/>
          </a:prstGeom>
          <a:ln w="7620">
            <a:solidFill>
              <a:srgbClr val="2A3A40"/>
            </a:solidFill>
          </a:ln>
        </p:spPr>
        <p:style>
          <a:lnRef idx="2">
            <a:schemeClr val="accent1"/>
          </a:lnRef>
          <a:fillRef idx="0">
            <a:schemeClr val="accent1"/>
          </a:fillRef>
          <a:effectRef idx="1">
            <a:schemeClr val="accent1"/>
          </a:effectRef>
          <a:fontRef idx="minor">
            <a:schemeClr val="tx1"/>
          </a:fontRef>
        </p:style>
      </p:cxnSp>
      <p:sp>
        <p:nvSpPr>
          <p:cNvPr id="24" name="TextBox 23"/>
          <p:cNvSpPr txBox="1"/>
          <p:nvPr/>
        </p:nvSpPr>
        <p:spPr>
          <a:xfrm>
            <a:off x="566928" y="6419088"/>
            <a:ext cx="6858000" cy="274320"/>
          </a:xfrm>
          <a:prstGeom prst="rect">
            <a:avLst/>
          </a:prstGeom>
          <a:noFill/>
        </p:spPr>
        <p:txBody>
          <a:bodyPr wrap="square" lIns="45720" rIns="45720" tIns="27432" bIns="27432" anchor="t">
            <a:noAutofit/>
          </a:bodyPr>
          <a:lstStyle/>
          <a:p>
            <a:pPr algn="l">
              <a:lnSpc>
                <a:spcPct val="100000"/>
              </a:lnSpc>
            </a:pPr>
            <a:r>
              <a:rPr sz="850" b="0" i="0" spc="120">
                <a:solidFill>
                  <a:srgbClr val="A7B2B0"/>
                </a:solidFill>
                <a:latin typeface="Segoe UI Semibold"/>
              </a:rPr>
              <a:t>TLAMATINI  ·  VII · INSTALAR, CONFIGURAR, EJECUTAR</a:t>
            </a:r>
          </a:p>
        </p:txBody>
      </p:sp>
      <p:sp>
        <p:nvSpPr>
          <p:cNvPr id="25" name="TextBox 24"/>
          <p:cNvSpPr txBox="1"/>
          <p:nvPr/>
        </p:nvSpPr>
        <p:spPr>
          <a:xfrm>
            <a:off x="8698687" y="6419088"/>
            <a:ext cx="2926080" cy="274320"/>
          </a:xfrm>
          <a:prstGeom prst="rect">
            <a:avLst/>
          </a:prstGeom>
          <a:noFill/>
        </p:spPr>
        <p:txBody>
          <a:bodyPr wrap="square" lIns="45720" rIns="45720" tIns="27432" bIns="27432" anchor="t">
            <a:noAutofit/>
          </a:bodyPr>
          <a:lstStyle/>
          <a:p>
            <a:pPr algn="r">
              <a:lnSpc>
                <a:spcPct val="100000"/>
              </a:lnSpc>
            </a:pPr>
            <a:r>
              <a:rPr sz="850" b="0" i="0" spc="100">
                <a:solidFill>
                  <a:srgbClr val="A7B2B0"/>
                </a:solidFill>
                <a:latin typeface="Segoe UI Semibold"/>
              </a:rPr>
              <a:t>v1.91.1   ·   112</a:t>
            </a:r>
          </a:p>
        </p:txBody>
      </p:sp>
    </p:spTree>
  </p:cSld>
  <p:clrMapOvr>
    <a:masterClrMapping/>
  </p:clrMapOvr>
</p:sld>
</file>

<file path=ppt/slides/slide1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content.png"/>
          <p:cNvPicPr>
            <a:picLocks noChangeAspect="1"/>
          </p:cNvPicPr>
          <p:nvPr/>
        </p:nvPicPr>
        <p:blipFill>
          <a:blip r:embed="rId2"/>
          <a:stretch>
            <a:fillRect/>
          </a:stretch>
        </p:blipFill>
        <p:spPr>
          <a:xfrm>
            <a:off x="0" y="0"/>
            <a:ext cx="12191695" cy="6858000"/>
          </a:xfrm>
          <a:prstGeom prst="rect">
            <a:avLst/>
          </a:prstGeom>
        </p:spPr>
      </p:pic>
      <p:sp>
        <p:nvSpPr>
          <p:cNvPr id="3" name="Diamond 2"/>
          <p:cNvSpPr/>
          <p:nvPr/>
        </p:nvSpPr>
        <p:spPr>
          <a:xfrm>
            <a:off x="566928" y="457200"/>
            <a:ext cx="100584" cy="100584"/>
          </a:xfrm>
          <a:prstGeom prst="diamond">
            <a:avLst/>
          </a:prstGeom>
          <a:solidFill>
            <a:srgbClr val="3BBE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49808" y="365760"/>
            <a:ext cx="8229600" cy="292608"/>
          </a:xfrm>
          <a:prstGeom prst="rect">
            <a:avLst/>
          </a:prstGeom>
          <a:noFill/>
        </p:spPr>
        <p:txBody>
          <a:bodyPr wrap="square" lIns="45720" rIns="45720" tIns="27432" bIns="27432" anchor="t">
            <a:noAutofit/>
          </a:bodyPr>
          <a:lstStyle/>
          <a:p>
            <a:pPr algn="l">
              <a:lnSpc>
                <a:spcPct val="100000"/>
              </a:lnSpc>
            </a:pPr>
            <a:r>
              <a:rPr sz="1100" b="0" i="0" spc="240">
                <a:solidFill>
                  <a:srgbClr val="C98457"/>
                </a:solidFill>
                <a:latin typeface="Segoe UI Semibold"/>
              </a:rPr>
              <a:t>CONFIGURACIÓN</a:t>
            </a:r>
          </a:p>
        </p:txBody>
      </p:sp>
      <p:sp>
        <p:nvSpPr>
          <p:cNvPr id="5" name="TextBox 4"/>
          <p:cNvSpPr txBox="1"/>
          <p:nvPr/>
        </p:nvSpPr>
        <p:spPr>
          <a:xfrm>
            <a:off x="539496" y="676656"/>
            <a:ext cx="11057839" cy="658368"/>
          </a:xfrm>
          <a:prstGeom prst="rect">
            <a:avLst/>
          </a:prstGeom>
          <a:noFill/>
        </p:spPr>
        <p:txBody>
          <a:bodyPr wrap="square" lIns="45720" rIns="45720" tIns="27432" bIns="27432" anchor="t">
            <a:noAutofit/>
          </a:bodyPr>
          <a:lstStyle/>
          <a:p>
            <a:pPr algn="l">
              <a:lnSpc>
                <a:spcPct val="100000"/>
              </a:lnSpc>
            </a:pPr>
            <a:r>
              <a:rPr sz="3100" b="0" i="0">
                <a:solidFill>
                  <a:srgbClr val="F7F2E8"/>
                </a:solidFill>
                <a:latin typeface="Palatino Linotype"/>
              </a:rPr>
              <a:t>Medido, no elegido por gusto</a:t>
            </a:r>
          </a:p>
        </p:txBody>
      </p:sp>
      <p:sp>
        <p:nvSpPr>
          <p:cNvPr id="6" name="Rectangle 5"/>
          <p:cNvSpPr/>
          <p:nvPr/>
        </p:nvSpPr>
        <p:spPr>
          <a:xfrm>
            <a:off x="566928" y="1344168"/>
            <a:ext cx="822960" cy="36576"/>
          </a:xfrm>
          <a:prstGeom prst="rect">
            <a:avLst/>
          </a:prstGeom>
          <a:solidFill>
            <a:srgbClr val="3BBE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ounded Rectangle 6"/>
          <p:cNvSpPr/>
          <p:nvPr/>
        </p:nvSpPr>
        <p:spPr>
          <a:xfrm>
            <a:off x="566928" y="1810511"/>
            <a:ext cx="11057839" cy="3291840"/>
          </a:xfrm>
          <a:prstGeom prst="roundRect">
            <a:avLst>
              <a:gd name="adj" fmla="val 4444"/>
            </a:avLst>
          </a:prstGeom>
          <a:solidFill>
            <a:srgbClr val="121A1D"/>
          </a:solidFill>
          <a:ln w="19050">
            <a:solidFill>
              <a:srgbClr val="3BBE9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ectangle 7"/>
          <p:cNvSpPr/>
          <p:nvPr/>
        </p:nvSpPr>
        <p:spPr>
          <a:xfrm>
            <a:off x="566928" y="1810511"/>
            <a:ext cx="109728" cy="3291840"/>
          </a:xfrm>
          <a:prstGeom prst="rect">
            <a:avLst/>
          </a:prstGeom>
          <a:solidFill>
            <a:srgbClr val="3BBE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115568" y="2039112"/>
            <a:ext cx="9960559" cy="2834640"/>
          </a:xfrm>
          <a:prstGeom prst="rect">
            <a:avLst/>
          </a:prstGeom>
          <a:noFill/>
        </p:spPr>
        <p:txBody>
          <a:bodyPr wrap="square" lIns="45720" rIns="45720" tIns="27432" bIns="27432" anchor="ctr">
            <a:noAutofit/>
          </a:bodyPr>
          <a:lstStyle/>
          <a:p>
            <a:pPr algn="l">
              <a:lnSpc>
                <a:spcPct val="100000"/>
              </a:lnSpc>
            </a:pPr>
            <a:r>
              <a:rPr sz="2600" b="0" i="0">
                <a:solidFill>
                  <a:srgbClr val="F7F2E8"/>
                </a:solidFill>
                <a:latin typeface="Segoe UI Light"/>
              </a:rPr>
              <a:t>El sampler heredado viene de pruebas repetidas con cargas de trabajo reales, y una sola ejecución rápida nunca justifica un cambio. El Model Brain ahora ajusta cada modelo a partir de fuentes formales.</a:t>
            </a:r>
          </a:p>
        </p:txBody>
      </p:sp>
      <p:sp>
        <p:nvSpPr>
          <p:cNvPr id="10" name="TextBox 9"/>
          <p:cNvSpPr txBox="1"/>
          <p:nvPr/>
        </p:nvSpPr>
        <p:spPr>
          <a:xfrm>
            <a:off x="566928" y="5230368"/>
            <a:ext cx="11057839" cy="457200"/>
          </a:xfrm>
          <a:prstGeom prst="rect">
            <a:avLst/>
          </a:prstGeom>
          <a:noFill/>
        </p:spPr>
        <p:txBody>
          <a:bodyPr wrap="square" lIns="45720" rIns="45720" tIns="27432" bIns="27432" anchor="t">
            <a:noAutofit/>
          </a:bodyPr>
          <a:lstStyle/>
          <a:p>
            <a:pPr algn="l">
              <a:lnSpc>
                <a:spcPct val="100000"/>
              </a:lnSpc>
            </a:pPr>
            <a:r>
              <a:rPr sz="1300" b="0" i="1">
                <a:solidFill>
                  <a:srgbClr val="A7B2B0"/>
                </a:solidFill>
                <a:latin typeface="Segoe UI"/>
              </a:rPr>
              <a:t>De “Las configuraciones que más importan”</a:t>
            </a:r>
          </a:p>
        </p:txBody>
      </p:sp>
      <p:cxnSp>
        <p:nvCxnSpPr>
          <p:cNvPr id="11" name="Connector 10"/>
          <p:cNvCxnSpPr/>
          <p:nvPr/>
        </p:nvCxnSpPr>
        <p:spPr>
          <a:xfrm>
            <a:off x="566928" y="6373368"/>
            <a:ext cx="11057839" cy="0"/>
          </a:xfrm>
          <a:prstGeom prst="line">
            <a:avLst/>
          </a:prstGeom>
          <a:ln w="7620">
            <a:solidFill>
              <a:srgbClr val="2A3A40"/>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566928" y="6419088"/>
            <a:ext cx="6858000" cy="274320"/>
          </a:xfrm>
          <a:prstGeom prst="rect">
            <a:avLst/>
          </a:prstGeom>
          <a:noFill/>
        </p:spPr>
        <p:txBody>
          <a:bodyPr wrap="square" lIns="45720" rIns="45720" tIns="27432" bIns="27432" anchor="t">
            <a:noAutofit/>
          </a:bodyPr>
          <a:lstStyle/>
          <a:p>
            <a:pPr algn="l">
              <a:lnSpc>
                <a:spcPct val="100000"/>
              </a:lnSpc>
            </a:pPr>
            <a:r>
              <a:rPr sz="850" b="0" i="0" spc="120">
                <a:solidFill>
                  <a:srgbClr val="A7B2B0"/>
                </a:solidFill>
                <a:latin typeface="Segoe UI Semibold"/>
              </a:rPr>
              <a:t>TLAMATINI  ·  VII · INSTALAR, CONFIGURAR, EJECUTAR</a:t>
            </a:r>
          </a:p>
        </p:txBody>
      </p:sp>
      <p:sp>
        <p:nvSpPr>
          <p:cNvPr id="13" name="TextBox 12"/>
          <p:cNvSpPr txBox="1"/>
          <p:nvPr/>
        </p:nvSpPr>
        <p:spPr>
          <a:xfrm>
            <a:off x="8698687" y="6419088"/>
            <a:ext cx="2926080" cy="274320"/>
          </a:xfrm>
          <a:prstGeom prst="rect">
            <a:avLst/>
          </a:prstGeom>
          <a:noFill/>
        </p:spPr>
        <p:txBody>
          <a:bodyPr wrap="square" lIns="45720" rIns="45720" tIns="27432" bIns="27432" anchor="t">
            <a:noAutofit/>
          </a:bodyPr>
          <a:lstStyle/>
          <a:p>
            <a:pPr algn="r">
              <a:lnSpc>
                <a:spcPct val="100000"/>
              </a:lnSpc>
            </a:pPr>
            <a:r>
              <a:rPr sz="850" b="0" i="0" spc="100">
                <a:solidFill>
                  <a:srgbClr val="A7B2B0"/>
                </a:solidFill>
                <a:latin typeface="Segoe UI Semibold"/>
              </a:rPr>
              <a:t>v1.91.1   ·   113</a:t>
            </a:r>
          </a:p>
        </p:txBody>
      </p:sp>
    </p:spTree>
  </p:cSld>
  <p:clrMapOvr>
    <a:masterClrMapping/>
  </p:clrMapOvr>
</p:sld>
</file>

<file path=ppt/slides/slide1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content.png"/>
          <p:cNvPicPr>
            <a:picLocks noChangeAspect="1"/>
          </p:cNvPicPr>
          <p:nvPr/>
        </p:nvPicPr>
        <p:blipFill>
          <a:blip r:embed="rId2"/>
          <a:stretch>
            <a:fillRect/>
          </a:stretch>
        </p:blipFill>
        <p:spPr>
          <a:xfrm>
            <a:off x="0" y="0"/>
            <a:ext cx="12191695" cy="6858000"/>
          </a:xfrm>
          <a:prstGeom prst="rect">
            <a:avLst/>
          </a:prstGeom>
        </p:spPr>
      </p:pic>
      <p:sp>
        <p:nvSpPr>
          <p:cNvPr id="3" name="Diamond 2"/>
          <p:cNvSpPr/>
          <p:nvPr/>
        </p:nvSpPr>
        <p:spPr>
          <a:xfrm>
            <a:off x="566928" y="457200"/>
            <a:ext cx="100584" cy="100584"/>
          </a:xfrm>
          <a:prstGeom prst="diamond">
            <a:avLst/>
          </a:prstGeom>
          <a:solidFill>
            <a:srgbClr val="3BBE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49808" y="365760"/>
            <a:ext cx="8229600" cy="292608"/>
          </a:xfrm>
          <a:prstGeom prst="rect">
            <a:avLst/>
          </a:prstGeom>
          <a:noFill/>
        </p:spPr>
        <p:txBody>
          <a:bodyPr wrap="square" lIns="45720" rIns="45720" tIns="27432" bIns="27432" anchor="t">
            <a:noAutofit/>
          </a:bodyPr>
          <a:lstStyle/>
          <a:p>
            <a:pPr algn="l">
              <a:lnSpc>
                <a:spcPct val="100000"/>
              </a:lnSpc>
            </a:pPr>
            <a:r>
              <a:rPr sz="1100" b="0" i="0" spc="240">
                <a:solidFill>
                  <a:srgbClr val="C98457"/>
                </a:solidFill>
                <a:latin typeface="Segoe UI Semibold"/>
              </a:rPr>
              <a:t>BUILD Y RELEASE</a:t>
            </a:r>
          </a:p>
        </p:txBody>
      </p:sp>
      <p:sp>
        <p:nvSpPr>
          <p:cNvPr id="5" name="TextBox 4"/>
          <p:cNvSpPr txBox="1"/>
          <p:nvPr/>
        </p:nvSpPr>
        <p:spPr>
          <a:xfrm>
            <a:off x="539496" y="676656"/>
            <a:ext cx="11057839" cy="658368"/>
          </a:xfrm>
          <a:prstGeom prst="rect">
            <a:avLst/>
          </a:prstGeom>
          <a:noFill/>
        </p:spPr>
        <p:txBody>
          <a:bodyPr wrap="square" lIns="45720" rIns="45720" tIns="27432" bIns="27432" anchor="t">
            <a:noAutofit/>
          </a:bodyPr>
          <a:lstStyle/>
          <a:p>
            <a:pPr algn="l">
              <a:lnSpc>
                <a:spcPct val="100000"/>
              </a:lnSpc>
            </a:pPr>
            <a:r>
              <a:rPr sz="3100" b="0" i="0">
                <a:solidFill>
                  <a:srgbClr val="F7F2E8"/>
                </a:solidFill>
                <a:latin typeface="Palatino Linotype"/>
              </a:rPr>
              <a:t>Del árbol del source al instalador</a:t>
            </a:r>
          </a:p>
        </p:txBody>
      </p:sp>
      <p:sp>
        <p:nvSpPr>
          <p:cNvPr id="6" name="Rectangle 5"/>
          <p:cNvSpPr/>
          <p:nvPr/>
        </p:nvSpPr>
        <p:spPr>
          <a:xfrm>
            <a:off x="566928" y="1344168"/>
            <a:ext cx="822960" cy="36576"/>
          </a:xfrm>
          <a:prstGeom prst="rect">
            <a:avLst/>
          </a:prstGeom>
          <a:solidFill>
            <a:srgbClr val="3BBE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566928" y="1444752"/>
            <a:ext cx="10692079" cy="585216"/>
          </a:xfrm>
          <a:prstGeom prst="rect">
            <a:avLst/>
          </a:prstGeom>
          <a:noFill/>
        </p:spPr>
        <p:txBody>
          <a:bodyPr wrap="square" lIns="45720" rIns="45720" tIns="27432" bIns="27432" anchor="t">
            <a:noAutofit/>
          </a:bodyPr>
          <a:lstStyle/>
          <a:p>
            <a:pPr algn="l">
              <a:lnSpc>
                <a:spcPct val="100000"/>
              </a:lnSpc>
            </a:pPr>
            <a:r>
              <a:rPr sz="1450" b="0" i="0">
                <a:solidFill>
                  <a:srgbClr val="A7B2B0"/>
                </a:solidFill>
                <a:latin typeface="Segoe UI Semilight"/>
              </a:rPr>
              <a:t>Tres scripts de build producen un release independiente para Windows, y el build prueba lo que incluye antes de empaquetar cualquier cosa.</a:t>
            </a:r>
          </a:p>
        </p:txBody>
      </p:sp>
      <p:sp>
        <p:nvSpPr>
          <p:cNvPr id="8" name="Rounded Rectangle 7"/>
          <p:cNvSpPr/>
          <p:nvPr/>
        </p:nvSpPr>
        <p:spPr>
          <a:xfrm>
            <a:off x="566928" y="2084831"/>
            <a:ext cx="5212080" cy="720547"/>
          </a:xfrm>
          <a:prstGeom prst="roundRect">
            <a:avLst>
              <a:gd name="adj" fmla="val 12690"/>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Diamond 8"/>
          <p:cNvSpPr/>
          <p:nvPr/>
        </p:nvSpPr>
        <p:spPr>
          <a:xfrm>
            <a:off x="768096" y="2381097"/>
            <a:ext cx="128016" cy="128016"/>
          </a:xfrm>
          <a:prstGeom prst="diamond">
            <a:avLst/>
          </a:prstGeom>
          <a:solidFill>
            <a:srgbClr val="3BBE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1024128" y="2139696"/>
            <a:ext cx="1554480" cy="610819"/>
          </a:xfrm>
          <a:prstGeom prst="rect">
            <a:avLst/>
          </a:prstGeom>
          <a:noFill/>
        </p:spPr>
        <p:txBody>
          <a:bodyPr wrap="square" lIns="45720" rIns="45720" tIns="27432" bIns="27432" anchor="ctr">
            <a:noAutofit/>
          </a:bodyPr>
          <a:lstStyle/>
          <a:p>
            <a:pPr algn="l">
              <a:lnSpc>
                <a:spcPct val="100000"/>
              </a:lnSpc>
            </a:pPr>
            <a:r>
              <a:rPr sz="1600" b="0" i="0">
                <a:solidFill>
                  <a:srgbClr val="F7F2E8"/>
                </a:solidFill>
                <a:latin typeface="Segoe UI Semibold"/>
              </a:rPr>
              <a:t>Bundle</a:t>
            </a:r>
          </a:p>
        </p:txBody>
      </p:sp>
      <p:sp>
        <p:nvSpPr>
          <p:cNvPr id="11" name="TextBox 10"/>
          <p:cNvSpPr txBox="1"/>
          <p:nvPr/>
        </p:nvSpPr>
        <p:spPr>
          <a:xfrm>
            <a:off x="2670048" y="2139696"/>
            <a:ext cx="2971800" cy="610819"/>
          </a:xfrm>
          <a:prstGeom prst="rect">
            <a:avLst/>
          </a:prstGeom>
          <a:noFill/>
        </p:spPr>
        <p:txBody>
          <a:bodyPr wrap="square" lIns="45720" rIns="45720" tIns="27432" bIns="27432" anchor="ctr">
            <a:noAutofit/>
          </a:bodyPr>
          <a:lstStyle/>
          <a:p>
            <a:pPr algn="l">
              <a:lnSpc>
                <a:spcPct val="100000"/>
              </a:lnSpc>
            </a:pPr>
            <a:r>
              <a:rPr sz="1400" b="0" i="0">
                <a:solidFill>
                  <a:srgbClr val="A7B2B0"/>
                </a:solidFill>
                <a:latin typeface="Segoe UI"/>
              </a:rPr>
              <a:t>Archivos estáticos, plantillas, agents, skills y ambos Pythons.</a:t>
            </a:r>
          </a:p>
        </p:txBody>
      </p:sp>
      <p:sp>
        <p:nvSpPr>
          <p:cNvPr id="12" name="Rounded Rectangle 11"/>
          <p:cNvSpPr/>
          <p:nvPr/>
        </p:nvSpPr>
        <p:spPr>
          <a:xfrm>
            <a:off x="566928" y="2933395"/>
            <a:ext cx="5212080" cy="720547"/>
          </a:xfrm>
          <a:prstGeom prst="roundRect">
            <a:avLst>
              <a:gd name="adj" fmla="val 12690"/>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Diamond 12"/>
          <p:cNvSpPr/>
          <p:nvPr/>
        </p:nvSpPr>
        <p:spPr>
          <a:xfrm>
            <a:off x="768096" y="3229660"/>
            <a:ext cx="128016" cy="128016"/>
          </a:xfrm>
          <a:prstGeom prst="diamond">
            <a:avLst/>
          </a:prstGeom>
          <a:solidFill>
            <a:srgbClr val="C984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1024128" y="2988259"/>
            <a:ext cx="1554480" cy="610819"/>
          </a:xfrm>
          <a:prstGeom prst="rect">
            <a:avLst/>
          </a:prstGeom>
          <a:noFill/>
        </p:spPr>
        <p:txBody>
          <a:bodyPr wrap="square" lIns="45720" rIns="45720" tIns="27432" bIns="27432" anchor="ctr">
            <a:noAutofit/>
          </a:bodyPr>
          <a:lstStyle/>
          <a:p>
            <a:pPr algn="l">
              <a:lnSpc>
                <a:spcPct val="100000"/>
              </a:lnSpc>
            </a:pPr>
            <a:r>
              <a:rPr sz="1600" b="0" i="0">
                <a:solidFill>
                  <a:srgbClr val="F7F2E8"/>
                </a:solidFill>
                <a:latin typeface="Segoe UI Semibold"/>
              </a:rPr>
              <a:t>Prueba de transporte</a:t>
            </a:r>
          </a:p>
        </p:txBody>
      </p:sp>
      <p:sp>
        <p:nvSpPr>
          <p:cNvPr id="15" name="TextBox 14"/>
          <p:cNvSpPr txBox="1"/>
          <p:nvPr/>
        </p:nvSpPr>
        <p:spPr>
          <a:xfrm>
            <a:off x="2670048" y="2988259"/>
            <a:ext cx="2971800" cy="610819"/>
          </a:xfrm>
          <a:prstGeom prst="rect">
            <a:avLst/>
          </a:prstGeom>
          <a:noFill/>
        </p:spPr>
        <p:txBody>
          <a:bodyPr wrap="square" lIns="45720" rIns="45720" tIns="27432" bIns="27432" anchor="ctr">
            <a:noAutofit/>
          </a:bodyPr>
          <a:lstStyle/>
          <a:p>
            <a:pPr algn="l">
              <a:lnSpc>
                <a:spcPct val="100000"/>
              </a:lnSpc>
            </a:pPr>
            <a:r>
              <a:rPr sz="1350" b="0" i="0">
                <a:solidFill>
                  <a:srgbClr val="A7B2B0"/>
                </a:solidFill>
                <a:latin typeface="Segoe UI"/>
              </a:rPr>
              <a:t>Se detiene si falta un módulo requerido de los que fallan abiertos.</a:t>
            </a:r>
          </a:p>
        </p:txBody>
      </p:sp>
      <p:sp>
        <p:nvSpPr>
          <p:cNvPr id="16" name="Rounded Rectangle 15"/>
          <p:cNvSpPr/>
          <p:nvPr/>
        </p:nvSpPr>
        <p:spPr>
          <a:xfrm>
            <a:off x="566928" y="3781958"/>
            <a:ext cx="5212080" cy="720547"/>
          </a:xfrm>
          <a:prstGeom prst="roundRect">
            <a:avLst>
              <a:gd name="adj" fmla="val 12690"/>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Diamond 16"/>
          <p:cNvSpPr/>
          <p:nvPr/>
        </p:nvSpPr>
        <p:spPr>
          <a:xfrm>
            <a:off x="768096" y="4078224"/>
            <a:ext cx="128016" cy="128016"/>
          </a:xfrm>
          <a:prstGeom prst="diamond">
            <a:avLst/>
          </a:prstGeom>
          <a:solidFill>
            <a:srgbClr val="E2B4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1024128" y="3836822"/>
            <a:ext cx="1554480" cy="610819"/>
          </a:xfrm>
          <a:prstGeom prst="rect">
            <a:avLst/>
          </a:prstGeom>
          <a:noFill/>
        </p:spPr>
        <p:txBody>
          <a:bodyPr wrap="square" lIns="45720" rIns="45720" tIns="27432" bIns="27432" anchor="ctr">
            <a:noAutofit/>
          </a:bodyPr>
          <a:lstStyle/>
          <a:p>
            <a:pPr algn="l">
              <a:lnSpc>
                <a:spcPct val="100000"/>
              </a:lnSpc>
            </a:pPr>
            <a:r>
              <a:rPr sz="1600" b="0" i="0">
                <a:solidFill>
                  <a:srgbClr val="F7F2E8"/>
                </a:solidFill>
                <a:latin typeface="Segoe UI Semibold"/>
              </a:rPr>
              <a:t>Compuertas de runtime</a:t>
            </a:r>
          </a:p>
        </p:txBody>
      </p:sp>
      <p:sp>
        <p:nvSpPr>
          <p:cNvPr id="19" name="TextBox 18"/>
          <p:cNvSpPr txBox="1"/>
          <p:nvPr/>
        </p:nvSpPr>
        <p:spPr>
          <a:xfrm>
            <a:off x="2670048" y="3836822"/>
            <a:ext cx="2971800" cy="610819"/>
          </a:xfrm>
          <a:prstGeom prst="rect">
            <a:avLst/>
          </a:prstGeom>
          <a:noFill/>
        </p:spPr>
        <p:txBody>
          <a:bodyPr wrap="square" lIns="45720" rIns="45720" tIns="27432" bIns="27432" anchor="ctr">
            <a:noAutofit/>
          </a:bodyPr>
          <a:lstStyle/>
          <a:p>
            <a:pPr algn="l">
              <a:lnSpc>
                <a:spcPct val="100000"/>
              </a:lnSpc>
            </a:pPr>
            <a:r>
              <a:rPr sz="1250" b="0" i="0">
                <a:solidFill>
                  <a:srgbClr val="A7B2B0"/>
                </a:solidFill>
                <a:latin typeface="Segoe UI"/>
              </a:rPr>
              <a:t>Cada runtime de agent y cada cargador de modelos corre congelado.</a:t>
            </a:r>
          </a:p>
        </p:txBody>
      </p:sp>
      <p:sp>
        <p:nvSpPr>
          <p:cNvPr id="20" name="Rounded Rectangle 19"/>
          <p:cNvSpPr/>
          <p:nvPr/>
        </p:nvSpPr>
        <p:spPr>
          <a:xfrm>
            <a:off x="566928" y="4630521"/>
            <a:ext cx="5212080" cy="720547"/>
          </a:xfrm>
          <a:prstGeom prst="roundRect">
            <a:avLst>
              <a:gd name="adj" fmla="val 12690"/>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Diamond 20"/>
          <p:cNvSpPr/>
          <p:nvPr/>
        </p:nvSpPr>
        <p:spPr>
          <a:xfrm>
            <a:off x="768096" y="4926787"/>
            <a:ext cx="128016" cy="128016"/>
          </a:xfrm>
          <a:prstGeom prst="diamond">
            <a:avLst/>
          </a:prstGeom>
          <a:solidFill>
            <a:srgbClr val="46D2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1024128" y="4685385"/>
            <a:ext cx="1554480" cy="610819"/>
          </a:xfrm>
          <a:prstGeom prst="rect">
            <a:avLst/>
          </a:prstGeom>
          <a:noFill/>
        </p:spPr>
        <p:txBody>
          <a:bodyPr wrap="square" lIns="45720" rIns="45720" tIns="27432" bIns="27432" anchor="ctr">
            <a:noAutofit/>
          </a:bodyPr>
          <a:lstStyle/>
          <a:p>
            <a:pPr algn="l">
              <a:lnSpc>
                <a:spcPct val="100000"/>
              </a:lnSpc>
            </a:pPr>
            <a:r>
              <a:rPr sz="1600" b="0" i="0">
                <a:solidFill>
                  <a:srgbClr val="F7F2E8"/>
                </a:solidFill>
                <a:latin typeface="Segoe UI Semibold"/>
              </a:rPr>
              <a:t>Recibo</a:t>
            </a:r>
          </a:p>
        </p:txBody>
      </p:sp>
      <p:sp>
        <p:nvSpPr>
          <p:cNvPr id="23" name="TextBox 22"/>
          <p:cNvSpPr txBox="1"/>
          <p:nvPr/>
        </p:nvSpPr>
        <p:spPr>
          <a:xfrm>
            <a:off x="2670048" y="4685385"/>
            <a:ext cx="2971800" cy="610819"/>
          </a:xfrm>
          <a:prstGeom prst="rect">
            <a:avLst/>
          </a:prstGeom>
          <a:noFill/>
        </p:spPr>
        <p:txBody>
          <a:bodyPr wrap="square" lIns="45720" rIns="45720" tIns="27432" bIns="27432" anchor="ctr">
            <a:noAutofit/>
          </a:bodyPr>
          <a:lstStyle/>
          <a:p>
            <a:pPr algn="l">
              <a:lnSpc>
                <a:spcPct val="100000"/>
              </a:lnSpc>
            </a:pPr>
            <a:r>
              <a:rPr sz="1200" b="0" i="0">
                <a:solidFill>
                  <a:srgbClr val="A7B2B0"/>
                </a:solidFill>
                <a:latin typeface="Segoe UI"/>
              </a:rPr>
              <a:t>SHA-256 para cada archivo del payload y todos los helpers raíz requeridos, revisado antes de usarse.</a:t>
            </a:r>
          </a:p>
        </p:txBody>
      </p:sp>
      <p:sp>
        <p:nvSpPr>
          <p:cNvPr id="24" name="Rounded Rectangle 23"/>
          <p:cNvSpPr/>
          <p:nvPr/>
        </p:nvSpPr>
        <p:spPr>
          <a:xfrm>
            <a:off x="566928" y="5479084"/>
            <a:ext cx="5212080" cy="720547"/>
          </a:xfrm>
          <a:prstGeom prst="roundRect">
            <a:avLst>
              <a:gd name="adj" fmla="val 12690"/>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Diamond 24"/>
          <p:cNvSpPr/>
          <p:nvPr/>
        </p:nvSpPr>
        <p:spPr>
          <a:xfrm>
            <a:off x="768096" y="5775350"/>
            <a:ext cx="128016" cy="128016"/>
          </a:xfrm>
          <a:prstGeom prst="diamond">
            <a:avLst/>
          </a:prstGeom>
          <a:solidFill>
            <a:srgbClr val="D25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1024128" y="5533948"/>
            <a:ext cx="1554480" cy="610819"/>
          </a:xfrm>
          <a:prstGeom prst="rect">
            <a:avLst/>
          </a:prstGeom>
          <a:noFill/>
        </p:spPr>
        <p:txBody>
          <a:bodyPr wrap="square" lIns="45720" rIns="45720" tIns="27432" bIns="27432" anchor="ctr">
            <a:noAutofit/>
          </a:bodyPr>
          <a:lstStyle/>
          <a:p>
            <a:pPr algn="l">
              <a:lnSpc>
                <a:spcPct val="100000"/>
              </a:lnSpc>
            </a:pPr>
            <a:r>
              <a:rPr sz="1600" b="0" i="0">
                <a:solidFill>
                  <a:srgbClr val="F7F2E8"/>
                </a:solidFill>
                <a:latin typeface="Segoe UI Semibold"/>
              </a:rPr>
              <a:t>Tope</a:t>
            </a:r>
          </a:p>
        </p:txBody>
      </p:sp>
      <p:sp>
        <p:nvSpPr>
          <p:cNvPr id="27" name="TextBox 26"/>
          <p:cNvSpPr txBox="1"/>
          <p:nvPr/>
        </p:nvSpPr>
        <p:spPr>
          <a:xfrm>
            <a:off x="2670048" y="5533948"/>
            <a:ext cx="2971800" cy="610819"/>
          </a:xfrm>
          <a:prstGeom prst="rect">
            <a:avLst/>
          </a:prstGeom>
          <a:noFill/>
        </p:spPr>
        <p:txBody>
          <a:bodyPr wrap="square" lIns="45720" rIns="45720" tIns="27432" bIns="27432" anchor="ctr">
            <a:noAutofit/>
          </a:bodyPr>
          <a:lstStyle/>
          <a:p>
            <a:pPr algn="l">
              <a:lnSpc>
                <a:spcPct val="100000"/>
              </a:lnSpc>
            </a:pPr>
            <a:r>
              <a:rPr sz="1400" b="0" i="0">
                <a:solidFill>
                  <a:srgbClr val="A7B2B0"/>
                </a:solidFill>
                <a:latin typeface="Segoe UI"/>
              </a:rPr>
              <a:t>Debajo de 1,990,000,000 bytes, sin quitar nada para que quepa.</a:t>
            </a:r>
          </a:p>
        </p:txBody>
      </p:sp>
      <p:sp>
        <p:nvSpPr>
          <p:cNvPr id="28" name="Rounded Rectangle 27"/>
          <p:cNvSpPr/>
          <p:nvPr/>
        </p:nvSpPr>
        <p:spPr>
          <a:xfrm>
            <a:off x="6144768" y="2084831"/>
            <a:ext cx="5479999" cy="518160"/>
          </a:xfrm>
          <a:prstGeom prst="roundRect">
            <a:avLst>
              <a:gd name="adj" fmla="val 35294"/>
            </a:avLst>
          </a:prstGeom>
          <a:solidFill>
            <a:srgbClr val="3BBE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6327648" y="2103120"/>
            <a:ext cx="5114239" cy="481583"/>
          </a:xfrm>
          <a:prstGeom prst="rect">
            <a:avLst/>
          </a:prstGeom>
          <a:noFill/>
        </p:spPr>
        <p:txBody>
          <a:bodyPr wrap="square" lIns="45720" rIns="45720" tIns="27432" bIns="27432" anchor="ctr">
            <a:noAutofit/>
          </a:bodyPr>
          <a:lstStyle/>
          <a:p>
            <a:pPr algn="l">
              <a:lnSpc>
                <a:spcPct val="100000"/>
              </a:lnSpc>
            </a:pPr>
            <a:r>
              <a:rPr sz="1500" b="1" i="0">
                <a:solidFill>
                  <a:srgbClr val="090E10"/>
                </a:solidFill>
                <a:latin typeface="Palatino Linotype"/>
              </a:rPr>
              <a:t>1   </a:t>
            </a:r>
            <a:r>
              <a:rPr sz="1500" b="0" i="0">
                <a:solidFill>
                  <a:srgbClr val="090E10"/>
                </a:solidFill>
                <a:latin typeface="Segoe UI Semibold"/>
              </a:rPr>
              <a:t>build.py</a:t>
            </a:r>
          </a:p>
        </p:txBody>
      </p:sp>
      <p:sp>
        <p:nvSpPr>
          <p:cNvPr id="30" name="Rounded Rectangle 29"/>
          <p:cNvSpPr/>
          <p:nvPr/>
        </p:nvSpPr>
        <p:spPr>
          <a:xfrm>
            <a:off x="6144768" y="2712719"/>
            <a:ext cx="5479999" cy="518160"/>
          </a:xfrm>
          <a:prstGeom prst="roundRect">
            <a:avLst>
              <a:gd name="adj" fmla="val 35294"/>
            </a:avLst>
          </a:prstGeom>
          <a:solidFill>
            <a:srgbClr val="151F23"/>
          </a:solidFill>
          <a:ln w="9525">
            <a:solidFill>
              <a:srgbClr val="3BBE9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TextBox 30"/>
          <p:cNvSpPr txBox="1"/>
          <p:nvPr/>
        </p:nvSpPr>
        <p:spPr>
          <a:xfrm>
            <a:off x="6327648" y="2731007"/>
            <a:ext cx="5114239" cy="481583"/>
          </a:xfrm>
          <a:prstGeom prst="rect">
            <a:avLst/>
          </a:prstGeom>
          <a:noFill/>
        </p:spPr>
        <p:txBody>
          <a:bodyPr wrap="square" lIns="45720" rIns="45720" tIns="27432" bIns="27432" anchor="ctr">
            <a:noAutofit/>
          </a:bodyPr>
          <a:lstStyle/>
          <a:p>
            <a:pPr algn="l">
              <a:lnSpc>
                <a:spcPct val="100000"/>
              </a:lnSpc>
            </a:pPr>
            <a:r>
              <a:rPr sz="1500" b="1" i="0">
                <a:solidFill>
                  <a:srgbClr val="C98457"/>
                </a:solidFill>
                <a:latin typeface="Palatino Linotype"/>
              </a:rPr>
              <a:t>2   </a:t>
            </a:r>
            <a:r>
              <a:rPr sz="1500" b="0" i="0">
                <a:solidFill>
                  <a:srgbClr val="F7F2E8"/>
                </a:solidFill>
                <a:latin typeface="Segoe UI Semibold"/>
              </a:rPr>
              <a:t>Revisiones del congelado</a:t>
            </a:r>
          </a:p>
        </p:txBody>
      </p:sp>
      <p:sp>
        <p:nvSpPr>
          <p:cNvPr id="32" name="Rounded Rectangle 31"/>
          <p:cNvSpPr/>
          <p:nvPr/>
        </p:nvSpPr>
        <p:spPr>
          <a:xfrm>
            <a:off x="6144768" y="3340608"/>
            <a:ext cx="5479999" cy="518160"/>
          </a:xfrm>
          <a:prstGeom prst="roundRect">
            <a:avLst>
              <a:gd name="adj" fmla="val 35294"/>
            </a:avLst>
          </a:prstGeom>
          <a:solidFill>
            <a:srgbClr val="151F23"/>
          </a:solidFill>
          <a:ln w="9525">
            <a:solidFill>
              <a:srgbClr val="3BBE9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TextBox 32"/>
          <p:cNvSpPr txBox="1"/>
          <p:nvPr/>
        </p:nvSpPr>
        <p:spPr>
          <a:xfrm>
            <a:off x="6327648" y="3358896"/>
            <a:ext cx="5114239" cy="481583"/>
          </a:xfrm>
          <a:prstGeom prst="rect">
            <a:avLst/>
          </a:prstGeom>
          <a:noFill/>
        </p:spPr>
        <p:txBody>
          <a:bodyPr wrap="square" lIns="45720" rIns="45720" tIns="27432" bIns="27432" anchor="ctr">
            <a:noAutofit/>
          </a:bodyPr>
          <a:lstStyle/>
          <a:p>
            <a:pPr algn="l">
              <a:lnSpc>
                <a:spcPct val="100000"/>
              </a:lnSpc>
            </a:pPr>
            <a:r>
              <a:rPr sz="1500" b="1" i="0">
                <a:solidFill>
                  <a:srgbClr val="C98457"/>
                </a:solidFill>
                <a:latin typeface="Palatino Linotype"/>
              </a:rPr>
              <a:t>3   </a:t>
            </a:r>
            <a:r>
              <a:rPr sz="1500" b="0" i="0">
                <a:solidFill>
                  <a:srgbClr val="F7F2E8"/>
                </a:solidFill>
                <a:latin typeface="Segoe UI Semibold"/>
              </a:rPr>
              <a:t>Desinstalador</a:t>
            </a:r>
          </a:p>
        </p:txBody>
      </p:sp>
      <p:sp>
        <p:nvSpPr>
          <p:cNvPr id="34" name="Rounded Rectangle 33"/>
          <p:cNvSpPr/>
          <p:nvPr/>
        </p:nvSpPr>
        <p:spPr>
          <a:xfrm>
            <a:off x="6144768" y="3968496"/>
            <a:ext cx="5479999" cy="518160"/>
          </a:xfrm>
          <a:prstGeom prst="roundRect">
            <a:avLst>
              <a:gd name="adj" fmla="val 35294"/>
            </a:avLst>
          </a:prstGeom>
          <a:solidFill>
            <a:srgbClr val="151F23"/>
          </a:solidFill>
          <a:ln w="9525">
            <a:solidFill>
              <a:srgbClr val="3BBE9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TextBox 34"/>
          <p:cNvSpPr txBox="1"/>
          <p:nvPr/>
        </p:nvSpPr>
        <p:spPr>
          <a:xfrm>
            <a:off x="6327648" y="3986783"/>
            <a:ext cx="5114239" cy="481583"/>
          </a:xfrm>
          <a:prstGeom prst="rect">
            <a:avLst/>
          </a:prstGeom>
          <a:noFill/>
        </p:spPr>
        <p:txBody>
          <a:bodyPr wrap="square" lIns="45720" rIns="45720" tIns="27432" bIns="27432" anchor="ctr">
            <a:noAutofit/>
          </a:bodyPr>
          <a:lstStyle/>
          <a:p>
            <a:pPr algn="l">
              <a:lnSpc>
                <a:spcPct val="100000"/>
              </a:lnSpc>
            </a:pPr>
            <a:r>
              <a:rPr sz="1500" b="1" i="0">
                <a:solidFill>
                  <a:srgbClr val="C98457"/>
                </a:solidFill>
                <a:latin typeface="Palatino Linotype"/>
              </a:rPr>
              <a:t>4   </a:t>
            </a:r>
            <a:r>
              <a:rPr sz="1500" b="0" i="0">
                <a:solidFill>
                  <a:srgbClr val="F7F2E8"/>
                </a:solidFill>
                <a:latin typeface="Segoe UI Semibold"/>
              </a:rPr>
              <a:t>Instalador</a:t>
            </a:r>
          </a:p>
        </p:txBody>
      </p:sp>
      <p:sp>
        <p:nvSpPr>
          <p:cNvPr id="36" name="Rounded Rectangle 35"/>
          <p:cNvSpPr/>
          <p:nvPr/>
        </p:nvSpPr>
        <p:spPr>
          <a:xfrm>
            <a:off x="6144768" y="4596384"/>
            <a:ext cx="5479999" cy="518160"/>
          </a:xfrm>
          <a:prstGeom prst="roundRect">
            <a:avLst>
              <a:gd name="adj" fmla="val 35294"/>
            </a:avLst>
          </a:prstGeom>
          <a:solidFill>
            <a:srgbClr val="151F23"/>
          </a:solidFill>
          <a:ln w="9525">
            <a:solidFill>
              <a:srgbClr val="3BBE9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TextBox 36"/>
          <p:cNvSpPr txBox="1"/>
          <p:nvPr/>
        </p:nvSpPr>
        <p:spPr>
          <a:xfrm>
            <a:off x="6327648" y="4614671"/>
            <a:ext cx="5114239" cy="481583"/>
          </a:xfrm>
          <a:prstGeom prst="rect">
            <a:avLst/>
          </a:prstGeom>
          <a:noFill/>
        </p:spPr>
        <p:txBody>
          <a:bodyPr wrap="square" lIns="45720" rIns="45720" tIns="27432" bIns="27432" anchor="ctr">
            <a:noAutofit/>
          </a:bodyPr>
          <a:lstStyle/>
          <a:p>
            <a:pPr algn="l">
              <a:lnSpc>
                <a:spcPct val="100000"/>
              </a:lnSpc>
            </a:pPr>
            <a:r>
              <a:rPr sz="1500" b="1" i="0">
                <a:solidFill>
                  <a:srgbClr val="C98457"/>
                </a:solidFill>
                <a:latin typeface="Palatino Linotype"/>
              </a:rPr>
              <a:t>5   </a:t>
            </a:r>
            <a:r>
              <a:rPr sz="1500" b="0" i="0">
                <a:solidFill>
                  <a:srgbClr val="F7F2E8"/>
                </a:solidFill>
                <a:latin typeface="Segoe UI Semibold"/>
              </a:rPr>
              <a:t>pkg.zip</a:t>
            </a:r>
          </a:p>
        </p:txBody>
      </p:sp>
      <p:sp>
        <p:nvSpPr>
          <p:cNvPr id="38" name="Rounded Rectangle 37"/>
          <p:cNvSpPr/>
          <p:nvPr/>
        </p:nvSpPr>
        <p:spPr>
          <a:xfrm>
            <a:off x="6144768" y="5224272"/>
            <a:ext cx="5479999" cy="518160"/>
          </a:xfrm>
          <a:prstGeom prst="roundRect">
            <a:avLst>
              <a:gd name="adj" fmla="val 35294"/>
            </a:avLst>
          </a:prstGeom>
          <a:solidFill>
            <a:srgbClr val="3BBE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9" name="TextBox 38"/>
          <p:cNvSpPr txBox="1"/>
          <p:nvPr/>
        </p:nvSpPr>
        <p:spPr>
          <a:xfrm>
            <a:off x="6327648" y="5242559"/>
            <a:ext cx="5114239" cy="481583"/>
          </a:xfrm>
          <a:prstGeom prst="rect">
            <a:avLst/>
          </a:prstGeom>
          <a:noFill/>
        </p:spPr>
        <p:txBody>
          <a:bodyPr wrap="square" lIns="45720" rIns="45720" tIns="27432" bIns="27432" anchor="ctr">
            <a:noAutofit/>
          </a:bodyPr>
          <a:lstStyle/>
          <a:p>
            <a:pPr algn="l">
              <a:lnSpc>
                <a:spcPct val="100000"/>
              </a:lnSpc>
            </a:pPr>
            <a:r>
              <a:rPr sz="1500" b="1" i="0">
                <a:solidFill>
                  <a:srgbClr val="090E10"/>
                </a:solidFill>
                <a:latin typeface="Palatino Linotype"/>
              </a:rPr>
              <a:t>6   </a:t>
            </a:r>
            <a:r>
              <a:rPr sz="1500" b="0" i="0">
                <a:solidFill>
                  <a:srgbClr val="090E10"/>
                </a:solidFill>
                <a:latin typeface="Segoe UI Semibold"/>
              </a:rPr>
              <a:t>Release</a:t>
            </a:r>
          </a:p>
        </p:txBody>
      </p:sp>
      <p:sp>
        <p:nvSpPr>
          <p:cNvPr id="40" name="TextBox 39"/>
          <p:cNvSpPr txBox="1"/>
          <p:nvPr/>
        </p:nvSpPr>
        <p:spPr>
          <a:xfrm>
            <a:off x="6144768" y="5815583"/>
            <a:ext cx="5479999" cy="384048"/>
          </a:xfrm>
          <a:prstGeom prst="rect">
            <a:avLst/>
          </a:prstGeom>
          <a:noFill/>
        </p:spPr>
        <p:txBody>
          <a:bodyPr wrap="square" lIns="45720" rIns="45720" tIns="27432" bIns="27432" anchor="t">
            <a:noAutofit/>
          </a:bodyPr>
          <a:lstStyle/>
          <a:p>
            <a:pPr algn="l">
              <a:lnSpc>
                <a:spcPct val="100000"/>
              </a:lnSpc>
            </a:pPr>
            <a:r>
              <a:rPr sz="1200" b="0" i="1">
                <a:solidFill>
                  <a:srgbClr val="A7B2B0"/>
                </a:solidFill>
                <a:latin typeface="Segoe UI"/>
              </a:rPr>
              <a:t>Cada etapa verifica la anterior.</a:t>
            </a:r>
          </a:p>
        </p:txBody>
      </p:sp>
      <p:cxnSp>
        <p:nvCxnSpPr>
          <p:cNvPr id="41" name="Connector 40"/>
          <p:cNvCxnSpPr/>
          <p:nvPr/>
        </p:nvCxnSpPr>
        <p:spPr>
          <a:xfrm>
            <a:off x="566928" y="6373368"/>
            <a:ext cx="11057839" cy="0"/>
          </a:xfrm>
          <a:prstGeom prst="line">
            <a:avLst/>
          </a:prstGeom>
          <a:ln w="7620">
            <a:solidFill>
              <a:srgbClr val="2A3A40"/>
            </a:solidFill>
          </a:ln>
        </p:spPr>
        <p:style>
          <a:lnRef idx="2">
            <a:schemeClr val="accent1"/>
          </a:lnRef>
          <a:fillRef idx="0">
            <a:schemeClr val="accent1"/>
          </a:fillRef>
          <a:effectRef idx="1">
            <a:schemeClr val="accent1"/>
          </a:effectRef>
          <a:fontRef idx="minor">
            <a:schemeClr val="tx1"/>
          </a:fontRef>
        </p:style>
      </p:cxnSp>
      <p:sp>
        <p:nvSpPr>
          <p:cNvPr id="42" name="TextBox 41"/>
          <p:cNvSpPr txBox="1"/>
          <p:nvPr/>
        </p:nvSpPr>
        <p:spPr>
          <a:xfrm>
            <a:off x="566928" y="6419088"/>
            <a:ext cx="6858000" cy="274320"/>
          </a:xfrm>
          <a:prstGeom prst="rect">
            <a:avLst/>
          </a:prstGeom>
          <a:noFill/>
        </p:spPr>
        <p:txBody>
          <a:bodyPr wrap="square" lIns="45720" rIns="45720" tIns="27432" bIns="27432" anchor="t">
            <a:noAutofit/>
          </a:bodyPr>
          <a:lstStyle/>
          <a:p>
            <a:pPr algn="l">
              <a:lnSpc>
                <a:spcPct val="100000"/>
              </a:lnSpc>
            </a:pPr>
            <a:r>
              <a:rPr sz="850" b="0" i="0" spc="120">
                <a:solidFill>
                  <a:srgbClr val="A7B2B0"/>
                </a:solidFill>
                <a:latin typeface="Segoe UI Semibold"/>
              </a:rPr>
              <a:t>TLAMATINI  ·  VII · INSTALAR, CONFIGURAR, EJECUTAR</a:t>
            </a:r>
          </a:p>
        </p:txBody>
      </p:sp>
      <p:sp>
        <p:nvSpPr>
          <p:cNvPr id="43" name="TextBox 42"/>
          <p:cNvSpPr txBox="1"/>
          <p:nvPr/>
        </p:nvSpPr>
        <p:spPr>
          <a:xfrm>
            <a:off x="8698687" y="6419088"/>
            <a:ext cx="2926080" cy="274320"/>
          </a:xfrm>
          <a:prstGeom prst="rect">
            <a:avLst/>
          </a:prstGeom>
          <a:noFill/>
        </p:spPr>
        <p:txBody>
          <a:bodyPr wrap="square" lIns="45720" rIns="45720" tIns="27432" bIns="27432" anchor="t">
            <a:noAutofit/>
          </a:bodyPr>
          <a:lstStyle/>
          <a:p>
            <a:pPr algn="r">
              <a:lnSpc>
                <a:spcPct val="100000"/>
              </a:lnSpc>
            </a:pPr>
            <a:r>
              <a:rPr sz="850" b="0" i="0" spc="100">
                <a:solidFill>
                  <a:srgbClr val="A7B2B0"/>
                </a:solidFill>
                <a:latin typeface="Segoe UI Semibold"/>
              </a:rPr>
              <a:t>v1.91.1   ·   114</a:t>
            </a:r>
          </a:p>
        </p:txBody>
      </p:sp>
    </p:spTree>
  </p:cSld>
  <p:clrMapOvr>
    <a:masterClrMapping/>
  </p:clrMapOvr>
</p:sld>
</file>

<file path=ppt/slides/slide1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content.png"/>
          <p:cNvPicPr>
            <a:picLocks noChangeAspect="1"/>
          </p:cNvPicPr>
          <p:nvPr/>
        </p:nvPicPr>
        <p:blipFill>
          <a:blip r:embed="rId2"/>
          <a:stretch>
            <a:fillRect/>
          </a:stretch>
        </p:blipFill>
        <p:spPr>
          <a:xfrm>
            <a:off x="0" y="0"/>
            <a:ext cx="12191695" cy="6858000"/>
          </a:xfrm>
          <a:prstGeom prst="rect">
            <a:avLst/>
          </a:prstGeom>
        </p:spPr>
      </p:pic>
      <p:sp>
        <p:nvSpPr>
          <p:cNvPr id="3" name="Diamond 2"/>
          <p:cNvSpPr/>
          <p:nvPr/>
        </p:nvSpPr>
        <p:spPr>
          <a:xfrm>
            <a:off x="566928" y="457200"/>
            <a:ext cx="100584" cy="100584"/>
          </a:xfrm>
          <a:prstGeom prst="diamond">
            <a:avLst/>
          </a:prstGeom>
          <a:solidFill>
            <a:srgbClr val="3BBE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49808" y="365760"/>
            <a:ext cx="8229600" cy="292608"/>
          </a:xfrm>
          <a:prstGeom prst="rect">
            <a:avLst/>
          </a:prstGeom>
          <a:noFill/>
        </p:spPr>
        <p:txBody>
          <a:bodyPr wrap="square" lIns="45720" rIns="45720" tIns="27432" bIns="27432" anchor="t">
            <a:noAutofit/>
          </a:bodyPr>
          <a:lstStyle/>
          <a:p>
            <a:pPr algn="l">
              <a:lnSpc>
                <a:spcPct val="100000"/>
              </a:lnSpc>
            </a:pPr>
            <a:r>
              <a:rPr sz="1100" b="0" i="0" spc="240">
                <a:solidFill>
                  <a:srgbClr val="C98457"/>
                </a:solidFill>
                <a:latin typeface="Segoe UI Semibold"/>
              </a:rPr>
              <a:t>REPARACIÓN DEL BUILD · 27 DE SEPTIEMBRE</a:t>
            </a:r>
          </a:p>
        </p:txBody>
      </p:sp>
      <p:sp>
        <p:nvSpPr>
          <p:cNvPr id="5" name="TextBox 4"/>
          <p:cNvSpPr txBox="1"/>
          <p:nvPr/>
        </p:nvSpPr>
        <p:spPr>
          <a:xfrm>
            <a:off x="539496" y="676656"/>
            <a:ext cx="11057839" cy="658368"/>
          </a:xfrm>
          <a:prstGeom prst="rect">
            <a:avLst/>
          </a:prstGeom>
          <a:noFill/>
        </p:spPr>
        <p:txBody>
          <a:bodyPr wrap="square" lIns="45720" rIns="45720" tIns="27432" bIns="27432" anchor="t">
            <a:noAutofit/>
          </a:bodyPr>
          <a:lstStyle/>
          <a:p>
            <a:pPr algn="l">
              <a:lnSpc>
                <a:spcPct val="100000"/>
              </a:lnSpc>
            </a:pPr>
            <a:r>
              <a:rPr sz="3100" b="0" i="0">
                <a:solidFill>
                  <a:srgbClr val="F7F2E8"/>
                </a:solidFill>
                <a:latin typeface="Palatino Linotype"/>
              </a:rPr>
              <a:t>Un solo inventario incluye cada helper requerido</a:t>
            </a:r>
          </a:p>
        </p:txBody>
      </p:sp>
      <p:sp>
        <p:nvSpPr>
          <p:cNvPr id="6" name="Rectangle 5"/>
          <p:cNvSpPr/>
          <p:nvPr/>
        </p:nvSpPr>
        <p:spPr>
          <a:xfrm>
            <a:off x="566928" y="1344168"/>
            <a:ext cx="822960" cy="36576"/>
          </a:xfrm>
          <a:prstGeom prst="rect">
            <a:avLst/>
          </a:prstGeom>
          <a:solidFill>
            <a:srgbClr val="3BBE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566928" y="1444752"/>
            <a:ext cx="10692079" cy="585216"/>
          </a:xfrm>
          <a:prstGeom prst="rect">
            <a:avLst/>
          </a:prstGeom>
          <a:noFill/>
        </p:spPr>
        <p:txBody>
          <a:bodyPr wrap="square" lIns="45720" rIns="45720" tIns="27432" bIns="27432" anchor="t">
            <a:noAutofit/>
          </a:bodyPr>
          <a:lstStyle/>
          <a:p>
            <a:pPr algn="l">
              <a:lnSpc>
                <a:spcPct val="100000"/>
              </a:lnSpc>
            </a:pPr>
            <a:r>
              <a:rPr sz="1450" b="0" i="0">
                <a:solidFill>
                  <a:srgbClr val="A7B2B0"/>
                </a:solidFill>
                <a:latin typeface="Segoe UI Semilight"/>
              </a:rPr>
              <a:t>Una reparación del 27 de septiembre, incluida desde v1.72.1, lleva el helper de configuración de Whisperer sin debilitar la verificación del paquete.</a:t>
            </a:r>
          </a:p>
        </p:txBody>
      </p:sp>
      <p:sp>
        <p:nvSpPr>
          <p:cNvPr id="8" name="Rounded Rectangle 7"/>
          <p:cNvSpPr/>
          <p:nvPr/>
        </p:nvSpPr>
        <p:spPr>
          <a:xfrm>
            <a:off x="566928" y="2084831"/>
            <a:ext cx="5428335" cy="1956816"/>
          </a:xfrm>
          <a:prstGeom prst="roundRect">
            <a:avLst>
              <a:gd name="adj" fmla="val 5607"/>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ectangle 8"/>
          <p:cNvSpPr/>
          <p:nvPr/>
        </p:nvSpPr>
        <p:spPr>
          <a:xfrm>
            <a:off x="731520" y="2212848"/>
            <a:ext cx="502920" cy="45720"/>
          </a:xfrm>
          <a:prstGeom prst="rect">
            <a:avLst/>
          </a:prstGeom>
          <a:solidFill>
            <a:srgbClr val="3BBE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694944" y="2304287"/>
            <a:ext cx="5172303" cy="353568"/>
          </a:xfrm>
          <a:prstGeom prst="rect">
            <a:avLst/>
          </a:prstGeom>
          <a:noFill/>
        </p:spPr>
        <p:txBody>
          <a:bodyPr wrap="square" lIns="45720" rIns="45720" tIns="27432" bIns="27432" anchor="t">
            <a:noAutofit/>
          </a:bodyPr>
          <a:lstStyle/>
          <a:p>
            <a:pPr algn="l">
              <a:lnSpc>
                <a:spcPct val="100000"/>
              </a:lnSpc>
            </a:pPr>
            <a:r>
              <a:rPr sz="1600" b="0" i="0">
                <a:solidFill>
                  <a:srgbClr val="F7F2E8"/>
                </a:solidFill>
                <a:latin typeface="Segoe UI Semibold"/>
              </a:rPr>
              <a:t>Un solo transportador</a:t>
            </a:r>
          </a:p>
        </p:txBody>
      </p:sp>
      <p:sp>
        <p:nvSpPr>
          <p:cNvPr id="11" name="TextBox 10"/>
          <p:cNvSpPr txBox="1"/>
          <p:nvPr/>
        </p:nvSpPr>
        <p:spPr>
          <a:xfrm>
            <a:off x="694944" y="2657855"/>
            <a:ext cx="5172303" cy="1292352"/>
          </a:xfrm>
          <a:prstGeom prst="rect">
            <a:avLst/>
          </a:prstGeom>
          <a:noFill/>
        </p:spPr>
        <p:txBody>
          <a:bodyPr wrap="square" lIns="45720" rIns="45720" tIns="27432" bIns="27432" anchor="t">
            <a:noAutofit/>
          </a:bodyPr>
          <a:lstStyle/>
          <a:p>
            <a:pPr algn="l">
              <a:lnSpc>
                <a:spcPct val="100000"/>
              </a:lnSpc>
            </a:pPr>
            <a:r>
              <a:rPr sz="1300" b="0" i="0">
                <a:solidFill>
                  <a:srgbClr val="A7B2B0"/>
                </a:solidFill>
                <a:latin typeface="Segoe UI"/>
              </a:rPr>
              <a:t>La copia y la verificación comparten ROOT_SOURCES; un nuevo helper requerido no necesita una segunda lista.</a:t>
            </a:r>
          </a:p>
        </p:txBody>
      </p:sp>
      <p:sp>
        <p:nvSpPr>
          <p:cNvPr id="12" name="Rounded Rectangle 11"/>
          <p:cNvSpPr/>
          <p:nvPr/>
        </p:nvSpPr>
        <p:spPr>
          <a:xfrm>
            <a:off x="6196431" y="2084831"/>
            <a:ext cx="5428335" cy="1956816"/>
          </a:xfrm>
          <a:prstGeom prst="roundRect">
            <a:avLst>
              <a:gd name="adj" fmla="val 5607"/>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6361023" y="2212848"/>
            <a:ext cx="502920" cy="45720"/>
          </a:xfrm>
          <a:prstGeom prst="rect">
            <a:avLst/>
          </a:prstGeom>
          <a:solidFill>
            <a:srgbClr val="C984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324447" y="2304287"/>
            <a:ext cx="5172303" cy="353568"/>
          </a:xfrm>
          <a:prstGeom prst="rect">
            <a:avLst/>
          </a:prstGeom>
          <a:noFill/>
        </p:spPr>
        <p:txBody>
          <a:bodyPr wrap="square" lIns="45720" rIns="45720" tIns="27432" bIns="27432" anchor="t">
            <a:noAutofit/>
          </a:bodyPr>
          <a:lstStyle/>
          <a:p>
            <a:pPr algn="l">
              <a:lnSpc>
                <a:spcPct val="100000"/>
              </a:lnSpc>
            </a:pPr>
            <a:r>
              <a:rPr sz="1600" b="0" i="0">
                <a:solidFill>
                  <a:srgbClr val="F7F2E8"/>
                </a:solidFill>
                <a:latin typeface="Segoe UI Semibold"/>
              </a:rPr>
              <a:t>Import del worker</a:t>
            </a:r>
          </a:p>
        </p:txBody>
      </p:sp>
      <p:sp>
        <p:nvSpPr>
          <p:cNvPr id="15" name="TextBox 14"/>
          <p:cNvSpPr txBox="1"/>
          <p:nvPr/>
        </p:nvSpPr>
        <p:spPr>
          <a:xfrm>
            <a:off x="6324447" y="2657855"/>
            <a:ext cx="5172303" cy="1292352"/>
          </a:xfrm>
          <a:prstGeom prst="rect">
            <a:avLst/>
          </a:prstGeom>
          <a:noFill/>
        </p:spPr>
        <p:txBody>
          <a:bodyPr wrap="square" lIns="45720" rIns="45720" tIns="27432" bIns="27432" anchor="t">
            <a:noAutofit/>
          </a:bodyPr>
          <a:lstStyle/>
          <a:p>
            <a:pPr algn="l">
              <a:lnSpc>
                <a:spcPct val="100000"/>
              </a:lnSpc>
            </a:pPr>
            <a:r>
              <a:rPr sz="1300" b="0" i="0">
                <a:solidFill>
                  <a:srgbClr val="A7B2B0"/>
                </a:solidFill>
                <a:latin typeface="Segoe UI"/>
              </a:rPr>
              <a:t>Lleva chat_voice_settings.py en la raíz de la instalación además de compilar el módulo de Django.</a:t>
            </a:r>
          </a:p>
        </p:txBody>
      </p:sp>
      <p:sp>
        <p:nvSpPr>
          <p:cNvPr id="16" name="Rounded Rectangle 15"/>
          <p:cNvSpPr/>
          <p:nvPr/>
        </p:nvSpPr>
        <p:spPr>
          <a:xfrm>
            <a:off x="566928" y="4242816"/>
            <a:ext cx="5428335" cy="1956816"/>
          </a:xfrm>
          <a:prstGeom prst="roundRect">
            <a:avLst>
              <a:gd name="adj" fmla="val 5607"/>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31520" y="4370832"/>
            <a:ext cx="502920" cy="45720"/>
          </a:xfrm>
          <a:prstGeom prst="rect">
            <a:avLst/>
          </a:prstGeom>
          <a:solidFill>
            <a:srgbClr val="E2B4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694944" y="4462272"/>
            <a:ext cx="5172303" cy="353568"/>
          </a:xfrm>
          <a:prstGeom prst="rect">
            <a:avLst/>
          </a:prstGeom>
          <a:noFill/>
        </p:spPr>
        <p:txBody>
          <a:bodyPr wrap="square" lIns="45720" rIns="45720" tIns="27432" bIns="27432" anchor="t">
            <a:noAutofit/>
          </a:bodyPr>
          <a:lstStyle/>
          <a:p>
            <a:pPr algn="l">
              <a:lnSpc>
                <a:spcPct val="100000"/>
              </a:lnSpc>
            </a:pPr>
            <a:r>
              <a:rPr sz="1600" b="0" i="0">
                <a:solidFill>
                  <a:srgbClr val="F7F2E8"/>
                </a:solidFill>
                <a:latin typeface="Segoe UI Semibold"/>
              </a:rPr>
              <a:t>Integridad</a:t>
            </a:r>
          </a:p>
        </p:txBody>
      </p:sp>
      <p:sp>
        <p:nvSpPr>
          <p:cNvPr id="19" name="TextBox 18"/>
          <p:cNvSpPr txBox="1"/>
          <p:nvPr/>
        </p:nvSpPr>
        <p:spPr>
          <a:xfrm>
            <a:off x="694944" y="4815840"/>
            <a:ext cx="5172303" cy="1292352"/>
          </a:xfrm>
          <a:prstGeom prst="rect">
            <a:avLst/>
          </a:prstGeom>
          <a:noFill/>
        </p:spPr>
        <p:txBody>
          <a:bodyPr wrap="square" lIns="45720" rIns="45720" tIns="27432" bIns="27432" anchor="t">
            <a:noAutofit/>
          </a:bodyPr>
          <a:lstStyle/>
          <a:p>
            <a:pPr algn="l">
              <a:lnSpc>
                <a:spcPct val="100000"/>
              </a:lnSpc>
            </a:pPr>
            <a:r>
              <a:rPr sz="1300" b="0" i="0">
                <a:solidFill>
                  <a:srgbClr val="A7B2B0"/>
                </a:solidFill>
                <a:latin typeface="Segoe UI"/>
              </a:rPr>
              <a:t>Rechaza archivos faltantes, editados o fuera del manifiesto, incluidos los recibos incompletos que por lo demás son consistentes.</a:t>
            </a:r>
          </a:p>
        </p:txBody>
      </p:sp>
      <p:sp>
        <p:nvSpPr>
          <p:cNvPr id="20" name="Rounded Rectangle 19"/>
          <p:cNvSpPr/>
          <p:nvPr/>
        </p:nvSpPr>
        <p:spPr>
          <a:xfrm>
            <a:off x="6196431" y="4242816"/>
            <a:ext cx="5428335" cy="1956816"/>
          </a:xfrm>
          <a:prstGeom prst="roundRect">
            <a:avLst>
              <a:gd name="adj" fmla="val 5607"/>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ectangle 20"/>
          <p:cNvSpPr/>
          <p:nvPr/>
        </p:nvSpPr>
        <p:spPr>
          <a:xfrm>
            <a:off x="6361023" y="4370832"/>
            <a:ext cx="502920" cy="45720"/>
          </a:xfrm>
          <a:prstGeom prst="rect">
            <a:avLst/>
          </a:prstGeom>
          <a:solidFill>
            <a:srgbClr val="46D2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6324447" y="4462272"/>
            <a:ext cx="5172303" cy="353568"/>
          </a:xfrm>
          <a:prstGeom prst="rect">
            <a:avLst/>
          </a:prstGeom>
          <a:noFill/>
        </p:spPr>
        <p:txBody>
          <a:bodyPr wrap="square" lIns="45720" rIns="45720" tIns="27432" bIns="27432" anchor="t">
            <a:noAutofit/>
          </a:bodyPr>
          <a:lstStyle/>
          <a:p>
            <a:pPr algn="l">
              <a:lnSpc>
                <a:spcPct val="100000"/>
              </a:lnSpc>
            </a:pPr>
            <a:r>
              <a:rPr sz="1600" b="0" i="0">
                <a:solidFill>
                  <a:srgbClr val="F7F2E8"/>
                </a:solidFill>
                <a:latin typeface="Segoe UI Semibold"/>
              </a:rPr>
              <a:t>Inputs de recompilación</a:t>
            </a:r>
          </a:p>
        </p:txBody>
      </p:sp>
      <p:sp>
        <p:nvSpPr>
          <p:cNvPr id="23" name="TextBox 22"/>
          <p:cNvSpPr txBox="1"/>
          <p:nvPr/>
        </p:nvSpPr>
        <p:spPr>
          <a:xfrm>
            <a:off x="6324447" y="4815840"/>
            <a:ext cx="5172303" cy="1292352"/>
          </a:xfrm>
          <a:prstGeom prst="rect">
            <a:avLst/>
          </a:prstGeom>
          <a:noFill/>
        </p:spPr>
        <p:txBody>
          <a:bodyPr wrap="square" lIns="45720" rIns="45720" tIns="27432" bIns="27432" anchor="t">
            <a:noAutofit/>
          </a:bodyPr>
          <a:lstStyle/>
          <a:p>
            <a:pPr algn="l">
              <a:lnSpc>
                <a:spcPct val="100000"/>
              </a:lnSpc>
            </a:pPr>
            <a:r>
              <a:rPr sz="1300" b="0" i="0">
                <a:solidFill>
                  <a:srgbClr val="A7B2B0"/>
                </a:solidFill>
                <a:latin typeface="Segoe UI"/>
              </a:rPr>
              <a:t>Los barridos espejo de self-update/self-modify incluyen el inventario compartido y reportan las revisiones de Git omitidas.</a:t>
            </a:r>
          </a:p>
        </p:txBody>
      </p:sp>
      <p:cxnSp>
        <p:nvCxnSpPr>
          <p:cNvPr id="24" name="Connector 23"/>
          <p:cNvCxnSpPr/>
          <p:nvPr/>
        </p:nvCxnSpPr>
        <p:spPr>
          <a:xfrm>
            <a:off x="566928" y="6373368"/>
            <a:ext cx="11057839" cy="0"/>
          </a:xfrm>
          <a:prstGeom prst="line">
            <a:avLst/>
          </a:prstGeom>
          <a:ln w="7620">
            <a:solidFill>
              <a:srgbClr val="2A3A40"/>
            </a:solidFill>
          </a:ln>
        </p:spPr>
        <p:style>
          <a:lnRef idx="2">
            <a:schemeClr val="accent1"/>
          </a:lnRef>
          <a:fillRef idx="0">
            <a:schemeClr val="accent1"/>
          </a:fillRef>
          <a:effectRef idx="1">
            <a:schemeClr val="accent1"/>
          </a:effectRef>
          <a:fontRef idx="minor">
            <a:schemeClr val="tx1"/>
          </a:fontRef>
        </p:style>
      </p:cxnSp>
      <p:sp>
        <p:nvSpPr>
          <p:cNvPr id="25" name="TextBox 24"/>
          <p:cNvSpPr txBox="1"/>
          <p:nvPr/>
        </p:nvSpPr>
        <p:spPr>
          <a:xfrm>
            <a:off x="566928" y="6419088"/>
            <a:ext cx="6858000" cy="274320"/>
          </a:xfrm>
          <a:prstGeom prst="rect">
            <a:avLst/>
          </a:prstGeom>
          <a:noFill/>
        </p:spPr>
        <p:txBody>
          <a:bodyPr wrap="square" lIns="45720" rIns="45720" tIns="27432" bIns="27432" anchor="t">
            <a:noAutofit/>
          </a:bodyPr>
          <a:lstStyle/>
          <a:p>
            <a:pPr algn="l">
              <a:lnSpc>
                <a:spcPct val="100000"/>
              </a:lnSpc>
            </a:pPr>
            <a:r>
              <a:rPr sz="850" b="0" i="0" spc="120">
                <a:solidFill>
                  <a:srgbClr val="A7B2B0"/>
                </a:solidFill>
                <a:latin typeface="Segoe UI Semibold"/>
              </a:rPr>
              <a:t>TLAMATINI  ·  VII · INSTALAR, CONFIGURAR, EJECUTAR</a:t>
            </a:r>
          </a:p>
        </p:txBody>
      </p:sp>
      <p:sp>
        <p:nvSpPr>
          <p:cNvPr id="26" name="TextBox 25"/>
          <p:cNvSpPr txBox="1"/>
          <p:nvPr/>
        </p:nvSpPr>
        <p:spPr>
          <a:xfrm>
            <a:off x="8698687" y="6419088"/>
            <a:ext cx="2926080" cy="274320"/>
          </a:xfrm>
          <a:prstGeom prst="rect">
            <a:avLst/>
          </a:prstGeom>
          <a:noFill/>
        </p:spPr>
        <p:txBody>
          <a:bodyPr wrap="square" lIns="45720" rIns="45720" tIns="27432" bIns="27432" anchor="t">
            <a:noAutofit/>
          </a:bodyPr>
          <a:lstStyle/>
          <a:p>
            <a:pPr algn="r">
              <a:lnSpc>
                <a:spcPct val="100000"/>
              </a:lnSpc>
            </a:pPr>
            <a:r>
              <a:rPr sz="850" b="0" i="0" spc="100">
                <a:solidFill>
                  <a:srgbClr val="A7B2B0"/>
                </a:solidFill>
                <a:latin typeface="Segoe UI Semibold"/>
              </a:rPr>
              <a:t>v1.91.1   ·   115</a:t>
            </a:r>
          </a:p>
        </p:txBody>
      </p:sp>
    </p:spTree>
  </p:cSld>
  <p:clrMapOvr>
    <a:masterClrMapping/>
  </p:clrMapOvr>
</p:sld>
</file>

<file path=ppt/slides/slide1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content.png"/>
          <p:cNvPicPr>
            <a:picLocks noChangeAspect="1"/>
          </p:cNvPicPr>
          <p:nvPr/>
        </p:nvPicPr>
        <p:blipFill>
          <a:blip r:embed="rId2"/>
          <a:stretch>
            <a:fillRect/>
          </a:stretch>
        </p:blipFill>
        <p:spPr>
          <a:xfrm>
            <a:off x="0" y="0"/>
            <a:ext cx="12191695" cy="6858000"/>
          </a:xfrm>
          <a:prstGeom prst="rect">
            <a:avLst/>
          </a:prstGeom>
        </p:spPr>
      </p:pic>
      <p:sp>
        <p:nvSpPr>
          <p:cNvPr id="3" name="Diamond 2"/>
          <p:cNvSpPr/>
          <p:nvPr/>
        </p:nvSpPr>
        <p:spPr>
          <a:xfrm>
            <a:off x="566928" y="457200"/>
            <a:ext cx="100584" cy="100584"/>
          </a:xfrm>
          <a:prstGeom prst="diamond">
            <a:avLst/>
          </a:prstGeom>
          <a:solidFill>
            <a:srgbClr val="3BBE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49808" y="365760"/>
            <a:ext cx="8229600" cy="292608"/>
          </a:xfrm>
          <a:prstGeom prst="rect">
            <a:avLst/>
          </a:prstGeom>
          <a:noFill/>
        </p:spPr>
        <p:txBody>
          <a:bodyPr wrap="square" lIns="45720" rIns="45720" tIns="27432" bIns="27432" anchor="t">
            <a:noAutofit/>
          </a:bodyPr>
          <a:lstStyle/>
          <a:p>
            <a:pPr algn="l">
              <a:lnSpc>
                <a:spcPct val="100000"/>
              </a:lnSpc>
            </a:pPr>
            <a:r>
              <a:rPr sz="1100" b="0" i="0" spc="240">
                <a:solidFill>
                  <a:srgbClr val="C98457"/>
                </a:solidFill>
                <a:latin typeface="Segoe UI Semibold"/>
              </a:rPr>
              <a:t>VERIFICACIÓN REGISTRADA</a:t>
            </a:r>
          </a:p>
        </p:txBody>
      </p:sp>
      <p:sp>
        <p:nvSpPr>
          <p:cNvPr id="5" name="TextBox 4"/>
          <p:cNvSpPr txBox="1"/>
          <p:nvPr/>
        </p:nvSpPr>
        <p:spPr>
          <a:xfrm>
            <a:off x="539496" y="676656"/>
            <a:ext cx="11057839" cy="658368"/>
          </a:xfrm>
          <a:prstGeom prst="rect">
            <a:avLst/>
          </a:prstGeom>
          <a:noFill/>
        </p:spPr>
        <p:txBody>
          <a:bodyPr wrap="square" lIns="45720" rIns="45720" tIns="27432" bIns="27432" anchor="t">
            <a:noAutofit/>
          </a:bodyPr>
          <a:lstStyle/>
          <a:p>
            <a:pPr algn="l">
              <a:lnSpc>
                <a:spcPct val="100000"/>
              </a:lnSpc>
            </a:pPr>
            <a:r>
              <a:rPr sz="3100" b="0" i="0">
                <a:solidFill>
                  <a:srgbClr val="F7F2E8"/>
                </a:solidFill>
                <a:latin typeface="Palatino Linotype"/>
              </a:rPr>
              <a:t>La evidencia del empaquetado y sus límites</a:t>
            </a:r>
          </a:p>
        </p:txBody>
      </p:sp>
      <p:sp>
        <p:nvSpPr>
          <p:cNvPr id="6" name="Rectangle 5"/>
          <p:cNvSpPr/>
          <p:nvPr/>
        </p:nvSpPr>
        <p:spPr>
          <a:xfrm>
            <a:off x="566928" y="1344168"/>
            <a:ext cx="822960" cy="36576"/>
          </a:xfrm>
          <a:prstGeom prst="rect">
            <a:avLst/>
          </a:prstGeom>
          <a:solidFill>
            <a:srgbClr val="3BBE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566928" y="1444752"/>
            <a:ext cx="10692079" cy="585216"/>
          </a:xfrm>
          <a:prstGeom prst="rect">
            <a:avLst/>
          </a:prstGeom>
          <a:noFill/>
        </p:spPr>
        <p:txBody>
          <a:bodyPr wrap="square" lIns="45720" rIns="45720" tIns="27432" bIns="27432" anchor="t">
            <a:noAutofit/>
          </a:bodyPr>
          <a:lstStyle/>
          <a:p>
            <a:pPr algn="l">
              <a:lnSpc>
                <a:spcPct val="100000"/>
              </a:lnSpc>
            </a:pPr>
            <a:r>
              <a:rPr sz="1450" b="0" i="0">
                <a:solidFill>
                  <a:srgbClr val="A7B2B0"/>
                </a:solidFill>
                <a:latin typeface="Segoe UI Semilight"/>
              </a:rPr>
              <a:t>Las revisiones a nivel de archivos del 27 de septiembre establecen el transporte y la integridad; un instalador completo es una verificación aparte.</a:t>
            </a:r>
          </a:p>
        </p:txBody>
      </p:sp>
      <p:sp>
        <p:nvSpPr>
          <p:cNvPr id="8" name="Rounded Rectangle 7"/>
          <p:cNvSpPr/>
          <p:nvPr/>
        </p:nvSpPr>
        <p:spPr>
          <a:xfrm>
            <a:off x="566928" y="2084831"/>
            <a:ext cx="5428335" cy="1956816"/>
          </a:xfrm>
          <a:prstGeom prst="roundRect">
            <a:avLst>
              <a:gd name="adj" fmla="val 5607"/>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ectangle 8"/>
          <p:cNvSpPr/>
          <p:nvPr/>
        </p:nvSpPr>
        <p:spPr>
          <a:xfrm>
            <a:off x="731520" y="2212848"/>
            <a:ext cx="502920" cy="45720"/>
          </a:xfrm>
          <a:prstGeom prst="rect">
            <a:avLst/>
          </a:prstGeom>
          <a:solidFill>
            <a:srgbClr val="3BBE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694944" y="2304287"/>
            <a:ext cx="5172303" cy="353568"/>
          </a:xfrm>
          <a:prstGeom prst="rect">
            <a:avLst/>
          </a:prstGeom>
          <a:noFill/>
        </p:spPr>
        <p:txBody>
          <a:bodyPr wrap="square" lIns="45720" rIns="45720" tIns="27432" bIns="27432" anchor="t">
            <a:noAutofit/>
          </a:bodyPr>
          <a:lstStyle/>
          <a:p>
            <a:pPr algn="l">
              <a:lnSpc>
                <a:spcPct val="100000"/>
              </a:lnSpc>
            </a:pPr>
            <a:r>
              <a:rPr sz="1600" b="0" i="0">
                <a:solidFill>
                  <a:srgbClr val="F7F2E8"/>
                </a:solidFill>
                <a:latin typeface="Segoe UI Semibold"/>
              </a:rPr>
              <a:t>Suite enfocada</a:t>
            </a:r>
          </a:p>
        </p:txBody>
      </p:sp>
      <p:sp>
        <p:nvSpPr>
          <p:cNvPr id="11" name="TextBox 10"/>
          <p:cNvSpPr txBox="1"/>
          <p:nvPr/>
        </p:nvSpPr>
        <p:spPr>
          <a:xfrm>
            <a:off x="694944" y="2657855"/>
            <a:ext cx="5172303" cy="1292352"/>
          </a:xfrm>
          <a:prstGeom prst="rect">
            <a:avLst/>
          </a:prstGeom>
          <a:noFill/>
        </p:spPr>
        <p:txBody>
          <a:bodyPr wrap="square" lIns="45720" rIns="45720" tIns="27432" bIns="27432" anchor="t">
            <a:noAutofit/>
          </a:bodyPr>
          <a:lstStyle/>
          <a:p>
            <a:pPr algn="l">
              <a:lnSpc>
                <a:spcPct val="100000"/>
              </a:lnSpc>
            </a:pPr>
            <a:r>
              <a:rPr sz="1300" b="0" i="0">
                <a:solidFill>
                  <a:srgbClr val="A7B2B0"/>
                </a:solidFill>
                <a:latin typeface="Segoe UI"/>
              </a:rPr>
              <a:t>146 pruebas registradas: 145 pasaron, una se saltó; el harness sólo de archivos salió con éxito.</a:t>
            </a:r>
          </a:p>
        </p:txBody>
      </p:sp>
      <p:sp>
        <p:nvSpPr>
          <p:cNvPr id="12" name="Rounded Rectangle 11"/>
          <p:cNvSpPr/>
          <p:nvPr/>
        </p:nvSpPr>
        <p:spPr>
          <a:xfrm>
            <a:off x="6196431" y="2084831"/>
            <a:ext cx="5428335" cy="1956816"/>
          </a:xfrm>
          <a:prstGeom prst="roundRect">
            <a:avLst>
              <a:gd name="adj" fmla="val 5607"/>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6361023" y="2212848"/>
            <a:ext cx="502920" cy="45720"/>
          </a:xfrm>
          <a:prstGeom prst="rect">
            <a:avLst/>
          </a:prstGeom>
          <a:solidFill>
            <a:srgbClr val="C984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324447" y="2304287"/>
            <a:ext cx="5172303" cy="353568"/>
          </a:xfrm>
          <a:prstGeom prst="rect">
            <a:avLst/>
          </a:prstGeom>
          <a:noFill/>
        </p:spPr>
        <p:txBody>
          <a:bodyPr wrap="square" lIns="45720" rIns="45720" tIns="27432" bIns="27432" anchor="t">
            <a:noAutofit/>
          </a:bodyPr>
          <a:lstStyle/>
          <a:p>
            <a:pPr algn="l">
              <a:lnSpc>
                <a:spcPct val="100000"/>
              </a:lnSpc>
            </a:pPr>
            <a:r>
              <a:rPr sz="1600" b="0" i="0">
                <a:solidFill>
                  <a:srgbClr val="F7F2E8"/>
                </a:solidFill>
                <a:latin typeface="Segoe UI Semibold"/>
              </a:rPr>
              <a:t>Archivos reales</a:t>
            </a:r>
          </a:p>
        </p:txBody>
      </p:sp>
      <p:sp>
        <p:nvSpPr>
          <p:cNvPr id="15" name="TextBox 14"/>
          <p:cNvSpPr txBox="1"/>
          <p:nvPr/>
        </p:nvSpPr>
        <p:spPr>
          <a:xfrm>
            <a:off x="6324447" y="2657855"/>
            <a:ext cx="5172303" cy="1292352"/>
          </a:xfrm>
          <a:prstGeom prst="rect">
            <a:avLst/>
          </a:prstGeom>
          <a:noFill/>
        </p:spPr>
        <p:txBody>
          <a:bodyPr wrap="square" lIns="45720" rIns="45720" tIns="27432" bIns="27432" anchor="t">
            <a:noAutofit/>
          </a:bodyPr>
          <a:lstStyle/>
          <a:p>
            <a:pPr algn="l">
              <a:lnSpc>
                <a:spcPct val="100000"/>
              </a:lnSpc>
            </a:pPr>
            <a:r>
              <a:rPr sz="1300" b="0" i="0">
                <a:solidFill>
                  <a:srgbClr val="A7B2B0"/>
                </a:solidFill>
                <a:latin typeface="Segoe UI"/>
              </a:rPr>
              <a:t>Cada destino de source mapeado coincidió; el worker preparado resolvió su helper de configuración.</a:t>
            </a:r>
          </a:p>
        </p:txBody>
      </p:sp>
      <p:sp>
        <p:nvSpPr>
          <p:cNvPr id="16" name="Rounded Rectangle 15"/>
          <p:cNvSpPr/>
          <p:nvPr/>
        </p:nvSpPr>
        <p:spPr>
          <a:xfrm>
            <a:off x="566928" y="4242816"/>
            <a:ext cx="5428335" cy="1956816"/>
          </a:xfrm>
          <a:prstGeom prst="roundRect">
            <a:avLst>
              <a:gd name="adj" fmla="val 5607"/>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31520" y="4370832"/>
            <a:ext cx="502920" cy="45720"/>
          </a:xfrm>
          <a:prstGeom prst="rect">
            <a:avLst/>
          </a:prstGeom>
          <a:solidFill>
            <a:srgbClr val="E2B4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694944" y="4462272"/>
            <a:ext cx="5172303" cy="353568"/>
          </a:xfrm>
          <a:prstGeom prst="rect">
            <a:avLst/>
          </a:prstGeom>
          <a:noFill/>
        </p:spPr>
        <p:txBody>
          <a:bodyPr wrap="square" lIns="45720" rIns="45720" tIns="27432" bIns="27432" anchor="t">
            <a:noAutofit/>
          </a:bodyPr>
          <a:lstStyle/>
          <a:p>
            <a:pPr algn="l">
              <a:lnSpc>
                <a:spcPct val="100000"/>
              </a:lnSpc>
            </a:pPr>
            <a:r>
              <a:rPr sz="1600" b="0" i="0">
                <a:solidFill>
                  <a:srgbClr val="F7F2E8"/>
                </a:solidFill>
                <a:latin typeface="Segoe UI Semibold"/>
              </a:rPr>
              <a:t>Snapshot</a:t>
            </a:r>
          </a:p>
        </p:txBody>
      </p:sp>
      <p:sp>
        <p:nvSpPr>
          <p:cNvPr id="19" name="TextBox 18"/>
          <p:cNvSpPr txBox="1"/>
          <p:nvPr/>
        </p:nvSpPr>
        <p:spPr>
          <a:xfrm>
            <a:off x="694944" y="4815840"/>
            <a:ext cx="5172303" cy="1292352"/>
          </a:xfrm>
          <a:prstGeom prst="rect">
            <a:avLst/>
          </a:prstGeom>
          <a:noFill/>
        </p:spPr>
        <p:txBody>
          <a:bodyPr wrap="square" lIns="45720" rIns="45720" tIns="27432" bIns="27432" anchor="t">
            <a:noAutofit/>
          </a:bodyPr>
          <a:lstStyle/>
          <a:p>
            <a:pPr algn="l">
              <a:lnSpc>
                <a:spcPct val="100000"/>
              </a:lnSpc>
            </a:pPr>
            <a:r>
              <a:rPr sz="1300" b="0" i="0">
                <a:solidFill>
                  <a:srgbClr val="A7B2B0"/>
                </a:solidFill>
                <a:latin typeface="Segoe UI"/>
              </a:rPr>
              <a:t>Auditoría registrada: 1,579 archivos, 11 redactados, 778 inputs de runtime cubiertos, cero errores de copia.</a:t>
            </a:r>
          </a:p>
        </p:txBody>
      </p:sp>
      <p:sp>
        <p:nvSpPr>
          <p:cNvPr id="20" name="Rounded Rectangle 19"/>
          <p:cNvSpPr/>
          <p:nvPr/>
        </p:nvSpPr>
        <p:spPr>
          <a:xfrm>
            <a:off x="6196431" y="4242816"/>
            <a:ext cx="5428335" cy="1956816"/>
          </a:xfrm>
          <a:prstGeom prst="roundRect">
            <a:avLst>
              <a:gd name="adj" fmla="val 5607"/>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ectangle 20"/>
          <p:cNvSpPr/>
          <p:nvPr/>
        </p:nvSpPr>
        <p:spPr>
          <a:xfrm>
            <a:off x="6361023" y="4370832"/>
            <a:ext cx="502920" cy="45720"/>
          </a:xfrm>
          <a:prstGeom prst="rect">
            <a:avLst/>
          </a:prstGeom>
          <a:solidFill>
            <a:srgbClr val="46D2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6324447" y="4462272"/>
            <a:ext cx="5172303" cy="353568"/>
          </a:xfrm>
          <a:prstGeom prst="rect">
            <a:avLst/>
          </a:prstGeom>
          <a:noFill/>
        </p:spPr>
        <p:txBody>
          <a:bodyPr wrap="square" lIns="45720" rIns="45720" tIns="27432" bIns="27432" anchor="t">
            <a:noAutofit/>
          </a:bodyPr>
          <a:lstStyle/>
          <a:p>
            <a:pPr algn="l">
              <a:lnSpc>
                <a:spcPct val="100000"/>
              </a:lnSpc>
            </a:pPr>
            <a:r>
              <a:rPr sz="1600" b="0" i="0">
                <a:solidFill>
                  <a:srgbClr val="F7F2E8"/>
                </a:solidFill>
                <a:latin typeface="Segoe UI Semibold"/>
              </a:rPr>
              <a:t>Evidencia</a:t>
            </a:r>
          </a:p>
        </p:txBody>
      </p:sp>
      <p:sp>
        <p:nvSpPr>
          <p:cNvPr id="23" name="TextBox 22"/>
          <p:cNvSpPr txBox="1"/>
          <p:nvPr/>
        </p:nvSpPr>
        <p:spPr>
          <a:xfrm>
            <a:off x="6324447" y="4815840"/>
            <a:ext cx="5172303" cy="1292352"/>
          </a:xfrm>
          <a:prstGeom prst="rect">
            <a:avLst/>
          </a:prstGeom>
          <a:noFill/>
        </p:spPr>
        <p:txBody>
          <a:bodyPr wrap="square" lIns="45720" rIns="45720" tIns="27432" bIns="27432" anchor="t">
            <a:noAutofit/>
          </a:bodyPr>
          <a:lstStyle/>
          <a:p>
            <a:pPr algn="l">
              <a:lnSpc>
                <a:spcPct val="100000"/>
              </a:lnSpc>
            </a:pPr>
            <a:r>
              <a:rPr sz="1300" b="0" i="0">
                <a:solidFill>
                  <a:srgbClr val="A7B2B0"/>
                </a:solidFill>
                <a:latin typeface="Segoe UI"/>
              </a:rPr>
              <a:t>docs/build-root-assets-verification.md registra el alcance, las revisiones saltadas y las transcripciones locales.</a:t>
            </a:r>
          </a:p>
        </p:txBody>
      </p:sp>
      <p:cxnSp>
        <p:nvCxnSpPr>
          <p:cNvPr id="24" name="Connector 23"/>
          <p:cNvCxnSpPr/>
          <p:nvPr/>
        </p:nvCxnSpPr>
        <p:spPr>
          <a:xfrm>
            <a:off x="566928" y="6373368"/>
            <a:ext cx="11057839" cy="0"/>
          </a:xfrm>
          <a:prstGeom prst="line">
            <a:avLst/>
          </a:prstGeom>
          <a:ln w="7620">
            <a:solidFill>
              <a:srgbClr val="2A3A40"/>
            </a:solidFill>
          </a:ln>
        </p:spPr>
        <p:style>
          <a:lnRef idx="2">
            <a:schemeClr val="accent1"/>
          </a:lnRef>
          <a:fillRef idx="0">
            <a:schemeClr val="accent1"/>
          </a:fillRef>
          <a:effectRef idx="1">
            <a:schemeClr val="accent1"/>
          </a:effectRef>
          <a:fontRef idx="minor">
            <a:schemeClr val="tx1"/>
          </a:fontRef>
        </p:style>
      </p:cxnSp>
      <p:sp>
        <p:nvSpPr>
          <p:cNvPr id="25" name="TextBox 24"/>
          <p:cNvSpPr txBox="1"/>
          <p:nvPr/>
        </p:nvSpPr>
        <p:spPr>
          <a:xfrm>
            <a:off x="566928" y="6419088"/>
            <a:ext cx="6858000" cy="274320"/>
          </a:xfrm>
          <a:prstGeom prst="rect">
            <a:avLst/>
          </a:prstGeom>
          <a:noFill/>
        </p:spPr>
        <p:txBody>
          <a:bodyPr wrap="square" lIns="45720" rIns="45720" tIns="27432" bIns="27432" anchor="t">
            <a:noAutofit/>
          </a:bodyPr>
          <a:lstStyle/>
          <a:p>
            <a:pPr algn="l">
              <a:lnSpc>
                <a:spcPct val="100000"/>
              </a:lnSpc>
            </a:pPr>
            <a:r>
              <a:rPr sz="850" b="0" i="0" spc="120">
                <a:solidFill>
                  <a:srgbClr val="A7B2B0"/>
                </a:solidFill>
                <a:latin typeface="Segoe UI Semibold"/>
              </a:rPr>
              <a:t>TLAMATINI  ·  VII · INSTALAR, CONFIGURAR, EJECUTAR</a:t>
            </a:r>
          </a:p>
        </p:txBody>
      </p:sp>
      <p:sp>
        <p:nvSpPr>
          <p:cNvPr id="26" name="TextBox 25"/>
          <p:cNvSpPr txBox="1"/>
          <p:nvPr/>
        </p:nvSpPr>
        <p:spPr>
          <a:xfrm>
            <a:off x="8698687" y="6419088"/>
            <a:ext cx="2926080" cy="274320"/>
          </a:xfrm>
          <a:prstGeom prst="rect">
            <a:avLst/>
          </a:prstGeom>
          <a:noFill/>
        </p:spPr>
        <p:txBody>
          <a:bodyPr wrap="square" lIns="45720" rIns="45720" tIns="27432" bIns="27432" anchor="t">
            <a:noAutofit/>
          </a:bodyPr>
          <a:lstStyle/>
          <a:p>
            <a:pPr algn="r">
              <a:lnSpc>
                <a:spcPct val="100000"/>
              </a:lnSpc>
            </a:pPr>
            <a:r>
              <a:rPr sz="850" b="0" i="0" spc="100">
                <a:solidFill>
                  <a:srgbClr val="A7B2B0"/>
                </a:solidFill>
                <a:latin typeface="Segoe UI Semibold"/>
              </a:rPr>
              <a:t>v1.91.1   ·   116</a:t>
            </a:r>
          </a:p>
        </p:txBody>
      </p:sp>
    </p:spTree>
  </p:cSld>
  <p:clrMapOvr>
    <a:masterClrMapping/>
  </p:clrMapOvr>
</p:sld>
</file>

<file path=ppt/slides/slide1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content.png"/>
          <p:cNvPicPr>
            <a:picLocks noChangeAspect="1"/>
          </p:cNvPicPr>
          <p:nvPr/>
        </p:nvPicPr>
        <p:blipFill>
          <a:blip r:embed="rId2"/>
          <a:stretch>
            <a:fillRect/>
          </a:stretch>
        </p:blipFill>
        <p:spPr>
          <a:xfrm>
            <a:off x="0" y="0"/>
            <a:ext cx="12191695" cy="6858000"/>
          </a:xfrm>
          <a:prstGeom prst="rect">
            <a:avLst/>
          </a:prstGeom>
        </p:spPr>
      </p:pic>
      <p:sp>
        <p:nvSpPr>
          <p:cNvPr id="3" name="Diamond 2"/>
          <p:cNvSpPr/>
          <p:nvPr/>
        </p:nvSpPr>
        <p:spPr>
          <a:xfrm>
            <a:off x="566928" y="457200"/>
            <a:ext cx="100584" cy="100584"/>
          </a:xfrm>
          <a:prstGeom prst="diamond">
            <a:avLst/>
          </a:prstGeom>
          <a:solidFill>
            <a:srgbClr val="3BBE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49808" y="365760"/>
            <a:ext cx="8229600" cy="292608"/>
          </a:xfrm>
          <a:prstGeom prst="rect">
            <a:avLst/>
          </a:prstGeom>
          <a:noFill/>
        </p:spPr>
        <p:txBody>
          <a:bodyPr wrap="square" lIns="45720" rIns="45720" tIns="27432" bIns="27432" anchor="t">
            <a:noAutofit/>
          </a:bodyPr>
          <a:lstStyle/>
          <a:p>
            <a:pPr algn="l">
              <a:lnSpc>
                <a:spcPct val="100000"/>
              </a:lnSpc>
            </a:pPr>
            <a:r>
              <a:rPr sz="1100" b="0" i="0" spc="240">
                <a:solidFill>
                  <a:srgbClr val="C98457"/>
                </a:solidFill>
                <a:latin typeface="Segoe UI Semibold"/>
              </a:rPr>
              <a:t>AUTOACTUALIZACIÓN</a:t>
            </a:r>
          </a:p>
        </p:txBody>
      </p:sp>
      <p:sp>
        <p:nvSpPr>
          <p:cNvPr id="5" name="TextBox 4"/>
          <p:cNvSpPr txBox="1"/>
          <p:nvPr/>
        </p:nvSpPr>
        <p:spPr>
          <a:xfrm>
            <a:off x="539496" y="676656"/>
            <a:ext cx="11057839" cy="658368"/>
          </a:xfrm>
          <a:prstGeom prst="rect">
            <a:avLst/>
          </a:prstGeom>
          <a:noFill/>
        </p:spPr>
        <p:txBody>
          <a:bodyPr wrap="square" lIns="45720" rIns="45720" tIns="27432" bIns="27432" anchor="t">
            <a:noAutofit/>
          </a:bodyPr>
          <a:lstStyle/>
          <a:p>
            <a:pPr algn="l">
              <a:lnSpc>
                <a:spcPct val="100000"/>
              </a:lnSpc>
            </a:pPr>
            <a:r>
              <a:rPr sz="3100" b="0" i="0">
                <a:solidFill>
                  <a:srgbClr val="F7F2E8"/>
                </a:solidFill>
                <a:latin typeface="Palatino Linotype"/>
              </a:rPr>
              <a:t>Actualizarse sin perderte</a:t>
            </a:r>
          </a:p>
        </p:txBody>
      </p:sp>
      <p:sp>
        <p:nvSpPr>
          <p:cNvPr id="6" name="Rectangle 5"/>
          <p:cNvSpPr/>
          <p:nvPr/>
        </p:nvSpPr>
        <p:spPr>
          <a:xfrm>
            <a:off x="566928" y="1344168"/>
            <a:ext cx="822960" cy="36576"/>
          </a:xfrm>
          <a:prstGeom prst="rect">
            <a:avLst/>
          </a:prstGeom>
          <a:solidFill>
            <a:srgbClr val="3BBE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566928" y="1444752"/>
            <a:ext cx="10692079" cy="585216"/>
          </a:xfrm>
          <a:prstGeom prst="rect">
            <a:avLst/>
          </a:prstGeom>
          <a:noFill/>
        </p:spPr>
        <p:txBody>
          <a:bodyPr wrap="square" lIns="45720" rIns="45720" tIns="27432" bIns="27432" anchor="t">
            <a:noAutofit/>
          </a:bodyPr>
          <a:lstStyle/>
          <a:p>
            <a:pPr algn="l">
              <a:lnSpc>
                <a:spcPct val="100000"/>
              </a:lnSpc>
            </a:pPr>
            <a:r>
              <a:rPr sz="1450" b="0" i="0">
                <a:solidFill>
                  <a:srgbClr val="A7B2B0"/>
                </a:solidFill>
                <a:latin typeface="Segoe UI Semilight"/>
              </a:rPr>
              <a:t>Acerca de </a:t>
            </a:r>
            <a:r>
              <a:rPr sz="1450" b="0" i="0">
                <a:solidFill>
                  <a:srgbClr val="A7B2B0"/>
                </a:solidFill>
                <a:latin typeface="Segoe UI Symbol"/>
              </a:rPr>
              <a:t>▸</a:t>
            </a:r>
            <a:r>
              <a:rPr sz="1450" b="0" i="0">
                <a:solidFill>
                  <a:srgbClr val="A7B2B0"/>
                </a:solidFill>
                <a:latin typeface="Segoe UI Semilight"/>
              </a:rPr>
              <a:t> Buscar actualizaciones trae el último release publicado, lo prepara y le pasa el cambio de archivos bloqueados a un script externo.</a:t>
            </a:r>
          </a:p>
        </p:txBody>
      </p:sp>
      <p:sp>
        <p:nvSpPr>
          <p:cNvPr id="8" name="Rounded Rectangle 7"/>
          <p:cNvSpPr/>
          <p:nvPr/>
        </p:nvSpPr>
        <p:spPr>
          <a:xfrm>
            <a:off x="566928" y="2084831"/>
            <a:ext cx="11057839" cy="932688"/>
          </a:xfrm>
          <a:prstGeom prst="roundRect">
            <a:avLst>
              <a:gd name="adj" fmla="val 9803"/>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Diamond 8"/>
          <p:cNvSpPr/>
          <p:nvPr/>
        </p:nvSpPr>
        <p:spPr>
          <a:xfrm>
            <a:off x="768096" y="2487168"/>
            <a:ext cx="128016" cy="128016"/>
          </a:xfrm>
          <a:prstGeom prst="diamond">
            <a:avLst/>
          </a:prstGeom>
          <a:solidFill>
            <a:srgbClr val="3BBE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1024128" y="2139696"/>
            <a:ext cx="2651760" cy="822960"/>
          </a:xfrm>
          <a:prstGeom prst="rect">
            <a:avLst/>
          </a:prstGeom>
          <a:noFill/>
        </p:spPr>
        <p:txBody>
          <a:bodyPr wrap="square" lIns="45720" rIns="45720" tIns="27432" bIns="27432" anchor="ctr">
            <a:noAutofit/>
          </a:bodyPr>
          <a:lstStyle/>
          <a:p>
            <a:pPr algn="l">
              <a:lnSpc>
                <a:spcPct val="100000"/>
              </a:lnSpc>
            </a:pPr>
            <a:r>
              <a:rPr sz="1600" b="0" i="0">
                <a:solidFill>
                  <a:srgbClr val="F7F2E8"/>
                </a:solidFill>
                <a:latin typeface="Segoe UI Semibold"/>
              </a:rPr>
              <a:t>Releases publicados</a:t>
            </a:r>
          </a:p>
        </p:txBody>
      </p:sp>
      <p:sp>
        <p:nvSpPr>
          <p:cNvPr id="11" name="TextBox 10"/>
          <p:cNvSpPr txBox="1"/>
          <p:nvPr/>
        </p:nvSpPr>
        <p:spPr>
          <a:xfrm>
            <a:off x="3767328" y="2139696"/>
            <a:ext cx="7720279" cy="822960"/>
          </a:xfrm>
          <a:prstGeom prst="rect">
            <a:avLst/>
          </a:prstGeom>
          <a:noFill/>
        </p:spPr>
        <p:txBody>
          <a:bodyPr wrap="square" lIns="45720" rIns="45720" tIns="27432" bIns="27432" anchor="ctr">
            <a:noAutofit/>
          </a:bodyPr>
          <a:lstStyle/>
          <a:p>
            <a:pPr algn="l">
              <a:lnSpc>
                <a:spcPct val="100000"/>
              </a:lnSpc>
            </a:pPr>
            <a:r>
              <a:rPr sz="1400" b="0" i="0">
                <a:solidFill>
                  <a:srgbClr val="A7B2B0"/>
                </a:solidFill>
                <a:latin typeface="Segoe UI"/>
              </a:rPr>
              <a:t>Sólo se ofrecen los releases publicados en GitHub.</a:t>
            </a:r>
          </a:p>
        </p:txBody>
      </p:sp>
      <p:sp>
        <p:nvSpPr>
          <p:cNvPr id="12" name="Rounded Rectangle 11"/>
          <p:cNvSpPr/>
          <p:nvPr/>
        </p:nvSpPr>
        <p:spPr>
          <a:xfrm>
            <a:off x="566928" y="3145536"/>
            <a:ext cx="11057839" cy="932688"/>
          </a:xfrm>
          <a:prstGeom prst="roundRect">
            <a:avLst>
              <a:gd name="adj" fmla="val 9803"/>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Diamond 12"/>
          <p:cNvSpPr/>
          <p:nvPr/>
        </p:nvSpPr>
        <p:spPr>
          <a:xfrm>
            <a:off x="768096" y="3547872"/>
            <a:ext cx="128016" cy="128016"/>
          </a:xfrm>
          <a:prstGeom prst="diamond">
            <a:avLst/>
          </a:prstGeom>
          <a:solidFill>
            <a:srgbClr val="C984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1024128" y="3200400"/>
            <a:ext cx="2651760" cy="822960"/>
          </a:xfrm>
          <a:prstGeom prst="rect">
            <a:avLst/>
          </a:prstGeom>
          <a:noFill/>
        </p:spPr>
        <p:txBody>
          <a:bodyPr wrap="square" lIns="45720" rIns="45720" tIns="27432" bIns="27432" anchor="ctr">
            <a:noAutofit/>
          </a:bodyPr>
          <a:lstStyle/>
          <a:p>
            <a:pPr algn="l">
              <a:lnSpc>
                <a:spcPct val="100000"/>
              </a:lnSpc>
            </a:pPr>
            <a:r>
              <a:rPr sz="1600" b="0" i="0">
                <a:solidFill>
                  <a:srgbClr val="F7F2E8"/>
                </a:solidFill>
                <a:latin typeface="Segoe UI Semibold"/>
              </a:rPr>
              <a:t>Conservado</a:t>
            </a:r>
          </a:p>
        </p:txBody>
      </p:sp>
      <p:sp>
        <p:nvSpPr>
          <p:cNvPr id="15" name="TextBox 14"/>
          <p:cNvSpPr txBox="1"/>
          <p:nvPr/>
        </p:nvSpPr>
        <p:spPr>
          <a:xfrm>
            <a:off x="3767328" y="3200400"/>
            <a:ext cx="7720279" cy="822960"/>
          </a:xfrm>
          <a:prstGeom prst="rect">
            <a:avLst/>
          </a:prstGeom>
          <a:noFill/>
        </p:spPr>
        <p:txBody>
          <a:bodyPr wrap="square" lIns="45720" rIns="45720" tIns="27432" bIns="27432" anchor="ctr">
            <a:noAutofit/>
          </a:bodyPr>
          <a:lstStyle/>
          <a:p>
            <a:pPr algn="l">
              <a:lnSpc>
                <a:spcPct val="100000"/>
              </a:lnSpc>
            </a:pPr>
            <a:r>
              <a:rPr sz="1400" b="0" i="0">
                <a:solidFill>
                  <a:srgbClr val="A7B2B0"/>
                </a:solidFill>
                <a:latin typeface="Segoe UI"/>
              </a:rPr>
              <a:t>Configuración, base de datos, contactos, catálogos, contenido.</a:t>
            </a:r>
          </a:p>
        </p:txBody>
      </p:sp>
      <p:sp>
        <p:nvSpPr>
          <p:cNvPr id="16" name="Rounded Rectangle 15"/>
          <p:cNvSpPr/>
          <p:nvPr/>
        </p:nvSpPr>
        <p:spPr>
          <a:xfrm>
            <a:off x="566928" y="4206240"/>
            <a:ext cx="11057839" cy="932688"/>
          </a:xfrm>
          <a:prstGeom prst="roundRect">
            <a:avLst>
              <a:gd name="adj" fmla="val 9803"/>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Diamond 16"/>
          <p:cNvSpPr/>
          <p:nvPr/>
        </p:nvSpPr>
        <p:spPr>
          <a:xfrm>
            <a:off x="768096" y="4608575"/>
            <a:ext cx="128016" cy="128016"/>
          </a:xfrm>
          <a:prstGeom prst="diamond">
            <a:avLst/>
          </a:prstGeom>
          <a:solidFill>
            <a:srgbClr val="E2B4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1024128" y="4261103"/>
            <a:ext cx="2651760" cy="822960"/>
          </a:xfrm>
          <a:prstGeom prst="rect">
            <a:avLst/>
          </a:prstGeom>
          <a:noFill/>
        </p:spPr>
        <p:txBody>
          <a:bodyPr wrap="square" lIns="45720" rIns="45720" tIns="27432" bIns="27432" anchor="ctr">
            <a:noAutofit/>
          </a:bodyPr>
          <a:lstStyle/>
          <a:p>
            <a:pPr algn="l">
              <a:lnSpc>
                <a:spcPct val="100000"/>
              </a:lnSpc>
            </a:pPr>
            <a:r>
              <a:rPr sz="1600" b="0" i="0">
                <a:solidFill>
                  <a:srgbClr val="F7F2E8"/>
                </a:solidFill>
                <a:latin typeface="Segoe UI Semibold"/>
              </a:rPr>
              <a:t>Migrado</a:t>
            </a:r>
          </a:p>
        </p:txBody>
      </p:sp>
      <p:sp>
        <p:nvSpPr>
          <p:cNvPr id="19" name="TextBox 18"/>
          <p:cNvSpPr txBox="1"/>
          <p:nvPr/>
        </p:nvSpPr>
        <p:spPr>
          <a:xfrm>
            <a:off x="3767328" y="4261103"/>
            <a:ext cx="7720279" cy="822960"/>
          </a:xfrm>
          <a:prstGeom prst="rect">
            <a:avLst/>
          </a:prstGeom>
          <a:noFill/>
        </p:spPr>
        <p:txBody>
          <a:bodyPr wrap="square" lIns="45720" rIns="45720" tIns="27432" bIns="27432" anchor="ctr">
            <a:noAutofit/>
          </a:bodyPr>
          <a:lstStyle/>
          <a:p>
            <a:pPr algn="l">
              <a:lnSpc>
                <a:spcPct val="100000"/>
              </a:lnSpc>
            </a:pPr>
            <a:r>
              <a:rPr sz="1400" b="0" i="0">
                <a:solidFill>
                  <a:srgbClr val="A7B2B0"/>
                </a:solidFill>
                <a:latin typeface="Segoe UI"/>
              </a:rPr>
              <a:t>Tu base de datos recibe las migraciones nuevas en el siguiente arranque.</a:t>
            </a:r>
          </a:p>
        </p:txBody>
      </p:sp>
      <p:sp>
        <p:nvSpPr>
          <p:cNvPr id="20" name="Rounded Rectangle 19"/>
          <p:cNvSpPr/>
          <p:nvPr/>
        </p:nvSpPr>
        <p:spPr>
          <a:xfrm>
            <a:off x="566928" y="5266944"/>
            <a:ext cx="11057839" cy="932688"/>
          </a:xfrm>
          <a:prstGeom prst="roundRect">
            <a:avLst>
              <a:gd name="adj" fmla="val 9803"/>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Diamond 20"/>
          <p:cNvSpPr/>
          <p:nvPr/>
        </p:nvSpPr>
        <p:spPr>
          <a:xfrm>
            <a:off x="768096" y="5669279"/>
            <a:ext cx="128016" cy="128016"/>
          </a:xfrm>
          <a:prstGeom prst="diamond">
            <a:avLst/>
          </a:prstGeom>
          <a:solidFill>
            <a:srgbClr val="46D2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1024128" y="5321807"/>
            <a:ext cx="2651760" cy="822960"/>
          </a:xfrm>
          <a:prstGeom prst="rect">
            <a:avLst/>
          </a:prstGeom>
          <a:noFill/>
        </p:spPr>
        <p:txBody>
          <a:bodyPr wrap="square" lIns="45720" rIns="45720" tIns="27432" bIns="27432" anchor="ctr">
            <a:noAutofit/>
          </a:bodyPr>
          <a:lstStyle/>
          <a:p>
            <a:pPr algn="l">
              <a:lnSpc>
                <a:spcPct val="100000"/>
              </a:lnSpc>
            </a:pPr>
            <a:r>
              <a:rPr sz="1600" b="0" i="0">
                <a:solidFill>
                  <a:srgbClr val="F7F2E8"/>
                </a:solidFill>
                <a:latin typeface="Segoe UI Semibold"/>
              </a:rPr>
              <a:t>Verificado</a:t>
            </a:r>
          </a:p>
        </p:txBody>
      </p:sp>
      <p:sp>
        <p:nvSpPr>
          <p:cNvPr id="23" name="TextBox 22"/>
          <p:cNvSpPr txBox="1"/>
          <p:nvPr/>
        </p:nvSpPr>
        <p:spPr>
          <a:xfrm>
            <a:off x="3767328" y="5321807"/>
            <a:ext cx="7720279" cy="822960"/>
          </a:xfrm>
          <a:prstGeom prst="rect">
            <a:avLst/>
          </a:prstGeom>
          <a:noFill/>
        </p:spPr>
        <p:txBody>
          <a:bodyPr wrap="square" lIns="45720" rIns="45720" tIns="27432" bIns="27432" anchor="ctr">
            <a:noAutofit/>
          </a:bodyPr>
          <a:lstStyle/>
          <a:p>
            <a:pPr algn="l">
              <a:lnSpc>
                <a:spcPct val="100000"/>
              </a:lnSpc>
            </a:pPr>
            <a:r>
              <a:rPr sz="1400" b="0" i="0">
                <a:solidFill>
                  <a:srgbClr val="A7B2B0"/>
                </a:solidFill>
                <a:latin typeface="Segoe UI"/>
              </a:rPr>
              <a:t>Los recibos se revisan antes de reemplazar cualquier cosa.</a:t>
            </a:r>
          </a:p>
        </p:txBody>
      </p:sp>
      <p:cxnSp>
        <p:nvCxnSpPr>
          <p:cNvPr id="24" name="Connector 23"/>
          <p:cNvCxnSpPr/>
          <p:nvPr/>
        </p:nvCxnSpPr>
        <p:spPr>
          <a:xfrm>
            <a:off x="566928" y="6373368"/>
            <a:ext cx="11057839" cy="0"/>
          </a:xfrm>
          <a:prstGeom prst="line">
            <a:avLst/>
          </a:prstGeom>
          <a:ln w="7620">
            <a:solidFill>
              <a:srgbClr val="2A3A40"/>
            </a:solidFill>
          </a:ln>
        </p:spPr>
        <p:style>
          <a:lnRef idx="2">
            <a:schemeClr val="accent1"/>
          </a:lnRef>
          <a:fillRef idx="0">
            <a:schemeClr val="accent1"/>
          </a:fillRef>
          <a:effectRef idx="1">
            <a:schemeClr val="accent1"/>
          </a:effectRef>
          <a:fontRef idx="minor">
            <a:schemeClr val="tx1"/>
          </a:fontRef>
        </p:style>
      </p:cxnSp>
      <p:sp>
        <p:nvSpPr>
          <p:cNvPr id="25" name="TextBox 24"/>
          <p:cNvSpPr txBox="1"/>
          <p:nvPr/>
        </p:nvSpPr>
        <p:spPr>
          <a:xfrm>
            <a:off x="566928" y="6419088"/>
            <a:ext cx="6858000" cy="274320"/>
          </a:xfrm>
          <a:prstGeom prst="rect">
            <a:avLst/>
          </a:prstGeom>
          <a:noFill/>
        </p:spPr>
        <p:txBody>
          <a:bodyPr wrap="square" lIns="45720" rIns="45720" tIns="27432" bIns="27432" anchor="t">
            <a:noAutofit/>
          </a:bodyPr>
          <a:lstStyle/>
          <a:p>
            <a:pPr algn="l">
              <a:lnSpc>
                <a:spcPct val="100000"/>
              </a:lnSpc>
            </a:pPr>
            <a:r>
              <a:rPr sz="850" b="0" i="0" spc="120">
                <a:solidFill>
                  <a:srgbClr val="A7B2B0"/>
                </a:solidFill>
                <a:latin typeface="Segoe UI Semibold"/>
              </a:rPr>
              <a:t>TLAMATINI  ·  VII · INSTALAR, CONFIGURAR, EJECUTAR</a:t>
            </a:r>
          </a:p>
        </p:txBody>
      </p:sp>
      <p:sp>
        <p:nvSpPr>
          <p:cNvPr id="26" name="TextBox 25"/>
          <p:cNvSpPr txBox="1"/>
          <p:nvPr/>
        </p:nvSpPr>
        <p:spPr>
          <a:xfrm>
            <a:off x="8698687" y="6419088"/>
            <a:ext cx="2926080" cy="274320"/>
          </a:xfrm>
          <a:prstGeom prst="rect">
            <a:avLst/>
          </a:prstGeom>
          <a:noFill/>
        </p:spPr>
        <p:txBody>
          <a:bodyPr wrap="square" lIns="45720" rIns="45720" tIns="27432" bIns="27432" anchor="t">
            <a:noAutofit/>
          </a:bodyPr>
          <a:lstStyle/>
          <a:p>
            <a:pPr algn="r">
              <a:lnSpc>
                <a:spcPct val="100000"/>
              </a:lnSpc>
            </a:pPr>
            <a:r>
              <a:rPr sz="850" b="0" i="0" spc="100">
                <a:solidFill>
                  <a:srgbClr val="A7B2B0"/>
                </a:solidFill>
                <a:latin typeface="Segoe UI Semibold"/>
              </a:rPr>
              <a:t>v1.91.1   ·   117</a:t>
            </a:r>
          </a:p>
        </p:txBody>
      </p:sp>
    </p:spTree>
  </p:cSld>
  <p:clrMapOvr>
    <a:masterClrMapping/>
  </p:clrMapOvr>
</p:sld>
</file>

<file path=ppt/slides/slide1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content.png"/>
          <p:cNvPicPr>
            <a:picLocks noChangeAspect="1"/>
          </p:cNvPicPr>
          <p:nvPr/>
        </p:nvPicPr>
        <p:blipFill>
          <a:blip r:embed="rId2"/>
          <a:stretch>
            <a:fillRect/>
          </a:stretch>
        </p:blipFill>
        <p:spPr>
          <a:xfrm>
            <a:off x="0" y="0"/>
            <a:ext cx="12191695" cy="6858000"/>
          </a:xfrm>
          <a:prstGeom prst="rect">
            <a:avLst/>
          </a:prstGeom>
        </p:spPr>
      </p:pic>
      <p:sp>
        <p:nvSpPr>
          <p:cNvPr id="3" name="Diamond 2"/>
          <p:cNvSpPr/>
          <p:nvPr/>
        </p:nvSpPr>
        <p:spPr>
          <a:xfrm>
            <a:off x="566928" y="457200"/>
            <a:ext cx="100584" cy="100584"/>
          </a:xfrm>
          <a:prstGeom prst="diamond">
            <a:avLst/>
          </a:prstGeom>
          <a:solidFill>
            <a:srgbClr val="3BBE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49808" y="365760"/>
            <a:ext cx="8229600" cy="292608"/>
          </a:xfrm>
          <a:prstGeom prst="rect">
            <a:avLst/>
          </a:prstGeom>
          <a:noFill/>
        </p:spPr>
        <p:txBody>
          <a:bodyPr wrap="square" lIns="45720" rIns="45720" tIns="27432" bIns="27432" anchor="t">
            <a:noAutofit/>
          </a:bodyPr>
          <a:lstStyle/>
          <a:p>
            <a:pPr algn="l">
              <a:lnSpc>
                <a:spcPct val="100000"/>
              </a:lnSpc>
            </a:pPr>
            <a:r>
              <a:rPr sz="1100" b="0" i="0" spc="240">
                <a:solidFill>
                  <a:srgbClr val="C98457"/>
                </a:solidFill>
                <a:latin typeface="Segoe UI Semibold"/>
              </a:rPr>
              <a:t>VERSIONADO</a:t>
            </a:r>
          </a:p>
        </p:txBody>
      </p:sp>
      <p:sp>
        <p:nvSpPr>
          <p:cNvPr id="5" name="TextBox 4"/>
          <p:cNvSpPr txBox="1"/>
          <p:nvPr/>
        </p:nvSpPr>
        <p:spPr>
          <a:xfrm>
            <a:off x="539496" y="676656"/>
            <a:ext cx="11057839" cy="658368"/>
          </a:xfrm>
          <a:prstGeom prst="rect">
            <a:avLst/>
          </a:prstGeom>
          <a:noFill/>
        </p:spPr>
        <p:txBody>
          <a:bodyPr wrap="square" lIns="45720" rIns="45720" tIns="27432" bIns="27432" anchor="t">
            <a:noAutofit/>
          </a:bodyPr>
          <a:lstStyle/>
          <a:p>
            <a:pPr algn="l">
              <a:lnSpc>
                <a:spcPct val="100000"/>
              </a:lnSpc>
            </a:pPr>
            <a:r>
              <a:rPr sz="3100" b="0" i="0">
                <a:solidFill>
                  <a:srgbClr val="F7F2E8"/>
                </a:solidFill>
                <a:latin typeface="Palatino Linotype"/>
              </a:rPr>
              <a:t>Un número, de una sola fuente</a:t>
            </a:r>
          </a:p>
        </p:txBody>
      </p:sp>
      <p:sp>
        <p:nvSpPr>
          <p:cNvPr id="6" name="Rectangle 5"/>
          <p:cNvSpPr/>
          <p:nvPr/>
        </p:nvSpPr>
        <p:spPr>
          <a:xfrm>
            <a:off x="566928" y="1344168"/>
            <a:ext cx="822960" cy="36576"/>
          </a:xfrm>
          <a:prstGeom prst="rect">
            <a:avLst/>
          </a:prstGeom>
          <a:solidFill>
            <a:srgbClr val="3BBE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566928" y="1444752"/>
            <a:ext cx="10692079" cy="585216"/>
          </a:xfrm>
          <a:prstGeom prst="rect">
            <a:avLst/>
          </a:prstGeom>
          <a:noFill/>
        </p:spPr>
        <p:txBody>
          <a:bodyPr wrap="square" lIns="45720" rIns="45720" tIns="27432" bIns="27432" anchor="t">
            <a:noAutofit/>
          </a:bodyPr>
          <a:lstStyle/>
          <a:p>
            <a:pPr algn="l">
              <a:lnSpc>
                <a:spcPct val="100000"/>
              </a:lnSpc>
            </a:pPr>
            <a:r>
              <a:rPr sz="1450" b="0" i="0">
                <a:solidFill>
                  <a:srgbClr val="A7B2B0"/>
                </a:solidFill>
                <a:latin typeface="Segoe UI Semilight"/>
              </a:rPr>
              <a:t>Tlamatini sigue el Versionado Semántico, con tags anotados de Git como única fuente de verdad.</a:t>
            </a:r>
          </a:p>
        </p:txBody>
      </p:sp>
      <p:sp>
        <p:nvSpPr>
          <p:cNvPr id="8" name="Rounded Rectangle 7"/>
          <p:cNvSpPr/>
          <p:nvPr/>
        </p:nvSpPr>
        <p:spPr>
          <a:xfrm>
            <a:off x="566928" y="2084831"/>
            <a:ext cx="11057839" cy="932688"/>
          </a:xfrm>
          <a:prstGeom prst="roundRect">
            <a:avLst>
              <a:gd name="adj" fmla="val 9803"/>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Diamond 8"/>
          <p:cNvSpPr/>
          <p:nvPr/>
        </p:nvSpPr>
        <p:spPr>
          <a:xfrm>
            <a:off x="768096" y="2487168"/>
            <a:ext cx="128016" cy="128016"/>
          </a:xfrm>
          <a:prstGeom prst="diamond">
            <a:avLst/>
          </a:prstGeom>
          <a:solidFill>
            <a:srgbClr val="3BBE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1024128" y="2139696"/>
            <a:ext cx="2651760" cy="822960"/>
          </a:xfrm>
          <a:prstGeom prst="rect">
            <a:avLst/>
          </a:prstGeom>
          <a:noFill/>
        </p:spPr>
        <p:txBody>
          <a:bodyPr wrap="square" lIns="45720" rIns="45720" tIns="27432" bIns="27432" anchor="ctr">
            <a:noAutofit/>
          </a:bodyPr>
          <a:lstStyle/>
          <a:p>
            <a:pPr algn="l">
              <a:lnSpc>
                <a:spcPct val="100000"/>
              </a:lnSpc>
            </a:pPr>
            <a:r>
              <a:rPr sz="1600" b="0" i="0">
                <a:solidFill>
                  <a:srgbClr val="F7F2E8"/>
                </a:solidFill>
                <a:latin typeface="Segoe UI Semibold"/>
              </a:rPr>
              <a:t>SemVer</a:t>
            </a:r>
          </a:p>
        </p:txBody>
      </p:sp>
      <p:sp>
        <p:nvSpPr>
          <p:cNvPr id="11" name="TextBox 10"/>
          <p:cNvSpPr txBox="1"/>
          <p:nvPr/>
        </p:nvSpPr>
        <p:spPr>
          <a:xfrm>
            <a:off x="3767328" y="2139696"/>
            <a:ext cx="7720279" cy="822960"/>
          </a:xfrm>
          <a:prstGeom prst="rect">
            <a:avLst/>
          </a:prstGeom>
          <a:noFill/>
        </p:spPr>
        <p:txBody>
          <a:bodyPr wrap="square" lIns="45720" rIns="45720" tIns="27432" bIns="27432" anchor="ctr">
            <a:noAutofit/>
          </a:bodyPr>
          <a:lstStyle/>
          <a:p>
            <a:pPr algn="l">
              <a:lnSpc>
                <a:spcPct val="100000"/>
              </a:lnSpc>
            </a:pPr>
            <a:r>
              <a:rPr sz="1400" b="0" i="0">
                <a:solidFill>
                  <a:srgbClr val="A7B2B0"/>
                </a:solidFill>
                <a:latin typeface="Segoe UI"/>
              </a:rPr>
              <a:t>MAJOR.MINOR.PATCH a partir de tags anotados de Git.</a:t>
            </a:r>
          </a:p>
        </p:txBody>
      </p:sp>
      <p:sp>
        <p:nvSpPr>
          <p:cNvPr id="12" name="Rounded Rectangle 11"/>
          <p:cNvSpPr/>
          <p:nvPr/>
        </p:nvSpPr>
        <p:spPr>
          <a:xfrm>
            <a:off x="566928" y="3145536"/>
            <a:ext cx="11057839" cy="932688"/>
          </a:xfrm>
          <a:prstGeom prst="roundRect">
            <a:avLst>
              <a:gd name="adj" fmla="val 9803"/>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Diamond 12"/>
          <p:cNvSpPr/>
          <p:nvPr/>
        </p:nvSpPr>
        <p:spPr>
          <a:xfrm>
            <a:off x="768096" y="3547872"/>
            <a:ext cx="128016" cy="128016"/>
          </a:xfrm>
          <a:prstGeom prst="diamond">
            <a:avLst/>
          </a:prstGeom>
          <a:solidFill>
            <a:srgbClr val="C984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1024128" y="3200400"/>
            <a:ext cx="2651760" cy="822960"/>
          </a:xfrm>
          <a:prstGeom prst="rect">
            <a:avLst/>
          </a:prstGeom>
          <a:noFill/>
        </p:spPr>
        <p:txBody>
          <a:bodyPr wrap="square" lIns="45720" rIns="45720" tIns="27432" bIns="27432" anchor="ctr">
            <a:noAutofit/>
          </a:bodyPr>
          <a:lstStyle/>
          <a:p>
            <a:pPr algn="l">
              <a:lnSpc>
                <a:spcPct val="100000"/>
              </a:lnSpc>
            </a:pPr>
            <a:r>
              <a:rPr sz="1600" b="0" i="0">
                <a:solidFill>
                  <a:srgbClr val="F7F2E8"/>
                </a:solidFill>
                <a:latin typeface="Segoe UI Semibold"/>
              </a:rPr>
              <a:t>Un solo resolvedor</a:t>
            </a:r>
          </a:p>
        </p:txBody>
      </p:sp>
      <p:sp>
        <p:nvSpPr>
          <p:cNvPr id="15" name="TextBox 14"/>
          <p:cNvSpPr txBox="1"/>
          <p:nvPr/>
        </p:nvSpPr>
        <p:spPr>
          <a:xfrm>
            <a:off x="3767328" y="3200400"/>
            <a:ext cx="7720279" cy="822960"/>
          </a:xfrm>
          <a:prstGeom prst="rect">
            <a:avLst/>
          </a:prstGeom>
          <a:noFill/>
        </p:spPr>
        <p:txBody>
          <a:bodyPr wrap="square" lIns="45720" rIns="45720" tIns="27432" bIns="27432" anchor="ctr">
            <a:noAutofit/>
          </a:bodyPr>
          <a:lstStyle/>
          <a:p>
            <a:pPr algn="l">
              <a:lnSpc>
                <a:spcPct val="100000"/>
              </a:lnSpc>
            </a:pPr>
            <a:r>
              <a:rPr sz="1400" b="0" i="0">
                <a:solidFill>
                  <a:srgbClr val="A7B2B0"/>
                </a:solidFill>
                <a:latin typeface="Segoe UI"/>
              </a:rPr>
              <a:t>version.py, la ventana Acerca de y /agent/version/.</a:t>
            </a:r>
          </a:p>
        </p:txBody>
      </p:sp>
      <p:sp>
        <p:nvSpPr>
          <p:cNvPr id="16" name="Rounded Rectangle 15"/>
          <p:cNvSpPr/>
          <p:nvPr/>
        </p:nvSpPr>
        <p:spPr>
          <a:xfrm>
            <a:off x="566928" y="4206240"/>
            <a:ext cx="11057839" cy="932688"/>
          </a:xfrm>
          <a:prstGeom prst="roundRect">
            <a:avLst>
              <a:gd name="adj" fmla="val 9803"/>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Diamond 16"/>
          <p:cNvSpPr/>
          <p:nvPr/>
        </p:nvSpPr>
        <p:spPr>
          <a:xfrm>
            <a:off x="768096" y="4608575"/>
            <a:ext cx="128016" cy="128016"/>
          </a:xfrm>
          <a:prstGeom prst="diamond">
            <a:avLst/>
          </a:prstGeom>
          <a:solidFill>
            <a:srgbClr val="E2B4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1024128" y="4261103"/>
            <a:ext cx="2651760" cy="822960"/>
          </a:xfrm>
          <a:prstGeom prst="rect">
            <a:avLst/>
          </a:prstGeom>
          <a:noFill/>
        </p:spPr>
        <p:txBody>
          <a:bodyPr wrap="square" lIns="45720" rIns="45720" tIns="27432" bIns="27432" anchor="ctr">
            <a:noAutofit/>
          </a:bodyPr>
          <a:lstStyle/>
          <a:p>
            <a:pPr algn="l">
              <a:lnSpc>
                <a:spcPct val="100000"/>
              </a:lnSpc>
            </a:pPr>
            <a:r>
              <a:rPr sz="1600" b="0" i="0">
                <a:solidFill>
                  <a:srgbClr val="F7F2E8"/>
                </a:solidFill>
                <a:latin typeface="Segoe UI Semibold"/>
              </a:rPr>
              <a:t>Sólo el tag base</a:t>
            </a:r>
          </a:p>
        </p:txBody>
      </p:sp>
      <p:sp>
        <p:nvSpPr>
          <p:cNvPr id="19" name="TextBox 18"/>
          <p:cNvSpPr txBox="1"/>
          <p:nvPr/>
        </p:nvSpPr>
        <p:spPr>
          <a:xfrm>
            <a:off x="3767328" y="4261103"/>
            <a:ext cx="7720279" cy="822960"/>
          </a:xfrm>
          <a:prstGeom prst="rect">
            <a:avLst/>
          </a:prstGeom>
          <a:noFill/>
        </p:spPr>
        <p:txBody>
          <a:bodyPr wrap="square" lIns="45720" rIns="45720" tIns="27432" bIns="27432" anchor="ctr">
            <a:noAutofit/>
          </a:bodyPr>
          <a:lstStyle/>
          <a:p>
            <a:pPr algn="l">
              <a:lnSpc>
                <a:spcPct val="100000"/>
              </a:lnSpc>
            </a:pPr>
            <a:r>
              <a:rPr sz="1400" b="0" i="0">
                <a:solidFill>
                  <a:srgbClr val="A7B2B0"/>
                </a:solidFill>
                <a:latin typeface="Segoe UI"/>
              </a:rPr>
              <a:t>Sin sufijos .devN, +gSHA ni .dirty.</a:t>
            </a:r>
          </a:p>
        </p:txBody>
      </p:sp>
      <p:sp>
        <p:nvSpPr>
          <p:cNvPr id="20" name="Rounded Rectangle 19"/>
          <p:cNvSpPr/>
          <p:nvPr/>
        </p:nvSpPr>
        <p:spPr>
          <a:xfrm>
            <a:off x="566928" y="5266944"/>
            <a:ext cx="11057839" cy="932688"/>
          </a:xfrm>
          <a:prstGeom prst="roundRect">
            <a:avLst>
              <a:gd name="adj" fmla="val 9803"/>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Diamond 20"/>
          <p:cNvSpPr/>
          <p:nvPr/>
        </p:nvSpPr>
        <p:spPr>
          <a:xfrm>
            <a:off x="768096" y="5669279"/>
            <a:ext cx="128016" cy="128016"/>
          </a:xfrm>
          <a:prstGeom prst="diamond">
            <a:avLst/>
          </a:prstGeom>
          <a:solidFill>
            <a:srgbClr val="46D2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1024128" y="5321807"/>
            <a:ext cx="2651760" cy="822960"/>
          </a:xfrm>
          <a:prstGeom prst="rect">
            <a:avLst/>
          </a:prstGeom>
          <a:noFill/>
        </p:spPr>
        <p:txBody>
          <a:bodyPr wrap="square" lIns="45720" rIns="45720" tIns="27432" bIns="27432" anchor="ctr">
            <a:noAutofit/>
          </a:bodyPr>
          <a:lstStyle/>
          <a:p>
            <a:pPr algn="l">
              <a:lnSpc>
                <a:spcPct val="100000"/>
              </a:lnSpc>
            </a:pPr>
            <a:r>
              <a:rPr sz="1600" b="0" i="0">
                <a:solidFill>
                  <a:srgbClr val="F7F2E8"/>
                </a:solidFill>
                <a:latin typeface="Segoe UI Semibold"/>
              </a:rPr>
              <a:t>Override</a:t>
            </a:r>
          </a:p>
        </p:txBody>
      </p:sp>
      <p:sp>
        <p:nvSpPr>
          <p:cNvPr id="23" name="TextBox 22"/>
          <p:cNvSpPr txBox="1"/>
          <p:nvPr/>
        </p:nvSpPr>
        <p:spPr>
          <a:xfrm>
            <a:off x="3767328" y="5321807"/>
            <a:ext cx="7720279" cy="822960"/>
          </a:xfrm>
          <a:prstGeom prst="rect">
            <a:avLst/>
          </a:prstGeom>
          <a:noFill/>
        </p:spPr>
        <p:txBody>
          <a:bodyPr wrap="square" lIns="45720" rIns="45720" tIns="27432" bIns="27432" anchor="ctr">
            <a:noAutofit/>
          </a:bodyPr>
          <a:lstStyle/>
          <a:p>
            <a:pPr algn="l">
              <a:lnSpc>
                <a:spcPct val="100000"/>
              </a:lnSpc>
            </a:pPr>
            <a:r>
              <a:rPr sz="1400" b="0" i="0">
                <a:solidFill>
                  <a:srgbClr val="A7B2B0"/>
                </a:solidFill>
                <a:latin typeface="Segoe UI"/>
              </a:rPr>
              <a:t>TLAMATINI_VERSION documenta un release antes de su tag.</a:t>
            </a:r>
          </a:p>
        </p:txBody>
      </p:sp>
      <p:cxnSp>
        <p:nvCxnSpPr>
          <p:cNvPr id="24" name="Connector 23"/>
          <p:cNvCxnSpPr/>
          <p:nvPr/>
        </p:nvCxnSpPr>
        <p:spPr>
          <a:xfrm>
            <a:off x="566928" y="6373368"/>
            <a:ext cx="11057839" cy="0"/>
          </a:xfrm>
          <a:prstGeom prst="line">
            <a:avLst/>
          </a:prstGeom>
          <a:ln w="7620">
            <a:solidFill>
              <a:srgbClr val="2A3A40"/>
            </a:solidFill>
          </a:ln>
        </p:spPr>
        <p:style>
          <a:lnRef idx="2">
            <a:schemeClr val="accent1"/>
          </a:lnRef>
          <a:fillRef idx="0">
            <a:schemeClr val="accent1"/>
          </a:fillRef>
          <a:effectRef idx="1">
            <a:schemeClr val="accent1"/>
          </a:effectRef>
          <a:fontRef idx="minor">
            <a:schemeClr val="tx1"/>
          </a:fontRef>
        </p:style>
      </p:cxnSp>
      <p:sp>
        <p:nvSpPr>
          <p:cNvPr id="25" name="TextBox 24"/>
          <p:cNvSpPr txBox="1"/>
          <p:nvPr/>
        </p:nvSpPr>
        <p:spPr>
          <a:xfrm>
            <a:off x="566928" y="6419088"/>
            <a:ext cx="6858000" cy="274320"/>
          </a:xfrm>
          <a:prstGeom prst="rect">
            <a:avLst/>
          </a:prstGeom>
          <a:noFill/>
        </p:spPr>
        <p:txBody>
          <a:bodyPr wrap="square" lIns="45720" rIns="45720" tIns="27432" bIns="27432" anchor="t">
            <a:noAutofit/>
          </a:bodyPr>
          <a:lstStyle/>
          <a:p>
            <a:pPr algn="l">
              <a:lnSpc>
                <a:spcPct val="100000"/>
              </a:lnSpc>
            </a:pPr>
            <a:r>
              <a:rPr sz="850" b="0" i="0" spc="120">
                <a:solidFill>
                  <a:srgbClr val="A7B2B0"/>
                </a:solidFill>
                <a:latin typeface="Segoe UI Semibold"/>
              </a:rPr>
              <a:t>TLAMATINI  ·  VII · INSTALAR, CONFIGURAR, EJECUTAR</a:t>
            </a:r>
          </a:p>
        </p:txBody>
      </p:sp>
      <p:sp>
        <p:nvSpPr>
          <p:cNvPr id="26" name="TextBox 25"/>
          <p:cNvSpPr txBox="1"/>
          <p:nvPr/>
        </p:nvSpPr>
        <p:spPr>
          <a:xfrm>
            <a:off x="8698687" y="6419088"/>
            <a:ext cx="2926080" cy="274320"/>
          </a:xfrm>
          <a:prstGeom prst="rect">
            <a:avLst/>
          </a:prstGeom>
          <a:noFill/>
        </p:spPr>
        <p:txBody>
          <a:bodyPr wrap="square" lIns="45720" rIns="45720" tIns="27432" bIns="27432" anchor="t">
            <a:noAutofit/>
          </a:bodyPr>
          <a:lstStyle/>
          <a:p>
            <a:pPr algn="r">
              <a:lnSpc>
                <a:spcPct val="100000"/>
              </a:lnSpc>
            </a:pPr>
            <a:r>
              <a:rPr sz="850" b="0" i="0" spc="100">
                <a:solidFill>
                  <a:srgbClr val="A7B2B0"/>
                </a:solidFill>
                <a:latin typeface="Segoe UI Semibold"/>
              </a:rPr>
              <a:t>v1.91.1   ·   118</a:t>
            </a:r>
          </a:p>
        </p:txBody>
      </p:sp>
    </p:spTree>
  </p:cSld>
  <p:clrMapOvr>
    <a:masterClrMapping/>
  </p:clrMapOvr>
</p:sld>
</file>

<file path=ppt/slides/slide1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divider.png"/>
          <p:cNvPicPr>
            <a:picLocks noChangeAspect="1"/>
          </p:cNvPicPr>
          <p:nvPr/>
        </p:nvPicPr>
        <p:blipFill>
          <a:blip r:embed="rId2"/>
          <a:stretch>
            <a:fillRect/>
          </a:stretch>
        </p:blipFill>
        <p:spPr>
          <a:xfrm>
            <a:off x="0" y="0"/>
            <a:ext cx="12191695" cy="6858000"/>
          </a:xfrm>
          <a:prstGeom prst="rect">
            <a:avLst/>
          </a:prstGeom>
        </p:spPr>
      </p:pic>
      <p:sp>
        <p:nvSpPr>
          <p:cNvPr id="3" name="TextBox 2"/>
          <p:cNvSpPr txBox="1"/>
          <p:nvPr/>
        </p:nvSpPr>
        <p:spPr>
          <a:xfrm>
            <a:off x="822960" y="868680"/>
            <a:ext cx="4572000" cy="365760"/>
          </a:xfrm>
          <a:prstGeom prst="rect">
            <a:avLst/>
          </a:prstGeom>
          <a:noFill/>
        </p:spPr>
        <p:txBody>
          <a:bodyPr wrap="square" lIns="45720" rIns="45720" tIns="27432" bIns="27432" anchor="t">
            <a:noAutofit/>
          </a:bodyPr>
          <a:lstStyle/>
          <a:p>
            <a:pPr algn="l">
              <a:lnSpc>
                <a:spcPct val="100000"/>
              </a:lnSpc>
            </a:pPr>
            <a:r>
              <a:rPr sz="1300" b="0" i="0" spc="340">
                <a:solidFill>
                  <a:srgbClr val="E2B462"/>
                </a:solidFill>
                <a:latin typeface="Segoe UI Semibold"/>
              </a:rPr>
              <a:t>CHAPTER</a:t>
            </a:r>
          </a:p>
        </p:txBody>
      </p:sp>
      <p:sp>
        <p:nvSpPr>
          <p:cNvPr id="4" name="TextBox 3"/>
          <p:cNvSpPr txBox="1"/>
          <p:nvPr/>
        </p:nvSpPr>
        <p:spPr>
          <a:xfrm>
            <a:off x="749808" y="1261872"/>
            <a:ext cx="5029200" cy="1691640"/>
          </a:xfrm>
          <a:prstGeom prst="rect">
            <a:avLst/>
          </a:prstGeom>
          <a:noFill/>
        </p:spPr>
        <p:txBody>
          <a:bodyPr wrap="square" lIns="45720" rIns="45720" tIns="27432" bIns="27432" anchor="t">
            <a:noAutofit/>
          </a:bodyPr>
          <a:lstStyle/>
          <a:p>
            <a:pPr algn="l">
              <a:lnSpc>
                <a:spcPct val="100000"/>
              </a:lnSpc>
            </a:pPr>
            <a:r>
              <a:rPr sz="10550" b="0" i="0">
                <a:solidFill>
                  <a:srgbClr val="C98457"/>
                </a:solidFill>
                <a:latin typeface="Palatino Linotype"/>
              </a:rPr>
              <a:t>VIII</a:t>
            </a:r>
          </a:p>
        </p:txBody>
      </p:sp>
      <p:sp>
        <p:nvSpPr>
          <p:cNvPr id="5" name="TextBox 4"/>
          <p:cNvSpPr txBox="1"/>
          <p:nvPr/>
        </p:nvSpPr>
        <p:spPr>
          <a:xfrm>
            <a:off x="822960" y="2971800"/>
            <a:ext cx="6766560" cy="1280160"/>
          </a:xfrm>
          <a:prstGeom prst="rect">
            <a:avLst/>
          </a:prstGeom>
          <a:noFill/>
        </p:spPr>
        <p:txBody>
          <a:bodyPr wrap="square" lIns="45720" rIns="45720" tIns="27432" bIns="27432" anchor="t">
            <a:noAutofit/>
          </a:bodyPr>
          <a:lstStyle/>
          <a:p>
            <a:pPr algn="l">
              <a:lnSpc>
                <a:spcPct val="100000"/>
              </a:lnSpc>
            </a:pPr>
            <a:r>
              <a:rPr sz="4600" b="0" i="0">
                <a:solidFill>
                  <a:srgbClr val="F7F2E8"/>
                </a:solidFill>
                <a:latin typeface="Palatino Linotype"/>
              </a:rPr>
              <a:t>Release actual</a:t>
            </a:r>
          </a:p>
        </p:txBody>
      </p:sp>
      <p:sp>
        <p:nvSpPr>
          <p:cNvPr id="6" name="Rectangle 5"/>
          <p:cNvSpPr/>
          <p:nvPr/>
        </p:nvSpPr>
        <p:spPr>
          <a:xfrm>
            <a:off x="841248" y="4315968"/>
            <a:ext cx="1005840" cy="45720"/>
          </a:xfrm>
          <a:prstGeom prst="rect">
            <a:avLst/>
          </a:prstGeom>
          <a:solidFill>
            <a:srgbClr val="E2B4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822960" y="4443984"/>
            <a:ext cx="6400800" cy="731520"/>
          </a:xfrm>
          <a:prstGeom prst="rect">
            <a:avLst/>
          </a:prstGeom>
          <a:noFill/>
        </p:spPr>
        <p:txBody>
          <a:bodyPr wrap="square" lIns="45720" rIns="45720" tIns="27432" bIns="27432" anchor="t">
            <a:noAutofit/>
          </a:bodyPr>
          <a:lstStyle/>
          <a:p>
            <a:pPr algn="l">
              <a:lnSpc>
                <a:spcPct val="100000"/>
              </a:lnSpc>
            </a:pPr>
            <a:r>
              <a:rPr sz="1800" b="0" i="0">
                <a:solidFill>
                  <a:srgbClr val="ECE7DC"/>
                </a:solidFill>
                <a:latin typeface="Segoe UI Light"/>
              </a:rPr>
              <a:t>Release del source v1.91.1; la entrega del paquete y la aceptación en runtime necesitan evidencia aparte.</a:t>
            </a:r>
          </a:p>
        </p:txBody>
      </p:sp>
      <p:cxnSp>
        <p:nvCxnSpPr>
          <p:cNvPr id="8" name="Connector 7"/>
          <p:cNvCxnSpPr/>
          <p:nvPr/>
        </p:nvCxnSpPr>
        <p:spPr>
          <a:xfrm>
            <a:off x="566928" y="6373368"/>
            <a:ext cx="11057839" cy="0"/>
          </a:xfrm>
          <a:prstGeom prst="line">
            <a:avLst/>
          </a:prstGeom>
          <a:ln w="7620">
            <a:solidFill>
              <a:srgbClr val="2A3A40"/>
            </a:solidFill>
          </a:ln>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566928" y="6419088"/>
            <a:ext cx="6858000" cy="274320"/>
          </a:xfrm>
          <a:prstGeom prst="rect">
            <a:avLst/>
          </a:prstGeom>
          <a:noFill/>
        </p:spPr>
        <p:txBody>
          <a:bodyPr wrap="square" lIns="45720" rIns="45720" tIns="27432" bIns="27432" anchor="t">
            <a:noAutofit/>
          </a:bodyPr>
          <a:lstStyle/>
          <a:p>
            <a:pPr algn="l">
              <a:lnSpc>
                <a:spcPct val="100000"/>
              </a:lnSpc>
            </a:pPr>
            <a:r>
              <a:rPr sz="850" b="0" i="0" spc="120">
                <a:solidFill>
                  <a:srgbClr val="A7B2B0"/>
                </a:solidFill>
                <a:latin typeface="Segoe UI Semibold"/>
              </a:rPr>
              <a:t>TLAMATINI  ·  CAPÍTULO VIII</a:t>
            </a:r>
          </a:p>
        </p:txBody>
      </p:sp>
      <p:sp>
        <p:nvSpPr>
          <p:cNvPr id="10" name="TextBox 9"/>
          <p:cNvSpPr txBox="1"/>
          <p:nvPr/>
        </p:nvSpPr>
        <p:spPr>
          <a:xfrm>
            <a:off x="8698687" y="6419088"/>
            <a:ext cx="2926080" cy="274320"/>
          </a:xfrm>
          <a:prstGeom prst="rect">
            <a:avLst/>
          </a:prstGeom>
          <a:noFill/>
        </p:spPr>
        <p:txBody>
          <a:bodyPr wrap="square" lIns="45720" rIns="45720" tIns="27432" bIns="27432" anchor="t">
            <a:noAutofit/>
          </a:bodyPr>
          <a:lstStyle/>
          <a:p>
            <a:pPr algn="r">
              <a:lnSpc>
                <a:spcPct val="100000"/>
              </a:lnSpc>
            </a:pPr>
            <a:r>
              <a:rPr sz="850" b="0" i="0" spc="100">
                <a:solidFill>
                  <a:srgbClr val="A7B2B0"/>
                </a:solidFill>
                <a:latin typeface="Segoe UI Semibold"/>
              </a:rPr>
              <a:t>v1.91.1   ·   119</a:t>
            </a:r>
          </a:p>
        </p:txBody>
      </p:sp>
    </p:spTree>
  </p:cSld>
  <p:clrMapOvr>
    <a:masterClrMapping/>
  </p:clrMapOvr>
</p:sld>
</file>

<file path=ppt/slides/slide1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content.png"/>
          <p:cNvPicPr>
            <a:picLocks noChangeAspect="1"/>
          </p:cNvPicPr>
          <p:nvPr/>
        </p:nvPicPr>
        <p:blipFill>
          <a:blip r:embed="rId2"/>
          <a:stretch>
            <a:fillRect/>
          </a:stretch>
        </p:blipFill>
        <p:spPr>
          <a:xfrm>
            <a:off x="0" y="0"/>
            <a:ext cx="12191695" cy="6858000"/>
          </a:xfrm>
          <a:prstGeom prst="rect">
            <a:avLst/>
          </a:prstGeom>
        </p:spPr>
      </p:pic>
      <p:sp>
        <p:nvSpPr>
          <p:cNvPr id="3" name="Diamond 2"/>
          <p:cNvSpPr/>
          <p:nvPr/>
        </p:nvSpPr>
        <p:spPr>
          <a:xfrm>
            <a:off x="566928" y="457200"/>
            <a:ext cx="100584" cy="100584"/>
          </a:xfrm>
          <a:prstGeom prst="diamond">
            <a:avLst/>
          </a:prstGeom>
          <a:solidFill>
            <a:srgbClr val="E2B4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49808" y="365760"/>
            <a:ext cx="8229600" cy="292608"/>
          </a:xfrm>
          <a:prstGeom prst="rect">
            <a:avLst/>
          </a:prstGeom>
          <a:noFill/>
        </p:spPr>
        <p:txBody>
          <a:bodyPr wrap="square" lIns="45720" rIns="45720" tIns="27432" bIns="27432" anchor="t">
            <a:noAutofit/>
          </a:bodyPr>
          <a:lstStyle/>
          <a:p>
            <a:pPr algn="l">
              <a:lnSpc>
                <a:spcPct val="100000"/>
              </a:lnSpc>
            </a:pPr>
            <a:r>
              <a:rPr sz="1100" b="0" i="0" spc="240">
                <a:solidFill>
                  <a:srgbClr val="C98457"/>
                </a:solidFill>
                <a:latin typeface="Segoe UI Semibold"/>
              </a:rPr>
              <a:t>VERSIÓN ACTUAL · v1.91.1</a:t>
            </a:r>
          </a:p>
        </p:txBody>
      </p:sp>
      <p:sp>
        <p:nvSpPr>
          <p:cNvPr id="5" name="TextBox 4"/>
          <p:cNvSpPr txBox="1"/>
          <p:nvPr/>
        </p:nvSpPr>
        <p:spPr>
          <a:xfrm>
            <a:off x="539496" y="676656"/>
            <a:ext cx="11057839" cy="658368"/>
          </a:xfrm>
          <a:prstGeom prst="rect">
            <a:avLst/>
          </a:prstGeom>
          <a:noFill/>
        </p:spPr>
        <p:txBody>
          <a:bodyPr wrap="square" lIns="45720" rIns="45720" tIns="27432" bIns="27432" anchor="t">
            <a:noAutofit/>
          </a:bodyPr>
          <a:lstStyle/>
          <a:p>
            <a:pPr algn="l">
              <a:lnSpc>
                <a:spcPct val="100000"/>
              </a:lnSpc>
            </a:pPr>
            <a:r>
              <a:rPr sz="3100" b="0" i="0">
                <a:solidFill>
                  <a:srgbClr val="F7F2E8"/>
                </a:solidFill>
                <a:latin typeface="Palatino Linotype"/>
              </a:rPr>
              <a:t>Arreglos del Prompt Flow y nombres cortos de tools</a:t>
            </a:r>
          </a:p>
        </p:txBody>
      </p:sp>
      <p:sp>
        <p:nvSpPr>
          <p:cNvPr id="6" name="Rectangle 5"/>
          <p:cNvSpPr/>
          <p:nvPr/>
        </p:nvSpPr>
        <p:spPr>
          <a:xfrm>
            <a:off x="566928" y="1344168"/>
            <a:ext cx="822960" cy="36576"/>
          </a:xfrm>
          <a:prstGeom prst="rect">
            <a:avLst/>
          </a:prstGeom>
          <a:solidFill>
            <a:srgbClr val="E2B4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566928" y="1444752"/>
            <a:ext cx="10692079" cy="585216"/>
          </a:xfrm>
          <a:prstGeom prst="rect">
            <a:avLst/>
          </a:prstGeom>
          <a:noFill/>
        </p:spPr>
        <p:txBody>
          <a:bodyPr wrap="square" lIns="45720" rIns="45720" tIns="27432" bIns="27432" anchor="t">
            <a:noAutofit/>
          </a:bodyPr>
          <a:lstStyle/>
          <a:p>
            <a:pPr algn="l">
              <a:lnSpc>
                <a:spcPct val="100000"/>
              </a:lnSpc>
            </a:pPr>
            <a:r>
              <a:rPr sz="1450" b="0" i="0">
                <a:solidFill>
                  <a:srgbClr val="A7B2B0"/>
                </a:solidFill>
                <a:latin typeface="Segoe UI Semilight"/>
              </a:rPr>
              <a:t>Tag 9915938a, con fecha del 27 de octubre de 2026; publicado como el release Latest.</a:t>
            </a:r>
          </a:p>
        </p:txBody>
      </p:sp>
      <p:sp>
        <p:nvSpPr>
          <p:cNvPr id="8" name="Rounded Rectangle 7"/>
          <p:cNvSpPr/>
          <p:nvPr/>
        </p:nvSpPr>
        <p:spPr>
          <a:xfrm>
            <a:off x="566928" y="2084831"/>
            <a:ext cx="5428335" cy="1956816"/>
          </a:xfrm>
          <a:prstGeom prst="roundRect">
            <a:avLst>
              <a:gd name="adj" fmla="val 5607"/>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ectangle 8"/>
          <p:cNvSpPr/>
          <p:nvPr/>
        </p:nvSpPr>
        <p:spPr>
          <a:xfrm>
            <a:off x="731520" y="2212848"/>
            <a:ext cx="502920" cy="45720"/>
          </a:xfrm>
          <a:prstGeom prst="rect">
            <a:avLst/>
          </a:prstGeom>
          <a:solidFill>
            <a:srgbClr val="3BBE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694944" y="2304287"/>
            <a:ext cx="5172303" cy="353568"/>
          </a:xfrm>
          <a:prstGeom prst="rect">
            <a:avLst/>
          </a:prstGeom>
          <a:noFill/>
        </p:spPr>
        <p:txBody>
          <a:bodyPr wrap="square" lIns="45720" rIns="45720" tIns="27432" bIns="27432" anchor="t">
            <a:noAutofit/>
          </a:bodyPr>
          <a:lstStyle/>
          <a:p>
            <a:pPr algn="l">
              <a:lnSpc>
                <a:spcPct val="100000"/>
              </a:lnSpc>
            </a:pPr>
            <a:r>
              <a:rPr sz="1600" b="0" i="0">
                <a:solidFill>
                  <a:srgbClr val="F7F2E8"/>
                </a:solidFill>
                <a:latin typeface="Segoe UI Semibold"/>
              </a:rPr>
              <a:t>Historial</a:t>
            </a:r>
          </a:p>
        </p:txBody>
      </p:sp>
      <p:sp>
        <p:nvSpPr>
          <p:cNvPr id="11" name="TextBox 10"/>
          <p:cNvSpPr txBox="1"/>
          <p:nvPr/>
        </p:nvSpPr>
        <p:spPr>
          <a:xfrm>
            <a:off x="694944" y="2657855"/>
            <a:ext cx="5172303" cy="1292352"/>
          </a:xfrm>
          <a:prstGeom prst="rect">
            <a:avLst/>
          </a:prstGeom>
          <a:noFill/>
        </p:spPr>
        <p:txBody>
          <a:bodyPr wrap="square" lIns="45720" rIns="45720" tIns="27432" bIns="27432" anchor="t">
            <a:noAutofit/>
          </a:bodyPr>
          <a:lstStyle/>
          <a:p>
            <a:pPr algn="l">
              <a:lnSpc>
                <a:spcPct val="100000"/>
              </a:lnSpc>
            </a:pPr>
            <a:r>
              <a:rPr sz="1300" b="0" i="0">
                <a:solidFill>
                  <a:srgbClr val="A7B2B0"/>
                </a:solidFill>
                <a:latin typeface="Segoe UI"/>
              </a:rPr>
              <a:t>Cada ejecución y cada usuario leen sólo su propia conversación.</a:t>
            </a:r>
          </a:p>
        </p:txBody>
      </p:sp>
      <p:sp>
        <p:nvSpPr>
          <p:cNvPr id="12" name="Rounded Rectangle 11"/>
          <p:cNvSpPr/>
          <p:nvPr/>
        </p:nvSpPr>
        <p:spPr>
          <a:xfrm>
            <a:off x="6196431" y="2084831"/>
            <a:ext cx="5428335" cy="1956816"/>
          </a:xfrm>
          <a:prstGeom prst="roundRect">
            <a:avLst>
              <a:gd name="adj" fmla="val 5607"/>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6361023" y="2212848"/>
            <a:ext cx="502920" cy="45720"/>
          </a:xfrm>
          <a:prstGeom prst="rect">
            <a:avLst/>
          </a:prstGeom>
          <a:solidFill>
            <a:srgbClr val="C984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324447" y="2304287"/>
            <a:ext cx="5172303" cy="353568"/>
          </a:xfrm>
          <a:prstGeom prst="rect">
            <a:avLst/>
          </a:prstGeom>
          <a:noFill/>
        </p:spPr>
        <p:txBody>
          <a:bodyPr wrap="square" lIns="45720" rIns="45720" tIns="27432" bIns="27432" anchor="t">
            <a:noAutofit/>
          </a:bodyPr>
          <a:lstStyle/>
          <a:p>
            <a:pPr algn="l">
              <a:lnSpc>
                <a:spcPct val="100000"/>
              </a:lnSpc>
            </a:pPr>
            <a:r>
              <a:rPr sz="1600" b="0" i="0">
                <a:solidFill>
                  <a:srgbClr val="F7F2E8"/>
                </a:solidFill>
                <a:latin typeface="Segoe UI Semibold"/>
              </a:rPr>
              <a:t>Decisiones</a:t>
            </a:r>
          </a:p>
        </p:txBody>
      </p:sp>
      <p:sp>
        <p:nvSpPr>
          <p:cNvPr id="15" name="TextBox 14"/>
          <p:cNvSpPr txBox="1"/>
          <p:nvPr/>
        </p:nvSpPr>
        <p:spPr>
          <a:xfrm>
            <a:off x="6324447" y="2657855"/>
            <a:ext cx="5172303" cy="1292352"/>
          </a:xfrm>
          <a:prstGeom prst="rect">
            <a:avLst/>
          </a:prstGeom>
          <a:noFill/>
        </p:spPr>
        <p:txBody>
          <a:bodyPr wrap="square" lIns="45720" rIns="45720" tIns="27432" bIns="27432" anchor="t">
            <a:noAutofit/>
          </a:bodyPr>
          <a:lstStyle/>
          <a:p>
            <a:pPr algn="l">
              <a:lnSpc>
                <a:spcPct val="100000"/>
              </a:lnSpc>
            </a:pPr>
            <a:r>
              <a:rPr sz="1300" b="0" i="0">
                <a:solidFill>
                  <a:srgbClr val="A7B2B0"/>
                </a:solidFill>
                <a:latin typeface="Segoe UI"/>
              </a:rPr>
              <a:t>'## YES - ...' es igual a YES; 'Yesterday' no.</a:t>
            </a:r>
          </a:p>
        </p:txBody>
      </p:sp>
      <p:sp>
        <p:nvSpPr>
          <p:cNvPr id="16" name="Rounded Rectangle 15"/>
          <p:cNvSpPr/>
          <p:nvPr/>
        </p:nvSpPr>
        <p:spPr>
          <a:xfrm>
            <a:off x="566928" y="4242816"/>
            <a:ext cx="5428335" cy="1956816"/>
          </a:xfrm>
          <a:prstGeom prst="roundRect">
            <a:avLst>
              <a:gd name="adj" fmla="val 5607"/>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31520" y="4370832"/>
            <a:ext cx="502920" cy="45720"/>
          </a:xfrm>
          <a:prstGeom prst="rect">
            <a:avLst/>
          </a:prstGeom>
          <a:solidFill>
            <a:srgbClr val="E2B4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694944" y="4462272"/>
            <a:ext cx="5172303" cy="353568"/>
          </a:xfrm>
          <a:prstGeom prst="rect">
            <a:avLst/>
          </a:prstGeom>
          <a:noFill/>
        </p:spPr>
        <p:txBody>
          <a:bodyPr wrap="square" lIns="45720" rIns="45720" tIns="27432" bIns="27432" anchor="t">
            <a:noAutofit/>
          </a:bodyPr>
          <a:lstStyle/>
          <a:p>
            <a:pPr algn="l">
              <a:lnSpc>
                <a:spcPct val="100000"/>
              </a:lnSpc>
            </a:pPr>
            <a:r>
              <a:rPr sz="1600" b="0" i="0">
                <a:solidFill>
                  <a:srgbClr val="F7F2E8"/>
                </a:solidFill>
                <a:latin typeface="Segoe UI Semibold"/>
              </a:rPr>
              <a:t>Enrutamiento</a:t>
            </a:r>
          </a:p>
        </p:txBody>
      </p:sp>
      <p:sp>
        <p:nvSpPr>
          <p:cNvPr id="19" name="TextBox 18"/>
          <p:cNvSpPr txBox="1"/>
          <p:nvPr/>
        </p:nvSpPr>
        <p:spPr>
          <a:xfrm>
            <a:off x="694944" y="4815840"/>
            <a:ext cx="5172303" cy="1292352"/>
          </a:xfrm>
          <a:prstGeom prst="rect">
            <a:avLst/>
          </a:prstGeom>
          <a:noFill/>
        </p:spPr>
        <p:txBody>
          <a:bodyPr wrap="square" lIns="45720" rIns="45720" tIns="27432" bIns="27432" anchor="t">
            <a:noAutofit/>
          </a:bodyPr>
          <a:lstStyle/>
          <a:p>
            <a:pPr algn="l">
              <a:lnSpc>
                <a:spcPct val="100000"/>
              </a:lnSpc>
            </a:pPr>
            <a:r>
              <a:rPr sz="1300" b="0" i="0">
                <a:solidFill>
                  <a:srgbClr val="A7B2B0"/>
                </a:solidFill>
                <a:latin typeface="Segoe UI"/>
              </a:rPr>
              <a:t>'Using the bot' envía como el bot; los nombres cortos de tools siguen funcionando.</a:t>
            </a:r>
          </a:p>
        </p:txBody>
      </p:sp>
      <p:sp>
        <p:nvSpPr>
          <p:cNvPr id="20" name="Rounded Rectangle 19"/>
          <p:cNvSpPr/>
          <p:nvPr/>
        </p:nvSpPr>
        <p:spPr>
          <a:xfrm>
            <a:off x="6196431" y="4242816"/>
            <a:ext cx="5428335" cy="1956816"/>
          </a:xfrm>
          <a:prstGeom prst="roundRect">
            <a:avLst>
              <a:gd name="adj" fmla="val 5607"/>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ectangle 20"/>
          <p:cNvSpPr/>
          <p:nvPr/>
        </p:nvSpPr>
        <p:spPr>
          <a:xfrm>
            <a:off x="6361023" y="4370832"/>
            <a:ext cx="502920" cy="45720"/>
          </a:xfrm>
          <a:prstGeom prst="rect">
            <a:avLst/>
          </a:prstGeom>
          <a:solidFill>
            <a:srgbClr val="46D2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6324447" y="4462272"/>
            <a:ext cx="5172303" cy="353568"/>
          </a:xfrm>
          <a:prstGeom prst="rect">
            <a:avLst/>
          </a:prstGeom>
          <a:noFill/>
        </p:spPr>
        <p:txBody>
          <a:bodyPr wrap="square" lIns="45720" rIns="45720" tIns="27432" bIns="27432" anchor="t">
            <a:noAutofit/>
          </a:bodyPr>
          <a:lstStyle/>
          <a:p>
            <a:pPr algn="l">
              <a:lnSpc>
                <a:spcPct val="100000"/>
              </a:lnSpc>
            </a:pPr>
            <a:r>
              <a:rPr sz="1600" b="0" i="0">
                <a:solidFill>
                  <a:srgbClr val="F7F2E8"/>
                </a:solidFill>
                <a:latin typeface="Segoe UI Semibold"/>
              </a:rPr>
              <a:t>Inventario</a:t>
            </a:r>
          </a:p>
        </p:txBody>
      </p:sp>
      <p:sp>
        <p:nvSpPr>
          <p:cNvPr id="23" name="TextBox 22"/>
          <p:cNvSpPr txBox="1"/>
          <p:nvPr/>
        </p:nvSpPr>
        <p:spPr>
          <a:xfrm>
            <a:off x="6324447" y="4815840"/>
            <a:ext cx="5172303" cy="1292352"/>
          </a:xfrm>
          <a:prstGeom prst="rect">
            <a:avLst/>
          </a:prstGeom>
          <a:noFill/>
        </p:spPr>
        <p:txBody>
          <a:bodyPr wrap="square" lIns="45720" rIns="45720" tIns="27432" bIns="27432" anchor="t">
            <a:noAutofit/>
          </a:bodyPr>
          <a:lstStyle/>
          <a:p>
            <a:pPr algn="l">
              <a:lnSpc>
                <a:spcPct val="100000"/>
              </a:lnSpc>
            </a:pPr>
            <a:r>
              <a:rPr sz="1300" b="0" i="0">
                <a:solidFill>
                  <a:srgbClr val="A7B2B0"/>
                </a:solidFill>
                <a:latin typeface="Segoe UI"/>
              </a:rPr>
              <a:t>86 agents; 110 tools; 220 migraciones; 64 módulos JS; 29 hojas de estilo.</a:t>
            </a:r>
          </a:p>
        </p:txBody>
      </p:sp>
      <p:cxnSp>
        <p:nvCxnSpPr>
          <p:cNvPr id="24" name="Connector 23"/>
          <p:cNvCxnSpPr/>
          <p:nvPr/>
        </p:nvCxnSpPr>
        <p:spPr>
          <a:xfrm>
            <a:off x="566928" y="6373368"/>
            <a:ext cx="11057839" cy="0"/>
          </a:xfrm>
          <a:prstGeom prst="line">
            <a:avLst/>
          </a:prstGeom>
          <a:ln w="7620">
            <a:solidFill>
              <a:srgbClr val="2A3A40"/>
            </a:solidFill>
          </a:ln>
        </p:spPr>
        <p:style>
          <a:lnRef idx="2">
            <a:schemeClr val="accent1"/>
          </a:lnRef>
          <a:fillRef idx="0">
            <a:schemeClr val="accent1"/>
          </a:fillRef>
          <a:effectRef idx="1">
            <a:schemeClr val="accent1"/>
          </a:effectRef>
          <a:fontRef idx="minor">
            <a:schemeClr val="tx1"/>
          </a:fontRef>
        </p:style>
      </p:cxnSp>
      <p:sp>
        <p:nvSpPr>
          <p:cNvPr id="25" name="TextBox 24"/>
          <p:cNvSpPr txBox="1"/>
          <p:nvPr/>
        </p:nvSpPr>
        <p:spPr>
          <a:xfrm>
            <a:off x="566928" y="6419088"/>
            <a:ext cx="6858000" cy="274320"/>
          </a:xfrm>
          <a:prstGeom prst="rect">
            <a:avLst/>
          </a:prstGeom>
          <a:noFill/>
        </p:spPr>
        <p:txBody>
          <a:bodyPr wrap="square" lIns="45720" rIns="45720" tIns="27432" bIns="27432" anchor="t">
            <a:noAutofit/>
          </a:bodyPr>
          <a:lstStyle/>
          <a:p>
            <a:pPr algn="l">
              <a:lnSpc>
                <a:spcPct val="100000"/>
              </a:lnSpc>
            </a:pPr>
            <a:r>
              <a:rPr sz="850" b="0" i="0" spc="120">
                <a:solidFill>
                  <a:srgbClr val="A7B2B0"/>
                </a:solidFill>
                <a:latin typeface="Segoe UI Semibold"/>
              </a:rPr>
              <a:t>TLAMATINI  ·  VIII · RELEASE ACTUAL</a:t>
            </a:r>
          </a:p>
        </p:txBody>
      </p:sp>
      <p:sp>
        <p:nvSpPr>
          <p:cNvPr id="26" name="TextBox 25"/>
          <p:cNvSpPr txBox="1"/>
          <p:nvPr/>
        </p:nvSpPr>
        <p:spPr>
          <a:xfrm>
            <a:off x="8698687" y="6419088"/>
            <a:ext cx="2926080" cy="274320"/>
          </a:xfrm>
          <a:prstGeom prst="rect">
            <a:avLst/>
          </a:prstGeom>
          <a:noFill/>
        </p:spPr>
        <p:txBody>
          <a:bodyPr wrap="square" lIns="45720" rIns="45720" tIns="27432" bIns="27432" anchor="t">
            <a:noAutofit/>
          </a:bodyPr>
          <a:lstStyle/>
          <a:p>
            <a:pPr algn="r">
              <a:lnSpc>
                <a:spcPct val="100000"/>
              </a:lnSpc>
            </a:pPr>
            <a:r>
              <a:rPr sz="850" b="0" i="0" spc="100">
                <a:solidFill>
                  <a:srgbClr val="A7B2B0"/>
                </a:solidFill>
                <a:latin typeface="Segoe UI Semibold"/>
              </a:rPr>
              <a:t>v1.91.1   ·   120</a:t>
            </a:r>
          </a:p>
        </p:txBody>
      </p:sp>
    </p:spTree>
  </p:cSld>
  <p:clrMapOvr>
    <a:masterClrMapping/>
  </p:clrMapOvr>
</p:sld>
</file>

<file path=ppt/slides/slide1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content.png"/>
          <p:cNvPicPr>
            <a:picLocks noChangeAspect="1"/>
          </p:cNvPicPr>
          <p:nvPr/>
        </p:nvPicPr>
        <p:blipFill>
          <a:blip r:embed="rId2"/>
          <a:stretch>
            <a:fillRect/>
          </a:stretch>
        </p:blipFill>
        <p:spPr>
          <a:xfrm>
            <a:off x="0" y="0"/>
            <a:ext cx="12191695" cy="6858000"/>
          </a:xfrm>
          <a:prstGeom prst="rect">
            <a:avLst/>
          </a:prstGeom>
        </p:spPr>
      </p:pic>
      <p:sp>
        <p:nvSpPr>
          <p:cNvPr id="3" name="Diamond 2"/>
          <p:cNvSpPr/>
          <p:nvPr/>
        </p:nvSpPr>
        <p:spPr>
          <a:xfrm>
            <a:off x="566928" y="457200"/>
            <a:ext cx="100584" cy="100584"/>
          </a:xfrm>
          <a:prstGeom prst="diamond">
            <a:avLst/>
          </a:prstGeom>
          <a:solidFill>
            <a:srgbClr val="E2B4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49808" y="365760"/>
            <a:ext cx="8229600" cy="292608"/>
          </a:xfrm>
          <a:prstGeom prst="rect">
            <a:avLst/>
          </a:prstGeom>
          <a:noFill/>
        </p:spPr>
        <p:txBody>
          <a:bodyPr wrap="square" lIns="45720" rIns="45720" tIns="27432" bIns="27432" anchor="t">
            <a:noAutofit/>
          </a:bodyPr>
          <a:lstStyle/>
          <a:p>
            <a:pPr algn="l">
              <a:lnSpc>
                <a:spcPct val="100000"/>
              </a:lnSpc>
            </a:pPr>
            <a:r>
              <a:rPr sz="1100" b="0" i="0" spc="240">
                <a:solidFill>
                  <a:srgbClr val="C98457"/>
                </a:solidFill>
                <a:latin typeface="Segoe UI Semibold"/>
              </a:rPr>
              <a:t>HEREDADO DE v1.91.0</a:t>
            </a:r>
          </a:p>
        </p:txBody>
      </p:sp>
      <p:sp>
        <p:nvSpPr>
          <p:cNvPr id="5" name="TextBox 4"/>
          <p:cNvSpPr txBox="1"/>
          <p:nvPr/>
        </p:nvSpPr>
        <p:spPr>
          <a:xfrm>
            <a:off x="539496" y="676656"/>
            <a:ext cx="11057839" cy="658368"/>
          </a:xfrm>
          <a:prstGeom prst="rect">
            <a:avLst/>
          </a:prstGeom>
          <a:noFill/>
        </p:spPr>
        <p:txBody>
          <a:bodyPr wrap="square" lIns="45720" rIns="45720" tIns="27432" bIns="27432" anchor="t">
            <a:noAutofit/>
          </a:bodyPr>
          <a:lstStyle/>
          <a:p>
            <a:pPr algn="l">
              <a:lnSpc>
                <a:spcPct val="100000"/>
              </a:lnSpc>
            </a:pPr>
            <a:r>
              <a:rPr sz="2500" b="0" i="0">
                <a:solidFill>
                  <a:srgbClr val="F7F2E8"/>
                </a:solidFill>
                <a:latin typeface="Palatino Linotype"/>
              </a:rPr>
              <a:t>Configuraciones reales para el comportamiento del editor y de la terminal</a:t>
            </a:r>
          </a:p>
        </p:txBody>
      </p:sp>
      <p:sp>
        <p:nvSpPr>
          <p:cNvPr id="6" name="Rectangle 5"/>
          <p:cNvSpPr/>
          <p:nvPr/>
        </p:nvSpPr>
        <p:spPr>
          <a:xfrm>
            <a:off x="566928" y="1344168"/>
            <a:ext cx="822960" cy="36576"/>
          </a:xfrm>
          <a:prstGeom prst="rect">
            <a:avLst/>
          </a:prstGeom>
          <a:solidFill>
            <a:srgbClr val="E2B4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566928" y="1444752"/>
            <a:ext cx="10692079" cy="585216"/>
          </a:xfrm>
          <a:prstGeom prst="rect">
            <a:avLst/>
          </a:prstGeom>
          <a:noFill/>
        </p:spPr>
        <p:txBody>
          <a:bodyPr wrap="square" lIns="45720" rIns="45720" tIns="27432" bIns="27432" anchor="t">
            <a:noAutofit/>
          </a:bodyPr>
          <a:lstStyle/>
          <a:p>
            <a:pPr algn="l">
              <a:lnSpc>
                <a:spcPct val="100000"/>
              </a:lnSpc>
            </a:pPr>
            <a:r>
              <a:rPr sz="1450" b="0" i="0">
                <a:solidFill>
                  <a:srgbClr val="A7B2B0"/>
                </a:solidFill>
                <a:latin typeface="Segoe UI Semilight"/>
              </a:rPr>
              <a:t>Tag a771d27c, con fecha del 23 de octubre de 2026, y publicado en GitHub ese día.</a:t>
            </a:r>
          </a:p>
        </p:txBody>
      </p:sp>
      <p:sp>
        <p:nvSpPr>
          <p:cNvPr id="8" name="Rounded Rectangle 7"/>
          <p:cNvSpPr/>
          <p:nvPr/>
        </p:nvSpPr>
        <p:spPr>
          <a:xfrm>
            <a:off x="566928" y="2084831"/>
            <a:ext cx="5428335" cy="1956816"/>
          </a:xfrm>
          <a:prstGeom prst="roundRect">
            <a:avLst>
              <a:gd name="adj" fmla="val 5607"/>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ectangle 8"/>
          <p:cNvSpPr/>
          <p:nvPr/>
        </p:nvSpPr>
        <p:spPr>
          <a:xfrm>
            <a:off x="731520" y="2212848"/>
            <a:ext cx="502920" cy="45720"/>
          </a:xfrm>
          <a:prstGeom prst="rect">
            <a:avLst/>
          </a:prstGeom>
          <a:solidFill>
            <a:srgbClr val="3BBE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694944" y="2304287"/>
            <a:ext cx="5172303" cy="353568"/>
          </a:xfrm>
          <a:prstGeom prst="rect">
            <a:avLst/>
          </a:prstGeom>
          <a:noFill/>
        </p:spPr>
        <p:txBody>
          <a:bodyPr wrap="square" lIns="45720" rIns="45720" tIns="27432" bIns="27432" anchor="t">
            <a:noAutofit/>
          </a:bodyPr>
          <a:lstStyle/>
          <a:p>
            <a:pPr algn="l">
              <a:lnSpc>
                <a:spcPct val="100000"/>
              </a:lnSpc>
            </a:pPr>
            <a:r>
              <a:rPr sz="1600" b="0" i="0">
                <a:solidFill>
                  <a:srgbClr val="F7F2E8"/>
                </a:solidFill>
                <a:latin typeface="Segoe UI Semibold"/>
              </a:rPr>
              <a:t>Diálogo</a:t>
            </a:r>
          </a:p>
        </p:txBody>
      </p:sp>
      <p:sp>
        <p:nvSpPr>
          <p:cNvPr id="11" name="TextBox 10"/>
          <p:cNvSpPr txBox="1"/>
          <p:nvPr/>
        </p:nvSpPr>
        <p:spPr>
          <a:xfrm>
            <a:off x="694944" y="2657855"/>
            <a:ext cx="5172303" cy="1292352"/>
          </a:xfrm>
          <a:prstGeom prst="rect">
            <a:avLst/>
          </a:prstGeom>
          <a:noFill/>
        </p:spPr>
        <p:txBody>
          <a:bodyPr wrap="square" lIns="45720" rIns="45720" tIns="27432" bIns="27432" anchor="t">
            <a:noAutofit/>
          </a:bodyPr>
          <a:lstStyle/>
          <a:p>
            <a:pPr algn="l">
              <a:lnSpc>
                <a:spcPct val="100000"/>
              </a:lnSpc>
            </a:pPr>
            <a:r>
              <a:rPr sz="1300" b="0" i="0">
                <a:solidFill>
                  <a:srgbClr val="A7B2B0"/>
                </a:solidFill>
                <a:latin typeface="Segoe UI"/>
              </a:rPr>
              <a:t>Ritmo, enseñanza, comportamiento de la terminal, narración, apariencia y vistas previas del borrador.</a:t>
            </a:r>
          </a:p>
        </p:txBody>
      </p:sp>
      <p:sp>
        <p:nvSpPr>
          <p:cNvPr id="12" name="Rounded Rectangle 11"/>
          <p:cNvSpPr/>
          <p:nvPr/>
        </p:nvSpPr>
        <p:spPr>
          <a:xfrm>
            <a:off x="6196431" y="2084831"/>
            <a:ext cx="5428335" cy="1956816"/>
          </a:xfrm>
          <a:prstGeom prst="roundRect">
            <a:avLst>
              <a:gd name="adj" fmla="val 5607"/>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6361023" y="2212848"/>
            <a:ext cx="502920" cy="45720"/>
          </a:xfrm>
          <a:prstGeom prst="rect">
            <a:avLst/>
          </a:prstGeom>
          <a:solidFill>
            <a:srgbClr val="C984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324447" y="2304287"/>
            <a:ext cx="5172303" cy="353568"/>
          </a:xfrm>
          <a:prstGeom prst="rect">
            <a:avLst/>
          </a:prstGeom>
          <a:noFill/>
        </p:spPr>
        <p:txBody>
          <a:bodyPr wrap="square" lIns="45720" rIns="45720" tIns="27432" bIns="27432" anchor="t">
            <a:noAutofit/>
          </a:bodyPr>
          <a:lstStyle/>
          <a:p>
            <a:pPr algn="l">
              <a:lnSpc>
                <a:spcPct val="100000"/>
              </a:lnSpc>
            </a:pPr>
            <a:r>
              <a:rPr sz="1600" b="0" i="0">
                <a:solidFill>
                  <a:srgbClr val="F7F2E8"/>
                </a:solidFill>
                <a:latin typeface="Segoe UI Semibold"/>
              </a:rPr>
              <a:t>Runtime</a:t>
            </a:r>
          </a:p>
        </p:txBody>
      </p:sp>
      <p:sp>
        <p:nvSpPr>
          <p:cNvPr id="15" name="TextBox 14"/>
          <p:cNvSpPr txBox="1"/>
          <p:nvPr/>
        </p:nvSpPr>
        <p:spPr>
          <a:xfrm>
            <a:off x="6324447" y="2657855"/>
            <a:ext cx="5172303" cy="1292352"/>
          </a:xfrm>
          <a:prstGeom prst="rect">
            <a:avLst/>
          </a:prstGeom>
          <a:noFill/>
        </p:spPr>
        <p:txBody>
          <a:bodyPr wrap="square" lIns="45720" rIns="45720" tIns="27432" bIns="27432" anchor="t">
            <a:noAutofit/>
          </a:bodyPr>
          <a:lstStyle/>
          <a:p>
            <a:pPr algn="l">
              <a:lnSpc>
                <a:spcPct val="100000"/>
              </a:lnSpc>
            </a:pPr>
            <a:r>
              <a:rPr sz="1300" b="0" i="0">
                <a:solidFill>
                  <a:srgbClr val="A7B2B0"/>
                </a:solidFill>
                <a:latin typeface="Segoe UI"/>
              </a:rPr>
              <a:t>Snapshots reales de la configuración, revisiones de la revisión y recibos de narración cancelables.</a:t>
            </a:r>
          </a:p>
        </p:txBody>
      </p:sp>
      <p:sp>
        <p:nvSpPr>
          <p:cNvPr id="16" name="Rounded Rectangle 15"/>
          <p:cNvSpPr/>
          <p:nvPr/>
        </p:nvSpPr>
        <p:spPr>
          <a:xfrm>
            <a:off x="566928" y="4242816"/>
            <a:ext cx="5428335" cy="1956816"/>
          </a:xfrm>
          <a:prstGeom prst="roundRect">
            <a:avLst>
              <a:gd name="adj" fmla="val 5607"/>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31520" y="4370832"/>
            <a:ext cx="502920" cy="45720"/>
          </a:xfrm>
          <a:prstGeom prst="rect">
            <a:avLst/>
          </a:prstGeom>
          <a:solidFill>
            <a:srgbClr val="E2B4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694944" y="4462272"/>
            <a:ext cx="5172303" cy="353568"/>
          </a:xfrm>
          <a:prstGeom prst="rect">
            <a:avLst/>
          </a:prstGeom>
          <a:noFill/>
        </p:spPr>
        <p:txBody>
          <a:bodyPr wrap="square" lIns="45720" rIns="45720" tIns="27432" bIns="27432" anchor="t">
            <a:noAutofit/>
          </a:bodyPr>
          <a:lstStyle/>
          <a:p>
            <a:pPr algn="l">
              <a:lnSpc>
                <a:spcPct val="100000"/>
              </a:lnSpc>
            </a:pPr>
            <a:r>
              <a:rPr sz="1600" b="0" i="0">
                <a:solidFill>
                  <a:srgbClr val="F7F2E8"/>
                </a:solidFill>
                <a:latin typeface="Segoe UI Semibold"/>
              </a:rPr>
              <a:t>Compatibilidad</a:t>
            </a:r>
          </a:p>
        </p:txBody>
      </p:sp>
      <p:sp>
        <p:nvSpPr>
          <p:cNvPr id="19" name="TextBox 18"/>
          <p:cNvSpPr txBox="1"/>
          <p:nvPr/>
        </p:nvSpPr>
        <p:spPr>
          <a:xfrm>
            <a:off x="694944" y="4815840"/>
            <a:ext cx="5172303" cy="1292352"/>
          </a:xfrm>
          <a:prstGeom prst="rect">
            <a:avLst/>
          </a:prstGeom>
          <a:noFill/>
        </p:spPr>
        <p:txBody>
          <a:bodyPr wrap="square" lIns="45720" rIns="45720" tIns="27432" bIns="27432" anchor="t">
            <a:noAutofit/>
          </a:bodyPr>
          <a:lstStyle/>
          <a:p>
            <a:pPr algn="l">
              <a:lnSpc>
                <a:spcPct val="100000"/>
              </a:lnSpc>
            </a:pPr>
            <a:r>
              <a:rPr sz="1300" b="0" i="0">
                <a:solidFill>
                  <a:srgbClr val="A7B2B0"/>
                </a:solidFill>
                <a:latin typeface="Segoe UI"/>
              </a:rPr>
              <a:t>Los flows heredados con valores explícitos los conservan; los flows nuevos pueden heredar los valores predeterminados.</a:t>
            </a:r>
          </a:p>
        </p:txBody>
      </p:sp>
      <p:sp>
        <p:nvSpPr>
          <p:cNvPr id="20" name="Rounded Rectangle 19"/>
          <p:cNvSpPr/>
          <p:nvPr/>
        </p:nvSpPr>
        <p:spPr>
          <a:xfrm>
            <a:off x="6196431" y="4242816"/>
            <a:ext cx="5428335" cy="1956816"/>
          </a:xfrm>
          <a:prstGeom prst="roundRect">
            <a:avLst>
              <a:gd name="adj" fmla="val 5607"/>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ectangle 20"/>
          <p:cNvSpPr/>
          <p:nvPr/>
        </p:nvSpPr>
        <p:spPr>
          <a:xfrm>
            <a:off x="6361023" y="4370832"/>
            <a:ext cx="502920" cy="45720"/>
          </a:xfrm>
          <a:prstGeom prst="rect">
            <a:avLst/>
          </a:prstGeom>
          <a:solidFill>
            <a:srgbClr val="46D2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6324447" y="4462272"/>
            <a:ext cx="5172303" cy="353568"/>
          </a:xfrm>
          <a:prstGeom prst="rect">
            <a:avLst/>
          </a:prstGeom>
          <a:noFill/>
        </p:spPr>
        <p:txBody>
          <a:bodyPr wrap="square" lIns="45720" rIns="45720" tIns="27432" bIns="27432" anchor="t">
            <a:noAutofit/>
          </a:bodyPr>
          <a:lstStyle/>
          <a:p>
            <a:pPr algn="l">
              <a:lnSpc>
                <a:spcPct val="100000"/>
              </a:lnSpc>
            </a:pPr>
            <a:r>
              <a:rPr sz="1600" b="0" i="0">
                <a:solidFill>
                  <a:srgbClr val="F7F2E8"/>
                </a:solidFill>
                <a:latin typeface="Segoe UI Semibold"/>
              </a:rPr>
              <a:t>Inventario</a:t>
            </a:r>
          </a:p>
        </p:txBody>
      </p:sp>
      <p:sp>
        <p:nvSpPr>
          <p:cNvPr id="23" name="TextBox 22"/>
          <p:cNvSpPr txBox="1"/>
          <p:nvPr/>
        </p:nvSpPr>
        <p:spPr>
          <a:xfrm>
            <a:off x="6324447" y="4815840"/>
            <a:ext cx="5172303" cy="1292352"/>
          </a:xfrm>
          <a:prstGeom prst="rect">
            <a:avLst/>
          </a:prstGeom>
          <a:noFill/>
        </p:spPr>
        <p:txBody>
          <a:bodyPr wrap="square" lIns="45720" rIns="45720" tIns="27432" bIns="27432" anchor="t">
            <a:noAutofit/>
          </a:bodyPr>
          <a:lstStyle/>
          <a:p>
            <a:pPr algn="l">
              <a:lnSpc>
                <a:spcPct val="100000"/>
              </a:lnSpc>
            </a:pPr>
            <a:r>
              <a:rPr sz="1300" b="0" i="0">
                <a:solidFill>
                  <a:srgbClr val="A7B2B0"/>
                </a:solidFill>
                <a:latin typeface="Segoe UI"/>
              </a:rPr>
              <a:t>86 agents; 110 tools; 220 migraciones; 64 módulos JS; 29 hojas de estilo.</a:t>
            </a:r>
          </a:p>
        </p:txBody>
      </p:sp>
      <p:cxnSp>
        <p:nvCxnSpPr>
          <p:cNvPr id="24" name="Connector 23"/>
          <p:cNvCxnSpPr/>
          <p:nvPr/>
        </p:nvCxnSpPr>
        <p:spPr>
          <a:xfrm>
            <a:off x="566928" y="6373368"/>
            <a:ext cx="11057839" cy="0"/>
          </a:xfrm>
          <a:prstGeom prst="line">
            <a:avLst/>
          </a:prstGeom>
          <a:ln w="7620">
            <a:solidFill>
              <a:srgbClr val="2A3A40"/>
            </a:solidFill>
          </a:ln>
        </p:spPr>
        <p:style>
          <a:lnRef idx="2">
            <a:schemeClr val="accent1"/>
          </a:lnRef>
          <a:fillRef idx="0">
            <a:schemeClr val="accent1"/>
          </a:fillRef>
          <a:effectRef idx="1">
            <a:schemeClr val="accent1"/>
          </a:effectRef>
          <a:fontRef idx="minor">
            <a:schemeClr val="tx1"/>
          </a:fontRef>
        </p:style>
      </p:cxnSp>
      <p:sp>
        <p:nvSpPr>
          <p:cNvPr id="25" name="TextBox 24"/>
          <p:cNvSpPr txBox="1"/>
          <p:nvPr/>
        </p:nvSpPr>
        <p:spPr>
          <a:xfrm>
            <a:off x="566928" y="6419088"/>
            <a:ext cx="6858000" cy="274320"/>
          </a:xfrm>
          <a:prstGeom prst="rect">
            <a:avLst/>
          </a:prstGeom>
          <a:noFill/>
        </p:spPr>
        <p:txBody>
          <a:bodyPr wrap="square" lIns="45720" rIns="45720" tIns="27432" bIns="27432" anchor="t">
            <a:noAutofit/>
          </a:bodyPr>
          <a:lstStyle/>
          <a:p>
            <a:pPr algn="l">
              <a:lnSpc>
                <a:spcPct val="100000"/>
              </a:lnSpc>
            </a:pPr>
            <a:r>
              <a:rPr sz="850" b="0" i="0" spc="120">
                <a:solidFill>
                  <a:srgbClr val="A7B2B0"/>
                </a:solidFill>
                <a:latin typeface="Segoe UI Semibold"/>
              </a:rPr>
              <a:t>TLAMATINI  ·  VIII · RELEASE ACTUAL</a:t>
            </a:r>
          </a:p>
        </p:txBody>
      </p:sp>
      <p:sp>
        <p:nvSpPr>
          <p:cNvPr id="26" name="TextBox 25"/>
          <p:cNvSpPr txBox="1"/>
          <p:nvPr/>
        </p:nvSpPr>
        <p:spPr>
          <a:xfrm>
            <a:off x="8698687" y="6419088"/>
            <a:ext cx="2926080" cy="274320"/>
          </a:xfrm>
          <a:prstGeom prst="rect">
            <a:avLst/>
          </a:prstGeom>
          <a:noFill/>
        </p:spPr>
        <p:txBody>
          <a:bodyPr wrap="square" lIns="45720" rIns="45720" tIns="27432" bIns="27432" anchor="t">
            <a:noAutofit/>
          </a:bodyPr>
          <a:lstStyle/>
          <a:p>
            <a:pPr algn="r">
              <a:lnSpc>
                <a:spcPct val="100000"/>
              </a:lnSpc>
            </a:pPr>
            <a:r>
              <a:rPr sz="850" b="0" i="0" spc="100">
                <a:solidFill>
                  <a:srgbClr val="A7B2B0"/>
                </a:solidFill>
                <a:latin typeface="Segoe UI Semibold"/>
              </a:rPr>
              <a:t>v1.91.1   ·   121</a:t>
            </a:r>
          </a:p>
        </p:txBody>
      </p:sp>
    </p:spTree>
  </p:cSld>
  <p:clrMapOvr>
    <a:masterClrMapping/>
  </p:clrMapOvr>
</p:sld>
</file>

<file path=ppt/slides/slide1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content.png"/>
          <p:cNvPicPr>
            <a:picLocks noChangeAspect="1"/>
          </p:cNvPicPr>
          <p:nvPr/>
        </p:nvPicPr>
        <p:blipFill>
          <a:blip r:embed="rId2"/>
          <a:stretch>
            <a:fillRect/>
          </a:stretch>
        </p:blipFill>
        <p:spPr>
          <a:xfrm>
            <a:off x="0" y="0"/>
            <a:ext cx="12191695" cy="6858000"/>
          </a:xfrm>
          <a:prstGeom prst="rect">
            <a:avLst/>
          </a:prstGeom>
        </p:spPr>
      </p:pic>
      <p:sp>
        <p:nvSpPr>
          <p:cNvPr id="3" name="Diamond 2"/>
          <p:cNvSpPr/>
          <p:nvPr/>
        </p:nvSpPr>
        <p:spPr>
          <a:xfrm>
            <a:off x="566928" y="457200"/>
            <a:ext cx="100584" cy="100584"/>
          </a:xfrm>
          <a:prstGeom prst="diamond">
            <a:avLst/>
          </a:prstGeom>
          <a:solidFill>
            <a:srgbClr val="E2B4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49808" y="365760"/>
            <a:ext cx="8229600" cy="292608"/>
          </a:xfrm>
          <a:prstGeom prst="rect">
            <a:avLst/>
          </a:prstGeom>
          <a:noFill/>
        </p:spPr>
        <p:txBody>
          <a:bodyPr wrap="square" lIns="45720" rIns="45720" tIns="27432" bIns="27432" anchor="t">
            <a:noAutofit/>
          </a:bodyPr>
          <a:lstStyle/>
          <a:p>
            <a:pPr algn="l">
              <a:lnSpc>
                <a:spcPct val="100000"/>
              </a:lnSpc>
            </a:pPr>
            <a:r>
              <a:rPr sz="1100" b="0" i="0" spc="240">
                <a:solidFill>
                  <a:srgbClr val="C98457"/>
                </a:solidFill>
                <a:latin typeface="Segoe UI Semibold"/>
              </a:rPr>
              <a:t>HEREDADO DE v1.90.0</a:t>
            </a:r>
          </a:p>
        </p:txBody>
      </p:sp>
      <p:sp>
        <p:nvSpPr>
          <p:cNvPr id="5" name="TextBox 4"/>
          <p:cNvSpPr txBox="1"/>
          <p:nvPr/>
        </p:nvSpPr>
        <p:spPr>
          <a:xfrm>
            <a:off x="539496" y="676656"/>
            <a:ext cx="11057839" cy="658368"/>
          </a:xfrm>
          <a:prstGeom prst="rect">
            <a:avLst/>
          </a:prstGeom>
          <a:noFill/>
        </p:spPr>
        <p:txBody>
          <a:bodyPr wrap="square" lIns="45720" rIns="45720" tIns="27432" bIns="27432" anchor="t">
            <a:noAutofit/>
          </a:bodyPr>
          <a:lstStyle/>
          <a:p>
            <a:pPr algn="l">
              <a:lnSpc>
                <a:spcPct val="100000"/>
              </a:lnSpc>
            </a:pPr>
            <a:r>
              <a:rPr sz="3100" b="0" i="0">
                <a:solidFill>
                  <a:srgbClr val="F7F2E8"/>
                </a:solidFill>
                <a:latin typeface="Palatino Linotype"/>
              </a:rPr>
              <a:t>Editar, enseñar y conservar el control de quien aprende</a:t>
            </a:r>
          </a:p>
        </p:txBody>
      </p:sp>
      <p:sp>
        <p:nvSpPr>
          <p:cNvPr id="6" name="Rectangle 5"/>
          <p:cNvSpPr/>
          <p:nvPr/>
        </p:nvSpPr>
        <p:spPr>
          <a:xfrm>
            <a:off x="566928" y="1344168"/>
            <a:ext cx="822960" cy="36576"/>
          </a:xfrm>
          <a:prstGeom prst="rect">
            <a:avLst/>
          </a:prstGeom>
          <a:solidFill>
            <a:srgbClr val="E2B4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566928" y="1444752"/>
            <a:ext cx="10692079" cy="585216"/>
          </a:xfrm>
          <a:prstGeom prst="rect">
            <a:avLst/>
          </a:prstGeom>
          <a:noFill/>
        </p:spPr>
        <p:txBody>
          <a:bodyPr wrap="square" lIns="45720" rIns="45720" tIns="27432" bIns="27432" anchor="t">
            <a:noAutofit/>
          </a:bodyPr>
          <a:lstStyle/>
          <a:p>
            <a:pPr algn="l">
              <a:lnSpc>
                <a:spcPct val="100000"/>
              </a:lnSpc>
            </a:pPr>
            <a:r>
              <a:rPr sz="1450" b="0" i="0">
                <a:solidFill>
                  <a:srgbClr val="A7B2B0"/>
                </a:solidFill>
                <a:latin typeface="Segoe UI Semilight"/>
              </a:rPr>
              <a:t>v1.89.0 introdujo la edición y el guardado nativo; v1.90.0 lleva Interactor y las correcciones de intención.</a:t>
            </a:r>
          </a:p>
        </p:txBody>
      </p:sp>
      <p:sp>
        <p:nvSpPr>
          <p:cNvPr id="8" name="Rounded Rectangle 7"/>
          <p:cNvSpPr/>
          <p:nvPr/>
        </p:nvSpPr>
        <p:spPr>
          <a:xfrm>
            <a:off x="566928" y="2084831"/>
            <a:ext cx="5428335" cy="1956816"/>
          </a:xfrm>
          <a:prstGeom prst="roundRect">
            <a:avLst>
              <a:gd name="adj" fmla="val 5607"/>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ectangle 8"/>
          <p:cNvSpPr/>
          <p:nvPr/>
        </p:nvSpPr>
        <p:spPr>
          <a:xfrm>
            <a:off x="731520" y="2212848"/>
            <a:ext cx="502920" cy="45720"/>
          </a:xfrm>
          <a:prstGeom prst="rect">
            <a:avLst/>
          </a:prstGeom>
          <a:solidFill>
            <a:srgbClr val="3BBE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694944" y="2304287"/>
            <a:ext cx="5172303" cy="353568"/>
          </a:xfrm>
          <a:prstGeom prst="rect">
            <a:avLst/>
          </a:prstGeom>
          <a:noFill/>
        </p:spPr>
        <p:txBody>
          <a:bodyPr wrap="square" lIns="45720" rIns="45720" tIns="27432" bIns="27432" anchor="t">
            <a:noAutofit/>
          </a:bodyPr>
          <a:lstStyle/>
          <a:p>
            <a:pPr algn="l">
              <a:lnSpc>
                <a:spcPct val="100000"/>
              </a:lnSpc>
            </a:pPr>
            <a:r>
              <a:rPr sz="1600" b="0" i="0">
                <a:solidFill>
                  <a:srgbClr val="F7F2E8"/>
                </a:solidFill>
                <a:latin typeface="Segoe UI Semibold"/>
              </a:rPr>
              <a:t>Edición</a:t>
            </a:r>
          </a:p>
        </p:txBody>
      </p:sp>
      <p:sp>
        <p:nvSpPr>
          <p:cNvPr id="11" name="TextBox 10"/>
          <p:cNvSpPr txBox="1"/>
          <p:nvPr/>
        </p:nvSpPr>
        <p:spPr>
          <a:xfrm>
            <a:off x="694944" y="2657855"/>
            <a:ext cx="5172303" cy="1292352"/>
          </a:xfrm>
          <a:prstGeom prst="rect">
            <a:avLst/>
          </a:prstGeom>
          <a:noFill/>
        </p:spPr>
        <p:txBody>
          <a:bodyPr wrap="square" lIns="45720" rIns="45720" tIns="27432" bIns="27432" anchor="t">
            <a:noAutofit/>
          </a:bodyPr>
          <a:lstStyle/>
          <a:p>
            <a:pPr algn="l">
              <a:lnSpc>
                <a:spcPct val="100000"/>
              </a:lnSpc>
            </a:pPr>
            <a:r>
              <a:rPr sz="1300" b="0" i="0">
                <a:solidFill>
                  <a:srgbClr val="A7B2B0"/>
                </a:solidFill>
                <a:latin typeface="Segoe UI"/>
              </a:rPr>
              <a:t>Guardar como nativo, source exacto, historial de deshacer y persistencia que detecta conflictos.</a:t>
            </a:r>
          </a:p>
        </p:txBody>
      </p:sp>
      <p:sp>
        <p:nvSpPr>
          <p:cNvPr id="12" name="Rounded Rectangle 11"/>
          <p:cNvSpPr/>
          <p:nvPr/>
        </p:nvSpPr>
        <p:spPr>
          <a:xfrm>
            <a:off x="6196431" y="2084831"/>
            <a:ext cx="5428335" cy="1956816"/>
          </a:xfrm>
          <a:prstGeom prst="roundRect">
            <a:avLst>
              <a:gd name="adj" fmla="val 5607"/>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6361023" y="2212848"/>
            <a:ext cx="502920" cy="45720"/>
          </a:xfrm>
          <a:prstGeom prst="rect">
            <a:avLst/>
          </a:prstGeom>
          <a:solidFill>
            <a:srgbClr val="C984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324447" y="2304287"/>
            <a:ext cx="5172303" cy="353568"/>
          </a:xfrm>
          <a:prstGeom prst="rect">
            <a:avLst/>
          </a:prstGeom>
          <a:noFill/>
        </p:spPr>
        <p:txBody>
          <a:bodyPr wrap="square" lIns="45720" rIns="45720" tIns="27432" bIns="27432" anchor="t">
            <a:noAutofit/>
          </a:bodyPr>
          <a:lstStyle/>
          <a:p>
            <a:pPr algn="l">
              <a:lnSpc>
                <a:spcPct val="100000"/>
              </a:lnSpc>
            </a:pPr>
            <a:r>
              <a:rPr sz="1600" b="0" i="0">
                <a:solidFill>
                  <a:srgbClr val="F7F2E8"/>
                </a:solidFill>
                <a:latin typeface="Segoe UI Semibold"/>
              </a:rPr>
              <a:t>Enseñanza</a:t>
            </a:r>
          </a:p>
        </p:txBody>
      </p:sp>
      <p:sp>
        <p:nvSpPr>
          <p:cNvPr id="15" name="TextBox 14"/>
          <p:cNvSpPr txBox="1"/>
          <p:nvPr/>
        </p:nvSpPr>
        <p:spPr>
          <a:xfrm>
            <a:off x="6324447" y="2657855"/>
            <a:ext cx="5172303" cy="1292352"/>
          </a:xfrm>
          <a:prstGeom prst="rect">
            <a:avLst/>
          </a:prstGeom>
          <a:noFill/>
        </p:spPr>
        <p:txBody>
          <a:bodyPr wrap="square" lIns="45720" rIns="45720" tIns="27432" bIns="27432" anchor="t">
            <a:noAutofit/>
          </a:bodyPr>
          <a:lstStyle/>
          <a:p>
            <a:pPr algn="l">
              <a:lnSpc>
                <a:spcPct val="100000"/>
              </a:lnSpc>
            </a:pPr>
            <a:r>
              <a:rPr sz="1300" b="0" i="0">
                <a:solidFill>
                  <a:srgbClr val="A7B2B0"/>
                </a:solidFill>
                <a:latin typeface="Segoe UI"/>
              </a:rPr>
              <a:t>Lecturas frescas sin guardar, segmentos cortos de escritura, campos para quien aprende y sugerencias locales.</a:t>
            </a:r>
          </a:p>
        </p:txBody>
      </p:sp>
      <p:sp>
        <p:nvSpPr>
          <p:cNvPr id="16" name="Rounded Rectangle 15"/>
          <p:cNvSpPr/>
          <p:nvPr/>
        </p:nvSpPr>
        <p:spPr>
          <a:xfrm>
            <a:off x="566928" y="4242816"/>
            <a:ext cx="5428335" cy="1956816"/>
          </a:xfrm>
          <a:prstGeom prst="roundRect">
            <a:avLst>
              <a:gd name="adj" fmla="val 5607"/>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31520" y="4370832"/>
            <a:ext cx="502920" cy="45720"/>
          </a:xfrm>
          <a:prstGeom prst="rect">
            <a:avLst/>
          </a:prstGeom>
          <a:solidFill>
            <a:srgbClr val="E2B4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694944" y="4462272"/>
            <a:ext cx="5172303" cy="353568"/>
          </a:xfrm>
          <a:prstGeom prst="rect">
            <a:avLst/>
          </a:prstGeom>
          <a:noFill/>
        </p:spPr>
        <p:txBody>
          <a:bodyPr wrap="square" lIns="45720" rIns="45720" tIns="27432" bIns="27432" anchor="t">
            <a:noAutofit/>
          </a:bodyPr>
          <a:lstStyle/>
          <a:p>
            <a:pPr algn="l">
              <a:lnSpc>
                <a:spcPct val="100000"/>
              </a:lnSpc>
            </a:pPr>
            <a:r>
              <a:rPr sz="1600" b="0" i="0">
                <a:solidFill>
                  <a:srgbClr val="F7F2E8"/>
                </a:solidFill>
                <a:latin typeface="Segoe UI Semibold"/>
              </a:rPr>
              <a:t>Recuperación</a:t>
            </a:r>
          </a:p>
        </p:txBody>
      </p:sp>
      <p:sp>
        <p:nvSpPr>
          <p:cNvPr id="19" name="TextBox 18"/>
          <p:cNvSpPr txBox="1"/>
          <p:nvPr/>
        </p:nvSpPr>
        <p:spPr>
          <a:xfrm>
            <a:off x="694944" y="4815840"/>
            <a:ext cx="5172303" cy="1292352"/>
          </a:xfrm>
          <a:prstGeom prst="rect">
            <a:avLst/>
          </a:prstGeom>
          <a:noFill/>
        </p:spPr>
        <p:txBody>
          <a:bodyPr wrap="square" lIns="45720" rIns="45720" tIns="27432" bIns="27432" anchor="t">
            <a:noAutofit/>
          </a:bodyPr>
          <a:lstStyle/>
          <a:p>
            <a:pPr algn="l">
              <a:lnSpc>
                <a:spcPct val="100000"/>
              </a:lnSpc>
            </a:pPr>
            <a:r>
              <a:rPr sz="1300" b="0" i="0">
                <a:solidFill>
                  <a:srgbClr val="A7B2B0"/>
                </a:solidFill>
                <a:latin typeface="Segoe UI"/>
              </a:rPr>
              <a:t>Pausas acotadas por visibilidad de la pestaña y una distribución usable con el canvas angosto.</a:t>
            </a:r>
          </a:p>
        </p:txBody>
      </p:sp>
      <p:sp>
        <p:nvSpPr>
          <p:cNvPr id="20" name="Rounded Rectangle 19"/>
          <p:cNvSpPr/>
          <p:nvPr/>
        </p:nvSpPr>
        <p:spPr>
          <a:xfrm>
            <a:off x="6196431" y="4242816"/>
            <a:ext cx="5428335" cy="1956816"/>
          </a:xfrm>
          <a:prstGeom prst="roundRect">
            <a:avLst>
              <a:gd name="adj" fmla="val 5607"/>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ectangle 20"/>
          <p:cNvSpPr/>
          <p:nvPr/>
        </p:nvSpPr>
        <p:spPr>
          <a:xfrm>
            <a:off x="6361023" y="4370832"/>
            <a:ext cx="502920" cy="45720"/>
          </a:xfrm>
          <a:prstGeom prst="rect">
            <a:avLst/>
          </a:prstGeom>
          <a:solidFill>
            <a:srgbClr val="46D2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6324447" y="4462272"/>
            <a:ext cx="5172303" cy="353568"/>
          </a:xfrm>
          <a:prstGeom prst="rect">
            <a:avLst/>
          </a:prstGeom>
          <a:noFill/>
        </p:spPr>
        <p:txBody>
          <a:bodyPr wrap="square" lIns="45720" rIns="45720" tIns="27432" bIns="27432" anchor="t">
            <a:noAutofit/>
          </a:bodyPr>
          <a:lstStyle/>
          <a:p>
            <a:pPr algn="l">
              <a:lnSpc>
                <a:spcPct val="100000"/>
              </a:lnSpc>
            </a:pPr>
            <a:r>
              <a:rPr sz="1600" b="0" i="0">
                <a:solidFill>
                  <a:srgbClr val="F7F2E8"/>
                </a:solidFill>
                <a:latin typeface="Segoe UI Semibold"/>
              </a:rPr>
              <a:t>Inventario</a:t>
            </a:r>
          </a:p>
        </p:txBody>
      </p:sp>
      <p:sp>
        <p:nvSpPr>
          <p:cNvPr id="23" name="TextBox 22"/>
          <p:cNvSpPr txBox="1"/>
          <p:nvPr/>
        </p:nvSpPr>
        <p:spPr>
          <a:xfrm>
            <a:off x="6324447" y="4815840"/>
            <a:ext cx="5172303" cy="1292352"/>
          </a:xfrm>
          <a:prstGeom prst="rect">
            <a:avLst/>
          </a:prstGeom>
          <a:noFill/>
        </p:spPr>
        <p:txBody>
          <a:bodyPr wrap="square" lIns="45720" rIns="45720" tIns="27432" bIns="27432" anchor="t">
            <a:noAutofit/>
          </a:bodyPr>
          <a:lstStyle/>
          <a:p>
            <a:pPr algn="l">
              <a:lnSpc>
                <a:spcPct val="100000"/>
              </a:lnSpc>
            </a:pPr>
            <a:r>
              <a:rPr sz="1300" b="0" i="0">
                <a:solidFill>
                  <a:srgbClr val="A7B2B0"/>
                </a:solidFill>
                <a:latin typeface="Segoe UI"/>
              </a:rPr>
              <a:t>86 agents; 67 wrapped; 110 tools integrados; 220 migraciones. Los conteos describen el source inspeccionado.</a:t>
            </a:r>
          </a:p>
        </p:txBody>
      </p:sp>
      <p:cxnSp>
        <p:nvCxnSpPr>
          <p:cNvPr id="24" name="Connector 23"/>
          <p:cNvCxnSpPr/>
          <p:nvPr/>
        </p:nvCxnSpPr>
        <p:spPr>
          <a:xfrm>
            <a:off x="566928" y="6373368"/>
            <a:ext cx="11057839" cy="0"/>
          </a:xfrm>
          <a:prstGeom prst="line">
            <a:avLst/>
          </a:prstGeom>
          <a:ln w="7620">
            <a:solidFill>
              <a:srgbClr val="2A3A40"/>
            </a:solidFill>
          </a:ln>
        </p:spPr>
        <p:style>
          <a:lnRef idx="2">
            <a:schemeClr val="accent1"/>
          </a:lnRef>
          <a:fillRef idx="0">
            <a:schemeClr val="accent1"/>
          </a:fillRef>
          <a:effectRef idx="1">
            <a:schemeClr val="accent1"/>
          </a:effectRef>
          <a:fontRef idx="minor">
            <a:schemeClr val="tx1"/>
          </a:fontRef>
        </p:style>
      </p:cxnSp>
      <p:sp>
        <p:nvSpPr>
          <p:cNvPr id="25" name="TextBox 24"/>
          <p:cNvSpPr txBox="1"/>
          <p:nvPr/>
        </p:nvSpPr>
        <p:spPr>
          <a:xfrm>
            <a:off x="566928" y="6419088"/>
            <a:ext cx="6858000" cy="274320"/>
          </a:xfrm>
          <a:prstGeom prst="rect">
            <a:avLst/>
          </a:prstGeom>
          <a:noFill/>
        </p:spPr>
        <p:txBody>
          <a:bodyPr wrap="square" lIns="45720" rIns="45720" tIns="27432" bIns="27432" anchor="t">
            <a:noAutofit/>
          </a:bodyPr>
          <a:lstStyle/>
          <a:p>
            <a:pPr algn="l">
              <a:lnSpc>
                <a:spcPct val="100000"/>
              </a:lnSpc>
            </a:pPr>
            <a:r>
              <a:rPr sz="850" b="0" i="0" spc="120">
                <a:solidFill>
                  <a:srgbClr val="A7B2B0"/>
                </a:solidFill>
                <a:latin typeface="Segoe UI Semibold"/>
              </a:rPr>
              <a:t>TLAMATINI  ·  VIII · RELEASE ACTUAL</a:t>
            </a:r>
          </a:p>
        </p:txBody>
      </p:sp>
      <p:sp>
        <p:nvSpPr>
          <p:cNvPr id="26" name="TextBox 25"/>
          <p:cNvSpPr txBox="1"/>
          <p:nvPr/>
        </p:nvSpPr>
        <p:spPr>
          <a:xfrm>
            <a:off x="8698687" y="6419088"/>
            <a:ext cx="2926080" cy="274320"/>
          </a:xfrm>
          <a:prstGeom prst="rect">
            <a:avLst/>
          </a:prstGeom>
          <a:noFill/>
        </p:spPr>
        <p:txBody>
          <a:bodyPr wrap="square" lIns="45720" rIns="45720" tIns="27432" bIns="27432" anchor="t">
            <a:noAutofit/>
          </a:bodyPr>
          <a:lstStyle/>
          <a:p>
            <a:pPr algn="r">
              <a:lnSpc>
                <a:spcPct val="100000"/>
              </a:lnSpc>
            </a:pPr>
            <a:r>
              <a:rPr sz="850" b="0" i="0" spc="100">
                <a:solidFill>
                  <a:srgbClr val="A7B2B0"/>
                </a:solidFill>
                <a:latin typeface="Segoe UI Semibold"/>
              </a:rPr>
              <a:t>v1.91.1   ·   122</a:t>
            </a:r>
          </a:p>
        </p:txBody>
      </p:sp>
    </p:spTree>
  </p:cSld>
  <p:clrMapOvr>
    <a:masterClrMapping/>
  </p:clrMapOvr>
</p:sld>
</file>

<file path=ppt/slides/slide1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content.png"/>
          <p:cNvPicPr>
            <a:picLocks noChangeAspect="1"/>
          </p:cNvPicPr>
          <p:nvPr/>
        </p:nvPicPr>
        <p:blipFill>
          <a:blip r:embed="rId2"/>
          <a:stretch>
            <a:fillRect/>
          </a:stretch>
        </p:blipFill>
        <p:spPr>
          <a:xfrm>
            <a:off x="0" y="0"/>
            <a:ext cx="12191695" cy="6858000"/>
          </a:xfrm>
          <a:prstGeom prst="rect">
            <a:avLst/>
          </a:prstGeom>
        </p:spPr>
      </p:pic>
      <p:sp>
        <p:nvSpPr>
          <p:cNvPr id="3" name="Diamond 2"/>
          <p:cNvSpPr/>
          <p:nvPr/>
        </p:nvSpPr>
        <p:spPr>
          <a:xfrm>
            <a:off x="566928" y="457200"/>
            <a:ext cx="100584" cy="100584"/>
          </a:xfrm>
          <a:prstGeom prst="diamond">
            <a:avLst/>
          </a:prstGeom>
          <a:solidFill>
            <a:srgbClr val="E2B4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49808" y="365760"/>
            <a:ext cx="8229600" cy="292608"/>
          </a:xfrm>
          <a:prstGeom prst="rect">
            <a:avLst/>
          </a:prstGeom>
          <a:noFill/>
        </p:spPr>
        <p:txBody>
          <a:bodyPr wrap="square" lIns="45720" rIns="45720" tIns="27432" bIns="27432" anchor="t">
            <a:noAutofit/>
          </a:bodyPr>
          <a:lstStyle/>
          <a:p>
            <a:pPr algn="l">
              <a:lnSpc>
                <a:spcPct val="100000"/>
              </a:lnSpc>
            </a:pPr>
            <a:r>
              <a:rPr sz="1100" b="0" i="0" spc="240">
                <a:solidFill>
                  <a:srgbClr val="C98457"/>
                </a:solidFill>
                <a:latin typeface="Segoe UI Semibold"/>
              </a:rPr>
              <a:t>VERIFICACIÓN FECHADA</a:t>
            </a:r>
          </a:p>
        </p:txBody>
      </p:sp>
      <p:sp>
        <p:nvSpPr>
          <p:cNvPr id="5" name="TextBox 4"/>
          <p:cNvSpPr txBox="1"/>
          <p:nvPr/>
        </p:nvSpPr>
        <p:spPr>
          <a:xfrm>
            <a:off x="539496" y="676656"/>
            <a:ext cx="11057839" cy="658368"/>
          </a:xfrm>
          <a:prstGeom prst="rect">
            <a:avLst/>
          </a:prstGeom>
          <a:noFill/>
        </p:spPr>
        <p:txBody>
          <a:bodyPr wrap="square" lIns="45720" rIns="45720" tIns="27432" bIns="27432" anchor="t">
            <a:noAutofit/>
          </a:bodyPr>
          <a:lstStyle/>
          <a:p>
            <a:pPr algn="l">
              <a:lnSpc>
                <a:spcPct val="100000"/>
              </a:lnSpc>
            </a:pPr>
            <a:r>
              <a:rPr sz="2550" b="0" i="0">
                <a:solidFill>
                  <a:srgbClr val="F7F2E8"/>
                </a:solidFill>
                <a:latin typeface="Palatino Linotype"/>
              </a:rPr>
              <a:t>Mantén separadas las evidencias del source, del modelo y del congelado</a:t>
            </a:r>
          </a:p>
        </p:txBody>
      </p:sp>
      <p:sp>
        <p:nvSpPr>
          <p:cNvPr id="6" name="Rectangle 5"/>
          <p:cNvSpPr/>
          <p:nvPr/>
        </p:nvSpPr>
        <p:spPr>
          <a:xfrm>
            <a:off x="566928" y="1344168"/>
            <a:ext cx="822960" cy="36576"/>
          </a:xfrm>
          <a:prstGeom prst="rect">
            <a:avLst/>
          </a:prstGeom>
          <a:solidFill>
            <a:srgbClr val="E2B4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566928" y="1444752"/>
            <a:ext cx="10692079" cy="585216"/>
          </a:xfrm>
          <a:prstGeom prst="rect">
            <a:avLst/>
          </a:prstGeom>
          <a:noFill/>
        </p:spPr>
        <p:txBody>
          <a:bodyPr wrap="square" lIns="45720" rIns="45720" tIns="27432" bIns="27432" anchor="t">
            <a:noAutofit/>
          </a:bodyPr>
          <a:lstStyle/>
          <a:p>
            <a:pPr algn="l">
              <a:lnSpc>
                <a:spcPct val="100000"/>
              </a:lnSpc>
            </a:pPr>
            <a:r>
              <a:rPr sz="1450" b="0" i="0">
                <a:solidFill>
                  <a:srgbClr val="A7B2B0"/>
                </a:solidFill>
                <a:latin typeface="Segoe UI Semilight"/>
              </a:rPr>
              <a:t>Son ejecuciones registradas del 21 al 22 de octubre, no pruebas que la generación de la documentación vuelve a correr en silencio.</a:t>
            </a:r>
          </a:p>
        </p:txBody>
      </p:sp>
      <p:sp>
        <p:nvSpPr>
          <p:cNvPr id="8" name="Rounded Rectangle 7"/>
          <p:cNvSpPr/>
          <p:nvPr/>
        </p:nvSpPr>
        <p:spPr>
          <a:xfrm>
            <a:off x="566928" y="2084831"/>
            <a:ext cx="11057839" cy="4005072"/>
          </a:xfrm>
          <a:prstGeom prst="roundRect">
            <a:avLst>
              <a:gd name="adj" fmla="val 1826"/>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ounded Rectangle 8"/>
          <p:cNvSpPr/>
          <p:nvPr/>
        </p:nvSpPr>
        <p:spPr>
          <a:xfrm>
            <a:off x="566928" y="2084831"/>
            <a:ext cx="11057839" cy="384048"/>
          </a:xfrm>
          <a:prstGeom prst="roundRect">
            <a:avLst>
              <a:gd name="adj" fmla="val 19047"/>
            </a:avLst>
          </a:prstGeom>
          <a:solidFill>
            <a:srgbClr val="151F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640080" y="2121408"/>
            <a:ext cx="3171047" cy="310896"/>
          </a:xfrm>
          <a:prstGeom prst="rect">
            <a:avLst/>
          </a:prstGeom>
          <a:noFill/>
        </p:spPr>
        <p:txBody>
          <a:bodyPr wrap="square" lIns="45720" rIns="45720" tIns="27432" bIns="27432" anchor="ctr">
            <a:noAutofit/>
          </a:bodyPr>
          <a:lstStyle/>
          <a:p>
            <a:pPr algn="l">
              <a:lnSpc>
                <a:spcPct val="100000"/>
              </a:lnSpc>
            </a:pPr>
            <a:r>
              <a:rPr sz="1000" b="0" i="0" spc="120">
                <a:solidFill>
                  <a:srgbClr val="E2B462"/>
                </a:solidFill>
                <a:latin typeface="Segoe UI Semibold"/>
              </a:rPr>
              <a:t>ALCANCE</a:t>
            </a:r>
          </a:p>
        </p:txBody>
      </p:sp>
      <p:sp>
        <p:nvSpPr>
          <p:cNvPr id="11" name="TextBox 10"/>
          <p:cNvSpPr txBox="1"/>
          <p:nvPr/>
        </p:nvSpPr>
        <p:spPr>
          <a:xfrm>
            <a:off x="3957431" y="2121408"/>
            <a:ext cx="7594183" cy="310896"/>
          </a:xfrm>
          <a:prstGeom prst="rect">
            <a:avLst/>
          </a:prstGeom>
          <a:noFill/>
        </p:spPr>
        <p:txBody>
          <a:bodyPr wrap="square" lIns="45720" rIns="45720" tIns="27432" bIns="27432" anchor="ctr">
            <a:noAutofit/>
          </a:bodyPr>
          <a:lstStyle/>
          <a:p>
            <a:pPr algn="l">
              <a:lnSpc>
                <a:spcPct val="100000"/>
              </a:lnSpc>
            </a:pPr>
            <a:r>
              <a:rPr sz="1000" b="0" i="0" spc="120">
                <a:solidFill>
                  <a:srgbClr val="E2B462"/>
                </a:solidFill>
                <a:latin typeface="Segoe UI Semibold"/>
              </a:rPr>
              <a:t>RESULTADO REGISTRADO Y LÍMITE</a:t>
            </a:r>
          </a:p>
        </p:txBody>
      </p:sp>
      <p:sp>
        <p:nvSpPr>
          <p:cNvPr id="12" name="TextBox 11"/>
          <p:cNvSpPr txBox="1"/>
          <p:nvPr/>
        </p:nvSpPr>
        <p:spPr>
          <a:xfrm>
            <a:off x="640080" y="2505456"/>
            <a:ext cx="3171047" cy="530352"/>
          </a:xfrm>
          <a:prstGeom prst="rect">
            <a:avLst/>
          </a:prstGeom>
          <a:noFill/>
        </p:spPr>
        <p:txBody>
          <a:bodyPr wrap="square" lIns="45720" rIns="45720" tIns="27432" bIns="27432" anchor="ctr">
            <a:noAutofit/>
          </a:bodyPr>
          <a:lstStyle/>
          <a:p>
            <a:pPr algn="l">
              <a:lnSpc>
                <a:spcPct val="100000"/>
              </a:lnSpc>
            </a:pPr>
            <a:r>
              <a:rPr sz="1500" b="0" i="0">
                <a:solidFill>
                  <a:srgbClr val="F7F2E8"/>
                </a:solidFill>
                <a:latin typeface="Segoe UI Semibold"/>
              </a:rPr>
              <a:t>Edición en el canvas / 21 oct</a:t>
            </a:r>
          </a:p>
        </p:txBody>
      </p:sp>
      <p:sp>
        <p:nvSpPr>
          <p:cNvPr id="13" name="TextBox 12"/>
          <p:cNvSpPr txBox="1"/>
          <p:nvPr/>
        </p:nvSpPr>
        <p:spPr>
          <a:xfrm>
            <a:off x="3957431" y="2505456"/>
            <a:ext cx="7594183" cy="530352"/>
          </a:xfrm>
          <a:prstGeom prst="rect">
            <a:avLst/>
          </a:prstGeom>
          <a:noFill/>
        </p:spPr>
        <p:txBody>
          <a:bodyPr wrap="square" lIns="45720" rIns="45720" tIns="27432" bIns="27432" anchor="ctr">
            <a:noAutofit/>
          </a:bodyPr>
          <a:lstStyle/>
          <a:p>
            <a:pPr algn="l">
              <a:lnSpc>
                <a:spcPct val="100000"/>
              </a:lnSpc>
            </a:pPr>
            <a:r>
              <a:rPr sz="1500" b="0" i="0">
                <a:solidFill>
                  <a:srgbClr val="A7B2B0"/>
                </a:solidFill>
                <a:latin typeface="Segoe UI"/>
              </a:rPr>
              <a:t>29 puntos de revisión visibles distintos; guardado nativo, tipos de archivo, codificación, conflictos y copias de PDF.</a:t>
            </a:r>
          </a:p>
        </p:txBody>
      </p:sp>
      <p:sp>
        <p:nvSpPr>
          <p:cNvPr id="14" name="Rectangle 13"/>
          <p:cNvSpPr/>
          <p:nvPr/>
        </p:nvSpPr>
        <p:spPr>
          <a:xfrm>
            <a:off x="585216" y="3072384"/>
            <a:ext cx="11021263" cy="603504"/>
          </a:xfrm>
          <a:prstGeom prst="rect">
            <a:avLst/>
          </a:prstGeom>
          <a:solidFill>
            <a:srgbClr val="1824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640080" y="3108960"/>
            <a:ext cx="3171047" cy="530352"/>
          </a:xfrm>
          <a:prstGeom prst="rect">
            <a:avLst/>
          </a:prstGeom>
          <a:noFill/>
        </p:spPr>
        <p:txBody>
          <a:bodyPr wrap="square" lIns="45720" rIns="45720" tIns="27432" bIns="27432" anchor="ctr">
            <a:noAutofit/>
          </a:bodyPr>
          <a:lstStyle/>
          <a:p>
            <a:pPr algn="l">
              <a:lnSpc>
                <a:spcPct val="100000"/>
              </a:lnSpc>
            </a:pPr>
            <a:r>
              <a:rPr sz="1500" b="0" i="0">
                <a:solidFill>
                  <a:srgbClr val="F7F2E8"/>
                </a:solidFill>
                <a:latin typeface="Segoe UI Semibold"/>
              </a:rPr>
              <a:t>Interactor / 21 oct</a:t>
            </a:r>
          </a:p>
        </p:txBody>
      </p:sp>
      <p:sp>
        <p:nvSpPr>
          <p:cNvPr id="16" name="TextBox 15"/>
          <p:cNvSpPr txBox="1"/>
          <p:nvPr/>
        </p:nvSpPr>
        <p:spPr>
          <a:xfrm>
            <a:off x="3957431" y="3108960"/>
            <a:ext cx="7594183" cy="530352"/>
          </a:xfrm>
          <a:prstGeom prst="rect">
            <a:avLst/>
          </a:prstGeom>
          <a:noFill/>
        </p:spPr>
        <p:txBody>
          <a:bodyPr wrap="square" lIns="45720" rIns="45720" tIns="27432" bIns="27432" anchor="ctr">
            <a:noAutofit/>
          </a:bodyPr>
          <a:lstStyle/>
          <a:p>
            <a:pPr algn="l">
              <a:lnSpc>
                <a:spcPct val="100000"/>
              </a:lnSpc>
            </a:pPr>
            <a:r>
              <a:rPr sz="1500" b="0" i="0">
                <a:solidFill>
                  <a:srgbClr val="A7B2B0"/>
                </a:solidFill>
                <a:latin typeface="Segoe UI"/>
              </a:rPr>
              <a:t>35/35 revisiones, incluidos tres casos configurados con un modelo real; ejecuciones posteriores de la UI agregan cobertura de interrupción y recuperación.</a:t>
            </a:r>
          </a:p>
        </p:txBody>
      </p:sp>
      <p:sp>
        <p:nvSpPr>
          <p:cNvPr id="17" name="TextBox 16"/>
          <p:cNvSpPr txBox="1"/>
          <p:nvPr/>
        </p:nvSpPr>
        <p:spPr>
          <a:xfrm>
            <a:off x="640080" y="3712463"/>
            <a:ext cx="3171047" cy="530352"/>
          </a:xfrm>
          <a:prstGeom prst="rect">
            <a:avLst/>
          </a:prstGeom>
          <a:noFill/>
        </p:spPr>
        <p:txBody>
          <a:bodyPr wrap="square" lIns="45720" rIns="45720" tIns="27432" bIns="27432" anchor="ctr">
            <a:noAutofit/>
          </a:bodyPr>
          <a:lstStyle/>
          <a:p>
            <a:pPr algn="l">
              <a:lnSpc>
                <a:spcPct val="100000"/>
              </a:lnSpc>
            </a:pPr>
            <a:r>
              <a:rPr sz="1500" b="0" i="0">
                <a:solidFill>
                  <a:srgbClr val="F7F2E8"/>
                </a:solidFill>
                <a:latin typeface="Segoe UI Semibold"/>
              </a:rPr>
              <a:t>Modos DEV finales / 21 oct</a:t>
            </a:r>
          </a:p>
        </p:txBody>
      </p:sp>
      <p:sp>
        <p:nvSpPr>
          <p:cNvPr id="18" name="TextBox 17"/>
          <p:cNvSpPr txBox="1"/>
          <p:nvPr/>
        </p:nvSpPr>
        <p:spPr>
          <a:xfrm>
            <a:off x="3957431" y="3712463"/>
            <a:ext cx="7594183" cy="530352"/>
          </a:xfrm>
          <a:prstGeom prst="rect">
            <a:avLst/>
          </a:prstGeom>
          <a:noFill/>
        </p:spPr>
        <p:txBody>
          <a:bodyPr wrap="square" lIns="45720" rIns="45720" tIns="27432" bIns="27432" anchor="ctr">
            <a:noAutofit/>
          </a:bodyPr>
          <a:lstStyle/>
          <a:p>
            <a:pPr algn="l">
              <a:lnSpc>
                <a:spcPct val="100000"/>
              </a:lnSpc>
            </a:pPr>
            <a:r>
              <a:rPr sz="1500" b="0" i="0">
                <a:solidFill>
                  <a:srgbClr val="A7B2B0"/>
                </a:solidFill>
                <a:latin typeface="Segoe UI"/>
              </a:rPr>
              <a:t>19/19 revisiones visibles; 136 pasaron + 2 saltadas entre 138 pruebas enfocadas de Django.</a:t>
            </a:r>
          </a:p>
        </p:txBody>
      </p:sp>
      <p:sp>
        <p:nvSpPr>
          <p:cNvPr id="19" name="Rectangle 18"/>
          <p:cNvSpPr/>
          <p:nvPr/>
        </p:nvSpPr>
        <p:spPr>
          <a:xfrm>
            <a:off x="585216" y="4279392"/>
            <a:ext cx="11021263" cy="603504"/>
          </a:xfrm>
          <a:prstGeom prst="rect">
            <a:avLst/>
          </a:prstGeom>
          <a:solidFill>
            <a:srgbClr val="1824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640080" y="4315968"/>
            <a:ext cx="3171047" cy="530352"/>
          </a:xfrm>
          <a:prstGeom prst="rect">
            <a:avLst/>
          </a:prstGeom>
          <a:noFill/>
        </p:spPr>
        <p:txBody>
          <a:bodyPr wrap="square" lIns="45720" rIns="45720" tIns="27432" bIns="27432" anchor="ctr">
            <a:noAutofit/>
          </a:bodyPr>
          <a:lstStyle/>
          <a:p>
            <a:pPr algn="l">
              <a:lnSpc>
                <a:spcPct val="100000"/>
              </a:lnSpc>
            </a:pPr>
            <a:r>
              <a:rPr sz="1500" b="0" i="0">
                <a:solidFill>
                  <a:srgbClr val="F7F2E8"/>
                </a:solidFill>
                <a:latin typeface="Segoe UI Semibold"/>
              </a:rPr>
              <a:t>v1.89.0 congelado más viejo</a:t>
            </a:r>
          </a:p>
        </p:txBody>
      </p:sp>
      <p:sp>
        <p:nvSpPr>
          <p:cNvPr id="21" name="TextBox 20"/>
          <p:cNvSpPr txBox="1"/>
          <p:nvPr/>
        </p:nvSpPr>
        <p:spPr>
          <a:xfrm>
            <a:off x="3957431" y="4315968"/>
            <a:ext cx="7594183" cy="530352"/>
          </a:xfrm>
          <a:prstGeom prst="rect">
            <a:avLst/>
          </a:prstGeom>
          <a:noFill/>
        </p:spPr>
        <p:txBody>
          <a:bodyPr wrap="square" lIns="45720" rIns="45720" tIns="27432" bIns="27432" anchor="ctr">
            <a:noAutofit/>
          </a:bodyPr>
          <a:lstStyle/>
          <a:p>
            <a:pPr algn="l">
              <a:lnSpc>
                <a:spcPct val="100000"/>
              </a:lnSpc>
            </a:pPr>
            <a:r>
              <a:rPr sz="1500" b="0" i="0">
                <a:solidFill>
                  <a:srgbClr val="A7B2B0"/>
                </a:solidFill>
                <a:latin typeface="Segoe UI"/>
              </a:rPr>
              <a:t>Ejecución real del cargador congelado: 16 pasaron, 2 fallaron después de la revisión visual (ausencia de pestaña y distribución angosta).</a:t>
            </a:r>
          </a:p>
        </p:txBody>
      </p:sp>
      <p:sp>
        <p:nvSpPr>
          <p:cNvPr id="22" name="TextBox 21"/>
          <p:cNvSpPr txBox="1"/>
          <p:nvPr/>
        </p:nvSpPr>
        <p:spPr>
          <a:xfrm>
            <a:off x="640080" y="4919472"/>
            <a:ext cx="3171047" cy="530352"/>
          </a:xfrm>
          <a:prstGeom prst="rect">
            <a:avLst/>
          </a:prstGeom>
          <a:noFill/>
        </p:spPr>
        <p:txBody>
          <a:bodyPr wrap="square" lIns="45720" rIns="45720" tIns="27432" bIns="27432" anchor="ctr">
            <a:noAutofit/>
          </a:bodyPr>
          <a:lstStyle/>
          <a:p>
            <a:pPr algn="l">
              <a:lnSpc>
                <a:spcPct val="100000"/>
              </a:lnSpc>
            </a:pPr>
            <a:r>
              <a:rPr sz="1500" b="0" i="0">
                <a:solidFill>
                  <a:srgbClr val="F7F2E8"/>
                </a:solidFill>
                <a:latin typeface="Segoe UI Semibold"/>
              </a:rPr>
              <a:t>Protecciones del asistente / 22 oct</a:t>
            </a:r>
          </a:p>
        </p:txBody>
      </p:sp>
      <p:sp>
        <p:nvSpPr>
          <p:cNvPr id="23" name="TextBox 22"/>
          <p:cNvSpPr txBox="1"/>
          <p:nvPr/>
        </p:nvSpPr>
        <p:spPr>
          <a:xfrm>
            <a:off x="3957431" y="4919472"/>
            <a:ext cx="7594183" cy="530352"/>
          </a:xfrm>
          <a:prstGeom prst="rect">
            <a:avLst/>
          </a:prstGeom>
          <a:noFill/>
        </p:spPr>
        <p:txBody>
          <a:bodyPr wrap="square" lIns="45720" rIns="45720" tIns="27432" bIns="27432" anchor="ctr">
            <a:noAutofit/>
          </a:bodyPr>
          <a:lstStyle/>
          <a:p>
            <a:pPr algn="l">
              <a:lnSpc>
                <a:spcPct val="100000"/>
              </a:lnSpc>
            </a:pPr>
            <a:r>
              <a:rPr sz="1500" b="0" i="0">
                <a:solidFill>
                  <a:srgbClr val="A7B2B0"/>
                </a:solidFill>
                <a:latin typeface="Segoe UI"/>
              </a:rPr>
              <a:t>179 pruebas pasaron; la repetición exacta de la solicitud instalada pasó. Efectos de tools controlados; sin cuenta ni notificación reales.</a:t>
            </a:r>
          </a:p>
        </p:txBody>
      </p:sp>
      <p:sp>
        <p:nvSpPr>
          <p:cNvPr id="24" name="Rectangle 23"/>
          <p:cNvSpPr/>
          <p:nvPr/>
        </p:nvSpPr>
        <p:spPr>
          <a:xfrm>
            <a:off x="585216" y="5486400"/>
            <a:ext cx="11021263" cy="603504"/>
          </a:xfrm>
          <a:prstGeom prst="rect">
            <a:avLst/>
          </a:prstGeom>
          <a:solidFill>
            <a:srgbClr val="1824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TextBox 24"/>
          <p:cNvSpPr txBox="1"/>
          <p:nvPr/>
        </p:nvSpPr>
        <p:spPr>
          <a:xfrm>
            <a:off x="640080" y="5522976"/>
            <a:ext cx="3171047" cy="530352"/>
          </a:xfrm>
          <a:prstGeom prst="rect">
            <a:avLst/>
          </a:prstGeom>
          <a:noFill/>
        </p:spPr>
        <p:txBody>
          <a:bodyPr wrap="square" lIns="45720" rIns="45720" tIns="27432" bIns="27432" anchor="ctr">
            <a:noAutofit/>
          </a:bodyPr>
          <a:lstStyle/>
          <a:p>
            <a:pPr algn="l">
              <a:lnSpc>
                <a:spcPct val="100000"/>
              </a:lnSpc>
            </a:pPr>
            <a:r>
              <a:rPr sz="1500" b="0" i="0">
                <a:solidFill>
                  <a:srgbClr val="F7F2E8"/>
                </a:solidFill>
                <a:latin typeface="Segoe UI Semibold"/>
              </a:rPr>
              <a:t>Paquete nuevo de v1.90.0</a:t>
            </a:r>
          </a:p>
        </p:txBody>
      </p:sp>
      <p:sp>
        <p:nvSpPr>
          <p:cNvPr id="26" name="TextBox 25"/>
          <p:cNvSpPr txBox="1"/>
          <p:nvPr/>
        </p:nvSpPr>
        <p:spPr>
          <a:xfrm>
            <a:off x="3957431" y="5522976"/>
            <a:ext cx="7594183" cy="530352"/>
          </a:xfrm>
          <a:prstGeom prst="rect">
            <a:avLst/>
          </a:prstGeom>
          <a:noFill/>
        </p:spPr>
        <p:txBody>
          <a:bodyPr wrap="square" lIns="45720" rIns="45720" tIns="27432" bIns="27432" anchor="ctr">
            <a:noAutofit/>
          </a:bodyPr>
          <a:lstStyle/>
          <a:p>
            <a:pPr algn="l">
              <a:lnSpc>
                <a:spcPct val="100000"/>
              </a:lnSpc>
            </a:pPr>
            <a:r>
              <a:rPr sz="1500" b="0" i="0">
                <a:solidFill>
                  <a:srgbClr val="A7B2B0"/>
                </a:solidFill>
                <a:latin typeface="Segoe UI"/>
              </a:rPr>
              <a:t>Esta revisión de la documentación no afirma ninguna nueva aceptación del paquete instalado.</a:t>
            </a:r>
          </a:p>
        </p:txBody>
      </p:sp>
      <p:cxnSp>
        <p:nvCxnSpPr>
          <p:cNvPr id="27" name="Connector 26"/>
          <p:cNvCxnSpPr/>
          <p:nvPr/>
        </p:nvCxnSpPr>
        <p:spPr>
          <a:xfrm>
            <a:off x="566928" y="6373368"/>
            <a:ext cx="11057839" cy="0"/>
          </a:xfrm>
          <a:prstGeom prst="line">
            <a:avLst/>
          </a:prstGeom>
          <a:ln w="7620">
            <a:solidFill>
              <a:srgbClr val="2A3A40"/>
            </a:solidFill>
          </a:ln>
        </p:spPr>
        <p:style>
          <a:lnRef idx="2">
            <a:schemeClr val="accent1"/>
          </a:lnRef>
          <a:fillRef idx="0">
            <a:schemeClr val="accent1"/>
          </a:fillRef>
          <a:effectRef idx="1">
            <a:schemeClr val="accent1"/>
          </a:effectRef>
          <a:fontRef idx="minor">
            <a:schemeClr val="tx1"/>
          </a:fontRef>
        </p:style>
      </p:cxnSp>
      <p:sp>
        <p:nvSpPr>
          <p:cNvPr id="28" name="TextBox 27"/>
          <p:cNvSpPr txBox="1"/>
          <p:nvPr/>
        </p:nvSpPr>
        <p:spPr>
          <a:xfrm>
            <a:off x="566928" y="6419088"/>
            <a:ext cx="6858000" cy="274320"/>
          </a:xfrm>
          <a:prstGeom prst="rect">
            <a:avLst/>
          </a:prstGeom>
          <a:noFill/>
        </p:spPr>
        <p:txBody>
          <a:bodyPr wrap="square" lIns="45720" rIns="45720" tIns="27432" bIns="27432" anchor="t">
            <a:noAutofit/>
          </a:bodyPr>
          <a:lstStyle/>
          <a:p>
            <a:pPr algn="l">
              <a:lnSpc>
                <a:spcPct val="100000"/>
              </a:lnSpc>
            </a:pPr>
            <a:r>
              <a:rPr sz="850" b="0" i="0" spc="120">
                <a:solidFill>
                  <a:srgbClr val="A7B2B0"/>
                </a:solidFill>
                <a:latin typeface="Segoe UI Semibold"/>
              </a:rPr>
              <a:t>TLAMATINI  ·  VIII · RELEASE ACTUAL</a:t>
            </a:r>
          </a:p>
        </p:txBody>
      </p:sp>
      <p:sp>
        <p:nvSpPr>
          <p:cNvPr id="29" name="TextBox 28"/>
          <p:cNvSpPr txBox="1"/>
          <p:nvPr/>
        </p:nvSpPr>
        <p:spPr>
          <a:xfrm>
            <a:off x="8698687" y="6419088"/>
            <a:ext cx="2926080" cy="274320"/>
          </a:xfrm>
          <a:prstGeom prst="rect">
            <a:avLst/>
          </a:prstGeom>
          <a:noFill/>
        </p:spPr>
        <p:txBody>
          <a:bodyPr wrap="square" lIns="45720" rIns="45720" tIns="27432" bIns="27432" anchor="t">
            <a:noAutofit/>
          </a:bodyPr>
          <a:lstStyle/>
          <a:p>
            <a:pPr algn="r">
              <a:lnSpc>
                <a:spcPct val="100000"/>
              </a:lnSpc>
            </a:pPr>
            <a:r>
              <a:rPr sz="850" b="0" i="0" spc="100">
                <a:solidFill>
                  <a:srgbClr val="A7B2B0"/>
                </a:solidFill>
                <a:latin typeface="Segoe UI Semibold"/>
              </a:rPr>
              <a:t>v1.91.1   ·   123</a:t>
            </a:r>
          </a:p>
        </p:txBody>
      </p:sp>
    </p:spTree>
  </p:cSld>
  <p:clrMapOvr>
    <a:masterClrMapping/>
  </p:clrMapOvr>
</p:sld>
</file>

<file path=ppt/slides/slide1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content.png"/>
          <p:cNvPicPr>
            <a:picLocks noChangeAspect="1"/>
          </p:cNvPicPr>
          <p:nvPr/>
        </p:nvPicPr>
        <p:blipFill>
          <a:blip r:embed="rId2"/>
          <a:stretch>
            <a:fillRect/>
          </a:stretch>
        </p:blipFill>
        <p:spPr>
          <a:xfrm>
            <a:off x="0" y="0"/>
            <a:ext cx="12191695" cy="6858000"/>
          </a:xfrm>
          <a:prstGeom prst="rect">
            <a:avLst/>
          </a:prstGeom>
        </p:spPr>
      </p:pic>
      <p:sp>
        <p:nvSpPr>
          <p:cNvPr id="3" name="Diamond 2"/>
          <p:cNvSpPr/>
          <p:nvPr/>
        </p:nvSpPr>
        <p:spPr>
          <a:xfrm>
            <a:off x="566928" y="457200"/>
            <a:ext cx="100584" cy="100584"/>
          </a:xfrm>
          <a:prstGeom prst="diamond">
            <a:avLst/>
          </a:prstGeom>
          <a:solidFill>
            <a:srgbClr val="E2B4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49808" y="365760"/>
            <a:ext cx="8229600" cy="292608"/>
          </a:xfrm>
          <a:prstGeom prst="rect">
            <a:avLst/>
          </a:prstGeom>
          <a:noFill/>
        </p:spPr>
        <p:txBody>
          <a:bodyPr wrap="square" lIns="45720" rIns="45720" tIns="27432" bIns="27432" anchor="t">
            <a:noAutofit/>
          </a:bodyPr>
          <a:lstStyle/>
          <a:p>
            <a:pPr algn="l">
              <a:lnSpc>
                <a:spcPct val="100000"/>
              </a:lnSpc>
            </a:pPr>
            <a:r>
              <a:rPr sz="1100" b="0" i="0" spc="240">
                <a:solidFill>
                  <a:srgbClr val="C98457"/>
                </a:solidFill>
                <a:latin typeface="Segoe UI Semibold"/>
              </a:rPr>
              <a:t>HEREDADO DE v1.88.0</a:t>
            </a:r>
          </a:p>
        </p:txBody>
      </p:sp>
      <p:sp>
        <p:nvSpPr>
          <p:cNvPr id="5" name="TextBox 4"/>
          <p:cNvSpPr txBox="1"/>
          <p:nvPr/>
        </p:nvSpPr>
        <p:spPr>
          <a:xfrm>
            <a:off x="539496" y="676656"/>
            <a:ext cx="11057839" cy="658368"/>
          </a:xfrm>
          <a:prstGeom prst="rect">
            <a:avLst/>
          </a:prstGeom>
          <a:noFill/>
        </p:spPr>
        <p:txBody>
          <a:bodyPr wrap="square" lIns="45720" rIns="45720" tIns="27432" bIns="27432" anchor="t">
            <a:noAutofit/>
          </a:bodyPr>
          <a:lstStyle/>
          <a:p>
            <a:pPr algn="l">
              <a:lnSpc>
                <a:spcPct val="100000"/>
              </a:lnSpc>
            </a:pPr>
            <a:r>
              <a:rPr sz="3100" b="0" i="0">
                <a:solidFill>
                  <a:srgbClr val="F7F2E8"/>
                </a:solidFill>
                <a:latin typeface="Palatino Linotype"/>
              </a:rPr>
              <a:t>Terminales a la vista y un release privado con tus datos</a:t>
            </a:r>
          </a:p>
        </p:txBody>
      </p:sp>
      <p:sp>
        <p:nvSpPr>
          <p:cNvPr id="6" name="Rectangle 5"/>
          <p:cNvSpPr/>
          <p:nvPr/>
        </p:nvSpPr>
        <p:spPr>
          <a:xfrm>
            <a:off x="566928" y="1344168"/>
            <a:ext cx="822960" cy="36576"/>
          </a:xfrm>
          <a:prstGeom prst="rect">
            <a:avLst/>
          </a:prstGeom>
          <a:solidFill>
            <a:srgbClr val="E2B4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566928" y="1444752"/>
            <a:ext cx="10692079" cy="585216"/>
          </a:xfrm>
          <a:prstGeom prst="rect">
            <a:avLst/>
          </a:prstGeom>
          <a:noFill/>
        </p:spPr>
        <p:txBody>
          <a:bodyPr wrap="square" lIns="45720" rIns="45720" tIns="27432" bIns="27432" anchor="t">
            <a:noAutofit/>
          </a:bodyPr>
          <a:lstStyle/>
          <a:p>
            <a:pPr algn="l">
              <a:lnSpc>
                <a:spcPct val="100000"/>
              </a:lnSpc>
            </a:pPr>
            <a:r>
              <a:rPr sz="1450" b="0" i="0">
                <a:solidFill>
                  <a:srgbClr val="A7B2B0"/>
                </a:solidFill>
                <a:latin typeface="Segoe UI Semilight"/>
              </a:rPr>
              <a:t>Tlamatini v1.88.0 introdujo Terminater; su tag se creó el 20 de octubre.</a:t>
            </a:r>
          </a:p>
        </p:txBody>
      </p:sp>
      <p:sp>
        <p:nvSpPr>
          <p:cNvPr id="8" name="Rounded Rectangle 7"/>
          <p:cNvSpPr/>
          <p:nvPr/>
        </p:nvSpPr>
        <p:spPr>
          <a:xfrm>
            <a:off x="566928" y="2084831"/>
            <a:ext cx="5428335" cy="1956816"/>
          </a:xfrm>
          <a:prstGeom prst="roundRect">
            <a:avLst>
              <a:gd name="adj" fmla="val 5607"/>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ectangle 8"/>
          <p:cNvSpPr/>
          <p:nvPr/>
        </p:nvSpPr>
        <p:spPr>
          <a:xfrm>
            <a:off x="731520" y="2212848"/>
            <a:ext cx="502920" cy="45720"/>
          </a:xfrm>
          <a:prstGeom prst="rect">
            <a:avLst/>
          </a:prstGeom>
          <a:solidFill>
            <a:srgbClr val="3BBE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694944" y="2304287"/>
            <a:ext cx="5172303" cy="353568"/>
          </a:xfrm>
          <a:prstGeom prst="rect">
            <a:avLst/>
          </a:prstGeom>
          <a:noFill/>
        </p:spPr>
        <p:txBody>
          <a:bodyPr wrap="square" lIns="45720" rIns="45720" tIns="27432" bIns="27432" anchor="t">
            <a:noAutofit/>
          </a:bodyPr>
          <a:lstStyle/>
          <a:p>
            <a:pPr algn="l">
              <a:lnSpc>
                <a:spcPct val="100000"/>
              </a:lnSpc>
            </a:pPr>
            <a:r>
              <a:rPr sz="1600" b="0" i="0">
                <a:solidFill>
                  <a:srgbClr val="F7F2E8"/>
                </a:solidFill>
                <a:latin typeface="Segoe UI Semibold"/>
              </a:rPr>
              <a:t>Terminales</a:t>
            </a:r>
          </a:p>
        </p:txBody>
      </p:sp>
      <p:sp>
        <p:nvSpPr>
          <p:cNvPr id="11" name="TextBox 10"/>
          <p:cNvSpPr txBox="1"/>
          <p:nvPr/>
        </p:nvSpPr>
        <p:spPr>
          <a:xfrm>
            <a:off x="694944" y="2657855"/>
            <a:ext cx="5172303" cy="1292352"/>
          </a:xfrm>
          <a:prstGeom prst="rect">
            <a:avLst/>
          </a:prstGeom>
          <a:noFill/>
        </p:spPr>
        <p:txBody>
          <a:bodyPr wrap="square" lIns="45720" rIns="45720" tIns="27432" bIns="27432" anchor="t">
            <a:noAutofit/>
          </a:bodyPr>
          <a:lstStyle/>
          <a:p>
            <a:pPr algn="l">
              <a:lnSpc>
                <a:spcPct val="100000"/>
              </a:lnSpc>
            </a:pPr>
            <a:r>
              <a:rPr sz="1300" b="0" i="0">
                <a:solidFill>
                  <a:srgbClr val="A7B2B0"/>
                </a:solidFill>
                <a:latin typeface="Segoe UI"/>
              </a:rPr>
              <a:t>CMD y PowerShell reales que puedes ver, tecleados como una persona, con entrega del teclado.</a:t>
            </a:r>
          </a:p>
        </p:txBody>
      </p:sp>
      <p:sp>
        <p:nvSpPr>
          <p:cNvPr id="12" name="Rounded Rectangle 11"/>
          <p:cNvSpPr/>
          <p:nvPr/>
        </p:nvSpPr>
        <p:spPr>
          <a:xfrm>
            <a:off x="6196431" y="2084831"/>
            <a:ext cx="5428335" cy="1956816"/>
          </a:xfrm>
          <a:prstGeom prst="roundRect">
            <a:avLst>
              <a:gd name="adj" fmla="val 5607"/>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6361023" y="2212848"/>
            <a:ext cx="502920" cy="45720"/>
          </a:xfrm>
          <a:prstGeom prst="rect">
            <a:avLst/>
          </a:prstGeom>
          <a:solidFill>
            <a:srgbClr val="C984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324447" y="2304287"/>
            <a:ext cx="5172303" cy="353568"/>
          </a:xfrm>
          <a:prstGeom prst="rect">
            <a:avLst/>
          </a:prstGeom>
          <a:noFill/>
        </p:spPr>
        <p:txBody>
          <a:bodyPr wrap="square" lIns="45720" rIns="45720" tIns="27432" bIns="27432" anchor="t">
            <a:noAutofit/>
          </a:bodyPr>
          <a:lstStyle/>
          <a:p>
            <a:pPr algn="l">
              <a:lnSpc>
                <a:spcPct val="100000"/>
              </a:lnSpc>
            </a:pPr>
            <a:r>
              <a:rPr sz="1600" b="0" i="0">
                <a:solidFill>
                  <a:srgbClr val="F7F2E8"/>
                </a:solidFill>
                <a:latin typeface="Segoe UI Semibold"/>
              </a:rPr>
              <a:t>Conteos actuales</a:t>
            </a:r>
          </a:p>
        </p:txBody>
      </p:sp>
      <p:sp>
        <p:nvSpPr>
          <p:cNvPr id="15" name="TextBox 14"/>
          <p:cNvSpPr txBox="1"/>
          <p:nvPr/>
        </p:nvSpPr>
        <p:spPr>
          <a:xfrm>
            <a:off x="6324447" y="2657855"/>
            <a:ext cx="5172303" cy="1292352"/>
          </a:xfrm>
          <a:prstGeom prst="rect">
            <a:avLst/>
          </a:prstGeom>
          <a:noFill/>
        </p:spPr>
        <p:txBody>
          <a:bodyPr wrap="square" lIns="45720" rIns="45720" tIns="27432" bIns="27432" anchor="t">
            <a:noAutofit/>
          </a:bodyPr>
          <a:lstStyle/>
          <a:p>
            <a:pPr algn="l">
              <a:lnSpc>
                <a:spcPct val="100000"/>
              </a:lnSpc>
            </a:pPr>
            <a:r>
              <a:rPr sz="1300" b="0" i="0">
                <a:solidFill>
                  <a:srgbClr val="A7B2B0"/>
                </a:solidFill>
                <a:latin typeface="Segoe UI"/>
              </a:rPr>
              <a:t>86 agents · 67 wrapped · 110 tools · 220 migraciones.</a:t>
            </a:r>
          </a:p>
        </p:txBody>
      </p:sp>
      <p:sp>
        <p:nvSpPr>
          <p:cNvPr id="16" name="Rounded Rectangle 15"/>
          <p:cNvSpPr/>
          <p:nvPr/>
        </p:nvSpPr>
        <p:spPr>
          <a:xfrm>
            <a:off x="566928" y="4242816"/>
            <a:ext cx="5428335" cy="1956816"/>
          </a:xfrm>
          <a:prstGeom prst="roundRect">
            <a:avLst>
              <a:gd name="adj" fmla="val 5607"/>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31520" y="4370832"/>
            <a:ext cx="502920" cy="45720"/>
          </a:xfrm>
          <a:prstGeom prst="rect">
            <a:avLst/>
          </a:prstGeom>
          <a:solidFill>
            <a:srgbClr val="E2B4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694944" y="4462272"/>
            <a:ext cx="5172303" cy="353568"/>
          </a:xfrm>
          <a:prstGeom prst="rect">
            <a:avLst/>
          </a:prstGeom>
          <a:noFill/>
        </p:spPr>
        <p:txBody>
          <a:bodyPr wrap="square" lIns="45720" rIns="45720" tIns="27432" bIns="27432" anchor="t">
            <a:noAutofit/>
          </a:bodyPr>
          <a:lstStyle/>
          <a:p>
            <a:pPr algn="l">
              <a:lnSpc>
                <a:spcPct val="100000"/>
              </a:lnSpc>
            </a:pPr>
            <a:r>
              <a:rPr sz="1600" b="0" i="0">
                <a:solidFill>
                  <a:srgbClr val="F7F2E8"/>
                </a:solidFill>
                <a:latin typeface="Segoe UI Semibold"/>
              </a:rPr>
              <a:t>Compuerta</a:t>
            </a:r>
          </a:p>
        </p:txBody>
      </p:sp>
      <p:sp>
        <p:nvSpPr>
          <p:cNvPr id="19" name="TextBox 18"/>
          <p:cNvSpPr txBox="1"/>
          <p:nvPr/>
        </p:nvSpPr>
        <p:spPr>
          <a:xfrm>
            <a:off x="694944" y="4815840"/>
            <a:ext cx="5172303" cy="1292352"/>
          </a:xfrm>
          <a:prstGeom prst="rect">
            <a:avLst/>
          </a:prstGeom>
          <a:noFill/>
        </p:spPr>
        <p:txBody>
          <a:bodyPr wrap="square" lIns="45720" rIns="45720" tIns="27432" bIns="27432" anchor="t">
            <a:noAutofit/>
          </a:bodyPr>
          <a:lstStyle/>
          <a:p>
            <a:pPr algn="l">
              <a:lnSpc>
                <a:spcPct val="100000"/>
              </a:lnSpc>
            </a:pPr>
            <a:r>
              <a:rPr sz="1300" b="0" i="0">
                <a:solidFill>
                  <a:srgbClr val="A7B2B0"/>
                </a:solidFill>
                <a:latin typeface="Segoe UI"/>
              </a:rPr>
              <a:t>check_terminater corre dentro de la app congelada; el empaquetado se detiene si falla.</a:t>
            </a:r>
          </a:p>
        </p:txBody>
      </p:sp>
      <p:sp>
        <p:nvSpPr>
          <p:cNvPr id="20" name="Rounded Rectangle 19"/>
          <p:cNvSpPr/>
          <p:nvPr/>
        </p:nvSpPr>
        <p:spPr>
          <a:xfrm>
            <a:off x="6196431" y="4242816"/>
            <a:ext cx="5428335" cy="1956816"/>
          </a:xfrm>
          <a:prstGeom prst="roundRect">
            <a:avLst>
              <a:gd name="adj" fmla="val 5607"/>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ectangle 20"/>
          <p:cNvSpPr/>
          <p:nvPr/>
        </p:nvSpPr>
        <p:spPr>
          <a:xfrm>
            <a:off x="6361023" y="4370832"/>
            <a:ext cx="502920" cy="45720"/>
          </a:xfrm>
          <a:prstGeom prst="rect">
            <a:avLst/>
          </a:prstGeom>
          <a:solidFill>
            <a:srgbClr val="46D2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6324447" y="4462272"/>
            <a:ext cx="5172303" cy="353568"/>
          </a:xfrm>
          <a:prstGeom prst="rect">
            <a:avLst/>
          </a:prstGeom>
          <a:noFill/>
        </p:spPr>
        <p:txBody>
          <a:bodyPr wrap="square" lIns="45720" rIns="45720" tIns="27432" bIns="27432" anchor="t">
            <a:noAutofit/>
          </a:bodyPr>
          <a:lstStyle/>
          <a:p>
            <a:pPr algn="l">
              <a:lnSpc>
                <a:spcPct val="100000"/>
              </a:lnSpc>
            </a:pPr>
            <a:r>
              <a:rPr sz="1600" b="0" i="0">
                <a:solidFill>
                  <a:srgbClr val="F7F2E8"/>
                </a:solidFill>
                <a:latin typeface="Segoe UI Semibold"/>
              </a:rPr>
              <a:t>Release privado</a:t>
            </a:r>
          </a:p>
        </p:txBody>
      </p:sp>
      <p:sp>
        <p:nvSpPr>
          <p:cNvPr id="23" name="TextBox 22"/>
          <p:cNvSpPr txBox="1"/>
          <p:nvPr/>
        </p:nvSpPr>
        <p:spPr>
          <a:xfrm>
            <a:off x="6324447" y="4815840"/>
            <a:ext cx="5172303" cy="1292352"/>
          </a:xfrm>
          <a:prstGeom prst="rect">
            <a:avLst/>
          </a:prstGeom>
          <a:noFill/>
        </p:spPr>
        <p:txBody>
          <a:bodyPr wrap="square" lIns="45720" rIns="45720" tIns="27432" bIns="27432" anchor="t">
            <a:noAutofit/>
          </a:bodyPr>
          <a:lstStyle/>
          <a:p>
            <a:pPr algn="l">
              <a:lnSpc>
                <a:spcPct val="100000"/>
              </a:lnSpc>
            </a:pPr>
            <a:r>
              <a:rPr sz="1300" b="0" i="0">
                <a:solidFill>
                  <a:srgbClr val="A7B2B0"/>
                </a:solidFill>
                <a:latin typeface="Segoe UI"/>
              </a:rPr>
              <a:t>Los servidores de External MCP y data.keys viajan sólo en el build con llaves.</a:t>
            </a:r>
          </a:p>
        </p:txBody>
      </p:sp>
      <p:cxnSp>
        <p:nvCxnSpPr>
          <p:cNvPr id="24" name="Connector 23"/>
          <p:cNvCxnSpPr/>
          <p:nvPr/>
        </p:nvCxnSpPr>
        <p:spPr>
          <a:xfrm>
            <a:off x="566928" y="6373368"/>
            <a:ext cx="11057839" cy="0"/>
          </a:xfrm>
          <a:prstGeom prst="line">
            <a:avLst/>
          </a:prstGeom>
          <a:ln w="7620">
            <a:solidFill>
              <a:srgbClr val="2A3A40"/>
            </a:solidFill>
          </a:ln>
        </p:spPr>
        <p:style>
          <a:lnRef idx="2">
            <a:schemeClr val="accent1"/>
          </a:lnRef>
          <a:fillRef idx="0">
            <a:schemeClr val="accent1"/>
          </a:fillRef>
          <a:effectRef idx="1">
            <a:schemeClr val="accent1"/>
          </a:effectRef>
          <a:fontRef idx="minor">
            <a:schemeClr val="tx1"/>
          </a:fontRef>
        </p:style>
      </p:cxnSp>
      <p:sp>
        <p:nvSpPr>
          <p:cNvPr id="25" name="TextBox 24"/>
          <p:cNvSpPr txBox="1"/>
          <p:nvPr/>
        </p:nvSpPr>
        <p:spPr>
          <a:xfrm>
            <a:off x="566928" y="6419088"/>
            <a:ext cx="6858000" cy="274320"/>
          </a:xfrm>
          <a:prstGeom prst="rect">
            <a:avLst/>
          </a:prstGeom>
          <a:noFill/>
        </p:spPr>
        <p:txBody>
          <a:bodyPr wrap="square" lIns="45720" rIns="45720" tIns="27432" bIns="27432" anchor="t">
            <a:noAutofit/>
          </a:bodyPr>
          <a:lstStyle/>
          <a:p>
            <a:pPr algn="l">
              <a:lnSpc>
                <a:spcPct val="100000"/>
              </a:lnSpc>
            </a:pPr>
            <a:r>
              <a:rPr sz="850" b="0" i="0" spc="120">
                <a:solidFill>
                  <a:srgbClr val="A7B2B0"/>
                </a:solidFill>
                <a:latin typeface="Segoe UI Semibold"/>
              </a:rPr>
              <a:t>TLAMATINI  ·  VIII · RELEASE ACTUAL</a:t>
            </a:r>
          </a:p>
        </p:txBody>
      </p:sp>
      <p:sp>
        <p:nvSpPr>
          <p:cNvPr id="26" name="TextBox 25"/>
          <p:cNvSpPr txBox="1"/>
          <p:nvPr/>
        </p:nvSpPr>
        <p:spPr>
          <a:xfrm>
            <a:off x="8698687" y="6419088"/>
            <a:ext cx="2926080" cy="274320"/>
          </a:xfrm>
          <a:prstGeom prst="rect">
            <a:avLst/>
          </a:prstGeom>
          <a:noFill/>
        </p:spPr>
        <p:txBody>
          <a:bodyPr wrap="square" lIns="45720" rIns="45720" tIns="27432" bIns="27432" anchor="t">
            <a:noAutofit/>
          </a:bodyPr>
          <a:lstStyle/>
          <a:p>
            <a:pPr algn="r">
              <a:lnSpc>
                <a:spcPct val="100000"/>
              </a:lnSpc>
            </a:pPr>
            <a:r>
              <a:rPr sz="850" b="0" i="0" spc="100">
                <a:solidFill>
                  <a:srgbClr val="A7B2B0"/>
                </a:solidFill>
                <a:latin typeface="Segoe UI Semibold"/>
              </a:rPr>
              <a:t>v1.91.1   ·   124</a:t>
            </a:r>
          </a:p>
        </p:txBody>
      </p:sp>
    </p:spTree>
  </p:cSld>
  <p:clrMapOvr>
    <a:masterClrMapping/>
  </p:clrMapOvr>
</p:sld>
</file>

<file path=ppt/slides/slide1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content.png"/>
          <p:cNvPicPr>
            <a:picLocks noChangeAspect="1"/>
          </p:cNvPicPr>
          <p:nvPr/>
        </p:nvPicPr>
        <p:blipFill>
          <a:blip r:embed="rId2"/>
          <a:stretch>
            <a:fillRect/>
          </a:stretch>
        </p:blipFill>
        <p:spPr>
          <a:xfrm>
            <a:off x="0" y="0"/>
            <a:ext cx="12191695" cy="6858000"/>
          </a:xfrm>
          <a:prstGeom prst="rect">
            <a:avLst/>
          </a:prstGeom>
        </p:spPr>
      </p:pic>
      <p:sp>
        <p:nvSpPr>
          <p:cNvPr id="3" name="Diamond 2"/>
          <p:cNvSpPr/>
          <p:nvPr/>
        </p:nvSpPr>
        <p:spPr>
          <a:xfrm>
            <a:off x="566928" y="457200"/>
            <a:ext cx="100584" cy="100584"/>
          </a:xfrm>
          <a:prstGeom prst="diamond">
            <a:avLst/>
          </a:prstGeom>
          <a:solidFill>
            <a:srgbClr val="E2B4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49808" y="365760"/>
            <a:ext cx="8229600" cy="292608"/>
          </a:xfrm>
          <a:prstGeom prst="rect">
            <a:avLst/>
          </a:prstGeom>
          <a:noFill/>
        </p:spPr>
        <p:txBody>
          <a:bodyPr wrap="square" lIns="45720" rIns="45720" tIns="27432" bIns="27432" anchor="t">
            <a:noAutofit/>
          </a:bodyPr>
          <a:lstStyle/>
          <a:p>
            <a:pPr algn="l">
              <a:lnSpc>
                <a:spcPct val="100000"/>
              </a:lnSpc>
            </a:pPr>
            <a:r>
              <a:rPr sz="1100" b="0" i="0" spc="240">
                <a:solidFill>
                  <a:srgbClr val="C98457"/>
                </a:solidFill>
                <a:latin typeface="Segoe UI Semibold"/>
              </a:rPr>
              <a:t>HEREDADO DE v1.87.0</a:t>
            </a:r>
          </a:p>
        </p:txBody>
      </p:sp>
      <p:sp>
        <p:nvSpPr>
          <p:cNvPr id="5" name="TextBox 4"/>
          <p:cNvSpPr txBox="1"/>
          <p:nvPr/>
        </p:nvSpPr>
        <p:spPr>
          <a:xfrm>
            <a:off x="539496" y="676656"/>
            <a:ext cx="11057839" cy="658368"/>
          </a:xfrm>
          <a:prstGeom prst="rect">
            <a:avLst/>
          </a:prstGeom>
          <a:noFill/>
        </p:spPr>
        <p:txBody>
          <a:bodyPr wrap="square" lIns="45720" rIns="45720" tIns="27432" bIns="27432" anchor="t">
            <a:noAutofit/>
          </a:bodyPr>
          <a:lstStyle/>
          <a:p>
            <a:pPr algn="l">
              <a:lnSpc>
                <a:spcPct val="100000"/>
              </a:lnSpc>
            </a:pPr>
            <a:r>
              <a:rPr sz="3100" b="0" i="0">
                <a:solidFill>
                  <a:srgbClr val="F7F2E8"/>
                </a:solidFill>
                <a:latin typeface="Palatino Linotype"/>
              </a:rPr>
              <a:t>Menos agents, eliminación segura, release más chico</a:t>
            </a:r>
          </a:p>
        </p:txBody>
      </p:sp>
      <p:sp>
        <p:nvSpPr>
          <p:cNvPr id="6" name="Rectangle 5"/>
          <p:cNvSpPr/>
          <p:nvPr/>
        </p:nvSpPr>
        <p:spPr>
          <a:xfrm>
            <a:off x="566928" y="1344168"/>
            <a:ext cx="822960" cy="36576"/>
          </a:xfrm>
          <a:prstGeom prst="rect">
            <a:avLst/>
          </a:prstGeom>
          <a:solidFill>
            <a:srgbClr val="E2B4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566928" y="1444752"/>
            <a:ext cx="10692079" cy="585216"/>
          </a:xfrm>
          <a:prstGeom prst="rect">
            <a:avLst/>
          </a:prstGeom>
          <a:noFill/>
        </p:spPr>
        <p:txBody>
          <a:bodyPr wrap="square" lIns="45720" rIns="45720" tIns="27432" bIns="27432" anchor="t">
            <a:noAutofit/>
          </a:bodyPr>
          <a:lstStyle/>
          <a:p>
            <a:pPr algn="l">
              <a:lnSpc>
                <a:spcPct val="100000"/>
              </a:lnSpc>
            </a:pPr>
            <a:r>
              <a:rPr sz="1450" b="0" i="0">
                <a:solidFill>
                  <a:srgbClr val="A7B2B0"/>
                </a:solidFill>
                <a:latin typeface="Segoe UI Semilight"/>
              </a:rPr>
              <a:t>Con tag del 18 de octubre: el catálogo bajó a 85 agents, y la eliminación se volvió rápida y recuperable.</a:t>
            </a:r>
          </a:p>
        </p:txBody>
      </p:sp>
      <p:sp>
        <p:nvSpPr>
          <p:cNvPr id="8" name="Rounded Rectangle 7"/>
          <p:cNvSpPr/>
          <p:nvPr/>
        </p:nvSpPr>
        <p:spPr>
          <a:xfrm>
            <a:off x="566928" y="2084831"/>
            <a:ext cx="5428335" cy="1956816"/>
          </a:xfrm>
          <a:prstGeom prst="roundRect">
            <a:avLst>
              <a:gd name="adj" fmla="val 5607"/>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ectangle 8"/>
          <p:cNvSpPr/>
          <p:nvPr/>
        </p:nvSpPr>
        <p:spPr>
          <a:xfrm>
            <a:off x="731520" y="2212848"/>
            <a:ext cx="502920" cy="45720"/>
          </a:xfrm>
          <a:prstGeom prst="rect">
            <a:avLst/>
          </a:prstGeom>
          <a:solidFill>
            <a:srgbClr val="3BBE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694944" y="2304287"/>
            <a:ext cx="5172303" cy="353568"/>
          </a:xfrm>
          <a:prstGeom prst="rect">
            <a:avLst/>
          </a:prstGeom>
          <a:noFill/>
        </p:spPr>
        <p:txBody>
          <a:bodyPr wrap="square" lIns="45720" rIns="45720" tIns="27432" bIns="27432" anchor="t">
            <a:noAutofit/>
          </a:bodyPr>
          <a:lstStyle/>
          <a:p>
            <a:pPr algn="l">
              <a:lnSpc>
                <a:spcPct val="100000"/>
              </a:lnSpc>
            </a:pPr>
            <a:r>
              <a:rPr sz="1600" b="0" i="0">
                <a:solidFill>
                  <a:srgbClr val="F7F2E8"/>
                </a:solidFill>
                <a:latin typeface="Segoe UI Semibold"/>
              </a:rPr>
              <a:t>85 agents</a:t>
            </a:r>
          </a:p>
        </p:txBody>
      </p:sp>
      <p:sp>
        <p:nvSpPr>
          <p:cNvPr id="11" name="TextBox 10"/>
          <p:cNvSpPr txBox="1"/>
          <p:nvPr/>
        </p:nvSpPr>
        <p:spPr>
          <a:xfrm>
            <a:off x="694944" y="2657855"/>
            <a:ext cx="5172303" cy="1292352"/>
          </a:xfrm>
          <a:prstGeom prst="rect">
            <a:avLst/>
          </a:prstGeom>
          <a:noFill/>
        </p:spPr>
        <p:txBody>
          <a:bodyPr wrap="square" lIns="45720" rIns="45720" tIns="27432" bIns="27432" anchor="t">
            <a:noAutofit/>
          </a:bodyPr>
          <a:lstStyle/>
          <a:p>
            <a:pPr algn="l">
              <a:lnSpc>
                <a:spcPct val="100000"/>
              </a:lnSpc>
            </a:pPr>
            <a:r>
              <a:rPr sz="1300" b="0" i="0">
                <a:solidFill>
                  <a:srgbClr val="A7B2B0"/>
                </a:solidFill>
                <a:latin typeface="Segoe UI"/>
              </a:rPr>
              <a:t>Cuatro agents retirados quitados con una migración hacia adelante.</a:t>
            </a:r>
          </a:p>
        </p:txBody>
      </p:sp>
      <p:sp>
        <p:nvSpPr>
          <p:cNvPr id="12" name="Rounded Rectangle 11"/>
          <p:cNvSpPr/>
          <p:nvPr/>
        </p:nvSpPr>
        <p:spPr>
          <a:xfrm>
            <a:off x="6196431" y="2084831"/>
            <a:ext cx="5428335" cy="1956816"/>
          </a:xfrm>
          <a:prstGeom prst="roundRect">
            <a:avLst>
              <a:gd name="adj" fmla="val 5607"/>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6361023" y="2212848"/>
            <a:ext cx="502920" cy="45720"/>
          </a:xfrm>
          <a:prstGeom prst="rect">
            <a:avLst/>
          </a:prstGeom>
          <a:solidFill>
            <a:srgbClr val="C984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324447" y="2304287"/>
            <a:ext cx="5172303" cy="353568"/>
          </a:xfrm>
          <a:prstGeom prst="rect">
            <a:avLst/>
          </a:prstGeom>
          <a:noFill/>
        </p:spPr>
        <p:txBody>
          <a:bodyPr wrap="square" lIns="45720" rIns="45720" tIns="27432" bIns="27432" anchor="t">
            <a:noAutofit/>
          </a:bodyPr>
          <a:lstStyle/>
          <a:p>
            <a:pPr algn="l">
              <a:lnSpc>
                <a:spcPct val="100000"/>
              </a:lnSpc>
            </a:pPr>
            <a:r>
              <a:rPr sz="1600" b="0" i="0">
                <a:solidFill>
                  <a:srgbClr val="F7F2E8"/>
                </a:solidFill>
                <a:latin typeface="Segoe UI Semibold"/>
              </a:rPr>
              <a:t>Eliminación</a:t>
            </a:r>
          </a:p>
        </p:txBody>
      </p:sp>
      <p:sp>
        <p:nvSpPr>
          <p:cNvPr id="15" name="TextBox 14"/>
          <p:cNvSpPr txBox="1"/>
          <p:nvPr/>
        </p:nvSpPr>
        <p:spPr>
          <a:xfrm>
            <a:off x="6324447" y="2657855"/>
            <a:ext cx="5172303" cy="1292352"/>
          </a:xfrm>
          <a:prstGeom prst="rect">
            <a:avLst/>
          </a:prstGeom>
          <a:noFill/>
        </p:spPr>
        <p:txBody>
          <a:bodyPr wrap="square" lIns="45720" rIns="45720" tIns="27432" bIns="27432" anchor="t">
            <a:noAutofit/>
          </a:bodyPr>
          <a:lstStyle/>
          <a:p>
            <a:pPr algn="l">
              <a:lnSpc>
                <a:spcPct val="100000"/>
              </a:lnSpc>
            </a:pPr>
            <a:r>
              <a:rPr sz="1300" b="0" i="0">
                <a:solidFill>
                  <a:srgbClr val="A7B2B0"/>
                </a:solidFill>
                <a:latin typeface="Segoe UI"/>
              </a:rPr>
              <a:t>Mover aparte, verificar, Reintentar limpieza para lo bloqueado que queda.</a:t>
            </a:r>
          </a:p>
        </p:txBody>
      </p:sp>
      <p:sp>
        <p:nvSpPr>
          <p:cNvPr id="16" name="Rounded Rectangle 15"/>
          <p:cNvSpPr/>
          <p:nvPr/>
        </p:nvSpPr>
        <p:spPr>
          <a:xfrm>
            <a:off x="566928" y="4242816"/>
            <a:ext cx="5428335" cy="1956816"/>
          </a:xfrm>
          <a:prstGeom prst="roundRect">
            <a:avLst>
              <a:gd name="adj" fmla="val 5607"/>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31520" y="4370832"/>
            <a:ext cx="502920" cy="45720"/>
          </a:xfrm>
          <a:prstGeom prst="rect">
            <a:avLst/>
          </a:prstGeom>
          <a:solidFill>
            <a:srgbClr val="E2B4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694944" y="4462272"/>
            <a:ext cx="5172303" cy="353568"/>
          </a:xfrm>
          <a:prstGeom prst="rect">
            <a:avLst/>
          </a:prstGeom>
          <a:noFill/>
        </p:spPr>
        <p:txBody>
          <a:bodyPr wrap="square" lIns="45720" rIns="45720" tIns="27432" bIns="27432" anchor="t">
            <a:noAutofit/>
          </a:bodyPr>
          <a:lstStyle/>
          <a:p>
            <a:pPr algn="l">
              <a:lnSpc>
                <a:spcPct val="100000"/>
              </a:lnSpc>
            </a:pPr>
            <a:r>
              <a:rPr sz="1600" b="0" i="0">
                <a:solidFill>
                  <a:srgbClr val="F7F2E8"/>
                </a:solidFill>
                <a:latin typeface="Segoe UI Semibold"/>
              </a:rPr>
              <a:t>Tamaño del release</a:t>
            </a:r>
          </a:p>
        </p:txBody>
      </p:sp>
      <p:sp>
        <p:nvSpPr>
          <p:cNvPr id="19" name="TextBox 18"/>
          <p:cNvSpPr txBox="1"/>
          <p:nvPr/>
        </p:nvSpPr>
        <p:spPr>
          <a:xfrm>
            <a:off x="694944" y="4815840"/>
            <a:ext cx="5172303" cy="1292352"/>
          </a:xfrm>
          <a:prstGeom prst="rect">
            <a:avLst/>
          </a:prstGeom>
          <a:noFill/>
        </p:spPr>
        <p:txBody>
          <a:bodyPr wrap="square" lIns="45720" rIns="45720" tIns="27432" bIns="27432" anchor="t">
            <a:noAutofit/>
          </a:bodyPr>
          <a:lstStyle/>
          <a:p>
            <a:pPr algn="l">
              <a:lnSpc>
                <a:spcPct val="100000"/>
              </a:lnSpc>
            </a:pPr>
            <a:r>
              <a:rPr sz="1300" b="0" i="0">
                <a:solidFill>
                  <a:srgbClr val="A7B2B0"/>
                </a:solidFill>
                <a:latin typeface="Segoe UI"/>
              </a:rPr>
              <a:t>Las librerías de medios y de browser se incluyen una sola vez, en el Python incluido.</a:t>
            </a:r>
          </a:p>
        </p:txBody>
      </p:sp>
      <p:sp>
        <p:nvSpPr>
          <p:cNvPr id="20" name="Rounded Rectangle 19"/>
          <p:cNvSpPr/>
          <p:nvPr/>
        </p:nvSpPr>
        <p:spPr>
          <a:xfrm>
            <a:off x="6196431" y="4242816"/>
            <a:ext cx="5428335" cy="1956816"/>
          </a:xfrm>
          <a:prstGeom prst="roundRect">
            <a:avLst>
              <a:gd name="adj" fmla="val 5607"/>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ectangle 20"/>
          <p:cNvSpPr/>
          <p:nvPr/>
        </p:nvSpPr>
        <p:spPr>
          <a:xfrm>
            <a:off x="6361023" y="4370832"/>
            <a:ext cx="502920" cy="45720"/>
          </a:xfrm>
          <a:prstGeom prst="rect">
            <a:avLst/>
          </a:prstGeom>
          <a:solidFill>
            <a:srgbClr val="46D2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6324447" y="4462272"/>
            <a:ext cx="5172303" cy="353568"/>
          </a:xfrm>
          <a:prstGeom prst="rect">
            <a:avLst/>
          </a:prstGeom>
          <a:noFill/>
        </p:spPr>
        <p:txBody>
          <a:bodyPr wrap="square" lIns="45720" rIns="45720" tIns="27432" bIns="27432" anchor="t">
            <a:noAutofit/>
          </a:bodyPr>
          <a:lstStyle/>
          <a:p>
            <a:pPr algn="l">
              <a:lnSpc>
                <a:spcPct val="100000"/>
              </a:lnSpc>
            </a:pPr>
            <a:r>
              <a:rPr sz="1600" b="0" i="0">
                <a:solidFill>
                  <a:srgbClr val="F7F2E8"/>
                </a:solidFill>
                <a:latin typeface="Segoe UI Semibold"/>
              </a:rPr>
              <a:t>Calidad</a:t>
            </a:r>
          </a:p>
        </p:txBody>
      </p:sp>
      <p:sp>
        <p:nvSpPr>
          <p:cNvPr id="23" name="TextBox 22"/>
          <p:cNvSpPr txBox="1"/>
          <p:nvPr/>
        </p:nvSpPr>
        <p:spPr>
          <a:xfrm>
            <a:off x="6324447" y="4815840"/>
            <a:ext cx="5172303" cy="1292352"/>
          </a:xfrm>
          <a:prstGeom prst="rect">
            <a:avLst/>
          </a:prstGeom>
          <a:noFill/>
        </p:spPr>
        <p:txBody>
          <a:bodyPr wrap="square" lIns="45720" rIns="45720" tIns="27432" bIns="27432" anchor="t">
            <a:noAutofit/>
          </a:bodyPr>
          <a:lstStyle/>
          <a:p>
            <a:pPr algn="l">
              <a:lnSpc>
                <a:spcPct val="100000"/>
              </a:lnSpc>
            </a:pPr>
            <a:r>
              <a:rPr sz="1300" b="0" i="0">
                <a:solidFill>
                  <a:srgbClr val="A7B2B0"/>
                </a:solidFill>
                <a:latin typeface="Segoe UI"/>
              </a:rPr>
              <a:t>npm run lint:python revisa cada archivo de Python con seguimiento.</a:t>
            </a:r>
          </a:p>
        </p:txBody>
      </p:sp>
      <p:cxnSp>
        <p:nvCxnSpPr>
          <p:cNvPr id="24" name="Connector 23"/>
          <p:cNvCxnSpPr/>
          <p:nvPr/>
        </p:nvCxnSpPr>
        <p:spPr>
          <a:xfrm>
            <a:off x="566928" y="6373368"/>
            <a:ext cx="11057839" cy="0"/>
          </a:xfrm>
          <a:prstGeom prst="line">
            <a:avLst/>
          </a:prstGeom>
          <a:ln w="7620">
            <a:solidFill>
              <a:srgbClr val="2A3A40"/>
            </a:solidFill>
          </a:ln>
        </p:spPr>
        <p:style>
          <a:lnRef idx="2">
            <a:schemeClr val="accent1"/>
          </a:lnRef>
          <a:fillRef idx="0">
            <a:schemeClr val="accent1"/>
          </a:fillRef>
          <a:effectRef idx="1">
            <a:schemeClr val="accent1"/>
          </a:effectRef>
          <a:fontRef idx="minor">
            <a:schemeClr val="tx1"/>
          </a:fontRef>
        </p:style>
      </p:cxnSp>
      <p:sp>
        <p:nvSpPr>
          <p:cNvPr id="25" name="TextBox 24"/>
          <p:cNvSpPr txBox="1"/>
          <p:nvPr/>
        </p:nvSpPr>
        <p:spPr>
          <a:xfrm>
            <a:off x="566928" y="6419088"/>
            <a:ext cx="6858000" cy="274320"/>
          </a:xfrm>
          <a:prstGeom prst="rect">
            <a:avLst/>
          </a:prstGeom>
          <a:noFill/>
        </p:spPr>
        <p:txBody>
          <a:bodyPr wrap="square" lIns="45720" rIns="45720" tIns="27432" bIns="27432" anchor="t">
            <a:noAutofit/>
          </a:bodyPr>
          <a:lstStyle/>
          <a:p>
            <a:pPr algn="l">
              <a:lnSpc>
                <a:spcPct val="100000"/>
              </a:lnSpc>
            </a:pPr>
            <a:r>
              <a:rPr sz="850" b="0" i="0" spc="120">
                <a:solidFill>
                  <a:srgbClr val="A7B2B0"/>
                </a:solidFill>
                <a:latin typeface="Segoe UI Semibold"/>
              </a:rPr>
              <a:t>TLAMATINI  ·  VIII · RELEASE ACTUAL</a:t>
            </a:r>
          </a:p>
        </p:txBody>
      </p:sp>
      <p:sp>
        <p:nvSpPr>
          <p:cNvPr id="26" name="TextBox 25"/>
          <p:cNvSpPr txBox="1"/>
          <p:nvPr/>
        </p:nvSpPr>
        <p:spPr>
          <a:xfrm>
            <a:off x="8698687" y="6419088"/>
            <a:ext cx="2926080" cy="274320"/>
          </a:xfrm>
          <a:prstGeom prst="rect">
            <a:avLst/>
          </a:prstGeom>
          <a:noFill/>
        </p:spPr>
        <p:txBody>
          <a:bodyPr wrap="square" lIns="45720" rIns="45720" tIns="27432" bIns="27432" anchor="t">
            <a:noAutofit/>
          </a:bodyPr>
          <a:lstStyle/>
          <a:p>
            <a:pPr algn="r">
              <a:lnSpc>
                <a:spcPct val="100000"/>
              </a:lnSpc>
            </a:pPr>
            <a:r>
              <a:rPr sz="850" b="0" i="0" spc="100">
                <a:solidFill>
                  <a:srgbClr val="A7B2B0"/>
                </a:solidFill>
                <a:latin typeface="Segoe UI Semibold"/>
              </a:rPr>
              <a:t>v1.91.1   ·   125</a:t>
            </a:r>
          </a:p>
        </p:txBody>
      </p:sp>
    </p:spTree>
  </p:cSld>
  <p:clrMapOvr>
    <a:masterClrMapping/>
  </p:clrMapOvr>
</p:sld>
</file>

<file path=ppt/slides/slide1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content.png"/>
          <p:cNvPicPr>
            <a:picLocks noChangeAspect="1"/>
          </p:cNvPicPr>
          <p:nvPr/>
        </p:nvPicPr>
        <p:blipFill>
          <a:blip r:embed="rId2"/>
          <a:stretch>
            <a:fillRect/>
          </a:stretch>
        </p:blipFill>
        <p:spPr>
          <a:xfrm>
            <a:off x="0" y="0"/>
            <a:ext cx="12191695" cy="6858000"/>
          </a:xfrm>
          <a:prstGeom prst="rect">
            <a:avLst/>
          </a:prstGeom>
        </p:spPr>
      </p:pic>
      <p:sp>
        <p:nvSpPr>
          <p:cNvPr id="3" name="Diamond 2"/>
          <p:cNvSpPr/>
          <p:nvPr/>
        </p:nvSpPr>
        <p:spPr>
          <a:xfrm>
            <a:off x="566928" y="457200"/>
            <a:ext cx="100584" cy="100584"/>
          </a:xfrm>
          <a:prstGeom prst="diamond">
            <a:avLst/>
          </a:prstGeom>
          <a:solidFill>
            <a:srgbClr val="E2B4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49808" y="365760"/>
            <a:ext cx="8229600" cy="292608"/>
          </a:xfrm>
          <a:prstGeom prst="rect">
            <a:avLst/>
          </a:prstGeom>
          <a:noFill/>
        </p:spPr>
        <p:txBody>
          <a:bodyPr wrap="square" lIns="45720" rIns="45720" tIns="27432" bIns="27432" anchor="t">
            <a:noAutofit/>
          </a:bodyPr>
          <a:lstStyle/>
          <a:p>
            <a:pPr algn="l">
              <a:lnSpc>
                <a:spcPct val="100000"/>
              </a:lnSpc>
            </a:pPr>
            <a:r>
              <a:rPr sz="1100" b="0" i="0" spc="240">
                <a:solidFill>
                  <a:srgbClr val="C98457"/>
                </a:solidFill>
                <a:latin typeface="Segoe UI Semibold"/>
              </a:rPr>
              <a:t>NUEVO EN v1.87.0</a:t>
            </a:r>
          </a:p>
        </p:txBody>
      </p:sp>
      <p:sp>
        <p:nvSpPr>
          <p:cNvPr id="5" name="TextBox 4"/>
          <p:cNvSpPr txBox="1"/>
          <p:nvPr/>
        </p:nvSpPr>
        <p:spPr>
          <a:xfrm>
            <a:off x="539496" y="676656"/>
            <a:ext cx="11057839" cy="658368"/>
          </a:xfrm>
          <a:prstGeom prst="rect">
            <a:avLst/>
          </a:prstGeom>
          <a:noFill/>
        </p:spPr>
        <p:txBody>
          <a:bodyPr wrap="square" lIns="45720" rIns="45720" tIns="27432" bIns="27432" anchor="t">
            <a:noAutofit/>
          </a:bodyPr>
          <a:lstStyle/>
          <a:p>
            <a:pPr algn="l">
              <a:lnSpc>
                <a:spcPct val="100000"/>
              </a:lnSpc>
            </a:pPr>
            <a:r>
              <a:rPr sz="3100" b="0" i="0">
                <a:solidFill>
                  <a:srgbClr val="F7F2E8"/>
                </a:solidFill>
                <a:latin typeface="Palatino Linotype"/>
              </a:rPr>
              <a:t>Desinstalar es rápido y recuperable</a:t>
            </a:r>
          </a:p>
        </p:txBody>
      </p:sp>
      <p:sp>
        <p:nvSpPr>
          <p:cNvPr id="6" name="Rectangle 5"/>
          <p:cNvSpPr/>
          <p:nvPr/>
        </p:nvSpPr>
        <p:spPr>
          <a:xfrm>
            <a:off x="566928" y="1344168"/>
            <a:ext cx="822960" cy="36576"/>
          </a:xfrm>
          <a:prstGeom prst="rect">
            <a:avLst/>
          </a:prstGeom>
          <a:solidFill>
            <a:srgbClr val="E2B4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566928" y="1444752"/>
            <a:ext cx="10692079" cy="585216"/>
          </a:xfrm>
          <a:prstGeom prst="rect">
            <a:avLst/>
          </a:prstGeom>
          <a:noFill/>
        </p:spPr>
        <p:txBody>
          <a:bodyPr wrap="square" lIns="45720" rIns="45720" tIns="27432" bIns="27432" anchor="t">
            <a:noAutofit/>
          </a:bodyPr>
          <a:lstStyle/>
          <a:p>
            <a:pPr algn="l">
              <a:lnSpc>
                <a:spcPct val="100000"/>
              </a:lnSpc>
            </a:pPr>
            <a:r>
              <a:rPr sz="1450" b="0" i="0">
                <a:solidFill>
                  <a:srgbClr val="A7B2B0"/>
                </a:solidFill>
                <a:latin typeface="Segoe UI Semilight"/>
              </a:rPr>
              <a:t>El Desinstalador mueve las entradas a una carpeta de recuperación en vez de copiarlas y sacarles hash.</a:t>
            </a:r>
          </a:p>
        </p:txBody>
      </p:sp>
      <p:sp>
        <p:nvSpPr>
          <p:cNvPr id="8" name="Rounded Rectangle 7"/>
          <p:cNvSpPr/>
          <p:nvPr/>
        </p:nvSpPr>
        <p:spPr>
          <a:xfrm>
            <a:off x="566928" y="2084831"/>
            <a:ext cx="5428335" cy="1956816"/>
          </a:xfrm>
          <a:prstGeom prst="roundRect">
            <a:avLst>
              <a:gd name="adj" fmla="val 5607"/>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ectangle 8"/>
          <p:cNvSpPr/>
          <p:nvPr/>
        </p:nvSpPr>
        <p:spPr>
          <a:xfrm>
            <a:off x="731520" y="2212848"/>
            <a:ext cx="502920" cy="45720"/>
          </a:xfrm>
          <a:prstGeom prst="rect">
            <a:avLst/>
          </a:prstGeom>
          <a:solidFill>
            <a:srgbClr val="3BBE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694944" y="2304287"/>
            <a:ext cx="5172303" cy="353568"/>
          </a:xfrm>
          <a:prstGeom prst="rect">
            <a:avLst/>
          </a:prstGeom>
          <a:noFill/>
        </p:spPr>
        <p:txBody>
          <a:bodyPr wrap="square" lIns="45720" rIns="45720" tIns="27432" bIns="27432" anchor="t">
            <a:noAutofit/>
          </a:bodyPr>
          <a:lstStyle/>
          <a:p>
            <a:pPr algn="l">
              <a:lnSpc>
                <a:spcPct val="100000"/>
              </a:lnSpc>
            </a:pPr>
            <a:r>
              <a:rPr sz="1600" b="0" i="0">
                <a:solidFill>
                  <a:srgbClr val="F7F2E8"/>
                </a:solidFill>
                <a:latin typeface="Segoe UI Semibold"/>
              </a:rPr>
              <a:t>Journal</a:t>
            </a:r>
          </a:p>
        </p:txBody>
      </p:sp>
      <p:sp>
        <p:nvSpPr>
          <p:cNvPr id="11" name="TextBox 10"/>
          <p:cNvSpPr txBox="1"/>
          <p:nvPr/>
        </p:nvSpPr>
        <p:spPr>
          <a:xfrm>
            <a:off x="694944" y="2657855"/>
            <a:ext cx="5172303" cy="1292352"/>
          </a:xfrm>
          <a:prstGeom prst="rect">
            <a:avLst/>
          </a:prstGeom>
          <a:noFill/>
        </p:spPr>
        <p:txBody>
          <a:bodyPr wrap="square" lIns="45720" rIns="45720" tIns="27432" bIns="27432" anchor="t">
            <a:noAutofit/>
          </a:bodyPr>
          <a:lstStyle/>
          <a:p>
            <a:pPr algn="l">
              <a:lnSpc>
                <a:spcPct val="100000"/>
              </a:lnSpc>
            </a:pPr>
            <a:r>
              <a:rPr sz="1300" b="0" i="0">
                <a:solidFill>
                  <a:srgbClr val="A7B2B0"/>
                </a:solidFill>
                <a:latin typeface="Segoe UI"/>
              </a:rPr>
              <a:t>Cada movimiento se registra antes y después.</a:t>
            </a:r>
          </a:p>
        </p:txBody>
      </p:sp>
      <p:sp>
        <p:nvSpPr>
          <p:cNvPr id="12" name="Rounded Rectangle 11"/>
          <p:cNvSpPr/>
          <p:nvPr/>
        </p:nvSpPr>
        <p:spPr>
          <a:xfrm>
            <a:off x="6196431" y="2084831"/>
            <a:ext cx="5428335" cy="1956816"/>
          </a:xfrm>
          <a:prstGeom prst="roundRect">
            <a:avLst>
              <a:gd name="adj" fmla="val 5607"/>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6361023" y="2212848"/>
            <a:ext cx="502920" cy="45720"/>
          </a:xfrm>
          <a:prstGeom prst="rect">
            <a:avLst/>
          </a:prstGeom>
          <a:solidFill>
            <a:srgbClr val="C984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324447" y="2304287"/>
            <a:ext cx="5172303" cy="353568"/>
          </a:xfrm>
          <a:prstGeom prst="rect">
            <a:avLst/>
          </a:prstGeom>
          <a:noFill/>
        </p:spPr>
        <p:txBody>
          <a:bodyPr wrap="square" lIns="45720" rIns="45720" tIns="27432" bIns="27432" anchor="t">
            <a:noAutofit/>
          </a:bodyPr>
          <a:lstStyle/>
          <a:p>
            <a:pPr algn="l">
              <a:lnSpc>
                <a:spcPct val="100000"/>
              </a:lnSpc>
            </a:pPr>
            <a:r>
              <a:rPr sz="1600" b="0" i="0">
                <a:solidFill>
                  <a:srgbClr val="F7F2E8"/>
                </a:solidFill>
                <a:latin typeface="Segoe UI Semibold"/>
              </a:rPr>
              <a:t>Reintentar</a:t>
            </a:r>
          </a:p>
        </p:txBody>
      </p:sp>
      <p:sp>
        <p:nvSpPr>
          <p:cNvPr id="15" name="TextBox 14"/>
          <p:cNvSpPr txBox="1"/>
          <p:nvPr/>
        </p:nvSpPr>
        <p:spPr>
          <a:xfrm>
            <a:off x="6324447" y="2657855"/>
            <a:ext cx="5172303" cy="1292352"/>
          </a:xfrm>
          <a:prstGeom prst="rect">
            <a:avLst/>
          </a:prstGeom>
          <a:noFill/>
        </p:spPr>
        <p:txBody>
          <a:bodyPr wrap="square" lIns="45720" rIns="45720" tIns="27432" bIns="27432" anchor="t">
            <a:noAutofit/>
          </a:bodyPr>
          <a:lstStyle/>
          <a:p>
            <a:pPr algn="l">
              <a:lnSpc>
                <a:spcPct val="100000"/>
              </a:lnSpc>
            </a:pPr>
            <a:r>
              <a:rPr sz="1300" b="0" i="0">
                <a:solidFill>
                  <a:srgbClr val="A7B2B0"/>
                </a:solidFill>
                <a:latin typeface="Segoe UI"/>
              </a:rPr>
              <a:t>Lo bloqueado que queda se puede terminar después.</a:t>
            </a:r>
          </a:p>
        </p:txBody>
      </p:sp>
      <p:sp>
        <p:nvSpPr>
          <p:cNvPr id="16" name="Rounded Rectangle 15"/>
          <p:cNvSpPr/>
          <p:nvPr/>
        </p:nvSpPr>
        <p:spPr>
          <a:xfrm>
            <a:off x="566928" y="4242816"/>
            <a:ext cx="5428335" cy="1956816"/>
          </a:xfrm>
          <a:prstGeom prst="roundRect">
            <a:avLst>
              <a:gd name="adj" fmla="val 5607"/>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31520" y="4370832"/>
            <a:ext cx="502920" cy="45720"/>
          </a:xfrm>
          <a:prstGeom prst="rect">
            <a:avLst/>
          </a:prstGeom>
          <a:solidFill>
            <a:srgbClr val="E2B4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694944" y="4462272"/>
            <a:ext cx="5172303" cy="353568"/>
          </a:xfrm>
          <a:prstGeom prst="rect">
            <a:avLst/>
          </a:prstGeom>
          <a:noFill/>
        </p:spPr>
        <p:txBody>
          <a:bodyPr wrap="square" lIns="45720" rIns="45720" tIns="27432" bIns="27432" anchor="t">
            <a:noAutofit/>
          </a:bodyPr>
          <a:lstStyle/>
          <a:p>
            <a:pPr algn="l">
              <a:lnSpc>
                <a:spcPct val="100000"/>
              </a:lnSpc>
            </a:pPr>
            <a:r>
              <a:rPr sz="1600" b="0" i="0">
                <a:solidFill>
                  <a:srgbClr val="F7F2E8"/>
                </a:solidFill>
                <a:latin typeface="Segoe UI Semibold"/>
              </a:rPr>
              <a:t>Se conserva</a:t>
            </a:r>
          </a:p>
        </p:txBody>
      </p:sp>
      <p:sp>
        <p:nvSpPr>
          <p:cNvPr id="19" name="TextBox 18"/>
          <p:cNvSpPr txBox="1"/>
          <p:nvPr/>
        </p:nvSpPr>
        <p:spPr>
          <a:xfrm>
            <a:off x="694944" y="4815840"/>
            <a:ext cx="5172303" cy="1292352"/>
          </a:xfrm>
          <a:prstGeom prst="rect">
            <a:avLst/>
          </a:prstGeom>
          <a:noFill/>
        </p:spPr>
        <p:txBody>
          <a:bodyPr wrap="square" lIns="45720" rIns="45720" tIns="27432" bIns="27432" anchor="t">
            <a:noAutofit/>
          </a:bodyPr>
          <a:lstStyle/>
          <a:p>
            <a:pPr algn="l">
              <a:lnSpc>
                <a:spcPct val="100000"/>
              </a:lnSpc>
            </a:pPr>
            <a:r>
              <a:rPr sz="1300" b="0" i="0">
                <a:solidFill>
                  <a:srgbClr val="A7B2B0"/>
                </a:solidFill>
                <a:latin typeface="Segoe UI"/>
              </a:rPr>
              <a:t>agents/ y las carpetas de contenido que tienen archivos.</a:t>
            </a:r>
          </a:p>
        </p:txBody>
      </p:sp>
      <p:sp>
        <p:nvSpPr>
          <p:cNvPr id="20" name="Rounded Rectangle 19"/>
          <p:cNvSpPr/>
          <p:nvPr/>
        </p:nvSpPr>
        <p:spPr>
          <a:xfrm>
            <a:off x="6196431" y="4242816"/>
            <a:ext cx="5428335" cy="1956816"/>
          </a:xfrm>
          <a:prstGeom prst="roundRect">
            <a:avLst>
              <a:gd name="adj" fmla="val 5607"/>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ectangle 20"/>
          <p:cNvSpPr/>
          <p:nvPr/>
        </p:nvSpPr>
        <p:spPr>
          <a:xfrm>
            <a:off x="6361023" y="4370832"/>
            <a:ext cx="502920" cy="45720"/>
          </a:xfrm>
          <a:prstGeom prst="rect">
            <a:avLst/>
          </a:prstGeom>
          <a:solidFill>
            <a:srgbClr val="46D2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6324447" y="4462272"/>
            <a:ext cx="5172303" cy="353568"/>
          </a:xfrm>
          <a:prstGeom prst="rect">
            <a:avLst/>
          </a:prstGeom>
          <a:noFill/>
        </p:spPr>
        <p:txBody>
          <a:bodyPr wrap="square" lIns="45720" rIns="45720" tIns="27432" bIns="27432" anchor="t">
            <a:noAutofit/>
          </a:bodyPr>
          <a:lstStyle/>
          <a:p>
            <a:pPr algn="l">
              <a:lnSpc>
                <a:spcPct val="100000"/>
              </a:lnSpc>
            </a:pPr>
            <a:r>
              <a:rPr sz="1600" b="0" i="0">
                <a:solidFill>
                  <a:srgbClr val="F7F2E8"/>
                </a:solidFill>
                <a:latin typeface="Segoe UI Semibold"/>
              </a:rPr>
              <a:t>Prueba de rendimiento</a:t>
            </a:r>
          </a:p>
        </p:txBody>
      </p:sp>
      <p:sp>
        <p:nvSpPr>
          <p:cNvPr id="23" name="TextBox 22"/>
          <p:cNvSpPr txBox="1"/>
          <p:nvPr/>
        </p:nvSpPr>
        <p:spPr>
          <a:xfrm>
            <a:off x="6324447" y="4815840"/>
            <a:ext cx="5172303" cy="1292352"/>
          </a:xfrm>
          <a:prstGeom prst="rect">
            <a:avLst/>
          </a:prstGeom>
          <a:noFill/>
        </p:spPr>
        <p:txBody>
          <a:bodyPr wrap="square" lIns="45720" rIns="45720" tIns="27432" bIns="27432" anchor="t">
            <a:noAutofit/>
          </a:bodyPr>
          <a:lstStyle/>
          <a:p>
            <a:pPr algn="l">
              <a:lnSpc>
                <a:spcPct val="100000"/>
              </a:lnSpc>
            </a:pPr>
            <a:r>
              <a:rPr sz="1300" b="0" i="0">
                <a:solidFill>
                  <a:srgbClr val="A7B2B0"/>
                </a:solidFill>
                <a:latin typeface="Segoe UI"/>
              </a:rPr>
              <a:t>64,264 archivos en 22.3 s, 18 de octubre.</a:t>
            </a:r>
          </a:p>
        </p:txBody>
      </p:sp>
      <p:cxnSp>
        <p:nvCxnSpPr>
          <p:cNvPr id="24" name="Connector 23"/>
          <p:cNvCxnSpPr/>
          <p:nvPr/>
        </p:nvCxnSpPr>
        <p:spPr>
          <a:xfrm>
            <a:off x="566928" y="6373368"/>
            <a:ext cx="11057839" cy="0"/>
          </a:xfrm>
          <a:prstGeom prst="line">
            <a:avLst/>
          </a:prstGeom>
          <a:ln w="7620">
            <a:solidFill>
              <a:srgbClr val="2A3A40"/>
            </a:solidFill>
          </a:ln>
        </p:spPr>
        <p:style>
          <a:lnRef idx="2">
            <a:schemeClr val="accent1"/>
          </a:lnRef>
          <a:fillRef idx="0">
            <a:schemeClr val="accent1"/>
          </a:fillRef>
          <a:effectRef idx="1">
            <a:schemeClr val="accent1"/>
          </a:effectRef>
          <a:fontRef idx="minor">
            <a:schemeClr val="tx1"/>
          </a:fontRef>
        </p:style>
      </p:cxnSp>
      <p:sp>
        <p:nvSpPr>
          <p:cNvPr id="25" name="TextBox 24"/>
          <p:cNvSpPr txBox="1"/>
          <p:nvPr/>
        </p:nvSpPr>
        <p:spPr>
          <a:xfrm>
            <a:off x="566928" y="6419088"/>
            <a:ext cx="6858000" cy="274320"/>
          </a:xfrm>
          <a:prstGeom prst="rect">
            <a:avLst/>
          </a:prstGeom>
          <a:noFill/>
        </p:spPr>
        <p:txBody>
          <a:bodyPr wrap="square" lIns="45720" rIns="45720" tIns="27432" bIns="27432" anchor="t">
            <a:noAutofit/>
          </a:bodyPr>
          <a:lstStyle/>
          <a:p>
            <a:pPr algn="l">
              <a:lnSpc>
                <a:spcPct val="100000"/>
              </a:lnSpc>
            </a:pPr>
            <a:r>
              <a:rPr sz="850" b="0" i="0" spc="120">
                <a:solidFill>
                  <a:srgbClr val="A7B2B0"/>
                </a:solidFill>
                <a:latin typeface="Segoe UI Semibold"/>
              </a:rPr>
              <a:t>TLAMATINI  ·  VIII · RELEASE ACTUAL</a:t>
            </a:r>
          </a:p>
        </p:txBody>
      </p:sp>
      <p:sp>
        <p:nvSpPr>
          <p:cNvPr id="26" name="TextBox 25"/>
          <p:cNvSpPr txBox="1"/>
          <p:nvPr/>
        </p:nvSpPr>
        <p:spPr>
          <a:xfrm>
            <a:off x="8698687" y="6419088"/>
            <a:ext cx="2926080" cy="274320"/>
          </a:xfrm>
          <a:prstGeom prst="rect">
            <a:avLst/>
          </a:prstGeom>
          <a:noFill/>
        </p:spPr>
        <p:txBody>
          <a:bodyPr wrap="square" lIns="45720" rIns="45720" tIns="27432" bIns="27432" anchor="t">
            <a:noAutofit/>
          </a:bodyPr>
          <a:lstStyle/>
          <a:p>
            <a:pPr algn="r">
              <a:lnSpc>
                <a:spcPct val="100000"/>
              </a:lnSpc>
            </a:pPr>
            <a:r>
              <a:rPr sz="850" b="0" i="0" spc="100">
                <a:solidFill>
                  <a:srgbClr val="A7B2B0"/>
                </a:solidFill>
                <a:latin typeface="Segoe UI Semibold"/>
              </a:rPr>
              <a:t>v1.91.1   ·   126</a:t>
            </a:r>
          </a:p>
        </p:txBody>
      </p:sp>
    </p:spTree>
  </p:cSld>
  <p:clrMapOvr>
    <a:masterClrMapping/>
  </p:clrMapOvr>
</p:sld>
</file>

<file path=ppt/slides/slide1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content.png"/>
          <p:cNvPicPr>
            <a:picLocks noChangeAspect="1"/>
          </p:cNvPicPr>
          <p:nvPr/>
        </p:nvPicPr>
        <p:blipFill>
          <a:blip r:embed="rId2"/>
          <a:stretch>
            <a:fillRect/>
          </a:stretch>
        </p:blipFill>
        <p:spPr>
          <a:xfrm>
            <a:off x="0" y="0"/>
            <a:ext cx="12191695" cy="6858000"/>
          </a:xfrm>
          <a:prstGeom prst="rect">
            <a:avLst/>
          </a:prstGeom>
        </p:spPr>
      </p:pic>
      <p:sp>
        <p:nvSpPr>
          <p:cNvPr id="3" name="Diamond 2"/>
          <p:cNvSpPr/>
          <p:nvPr/>
        </p:nvSpPr>
        <p:spPr>
          <a:xfrm>
            <a:off x="566928" y="457200"/>
            <a:ext cx="100584" cy="100584"/>
          </a:xfrm>
          <a:prstGeom prst="diamond">
            <a:avLst/>
          </a:prstGeom>
          <a:solidFill>
            <a:srgbClr val="E2B4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49808" y="365760"/>
            <a:ext cx="8229600" cy="292608"/>
          </a:xfrm>
          <a:prstGeom prst="rect">
            <a:avLst/>
          </a:prstGeom>
          <a:noFill/>
        </p:spPr>
        <p:txBody>
          <a:bodyPr wrap="square" lIns="45720" rIns="45720" tIns="27432" bIns="27432" anchor="t">
            <a:noAutofit/>
          </a:bodyPr>
          <a:lstStyle/>
          <a:p>
            <a:pPr algn="l">
              <a:lnSpc>
                <a:spcPct val="100000"/>
              </a:lnSpc>
            </a:pPr>
            <a:r>
              <a:rPr sz="1100" b="0" i="0" spc="240">
                <a:solidFill>
                  <a:srgbClr val="C98457"/>
                </a:solidFill>
                <a:latin typeface="Segoe UI Semibold"/>
              </a:rPr>
              <a:t>NUEVO EN v1.87.0</a:t>
            </a:r>
          </a:p>
        </p:txBody>
      </p:sp>
      <p:sp>
        <p:nvSpPr>
          <p:cNvPr id="5" name="TextBox 4"/>
          <p:cNvSpPr txBox="1"/>
          <p:nvPr/>
        </p:nvSpPr>
        <p:spPr>
          <a:xfrm>
            <a:off x="539496" y="676656"/>
            <a:ext cx="11057839" cy="658368"/>
          </a:xfrm>
          <a:prstGeom prst="rect">
            <a:avLst/>
          </a:prstGeom>
          <a:noFill/>
        </p:spPr>
        <p:txBody>
          <a:bodyPr wrap="square" lIns="45720" rIns="45720" tIns="27432" bIns="27432" anchor="t">
            <a:noAutofit/>
          </a:bodyPr>
          <a:lstStyle/>
          <a:p>
            <a:pPr algn="l">
              <a:lnSpc>
                <a:spcPct val="100000"/>
              </a:lnSpc>
            </a:pPr>
            <a:r>
              <a:rPr sz="3100" b="0" i="0">
                <a:solidFill>
                  <a:srgbClr val="F7F2E8"/>
                </a:solidFill>
                <a:latin typeface="Palatino Linotype"/>
              </a:rPr>
              <a:t>Un dueño para cada librería</a:t>
            </a:r>
          </a:p>
        </p:txBody>
      </p:sp>
      <p:sp>
        <p:nvSpPr>
          <p:cNvPr id="6" name="Rectangle 5"/>
          <p:cNvSpPr/>
          <p:nvPr/>
        </p:nvSpPr>
        <p:spPr>
          <a:xfrm>
            <a:off x="566928" y="1344168"/>
            <a:ext cx="822960" cy="36576"/>
          </a:xfrm>
          <a:prstGeom prst="rect">
            <a:avLst/>
          </a:prstGeom>
          <a:solidFill>
            <a:srgbClr val="E2B4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566928" y="1444752"/>
            <a:ext cx="10692079" cy="585216"/>
          </a:xfrm>
          <a:prstGeom prst="rect">
            <a:avLst/>
          </a:prstGeom>
          <a:noFill/>
        </p:spPr>
        <p:txBody>
          <a:bodyPr wrap="square" lIns="45720" rIns="45720" tIns="27432" bIns="27432" anchor="t">
            <a:noAutofit/>
          </a:bodyPr>
          <a:lstStyle/>
          <a:p>
            <a:pPr algn="l">
              <a:lnSpc>
                <a:spcPct val="100000"/>
              </a:lnSpc>
            </a:pPr>
            <a:r>
              <a:rPr sz="1450" b="0" i="0">
                <a:solidFill>
                  <a:srgbClr val="A7B2B0"/>
                </a:solidFill>
                <a:latin typeface="Segoe UI Semilight"/>
              </a:rPr>
              <a:t>El proceso web congelado deja de llevar librerías que sólo usan los agents del pool.</a:t>
            </a:r>
          </a:p>
        </p:txBody>
      </p:sp>
      <p:sp>
        <p:nvSpPr>
          <p:cNvPr id="8" name="Rounded Rectangle 7"/>
          <p:cNvSpPr/>
          <p:nvPr/>
        </p:nvSpPr>
        <p:spPr>
          <a:xfrm>
            <a:off x="566928" y="2084831"/>
            <a:ext cx="5428335" cy="1956816"/>
          </a:xfrm>
          <a:prstGeom prst="roundRect">
            <a:avLst>
              <a:gd name="adj" fmla="val 5607"/>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ectangle 8"/>
          <p:cNvSpPr/>
          <p:nvPr/>
        </p:nvSpPr>
        <p:spPr>
          <a:xfrm>
            <a:off x="731520" y="2212848"/>
            <a:ext cx="502920" cy="45720"/>
          </a:xfrm>
          <a:prstGeom prst="rect">
            <a:avLst/>
          </a:prstGeom>
          <a:solidFill>
            <a:srgbClr val="3BBE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694944" y="2304287"/>
            <a:ext cx="5172303" cy="353568"/>
          </a:xfrm>
          <a:prstGeom prst="rect">
            <a:avLst/>
          </a:prstGeom>
          <a:noFill/>
        </p:spPr>
        <p:txBody>
          <a:bodyPr wrap="square" lIns="45720" rIns="45720" tIns="27432" bIns="27432" anchor="t">
            <a:noAutofit/>
          </a:bodyPr>
          <a:lstStyle/>
          <a:p>
            <a:pPr algn="l">
              <a:lnSpc>
                <a:spcPct val="100000"/>
              </a:lnSpc>
            </a:pPr>
            <a:r>
              <a:rPr sz="1600" b="0" i="0">
                <a:solidFill>
                  <a:srgbClr val="F7F2E8"/>
                </a:solidFill>
                <a:latin typeface="Segoe UI Semibold"/>
              </a:rPr>
              <a:t>Propiedad</a:t>
            </a:r>
          </a:p>
        </p:txBody>
      </p:sp>
      <p:sp>
        <p:nvSpPr>
          <p:cNvPr id="11" name="TextBox 10"/>
          <p:cNvSpPr txBox="1"/>
          <p:nvPr/>
        </p:nvSpPr>
        <p:spPr>
          <a:xfrm>
            <a:off x="694944" y="2657855"/>
            <a:ext cx="5172303" cy="1292352"/>
          </a:xfrm>
          <a:prstGeom prst="rect">
            <a:avLst/>
          </a:prstGeom>
          <a:noFill/>
        </p:spPr>
        <p:txBody>
          <a:bodyPr wrap="square" lIns="45720" rIns="45720" tIns="27432" bIns="27432" anchor="t">
            <a:noAutofit/>
          </a:bodyPr>
          <a:lstStyle/>
          <a:p>
            <a:pPr algn="l">
              <a:lnSpc>
                <a:spcPct val="100000"/>
              </a:lnSpc>
            </a:pPr>
            <a:r>
              <a:rPr sz="1300" b="0" i="0">
                <a:solidFill>
                  <a:srgbClr val="A7B2B0"/>
                </a:solidFill>
                <a:latin typeface="Segoe UI"/>
              </a:rPr>
              <a:t>Las librerías sólo del pool viven en el Python incluido.</a:t>
            </a:r>
          </a:p>
        </p:txBody>
      </p:sp>
      <p:sp>
        <p:nvSpPr>
          <p:cNvPr id="12" name="Rounded Rectangle 11"/>
          <p:cNvSpPr/>
          <p:nvPr/>
        </p:nvSpPr>
        <p:spPr>
          <a:xfrm>
            <a:off x="6196431" y="2084831"/>
            <a:ext cx="5428335" cy="1956816"/>
          </a:xfrm>
          <a:prstGeom prst="roundRect">
            <a:avLst>
              <a:gd name="adj" fmla="val 5607"/>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6361023" y="2212848"/>
            <a:ext cx="502920" cy="45720"/>
          </a:xfrm>
          <a:prstGeom prst="rect">
            <a:avLst/>
          </a:prstGeom>
          <a:solidFill>
            <a:srgbClr val="C984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324447" y="2304287"/>
            <a:ext cx="5172303" cy="353568"/>
          </a:xfrm>
          <a:prstGeom prst="rect">
            <a:avLst/>
          </a:prstGeom>
          <a:noFill/>
        </p:spPr>
        <p:txBody>
          <a:bodyPr wrap="square" lIns="45720" rIns="45720" tIns="27432" bIns="27432" anchor="t">
            <a:noAutofit/>
          </a:bodyPr>
          <a:lstStyle/>
          <a:p>
            <a:pPr algn="l">
              <a:lnSpc>
                <a:spcPct val="100000"/>
              </a:lnSpc>
            </a:pPr>
            <a:r>
              <a:rPr sz="1600" b="0" i="0">
                <a:solidFill>
                  <a:srgbClr val="F7F2E8"/>
                </a:solidFill>
                <a:latin typeface="Segoe UI Semibold"/>
              </a:rPr>
              <a:t>Paquete</a:t>
            </a:r>
          </a:p>
        </p:txBody>
      </p:sp>
      <p:sp>
        <p:nvSpPr>
          <p:cNvPr id="15" name="TextBox 14"/>
          <p:cNvSpPr txBox="1"/>
          <p:nvPr/>
        </p:nvSpPr>
        <p:spPr>
          <a:xfrm>
            <a:off x="6324447" y="2657855"/>
            <a:ext cx="5172303" cy="1292352"/>
          </a:xfrm>
          <a:prstGeom prst="rect">
            <a:avLst/>
          </a:prstGeom>
          <a:noFill/>
        </p:spPr>
        <p:txBody>
          <a:bodyPr wrap="square" lIns="45720" rIns="45720" tIns="27432" bIns="27432" anchor="t">
            <a:noAutofit/>
          </a:bodyPr>
          <a:lstStyle/>
          <a:p>
            <a:pPr algn="l">
              <a:lnSpc>
                <a:spcPct val="100000"/>
              </a:lnSpc>
            </a:pPr>
            <a:r>
              <a:rPr sz="1300" b="0" i="0">
                <a:solidFill>
                  <a:srgbClr val="A7B2B0"/>
                </a:solidFill>
                <a:latin typeface="Segoe UI"/>
              </a:rPr>
              <a:t>Bytecode, copias del desinstalador y compresión ajustados.</a:t>
            </a:r>
          </a:p>
        </p:txBody>
      </p:sp>
      <p:sp>
        <p:nvSpPr>
          <p:cNvPr id="16" name="Rounded Rectangle 15"/>
          <p:cNvSpPr/>
          <p:nvPr/>
        </p:nvSpPr>
        <p:spPr>
          <a:xfrm>
            <a:off x="566928" y="4242816"/>
            <a:ext cx="5428335" cy="1956816"/>
          </a:xfrm>
          <a:prstGeom prst="roundRect">
            <a:avLst>
              <a:gd name="adj" fmla="val 5607"/>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31520" y="4370832"/>
            <a:ext cx="502920" cy="45720"/>
          </a:xfrm>
          <a:prstGeom prst="rect">
            <a:avLst/>
          </a:prstGeom>
          <a:solidFill>
            <a:srgbClr val="E2B4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694944" y="4462272"/>
            <a:ext cx="5172303" cy="353568"/>
          </a:xfrm>
          <a:prstGeom prst="rect">
            <a:avLst/>
          </a:prstGeom>
          <a:noFill/>
        </p:spPr>
        <p:txBody>
          <a:bodyPr wrap="square" lIns="45720" rIns="45720" tIns="27432" bIns="27432" anchor="t">
            <a:noAutofit/>
          </a:bodyPr>
          <a:lstStyle/>
          <a:p>
            <a:pPr algn="l">
              <a:lnSpc>
                <a:spcPct val="100000"/>
              </a:lnSpc>
            </a:pPr>
            <a:r>
              <a:rPr sz="1600" b="0" i="0">
                <a:solidFill>
                  <a:srgbClr val="F7F2E8"/>
                </a:solidFill>
                <a:latin typeface="Segoe UI Semibold"/>
              </a:rPr>
              <a:t>Uso</a:t>
            </a:r>
          </a:p>
        </p:txBody>
      </p:sp>
      <p:sp>
        <p:nvSpPr>
          <p:cNvPr id="19" name="TextBox 18"/>
          <p:cNvSpPr txBox="1"/>
          <p:nvPr/>
        </p:nvSpPr>
        <p:spPr>
          <a:xfrm>
            <a:off x="694944" y="4815840"/>
            <a:ext cx="5172303" cy="1292352"/>
          </a:xfrm>
          <a:prstGeom prst="rect">
            <a:avLst/>
          </a:prstGeom>
          <a:noFill/>
        </p:spPr>
        <p:txBody>
          <a:bodyPr wrap="square" lIns="45720" rIns="45720" tIns="27432" bIns="27432" anchor="t">
            <a:noAutofit/>
          </a:bodyPr>
          <a:lstStyle/>
          <a:p>
            <a:pPr algn="l">
              <a:lnSpc>
                <a:spcPct val="100000"/>
              </a:lnSpc>
            </a:pPr>
            <a:r>
              <a:rPr sz="1300" b="0" i="0">
                <a:solidFill>
                  <a:srgbClr val="A7B2B0"/>
                </a:solidFill>
                <a:latin typeface="Segoe UI"/>
              </a:rPr>
              <a:t>Revisando el uso… hasta que llegan datos reales.</a:t>
            </a:r>
          </a:p>
        </p:txBody>
      </p:sp>
      <p:sp>
        <p:nvSpPr>
          <p:cNvPr id="20" name="Rounded Rectangle 19"/>
          <p:cNvSpPr/>
          <p:nvPr/>
        </p:nvSpPr>
        <p:spPr>
          <a:xfrm>
            <a:off x="6196431" y="4242816"/>
            <a:ext cx="5428335" cy="1956816"/>
          </a:xfrm>
          <a:prstGeom prst="roundRect">
            <a:avLst>
              <a:gd name="adj" fmla="val 5607"/>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ectangle 20"/>
          <p:cNvSpPr/>
          <p:nvPr/>
        </p:nvSpPr>
        <p:spPr>
          <a:xfrm>
            <a:off x="6361023" y="4370832"/>
            <a:ext cx="502920" cy="45720"/>
          </a:xfrm>
          <a:prstGeom prst="rect">
            <a:avLst/>
          </a:prstGeom>
          <a:solidFill>
            <a:srgbClr val="46D2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6324447" y="4462272"/>
            <a:ext cx="5172303" cy="353568"/>
          </a:xfrm>
          <a:prstGeom prst="rect">
            <a:avLst/>
          </a:prstGeom>
          <a:noFill/>
        </p:spPr>
        <p:txBody>
          <a:bodyPr wrap="square" lIns="45720" rIns="45720" tIns="27432" bIns="27432" anchor="t">
            <a:noAutofit/>
          </a:bodyPr>
          <a:lstStyle/>
          <a:p>
            <a:pPr algn="l">
              <a:lnSpc>
                <a:spcPct val="100000"/>
              </a:lnSpc>
            </a:pPr>
            <a:r>
              <a:rPr sz="1600" b="0" i="0">
                <a:solidFill>
                  <a:srgbClr val="F7F2E8"/>
                </a:solidFill>
                <a:latin typeface="Segoe UI Semibold"/>
              </a:rPr>
              <a:t>Cuenta</a:t>
            </a:r>
          </a:p>
        </p:txBody>
      </p:sp>
      <p:sp>
        <p:nvSpPr>
          <p:cNvPr id="23" name="TextBox 22"/>
          <p:cNvSpPr txBox="1"/>
          <p:nvPr/>
        </p:nvSpPr>
        <p:spPr>
          <a:xfrm>
            <a:off x="6324447" y="4815840"/>
            <a:ext cx="5172303" cy="1292352"/>
          </a:xfrm>
          <a:prstGeom prst="rect">
            <a:avLst/>
          </a:prstGeom>
          <a:noFill/>
        </p:spPr>
        <p:txBody>
          <a:bodyPr wrap="square" lIns="45720" rIns="45720" tIns="27432" bIns="27432" anchor="t">
            <a:noAutofit/>
          </a:bodyPr>
          <a:lstStyle/>
          <a:p>
            <a:pPr algn="l">
              <a:lnSpc>
                <a:spcPct val="100000"/>
              </a:lnSpc>
            </a:pPr>
            <a:r>
              <a:rPr sz="1300" b="0" i="0">
                <a:solidFill>
                  <a:srgbClr val="A7B2B0"/>
                </a:solidFill>
                <a:latin typeface="Segoe UI"/>
              </a:rPr>
              <a:t>Un POST /api/me sin cuerpo.</a:t>
            </a:r>
          </a:p>
        </p:txBody>
      </p:sp>
      <p:cxnSp>
        <p:nvCxnSpPr>
          <p:cNvPr id="24" name="Connector 23"/>
          <p:cNvCxnSpPr/>
          <p:nvPr/>
        </p:nvCxnSpPr>
        <p:spPr>
          <a:xfrm>
            <a:off x="566928" y="6373368"/>
            <a:ext cx="11057839" cy="0"/>
          </a:xfrm>
          <a:prstGeom prst="line">
            <a:avLst/>
          </a:prstGeom>
          <a:ln w="7620">
            <a:solidFill>
              <a:srgbClr val="2A3A40"/>
            </a:solidFill>
          </a:ln>
        </p:spPr>
        <p:style>
          <a:lnRef idx="2">
            <a:schemeClr val="accent1"/>
          </a:lnRef>
          <a:fillRef idx="0">
            <a:schemeClr val="accent1"/>
          </a:fillRef>
          <a:effectRef idx="1">
            <a:schemeClr val="accent1"/>
          </a:effectRef>
          <a:fontRef idx="minor">
            <a:schemeClr val="tx1"/>
          </a:fontRef>
        </p:style>
      </p:cxnSp>
      <p:sp>
        <p:nvSpPr>
          <p:cNvPr id="25" name="TextBox 24"/>
          <p:cNvSpPr txBox="1"/>
          <p:nvPr/>
        </p:nvSpPr>
        <p:spPr>
          <a:xfrm>
            <a:off x="566928" y="6419088"/>
            <a:ext cx="6858000" cy="274320"/>
          </a:xfrm>
          <a:prstGeom prst="rect">
            <a:avLst/>
          </a:prstGeom>
          <a:noFill/>
        </p:spPr>
        <p:txBody>
          <a:bodyPr wrap="square" lIns="45720" rIns="45720" tIns="27432" bIns="27432" anchor="t">
            <a:noAutofit/>
          </a:bodyPr>
          <a:lstStyle/>
          <a:p>
            <a:pPr algn="l">
              <a:lnSpc>
                <a:spcPct val="100000"/>
              </a:lnSpc>
            </a:pPr>
            <a:r>
              <a:rPr sz="850" b="0" i="0" spc="120">
                <a:solidFill>
                  <a:srgbClr val="A7B2B0"/>
                </a:solidFill>
                <a:latin typeface="Segoe UI Semibold"/>
              </a:rPr>
              <a:t>TLAMATINI  ·  VIII · RELEASE ACTUAL</a:t>
            </a:r>
          </a:p>
        </p:txBody>
      </p:sp>
      <p:sp>
        <p:nvSpPr>
          <p:cNvPr id="26" name="TextBox 25"/>
          <p:cNvSpPr txBox="1"/>
          <p:nvPr/>
        </p:nvSpPr>
        <p:spPr>
          <a:xfrm>
            <a:off x="8698687" y="6419088"/>
            <a:ext cx="2926080" cy="274320"/>
          </a:xfrm>
          <a:prstGeom prst="rect">
            <a:avLst/>
          </a:prstGeom>
          <a:noFill/>
        </p:spPr>
        <p:txBody>
          <a:bodyPr wrap="square" lIns="45720" rIns="45720" tIns="27432" bIns="27432" anchor="t">
            <a:noAutofit/>
          </a:bodyPr>
          <a:lstStyle/>
          <a:p>
            <a:pPr algn="r">
              <a:lnSpc>
                <a:spcPct val="100000"/>
              </a:lnSpc>
            </a:pPr>
            <a:r>
              <a:rPr sz="850" b="0" i="0" spc="100">
                <a:solidFill>
                  <a:srgbClr val="A7B2B0"/>
                </a:solidFill>
                <a:latin typeface="Segoe UI Semibold"/>
              </a:rPr>
              <a:t>v1.91.1   ·   127</a:t>
            </a:r>
          </a:p>
        </p:txBody>
      </p:sp>
    </p:spTree>
  </p:cSld>
  <p:clrMapOvr>
    <a:masterClrMapping/>
  </p:clrMapOvr>
</p:sld>
</file>

<file path=ppt/slides/slide1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content.png"/>
          <p:cNvPicPr>
            <a:picLocks noChangeAspect="1"/>
          </p:cNvPicPr>
          <p:nvPr/>
        </p:nvPicPr>
        <p:blipFill>
          <a:blip r:embed="rId2"/>
          <a:stretch>
            <a:fillRect/>
          </a:stretch>
        </p:blipFill>
        <p:spPr>
          <a:xfrm>
            <a:off x="0" y="0"/>
            <a:ext cx="12191695" cy="6858000"/>
          </a:xfrm>
          <a:prstGeom prst="rect">
            <a:avLst/>
          </a:prstGeom>
        </p:spPr>
      </p:pic>
      <p:sp>
        <p:nvSpPr>
          <p:cNvPr id="3" name="Diamond 2"/>
          <p:cNvSpPr/>
          <p:nvPr/>
        </p:nvSpPr>
        <p:spPr>
          <a:xfrm>
            <a:off x="566928" y="457200"/>
            <a:ext cx="100584" cy="100584"/>
          </a:xfrm>
          <a:prstGeom prst="diamond">
            <a:avLst/>
          </a:prstGeom>
          <a:solidFill>
            <a:srgbClr val="E2B4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49808" y="365760"/>
            <a:ext cx="8229600" cy="292608"/>
          </a:xfrm>
          <a:prstGeom prst="rect">
            <a:avLst/>
          </a:prstGeom>
          <a:noFill/>
        </p:spPr>
        <p:txBody>
          <a:bodyPr wrap="square" lIns="45720" rIns="45720" tIns="27432" bIns="27432" anchor="t">
            <a:noAutofit/>
          </a:bodyPr>
          <a:lstStyle/>
          <a:p>
            <a:pPr algn="l">
              <a:lnSpc>
                <a:spcPct val="100000"/>
              </a:lnSpc>
            </a:pPr>
            <a:r>
              <a:rPr sz="1100" b="0" i="0" spc="240">
                <a:solidFill>
                  <a:srgbClr val="C98457"/>
                </a:solidFill>
                <a:latin typeface="Segoe UI Semibold"/>
              </a:rPr>
              <a:t>DESPUÉS DEL TAG v1.87.0</a:t>
            </a:r>
          </a:p>
        </p:txBody>
      </p:sp>
      <p:sp>
        <p:nvSpPr>
          <p:cNvPr id="5" name="TextBox 4"/>
          <p:cNvSpPr txBox="1"/>
          <p:nvPr/>
        </p:nvSpPr>
        <p:spPr>
          <a:xfrm>
            <a:off x="539496" y="676656"/>
            <a:ext cx="11057839" cy="658368"/>
          </a:xfrm>
          <a:prstGeom prst="rect">
            <a:avLst/>
          </a:prstGeom>
          <a:noFill/>
        </p:spPr>
        <p:txBody>
          <a:bodyPr wrap="square" lIns="45720" rIns="45720" tIns="27432" bIns="27432" anchor="t">
            <a:noAutofit/>
          </a:bodyPr>
          <a:lstStyle/>
          <a:p>
            <a:pPr algn="l">
              <a:lnSpc>
                <a:spcPct val="100000"/>
              </a:lnSpc>
            </a:pPr>
            <a:r>
              <a:rPr sz="3100" b="0" i="0">
                <a:solidFill>
                  <a:srgbClr val="F7F2E8"/>
                </a:solidFill>
                <a:latin typeface="Palatino Linotype"/>
              </a:rPr>
              <a:t>Barrido de consistencia</a:t>
            </a:r>
          </a:p>
        </p:txBody>
      </p:sp>
      <p:sp>
        <p:nvSpPr>
          <p:cNvPr id="6" name="Rectangle 5"/>
          <p:cNvSpPr/>
          <p:nvPr/>
        </p:nvSpPr>
        <p:spPr>
          <a:xfrm>
            <a:off x="566928" y="1344168"/>
            <a:ext cx="822960" cy="36576"/>
          </a:xfrm>
          <a:prstGeom prst="rect">
            <a:avLst/>
          </a:prstGeom>
          <a:solidFill>
            <a:srgbClr val="E2B4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566928" y="1444752"/>
            <a:ext cx="10692079" cy="585216"/>
          </a:xfrm>
          <a:prstGeom prst="rect">
            <a:avLst/>
          </a:prstGeom>
          <a:noFill/>
        </p:spPr>
        <p:txBody>
          <a:bodyPr wrap="square" lIns="45720" rIns="45720" tIns="27432" bIns="27432" anchor="t">
            <a:noAutofit/>
          </a:bodyPr>
          <a:lstStyle/>
          <a:p>
            <a:pPr algn="l">
              <a:lnSpc>
                <a:spcPct val="100000"/>
              </a:lnSpc>
            </a:pPr>
            <a:r>
              <a:rPr sz="1450" b="0" i="0">
                <a:solidFill>
                  <a:srgbClr val="A7B2B0"/>
                </a:solidFill>
                <a:latin typeface="Segoe UI Semilight"/>
              </a:rPr>
              <a:t>Un barrido de todo el source volvió a derivar cada conteo y arregló lo que encontró.</a:t>
            </a:r>
          </a:p>
        </p:txBody>
      </p:sp>
      <p:sp>
        <p:nvSpPr>
          <p:cNvPr id="8" name="Rounded Rectangle 7"/>
          <p:cNvSpPr/>
          <p:nvPr/>
        </p:nvSpPr>
        <p:spPr>
          <a:xfrm>
            <a:off x="566928" y="2084831"/>
            <a:ext cx="5428335" cy="1956816"/>
          </a:xfrm>
          <a:prstGeom prst="roundRect">
            <a:avLst>
              <a:gd name="adj" fmla="val 5607"/>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ectangle 8"/>
          <p:cNvSpPr/>
          <p:nvPr/>
        </p:nvSpPr>
        <p:spPr>
          <a:xfrm>
            <a:off x="731520" y="2212848"/>
            <a:ext cx="502920" cy="45720"/>
          </a:xfrm>
          <a:prstGeom prst="rect">
            <a:avLst/>
          </a:prstGeom>
          <a:solidFill>
            <a:srgbClr val="3BBE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694944" y="2304287"/>
            <a:ext cx="5172303" cy="353568"/>
          </a:xfrm>
          <a:prstGeom prst="rect">
            <a:avLst/>
          </a:prstGeom>
          <a:noFill/>
        </p:spPr>
        <p:txBody>
          <a:bodyPr wrap="square" lIns="45720" rIns="45720" tIns="27432" bIns="27432" anchor="t">
            <a:noAutofit/>
          </a:bodyPr>
          <a:lstStyle/>
          <a:p>
            <a:pPr algn="l">
              <a:lnSpc>
                <a:spcPct val="100000"/>
              </a:lnSpc>
            </a:pPr>
            <a:r>
              <a:rPr sz="1600" b="0" i="0">
                <a:solidFill>
                  <a:srgbClr val="F7F2E8"/>
                </a:solidFill>
                <a:latin typeface="Segoe UI Semibold"/>
              </a:rPr>
              <a:t>Patterns</a:t>
            </a:r>
          </a:p>
        </p:txBody>
      </p:sp>
      <p:sp>
        <p:nvSpPr>
          <p:cNvPr id="11" name="TextBox 10"/>
          <p:cNvSpPr txBox="1"/>
          <p:nvPr/>
        </p:nvSpPr>
        <p:spPr>
          <a:xfrm>
            <a:off x="694944" y="2657855"/>
            <a:ext cx="5172303" cy="1292352"/>
          </a:xfrm>
          <a:prstGeom prst="rect">
            <a:avLst/>
          </a:prstGeom>
          <a:noFill/>
        </p:spPr>
        <p:txBody>
          <a:bodyPr wrap="square" lIns="45720" rIns="45720" tIns="27432" bIns="27432" anchor="t">
            <a:noAutofit/>
          </a:bodyPr>
          <a:lstStyle/>
          <a:p>
            <a:pPr algn="l">
              <a:lnSpc>
                <a:spcPct val="100000"/>
              </a:lnSpc>
            </a:pPr>
            <a:r>
              <a:rPr sz="1300" b="0" i="0">
                <a:solidFill>
                  <a:srgbClr val="A7B2B0"/>
                </a:solidFill>
                <a:latin typeface="Segoe UI"/>
              </a:rPr>
              <a:t>Conjuntos con llaves, listas y globs de carpetas en Grepper y Globber.</a:t>
            </a:r>
          </a:p>
        </p:txBody>
      </p:sp>
      <p:sp>
        <p:nvSpPr>
          <p:cNvPr id="12" name="Rounded Rectangle 11"/>
          <p:cNvSpPr/>
          <p:nvPr/>
        </p:nvSpPr>
        <p:spPr>
          <a:xfrm>
            <a:off x="6196431" y="2084831"/>
            <a:ext cx="5428335" cy="1956816"/>
          </a:xfrm>
          <a:prstGeom prst="roundRect">
            <a:avLst>
              <a:gd name="adj" fmla="val 5607"/>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6361023" y="2212848"/>
            <a:ext cx="502920" cy="45720"/>
          </a:xfrm>
          <a:prstGeom prst="rect">
            <a:avLst/>
          </a:prstGeom>
          <a:solidFill>
            <a:srgbClr val="C984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324447" y="2304287"/>
            <a:ext cx="5172303" cy="353568"/>
          </a:xfrm>
          <a:prstGeom prst="rect">
            <a:avLst/>
          </a:prstGeom>
          <a:noFill/>
        </p:spPr>
        <p:txBody>
          <a:bodyPr wrap="square" lIns="45720" rIns="45720" tIns="27432" bIns="27432" anchor="t">
            <a:noAutofit/>
          </a:bodyPr>
          <a:lstStyle/>
          <a:p>
            <a:pPr algn="l">
              <a:lnSpc>
                <a:spcPct val="100000"/>
              </a:lnSpc>
            </a:pPr>
            <a:r>
              <a:rPr sz="1600" b="0" i="0">
                <a:solidFill>
                  <a:srgbClr val="F7F2E8"/>
                </a:solidFill>
                <a:latin typeface="Segoe UI Semibold"/>
              </a:rPr>
              <a:t>Compuertas</a:t>
            </a:r>
          </a:p>
        </p:txBody>
      </p:sp>
      <p:sp>
        <p:nvSpPr>
          <p:cNvPr id="15" name="TextBox 14"/>
          <p:cNvSpPr txBox="1"/>
          <p:nvPr/>
        </p:nvSpPr>
        <p:spPr>
          <a:xfrm>
            <a:off x="6324447" y="2657855"/>
            <a:ext cx="5172303" cy="1292352"/>
          </a:xfrm>
          <a:prstGeom prst="rect">
            <a:avLst/>
          </a:prstGeom>
          <a:noFill/>
        </p:spPr>
        <p:txBody>
          <a:bodyPr wrap="square" lIns="45720" rIns="45720" tIns="27432" bIns="27432" anchor="t">
            <a:noAutofit/>
          </a:bodyPr>
          <a:lstStyle/>
          <a:p>
            <a:pPr algn="l">
              <a:lnSpc>
                <a:spcPct val="100000"/>
              </a:lnSpc>
            </a:pPr>
            <a:r>
              <a:rPr sz="1300" b="0" i="0">
                <a:solidFill>
                  <a:srgbClr val="A7B2B0"/>
                </a:solidFill>
                <a:latin typeface="Segoe UI"/>
              </a:rPr>
              <a:t>Seis tools wrapped siguen la casilla de su agent; Configurar se abre con las marcas guardadas.</a:t>
            </a:r>
          </a:p>
        </p:txBody>
      </p:sp>
      <p:sp>
        <p:nvSpPr>
          <p:cNvPr id="16" name="Rounded Rectangle 15"/>
          <p:cNvSpPr/>
          <p:nvPr/>
        </p:nvSpPr>
        <p:spPr>
          <a:xfrm>
            <a:off x="566928" y="4242816"/>
            <a:ext cx="5428335" cy="1956816"/>
          </a:xfrm>
          <a:prstGeom prst="roundRect">
            <a:avLst>
              <a:gd name="adj" fmla="val 5607"/>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31520" y="4370832"/>
            <a:ext cx="502920" cy="45720"/>
          </a:xfrm>
          <a:prstGeom prst="rect">
            <a:avLst/>
          </a:prstGeom>
          <a:solidFill>
            <a:srgbClr val="E2B4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694944" y="4462272"/>
            <a:ext cx="5172303" cy="353568"/>
          </a:xfrm>
          <a:prstGeom prst="rect">
            <a:avLst/>
          </a:prstGeom>
          <a:noFill/>
        </p:spPr>
        <p:txBody>
          <a:bodyPr wrap="square" lIns="45720" rIns="45720" tIns="27432" bIns="27432" anchor="t">
            <a:noAutofit/>
          </a:bodyPr>
          <a:lstStyle/>
          <a:p>
            <a:pPr algn="l">
              <a:lnSpc>
                <a:spcPct val="100000"/>
              </a:lnSpc>
            </a:pPr>
            <a:r>
              <a:rPr sz="1600" b="0" i="0">
                <a:solidFill>
                  <a:srgbClr val="F7F2E8"/>
                </a:solidFill>
                <a:latin typeface="Segoe UI Semibold"/>
              </a:rPr>
              <a:t>Harness</a:t>
            </a:r>
          </a:p>
        </p:txBody>
      </p:sp>
      <p:sp>
        <p:nvSpPr>
          <p:cNvPr id="19" name="TextBox 18"/>
          <p:cNvSpPr txBox="1"/>
          <p:nvPr/>
        </p:nvSpPr>
        <p:spPr>
          <a:xfrm>
            <a:off x="694944" y="4815840"/>
            <a:ext cx="5172303" cy="1292352"/>
          </a:xfrm>
          <a:prstGeom prst="rect">
            <a:avLst/>
          </a:prstGeom>
          <a:noFill/>
        </p:spPr>
        <p:txBody>
          <a:bodyPr wrap="square" lIns="45720" rIns="45720" tIns="27432" bIns="27432" anchor="t">
            <a:noAutofit/>
          </a:bodyPr>
          <a:lstStyle/>
          <a:p>
            <a:pPr algn="l">
              <a:lnSpc>
                <a:spcPct val="100000"/>
              </a:lnSpc>
            </a:pPr>
            <a:r>
              <a:rPr sz="1300" b="0" i="0">
                <a:solidFill>
                  <a:srgbClr val="A7B2B0"/>
                </a:solidFill>
                <a:latin typeface="Segoe UI"/>
              </a:rPr>
              <a:t>La prueba diaria del chat lee este repositorio.</a:t>
            </a:r>
          </a:p>
        </p:txBody>
      </p:sp>
      <p:sp>
        <p:nvSpPr>
          <p:cNvPr id="20" name="Rounded Rectangle 19"/>
          <p:cNvSpPr/>
          <p:nvPr/>
        </p:nvSpPr>
        <p:spPr>
          <a:xfrm>
            <a:off x="6196431" y="4242816"/>
            <a:ext cx="5428335" cy="1956816"/>
          </a:xfrm>
          <a:prstGeom prst="roundRect">
            <a:avLst>
              <a:gd name="adj" fmla="val 5607"/>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ectangle 20"/>
          <p:cNvSpPr/>
          <p:nvPr/>
        </p:nvSpPr>
        <p:spPr>
          <a:xfrm>
            <a:off x="6361023" y="4370832"/>
            <a:ext cx="502920" cy="45720"/>
          </a:xfrm>
          <a:prstGeom prst="rect">
            <a:avLst/>
          </a:prstGeom>
          <a:solidFill>
            <a:srgbClr val="46D2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6324447" y="4462272"/>
            <a:ext cx="5172303" cy="353568"/>
          </a:xfrm>
          <a:prstGeom prst="rect">
            <a:avLst/>
          </a:prstGeom>
          <a:noFill/>
        </p:spPr>
        <p:txBody>
          <a:bodyPr wrap="square" lIns="45720" rIns="45720" tIns="27432" bIns="27432" anchor="t">
            <a:noAutofit/>
          </a:bodyPr>
          <a:lstStyle/>
          <a:p>
            <a:pPr algn="l">
              <a:lnSpc>
                <a:spcPct val="100000"/>
              </a:lnSpc>
            </a:pPr>
            <a:r>
              <a:rPr sz="1600" b="0" i="0">
                <a:solidFill>
                  <a:srgbClr val="F7F2E8"/>
                </a:solidFill>
                <a:latin typeface="Segoe UI Semibold"/>
              </a:rPr>
              <a:t>Compuerta de calidad</a:t>
            </a:r>
          </a:p>
        </p:txBody>
      </p:sp>
      <p:sp>
        <p:nvSpPr>
          <p:cNvPr id="23" name="TextBox 22"/>
          <p:cNvSpPr txBox="1"/>
          <p:nvPr/>
        </p:nvSpPr>
        <p:spPr>
          <a:xfrm>
            <a:off x="6324447" y="4815840"/>
            <a:ext cx="5172303" cy="1292352"/>
          </a:xfrm>
          <a:prstGeom prst="rect">
            <a:avLst/>
          </a:prstGeom>
          <a:noFill/>
        </p:spPr>
        <p:txBody>
          <a:bodyPr wrap="square" lIns="45720" rIns="45720" tIns="27432" bIns="27432" anchor="t">
            <a:noAutofit/>
          </a:bodyPr>
          <a:lstStyle/>
          <a:p>
            <a:pPr algn="l">
              <a:lnSpc>
                <a:spcPct val="100000"/>
              </a:lnSpc>
            </a:pPr>
            <a:r>
              <a:rPr sz="1300" b="0" i="0">
                <a:solidFill>
                  <a:srgbClr val="A7B2B0"/>
                </a:solidFill>
                <a:latin typeface="Segoe UI"/>
              </a:rPr>
              <a:t>Corre en Windows Terminal, la predeterminada de Windows 11.</a:t>
            </a:r>
          </a:p>
        </p:txBody>
      </p:sp>
      <p:cxnSp>
        <p:nvCxnSpPr>
          <p:cNvPr id="24" name="Connector 23"/>
          <p:cNvCxnSpPr/>
          <p:nvPr/>
        </p:nvCxnSpPr>
        <p:spPr>
          <a:xfrm>
            <a:off x="566928" y="6373368"/>
            <a:ext cx="11057839" cy="0"/>
          </a:xfrm>
          <a:prstGeom prst="line">
            <a:avLst/>
          </a:prstGeom>
          <a:ln w="7620">
            <a:solidFill>
              <a:srgbClr val="2A3A40"/>
            </a:solidFill>
          </a:ln>
        </p:spPr>
        <p:style>
          <a:lnRef idx="2">
            <a:schemeClr val="accent1"/>
          </a:lnRef>
          <a:fillRef idx="0">
            <a:schemeClr val="accent1"/>
          </a:fillRef>
          <a:effectRef idx="1">
            <a:schemeClr val="accent1"/>
          </a:effectRef>
          <a:fontRef idx="minor">
            <a:schemeClr val="tx1"/>
          </a:fontRef>
        </p:style>
      </p:cxnSp>
      <p:sp>
        <p:nvSpPr>
          <p:cNvPr id="25" name="TextBox 24"/>
          <p:cNvSpPr txBox="1"/>
          <p:nvPr/>
        </p:nvSpPr>
        <p:spPr>
          <a:xfrm>
            <a:off x="566928" y="6419088"/>
            <a:ext cx="6858000" cy="274320"/>
          </a:xfrm>
          <a:prstGeom prst="rect">
            <a:avLst/>
          </a:prstGeom>
          <a:noFill/>
        </p:spPr>
        <p:txBody>
          <a:bodyPr wrap="square" lIns="45720" rIns="45720" tIns="27432" bIns="27432" anchor="t">
            <a:noAutofit/>
          </a:bodyPr>
          <a:lstStyle/>
          <a:p>
            <a:pPr algn="l">
              <a:lnSpc>
                <a:spcPct val="100000"/>
              </a:lnSpc>
            </a:pPr>
            <a:r>
              <a:rPr sz="850" b="0" i="0" spc="120">
                <a:solidFill>
                  <a:srgbClr val="A7B2B0"/>
                </a:solidFill>
                <a:latin typeface="Segoe UI Semibold"/>
              </a:rPr>
              <a:t>TLAMATINI  ·  VIII · RELEASE ACTUAL</a:t>
            </a:r>
          </a:p>
        </p:txBody>
      </p:sp>
      <p:sp>
        <p:nvSpPr>
          <p:cNvPr id="26" name="TextBox 25"/>
          <p:cNvSpPr txBox="1"/>
          <p:nvPr/>
        </p:nvSpPr>
        <p:spPr>
          <a:xfrm>
            <a:off x="8698687" y="6419088"/>
            <a:ext cx="2926080" cy="274320"/>
          </a:xfrm>
          <a:prstGeom prst="rect">
            <a:avLst/>
          </a:prstGeom>
          <a:noFill/>
        </p:spPr>
        <p:txBody>
          <a:bodyPr wrap="square" lIns="45720" rIns="45720" tIns="27432" bIns="27432" anchor="t">
            <a:noAutofit/>
          </a:bodyPr>
          <a:lstStyle/>
          <a:p>
            <a:pPr algn="r">
              <a:lnSpc>
                <a:spcPct val="100000"/>
              </a:lnSpc>
            </a:pPr>
            <a:r>
              <a:rPr sz="850" b="0" i="0" spc="100">
                <a:solidFill>
                  <a:srgbClr val="A7B2B0"/>
                </a:solidFill>
                <a:latin typeface="Segoe UI Semibold"/>
              </a:rPr>
              <a:t>v1.91.1   ·   128</a:t>
            </a:r>
          </a:p>
        </p:txBody>
      </p:sp>
    </p:spTree>
  </p:cSld>
  <p:clrMapOvr>
    <a:masterClrMapping/>
  </p:clrMapOvr>
</p:sld>
</file>

<file path=ppt/slides/slide1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content.png"/>
          <p:cNvPicPr>
            <a:picLocks noChangeAspect="1"/>
          </p:cNvPicPr>
          <p:nvPr/>
        </p:nvPicPr>
        <p:blipFill>
          <a:blip r:embed="rId2"/>
          <a:stretch>
            <a:fillRect/>
          </a:stretch>
        </p:blipFill>
        <p:spPr>
          <a:xfrm>
            <a:off x="0" y="0"/>
            <a:ext cx="12191695" cy="6858000"/>
          </a:xfrm>
          <a:prstGeom prst="rect">
            <a:avLst/>
          </a:prstGeom>
        </p:spPr>
      </p:pic>
      <p:sp>
        <p:nvSpPr>
          <p:cNvPr id="3" name="Diamond 2"/>
          <p:cNvSpPr/>
          <p:nvPr/>
        </p:nvSpPr>
        <p:spPr>
          <a:xfrm>
            <a:off x="566928" y="457200"/>
            <a:ext cx="100584" cy="100584"/>
          </a:xfrm>
          <a:prstGeom prst="diamond">
            <a:avLst/>
          </a:prstGeom>
          <a:solidFill>
            <a:srgbClr val="E2B4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49808" y="365760"/>
            <a:ext cx="8229600" cy="292608"/>
          </a:xfrm>
          <a:prstGeom prst="rect">
            <a:avLst/>
          </a:prstGeom>
          <a:noFill/>
        </p:spPr>
        <p:txBody>
          <a:bodyPr wrap="square" lIns="45720" rIns="45720" tIns="27432" bIns="27432" anchor="t">
            <a:noAutofit/>
          </a:bodyPr>
          <a:lstStyle/>
          <a:p>
            <a:pPr algn="l">
              <a:lnSpc>
                <a:spcPct val="100000"/>
              </a:lnSpc>
            </a:pPr>
            <a:r>
              <a:rPr sz="1100" b="0" i="0" spc="240">
                <a:solidFill>
                  <a:srgbClr val="C98457"/>
                </a:solidFill>
                <a:latin typeface="Segoe UI Semibold"/>
              </a:rPr>
              <a:t>HEREDADO DE v1.86.0</a:t>
            </a:r>
          </a:p>
        </p:txBody>
      </p:sp>
      <p:sp>
        <p:nvSpPr>
          <p:cNvPr id="5" name="TextBox 4"/>
          <p:cNvSpPr txBox="1"/>
          <p:nvPr/>
        </p:nvSpPr>
        <p:spPr>
          <a:xfrm>
            <a:off x="539496" y="676656"/>
            <a:ext cx="11057839" cy="658368"/>
          </a:xfrm>
          <a:prstGeom prst="rect">
            <a:avLst/>
          </a:prstGeom>
          <a:noFill/>
        </p:spPr>
        <p:txBody>
          <a:bodyPr wrap="square" lIns="45720" rIns="45720" tIns="27432" bIns="27432" anchor="t">
            <a:noAutofit/>
          </a:bodyPr>
          <a:lstStyle/>
          <a:p>
            <a:pPr algn="l">
              <a:lnSpc>
                <a:spcPct val="100000"/>
              </a:lnSpc>
            </a:pPr>
            <a:r>
              <a:rPr sz="3100" b="0" i="0">
                <a:solidFill>
                  <a:srgbClr val="F7F2E8"/>
                </a:solidFill>
                <a:latin typeface="Palatino Linotype"/>
              </a:rPr>
              <a:t>Carpetas de Mover y el atlas</a:t>
            </a:r>
          </a:p>
        </p:txBody>
      </p:sp>
      <p:sp>
        <p:nvSpPr>
          <p:cNvPr id="6" name="Rectangle 5"/>
          <p:cNvSpPr/>
          <p:nvPr/>
        </p:nvSpPr>
        <p:spPr>
          <a:xfrm>
            <a:off x="566928" y="1344168"/>
            <a:ext cx="822960" cy="36576"/>
          </a:xfrm>
          <a:prstGeom prst="rect">
            <a:avLst/>
          </a:prstGeom>
          <a:solidFill>
            <a:srgbClr val="E2B4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566928" y="1444752"/>
            <a:ext cx="10692079" cy="585216"/>
          </a:xfrm>
          <a:prstGeom prst="rect">
            <a:avLst/>
          </a:prstGeom>
          <a:noFill/>
        </p:spPr>
        <p:txBody>
          <a:bodyPr wrap="square" lIns="45720" rIns="45720" tIns="27432" bIns="27432" anchor="t">
            <a:noAutofit/>
          </a:bodyPr>
          <a:lstStyle/>
          <a:p>
            <a:pPr algn="l">
              <a:lnSpc>
                <a:spcPct val="100000"/>
              </a:lnSpc>
            </a:pPr>
            <a:r>
              <a:rPr sz="1450" b="0" i="0">
                <a:solidFill>
                  <a:srgbClr val="A7B2B0"/>
                </a:solidFill>
                <a:latin typeface="Segoe UI Semilight"/>
              </a:rPr>
              <a:t>Con tag del 17 de octubre: un destino faltante se vuelve carpeta, y el atlas se reconstruye solo.</a:t>
            </a:r>
          </a:p>
        </p:txBody>
      </p:sp>
      <p:sp>
        <p:nvSpPr>
          <p:cNvPr id="8" name="Rounded Rectangle 7"/>
          <p:cNvSpPr/>
          <p:nvPr/>
        </p:nvSpPr>
        <p:spPr>
          <a:xfrm>
            <a:off x="566928" y="2084831"/>
            <a:ext cx="5428335" cy="1956816"/>
          </a:xfrm>
          <a:prstGeom prst="roundRect">
            <a:avLst>
              <a:gd name="adj" fmla="val 5607"/>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ectangle 8"/>
          <p:cNvSpPr/>
          <p:nvPr/>
        </p:nvSpPr>
        <p:spPr>
          <a:xfrm>
            <a:off x="731520" y="2212848"/>
            <a:ext cx="502920" cy="45720"/>
          </a:xfrm>
          <a:prstGeom prst="rect">
            <a:avLst/>
          </a:prstGeom>
          <a:solidFill>
            <a:srgbClr val="3BBE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694944" y="2304287"/>
            <a:ext cx="5172303" cy="353568"/>
          </a:xfrm>
          <a:prstGeom prst="rect">
            <a:avLst/>
          </a:prstGeom>
          <a:noFill/>
        </p:spPr>
        <p:txBody>
          <a:bodyPr wrap="square" lIns="45720" rIns="45720" tIns="27432" bIns="27432" anchor="t">
            <a:noAutofit/>
          </a:bodyPr>
          <a:lstStyle/>
          <a:p>
            <a:pPr algn="l">
              <a:lnSpc>
                <a:spcPct val="100000"/>
              </a:lnSpc>
            </a:pPr>
            <a:r>
              <a:rPr sz="1600" b="0" i="0">
                <a:solidFill>
                  <a:srgbClr val="F7F2E8"/>
                </a:solidFill>
                <a:latin typeface="Segoe UI Semibold"/>
              </a:rPr>
              <a:t>Mover</a:t>
            </a:r>
          </a:p>
        </p:txBody>
      </p:sp>
      <p:sp>
        <p:nvSpPr>
          <p:cNvPr id="11" name="TextBox 10"/>
          <p:cNvSpPr txBox="1"/>
          <p:nvPr/>
        </p:nvSpPr>
        <p:spPr>
          <a:xfrm>
            <a:off x="694944" y="2657855"/>
            <a:ext cx="5172303" cy="1292352"/>
          </a:xfrm>
          <a:prstGeom prst="rect">
            <a:avLst/>
          </a:prstGeom>
          <a:noFill/>
        </p:spPr>
        <p:txBody>
          <a:bodyPr wrap="square" lIns="45720" rIns="45720" tIns="27432" bIns="27432" anchor="t">
            <a:noAutofit/>
          </a:bodyPr>
          <a:lstStyle/>
          <a:p>
            <a:pPr algn="l">
              <a:lnSpc>
                <a:spcPct val="100000"/>
              </a:lnSpc>
            </a:pPr>
            <a:r>
              <a:rPr sz="1300" b="0" i="0">
                <a:solidFill>
                  <a:srgbClr val="A7B2B0"/>
                </a:solidFill>
                <a:latin typeface="Segoe UI"/>
              </a:rPr>
              <a:t>Un nombre de destino nuevo se vuelve una carpeta.</a:t>
            </a:r>
          </a:p>
        </p:txBody>
      </p:sp>
      <p:sp>
        <p:nvSpPr>
          <p:cNvPr id="12" name="Rounded Rectangle 11"/>
          <p:cNvSpPr/>
          <p:nvPr/>
        </p:nvSpPr>
        <p:spPr>
          <a:xfrm>
            <a:off x="6196431" y="2084831"/>
            <a:ext cx="5428335" cy="1956816"/>
          </a:xfrm>
          <a:prstGeom prst="roundRect">
            <a:avLst>
              <a:gd name="adj" fmla="val 5607"/>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6361023" y="2212848"/>
            <a:ext cx="502920" cy="45720"/>
          </a:xfrm>
          <a:prstGeom prst="rect">
            <a:avLst/>
          </a:prstGeom>
          <a:solidFill>
            <a:srgbClr val="C984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324447" y="2304287"/>
            <a:ext cx="5172303" cy="353568"/>
          </a:xfrm>
          <a:prstGeom prst="rect">
            <a:avLst/>
          </a:prstGeom>
          <a:noFill/>
        </p:spPr>
        <p:txBody>
          <a:bodyPr wrap="square" lIns="45720" rIns="45720" tIns="27432" bIns="27432" anchor="t">
            <a:noAutofit/>
          </a:bodyPr>
          <a:lstStyle/>
          <a:p>
            <a:pPr algn="l">
              <a:lnSpc>
                <a:spcPct val="100000"/>
              </a:lnSpc>
            </a:pPr>
            <a:r>
              <a:rPr sz="1600" b="0" i="0">
                <a:solidFill>
                  <a:srgbClr val="F7F2E8"/>
                </a:solidFill>
                <a:latin typeface="Segoe UI Semibold"/>
              </a:rPr>
              <a:t>Renombre</a:t>
            </a:r>
          </a:p>
        </p:txBody>
      </p:sp>
      <p:sp>
        <p:nvSpPr>
          <p:cNvPr id="15" name="TextBox 14"/>
          <p:cNvSpPr txBox="1"/>
          <p:nvPr/>
        </p:nvSpPr>
        <p:spPr>
          <a:xfrm>
            <a:off x="6324447" y="2657855"/>
            <a:ext cx="5172303" cy="1292352"/>
          </a:xfrm>
          <a:prstGeom prst="rect">
            <a:avLst/>
          </a:prstGeom>
          <a:noFill/>
        </p:spPr>
        <p:txBody>
          <a:bodyPr wrap="square" lIns="45720" rIns="45720" tIns="27432" bIns="27432" anchor="t">
            <a:noAutofit/>
          </a:bodyPr>
          <a:lstStyle/>
          <a:p>
            <a:pPr algn="l">
              <a:lnSpc>
                <a:spcPct val="100000"/>
              </a:lnSpc>
            </a:pPr>
            <a:r>
              <a:rPr sz="1300" b="0" i="0">
                <a:solidFill>
                  <a:srgbClr val="A7B2B0"/>
                </a:solidFill>
                <a:latin typeface="Segoe UI"/>
              </a:rPr>
              <a:t>Sólo cuando el destino nombra un archivo.</a:t>
            </a:r>
          </a:p>
        </p:txBody>
      </p:sp>
      <p:sp>
        <p:nvSpPr>
          <p:cNvPr id="16" name="Rounded Rectangle 15"/>
          <p:cNvSpPr/>
          <p:nvPr/>
        </p:nvSpPr>
        <p:spPr>
          <a:xfrm>
            <a:off x="566928" y="4242816"/>
            <a:ext cx="5428335" cy="1956816"/>
          </a:xfrm>
          <a:prstGeom prst="roundRect">
            <a:avLst>
              <a:gd name="adj" fmla="val 5607"/>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31520" y="4370832"/>
            <a:ext cx="502920" cy="45720"/>
          </a:xfrm>
          <a:prstGeom prst="rect">
            <a:avLst/>
          </a:prstGeom>
          <a:solidFill>
            <a:srgbClr val="E2B4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694944" y="4462272"/>
            <a:ext cx="5172303" cy="353568"/>
          </a:xfrm>
          <a:prstGeom prst="rect">
            <a:avLst/>
          </a:prstGeom>
          <a:noFill/>
        </p:spPr>
        <p:txBody>
          <a:bodyPr wrap="square" lIns="45720" rIns="45720" tIns="27432" bIns="27432" anchor="t">
            <a:noAutofit/>
          </a:bodyPr>
          <a:lstStyle/>
          <a:p>
            <a:pPr algn="l">
              <a:lnSpc>
                <a:spcPct val="100000"/>
              </a:lnSpc>
            </a:pPr>
            <a:r>
              <a:rPr sz="1600" b="0" i="0">
                <a:solidFill>
                  <a:srgbClr val="F7F2E8"/>
                </a:solidFill>
                <a:latin typeface="Segoe UI Semibold"/>
              </a:rPr>
              <a:t>Atlas</a:t>
            </a:r>
          </a:p>
        </p:txBody>
      </p:sp>
      <p:sp>
        <p:nvSpPr>
          <p:cNvPr id="19" name="TextBox 18"/>
          <p:cNvSpPr txBox="1"/>
          <p:nvPr/>
        </p:nvSpPr>
        <p:spPr>
          <a:xfrm>
            <a:off x="694944" y="4815840"/>
            <a:ext cx="5172303" cy="1292352"/>
          </a:xfrm>
          <a:prstGeom prst="rect">
            <a:avLst/>
          </a:prstGeom>
          <a:noFill/>
        </p:spPr>
        <p:txBody>
          <a:bodyPr wrap="square" lIns="45720" rIns="45720" tIns="27432" bIns="27432" anchor="t">
            <a:noAutofit/>
          </a:bodyPr>
          <a:lstStyle/>
          <a:p>
            <a:pPr algn="l">
              <a:lnSpc>
                <a:spcPct val="100000"/>
              </a:lnSpc>
            </a:pPr>
            <a:r>
              <a:rPr sz="1300" b="0" i="0">
                <a:solidFill>
                  <a:srgbClr val="A7B2B0"/>
                </a:solidFill>
                <a:latin typeface="Segoe UI"/>
              </a:rPr>
              <a:t>Lo reconstruye LaTeXer a partir del repositorio.</a:t>
            </a:r>
          </a:p>
        </p:txBody>
      </p:sp>
      <p:sp>
        <p:nvSpPr>
          <p:cNvPr id="20" name="Rounded Rectangle 19"/>
          <p:cNvSpPr/>
          <p:nvPr/>
        </p:nvSpPr>
        <p:spPr>
          <a:xfrm>
            <a:off x="6196431" y="4242816"/>
            <a:ext cx="5428335" cy="1956816"/>
          </a:xfrm>
          <a:prstGeom prst="roundRect">
            <a:avLst>
              <a:gd name="adj" fmla="val 5607"/>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ectangle 20"/>
          <p:cNvSpPr/>
          <p:nvPr/>
        </p:nvSpPr>
        <p:spPr>
          <a:xfrm>
            <a:off x="6361023" y="4370832"/>
            <a:ext cx="502920" cy="45720"/>
          </a:xfrm>
          <a:prstGeom prst="rect">
            <a:avLst/>
          </a:prstGeom>
          <a:solidFill>
            <a:srgbClr val="46D2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6324447" y="4462272"/>
            <a:ext cx="5172303" cy="353568"/>
          </a:xfrm>
          <a:prstGeom prst="rect">
            <a:avLst/>
          </a:prstGeom>
          <a:noFill/>
        </p:spPr>
        <p:txBody>
          <a:bodyPr wrap="square" lIns="45720" rIns="45720" tIns="27432" bIns="27432" anchor="t">
            <a:noAutofit/>
          </a:bodyPr>
          <a:lstStyle/>
          <a:p>
            <a:pPr algn="l">
              <a:lnSpc>
                <a:spcPct val="100000"/>
              </a:lnSpc>
            </a:pPr>
            <a:r>
              <a:rPr sz="1600" b="0" i="0">
                <a:solidFill>
                  <a:srgbClr val="F7F2E8"/>
                </a:solidFill>
                <a:latin typeface="Segoe UI Semibold"/>
              </a:rPr>
              <a:t>Prueba</a:t>
            </a:r>
          </a:p>
        </p:txBody>
      </p:sp>
      <p:sp>
        <p:nvSpPr>
          <p:cNvPr id="23" name="TextBox 22"/>
          <p:cNvSpPr txBox="1"/>
          <p:nvPr/>
        </p:nvSpPr>
        <p:spPr>
          <a:xfrm>
            <a:off x="6324447" y="4815840"/>
            <a:ext cx="5172303" cy="1292352"/>
          </a:xfrm>
          <a:prstGeom prst="rect">
            <a:avLst/>
          </a:prstGeom>
          <a:noFill/>
        </p:spPr>
        <p:txBody>
          <a:bodyPr wrap="square" lIns="45720" rIns="45720" tIns="27432" bIns="27432" anchor="t">
            <a:noAutofit/>
          </a:bodyPr>
          <a:lstStyle/>
          <a:p>
            <a:pPr algn="l">
              <a:lnSpc>
                <a:spcPct val="100000"/>
              </a:lnSpc>
            </a:pPr>
            <a:r>
              <a:rPr sz="1300" b="0" i="0">
                <a:solidFill>
                  <a:srgbClr val="A7B2B0"/>
                </a:solidFill>
                <a:latin typeface="Segoe UI"/>
              </a:rPr>
              <a:t>Cada archivo con seguimiento aparece en el atlas.</a:t>
            </a:r>
          </a:p>
        </p:txBody>
      </p:sp>
      <p:cxnSp>
        <p:nvCxnSpPr>
          <p:cNvPr id="24" name="Connector 23"/>
          <p:cNvCxnSpPr/>
          <p:nvPr/>
        </p:nvCxnSpPr>
        <p:spPr>
          <a:xfrm>
            <a:off x="566928" y="6373368"/>
            <a:ext cx="11057839" cy="0"/>
          </a:xfrm>
          <a:prstGeom prst="line">
            <a:avLst/>
          </a:prstGeom>
          <a:ln w="7620">
            <a:solidFill>
              <a:srgbClr val="2A3A40"/>
            </a:solidFill>
          </a:ln>
        </p:spPr>
        <p:style>
          <a:lnRef idx="2">
            <a:schemeClr val="accent1"/>
          </a:lnRef>
          <a:fillRef idx="0">
            <a:schemeClr val="accent1"/>
          </a:fillRef>
          <a:effectRef idx="1">
            <a:schemeClr val="accent1"/>
          </a:effectRef>
          <a:fontRef idx="minor">
            <a:schemeClr val="tx1"/>
          </a:fontRef>
        </p:style>
      </p:cxnSp>
      <p:sp>
        <p:nvSpPr>
          <p:cNvPr id="25" name="TextBox 24"/>
          <p:cNvSpPr txBox="1"/>
          <p:nvPr/>
        </p:nvSpPr>
        <p:spPr>
          <a:xfrm>
            <a:off x="566928" y="6419088"/>
            <a:ext cx="6858000" cy="274320"/>
          </a:xfrm>
          <a:prstGeom prst="rect">
            <a:avLst/>
          </a:prstGeom>
          <a:noFill/>
        </p:spPr>
        <p:txBody>
          <a:bodyPr wrap="square" lIns="45720" rIns="45720" tIns="27432" bIns="27432" anchor="t">
            <a:noAutofit/>
          </a:bodyPr>
          <a:lstStyle/>
          <a:p>
            <a:pPr algn="l">
              <a:lnSpc>
                <a:spcPct val="100000"/>
              </a:lnSpc>
            </a:pPr>
            <a:r>
              <a:rPr sz="850" b="0" i="0" spc="120">
                <a:solidFill>
                  <a:srgbClr val="A7B2B0"/>
                </a:solidFill>
                <a:latin typeface="Segoe UI Semibold"/>
              </a:rPr>
              <a:t>TLAMATINI  ·  VIII · RELEASE ACTUAL</a:t>
            </a:r>
          </a:p>
        </p:txBody>
      </p:sp>
      <p:sp>
        <p:nvSpPr>
          <p:cNvPr id="26" name="TextBox 25"/>
          <p:cNvSpPr txBox="1"/>
          <p:nvPr/>
        </p:nvSpPr>
        <p:spPr>
          <a:xfrm>
            <a:off x="8698687" y="6419088"/>
            <a:ext cx="2926080" cy="274320"/>
          </a:xfrm>
          <a:prstGeom prst="rect">
            <a:avLst/>
          </a:prstGeom>
          <a:noFill/>
        </p:spPr>
        <p:txBody>
          <a:bodyPr wrap="square" lIns="45720" rIns="45720" tIns="27432" bIns="27432" anchor="t">
            <a:noAutofit/>
          </a:bodyPr>
          <a:lstStyle/>
          <a:p>
            <a:pPr algn="r">
              <a:lnSpc>
                <a:spcPct val="100000"/>
              </a:lnSpc>
            </a:pPr>
            <a:r>
              <a:rPr sz="850" b="0" i="0" spc="100">
                <a:solidFill>
                  <a:srgbClr val="A7B2B0"/>
                </a:solidFill>
                <a:latin typeface="Segoe UI Semibold"/>
              </a:rPr>
              <a:t>v1.91.1   ·   129</a:t>
            </a:r>
          </a:p>
        </p:txBody>
      </p:sp>
    </p:spTree>
  </p:cSld>
  <p:clrMapOvr>
    <a:masterClrMapping/>
  </p:clrMapOvr>
</p:sld>
</file>

<file path=ppt/slides/slide1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content.png"/>
          <p:cNvPicPr>
            <a:picLocks noChangeAspect="1"/>
          </p:cNvPicPr>
          <p:nvPr/>
        </p:nvPicPr>
        <p:blipFill>
          <a:blip r:embed="rId2"/>
          <a:stretch>
            <a:fillRect/>
          </a:stretch>
        </p:blipFill>
        <p:spPr>
          <a:xfrm>
            <a:off x="0" y="0"/>
            <a:ext cx="12191695" cy="6858000"/>
          </a:xfrm>
          <a:prstGeom prst="rect">
            <a:avLst/>
          </a:prstGeom>
        </p:spPr>
      </p:pic>
      <p:sp>
        <p:nvSpPr>
          <p:cNvPr id="3" name="Diamond 2"/>
          <p:cNvSpPr/>
          <p:nvPr/>
        </p:nvSpPr>
        <p:spPr>
          <a:xfrm>
            <a:off x="566928" y="457200"/>
            <a:ext cx="100584" cy="100584"/>
          </a:xfrm>
          <a:prstGeom prst="diamond">
            <a:avLst/>
          </a:prstGeom>
          <a:solidFill>
            <a:srgbClr val="E2B4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49808" y="365760"/>
            <a:ext cx="8229600" cy="292608"/>
          </a:xfrm>
          <a:prstGeom prst="rect">
            <a:avLst/>
          </a:prstGeom>
          <a:noFill/>
        </p:spPr>
        <p:txBody>
          <a:bodyPr wrap="square" lIns="45720" rIns="45720" tIns="27432" bIns="27432" anchor="t">
            <a:noAutofit/>
          </a:bodyPr>
          <a:lstStyle/>
          <a:p>
            <a:pPr algn="l">
              <a:lnSpc>
                <a:spcPct val="100000"/>
              </a:lnSpc>
            </a:pPr>
            <a:r>
              <a:rPr sz="1100" b="0" i="0" spc="240">
                <a:solidFill>
                  <a:srgbClr val="C98457"/>
                </a:solidFill>
                <a:latin typeface="Segoe UI Semibold"/>
              </a:rPr>
              <a:t>HEREDADO DE v1.85.0</a:t>
            </a:r>
          </a:p>
        </p:txBody>
      </p:sp>
      <p:sp>
        <p:nvSpPr>
          <p:cNvPr id="5" name="TextBox 4"/>
          <p:cNvSpPr txBox="1"/>
          <p:nvPr/>
        </p:nvSpPr>
        <p:spPr>
          <a:xfrm>
            <a:off x="539496" y="676656"/>
            <a:ext cx="11057839" cy="658368"/>
          </a:xfrm>
          <a:prstGeom prst="rect">
            <a:avLst/>
          </a:prstGeom>
          <a:noFill/>
        </p:spPr>
        <p:txBody>
          <a:bodyPr wrap="square" lIns="45720" rIns="45720" tIns="27432" bIns="27432" anchor="t">
            <a:noAutofit/>
          </a:bodyPr>
          <a:lstStyle/>
          <a:p>
            <a:pPr algn="l">
              <a:lnSpc>
                <a:spcPct val="100000"/>
              </a:lnSpc>
            </a:pPr>
            <a:r>
              <a:rPr sz="3100" b="0" i="0">
                <a:solidFill>
                  <a:srgbClr val="F7F2E8"/>
                </a:solidFill>
                <a:latin typeface="Palatino Linotype"/>
              </a:rPr>
              <a:t>Actualizar, Vistas y un avatar centrado</a:t>
            </a:r>
          </a:p>
        </p:txBody>
      </p:sp>
      <p:sp>
        <p:nvSpPr>
          <p:cNvPr id="6" name="Rectangle 5"/>
          <p:cNvSpPr/>
          <p:nvPr/>
        </p:nvSpPr>
        <p:spPr>
          <a:xfrm>
            <a:off x="566928" y="1344168"/>
            <a:ext cx="822960" cy="36576"/>
          </a:xfrm>
          <a:prstGeom prst="rect">
            <a:avLst/>
          </a:prstGeom>
          <a:solidFill>
            <a:srgbClr val="E2B4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566928" y="1444752"/>
            <a:ext cx="10692079" cy="585216"/>
          </a:xfrm>
          <a:prstGeom prst="rect">
            <a:avLst/>
          </a:prstGeom>
          <a:noFill/>
        </p:spPr>
        <p:txBody>
          <a:bodyPr wrap="square" lIns="45720" rIns="45720" tIns="27432" bIns="27432" anchor="t">
            <a:noAutofit/>
          </a:bodyPr>
          <a:lstStyle/>
          <a:p>
            <a:pPr algn="l">
              <a:lnSpc>
                <a:spcPct val="100000"/>
              </a:lnSpc>
            </a:pPr>
            <a:r>
              <a:rPr sz="1450" b="0" i="0">
                <a:solidFill>
                  <a:srgbClr val="A7B2B0"/>
                </a:solidFill>
                <a:latin typeface="Segoe UI Semilight"/>
              </a:rPr>
              <a:t>Con tag y publicado el 16 de octubre, con un espacio de trabajo del chat más flexible.</a:t>
            </a:r>
          </a:p>
        </p:txBody>
      </p:sp>
      <p:sp>
        <p:nvSpPr>
          <p:cNvPr id="8" name="Rounded Rectangle 7"/>
          <p:cNvSpPr/>
          <p:nvPr/>
        </p:nvSpPr>
        <p:spPr>
          <a:xfrm>
            <a:off x="566928" y="2084831"/>
            <a:ext cx="5428335" cy="1956816"/>
          </a:xfrm>
          <a:prstGeom prst="roundRect">
            <a:avLst>
              <a:gd name="adj" fmla="val 5607"/>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ectangle 8"/>
          <p:cNvSpPr/>
          <p:nvPr/>
        </p:nvSpPr>
        <p:spPr>
          <a:xfrm>
            <a:off x="731520" y="2212848"/>
            <a:ext cx="502920" cy="45720"/>
          </a:xfrm>
          <a:prstGeom prst="rect">
            <a:avLst/>
          </a:prstGeom>
          <a:solidFill>
            <a:srgbClr val="3BBE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694944" y="2304287"/>
            <a:ext cx="5172303" cy="353568"/>
          </a:xfrm>
          <a:prstGeom prst="rect">
            <a:avLst/>
          </a:prstGeom>
          <a:noFill/>
        </p:spPr>
        <p:txBody>
          <a:bodyPr wrap="square" lIns="45720" rIns="45720" tIns="27432" bIns="27432" anchor="t">
            <a:noAutofit/>
          </a:bodyPr>
          <a:lstStyle/>
          <a:p>
            <a:pPr algn="l">
              <a:lnSpc>
                <a:spcPct val="100000"/>
              </a:lnSpc>
            </a:pPr>
            <a:r>
              <a:rPr sz="1600" b="0" i="0">
                <a:solidFill>
                  <a:srgbClr val="F7F2E8"/>
                </a:solidFill>
                <a:latin typeface="Segoe UI Semibold"/>
              </a:rPr>
              <a:t>Actualizar</a:t>
            </a:r>
          </a:p>
        </p:txBody>
      </p:sp>
      <p:sp>
        <p:nvSpPr>
          <p:cNvPr id="11" name="TextBox 10"/>
          <p:cNvSpPr txBox="1"/>
          <p:nvPr/>
        </p:nvSpPr>
        <p:spPr>
          <a:xfrm>
            <a:off x="694944" y="2657855"/>
            <a:ext cx="5172303" cy="1292352"/>
          </a:xfrm>
          <a:prstGeom prst="rect">
            <a:avLst/>
          </a:prstGeom>
          <a:noFill/>
        </p:spPr>
        <p:txBody>
          <a:bodyPr wrap="square" lIns="45720" rIns="45720" tIns="27432" bIns="27432" anchor="t">
            <a:noAutofit/>
          </a:bodyPr>
          <a:lstStyle/>
          <a:p>
            <a:pPr algn="l">
              <a:lnSpc>
                <a:spcPct val="100000"/>
              </a:lnSpc>
            </a:pPr>
            <a:r>
              <a:rPr sz="1300" b="0" i="0">
                <a:solidFill>
                  <a:srgbClr val="A7B2B0"/>
                </a:solidFill>
                <a:latin typeface="Segoe UI"/>
              </a:rPr>
              <a:t>El documento original, leído otra vez sin un selector.</a:t>
            </a:r>
          </a:p>
        </p:txBody>
      </p:sp>
      <p:sp>
        <p:nvSpPr>
          <p:cNvPr id="12" name="Rounded Rectangle 11"/>
          <p:cNvSpPr/>
          <p:nvPr/>
        </p:nvSpPr>
        <p:spPr>
          <a:xfrm>
            <a:off x="6196431" y="2084831"/>
            <a:ext cx="5428335" cy="1956816"/>
          </a:xfrm>
          <a:prstGeom prst="roundRect">
            <a:avLst>
              <a:gd name="adj" fmla="val 5607"/>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6361023" y="2212848"/>
            <a:ext cx="502920" cy="45720"/>
          </a:xfrm>
          <a:prstGeom prst="rect">
            <a:avLst/>
          </a:prstGeom>
          <a:solidFill>
            <a:srgbClr val="C984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324447" y="2304287"/>
            <a:ext cx="5172303" cy="353568"/>
          </a:xfrm>
          <a:prstGeom prst="rect">
            <a:avLst/>
          </a:prstGeom>
          <a:noFill/>
        </p:spPr>
        <p:txBody>
          <a:bodyPr wrap="square" lIns="45720" rIns="45720" tIns="27432" bIns="27432" anchor="t">
            <a:noAutofit/>
          </a:bodyPr>
          <a:lstStyle/>
          <a:p>
            <a:pPr algn="l">
              <a:lnSpc>
                <a:spcPct val="100000"/>
              </a:lnSpc>
            </a:pPr>
            <a:r>
              <a:rPr sz="1600" b="0" i="0">
                <a:solidFill>
                  <a:srgbClr val="F7F2E8"/>
                </a:solidFill>
                <a:latin typeface="Segoe UI Semibold"/>
              </a:rPr>
              <a:t>Vistas</a:t>
            </a:r>
          </a:p>
        </p:txBody>
      </p:sp>
      <p:sp>
        <p:nvSpPr>
          <p:cNvPr id="15" name="TextBox 14"/>
          <p:cNvSpPr txBox="1"/>
          <p:nvPr/>
        </p:nvSpPr>
        <p:spPr>
          <a:xfrm>
            <a:off x="6324447" y="2657855"/>
            <a:ext cx="5172303" cy="1292352"/>
          </a:xfrm>
          <a:prstGeom prst="rect">
            <a:avLst/>
          </a:prstGeom>
          <a:noFill/>
        </p:spPr>
        <p:txBody>
          <a:bodyPr wrap="square" lIns="45720" rIns="45720" tIns="27432" bIns="27432" anchor="t">
            <a:noAutofit/>
          </a:bodyPr>
          <a:lstStyle/>
          <a:p>
            <a:pPr algn="l">
              <a:lnSpc>
                <a:spcPct val="100000"/>
              </a:lnSpc>
            </a:pPr>
            <a:r>
              <a:rPr sz="1300" b="0" i="0">
                <a:solidFill>
                  <a:srgbClr val="A7B2B0"/>
                </a:solidFill>
                <a:latin typeface="Segoe UI"/>
              </a:rPr>
              <a:t>Muestra u oculta el canvas y conserva su estado.</a:t>
            </a:r>
          </a:p>
        </p:txBody>
      </p:sp>
      <p:sp>
        <p:nvSpPr>
          <p:cNvPr id="16" name="Rounded Rectangle 15"/>
          <p:cNvSpPr/>
          <p:nvPr/>
        </p:nvSpPr>
        <p:spPr>
          <a:xfrm>
            <a:off x="566928" y="4242816"/>
            <a:ext cx="5428335" cy="1956816"/>
          </a:xfrm>
          <a:prstGeom prst="roundRect">
            <a:avLst>
              <a:gd name="adj" fmla="val 5607"/>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31520" y="4370832"/>
            <a:ext cx="502920" cy="45720"/>
          </a:xfrm>
          <a:prstGeom prst="rect">
            <a:avLst/>
          </a:prstGeom>
          <a:solidFill>
            <a:srgbClr val="E2B4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694944" y="4462272"/>
            <a:ext cx="5172303" cy="353568"/>
          </a:xfrm>
          <a:prstGeom prst="rect">
            <a:avLst/>
          </a:prstGeom>
          <a:noFill/>
        </p:spPr>
        <p:txBody>
          <a:bodyPr wrap="square" lIns="45720" rIns="45720" tIns="27432" bIns="27432" anchor="t">
            <a:noAutofit/>
          </a:bodyPr>
          <a:lstStyle/>
          <a:p>
            <a:pPr algn="l">
              <a:lnSpc>
                <a:spcPct val="100000"/>
              </a:lnSpc>
            </a:pPr>
            <a:r>
              <a:rPr sz="1600" b="0" i="0">
                <a:solidFill>
                  <a:srgbClr val="F7F2E8"/>
                </a:solidFill>
                <a:latin typeface="Segoe UI Semibold"/>
              </a:rPr>
              <a:t>Restablecer distribución</a:t>
            </a:r>
          </a:p>
        </p:txBody>
      </p:sp>
      <p:sp>
        <p:nvSpPr>
          <p:cNvPr id="19" name="TextBox 18"/>
          <p:cNvSpPr txBox="1"/>
          <p:nvPr/>
        </p:nvSpPr>
        <p:spPr>
          <a:xfrm>
            <a:off x="694944" y="4815840"/>
            <a:ext cx="5172303" cy="1292352"/>
          </a:xfrm>
          <a:prstGeom prst="rect">
            <a:avLst/>
          </a:prstGeom>
          <a:noFill/>
        </p:spPr>
        <p:txBody>
          <a:bodyPr wrap="square" lIns="45720" rIns="45720" tIns="27432" bIns="27432" anchor="t">
            <a:noAutofit/>
          </a:bodyPr>
          <a:lstStyle/>
          <a:p>
            <a:pPr algn="l">
              <a:lnSpc>
                <a:spcPct val="100000"/>
              </a:lnSpc>
            </a:pPr>
            <a:r>
              <a:rPr sz="1300" b="0" i="0">
                <a:solidFill>
                  <a:srgbClr val="A7B2B0"/>
                </a:solidFill>
                <a:latin typeface="Segoe UI"/>
              </a:rPr>
              <a:t>Restaura ambos paneles y acopla el avatar.</a:t>
            </a:r>
          </a:p>
        </p:txBody>
      </p:sp>
      <p:sp>
        <p:nvSpPr>
          <p:cNvPr id="20" name="Rounded Rectangle 19"/>
          <p:cNvSpPr/>
          <p:nvPr/>
        </p:nvSpPr>
        <p:spPr>
          <a:xfrm>
            <a:off x="6196431" y="4242816"/>
            <a:ext cx="5428335" cy="1956816"/>
          </a:xfrm>
          <a:prstGeom prst="roundRect">
            <a:avLst>
              <a:gd name="adj" fmla="val 5607"/>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ectangle 20"/>
          <p:cNvSpPr/>
          <p:nvPr/>
        </p:nvSpPr>
        <p:spPr>
          <a:xfrm>
            <a:off x="6361023" y="4370832"/>
            <a:ext cx="502920" cy="45720"/>
          </a:xfrm>
          <a:prstGeom prst="rect">
            <a:avLst/>
          </a:prstGeom>
          <a:solidFill>
            <a:srgbClr val="46D2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6324447" y="4462272"/>
            <a:ext cx="5172303" cy="353568"/>
          </a:xfrm>
          <a:prstGeom prst="rect">
            <a:avLst/>
          </a:prstGeom>
          <a:noFill/>
        </p:spPr>
        <p:txBody>
          <a:bodyPr wrap="square" lIns="45720" rIns="45720" tIns="27432" bIns="27432" anchor="t">
            <a:noAutofit/>
          </a:bodyPr>
          <a:lstStyle/>
          <a:p>
            <a:pPr algn="l">
              <a:lnSpc>
                <a:spcPct val="100000"/>
              </a:lnSpc>
            </a:pPr>
            <a:r>
              <a:rPr sz="1600" b="0" i="0">
                <a:solidFill>
                  <a:srgbClr val="F7F2E8"/>
                </a:solidFill>
                <a:latin typeface="Segoe UI Semibold"/>
              </a:rPr>
              <a:t>Retrato</a:t>
            </a:r>
          </a:p>
        </p:txBody>
      </p:sp>
      <p:sp>
        <p:nvSpPr>
          <p:cNvPr id="23" name="TextBox 22"/>
          <p:cNvSpPr txBox="1"/>
          <p:nvPr/>
        </p:nvSpPr>
        <p:spPr>
          <a:xfrm>
            <a:off x="6324447" y="4815840"/>
            <a:ext cx="5172303" cy="1292352"/>
          </a:xfrm>
          <a:prstGeom prst="rect">
            <a:avLst/>
          </a:prstGeom>
          <a:noFill/>
        </p:spPr>
        <p:txBody>
          <a:bodyPr wrap="square" lIns="45720" rIns="45720" tIns="27432" bIns="27432" anchor="t">
            <a:noAutofit/>
          </a:bodyPr>
          <a:lstStyle/>
          <a:p>
            <a:pPr algn="l">
              <a:lnSpc>
                <a:spcPct val="100000"/>
              </a:lnSpc>
            </a:pPr>
            <a:r>
              <a:rPr sz="1300" b="0" i="0">
                <a:solidFill>
                  <a:srgbClr val="A7B2B0"/>
                </a:solidFill>
                <a:latin typeface="Segoe UI"/>
              </a:rPr>
              <a:t>Centra todo el marco sobre la fila de acciones completa.</a:t>
            </a:r>
          </a:p>
        </p:txBody>
      </p:sp>
      <p:cxnSp>
        <p:nvCxnSpPr>
          <p:cNvPr id="24" name="Connector 23"/>
          <p:cNvCxnSpPr/>
          <p:nvPr/>
        </p:nvCxnSpPr>
        <p:spPr>
          <a:xfrm>
            <a:off x="566928" y="6373368"/>
            <a:ext cx="11057839" cy="0"/>
          </a:xfrm>
          <a:prstGeom prst="line">
            <a:avLst/>
          </a:prstGeom>
          <a:ln w="7620">
            <a:solidFill>
              <a:srgbClr val="2A3A40"/>
            </a:solidFill>
          </a:ln>
        </p:spPr>
        <p:style>
          <a:lnRef idx="2">
            <a:schemeClr val="accent1"/>
          </a:lnRef>
          <a:fillRef idx="0">
            <a:schemeClr val="accent1"/>
          </a:fillRef>
          <a:effectRef idx="1">
            <a:schemeClr val="accent1"/>
          </a:effectRef>
          <a:fontRef idx="minor">
            <a:schemeClr val="tx1"/>
          </a:fontRef>
        </p:style>
      </p:cxnSp>
      <p:sp>
        <p:nvSpPr>
          <p:cNvPr id="25" name="TextBox 24"/>
          <p:cNvSpPr txBox="1"/>
          <p:nvPr/>
        </p:nvSpPr>
        <p:spPr>
          <a:xfrm>
            <a:off x="566928" y="6419088"/>
            <a:ext cx="6858000" cy="274320"/>
          </a:xfrm>
          <a:prstGeom prst="rect">
            <a:avLst/>
          </a:prstGeom>
          <a:noFill/>
        </p:spPr>
        <p:txBody>
          <a:bodyPr wrap="square" lIns="45720" rIns="45720" tIns="27432" bIns="27432" anchor="t">
            <a:noAutofit/>
          </a:bodyPr>
          <a:lstStyle/>
          <a:p>
            <a:pPr algn="l">
              <a:lnSpc>
                <a:spcPct val="100000"/>
              </a:lnSpc>
            </a:pPr>
            <a:r>
              <a:rPr sz="850" b="0" i="0" spc="120">
                <a:solidFill>
                  <a:srgbClr val="A7B2B0"/>
                </a:solidFill>
                <a:latin typeface="Segoe UI Semibold"/>
              </a:rPr>
              <a:t>TLAMATINI  ·  VIII · RELEASE ACTUAL</a:t>
            </a:r>
          </a:p>
        </p:txBody>
      </p:sp>
      <p:sp>
        <p:nvSpPr>
          <p:cNvPr id="26" name="TextBox 25"/>
          <p:cNvSpPr txBox="1"/>
          <p:nvPr/>
        </p:nvSpPr>
        <p:spPr>
          <a:xfrm>
            <a:off x="8698687" y="6419088"/>
            <a:ext cx="2926080" cy="274320"/>
          </a:xfrm>
          <a:prstGeom prst="rect">
            <a:avLst/>
          </a:prstGeom>
          <a:noFill/>
        </p:spPr>
        <p:txBody>
          <a:bodyPr wrap="square" lIns="45720" rIns="45720" tIns="27432" bIns="27432" anchor="t">
            <a:noAutofit/>
          </a:bodyPr>
          <a:lstStyle/>
          <a:p>
            <a:pPr algn="r">
              <a:lnSpc>
                <a:spcPct val="100000"/>
              </a:lnSpc>
            </a:pPr>
            <a:r>
              <a:rPr sz="850" b="0" i="0" spc="100">
                <a:solidFill>
                  <a:srgbClr val="A7B2B0"/>
                </a:solidFill>
                <a:latin typeface="Segoe UI Semibold"/>
              </a:rPr>
              <a:t>v1.91.1   ·   130</a:t>
            </a:r>
          </a:p>
        </p:txBody>
      </p:sp>
    </p:spTree>
  </p:cSld>
  <p:clrMapOvr>
    <a:masterClrMapping/>
  </p:clrMapOvr>
</p:sld>
</file>

<file path=ppt/slides/slide1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content.png"/>
          <p:cNvPicPr>
            <a:picLocks noChangeAspect="1"/>
          </p:cNvPicPr>
          <p:nvPr/>
        </p:nvPicPr>
        <p:blipFill>
          <a:blip r:embed="rId2"/>
          <a:stretch>
            <a:fillRect/>
          </a:stretch>
        </p:blipFill>
        <p:spPr>
          <a:xfrm>
            <a:off x="0" y="0"/>
            <a:ext cx="12191695" cy="6858000"/>
          </a:xfrm>
          <a:prstGeom prst="rect">
            <a:avLst/>
          </a:prstGeom>
        </p:spPr>
      </p:pic>
      <p:sp>
        <p:nvSpPr>
          <p:cNvPr id="3" name="Diamond 2"/>
          <p:cNvSpPr/>
          <p:nvPr/>
        </p:nvSpPr>
        <p:spPr>
          <a:xfrm>
            <a:off x="566928" y="457200"/>
            <a:ext cx="100584" cy="100584"/>
          </a:xfrm>
          <a:prstGeom prst="diamond">
            <a:avLst/>
          </a:prstGeom>
          <a:solidFill>
            <a:srgbClr val="E2B4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49808" y="365760"/>
            <a:ext cx="8229600" cy="292608"/>
          </a:xfrm>
          <a:prstGeom prst="rect">
            <a:avLst/>
          </a:prstGeom>
          <a:noFill/>
        </p:spPr>
        <p:txBody>
          <a:bodyPr wrap="square" lIns="45720" rIns="45720" tIns="27432" bIns="27432" anchor="t">
            <a:noAutofit/>
          </a:bodyPr>
          <a:lstStyle/>
          <a:p>
            <a:pPr algn="l">
              <a:lnSpc>
                <a:spcPct val="100000"/>
              </a:lnSpc>
            </a:pPr>
            <a:r>
              <a:rPr sz="1100" b="0" i="0" spc="240">
                <a:solidFill>
                  <a:srgbClr val="C98457"/>
                </a:solidFill>
                <a:latin typeface="Segoe UI Semibold"/>
              </a:rPr>
              <a:t>HEREDADO DE v1.85.0</a:t>
            </a:r>
          </a:p>
        </p:txBody>
      </p:sp>
      <p:sp>
        <p:nvSpPr>
          <p:cNvPr id="5" name="TextBox 4"/>
          <p:cNvSpPr txBox="1"/>
          <p:nvPr/>
        </p:nvSpPr>
        <p:spPr>
          <a:xfrm>
            <a:off x="539496" y="676656"/>
            <a:ext cx="11057839" cy="658368"/>
          </a:xfrm>
          <a:prstGeom prst="rect">
            <a:avLst/>
          </a:prstGeom>
          <a:noFill/>
        </p:spPr>
        <p:txBody>
          <a:bodyPr wrap="square" lIns="45720" rIns="45720" tIns="27432" bIns="27432" anchor="t">
            <a:noAutofit/>
          </a:bodyPr>
          <a:lstStyle/>
          <a:p>
            <a:pPr algn="l">
              <a:lnSpc>
                <a:spcPct val="100000"/>
              </a:lnSpc>
            </a:pPr>
            <a:r>
              <a:rPr sz="3100" b="0" i="0">
                <a:solidFill>
                  <a:srgbClr val="F7F2E8"/>
                </a:solidFill>
                <a:latin typeface="Palatino Linotype"/>
              </a:rPr>
              <a:t>Actualiza el documento original</a:t>
            </a:r>
          </a:p>
        </p:txBody>
      </p:sp>
      <p:sp>
        <p:nvSpPr>
          <p:cNvPr id="6" name="Rectangle 5"/>
          <p:cNvSpPr/>
          <p:nvPr/>
        </p:nvSpPr>
        <p:spPr>
          <a:xfrm>
            <a:off x="566928" y="1344168"/>
            <a:ext cx="822960" cy="36576"/>
          </a:xfrm>
          <a:prstGeom prst="rect">
            <a:avLst/>
          </a:prstGeom>
          <a:solidFill>
            <a:srgbClr val="E2B4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566928" y="1444752"/>
            <a:ext cx="10692079" cy="585216"/>
          </a:xfrm>
          <a:prstGeom prst="rect">
            <a:avLst/>
          </a:prstGeom>
          <a:noFill/>
        </p:spPr>
        <p:txBody>
          <a:bodyPr wrap="square" lIns="45720" rIns="45720" tIns="27432" bIns="27432" anchor="t">
            <a:noAutofit/>
          </a:bodyPr>
          <a:lstStyle/>
          <a:p>
            <a:pPr algn="l">
              <a:lnSpc>
                <a:spcPct val="100000"/>
              </a:lnSpc>
            </a:pPr>
            <a:r>
              <a:rPr sz="1450" b="0" i="0">
                <a:solidFill>
                  <a:srgbClr val="A7B2B0"/>
                </a:solidFill>
                <a:latin typeface="Segoe UI Semilight"/>
              </a:rPr>
              <a:t>Abrir elige un archivo. Actualizar vuelve a leer esa misma fuente, sin escribir en ella.</a:t>
            </a:r>
          </a:p>
        </p:txBody>
      </p:sp>
      <p:sp>
        <p:nvSpPr>
          <p:cNvPr id="8" name="Rounded Rectangle 7"/>
          <p:cNvSpPr/>
          <p:nvPr/>
        </p:nvSpPr>
        <p:spPr>
          <a:xfrm>
            <a:off x="566928" y="2084831"/>
            <a:ext cx="5428335" cy="1956816"/>
          </a:xfrm>
          <a:prstGeom prst="roundRect">
            <a:avLst>
              <a:gd name="adj" fmla="val 5607"/>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ectangle 8"/>
          <p:cNvSpPr/>
          <p:nvPr/>
        </p:nvSpPr>
        <p:spPr>
          <a:xfrm>
            <a:off x="731520" y="2212848"/>
            <a:ext cx="502920" cy="45720"/>
          </a:xfrm>
          <a:prstGeom prst="rect">
            <a:avLst/>
          </a:prstGeom>
          <a:solidFill>
            <a:srgbClr val="3BBE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694944" y="2304287"/>
            <a:ext cx="5172303" cy="353568"/>
          </a:xfrm>
          <a:prstGeom prst="rect">
            <a:avLst/>
          </a:prstGeom>
          <a:noFill/>
        </p:spPr>
        <p:txBody>
          <a:bodyPr wrap="square" lIns="45720" rIns="45720" tIns="27432" bIns="27432" anchor="t">
            <a:noAutofit/>
          </a:bodyPr>
          <a:lstStyle/>
          <a:p>
            <a:pPr algn="l">
              <a:lnSpc>
                <a:spcPct val="100000"/>
              </a:lnSpc>
            </a:pPr>
            <a:r>
              <a:rPr sz="1600" b="0" i="0">
                <a:solidFill>
                  <a:srgbClr val="F7F2E8"/>
                </a:solidFill>
                <a:latin typeface="Segoe UI Semibold"/>
              </a:rPr>
              <a:t>Abrir</a:t>
            </a:r>
          </a:p>
        </p:txBody>
      </p:sp>
      <p:sp>
        <p:nvSpPr>
          <p:cNvPr id="11" name="TextBox 10"/>
          <p:cNvSpPr txBox="1"/>
          <p:nvPr/>
        </p:nvSpPr>
        <p:spPr>
          <a:xfrm>
            <a:off x="694944" y="2657855"/>
            <a:ext cx="5172303" cy="1292352"/>
          </a:xfrm>
          <a:prstGeom prst="rect">
            <a:avLst/>
          </a:prstGeom>
          <a:noFill/>
        </p:spPr>
        <p:txBody>
          <a:bodyPr wrap="square" lIns="45720" rIns="45720" tIns="27432" bIns="27432" anchor="t">
            <a:noAutofit/>
          </a:bodyPr>
          <a:lstStyle/>
          <a:p>
            <a:pPr algn="l">
              <a:lnSpc>
                <a:spcPct val="100000"/>
              </a:lnSpc>
            </a:pPr>
            <a:r>
              <a:rPr sz="1300" b="0" i="0">
                <a:solidFill>
                  <a:srgbClr val="A7B2B0"/>
                </a:solidFill>
                <a:latin typeface="Segoe UI"/>
              </a:rPr>
              <a:t>Elige un documento y conserva el acceso de lectura.</a:t>
            </a:r>
          </a:p>
        </p:txBody>
      </p:sp>
      <p:sp>
        <p:nvSpPr>
          <p:cNvPr id="12" name="Rounded Rectangle 11"/>
          <p:cNvSpPr/>
          <p:nvPr/>
        </p:nvSpPr>
        <p:spPr>
          <a:xfrm>
            <a:off x="6196431" y="2084831"/>
            <a:ext cx="5428335" cy="1956816"/>
          </a:xfrm>
          <a:prstGeom prst="roundRect">
            <a:avLst>
              <a:gd name="adj" fmla="val 5607"/>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6361023" y="2212848"/>
            <a:ext cx="502920" cy="45720"/>
          </a:xfrm>
          <a:prstGeom prst="rect">
            <a:avLst/>
          </a:prstGeom>
          <a:solidFill>
            <a:srgbClr val="C984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324447" y="2304287"/>
            <a:ext cx="5172303" cy="353568"/>
          </a:xfrm>
          <a:prstGeom prst="rect">
            <a:avLst/>
          </a:prstGeom>
          <a:noFill/>
        </p:spPr>
        <p:txBody>
          <a:bodyPr wrap="square" lIns="45720" rIns="45720" tIns="27432" bIns="27432" anchor="t">
            <a:noAutofit/>
          </a:bodyPr>
          <a:lstStyle/>
          <a:p>
            <a:pPr algn="l">
              <a:lnSpc>
                <a:spcPct val="100000"/>
              </a:lnSpc>
            </a:pPr>
            <a:r>
              <a:rPr sz="1600" b="0" i="0">
                <a:solidFill>
                  <a:srgbClr val="F7F2E8"/>
                </a:solidFill>
                <a:latin typeface="Segoe UI Semibold"/>
              </a:rPr>
              <a:t>Actualizar</a:t>
            </a:r>
          </a:p>
        </p:txBody>
      </p:sp>
      <p:sp>
        <p:nvSpPr>
          <p:cNvPr id="15" name="TextBox 14"/>
          <p:cNvSpPr txBox="1"/>
          <p:nvPr/>
        </p:nvSpPr>
        <p:spPr>
          <a:xfrm>
            <a:off x="6324447" y="2657855"/>
            <a:ext cx="5172303" cy="1292352"/>
          </a:xfrm>
          <a:prstGeom prst="rect">
            <a:avLst/>
          </a:prstGeom>
          <a:noFill/>
        </p:spPr>
        <p:txBody>
          <a:bodyPr wrap="square" lIns="45720" rIns="45720" tIns="27432" bIns="27432" anchor="t">
            <a:noAutofit/>
          </a:bodyPr>
          <a:lstStyle/>
          <a:p>
            <a:pPr algn="l">
              <a:lnSpc>
                <a:spcPct val="100000"/>
              </a:lnSpc>
            </a:pPr>
            <a:r>
              <a:rPr sz="1300" b="0" i="0">
                <a:solidFill>
                  <a:srgbClr val="A7B2B0"/>
                </a:solidFill>
                <a:latin typeface="Segoe UI"/>
              </a:rPr>
              <a:t>Vuelve a leer la fuente conservada sin otro selector.</a:t>
            </a:r>
          </a:p>
        </p:txBody>
      </p:sp>
      <p:sp>
        <p:nvSpPr>
          <p:cNvPr id="16" name="Rounded Rectangle 15"/>
          <p:cNvSpPr/>
          <p:nvPr/>
        </p:nvSpPr>
        <p:spPr>
          <a:xfrm>
            <a:off x="566928" y="4242816"/>
            <a:ext cx="5428335" cy="1956816"/>
          </a:xfrm>
          <a:prstGeom prst="roundRect">
            <a:avLst>
              <a:gd name="adj" fmla="val 5607"/>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31520" y="4370832"/>
            <a:ext cx="502920" cy="45720"/>
          </a:xfrm>
          <a:prstGeom prst="rect">
            <a:avLst/>
          </a:prstGeom>
          <a:solidFill>
            <a:srgbClr val="E2B4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694944" y="4462272"/>
            <a:ext cx="5172303" cy="353568"/>
          </a:xfrm>
          <a:prstGeom prst="rect">
            <a:avLst/>
          </a:prstGeom>
          <a:noFill/>
        </p:spPr>
        <p:txBody>
          <a:bodyPr wrap="square" lIns="45720" rIns="45720" tIns="27432" bIns="27432" anchor="t">
            <a:noAutofit/>
          </a:bodyPr>
          <a:lstStyle/>
          <a:p>
            <a:pPr algn="l">
              <a:lnSpc>
                <a:spcPct val="100000"/>
              </a:lnSpc>
            </a:pPr>
            <a:r>
              <a:rPr sz="1600" b="0" i="0">
                <a:solidFill>
                  <a:srgbClr val="F7F2E8"/>
                </a:solidFill>
                <a:latin typeface="Segoe UI Semibold"/>
              </a:rPr>
              <a:t>Error</a:t>
            </a:r>
          </a:p>
        </p:txBody>
      </p:sp>
      <p:sp>
        <p:nvSpPr>
          <p:cNvPr id="19" name="TextBox 18"/>
          <p:cNvSpPr txBox="1"/>
          <p:nvPr/>
        </p:nvSpPr>
        <p:spPr>
          <a:xfrm>
            <a:off x="694944" y="4815840"/>
            <a:ext cx="5172303" cy="1292352"/>
          </a:xfrm>
          <a:prstGeom prst="rect">
            <a:avLst/>
          </a:prstGeom>
          <a:noFill/>
        </p:spPr>
        <p:txBody>
          <a:bodyPr wrap="square" lIns="45720" rIns="45720" tIns="27432" bIns="27432" anchor="t">
            <a:noAutofit/>
          </a:bodyPr>
          <a:lstStyle/>
          <a:p>
            <a:pPr algn="l">
              <a:lnSpc>
                <a:spcPct val="100000"/>
              </a:lnSpc>
            </a:pPr>
            <a:r>
              <a:rPr sz="1300" b="0" i="0">
                <a:solidFill>
                  <a:srgbClr val="A7B2B0"/>
                </a:solidFill>
                <a:latin typeface="Segoe UI"/>
              </a:rPr>
              <a:t>Conserva el contenido anterior y permite reintentar.</a:t>
            </a:r>
          </a:p>
        </p:txBody>
      </p:sp>
      <p:sp>
        <p:nvSpPr>
          <p:cNvPr id="20" name="Rounded Rectangle 19"/>
          <p:cNvSpPr/>
          <p:nvPr/>
        </p:nvSpPr>
        <p:spPr>
          <a:xfrm>
            <a:off x="6196431" y="4242816"/>
            <a:ext cx="5428335" cy="1956816"/>
          </a:xfrm>
          <a:prstGeom prst="roundRect">
            <a:avLst>
              <a:gd name="adj" fmla="val 5607"/>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ectangle 20"/>
          <p:cNvSpPr/>
          <p:nvPr/>
        </p:nvSpPr>
        <p:spPr>
          <a:xfrm>
            <a:off x="6361023" y="4370832"/>
            <a:ext cx="502920" cy="45720"/>
          </a:xfrm>
          <a:prstGeom prst="rect">
            <a:avLst/>
          </a:prstGeom>
          <a:solidFill>
            <a:srgbClr val="46D2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6324447" y="4462272"/>
            <a:ext cx="5172303" cy="353568"/>
          </a:xfrm>
          <a:prstGeom prst="rect">
            <a:avLst/>
          </a:prstGeom>
          <a:noFill/>
        </p:spPr>
        <p:txBody>
          <a:bodyPr wrap="square" lIns="45720" rIns="45720" tIns="27432" bIns="27432" anchor="t">
            <a:noAutofit/>
          </a:bodyPr>
          <a:lstStyle/>
          <a:p>
            <a:pPr algn="l">
              <a:lnSpc>
                <a:spcPct val="100000"/>
              </a:lnSpc>
            </a:pPr>
            <a:r>
              <a:rPr sz="1600" b="0" i="0">
                <a:solidFill>
                  <a:srgbClr val="F7F2E8"/>
                </a:solidFill>
                <a:latin typeface="Segoe UI Semibold"/>
              </a:rPr>
              <a:t>Contexto</a:t>
            </a:r>
          </a:p>
        </p:txBody>
      </p:sp>
      <p:sp>
        <p:nvSpPr>
          <p:cNvPr id="23" name="TextBox 22"/>
          <p:cNvSpPr txBox="1"/>
          <p:nvPr/>
        </p:nvSpPr>
        <p:spPr>
          <a:xfrm>
            <a:off x="6324447" y="4815840"/>
            <a:ext cx="5172303" cy="1292352"/>
          </a:xfrm>
          <a:prstGeom prst="rect">
            <a:avLst/>
          </a:prstGeom>
          <a:noFill/>
        </p:spPr>
        <p:txBody>
          <a:bodyPr wrap="square" lIns="45720" rIns="45720" tIns="27432" bIns="27432" anchor="t">
            <a:noAutofit/>
          </a:bodyPr>
          <a:lstStyle/>
          <a:p>
            <a:pPr algn="l">
              <a:lnSpc>
                <a:spcPct val="100000"/>
              </a:lnSpc>
            </a:pPr>
            <a:r>
              <a:rPr sz="1300" b="0" i="0">
                <a:solidFill>
                  <a:srgbClr val="A7B2B0"/>
                </a:solidFill>
                <a:latin typeface="Segoe UI"/>
              </a:rPr>
              <a:t>Prepara el contenido cambiado antes de reemplazar el contexto activo.</a:t>
            </a:r>
          </a:p>
        </p:txBody>
      </p:sp>
      <p:cxnSp>
        <p:nvCxnSpPr>
          <p:cNvPr id="24" name="Connector 23"/>
          <p:cNvCxnSpPr/>
          <p:nvPr/>
        </p:nvCxnSpPr>
        <p:spPr>
          <a:xfrm>
            <a:off x="566928" y="6373368"/>
            <a:ext cx="11057839" cy="0"/>
          </a:xfrm>
          <a:prstGeom prst="line">
            <a:avLst/>
          </a:prstGeom>
          <a:ln w="7620">
            <a:solidFill>
              <a:srgbClr val="2A3A40"/>
            </a:solidFill>
          </a:ln>
        </p:spPr>
        <p:style>
          <a:lnRef idx="2">
            <a:schemeClr val="accent1"/>
          </a:lnRef>
          <a:fillRef idx="0">
            <a:schemeClr val="accent1"/>
          </a:fillRef>
          <a:effectRef idx="1">
            <a:schemeClr val="accent1"/>
          </a:effectRef>
          <a:fontRef idx="minor">
            <a:schemeClr val="tx1"/>
          </a:fontRef>
        </p:style>
      </p:cxnSp>
      <p:sp>
        <p:nvSpPr>
          <p:cNvPr id="25" name="TextBox 24"/>
          <p:cNvSpPr txBox="1"/>
          <p:nvPr/>
        </p:nvSpPr>
        <p:spPr>
          <a:xfrm>
            <a:off x="566928" y="6419088"/>
            <a:ext cx="6858000" cy="274320"/>
          </a:xfrm>
          <a:prstGeom prst="rect">
            <a:avLst/>
          </a:prstGeom>
          <a:noFill/>
        </p:spPr>
        <p:txBody>
          <a:bodyPr wrap="square" lIns="45720" rIns="45720" tIns="27432" bIns="27432" anchor="t">
            <a:noAutofit/>
          </a:bodyPr>
          <a:lstStyle/>
          <a:p>
            <a:pPr algn="l">
              <a:lnSpc>
                <a:spcPct val="100000"/>
              </a:lnSpc>
            </a:pPr>
            <a:r>
              <a:rPr sz="850" b="0" i="0" spc="120">
                <a:solidFill>
                  <a:srgbClr val="A7B2B0"/>
                </a:solidFill>
                <a:latin typeface="Segoe UI Semibold"/>
              </a:rPr>
              <a:t>TLAMATINI  ·  VIII · RELEASE ACTUAL</a:t>
            </a:r>
          </a:p>
        </p:txBody>
      </p:sp>
      <p:sp>
        <p:nvSpPr>
          <p:cNvPr id="26" name="TextBox 25"/>
          <p:cNvSpPr txBox="1"/>
          <p:nvPr/>
        </p:nvSpPr>
        <p:spPr>
          <a:xfrm>
            <a:off x="8698687" y="6419088"/>
            <a:ext cx="2926080" cy="274320"/>
          </a:xfrm>
          <a:prstGeom prst="rect">
            <a:avLst/>
          </a:prstGeom>
          <a:noFill/>
        </p:spPr>
        <p:txBody>
          <a:bodyPr wrap="square" lIns="45720" rIns="45720" tIns="27432" bIns="27432" anchor="t">
            <a:noAutofit/>
          </a:bodyPr>
          <a:lstStyle/>
          <a:p>
            <a:pPr algn="r">
              <a:lnSpc>
                <a:spcPct val="100000"/>
              </a:lnSpc>
            </a:pPr>
            <a:r>
              <a:rPr sz="850" b="0" i="0" spc="100">
                <a:solidFill>
                  <a:srgbClr val="A7B2B0"/>
                </a:solidFill>
                <a:latin typeface="Segoe UI Semibold"/>
              </a:rPr>
              <a:t>v1.91.1   ·   131</a:t>
            </a:r>
          </a:p>
        </p:txBody>
      </p:sp>
    </p:spTree>
  </p:cSld>
  <p:clrMapOvr>
    <a:masterClrMapping/>
  </p:clrMapOvr>
</p:sld>
</file>

<file path=ppt/slides/slide1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content.png"/>
          <p:cNvPicPr>
            <a:picLocks noChangeAspect="1"/>
          </p:cNvPicPr>
          <p:nvPr/>
        </p:nvPicPr>
        <p:blipFill>
          <a:blip r:embed="rId2"/>
          <a:stretch>
            <a:fillRect/>
          </a:stretch>
        </p:blipFill>
        <p:spPr>
          <a:xfrm>
            <a:off x="0" y="0"/>
            <a:ext cx="12191695" cy="6858000"/>
          </a:xfrm>
          <a:prstGeom prst="rect">
            <a:avLst/>
          </a:prstGeom>
        </p:spPr>
      </p:pic>
      <p:sp>
        <p:nvSpPr>
          <p:cNvPr id="3" name="Diamond 2"/>
          <p:cNvSpPr/>
          <p:nvPr/>
        </p:nvSpPr>
        <p:spPr>
          <a:xfrm>
            <a:off x="566928" y="457200"/>
            <a:ext cx="100584" cy="100584"/>
          </a:xfrm>
          <a:prstGeom prst="diamond">
            <a:avLst/>
          </a:prstGeom>
          <a:solidFill>
            <a:srgbClr val="E2B4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49808" y="365760"/>
            <a:ext cx="8229600" cy="292608"/>
          </a:xfrm>
          <a:prstGeom prst="rect">
            <a:avLst/>
          </a:prstGeom>
          <a:noFill/>
        </p:spPr>
        <p:txBody>
          <a:bodyPr wrap="square" lIns="45720" rIns="45720" tIns="27432" bIns="27432" anchor="t">
            <a:noAutofit/>
          </a:bodyPr>
          <a:lstStyle/>
          <a:p>
            <a:pPr algn="l">
              <a:lnSpc>
                <a:spcPct val="100000"/>
              </a:lnSpc>
            </a:pPr>
            <a:r>
              <a:rPr sz="1100" b="0" i="0" spc="240">
                <a:solidFill>
                  <a:srgbClr val="C98457"/>
                </a:solidFill>
                <a:latin typeface="Segoe UI Semibold"/>
              </a:rPr>
              <a:t>HEREDADO DE v1.85.0</a:t>
            </a:r>
          </a:p>
        </p:txBody>
      </p:sp>
      <p:sp>
        <p:nvSpPr>
          <p:cNvPr id="5" name="TextBox 4"/>
          <p:cNvSpPr txBox="1"/>
          <p:nvPr/>
        </p:nvSpPr>
        <p:spPr>
          <a:xfrm>
            <a:off x="539496" y="676656"/>
            <a:ext cx="11057839" cy="658368"/>
          </a:xfrm>
          <a:prstGeom prst="rect">
            <a:avLst/>
          </a:prstGeom>
          <a:noFill/>
        </p:spPr>
        <p:txBody>
          <a:bodyPr wrap="square" lIns="45720" rIns="45720" tIns="27432" bIns="27432" anchor="t">
            <a:noAutofit/>
          </a:bodyPr>
          <a:lstStyle/>
          <a:p>
            <a:pPr algn="l">
              <a:lnSpc>
                <a:spcPct val="100000"/>
              </a:lnSpc>
            </a:pPr>
            <a:r>
              <a:rPr sz="3100" b="0" i="0">
                <a:solidFill>
                  <a:srgbClr val="F7F2E8"/>
                </a:solidFill>
                <a:latin typeface="Palatino Linotype"/>
              </a:rPr>
              <a:t>Mantén tu lugar de lectura</a:t>
            </a:r>
          </a:p>
        </p:txBody>
      </p:sp>
      <p:sp>
        <p:nvSpPr>
          <p:cNvPr id="6" name="Rectangle 5"/>
          <p:cNvSpPr/>
          <p:nvPr/>
        </p:nvSpPr>
        <p:spPr>
          <a:xfrm>
            <a:off x="566928" y="1344168"/>
            <a:ext cx="822960" cy="36576"/>
          </a:xfrm>
          <a:prstGeom prst="rect">
            <a:avLst/>
          </a:prstGeom>
          <a:solidFill>
            <a:srgbClr val="E2B4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566928" y="1444752"/>
            <a:ext cx="10692079" cy="585216"/>
          </a:xfrm>
          <a:prstGeom prst="rect">
            <a:avLst/>
          </a:prstGeom>
          <a:noFill/>
        </p:spPr>
        <p:txBody>
          <a:bodyPr wrap="square" lIns="45720" rIns="45720" tIns="27432" bIns="27432" anchor="t">
            <a:noAutofit/>
          </a:bodyPr>
          <a:lstStyle/>
          <a:p>
            <a:pPr algn="l">
              <a:lnSpc>
                <a:spcPct val="100000"/>
              </a:lnSpc>
            </a:pPr>
            <a:r>
              <a:rPr sz="1450" b="0" i="0">
                <a:solidFill>
                  <a:srgbClr val="A7B2B0"/>
                </a:solidFill>
                <a:latin typeface="Segoe UI Semilight"/>
              </a:rPr>
              <a:t>Actualizar un Markdown o un PDF conserva la vista mientras cambia el documento de fondo.</a:t>
            </a:r>
          </a:p>
        </p:txBody>
      </p:sp>
      <p:sp>
        <p:nvSpPr>
          <p:cNvPr id="8" name="Rounded Rectangle 7"/>
          <p:cNvSpPr/>
          <p:nvPr/>
        </p:nvSpPr>
        <p:spPr>
          <a:xfrm>
            <a:off x="566928" y="2084831"/>
            <a:ext cx="5428335" cy="1956816"/>
          </a:xfrm>
          <a:prstGeom prst="roundRect">
            <a:avLst>
              <a:gd name="adj" fmla="val 5607"/>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ectangle 8"/>
          <p:cNvSpPr/>
          <p:nvPr/>
        </p:nvSpPr>
        <p:spPr>
          <a:xfrm>
            <a:off x="731520" y="2212848"/>
            <a:ext cx="502920" cy="45720"/>
          </a:xfrm>
          <a:prstGeom prst="rect">
            <a:avLst/>
          </a:prstGeom>
          <a:solidFill>
            <a:srgbClr val="3BBE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694944" y="2304287"/>
            <a:ext cx="5172303" cy="353568"/>
          </a:xfrm>
          <a:prstGeom prst="rect">
            <a:avLst/>
          </a:prstGeom>
          <a:noFill/>
        </p:spPr>
        <p:txBody>
          <a:bodyPr wrap="square" lIns="45720" rIns="45720" tIns="27432" bIns="27432" anchor="t">
            <a:noAutofit/>
          </a:bodyPr>
          <a:lstStyle/>
          <a:p>
            <a:pPr algn="l">
              <a:lnSpc>
                <a:spcPct val="100000"/>
              </a:lnSpc>
            </a:pPr>
            <a:r>
              <a:rPr sz="1600" b="0" i="0">
                <a:solidFill>
                  <a:srgbClr val="F7F2E8"/>
                </a:solidFill>
                <a:latin typeface="Segoe UI Semibold"/>
              </a:rPr>
              <a:t>Markdown</a:t>
            </a:r>
          </a:p>
        </p:txBody>
      </p:sp>
      <p:sp>
        <p:nvSpPr>
          <p:cNvPr id="11" name="TextBox 10"/>
          <p:cNvSpPr txBox="1"/>
          <p:nvPr/>
        </p:nvSpPr>
        <p:spPr>
          <a:xfrm>
            <a:off x="694944" y="2657855"/>
            <a:ext cx="5172303" cy="1292352"/>
          </a:xfrm>
          <a:prstGeom prst="rect">
            <a:avLst/>
          </a:prstGeom>
          <a:noFill/>
        </p:spPr>
        <p:txBody>
          <a:bodyPr wrap="square" lIns="45720" rIns="45720" tIns="27432" bIns="27432" anchor="t">
            <a:noAutofit/>
          </a:bodyPr>
          <a:lstStyle/>
          <a:p>
            <a:pPr algn="l">
              <a:lnSpc>
                <a:spcPct val="100000"/>
              </a:lnSpc>
            </a:pPr>
            <a:r>
              <a:rPr sz="1300" b="0" i="0">
                <a:solidFill>
                  <a:srgbClr val="A7B2B0"/>
                </a:solidFill>
                <a:latin typeface="Segoe UI"/>
              </a:rPr>
              <a:t>Vista previa/Source, posición y recursos elegidos se quedan.</a:t>
            </a:r>
          </a:p>
        </p:txBody>
      </p:sp>
      <p:sp>
        <p:nvSpPr>
          <p:cNvPr id="12" name="Rounded Rectangle 11"/>
          <p:cNvSpPr/>
          <p:nvPr/>
        </p:nvSpPr>
        <p:spPr>
          <a:xfrm>
            <a:off x="6196431" y="2084831"/>
            <a:ext cx="5428335" cy="1956816"/>
          </a:xfrm>
          <a:prstGeom prst="roundRect">
            <a:avLst>
              <a:gd name="adj" fmla="val 5607"/>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6361023" y="2212848"/>
            <a:ext cx="502920" cy="45720"/>
          </a:xfrm>
          <a:prstGeom prst="rect">
            <a:avLst/>
          </a:prstGeom>
          <a:solidFill>
            <a:srgbClr val="C984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324447" y="2304287"/>
            <a:ext cx="5172303" cy="353568"/>
          </a:xfrm>
          <a:prstGeom prst="rect">
            <a:avLst/>
          </a:prstGeom>
          <a:noFill/>
        </p:spPr>
        <p:txBody>
          <a:bodyPr wrap="square" lIns="45720" rIns="45720" tIns="27432" bIns="27432" anchor="t">
            <a:noAutofit/>
          </a:bodyPr>
          <a:lstStyle/>
          <a:p>
            <a:pPr algn="l">
              <a:lnSpc>
                <a:spcPct val="100000"/>
              </a:lnSpc>
            </a:pPr>
            <a:r>
              <a:rPr sz="1600" b="0" i="0">
                <a:solidFill>
                  <a:srgbClr val="F7F2E8"/>
                </a:solidFill>
                <a:latin typeface="Segoe UI Semibold"/>
              </a:rPr>
              <a:t>PDF</a:t>
            </a:r>
          </a:p>
        </p:txBody>
      </p:sp>
      <p:sp>
        <p:nvSpPr>
          <p:cNvPr id="15" name="TextBox 14"/>
          <p:cNvSpPr txBox="1"/>
          <p:nvPr/>
        </p:nvSpPr>
        <p:spPr>
          <a:xfrm>
            <a:off x="6324447" y="2657855"/>
            <a:ext cx="5172303" cy="1292352"/>
          </a:xfrm>
          <a:prstGeom prst="rect">
            <a:avLst/>
          </a:prstGeom>
          <a:noFill/>
        </p:spPr>
        <p:txBody>
          <a:bodyPr wrap="square" lIns="45720" rIns="45720" tIns="27432" bIns="27432" anchor="t">
            <a:noAutofit/>
          </a:bodyPr>
          <a:lstStyle/>
          <a:p>
            <a:pPr algn="l">
              <a:lnSpc>
                <a:spcPct val="100000"/>
              </a:lnSpc>
            </a:pPr>
            <a:r>
              <a:rPr sz="1300" b="0" i="0">
                <a:solidFill>
                  <a:srgbClr val="A7B2B0"/>
                </a:solidFill>
                <a:latin typeface="Segoe UI"/>
              </a:rPr>
              <a:t>Página, zoom, rotación y modo de desplazamiento se quedan.</a:t>
            </a:r>
          </a:p>
        </p:txBody>
      </p:sp>
      <p:sp>
        <p:nvSpPr>
          <p:cNvPr id="16" name="Rounded Rectangle 15"/>
          <p:cNvSpPr/>
          <p:nvPr/>
        </p:nvSpPr>
        <p:spPr>
          <a:xfrm>
            <a:off x="566928" y="4242816"/>
            <a:ext cx="5428335" cy="1956816"/>
          </a:xfrm>
          <a:prstGeom prst="roundRect">
            <a:avLst>
              <a:gd name="adj" fmla="val 5607"/>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31520" y="4370832"/>
            <a:ext cx="502920" cy="45720"/>
          </a:xfrm>
          <a:prstGeom prst="rect">
            <a:avLst/>
          </a:prstGeom>
          <a:solidFill>
            <a:srgbClr val="E2B4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694944" y="4462272"/>
            <a:ext cx="5172303" cy="353568"/>
          </a:xfrm>
          <a:prstGeom prst="rect">
            <a:avLst/>
          </a:prstGeom>
          <a:noFill/>
        </p:spPr>
        <p:txBody>
          <a:bodyPr wrap="square" lIns="45720" rIns="45720" tIns="27432" bIns="27432" anchor="t">
            <a:noAutofit/>
          </a:bodyPr>
          <a:lstStyle/>
          <a:p>
            <a:pPr algn="l">
              <a:lnSpc>
                <a:spcPct val="100000"/>
              </a:lnSpc>
            </a:pPr>
            <a:r>
              <a:rPr sz="1600" b="0" i="0">
                <a:solidFill>
                  <a:srgbClr val="F7F2E8"/>
                </a:solidFill>
                <a:latin typeface="Segoe UI Semibold"/>
              </a:rPr>
              <a:t>Recuperación</a:t>
            </a:r>
          </a:p>
        </p:txBody>
      </p:sp>
      <p:sp>
        <p:nvSpPr>
          <p:cNvPr id="19" name="TextBox 18"/>
          <p:cNvSpPr txBox="1"/>
          <p:nvPr/>
        </p:nvSpPr>
        <p:spPr>
          <a:xfrm>
            <a:off x="694944" y="4815840"/>
            <a:ext cx="5172303" cy="1292352"/>
          </a:xfrm>
          <a:prstGeom prst="rect">
            <a:avLst/>
          </a:prstGeom>
          <a:noFill/>
        </p:spPr>
        <p:txBody>
          <a:bodyPr wrap="square" lIns="45720" rIns="45720" tIns="27432" bIns="27432" anchor="t">
            <a:noAutofit/>
          </a:bodyPr>
          <a:lstStyle/>
          <a:p>
            <a:pPr algn="l">
              <a:lnSpc>
                <a:spcPct val="100000"/>
              </a:lnSpc>
            </a:pPr>
            <a:r>
              <a:rPr sz="1300" b="0" i="0">
                <a:solidFill>
                  <a:srgbClr val="A7B2B0"/>
                </a:solidFill>
                <a:latin typeface="Segoe UI"/>
              </a:rPr>
              <a:t>Un reemplazo con error conserva el visor anterior.</a:t>
            </a:r>
          </a:p>
        </p:txBody>
      </p:sp>
      <p:sp>
        <p:nvSpPr>
          <p:cNvPr id="20" name="Rounded Rectangle 19"/>
          <p:cNvSpPr/>
          <p:nvPr/>
        </p:nvSpPr>
        <p:spPr>
          <a:xfrm>
            <a:off x="6196431" y="4242816"/>
            <a:ext cx="5428335" cy="1956816"/>
          </a:xfrm>
          <a:prstGeom prst="roundRect">
            <a:avLst>
              <a:gd name="adj" fmla="val 5607"/>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ectangle 20"/>
          <p:cNvSpPr/>
          <p:nvPr/>
        </p:nvSpPr>
        <p:spPr>
          <a:xfrm>
            <a:off x="6361023" y="4370832"/>
            <a:ext cx="502920" cy="45720"/>
          </a:xfrm>
          <a:prstGeom prst="rect">
            <a:avLst/>
          </a:prstGeom>
          <a:solidFill>
            <a:srgbClr val="46D2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6324447" y="4462272"/>
            <a:ext cx="5172303" cy="353568"/>
          </a:xfrm>
          <a:prstGeom prst="rect">
            <a:avLst/>
          </a:prstGeom>
          <a:noFill/>
        </p:spPr>
        <p:txBody>
          <a:bodyPr wrap="square" lIns="45720" rIns="45720" tIns="27432" bIns="27432" anchor="t">
            <a:noAutofit/>
          </a:bodyPr>
          <a:lstStyle/>
          <a:p>
            <a:pPr algn="l">
              <a:lnSpc>
                <a:spcPct val="100000"/>
              </a:lnSpc>
            </a:pPr>
            <a:r>
              <a:rPr sz="1600" b="0" i="0">
                <a:solidFill>
                  <a:srgbClr val="F7F2E8"/>
                </a:solidFill>
                <a:latin typeface="Segoe UI Semibold"/>
              </a:rPr>
              <a:t>Evidencia</a:t>
            </a:r>
          </a:p>
        </p:txBody>
      </p:sp>
      <p:sp>
        <p:nvSpPr>
          <p:cNvPr id="23" name="TextBox 22"/>
          <p:cNvSpPr txBox="1"/>
          <p:nvPr/>
        </p:nvSpPr>
        <p:spPr>
          <a:xfrm>
            <a:off x="6324447" y="4815840"/>
            <a:ext cx="5172303" cy="1292352"/>
          </a:xfrm>
          <a:prstGeom prst="rect">
            <a:avLst/>
          </a:prstGeom>
          <a:noFill/>
        </p:spPr>
        <p:txBody>
          <a:bodyPr wrap="square" lIns="45720" rIns="45720" tIns="27432" bIns="27432" anchor="t">
            <a:noAutofit/>
          </a:bodyPr>
          <a:lstStyle/>
          <a:p>
            <a:pPr algn="l">
              <a:lnSpc>
                <a:spcPct val="100000"/>
              </a:lnSpc>
            </a:pPr>
            <a:r>
              <a:rPr sz="1300" b="0" i="0">
                <a:solidFill>
                  <a:srgbClr val="A7B2B0"/>
                </a:solidFill>
                <a:latin typeface="Segoe UI"/>
              </a:rPr>
              <a:t>20 revisiones visibles en Chrome el 15 de octubre.</a:t>
            </a:r>
          </a:p>
        </p:txBody>
      </p:sp>
      <p:cxnSp>
        <p:nvCxnSpPr>
          <p:cNvPr id="24" name="Connector 23"/>
          <p:cNvCxnSpPr/>
          <p:nvPr/>
        </p:nvCxnSpPr>
        <p:spPr>
          <a:xfrm>
            <a:off x="566928" y="6373368"/>
            <a:ext cx="11057839" cy="0"/>
          </a:xfrm>
          <a:prstGeom prst="line">
            <a:avLst/>
          </a:prstGeom>
          <a:ln w="7620">
            <a:solidFill>
              <a:srgbClr val="2A3A40"/>
            </a:solidFill>
          </a:ln>
        </p:spPr>
        <p:style>
          <a:lnRef idx="2">
            <a:schemeClr val="accent1"/>
          </a:lnRef>
          <a:fillRef idx="0">
            <a:schemeClr val="accent1"/>
          </a:fillRef>
          <a:effectRef idx="1">
            <a:schemeClr val="accent1"/>
          </a:effectRef>
          <a:fontRef idx="minor">
            <a:schemeClr val="tx1"/>
          </a:fontRef>
        </p:style>
      </p:cxnSp>
      <p:sp>
        <p:nvSpPr>
          <p:cNvPr id="25" name="TextBox 24"/>
          <p:cNvSpPr txBox="1"/>
          <p:nvPr/>
        </p:nvSpPr>
        <p:spPr>
          <a:xfrm>
            <a:off x="566928" y="6419088"/>
            <a:ext cx="6858000" cy="274320"/>
          </a:xfrm>
          <a:prstGeom prst="rect">
            <a:avLst/>
          </a:prstGeom>
          <a:noFill/>
        </p:spPr>
        <p:txBody>
          <a:bodyPr wrap="square" lIns="45720" rIns="45720" tIns="27432" bIns="27432" anchor="t">
            <a:noAutofit/>
          </a:bodyPr>
          <a:lstStyle/>
          <a:p>
            <a:pPr algn="l">
              <a:lnSpc>
                <a:spcPct val="100000"/>
              </a:lnSpc>
            </a:pPr>
            <a:r>
              <a:rPr sz="850" b="0" i="0" spc="120">
                <a:solidFill>
                  <a:srgbClr val="A7B2B0"/>
                </a:solidFill>
                <a:latin typeface="Segoe UI Semibold"/>
              </a:rPr>
              <a:t>TLAMATINI  ·  VIII · RELEASE ACTUAL</a:t>
            </a:r>
          </a:p>
        </p:txBody>
      </p:sp>
      <p:sp>
        <p:nvSpPr>
          <p:cNvPr id="26" name="TextBox 25"/>
          <p:cNvSpPr txBox="1"/>
          <p:nvPr/>
        </p:nvSpPr>
        <p:spPr>
          <a:xfrm>
            <a:off x="8698687" y="6419088"/>
            <a:ext cx="2926080" cy="274320"/>
          </a:xfrm>
          <a:prstGeom prst="rect">
            <a:avLst/>
          </a:prstGeom>
          <a:noFill/>
        </p:spPr>
        <p:txBody>
          <a:bodyPr wrap="square" lIns="45720" rIns="45720" tIns="27432" bIns="27432" anchor="t">
            <a:noAutofit/>
          </a:bodyPr>
          <a:lstStyle/>
          <a:p>
            <a:pPr algn="r">
              <a:lnSpc>
                <a:spcPct val="100000"/>
              </a:lnSpc>
            </a:pPr>
            <a:r>
              <a:rPr sz="850" b="0" i="0" spc="100">
                <a:solidFill>
                  <a:srgbClr val="A7B2B0"/>
                </a:solidFill>
                <a:latin typeface="Segoe UI Semibold"/>
              </a:rPr>
              <a:t>v1.91.1   ·   132</a:t>
            </a:r>
          </a:p>
        </p:txBody>
      </p:sp>
    </p:spTree>
  </p:cSld>
  <p:clrMapOvr>
    <a:masterClrMapping/>
  </p:clrMapOvr>
</p:sld>
</file>

<file path=ppt/slides/slide1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content.png"/>
          <p:cNvPicPr>
            <a:picLocks noChangeAspect="1"/>
          </p:cNvPicPr>
          <p:nvPr/>
        </p:nvPicPr>
        <p:blipFill>
          <a:blip r:embed="rId2"/>
          <a:stretch>
            <a:fillRect/>
          </a:stretch>
        </p:blipFill>
        <p:spPr>
          <a:xfrm>
            <a:off x="0" y="0"/>
            <a:ext cx="12191695" cy="6858000"/>
          </a:xfrm>
          <a:prstGeom prst="rect">
            <a:avLst/>
          </a:prstGeom>
        </p:spPr>
      </p:pic>
      <p:sp>
        <p:nvSpPr>
          <p:cNvPr id="3" name="Diamond 2"/>
          <p:cNvSpPr/>
          <p:nvPr/>
        </p:nvSpPr>
        <p:spPr>
          <a:xfrm>
            <a:off x="566928" y="457200"/>
            <a:ext cx="100584" cy="100584"/>
          </a:xfrm>
          <a:prstGeom prst="diamond">
            <a:avLst/>
          </a:prstGeom>
          <a:solidFill>
            <a:srgbClr val="E2B4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49808" y="365760"/>
            <a:ext cx="8229600" cy="292608"/>
          </a:xfrm>
          <a:prstGeom prst="rect">
            <a:avLst/>
          </a:prstGeom>
          <a:noFill/>
        </p:spPr>
        <p:txBody>
          <a:bodyPr wrap="square" lIns="45720" rIns="45720" tIns="27432" bIns="27432" anchor="t">
            <a:noAutofit/>
          </a:bodyPr>
          <a:lstStyle/>
          <a:p>
            <a:pPr algn="l">
              <a:lnSpc>
                <a:spcPct val="100000"/>
              </a:lnSpc>
            </a:pPr>
            <a:r>
              <a:rPr sz="1100" b="0" i="0" spc="240">
                <a:solidFill>
                  <a:srgbClr val="C98457"/>
                </a:solidFill>
                <a:latin typeface="Segoe UI Semibold"/>
              </a:rPr>
              <a:t>HEREDADO DE v1.85.0</a:t>
            </a:r>
          </a:p>
        </p:txBody>
      </p:sp>
      <p:sp>
        <p:nvSpPr>
          <p:cNvPr id="5" name="TextBox 4"/>
          <p:cNvSpPr txBox="1"/>
          <p:nvPr/>
        </p:nvSpPr>
        <p:spPr>
          <a:xfrm>
            <a:off x="539496" y="676656"/>
            <a:ext cx="11057839" cy="658368"/>
          </a:xfrm>
          <a:prstGeom prst="rect">
            <a:avLst/>
          </a:prstGeom>
          <a:noFill/>
        </p:spPr>
        <p:txBody>
          <a:bodyPr wrap="square" lIns="45720" rIns="45720" tIns="27432" bIns="27432" anchor="t">
            <a:noAutofit/>
          </a:bodyPr>
          <a:lstStyle/>
          <a:p>
            <a:pPr algn="l">
              <a:lnSpc>
                <a:spcPct val="100000"/>
              </a:lnSpc>
            </a:pPr>
            <a:r>
              <a:rPr sz="3100" b="0" i="0">
                <a:solidFill>
                  <a:srgbClr val="F7F2E8"/>
                </a:solidFill>
                <a:latin typeface="Palatino Linotype"/>
              </a:rPr>
              <a:t>Chat a todo lo ancho</a:t>
            </a:r>
          </a:p>
        </p:txBody>
      </p:sp>
      <p:sp>
        <p:nvSpPr>
          <p:cNvPr id="6" name="Rectangle 5"/>
          <p:cNvSpPr/>
          <p:nvPr/>
        </p:nvSpPr>
        <p:spPr>
          <a:xfrm>
            <a:off x="566928" y="1344168"/>
            <a:ext cx="822960" cy="36576"/>
          </a:xfrm>
          <a:prstGeom prst="rect">
            <a:avLst/>
          </a:prstGeom>
          <a:solidFill>
            <a:srgbClr val="E2B4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566928" y="1444752"/>
            <a:ext cx="10692079" cy="585216"/>
          </a:xfrm>
          <a:prstGeom prst="rect">
            <a:avLst/>
          </a:prstGeom>
          <a:noFill/>
        </p:spPr>
        <p:txBody>
          <a:bodyPr wrap="square" lIns="45720" rIns="45720" tIns="27432" bIns="27432" anchor="t">
            <a:noAutofit/>
          </a:bodyPr>
          <a:lstStyle/>
          <a:p>
            <a:pPr algn="l">
              <a:lnSpc>
                <a:spcPct val="100000"/>
              </a:lnSpc>
            </a:pPr>
            <a:r>
              <a:rPr sz="1450" b="0" i="0">
                <a:solidFill>
                  <a:srgbClr val="A7B2B0"/>
                </a:solidFill>
                <a:latin typeface="Segoe UI Semilight"/>
              </a:rPr>
              <a:t>Vistas → Canvas muestra u oculta el canvas sin descargarlo.</a:t>
            </a:r>
          </a:p>
        </p:txBody>
      </p:sp>
      <p:sp>
        <p:nvSpPr>
          <p:cNvPr id="8" name="Rounded Rectangle 7"/>
          <p:cNvSpPr/>
          <p:nvPr/>
        </p:nvSpPr>
        <p:spPr>
          <a:xfrm>
            <a:off x="566928" y="2084831"/>
            <a:ext cx="5428335" cy="1956816"/>
          </a:xfrm>
          <a:prstGeom prst="roundRect">
            <a:avLst>
              <a:gd name="adj" fmla="val 5607"/>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ectangle 8"/>
          <p:cNvSpPr/>
          <p:nvPr/>
        </p:nvSpPr>
        <p:spPr>
          <a:xfrm>
            <a:off x="731520" y="2212848"/>
            <a:ext cx="502920" cy="45720"/>
          </a:xfrm>
          <a:prstGeom prst="rect">
            <a:avLst/>
          </a:prstGeom>
          <a:solidFill>
            <a:srgbClr val="3BBE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694944" y="2304287"/>
            <a:ext cx="5172303" cy="353568"/>
          </a:xfrm>
          <a:prstGeom prst="rect">
            <a:avLst/>
          </a:prstGeom>
          <a:noFill/>
        </p:spPr>
        <p:txBody>
          <a:bodyPr wrap="square" lIns="45720" rIns="45720" tIns="27432" bIns="27432" anchor="t">
            <a:noAutofit/>
          </a:bodyPr>
          <a:lstStyle/>
          <a:p>
            <a:pPr algn="l">
              <a:lnSpc>
                <a:spcPct val="100000"/>
              </a:lnSpc>
            </a:pPr>
            <a:r>
              <a:rPr sz="1600" b="0" i="0">
                <a:solidFill>
                  <a:srgbClr val="F7F2E8"/>
                </a:solidFill>
                <a:latin typeface="Segoe UI Semibold"/>
              </a:rPr>
              <a:t>Todo lo ancho</a:t>
            </a:r>
          </a:p>
        </p:txBody>
      </p:sp>
      <p:sp>
        <p:nvSpPr>
          <p:cNvPr id="11" name="TextBox 10"/>
          <p:cNvSpPr txBox="1"/>
          <p:nvPr/>
        </p:nvSpPr>
        <p:spPr>
          <a:xfrm>
            <a:off x="694944" y="2657855"/>
            <a:ext cx="5172303" cy="1292352"/>
          </a:xfrm>
          <a:prstGeom prst="rect">
            <a:avLst/>
          </a:prstGeom>
          <a:noFill/>
        </p:spPr>
        <p:txBody>
          <a:bodyPr wrap="square" lIns="45720" rIns="45720" tIns="27432" bIns="27432" anchor="t">
            <a:noAutofit/>
          </a:bodyPr>
          <a:lstStyle/>
          <a:p>
            <a:pPr algn="l">
              <a:lnSpc>
                <a:spcPct val="100000"/>
              </a:lnSpc>
            </a:pPr>
            <a:r>
              <a:rPr sz="1300" b="0" i="0">
                <a:solidFill>
                  <a:srgbClr val="A7B2B0"/>
                </a:solidFill>
                <a:latin typeface="Segoe UI"/>
              </a:rPr>
              <a:t>Oculta el canvas para darle más espacio al chat.</a:t>
            </a:r>
          </a:p>
        </p:txBody>
      </p:sp>
      <p:sp>
        <p:nvSpPr>
          <p:cNvPr id="12" name="Rounded Rectangle 11"/>
          <p:cNvSpPr/>
          <p:nvPr/>
        </p:nvSpPr>
        <p:spPr>
          <a:xfrm>
            <a:off x="6196431" y="2084831"/>
            <a:ext cx="5428335" cy="1956816"/>
          </a:xfrm>
          <a:prstGeom prst="roundRect">
            <a:avLst>
              <a:gd name="adj" fmla="val 5607"/>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6361023" y="2212848"/>
            <a:ext cx="502920" cy="45720"/>
          </a:xfrm>
          <a:prstGeom prst="rect">
            <a:avLst/>
          </a:prstGeom>
          <a:solidFill>
            <a:srgbClr val="C984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324447" y="2304287"/>
            <a:ext cx="5172303" cy="353568"/>
          </a:xfrm>
          <a:prstGeom prst="rect">
            <a:avLst/>
          </a:prstGeom>
          <a:noFill/>
        </p:spPr>
        <p:txBody>
          <a:bodyPr wrap="square" lIns="45720" rIns="45720" tIns="27432" bIns="27432" anchor="t">
            <a:noAutofit/>
          </a:bodyPr>
          <a:lstStyle/>
          <a:p>
            <a:pPr algn="l">
              <a:lnSpc>
                <a:spcPct val="100000"/>
              </a:lnSpc>
            </a:pPr>
            <a:r>
              <a:rPr sz="1600" b="0" i="0">
                <a:solidFill>
                  <a:srgbClr val="F7F2E8"/>
                </a:solidFill>
                <a:latin typeface="Segoe UI Semibold"/>
              </a:rPr>
              <a:t>Continuidad</a:t>
            </a:r>
          </a:p>
        </p:txBody>
      </p:sp>
      <p:sp>
        <p:nvSpPr>
          <p:cNvPr id="15" name="TextBox 14"/>
          <p:cNvSpPr txBox="1"/>
          <p:nvPr/>
        </p:nvSpPr>
        <p:spPr>
          <a:xfrm>
            <a:off x="6324447" y="2657855"/>
            <a:ext cx="5172303" cy="1292352"/>
          </a:xfrm>
          <a:prstGeom prst="rect">
            <a:avLst/>
          </a:prstGeom>
          <a:noFill/>
        </p:spPr>
        <p:txBody>
          <a:bodyPr wrap="square" lIns="45720" rIns="45720" tIns="27432" bIns="27432" anchor="t">
            <a:noAutofit/>
          </a:bodyPr>
          <a:lstStyle/>
          <a:p>
            <a:pPr algn="l">
              <a:lnSpc>
                <a:spcPct val="100000"/>
              </a:lnSpc>
            </a:pPr>
            <a:r>
              <a:rPr sz="1300" b="0" i="0">
                <a:solidFill>
                  <a:srgbClr val="A7B2B0"/>
                </a:solidFill>
                <a:latin typeface="Segoe UI"/>
              </a:rPr>
              <a:t>Conserva el documento abierto y el contexto activo.</a:t>
            </a:r>
          </a:p>
        </p:txBody>
      </p:sp>
      <p:sp>
        <p:nvSpPr>
          <p:cNvPr id="16" name="Rounded Rectangle 15"/>
          <p:cNvSpPr/>
          <p:nvPr/>
        </p:nvSpPr>
        <p:spPr>
          <a:xfrm>
            <a:off x="566928" y="4242816"/>
            <a:ext cx="5428335" cy="1956816"/>
          </a:xfrm>
          <a:prstGeom prst="roundRect">
            <a:avLst>
              <a:gd name="adj" fmla="val 5607"/>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31520" y="4370832"/>
            <a:ext cx="502920" cy="45720"/>
          </a:xfrm>
          <a:prstGeom prst="rect">
            <a:avLst/>
          </a:prstGeom>
          <a:solidFill>
            <a:srgbClr val="E2B4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694944" y="4462272"/>
            <a:ext cx="5172303" cy="353568"/>
          </a:xfrm>
          <a:prstGeom prst="rect">
            <a:avLst/>
          </a:prstGeom>
          <a:noFill/>
        </p:spPr>
        <p:txBody>
          <a:bodyPr wrap="square" lIns="45720" rIns="45720" tIns="27432" bIns="27432" anchor="t">
            <a:noAutofit/>
          </a:bodyPr>
          <a:lstStyle/>
          <a:p>
            <a:pPr algn="l">
              <a:lnSpc>
                <a:spcPct val="100000"/>
              </a:lnSpc>
            </a:pPr>
            <a:r>
              <a:rPr sz="1600" b="0" i="0">
                <a:solidFill>
                  <a:srgbClr val="F7F2E8"/>
                </a:solidFill>
                <a:latin typeface="Segoe UI Semibold"/>
              </a:rPr>
              <a:t>Preferencia</a:t>
            </a:r>
          </a:p>
        </p:txBody>
      </p:sp>
      <p:sp>
        <p:nvSpPr>
          <p:cNvPr id="19" name="TextBox 18"/>
          <p:cNvSpPr txBox="1"/>
          <p:nvPr/>
        </p:nvSpPr>
        <p:spPr>
          <a:xfrm>
            <a:off x="694944" y="4815840"/>
            <a:ext cx="5172303" cy="1292352"/>
          </a:xfrm>
          <a:prstGeom prst="rect">
            <a:avLst/>
          </a:prstGeom>
          <a:noFill/>
        </p:spPr>
        <p:txBody>
          <a:bodyPr wrap="square" lIns="45720" rIns="45720" tIns="27432" bIns="27432" anchor="t">
            <a:noAutofit/>
          </a:bodyPr>
          <a:lstStyle/>
          <a:p>
            <a:pPr algn="l">
              <a:lnSpc>
                <a:spcPct val="100000"/>
              </a:lnSpc>
            </a:pPr>
            <a:r>
              <a:rPr sz="1300" b="0" i="0">
                <a:solidFill>
                  <a:srgbClr val="A7B2B0"/>
                </a:solidFill>
                <a:latin typeface="Segoe UI"/>
              </a:rPr>
              <a:t>Se guarda por cuenta y por origen del browser.</a:t>
            </a:r>
          </a:p>
        </p:txBody>
      </p:sp>
      <p:sp>
        <p:nvSpPr>
          <p:cNvPr id="20" name="Rounded Rectangle 19"/>
          <p:cNvSpPr/>
          <p:nvPr/>
        </p:nvSpPr>
        <p:spPr>
          <a:xfrm>
            <a:off x="6196431" y="4242816"/>
            <a:ext cx="5428335" cy="1956816"/>
          </a:xfrm>
          <a:prstGeom prst="roundRect">
            <a:avLst>
              <a:gd name="adj" fmla="val 5607"/>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ectangle 20"/>
          <p:cNvSpPr/>
          <p:nvPr/>
        </p:nvSpPr>
        <p:spPr>
          <a:xfrm>
            <a:off x="6361023" y="4370832"/>
            <a:ext cx="502920" cy="45720"/>
          </a:xfrm>
          <a:prstGeom prst="rect">
            <a:avLst/>
          </a:prstGeom>
          <a:solidFill>
            <a:srgbClr val="46D2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6324447" y="4462272"/>
            <a:ext cx="5172303" cy="353568"/>
          </a:xfrm>
          <a:prstGeom prst="rect">
            <a:avLst/>
          </a:prstGeom>
          <a:noFill/>
        </p:spPr>
        <p:txBody>
          <a:bodyPr wrap="square" lIns="45720" rIns="45720" tIns="27432" bIns="27432" anchor="t">
            <a:noAutofit/>
          </a:bodyPr>
          <a:lstStyle/>
          <a:p>
            <a:pPr algn="l">
              <a:lnSpc>
                <a:spcPct val="100000"/>
              </a:lnSpc>
            </a:pPr>
            <a:r>
              <a:rPr sz="1600" b="0" i="0">
                <a:solidFill>
                  <a:srgbClr val="F7F2E8"/>
                </a:solidFill>
                <a:latin typeface="Segoe UI Semibold"/>
              </a:rPr>
              <a:t>Navegación</a:t>
            </a:r>
          </a:p>
        </p:txBody>
      </p:sp>
      <p:sp>
        <p:nvSpPr>
          <p:cNvPr id="23" name="TextBox 22"/>
          <p:cNvSpPr txBox="1"/>
          <p:nvPr/>
        </p:nvSpPr>
        <p:spPr>
          <a:xfrm>
            <a:off x="6324447" y="4815840"/>
            <a:ext cx="5172303" cy="1292352"/>
          </a:xfrm>
          <a:prstGeom prst="rect">
            <a:avLst/>
          </a:prstGeom>
          <a:noFill/>
        </p:spPr>
        <p:txBody>
          <a:bodyPr wrap="square" lIns="45720" rIns="45720" tIns="27432" bIns="27432" anchor="t">
            <a:noAutofit/>
          </a:bodyPr>
          <a:lstStyle/>
          <a:p>
            <a:pPr algn="l">
              <a:lnSpc>
                <a:spcPct val="100000"/>
              </a:lnSpc>
            </a:pPr>
            <a:r>
              <a:rPr sz="1300" b="0" i="0">
                <a:solidFill>
                  <a:srgbClr val="A7B2B0"/>
                </a:solidFill>
                <a:latin typeface="Segoe UI"/>
              </a:rPr>
              <a:t>Abrir un documento muestra su canvas.</a:t>
            </a:r>
          </a:p>
        </p:txBody>
      </p:sp>
      <p:cxnSp>
        <p:nvCxnSpPr>
          <p:cNvPr id="24" name="Connector 23"/>
          <p:cNvCxnSpPr/>
          <p:nvPr/>
        </p:nvCxnSpPr>
        <p:spPr>
          <a:xfrm>
            <a:off x="566928" y="6373368"/>
            <a:ext cx="11057839" cy="0"/>
          </a:xfrm>
          <a:prstGeom prst="line">
            <a:avLst/>
          </a:prstGeom>
          <a:ln w="7620">
            <a:solidFill>
              <a:srgbClr val="2A3A40"/>
            </a:solidFill>
          </a:ln>
        </p:spPr>
        <p:style>
          <a:lnRef idx="2">
            <a:schemeClr val="accent1"/>
          </a:lnRef>
          <a:fillRef idx="0">
            <a:schemeClr val="accent1"/>
          </a:fillRef>
          <a:effectRef idx="1">
            <a:schemeClr val="accent1"/>
          </a:effectRef>
          <a:fontRef idx="minor">
            <a:schemeClr val="tx1"/>
          </a:fontRef>
        </p:style>
      </p:cxnSp>
      <p:sp>
        <p:nvSpPr>
          <p:cNvPr id="25" name="TextBox 24"/>
          <p:cNvSpPr txBox="1"/>
          <p:nvPr/>
        </p:nvSpPr>
        <p:spPr>
          <a:xfrm>
            <a:off x="566928" y="6419088"/>
            <a:ext cx="6858000" cy="274320"/>
          </a:xfrm>
          <a:prstGeom prst="rect">
            <a:avLst/>
          </a:prstGeom>
          <a:noFill/>
        </p:spPr>
        <p:txBody>
          <a:bodyPr wrap="square" lIns="45720" rIns="45720" tIns="27432" bIns="27432" anchor="t">
            <a:noAutofit/>
          </a:bodyPr>
          <a:lstStyle/>
          <a:p>
            <a:pPr algn="l">
              <a:lnSpc>
                <a:spcPct val="100000"/>
              </a:lnSpc>
            </a:pPr>
            <a:r>
              <a:rPr sz="850" b="0" i="0" spc="120">
                <a:solidFill>
                  <a:srgbClr val="A7B2B0"/>
                </a:solidFill>
                <a:latin typeface="Segoe UI Semibold"/>
              </a:rPr>
              <a:t>TLAMATINI  ·  VIII · RELEASE ACTUAL</a:t>
            </a:r>
          </a:p>
        </p:txBody>
      </p:sp>
      <p:sp>
        <p:nvSpPr>
          <p:cNvPr id="26" name="TextBox 25"/>
          <p:cNvSpPr txBox="1"/>
          <p:nvPr/>
        </p:nvSpPr>
        <p:spPr>
          <a:xfrm>
            <a:off x="8698687" y="6419088"/>
            <a:ext cx="2926080" cy="274320"/>
          </a:xfrm>
          <a:prstGeom prst="rect">
            <a:avLst/>
          </a:prstGeom>
          <a:noFill/>
        </p:spPr>
        <p:txBody>
          <a:bodyPr wrap="square" lIns="45720" rIns="45720" tIns="27432" bIns="27432" anchor="t">
            <a:noAutofit/>
          </a:bodyPr>
          <a:lstStyle/>
          <a:p>
            <a:pPr algn="r">
              <a:lnSpc>
                <a:spcPct val="100000"/>
              </a:lnSpc>
            </a:pPr>
            <a:r>
              <a:rPr sz="850" b="0" i="0" spc="100">
                <a:solidFill>
                  <a:srgbClr val="A7B2B0"/>
                </a:solidFill>
                <a:latin typeface="Segoe UI Semibold"/>
              </a:rPr>
              <a:t>v1.91.1   ·   133</a:t>
            </a:r>
          </a:p>
        </p:txBody>
      </p:sp>
    </p:spTree>
  </p:cSld>
  <p:clrMapOvr>
    <a:masterClrMapping/>
  </p:clrMapOvr>
</p:sld>
</file>

<file path=ppt/slides/slide1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content.png"/>
          <p:cNvPicPr>
            <a:picLocks noChangeAspect="1"/>
          </p:cNvPicPr>
          <p:nvPr/>
        </p:nvPicPr>
        <p:blipFill>
          <a:blip r:embed="rId2"/>
          <a:stretch>
            <a:fillRect/>
          </a:stretch>
        </p:blipFill>
        <p:spPr>
          <a:xfrm>
            <a:off x="0" y="0"/>
            <a:ext cx="12191695" cy="6858000"/>
          </a:xfrm>
          <a:prstGeom prst="rect">
            <a:avLst/>
          </a:prstGeom>
        </p:spPr>
      </p:pic>
      <p:sp>
        <p:nvSpPr>
          <p:cNvPr id="3" name="Diamond 2"/>
          <p:cNvSpPr/>
          <p:nvPr/>
        </p:nvSpPr>
        <p:spPr>
          <a:xfrm>
            <a:off x="566928" y="457200"/>
            <a:ext cx="100584" cy="100584"/>
          </a:xfrm>
          <a:prstGeom prst="diamond">
            <a:avLst/>
          </a:prstGeom>
          <a:solidFill>
            <a:srgbClr val="E2B4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49808" y="365760"/>
            <a:ext cx="8229600" cy="292608"/>
          </a:xfrm>
          <a:prstGeom prst="rect">
            <a:avLst/>
          </a:prstGeom>
          <a:noFill/>
        </p:spPr>
        <p:txBody>
          <a:bodyPr wrap="square" lIns="45720" rIns="45720" tIns="27432" bIns="27432" anchor="t">
            <a:noAutofit/>
          </a:bodyPr>
          <a:lstStyle/>
          <a:p>
            <a:pPr algn="l">
              <a:lnSpc>
                <a:spcPct val="100000"/>
              </a:lnSpc>
            </a:pPr>
            <a:r>
              <a:rPr sz="1100" b="0" i="0" spc="240">
                <a:solidFill>
                  <a:srgbClr val="C98457"/>
                </a:solidFill>
                <a:latin typeface="Segoe UI Semibold"/>
              </a:rPr>
              <a:t>HEREDADO DE v1.85.0</a:t>
            </a:r>
          </a:p>
        </p:txBody>
      </p:sp>
      <p:sp>
        <p:nvSpPr>
          <p:cNvPr id="5" name="TextBox 4"/>
          <p:cNvSpPr txBox="1"/>
          <p:nvPr/>
        </p:nvSpPr>
        <p:spPr>
          <a:xfrm>
            <a:off x="539496" y="676656"/>
            <a:ext cx="11057839" cy="658368"/>
          </a:xfrm>
          <a:prstGeom prst="rect">
            <a:avLst/>
          </a:prstGeom>
          <a:noFill/>
        </p:spPr>
        <p:txBody>
          <a:bodyPr wrap="square" lIns="45720" rIns="45720" tIns="27432" bIns="27432" anchor="t">
            <a:noAutofit/>
          </a:bodyPr>
          <a:lstStyle/>
          <a:p>
            <a:pPr algn="l">
              <a:lnSpc>
                <a:spcPct val="100000"/>
              </a:lnSpc>
            </a:pPr>
            <a:r>
              <a:rPr sz="3100" b="0" i="0">
                <a:solidFill>
                  <a:srgbClr val="F7F2E8"/>
                </a:solidFill>
                <a:latin typeface="Palatino Linotype"/>
              </a:rPr>
              <a:t>Un retrato centrado a cualquier altura</a:t>
            </a:r>
          </a:p>
        </p:txBody>
      </p:sp>
      <p:sp>
        <p:nvSpPr>
          <p:cNvPr id="6" name="Rectangle 5"/>
          <p:cNvSpPr/>
          <p:nvPr/>
        </p:nvSpPr>
        <p:spPr>
          <a:xfrm>
            <a:off x="566928" y="1344168"/>
            <a:ext cx="822960" cy="36576"/>
          </a:xfrm>
          <a:prstGeom prst="rect">
            <a:avLst/>
          </a:prstGeom>
          <a:solidFill>
            <a:srgbClr val="E2B4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566928" y="1444752"/>
            <a:ext cx="10692079" cy="585216"/>
          </a:xfrm>
          <a:prstGeom prst="rect">
            <a:avLst/>
          </a:prstGeom>
          <a:noFill/>
        </p:spPr>
        <p:txBody>
          <a:bodyPr wrap="square" lIns="45720" rIns="45720" tIns="27432" bIns="27432" anchor="t">
            <a:noAutofit/>
          </a:bodyPr>
          <a:lstStyle/>
          <a:p>
            <a:pPr algn="l">
              <a:lnSpc>
                <a:spcPct val="100000"/>
              </a:lnSpc>
            </a:pPr>
            <a:r>
              <a:rPr sz="1450" b="0" i="0">
                <a:solidFill>
                  <a:srgbClr val="A7B2B0"/>
                </a:solidFill>
                <a:latin typeface="Segoe UI Semilight"/>
              </a:rPr>
              <a:t>El retrato y su marco comparten el centro de toda la fila de acciones de Micrófono a Enviar.</a:t>
            </a:r>
          </a:p>
        </p:txBody>
      </p:sp>
      <p:sp>
        <p:nvSpPr>
          <p:cNvPr id="8" name="Rounded Rectangle 7"/>
          <p:cNvSpPr/>
          <p:nvPr/>
        </p:nvSpPr>
        <p:spPr>
          <a:xfrm>
            <a:off x="566928" y="2084831"/>
            <a:ext cx="5428335" cy="1956816"/>
          </a:xfrm>
          <a:prstGeom prst="roundRect">
            <a:avLst>
              <a:gd name="adj" fmla="val 5607"/>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ectangle 8"/>
          <p:cNvSpPr/>
          <p:nvPr/>
        </p:nvSpPr>
        <p:spPr>
          <a:xfrm>
            <a:off x="731520" y="2212848"/>
            <a:ext cx="502920" cy="45720"/>
          </a:xfrm>
          <a:prstGeom prst="rect">
            <a:avLst/>
          </a:prstGeom>
          <a:solidFill>
            <a:srgbClr val="3BBE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694944" y="2304287"/>
            <a:ext cx="5172303" cy="353568"/>
          </a:xfrm>
          <a:prstGeom prst="rect">
            <a:avLst/>
          </a:prstGeom>
          <a:noFill/>
        </p:spPr>
        <p:txBody>
          <a:bodyPr wrap="square" lIns="45720" rIns="45720" tIns="27432" bIns="27432" anchor="t">
            <a:noAutofit/>
          </a:bodyPr>
          <a:lstStyle/>
          <a:p>
            <a:pPr algn="l">
              <a:lnSpc>
                <a:spcPct val="100000"/>
              </a:lnSpc>
            </a:pPr>
            <a:r>
              <a:rPr sz="1600" b="0" i="0">
                <a:solidFill>
                  <a:srgbClr val="F7F2E8"/>
                </a:solidFill>
                <a:latin typeface="Segoe UI Semibold"/>
              </a:rPr>
              <a:t>Alineación</a:t>
            </a:r>
          </a:p>
        </p:txBody>
      </p:sp>
      <p:sp>
        <p:nvSpPr>
          <p:cNvPr id="11" name="TextBox 10"/>
          <p:cNvSpPr txBox="1"/>
          <p:nvPr/>
        </p:nvSpPr>
        <p:spPr>
          <a:xfrm>
            <a:off x="694944" y="2657855"/>
            <a:ext cx="5172303" cy="1292352"/>
          </a:xfrm>
          <a:prstGeom prst="rect">
            <a:avLst/>
          </a:prstGeom>
          <a:noFill/>
        </p:spPr>
        <p:txBody>
          <a:bodyPr wrap="square" lIns="45720" rIns="45720" tIns="27432" bIns="27432" anchor="t">
            <a:noAutofit/>
          </a:bodyPr>
          <a:lstStyle/>
          <a:p>
            <a:pPr algn="l">
              <a:lnSpc>
                <a:spcPct val="100000"/>
              </a:lnSpc>
            </a:pPr>
            <a:r>
              <a:rPr sz="1300" b="0" i="0">
                <a:solidFill>
                  <a:srgbClr val="A7B2B0"/>
                </a:solidFill>
                <a:latin typeface="Segoe UI"/>
              </a:rPr>
              <a:t>De la orilla izquierda de Micrófono a la orilla derecha de Enviar.</a:t>
            </a:r>
          </a:p>
        </p:txBody>
      </p:sp>
      <p:sp>
        <p:nvSpPr>
          <p:cNvPr id="12" name="Rounded Rectangle 11"/>
          <p:cNvSpPr/>
          <p:nvPr/>
        </p:nvSpPr>
        <p:spPr>
          <a:xfrm>
            <a:off x="6196431" y="2084831"/>
            <a:ext cx="5428335" cy="1956816"/>
          </a:xfrm>
          <a:prstGeom prst="roundRect">
            <a:avLst>
              <a:gd name="adj" fmla="val 5607"/>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6361023" y="2212848"/>
            <a:ext cx="502920" cy="45720"/>
          </a:xfrm>
          <a:prstGeom prst="rect">
            <a:avLst/>
          </a:prstGeom>
          <a:solidFill>
            <a:srgbClr val="C984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324447" y="2304287"/>
            <a:ext cx="5172303" cy="353568"/>
          </a:xfrm>
          <a:prstGeom prst="rect">
            <a:avLst/>
          </a:prstGeom>
          <a:noFill/>
        </p:spPr>
        <p:txBody>
          <a:bodyPr wrap="square" lIns="45720" rIns="45720" tIns="27432" bIns="27432" anchor="t">
            <a:noAutofit/>
          </a:bodyPr>
          <a:lstStyle/>
          <a:p>
            <a:pPr algn="l">
              <a:lnSpc>
                <a:spcPct val="100000"/>
              </a:lnSpc>
            </a:pPr>
            <a:r>
              <a:rPr sz="1600" b="0" i="0">
                <a:solidFill>
                  <a:srgbClr val="F7F2E8"/>
                </a:solidFill>
                <a:latin typeface="Segoe UI Semibold"/>
              </a:rPr>
              <a:t>Tamaño</a:t>
            </a:r>
          </a:p>
        </p:txBody>
      </p:sp>
      <p:sp>
        <p:nvSpPr>
          <p:cNvPr id="15" name="TextBox 14"/>
          <p:cNvSpPr txBox="1"/>
          <p:nvPr/>
        </p:nvSpPr>
        <p:spPr>
          <a:xfrm>
            <a:off x="6324447" y="2657855"/>
            <a:ext cx="5172303" cy="1292352"/>
          </a:xfrm>
          <a:prstGeom prst="rect">
            <a:avLst/>
          </a:prstGeom>
          <a:noFill/>
        </p:spPr>
        <p:txBody>
          <a:bodyPr wrap="square" lIns="45720" rIns="45720" tIns="27432" bIns="27432" anchor="t">
            <a:noAutofit/>
          </a:bodyPr>
          <a:lstStyle/>
          <a:p>
            <a:pPr algn="l">
              <a:lnSpc>
                <a:spcPct val="100000"/>
              </a:lnSpc>
            </a:pPr>
            <a:r>
              <a:rPr sz="1300" b="0" i="0">
                <a:solidFill>
                  <a:srgbClr val="A7B2B0"/>
                </a:solidFill>
                <a:latin typeface="Segoe UI"/>
              </a:rPr>
              <a:t>Un retrato cuadrado, nunca de menos de 120 píxeles.</a:t>
            </a:r>
          </a:p>
        </p:txBody>
      </p:sp>
      <p:sp>
        <p:nvSpPr>
          <p:cNvPr id="16" name="Rounded Rectangle 15"/>
          <p:cNvSpPr/>
          <p:nvPr/>
        </p:nvSpPr>
        <p:spPr>
          <a:xfrm>
            <a:off x="566928" y="4242816"/>
            <a:ext cx="5428335" cy="1956816"/>
          </a:xfrm>
          <a:prstGeom prst="roundRect">
            <a:avLst>
              <a:gd name="adj" fmla="val 5607"/>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31520" y="4370832"/>
            <a:ext cx="502920" cy="45720"/>
          </a:xfrm>
          <a:prstGeom prst="rect">
            <a:avLst/>
          </a:prstGeom>
          <a:solidFill>
            <a:srgbClr val="E2B4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694944" y="4462272"/>
            <a:ext cx="5172303" cy="353568"/>
          </a:xfrm>
          <a:prstGeom prst="rect">
            <a:avLst/>
          </a:prstGeom>
          <a:noFill/>
        </p:spPr>
        <p:txBody>
          <a:bodyPr wrap="square" lIns="45720" rIns="45720" tIns="27432" bIns="27432" anchor="t">
            <a:noAutofit/>
          </a:bodyPr>
          <a:lstStyle/>
          <a:p>
            <a:pPr algn="l">
              <a:lnSpc>
                <a:spcPct val="100000"/>
              </a:lnSpc>
            </a:pPr>
            <a:r>
              <a:rPr sz="1600" b="0" i="0">
                <a:solidFill>
                  <a:srgbClr val="F7F2E8"/>
                </a:solidFill>
                <a:latin typeface="Segoe UI Semibold"/>
              </a:rPr>
              <a:t>Restablecer</a:t>
            </a:r>
          </a:p>
        </p:txBody>
      </p:sp>
      <p:sp>
        <p:nvSpPr>
          <p:cNvPr id="19" name="TextBox 18"/>
          <p:cNvSpPr txBox="1"/>
          <p:nvPr/>
        </p:nvSpPr>
        <p:spPr>
          <a:xfrm>
            <a:off x="694944" y="4815840"/>
            <a:ext cx="5172303" cy="1292352"/>
          </a:xfrm>
          <a:prstGeom prst="rect">
            <a:avLst/>
          </a:prstGeom>
          <a:noFill/>
        </p:spPr>
        <p:txBody>
          <a:bodyPr wrap="square" lIns="45720" rIns="45720" tIns="27432" bIns="27432" anchor="t">
            <a:noAutofit/>
          </a:bodyPr>
          <a:lstStyle/>
          <a:p>
            <a:pPr algn="l">
              <a:lnSpc>
                <a:spcPct val="100000"/>
              </a:lnSpc>
            </a:pPr>
            <a:r>
              <a:rPr sz="1300" b="0" i="0">
                <a:solidFill>
                  <a:srgbClr val="A7B2B0"/>
                </a:solidFill>
                <a:latin typeface="Segoe UI"/>
              </a:rPr>
              <a:t>Restaura la distribución y conserva el contenido.</a:t>
            </a:r>
          </a:p>
        </p:txBody>
      </p:sp>
      <p:sp>
        <p:nvSpPr>
          <p:cNvPr id="20" name="Rounded Rectangle 19"/>
          <p:cNvSpPr/>
          <p:nvPr/>
        </p:nvSpPr>
        <p:spPr>
          <a:xfrm>
            <a:off x="6196431" y="4242816"/>
            <a:ext cx="5428335" cy="1956816"/>
          </a:xfrm>
          <a:prstGeom prst="roundRect">
            <a:avLst>
              <a:gd name="adj" fmla="val 5607"/>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ectangle 20"/>
          <p:cNvSpPr/>
          <p:nvPr/>
        </p:nvSpPr>
        <p:spPr>
          <a:xfrm>
            <a:off x="6361023" y="4370832"/>
            <a:ext cx="502920" cy="45720"/>
          </a:xfrm>
          <a:prstGeom prst="rect">
            <a:avLst/>
          </a:prstGeom>
          <a:solidFill>
            <a:srgbClr val="46D2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6324447" y="4462272"/>
            <a:ext cx="5172303" cy="353568"/>
          </a:xfrm>
          <a:prstGeom prst="rect">
            <a:avLst/>
          </a:prstGeom>
          <a:noFill/>
        </p:spPr>
        <p:txBody>
          <a:bodyPr wrap="square" lIns="45720" rIns="45720" tIns="27432" bIns="27432" anchor="t">
            <a:noAutofit/>
          </a:bodyPr>
          <a:lstStyle/>
          <a:p>
            <a:pPr algn="l">
              <a:lnSpc>
                <a:spcPct val="100000"/>
              </a:lnSpc>
            </a:pPr>
            <a:r>
              <a:rPr sz="1600" b="0" i="0">
                <a:solidFill>
                  <a:srgbClr val="F7F2E8"/>
                </a:solidFill>
                <a:latin typeface="Segoe UI Semibold"/>
              </a:rPr>
              <a:t>Evidencia</a:t>
            </a:r>
          </a:p>
        </p:txBody>
      </p:sp>
      <p:sp>
        <p:nvSpPr>
          <p:cNvPr id="23" name="TextBox 22"/>
          <p:cNvSpPr txBox="1"/>
          <p:nvPr/>
        </p:nvSpPr>
        <p:spPr>
          <a:xfrm>
            <a:off x="6324447" y="4815840"/>
            <a:ext cx="5172303" cy="1292352"/>
          </a:xfrm>
          <a:prstGeom prst="rect">
            <a:avLst/>
          </a:prstGeom>
          <a:noFill/>
        </p:spPr>
        <p:txBody>
          <a:bodyPr wrap="square" lIns="45720" rIns="45720" tIns="27432" bIns="27432" anchor="t">
            <a:noAutofit/>
          </a:bodyPr>
          <a:lstStyle/>
          <a:p>
            <a:pPr algn="l">
              <a:lnSpc>
                <a:spcPct val="100000"/>
              </a:lnSpc>
            </a:pPr>
            <a:r>
              <a:rPr sz="1300" b="0" i="0">
                <a:solidFill>
                  <a:srgbClr val="A7B2B0"/>
                </a:solidFill>
                <a:latin typeface="Segoe UI"/>
              </a:rPr>
              <a:t>19 revisiones visibles; error de centrado menor a 0.02 px de CSS, 16 de octubre.</a:t>
            </a:r>
          </a:p>
        </p:txBody>
      </p:sp>
      <p:cxnSp>
        <p:nvCxnSpPr>
          <p:cNvPr id="24" name="Connector 23"/>
          <p:cNvCxnSpPr/>
          <p:nvPr/>
        </p:nvCxnSpPr>
        <p:spPr>
          <a:xfrm>
            <a:off x="566928" y="6373368"/>
            <a:ext cx="11057839" cy="0"/>
          </a:xfrm>
          <a:prstGeom prst="line">
            <a:avLst/>
          </a:prstGeom>
          <a:ln w="7620">
            <a:solidFill>
              <a:srgbClr val="2A3A40"/>
            </a:solidFill>
          </a:ln>
        </p:spPr>
        <p:style>
          <a:lnRef idx="2">
            <a:schemeClr val="accent1"/>
          </a:lnRef>
          <a:fillRef idx="0">
            <a:schemeClr val="accent1"/>
          </a:fillRef>
          <a:effectRef idx="1">
            <a:schemeClr val="accent1"/>
          </a:effectRef>
          <a:fontRef idx="minor">
            <a:schemeClr val="tx1"/>
          </a:fontRef>
        </p:style>
      </p:cxnSp>
      <p:sp>
        <p:nvSpPr>
          <p:cNvPr id="25" name="TextBox 24"/>
          <p:cNvSpPr txBox="1"/>
          <p:nvPr/>
        </p:nvSpPr>
        <p:spPr>
          <a:xfrm>
            <a:off x="566928" y="6419088"/>
            <a:ext cx="6858000" cy="274320"/>
          </a:xfrm>
          <a:prstGeom prst="rect">
            <a:avLst/>
          </a:prstGeom>
          <a:noFill/>
        </p:spPr>
        <p:txBody>
          <a:bodyPr wrap="square" lIns="45720" rIns="45720" tIns="27432" bIns="27432" anchor="t">
            <a:noAutofit/>
          </a:bodyPr>
          <a:lstStyle/>
          <a:p>
            <a:pPr algn="l">
              <a:lnSpc>
                <a:spcPct val="100000"/>
              </a:lnSpc>
            </a:pPr>
            <a:r>
              <a:rPr sz="850" b="0" i="0" spc="120">
                <a:solidFill>
                  <a:srgbClr val="A7B2B0"/>
                </a:solidFill>
                <a:latin typeface="Segoe UI Semibold"/>
              </a:rPr>
              <a:t>TLAMATINI  ·  VIII · RELEASE ACTUAL</a:t>
            </a:r>
          </a:p>
        </p:txBody>
      </p:sp>
      <p:sp>
        <p:nvSpPr>
          <p:cNvPr id="26" name="TextBox 25"/>
          <p:cNvSpPr txBox="1"/>
          <p:nvPr/>
        </p:nvSpPr>
        <p:spPr>
          <a:xfrm>
            <a:off x="8698687" y="6419088"/>
            <a:ext cx="2926080" cy="274320"/>
          </a:xfrm>
          <a:prstGeom prst="rect">
            <a:avLst/>
          </a:prstGeom>
          <a:noFill/>
        </p:spPr>
        <p:txBody>
          <a:bodyPr wrap="square" lIns="45720" rIns="45720" tIns="27432" bIns="27432" anchor="t">
            <a:noAutofit/>
          </a:bodyPr>
          <a:lstStyle/>
          <a:p>
            <a:pPr algn="r">
              <a:lnSpc>
                <a:spcPct val="100000"/>
              </a:lnSpc>
            </a:pPr>
            <a:r>
              <a:rPr sz="850" b="0" i="0" spc="100">
                <a:solidFill>
                  <a:srgbClr val="A7B2B0"/>
                </a:solidFill>
                <a:latin typeface="Segoe UI Semibold"/>
              </a:rPr>
              <a:t>v1.91.1   ·   134</a:t>
            </a:r>
          </a:p>
        </p:txBody>
      </p:sp>
    </p:spTree>
  </p:cSld>
  <p:clrMapOvr>
    <a:masterClrMapping/>
  </p:clrMapOvr>
</p:sld>
</file>

<file path=ppt/slides/slide1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content.png"/>
          <p:cNvPicPr>
            <a:picLocks noChangeAspect="1"/>
          </p:cNvPicPr>
          <p:nvPr/>
        </p:nvPicPr>
        <p:blipFill>
          <a:blip r:embed="rId2"/>
          <a:stretch>
            <a:fillRect/>
          </a:stretch>
        </p:blipFill>
        <p:spPr>
          <a:xfrm>
            <a:off x="0" y="0"/>
            <a:ext cx="12191695" cy="6858000"/>
          </a:xfrm>
          <a:prstGeom prst="rect">
            <a:avLst/>
          </a:prstGeom>
        </p:spPr>
      </p:pic>
      <p:sp>
        <p:nvSpPr>
          <p:cNvPr id="3" name="Diamond 2"/>
          <p:cNvSpPr/>
          <p:nvPr/>
        </p:nvSpPr>
        <p:spPr>
          <a:xfrm>
            <a:off x="566928" y="457200"/>
            <a:ext cx="100584" cy="100584"/>
          </a:xfrm>
          <a:prstGeom prst="diamond">
            <a:avLst/>
          </a:prstGeom>
          <a:solidFill>
            <a:srgbClr val="E2B4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49808" y="365760"/>
            <a:ext cx="8229600" cy="292608"/>
          </a:xfrm>
          <a:prstGeom prst="rect">
            <a:avLst/>
          </a:prstGeom>
          <a:noFill/>
        </p:spPr>
        <p:txBody>
          <a:bodyPr wrap="square" lIns="45720" rIns="45720" tIns="27432" bIns="27432" anchor="t">
            <a:noAutofit/>
          </a:bodyPr>
          <a:lstStyle/>
          <a:p>
            <a:pPr algn="l">
              <a:lnSpc>
                <a:spcPct val="100000"/>
              </a:lnSpc>
            </a:pPr>
            <a:r>
              <a:rPr sz="1100" b="0" i="0" spc="240">
                <a:solidFill>
                  <a:srgbClr val="C98457"/>
                </a:solidFill>
                <a:latin typeface="Segoe UI Semibold"/>
              </a:rPr>
              <a:t>HEREDADO DE v1.85.0</a:t>
            </a:r>
          </a:p>
        </p:txBody>
      </p:sp>
      <p:sp>
        <p:nvSpPr>
          <p:cNvPr id="5" name="TextBox 4"/>
          <p:cNvSpPr txBox="1"/>
          <p:nvPr/>
        </p:nvSpPr>
        <p:spPr>
          <a:xfrm>
            <a:off x="539496" y="676656"/>
            <a:ext cx="11057839" cy="658368"/>
          </a:xfrm>
          <a:prstGeom prst="rect">
            <a:avLst/>
          </a:prstGeom>
          <a:noFill/>
        </p:spPr>
        <p:txBody>
          <a:bodyPr wrap="square" lIns="45720" rIns="45720" tIns="27432" bIns="27432" anchor="t">
            <a:noAutofit/>
          </a:bodyPr>
          <a:lstStyle/>
          <a:p>
            <a:pPr algn="l">
              <a:lnSpc>
                <a:spcPct val="100000"/>
              </a:lnSpc>
            </a:pPr>
            <a:r>
              <a:rPr sz="3100" b="0" i="0">
                <a:solidFill>
                  <a:srgbClr val="F7F2E8"/>
                </a:solidFill>
                <a:latin typeface="Palatino Linotype"/>
              </a:rPr>
              <a:t>La función completa viaja junta</a:t>
            </a:r>
          </a:p>
        </p:txBody>
      </p:sp>
      <p:sp>
        <p:nvSpPr>
          <p:cNvPr id="6" name="Rectangle 5"/>
          <p:cNvSpPr/>
          <p:nvPr/>
        </p:nvSpPr>
        <p:spPr>
          <a:xfrm>
            <a:off x="566928" y="1344168"/>
            <a:ext cx="822960" cy="36576"/>
          </a:xfrm>
          <a:prstGeom prst="rect">
            <a:avLst/>
          </a:prstGeom>
          <a:solidFill>
            <a:srgbClr val="E2B4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566928" y="1444752"/>
            <a:ext cx="10692079" cy="585216"/>
          </a:xfrm>
          <a:prstGeom prst="rect">
            <a:avLst/>
          </a:prstGeom>
          <a:noFill/>
        </p:spPr>
        <p:txBody>
          <a:bodyPr wrap="square" lIns="45720" rIns="45720" tIns="27432" bIns="27432" anchor="t">
            <a:noAutofit/>
          </a:bodyPr>
          <a:lstStyle/>
          <a:p>
            <a:pPr algn="l">
              <a:lnSpc>
                <a:spcPct val="100000"/>
              </a:lnSpc>
            </a:pPr>
            <a:r>
              <a:rPr sz="1450" b="0" i="0">
                <a:solidFill>
                  <a:srgbClr val="A7B2B0"/>
                </a:solidFill>
                <a:latin typeface="Segoe UI Semilight"/>
              </a:rPr>
              <a:t>Los inventarios requeridos del runtime y de self-modify cubren la plantilla y los scripts de Vistas.</a:t>
            </a:r>
          </a:p>
        </p:txBody>
      </p:sp>
      <p:sp>
        <p:nvSpPr>
          <p:cNvPr id="8" name="Rounded Rectangle 7"/>
          <p:cNvSpPr/>
          <p:nvPr/>
        </p:nvSpPr>
        <p:spPr>
          <a:xfrm>
            <a:off x="566928" y="2084831"/>
            <a:ext cx="5428335" cy="1956816"/>
          </a:xfrm>
          <a:prstGeom prst="roundRect">
            <a:avLst>
              <a:gd name="adj" fmla="val 5607"/>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ectangle 8"/>
          <p:cNvSpPr/>
          <p:nvPr/>
        </p:nvSpPr>
        <p:spPr>
          <a:xfrm>
            <a:off x="731520" y="2212848"/>
            <a:ext cx="502920" cy="45720"/>
          </a:xfrm>
          <a:prstGeom prst="rect">
            <a:avLst/>
          </a:prstGeom>
          <a:solidFill>
            <a:srgbClr val="3BBE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694944" y="2304287"/>
            <a:ext cx="5172303" cy="353568"/>
          </a:xfrm>
          <a:prstGeom prst="rect">
            <a:avLst/>
          </a:prstGeom>
          <a:noFill/>
        </p:spPr>
        <p:txBody>
          <a:bodyPr wrap="square" lIns="45720" rIns="45720" tIns="27432" bIns="27432" anchor="t">
            <a:noAutofit/>
          </a:bodyPr>
          <a:lstStyle/>
          <a:p>
            <a:pPr algn="l">
              <a:lnSpc>
                <a:spcPct val="100000"/>
              </a:lnSpc>
            </a:pPr>
            <a:r>
              <a:rPr sz="1600" b="0" i="0">
                <a:solidFill>
                  <a:srgbClr val="F7F2E8"/>
                </a:solidFill>
                <a:latin typeface="Segoe UI Semibold"/>
              </a:rPr>
              <a:t>Runtime</a:t>
            </a:r>
          </a:p>
        </p:txBody>
      </p:sp>
      <p:sp>
        <p:nvSpPr>
          <p:cNvPr id="11" name="TextBox 10"/>
          <p:cNvSpPr txBox="1"/>
          <p:nvPr/>
        </p:nvSpPr>
        <p:spPr>
          <a:xfrm>
            <a:off x="694944" y="2657855"/>
            <a:ext cx="5172303" cy="1292352"/>
          </a:xfrm>
          <a:prstGeom prst="rect">
            <a:avLst/>
          </a:prstGeom>
          <a:noFill/>
        </p:spPr>
        <p:txBody>
          <a:bodyPr wrap="square" lIns="45720" rIns="45720" tIns="27432" bIns="27432" anchor="t">
            <a:noAutofit/>
          </a:bodyPr>
          <a:lstStyle/>
          <a:p>
            <a:pPr algn="l">
              <a:lnSpc>
                <a:spcPct val="100000"/>
              </a:lnSpc>
            </a:pPr>
            <a:r>
              <a:rPr sz="1300" b="0" i="0">
                <a:solidFill>
                  <a:srgbClr val="A7B2B0"/>
                </a:solidFill>
                <a:latin typeface="Segoe UI"/>
              </a:rPr>
              <a:t>La plantilla requerida y cuatro scripts que cooperan.</a:t>
            </a:r>
          </a:p>
        </p:txBody>
      </p:sp>
      <p:sp>
        <p:nvSpPr>
          <p:cNvPr id="12" name="Rounded Rectangle 11"/>
          <p:cNvSpPr/>
          <p:nvPr/>
        </p:nvSpPr>
        <p:spPr>
          <a:xfrm>
            <a:off x="6196431" y="2084831"/>
            <a:ext cx="5428335" cy="1956816"/>
          </a:xfrm>
          <a:prstGeom prst="roundRect">
            <a:avLst>
              <a:gd name="adj" fmla="val 5607"/>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6361023" y="2212848"/>
            <a:ext cx="502920" cy="45720"/>
          </a:xfrm>
          <a:prstGeom prst="rect">
            <a:avLst/>
          </a:prstGeom>
          <a:solidFill>
            <a:srgbClr val="C984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324447" y="2304287"/>
            <a:ext cx="5172303" cy="353568"/>
          </a:xfrm>
          <a:prstGeom prst="rect">
            <a:avLst/>
          </a:prstGeom>
          <a:noFill/>
        </p:spPr>
        <p:txBody>
          <a:bodyPr wrap="square" lIns="45720" rIns="45720" tIns="27432" bIns="27432" anchor="t">
            <a:noAutofit/>
          </a:bodyPr>
          <a:lstStyle/>
          <a:p>
            <a:pPr algn="l">
              <a:lnSpc>
                <a:spcPct val="100000"/>
              </a:lnSpc>
            </a:pPr>
            <a:r>
              <a:rPr sz="1600" b="0" i="0">
                <a:solidFill>
                  <a:srgbClr val="F7F2E8"/>
                </a:solidFill>
                <a:latin typeface="Segoe UI Semibold"/>
              </a:rPr>
              <a:t>Snapshot</a:t>
            </a:r>
          </a:p>
        </p:txBody>
      </p:sp>
      <p:sp>
        <p:nvSpPr>
          <p:cNvPr id="15" name="TextBox 14"/>
          <p:cNvSpPr txBox="1"/>
          <p:nvPr/>
        </p:nvSpPr>
        <p:spPr>
          <a:xfrm>
            <a:off x="6324447" y="2657855"/>
            <a:ext cx="5172303" cy="1292352"/>
          </a:xfrm>
          <a:prstGeom prst="rect">
            <a:avLst/>
          </a:prstGeom>
          <a:noFill/>
        </p:spPr>
        <p:txBody>
          <a:bodyPr wrap="square" lIns="45720" rIns="45720" tIns="27432" bIns="27432" anchor="t">
            <a:noAutofit/>
          </a:bodyPr>
          <a:lstStyle/>
          <a:p>
            <a:pPr algn="l">
              <a:lnSpc>
                <a:spcPct val="100000"/>
              </a:lnSpc>
            </a:pPr>
            <a:r>
              <a:rPr sz="1300" b="0" i="0">
                <a:solidFill>
                  <a:srgbClr val="A7B2B0"/>
                </a:solidFill>
                <a:latin typeface="Segoe UI"/>
              </a:rPr>
              <a:t>Sources, identidad y los dos harnesses de Vistas.</a:t>
            </a:r>
          </a:p>
        </p:txBody>
      </p:sp>
      <p:sp>
        <p:nvSpPr>
          <p:cNvPr id="16" name="Rounded Rectangle 15"/>
          <p:cNvSpPr/>
          <p:nvPr/>
        </p:nvSpPr>
        <p:spPr>
          <a:xfrm>
            <a:off x="566928" y="4242816"/>
            <a:ext cx="5428335" cy="1956816"/>
          </a:xfrm>
          <a:prstGeom prst="roundRect">
            <a:avLst>
              <a:gd name="adj" fmla="val 5607"/>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31520" y="4370832"/>
            <a:ext cx="502920" cy="45720"/>
          </a:xfrm>
          <a:prstGeom prst="rect">
            <a:avLst/>
          </a:prstGeom>
          <a:solidFill>
            <a:srgbClr val="E2B4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694944" y="4462272"/>
            <a:ext cx="5172303" cy="353568"/>
          </a:xfrm>
          <a:prstGeom prst="rect">
            <a:avLst/>
          </a:prstGeom>
          <a:noFill/>
        </p:spPr>
        <p:txBody>
          <a:bodyPr wrap="square" lIns="45720" rIns="45720" tIns="27432" bIns="27432" anchor="t">
            <a:noAutofit/>
          </a:bodyPr>
          <a:lstStyle/>
          <a:p>
            <a:pPr algn="l">
              <a:lnSpc>
                <a:spcPct val="100000"/>
              </a:lnSpc>
            </a:pPr>
            <a:r>
              <a:rPr sz="1600" b="0" i="0">
                <a:solidFill>
                  <a:srgbClr val="F7F2E8"/>
                </a:solidFill>
                <a:latin typeface="Segoe UI Semibold"/>
              </a:rPr>
              <a:t>Base de datos</a:t>
            </a:r>
          </a:p>
        </p:txBody>
      </p:sp>
      <p:sp>
        <p:nvSpPr>
          <p:cNvPr id="19" name="TextBox 18"/>
          <p:cNvSpPr txBox="1"/>
          <p:nvPr/>
        </p:nvSpPr>
        <p:spPr>
          <a:xfrm>
            <a:off x="694944" y="4815840"/>
            <a:ext cx="5172303" cy="1292352"/>
          </a:xfrm>
          <a:prstGeom prst="rect">
            <a:avLst/>
          </a:prstGeom>
          <a:noFill/>
        </p:spPr>
        <p:txBody>
          <a:bodyPr wrap="square" lIns="45720" rIns="45720" tIns="27432" bIns="27432" anchor="t">
            <a:noAutofit/>
          </a:bodyPr>
          <a:lstStyle/>
          <a:p>
            <a:pPr algn="l">
              <a:lnSpc>
                <a:spcPct val="100000"/>
              </a:lnSpc>
            </a:pPr>
            <a:r>
              <a:rPr sz="1300" b="0" i="0">
                <a:solidFill>
                  <a:srgbClr val="A7B2B0"/>
                </a:solidFill>
                <a:latin typeface="Segoe UI"/>
              </a:rPr>
              <a:t>v1.85.0 no introdujo ninguna migración.</a:t>
            </a:r>
          </a:p>
        </p:txBody>
      </p:sp>
      <p:sp>
        <p:nvSpPr>
          <p:cNvPr id="20" name="Rounded Rectangle 19"/>
          <p:cNvSpPr/>
          <p:nvPr/>
        </p:nvSpPr>
        <p:spPr>
          <a:xfrm>
            <a:off x="6196431" y="4242816"/>
            <a:ext cx="5428335" cy="1956816"/>
          </a:xfrm>
          <a:prstGeom prst="roundRect">
            <a:avLst>
              <a:gd name="adj" fmla="val 5607"/>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ectangle 20"/>
          <p:cNvSpPr/>
          <p:nvPr/>
        </p:nvSpPr>
        <p:spPr>
          <a:xfrm>
            <a:off x="6361023" y="4370832"/>
            <a:ext cx="502920" cy="45720"/>
          </a:xfrm>
          <a:prstGeom prst="rect">
            <a:avLst/>
          </a:prstGeom>
          <a:solidFill>
            <a:srgbClr val="46D2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6324447" y="4462272"/>
            <a:ext cx="5172303" cy="353568"/>
          </a:xfrm>
          <a:prstGeom prst="rect">
            <a:avLst/>
          </a:prstGeom>
          <a:noFill/>
        </p:spPr>
        <p:txBody>
          <a:bodyPr wrap="square" lIns="45720" rIns="45720" tIns="27432" bIns="27432" anchor="t">
            <a:noAutofit/>
          </a:bodyPr>
          <a:lstStyle/>
          <a:p>
            <a:pPr algn="l">
              <a:lnSpc>
                <a:spcPct val="100000"/>
              </a:lnSpc>
            </a:pPr>
            <a:r>
              <a:rPr sz="1600" b="0" i="0">
                <a:solidFill>
                  <a:srgbClr val="F7F2E8"/>
                </a:solidFill>
                <a:latin typeface="Segoe UI Semibold"/>
              </a:rPr>
              <a:t>Versión</a:t>
            </a:r>
          </a:p>
        </p:txBody>
      </p:sp>
      <p:sp>
        <p:nvSpPr>
          <p:cNvPr id="23" name="TextBox 22"/>
          <p:cNvSpPr txBox="1"/>
          <p:nvPr/>
        </p:nvSpPr>
        <p:spPr>
          <a:xfrm>
            <a:off x="6324447" y="4815840"/>
            <a:ext cx="5172303" cy="1292352"/>
          </a:xfrm>
          <a:prstGeom prst="rect">
            <a:avLst/>
          </a:prstGeom>
          <a:noFill/>
        </p:spPr>
        <p:txBody>
          <a:bodyPr wrap="square" lIns="45720" rIns="45720" tIns="27432" bIns="27432" anchor="t">
            <a:noAutofit/>
          </a:bodyPr>
          <a:lstStyle/>
          <a:p>
            <a:pPr algn="l">
              <a:lnSpc>
                <a:spcPct val="100000"/>
              </a:lnSpc>
            </a:pPr>
            <a:r>
              <a:rPr sz="1300" b="0" i="0">
                <a:solidFill>
                  <a:srgbClr val="A7B2B0"/>
                </a:solidFill>
                <a:latin typeface="Segoe UI"/>
              </a:rPr>
              <a:t>v1.85.0 en toda la aplicación en ese momento.</a:t>
            </a:r>
          </a:p>
        </p:txBody>
      </p:sp>
      <p:cxnSp>
        <p:nvCxnSpPr>
          <p:cNvPr id="24" name="Connector 23"/>
          <p:cNvCxnSpPr/>
          <p:nvPr/>
        </p:nvCxnSpPr>
        <p:spPr>
          <a:xfrm>
            <a:off x="566928" y="6373368"/>
            <a:ext cx="11057839" cy="0"/>
          </a:xfrm>
          <a:prstGeom prst="line">
            <a:avLst/>
          </a:prstGeom>
          <a:ln w="7620">
            <a:solidFill>
              <a:srgbClr val="2A3A40"/>
            </a:solidFill>
          </a:ln>
        </p:spPr>
        <p:style>
          <a:lnRef idx="2">
            <a:schemeClr val="accent1"/>
          </a:lnRef>
          <a:fillRef idx="0">
            <a:schemeClr val="accent1"/>
          </a:fillRef>
          <a:effectRef idx="1">
            <a:schemeClr val="accent1"/>
          </a:effectRef>
          <a:fontRef idx="minor">
            <a:schemeClr val="tx1"/>
          </a:fontRef>
        </p:style>
      </p:cxnSp>
      <p:sp>
        <p:nvSpPr>
          <p:cNvPr id="25" name="TextBox 24"/>
          <p:cNvSpPr txBox="1"/>
          <p:nvPr/>
        </p:nvSpPr>
        <p:spPr>
          <a:xfrm>
            <a:off x="566928" y="6419088"/>
            <a:ext cx="6858000" cy="274320"/>
          </a:xfrm>
          <a:prstGeom prst="rect">
            <a:avLst/>
          </a:prstGeom>
          <a:noFill/>
        </p:spPr>
        <p:txBody>
          <a:bodyPr wrap="square" lIns="45720" rIns="45720" tIns="27432" bIns="27432" anchor="t">
            <a:noAutofit/>
          </a:bodyPr>
          <a:lstStyle/>
          <a:p>
            <a:pPr algn="l">
              <a:lnSpc>
                <a:spcPct val="100000"/>
              </a:lnSpc>
            </a:pPr>
            <a:r>
              <a:rPr sz="850" b="0" i="0" spc="120">
                <a:solidFill>
                  <a:srgbClr val="A7B2B0"/>
                </a:solidFill>
                <a:latin typeface="Segoe UI Semibold"/>
              </a:rPr>
              <a:t>TLAMATINI  ·  VIII · RELEASE ACTUAL</a:t>
            </a:r>
          </a:p>
        </p:txBody>
      </p:sp>
      <p:sp>
        <p:nvSpPr>
          <p:cNvPr id="26" name="TextBox 25"/>
          <p:cNvSpPr txBox="1"/>
          <p:nvPr/>
        </p:nvSpPr>
        <p:spPr>
          <a:xfrm>
            <a:off x="8698687" y="6419088"/>
            <a:ext cx="2926080" cy="274320"/>
          </a:xfrm>
          <a:prstGeom prst="rect">
            <a:avLst/>
          </a:prstGeom>
          <a:noFill/>
        </p:spPr>
        <p:txBody>
          <a:bodyPr wrap="square" lIns="45720" rIns="45720" tIns="27432" bIns="27432" anchor="t">
            <a:noAutofit/>
          </a:bodyPr>
          <a:lstStyle/>
          <a:p>
            <a:pPr algn="r">
              <a:lnSpc>
                <a:spcPct val="100000"/>
              </a:lnSpc>
            </a:pPr>
            <a:r>
              <a:rPr sz="850" b="0" i="0" spc="100">
                <a:solidFill>
                  <a:srgbClr val="A7B2B0"/>
                </a:solidFill>
                <a:latin typeface="Segoe UI Semibold"/>
              </a:rPr>
              <a:t>v1.91.1   ·   135</a:t>
            </a:r>
          </a:p>
        </p:txBody>
      </p:sp>
    </p:spTree>
  </p:cSld>
  <p:clrMapOvr>
    <a:masterClrMapping/>
  </p:clrMapOvr>
</p:sld>
</file>

<file path=ppt/slides/slide1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content.png"/>
          <p:cNvPicPr>
            <a:picLocks noChangeAspect="1"/>
          </p:cNvPicPr>
          <p:nvPr/>
        </p:nvPicPr>
        <p:blipFill>
          <a:blip r:embed="rId2"/>
          <a:stretch>
            <a:fillRect/>
          </a:stretch>
        </p:blipFill>
        <p:spPr>
          <a:xfrm>
            <a:off x="0" y="0"/>
            <a:ext cx="12191695" cy="6858000"/>
          </a:xfrm>
          <a:prstGeom prst="rect">
            <a:avLst/>
          </a:prstGeom>
        </p:spPr>
      </p:pic>
      <p:sp>
        <p:nvSpPr>
          <p:cNvPr id="3" name="Diamond 2"/>
          <p:cNvSpPr/>
          <p:nvPr/>
        </p:nvSpPr>
        <p:spPr>
          <a:xfrm>
            <a:off x="566928" y="457200"/>
            <a:ext cx="100584" cy="100584"/>
          </a:xfrm>
          <a:prstGeom prst="diamond">
            <a:avLst/>
          </a:prstGeom>
          <a:solidFill>
            <a:srgbClr val="E2B4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49808" y="365760"/>
            <a:ext cx="8229600" cy="292608"/>
          </a:xfrm>
          <a:prstGeom prst="rect">
            <a:avLst/>
          </a:prstGeom>
          <a:noFill/>
        </p:spPr>
        <p:txBody>
          <a:bodyPr wrap="square" lIns="45720" rIns="45720" tIns="27432" bIns="27432" anchor="t">
            <a:noAutofit/>
          </a:bodyPr>
          <a:lstStyle/>
          <a:p>
            <a:pPr algn="l">
              <a:lnSpc>
                <a:spcPct val="100000"/>
              </a:lnSpc>
            </a:pPr>
            <a:r>
              <a:rPr sz="1100" b="0" i="0" spc="240">
                <a:solidFill>
                  <a:srgbClr val="C98457"/>
                </a:solidFill>
                <a:latin typeface="Segoe UI Semibold"/>
              </a:rPr>
              <a:t>HEREDADO DE v1.84.0</a:t>
            </a:r>
          </a:p>
        </p:txBody>
      </p:sp>
      <p:sp>
        <p:nvSpPr>
          <p:cNvPr id="5" name="TextBox 4"/>
          <p:cNvSpPr txBox="1"/>
          <p:nvPr/>
        </p:nvSpPr>
        <p:spPr>
          <a:xfrm>
            <a:off x="539496" y="676656"/>
            <a:ext cx="11057839" cy="658368"/>
          </a:xfrm>
          <a:prstGeom prst="rect">
            <a:avLst/>
          </a:prstGeom>
          <a:noFill/>
        </p:spPr>
        <p:txBody>
          <a:bodyPr wrap="square" lIns="45720" rIns="45720" tIns="27432" bIns="27432" anchor="t">
            <a:noAutofit/>
          </a:bodyPr>
          <a:lstStyle/>
          <a:p>
            <a:pPr algn="l">
              <a:lnSpc>
                <a:spcPct val="100000"/>
              </a:lnSpc>
            </a:pPr>
            <a:r>
              <a:rPr sz="3100" b="0" i="0">
                <a:solidFill>
                  <a:srgbClr val="F7F2E8"/>
                </a:solidFill>
                <a:latin typeface="Palatino Linotype"/>
              </a:rPr>
              <a:t>Mantenimiento de catálogo y fixtures</a:t>
            </a:r>
          </a:p>
        </p:txBody>
      </p:sp>
      <p:sp>
        <p:nvSpPr>
          <p:cNvPr id="6" name="Rectangle 5"/>
          <p:cNvSpPr/>
          <p:nvPr/>
        </p:nvSpPr>
        <p:spPr>
          <a:xfrm>
            <a:off x="566928" y="1344168"/>
            <a:ext cx="822960" cy="36576"/>
          </a:xfrm>
          <a:prstGeom prst="rect">
            <a:avLst/>
          </a:prstGeom>
          <a:solidFill>
            <a:srgbClr val="E2B4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566928" y="1444752"/>
            <a:ext cx="10692079" cy="585216"/>
          </a:xfrm>
          <a:prstGeom prst="rect">
            <a:avLst/>
          </a:prstGeom>
          <a:noFill/>
        </p:spPr>
        <p:txBody>
          <a:bodyPr wrap="square" lIns="45720" rIns="45720" tIns="27432" bIns="27432" anchor="t">
            <a:noAutofit/>
          </a:bodyPr>
          <a:lstStyle/>
          <a:p>
            <a:pPr algn="l">
              <a:lnSpc>
                <a:spcPct val="100000"/>
              </a:lnSpc>
            </a:pPr>
            <a:r>
              <a:rPr sz="1450" b="0" i="0">
                <a:solidFill>
                  <a:srgbClr val="A7B2B0"/>
                </a:solidFill>
                <a:latin typeface="Segoe UI Semilight"/>
              </a:rPr>
              <a:t>El commit de mantenimiento del 14 de octubre actualizó los datos del catálogo y de la configuración y limpió los fixtures de prueba.</a:t>
            </a:r>
          </a:p>
        </p:txBody>
      </p:sp>
      <p:sp>
        <p:nvSpPr>
          <p:cNvPr id="8" name="Rounded Rectangle 7"/>
          <p:cNvSpPr/>
          <p:nvPr/>
        </p:nvSpPr>
        <p:spPr>
          <a:xfrm>
            <a:off x="566928" y="2084831"/>
            <a:ext cx="11057839" cy="1286255"/>
          </a:xfrm>
          <a:prstGeom prst="roundRect">
            <a:avLst>
              <a:gd name="adj" fmla="val 7109"/>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Diamond 8"/>
          <p:cNvSpPr/>
          <p:nvPr/>
        </p:nvSpPr>
        <p:spPr>
          <a:xfrm>
            <a:off x="768096" y="2663952"/>
            <a:ext cx="128016" cy="128016"/>
          </a:xfrm>
          <a:prstGeom prst="diamond">
            <a:avLst/>
          </a:prstGeom>
          <a:solidFill>
            <a:srgbClr val="3BBE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1024128" y="2139696"/>
            <a:ext cx="2651760" cy="1176528"/>
          </a:xfrm>
          <a:prstGeom prst="rect">
            <a:avLst/>
          </a:prstGeom>
          <a:noFill/>
        </p:spPr>
        <p:txBody>
          <a:bodyPr wrap="square" lIns="45720" rIns="45720" tIns="27432" bIns="27432" anchor="ctr">
            <a:noAutofit/>
          </a:bodyPr>
          <a:lstStyle/>
          <a:p>
            <a:pPr algn="l">
              <a:lnSpc>
                <a:spcPct val="100000"/>
              </a:lnSpc>
            </a:pPr>
            <a:r>
              <a:rPr sz="1600" b="0" i="0">
                <a:solidFill>
                  <a:srgbClr val="F7F2E8"/>
                </a:solidFill>
                <a:latin typeface="Segoe UI Semibold"/>
              </a:rPr>
              <a:t>Mantenimiento</a:t>
            </a:r>
          </a:p>
        </p:txBody>
      </p:sp>
      <p:sp>
        <p:nvSpPr>
          <p:cNvPr id="11" name="TextBox 10"/>
          <p:cNvSpPr txBox="1"/>
          <p:nvPr/>
        </p:nvSpPr>
        <p:spPr>
          <a:xfrm>
            <a:off x="3767328" y="2139696"/>
            <a:ext cx="7720279" cy="1176528"/>
          </a:xfrm>
          <a:prstGeom prst="rect">
            <a:avLst/>
          </a:prstGeom>
          <a:noFill/>
        </p:spPr>
        <p:txBody>
          <a:bodyPr wrap="square" lIns="45720" rIns="45720" tIns="27432" bIns="27432" anchor="ctr">
            <a:noAutofit/>
          </a:bodyPr>
          <a:lstStyle/>
          <a:p>
            <a:pPr algn="l">
              <a:lnSpc>
                <a:spcPct val="100000"/>
              </a:lnSpc>
            </a:pPr>
            <a:r>
              <a:rPr sz="1400" b="0" i="0">
                <a:solidFill>
                  <a:srgbClr val="A7B2B0"/>
                </a:solidFill>
                <a:latin typeface="Segoe UI"/>
              </a:rPr>
              <a:t>Los datos del catálogo y los fixtures de prueba cambiaron en el commit 1a8c5093.</a:t>
            </a:r>
          </a:p>
        </p:txBody>
      </p:sp>
      <p:sp>
        <p:nvSpPr>
          <p:cNvPr id="12" name="Rounded Rectangle 11"/>
          <p:cNvSpPr/>
          <p:nvPr/>
        </p:nvSpPr>
        <p:spPr>
          <a:xfrm>
            <a:off x="566928" y="3499103"/>
            <a:ext cx="11057839" cy="1286255"/>
          </a:xfrm>
          <a:prstGeom prst="roundRect">
            <a:avLst>
              <a:gd name="adj" fmla="val 7109"/>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Diamond 12"/>
          <p:cNvSpPr/>
          <p:nvPr/>
        </p:nvSpPr>
        <p:spPr>
          <a:xfrm>
            <a:off x="768096" y="4078223"/>
            <a:ext cx="128016" cy="128016"/>
          </a:xfrm>
          <a:prstGeom prst="diamond">
            <a:avLst/>
          </a:prstGeom>
          <a:solidFill>
            <a:srgbClr val="C984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1024128" y="3553967"/>
            <a:ext cx="2651760" cy="1176528"/>
          </a:xfrm>
          <a:prstGeom prst="rect">
            <a:avLst/>
          </a:prstGeom>
          <a:noFill/>
        </p:spPr>
        <p:txBody>
          <a:bodyPr wrap="square" lIns="45720" rIns="45720" tIns="27432" bIns="27432" anchor="ctr">
            <a:noAutofit/>
          </a:bodyPr>
          <a:lstStyle/>
          <a:p>
            <a:pPr algn="l">
              <a:lnSpc>
                <a:spcPct val="100000"/>
              </a:lnSpc>
            </a:pPr>
            <a:r>
              <a:rPr sz="1600" b="0" i="0">
                <a:solidFill>
                  <a:srgbClr val="F7F2E8"/>
                </a:solidFill>
                <a:latin typeface="Segoe UI Semibold"/>
              </a:rPr>
              <a:t>Superficie del producto</a:t>
            </a:r>
          </a:p>
        </p:txBody>
      </p:sp>
      <p:sp>
        <p:nvSpPr>
          <p:cNvPr id="15" name="TextBox 14"/>
          <p:cNvSpPr txBox="1"/>
          <p:nvPr/>
        </p:nvSpPr>
        <p:spPr>
          <a:xfrm>
            <a:off x="3767328" y="3553967"/>
            <a:ext cx="7720279" cy="1176528"/>
          </a:xfrm>
          <a:prstGeom prst="rect">
            <a:avLst/>
          </a:prstGeom>
          <a:noFill/>
        </p:spPr>
        <p:txBody>
          <a:bodyPr wrap="square" lIns="45720" rIns="45720" tIns="27432" bIns="27432" anchor="ctr">
            <a:noAutofit/>
          </a:bodyPr>
          <a:lstStyle/>
          <a:p>
            <a:pPr algn="l">
              <a:lnSpc>
                <a:spcPct val="100000"/>
              </a:lnSpc>
            </a:pPr>
            <a:r>
              <a:rPr sz="1400" b="0" i="0">
                <a:solidFill>
                  <a:srgbClr val="A7B2B0"/>
                </a:solidFill>
                <a:latin typeface="Segoe UI"/>
              </a:rPr>
              <a:t>Ningún subsistema, tipo de agent, migración ni dependencia nuevos.</a:t>
            </a:r>
          </a:p>
        </p:txBody>
      </p:sp>
      <p:sp>
        <p:nvSpPr>
          <p:cNvPr id="16" name="Rounded Rectangle 15"/>
          <p:cNvSpPr/>
          <p:nvPr/>
        </p:nvSpPr>
        <p:spPr>
          <a:xfrm>
            <a:off x="566928" y="4913376"/>
            <a:ext cx="11057839" cy="1286255"/>
          </a:xfrm>
          <a:prstGeom prst="roundRect">
            <a:avLst>
              <a:gd name="adj" fmla="val 7109"/>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Diamond 16"/>
          <p:cNvSpPr/>
          <p:nvPr/>
        </p:nvSpPr>
        <p:spPr>
          <a:xfrm>
            <a:off x="768096" y="5492495"/>
            <a:ext cx="128016" cy="128016"/>
          </a:xfrm>
          <a:prstGeom prst="diamond">
            <a:avLst/>
          </a:prstGeom>
          <a:solidFill>
            <a:srgbClr val="E2B4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1024128" y="4968239"/>
            <a:ext cx="2651760" cy="1176528"/>
          </a:xfrm>
          <a:prstGeom prst="rect">
            <a:avLst/>
          </a:prstGeom>
          <a:noFill/>
        </p:spPr>
        <p:txBody>
          <a:bodyPr wrap="square" lIns="45720" rIns="45720" tIns="27432" bIns="27432" anchor="ctr">
            <a:noAutofit/>
          </a:bodyPr>
          <a:lstStyle/>
          <a:p>
            <a:pPr algn="l">
              <a:lnSpc>
                <a:spcPct val="100000"/>
              </a:lnSpc>
            </a:pPr>
            <a:r>
              <a:rPr sz="1600" b="0" i="0">
                <a:solidFill>
                  <a:srgbClr val="F7F2E8"/>
                </a:solidFill>
                <a:latin typeface="Segoe UI Semibold"/>
              </a:rPr>
              <a:t>Privacidad</a:t>
            </a:r>
          </a:p>
        </p:txBody>
      </p:sp>
      <p:sp>
        <p:nvSpPr>
          <p:cNvPr id="19" name="TextBox 18"/>
          <p:cNvSpPr txBox="1"/>
          <p:nvPr/>
        </p:nvSpPr>
        <p:spPr>
          <a:xfrm>
            <a:off x="3767328" y="4968239"/>
            <a:ext cx="7720279" cy="1176528"/>
          </a:xfrm>
          <a:prstGeom prst="rect">
            <a:avLst/>
          </a:prstGeom>
          <a:noFill/>
        </p:spPr>
        <p:txBody>
          <a:bodyPr wrap="square" lIns="45720" rIns="45720" tIns="27432" bIns="27432" anchor="ctr">
            <a:noAutofit/>
          </a:bodyPr>
          <a:lstStyle/>
          <a:p>
            <a:pPr algn="l">
              <a:lnSpc>
                <a:spcPct val="100000"/>
              </a:lnSpc>
            </a:pPr>
            <a:r>
              <a:rPr sz="1400" b="0" i="0">
                <a:solidFill>
                  <a:srgbClr val="A7B2B0"/>
                </a:solidFill>
                <a:latin typeface="Segoe UI"/>
              </a:rPr>
              <a:t>Los documentos públicos excluyen los valores privados del catálogo.</a:t>
            </a:r>
          </a:p>
        </p:txBody>
      </p:sp>
      <p:cxnSp>
        <p:nvCxnSpPr>
          <p:cNvPr id="20" name="Connector 19"/>
          <p:cNvCxnSpPr/>
          <p:nvPr/>
        </p:nvCxnSpPr>
        <p:spPr>
          <a:xfrm>
            <a:off x="566928" y="6373368"/>
            <a:ext cx="11057839" cy="0"/>
          </a:xfrm>
          <a:prstGeom prst="line">
            <a:avLst/>
          </a:prstGeom>
          <a:ln w="7620">
            <a:solidFill>
              <a:srgbClr val="2A3A40"/>
            </a:solidFill>
          </a:ln>
        </p:spPr>
        <p:style>
          <a:lnRef idx="2">
            <a:schemeClr val="accent1"/>
          </a:lnRef>
          <a:fillRef idx="0">
            <a:schemeClr val="accent1"/>
          </a:fillRef>
          <a:effectRef idx="1">
            <a:schemeClr val="accent1"/>
          </a:effectRef>
          <a:fontRef idx="minor">
            <a:schemeClr val="tx1"/>
          </a:fontRef>
        </p:style>
      </p:cxnSp>
      <p:sp>
        <p:nvSpPr>
          <p:cNvPr id="21" name="TextBox 20"/>
          <p:cNvSpPr txBox="1"/>
          <p:nvPr/>
        </p:nvSpPr>
        <p:spPr>
          <a:xfrm>
            <a:off x="566928" y="6419088"/>
            <a:ext cx="6858000" cy="274320"/>
          </a:xfrm>
          <a:prstGeom prst="rect">
            <a:avLst/>
          </a:prstGeom>
          <a:noFill/>
        </p:spPr>
        <p:txBody>
          <a:bodyPr wrap="square" lIns="45720" rIns="45720" tIns="27432" bIns="27432" anchor="t">
            <a:noAutofit/>
          </a:bodyPr>
          <a:lstStyle/>
          <a:p>
            <a:pPr algn="l">
              <a:lnSpc>
                <a:spcPct val="100000"/>
              </a:lnSpc>
            </a:pPr>
            <a:r>
              <a:rPr sz="850" b="0" i="0" spc="120">
                <a:solidFill>
                  <a:srgbClr val="A7B2B0"/>
                </a:solidFill>
                <a:latin typeface="Segoe UI Semibold"/>
              </a:rPr>
              <a:t>TLAMATINI  ·  VIII · RELEASE ACTUAL</a:t>
            </a:r>
          </a:p>
        </p:txBody>
      </p:sp>
      <p:sp>
        <p:nvSpPr>
          <p:cNvPr id="22" name="TextBox 21"/>
          <p:cNvSpPr txBox="1"/>
          <p:nvPr/>
        </p:nvSpPr>
        <p:spPr>
          <a:xfrm>
            <a:off x="8698687" y="6419088"/>
            <a:ext cx="2926080" cy="274320"/>
          </a:xfrm>
          <a:prstGeom prst="rect">
            <a:avLst/>
          </a:prstGeom>
          <a:noFill/>
        </p:spPr>
        <p:txBody>
          <a:bodyPr wrap="square" lIns="45720" rIns="45720" tIns="27432" bIns="27432" anchor="t">
            <a:noAutofit/>
          </a:bodyPr>
          <a:lstStyle/>
          <a:p>
            <a:pPr algn="r">
              <a:lnSpc>
                <a:spcPct val="100000"/>
              </a:lnSpc>
            </a:pPr>
            <a:r>
              <a:rPr sz="850" b="0" i="0" spc="100">
                <a:solidFill>
                  <a:srgbClr val="A7B2B0"/>
                </a:solidFill>
                <a:latin typeface="Segoe UI Semibold"/>
              </a:rPr>
              <a:t>v1.91.1   ·   136</a:t>
            </a:r>
          </a:p>
        </p:txBody>
      </p:sp>
    </p:spTree>
  </p:cSld>
  <p:clrMapOvr>
    <a:masterClrMapping/>
  </p:clrMapOvr>
</p:sld>
</file>

<file path=ppt/slides/slide1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content.png"/>
          <p:cNvPicPr>
            <a:picLocks noChangeAspect="1"/>
          </p:cNvPicPr>
          <p:nvPr/>
        </p:nvPicPr>
        <p:blipFill>
          <a:blip r:embed="rId2"/>
          <a:stretch>
            <a:fillRect/>
          </a:stretch>
        </p:blipFill>
        <p:spPr>
          <a:xfrm>
            <a:off x="0" y="0"/>
            <a:ext cx="12191695" cy="6858000"/>
          </a:xfrm>
          <a:prstGeom prst="rect">
            <a:avLst/>
          </a:prstGeom>
        </p:spPr>
      </p:pic>
      <p:sp>
        <p:nvSpPr>
          <p:cNvPr id="3" name="Diamond 2"/>
          <p:cNvSpPr/>
          <p:nvPr/>
        </p:nvSpPr>
        <p:spPr>
          <a:xfrm>
            <a:off x="566928" y="457200"/>
            <a:ext cx="100584" cy="100584"/>
          </a:xfrm>
          <a:prstGeom prst="diamond">
            <a:avLst/>
          </a:prstGeom>
          <a:solidFill>
            <a:srgbClr val="E2B4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49808" y="365760"/>
            <a:ext cx="8229600" cy="292608"/>
          </a:xfrm>
          <a:prstGeom prst="rect">
            <a:avLst/>
          </a:prstGeom>
          <a:noFill/>
        </p:spPr>
        <p:txBody>
          <a:bodyPr wrap="square" lIns="45720" rIns="45720" tIns="27432" bIns="27432" anchor="t">
            <a:noAutofit/>
          </a:bodyPr>
          <a:lstStyle/>
          <a:p>
            <a:pPr algn="l">
              <a:lnSpc>
                <a:spcPct val="100000"/>
              </a:lnSpc>
            </a:pPr>
            <a:r>
              <a:rPr sz="1100" b="0" i="0" spc="240">
                <a:solidFill>
                  <a:srgbClr val="C98457"/>
                </a:solidFill>
                <a:latin typeface="Segoe UI Semibold"/>
              </a:rPr>
              <a:t>HEREDADO DE v1.83.0</a:t>
            </a:r>
          </a:p>
        </p:txBody>
      </p:sp>
      <p:sp>
        <p:nvSpPr>
          <p:cNvPr id="5" name="TextBox 4"/>
          <p:cNvSpPr txBox="1"/>
          <p:nvPr/>
        </p:nvSpPr>
        <p:spPr>
          <a:xfrm>
            <a:off x="539496" y="676656"/>
            <a:ext cx="11057839" cy="658368"/>
          </a:xfrm>
          <a:prstGeom prst="rect">
            <a:avLst/>
          </a:prstGeom>
          <a:noFill/>
        </p:spPr>
        <p:txBody>
          <a:bodyPr wrap="square" lIns="45720" rIns="45720" tIns="27432" bIns="27432" anchor="t">
            <a:noAutofit/>
          </a:bodyPr>
          <a:lstStyle/>
          <a:p>
            <a:pPr algn="l">
              <a:lnSpc>
                <a:spcPct val="100000"/>
              </a:lnSpc>
            </a:pPr>
            <a:r>
              <a:rPr sz="3100" b="0" i="0">
                <a:solidFill>
                  <a:srgbClr val="F7F2E8"/>
                </a:solidFill>
                <a:latin typeface="Palatino Linotype"/>
              </a:rPr>
              <a:t>Un listener para cada archivo que sueltas</a:t>
            </a:r>
          </a:p>
        </p:txBody>
      </p:sp>
      <p:sp>
        <p:nvSpPr>
          <p:cNvPr id="6" name="Rectangle 5"/>
          <p:cNvSpPr/>
          <p:nvPr/>
        </p:nvSpPr>
        <p:spPr>
          <a:xfrm>
            <a:off x="566928" y="1344168"/>
            <a:ext cx="822960" cy="36576"/>
          </a:xfrm>
          <a:prstGeom prst="rect">
            <a:avLst/>
          </a:prstGeom>
          <a:solidFill>
            <a:srgbClr val="E2B4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566928" y="1444752"/>
            <a:ext cx="10692079" cy="585216"/>
          </a:xfrm>
          <a:prstGeom prst="rect">
            <a:avLst/>
          </a:prstGeom>
          <a:noFill/>
        </p:spPr>
        <p:txBody>
          <a:bodyPr wrap="square" lIns="45720" rIns="45720" tIns="27432" bIns="27432" anchor="t">
            <a:noAutofit/>
          </a:bodyPr>
          <a:lstStyle/>
          <a:p>
            <a:pPr algn="l">
              <a:lnSpc>
                <a:spcPct val="100000"/>
              </a:lnSpc>
            </a:pPr>
            <a:r>
              <a:rPr sz="1450" b="0" i="0">
                <a:solidFill>
                  <a:srgbClr val="A7B2B0"/>
                </a:solidFill>
                <a:latin typeface="Segoe UI Semilight"/>
              </a:rPr>
              <a:t>Con tag y publicado el 14 de octubre: un archivo soltado nunca da error, nunca se abre como texto por equivocación y nunca hace salir de la página.</a:t>
            </a:r>
          </a:p>
        </p:txBody>
      </p:sp>
      <p:sp>
        <p:nvSpPr>
          <p:cNvPr id="8" name="Rounded Rectangle 7"/>
          <p:cNvSpPr/>
          <p:nvPr/>
        </p:nvSpPr>
        <p:spPr>
          <a:xfrm>
            <a:off x="566928" y="2084831"/>
            <a:ext cx="3551834" cy="1956816"/>
          </a:xfrm>
          <a:prstGeom prst="roundRect">
            <a:avLst>
              <a:gd name="adj" fmla="val 5607"/>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ectangle 8"/>
          <p:cNvSpPr/>
          <p:nvPr/>
        </p:nvSpPr>
        <p:spPr>
          <a:xfrm>
            <a:off x="731520" y="2212848"/>
            <a:ext cx="502920" cy="45720"/>
          </a:xfrm>
          <a:prstGeom prst="rect">
            <a:avLst/>
          </a:prstGeom>
          <a:solidFill>
            <a:srgbClr val="3BBE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694944" y="2304287"/>
            <a:ext cx="3295802" cy="353568"/>
          </a:xfrm>
          <a:prstGeom prst="rect">
            <a:avLst/>
          </a:prstGeom>
          <a:noFill/>
        </p:spPr>
        <p:txBody>
          <a:bodyPr wrap="square" lIns="45720" rIns="45720" tIns="27432" bIns="27432" anchor="t">
            <a:noAutofit/>
          </a:bodyPr>
          <a:lstStyle/>
          <a:p>
            <a:pPr algn="l">
              <a:lnSpc>
                <a:spcPct val="100000"/>
              </a:lnSpc>
            </a:pPr>
            <a:r>
              <a:rPr sz="1600" b="0" i="0">
                <a:solidFill>
                  <a:srgbClr val="F7F2E8"/>
                </a:solidFill>
                <a:latin typeface="Segoe UI Semibold"/>
              </a:rPr>
              <a:t>Un solo listener</a:t>
            </a:r>
          </a:p>
        </p:txBody>
      </p:sp>
      <p:sp>
        <p:nvSpPr>
          <p:cNvPr id="11" name="TextBox 10"/>
          <p:cNvSpPr txBox="1"/>
          <p:nvPr/>
        </p:nvSpPr>
        <p:spPr>
          <a:xfrm>
            <a:off x="694944" y="2657855"/>
            <a:ext cx="3295802" cy="1292352"/>
          </a:xfrm>
          <a:prstGeom prst="rect">
            <a:avLst/>
          </a:prstGeom>
          <a:noFill/>
        </p:spPr>
        <p:txBody>
          <a:bodyPr wrap="square" lIns="45720" rIns="45720" tIns="27432" bIns="27432" anchor="t">
            <a:noAutofit/>
          </a:bodyPr>
          <a:lstStyle/>
          <a:p>
            <a:pPr algn="l">
              <a:lnSpc>
                <a:spcPct val="100000"/>
              </a:lnSpc>
            </a:pPr>
            <a:r>
              <a:rPr sz="1300" b="0" i="0">
                <a:solidFill>
                  <a:srgbClr val="A7B2B0"/>
                </a:solidFill>
                <a:latin typeface="Segoe UI"/>
              </a:rPr>
              <a:t>Fase de captura, sólo arrastres de archivos; los arrastres de texto no se tocan.</a:t>
            </a:r>
          </a:p>
        </p:txBody>
      </p:sp>
      <p:sp>
        <p:nvSpPr>
          <p:cNvPr id="12" name="Rounded Rectangle 11"/>
          <p:cNvSpPr/>
          <p:nvPr/>
        </p:nvSpPr>
        <p:spPr>
          <a:xfrm>
            <a:off x="4319930" y="2084831"/>
            <a:ext cx="3551834" cy="1956816"/>
          </a:xfrm>
          <a:prstGeom prst="roundRect">
            <a:avLst>
              <a:gd name="adj" fmla="val 5607"/>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4484522" y="2212848"/>
            <a:ext cx="502920" cy="45720"/>
          </a:xfrm>
          <a:prstGeom prst="rect">
            <a:avLst/>
          </a:prstGeom>
          <a:solidFill>
            <a:srgbClr val="C984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4447946" y="2304287"/>
            <a:ext cx="3295802" cy="353568"/>
          </a:xfrm>
          <a:prstGeom prst="rect">
            <a:avLst/>
          </a:prstGeom>
          <a:noFill/>
        </p:spPr>
        <p:txBody>
          <a:bodyPr wrap="square" lIns="45720" rIns="45720" tIns="27432" bIns="27432" anchor="t">
            <a:noAutofit/>
          </a:bodyPr>
          <a:lstStyle/>
          <a:p>
            <a:pPr algn="l">
              <a:lnSpc>
                <a:spcPct val="100000"/>
              </a:lnSpc>
            </a:pPr>
            <a:r>
              <a:rPr sz="1600" b="0" i="0">
                <a:solidFill>
                  <a:srgbClr val="F7F2E8"/>
                </a:solidFill>
                <a:latin typeface="Segoe UI Semibold"/>
              </a:rPr>
              <a:t>Por los bytes</a:t>
            </a:r>
          </a:p>
        </p:txBody>
      </p:sp>
      <p:sp>
        <p:nvSpPr>
          <p:cNvPr id="15" name="TextBox 14"/>
          <p:cNvSpPr txBox="1"/>
          <p:nvPr/>
        </p:nvSpPr>
        <p:spPr>
          <a:xfrm>
            <a:off x="4447946" y="2657855"/>
            <a:ext cx="3295802" cy="1292352"/>
          </a:xfrm>
          <a:prstGeom prst="rect">
            <a:avLst/>
          </a:prstGeom>
          <a:noFill/>
        </p:spPr>
        <p:txBody>
          <a:bodyPr wrap="square" lIns="45720" rIns="45720" tIns="27432" bIns="27432" anchor="t">
            <a:noAutofit/>
          </a:bodyPr>
          <a:lstStyle/>
          <a:p>
            <a:pPr algn="l">
              <a:lnSpc>
                <a:spcPct val="100000"/>
              </a:lnSpc>
            </a:pPr>
            <a:r>
              <a:rPr sz="1300" b="0" i="0">
                <a:solidFill>
                  <a:srgbClr val="A7B2B0"/>
                </a:solidFill>
                <a:latin typeface="Segoe UI"/>
              </a:rPr>
              <a:t>Extensión, MIME, números mágicos, prueba de texto que conoce el BOM, parseo real de JSON.</a:t>
            </a:r>
          </a:p>
        </p:txBody>
      </p:sp>
      <p:sp>
        <p:nvSpPr>
          <p:cNvPr id="16" name="Rounded Rectangle 15"/>
          <p:cNvSpPr/>
          <p:nvPr/>
        </p:nvSpPr>
        <p:spPr>
          <a:xfrm>
            <a:off x="8072932" y="2084831"/>
            <a:ext cx="3551834" cy="1956816"/>
          </a:xfrm>
          <a:prstGeom prst="roundRect">
            <a:avLst>
              <a:gd name="adj" fmla="val 5607"/>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8237524" y="2212848"/>
            <a:ext cx="502920" cy="45720"/>
          </a:xfrm>
          <a:prstGeom prst="rect">
            <a:avLst/>
          </a:prstGeom>
          <a:solidFill>
            <a:srgbClr val="E2B4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200948" y="2304287"/>
            <a:ext cx="3295802" cy="353568"/>
          </a:xfrm>
          <a:prstGeom prst="rect">
            <a:avLst/>
          </a:prstGeom>
          <a:noFill/>
        </p:spPr>
        <p:txBody>
          <a:bodyPr wrap="square" lIns="45720" rIns="45720" tIns="27432" bIns="27432" anchor="t">
            <a:noAutofit/>
          </a:bodyPr>
          <a:lstStyle/>
          <a:p>
            <a:pPr algn="l">
              <a:lnSpc>
                <a:spcPct val="100000"/>
              </a:lnSpc>
            </a:pPr>
            <a:r>
              <a:rPr sz="1600" b="0" i="0">
                <a:solidFill>
                  <a:srgbClr val="F7F2E8"/>
                </a:solidFill>
                <a:latin typeface="Segoe UI Semibold"/>
              </a:rPr>
              <a:t>Importación de MCP</a:t>
            </a:r>
          </a:p>
        </p:txBody>
      </p:sp>
      <p:sp>
        <p:nvSpPr>
          <p:cNvPr id="19" name="TextBox 18"/>
          <p:cNvSpPr txBox="1"/>
          <p:nvPr/>
        </p:nvSpPr>
        <p:spPr>
          <a:xfrm>
            <a:off x="8200948" y="2657855"/>
            <a:ext cx="3295802" cy="1292352"/>
          </a:xfrm>
          <a:prstGeom prst="rect">
            <a:avLst/>
          </a:prstGeom>
          <a:noFill/>
        </p:spPr>
        <p:txBody>
          <a:bodyPr wrap="square" lIns="45720" rIns="45720" tIns="27432" bIns="27432" anchor="t">
            <a:noAutofit/>
          </a:bodyPr>
          <a:lstStyle/>
          <a:p>
            <a:pPr algn="l">
              <a:lnSpc>
                <a:spcPct val="100000"/>
              </a:lnSpc>
            </a:pPr>
            <a:r>
              <a:rPr sz="1300" b="0" i="0">
                <a:solidFill>
                  <a:srgbClr val="A7B2B0"/>
                </a:solidFill>
                <a:latin typeface="Segoe UI"/>
              </a:rPr>
              <a:t>Nunca silenciosa: una confirmación lista primero los servidores.</a:t>
            </a:r>
          </a:p>
        </p:txBody>
      </p:sp>
      <p:sp>
        <p:nvSpPr>
          <p:cNvPr id="20" name="Rounded Rectangle 19"/>
          <p:cNvSpPr/>
          <p:nvPr/>
        </p:nvSpPr>
        <p:spPr>
          <a:xfrm>
            <a:off x="566928" y="4242816"/>
            <a:ext cx="3551834" cy="1956816"/>
          </a:xfrm>
          <a:prstGeom prst="roundRect">
            <a:avLst>
              <a:gd name="adj" fmla="val 5607"/>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ectangle 20"/>
          <p:cNvSpPr/>
          <p:nvPr/>
        </p:nvSpPr>
        <p:spPr>
          <a:xfrm>
            <a:off x="731520" y="4370832"/>
            <a:ext cx="502920" cy="45720"/>
          </a:xfrm>
          <a:prstGeom prst="rect">
            <a:avLst/>
          </a:prstGeom>
          <a:solidFill>
            <a:srgbClr val="46D2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694944" y="4462272"/>
            <a:ext cx="3295802" cy="353568"/>
          </a:xfrm>
          <a:prstGeom prst="rect">
            <a:avLst/>
          </a:prstGeom>
          <a:noFill/>
        </p:spPr>
        <p:txBody>
          <a:bodyPr wrap="square" lIns="45720" rIns="45720" tIns="27432" bIns="27432" anchor="t">
            <a:noAutofit/>
          </a:bodyPr>
          <a:lstStyle/>
          <a:p>
            <a:pPr algn="l">
              <a:lnSpc>
                <a:spcPct val="100000"/>
              </a:lnSpc>
            </a:pPr>
            <a:r>
              <a:rPr sz="1600" b="0" i="0">
                <a:solidFill>
                  <a:srgbClr val="F7F2E8"/>
                </a:solidFill>
                <a:latin typeface="Segoe UI Semibold"/>
              </a:rPr>
              <a:t>En todas partes</a:t>
            </a:r>
          </a:p>
        </p:txBody>
      </p:sp>
      <p:sp>
        <p:nvSpPr>
          <p:cNvPr id="23" name="TextBox 22"/>
          <p:cNvSpPr txBox="1"/>
          <p:nvPr/>
        </p:nvSpPr>
        <p:spPr>
          <a:xfrm>
            <a:off x="694944" y="4815840"/>
            <a:ext cx="3295802" cy="1292352"/>
          </a:xfrm>
          <a:prstGeom prst="rect">
            <a:avLst/>
          </a:prstGeom>
          <a:noFill/>
        </p:spPr>
        <p:txBody>
          <a:bodyPr wrap="square" lIns="45720" rIns="45720" tIns="27432" bIns="27432" anchor="t">
            <a:noAutofit/>
          </a:bodyPr>
          <a:lstStyle/>
          <a:p>
            <a:pPr algn="l">
              <a:lnSpc>
                <a:spcPct val="100000"/>
              </a:lnSpc>
            </a:pPr>
            <a:r>
              <a:rPr sz="1300" b="0" i="0">
                <a:solidFill>
                  <a:srgbClr val="A7B2B0"/>
                </a:solidFill>
                <a:latin typeface="Segoe UI"/>
              </a:rPr>
              <a:t>Chat, ambos paneles, bienvenida, inicio de sesión, admin y el frame de PDF.</a:t>
            </a:r>
          </a:p>
        </p:txBody>
      </p:sp>
      <p:sp>
        <p:nvSpPr>
          <p:cNvPr id="24" name="Rounded Rectangle 23"/>
          <p:cNvSpPr/>
          <p:nvPr/>
        </p:nvSpPr>
        <p:spPr>
          <a:xfrm>
            <a:off x="4319930" y="4242816"/>
            <a:ext cx="3551834" cy="1956816"/>
          </a:xfrm>
          <a:prstGeom prst="roundRect">
            <a:avLst>
              <a:gd name="adj" fmla="val 5607"/>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ectangle 24"/>
          <p:cNvSpPr/>
          <p:nvPr/>
        </p:nvSpPr>
        <p:spPr>
          <a:xfrm>
            <a:off x="4484522" y="4370832"/>
            <a:ext cx="502920" cy="45720"/>
          </a:xfrm>
          <a:prstGeom prst="rect">
            <a:avLst/>
          </a:prstGeom>
          <a:solidFill>
            <a:srgbClr val="D25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4447946" y="4462272"/>
            <a:ext cx="3295802" cy="353568"/>
          </a:xfrm>
          <a:prstGeom prst="rect">
            <a:avLst/>
          </a:prstGeom>
          <a:noFill/>
        </p:spPr>
        <p:txBody>
          <a:bodyPr wrap="square" lIns="45720" rIns="45720" tIns="27432" bIns="27432" anchor="t">
            <a:noAutofit/>
          </a:bodyPr>
          <a:lstStyle/>
          <a:p>
            <a:pPr algn="l">
              <a:lnSpc>
                <a:spcPct val="100000"/>
              </a:lnSpc>
            </a:pPr>
            <a:r>
              <a:rPr sz="1600" b="0" i="0">
                <a:solidFill>
                  <a:srgbClr val="F7F2E8"/>
                </a:solidFill>
                <a:latin typeface="Segoe UI Semibold"/>
              </a:rPr>
              <a:t>Evidencia</a:t>
            </a:r>
          </a:p>
        </p:txBody>
      </p:sp>
      <p:sp>
        <p:nvSpPr>
          <p:cNvPr id="27" name="TextBox 26"/>
          <p:cNvSpPr txBox="1"/>
          <p:nvPr/>
        </p:nvSpPr>
        <p:spPr>
          <a:xfrm>
            <a:off x="4447946" y="4815840"/>
            <a:ext cx="3295802" cy="1292352"/>
          </a:xfrm>
          <a:prstGeom prst="rect">
            <a:avLst/>
          </a:prstGeom>
          <a:noFill/>
        </p:spPr>
        <p:txBody>
          <a:bodyPr wrap="square" lIns="45720" rIns="45720" tIns="27432" bIns="27432" anchor="t">
            <a:noAutofit/>
          </a:bodyPr>
          <a:lstStyle/>
          <a:p>
            <a:pPr algn="l">
              <a:lnSpc>
                <a:spcPct val="100000"/>
              </a:lnSpc>
            </a:pPr>
            <a:r>
              <a:rPr sz="1300" b="0" i="0">
                <a:solidFill>
                  <a:srgbClr val="A7B2B0"/>
                </a:solidFill>
                <a:latin typeface="Segoe UI"/>
              </a:rPr>
              <a:t>138 revisiones del router, 22 pruebas, 58 revisiones visibles, 24 fotos.</a:t>
            </a:r>
          </a:p>
        </p:txBody>
      </p:sp>
      <p:sp>
        <p:nvSpPr>
          <p:cNvPr id="28" name="Rounded Rectangle 27"/>
          <p:cNvSpPr/>
          <p:nvPr/>
        </p:nvSpPr>
        <p:spPr>
          <a:xfrm>
            <a:off x="8072932" y="4242816"/>
            <a:ext cx="3551834" cy="1956816"/>
          </a:xfrm>
          <a:prstGeom prst="roundRect">
            <a:avLst>
              <a:gd name="adj" fmla="val 5607"/>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Rectangle 28"/>
          <p:cNvSpPr/>
          <p:nvPr/>
        </p:nvSpPr>
        <p:spPr>
          <a:xfrm>
            <a:off x="8237524" y="4370832"/>
            <a:ext cx="502920" cy="45720"/>
          </a:xfrm>
          <a:prstGeom prst="rect">
            <a:avLst/>
          </a:prstGeom>
          <a:solidFill>
            <a:srgbClr val="D957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8200948" y="4462272"/>
            <a:ext cx="3295802" cy="353568"/>
          </a:xfrm>
          <a:prstGeom prst="rect">
            <a:avLst/>
          </a:prstGeom>
          <a:noFill/>
        </p:spPr>
        <p:txBody>
          <a:bodyPr wrap="square" lIns="45720" rIns="45720" tIns="27432" bIns="27432" anchor="t">
            <a:noAutofit/>
          </a:bodyPr>
          <a:lstStyle/>
          <a:p>
            <a:pPr algn="l">
              <a:lnSpc>
                <a:spcPct val="100000"/>
              </a:lnSpc>
            </a:pPr>
            <a:r>
              <a:rPr sz="1600" b="0" i="0">
                <a:solidFill>
                  <a:srgbClr val="F7F2E8"/>
                </a:solidFill>
                <a:latin typeface="Segoe UI Semibold"/>
              </a:rPr>
              <a:t>Tag</a:t>
            </a:r>
          </a:p>
        </p:txBody>
      </p:sp>
      <p:sp>
        <p:nvSpPr>
          <p:cNvPr id="31" name="TextBox 30"/>
          <p:cNvSpPr txBox="1"/>
          <p:nvPr/>
        </p:nvSpPr>
        <p:spPr>
          <a:xfrm>
            <a:off x="8200948" y="4815840"/>
            <a:ext cx="3295802" cy="1292352"/>
          </a:xfrm>
          <a:prstGeom prst="rect">
            <a:avLst/>
          </a:prstGeom>
          <a:noFill/>
        </p:spPr>
        <p:txBody>
          <a:bodyPr wrap="square" lIns="45720" rIns="45720" tIns="27432" bIns="27432" anchor="t">
            <a:noAutofit/>
          </a:bodyPr>
          <a:lstStyle/>
          <a:p>
            <a:pPr algn="l">
              <a:lnSpc>
                <a:spcPct val="100000"/>
              </a:lnSpc>
            </a:pPr>
            <a:r>
              <a:rPr sz="1300" b="0" i="0">
                <a:solidFill>
                  <a:srgbClr val="A7B2B0"/>
                </a:solidFill>
                <a:latin typeface="Segoe UI"/>
              </a:rPr>
              <a:t>v1.83.0 en a2914019, con push y publicado el 14 de octubre.</a:t>
            </a:r>
          </a:p>
        </p:txBody>
      </p:sp>
      <p:cxnSp>
        <p:nvCxnSpPr>
          <p:cNvPr id="32" name="Connector 31"/>
          <p:cNvCxnSpPr/>
          <p:nvPr/>
        </p:nvCxnSpPr>
        <p:spPr>
          <a:xfrm>
            <a:off x="566928" y="6373368"/>
            <a:ext cx="11057839" cy="0"/>
          </a:xfrm>
          <a:prstGeom prst="line">
            <a:avLst/>
          </a:prstGeom>
          <a:ln w="7620">
            <a:solidFill>
              <a:srgbClr val="2A3A40"/>
            </a:solidFill>
          </a:ln>
        </p:spPr>
        <p:style>
          <a:lnRef idx="2">
            <a:schemeClr val="accent1"/>
          </a:lnRef>
          <a:fillRef idx="0">
            <a:schemeClr val="accent1"/>
          </a:fillRef>
          <a:effectRef idx="1">
            <a:schemeClr val="accent1"/>
          </a:effectRef>
          <a:fontRef idx="minor">
            <a:schemeClr val="tx1"/>
          </a:fontRef>
        </p:style>
      </p:cxnSp>
      <p:sp>
        <p:nvSpPr>
          <p:cNvPr id="33" name="TextBox 32"/>
          <p:cNvSpPr txBox="1"/>
          <p:nvPr/>
        </p:nvSpPr>
        <p:spPr>
          <a:xfrm>
            <a:off x="566928" y="6419088"/>
            <a:ext cx="6858000" cy="274320"/>
          </a:xfrm>
          <a:prstGeom prst="rect">
            <a:avLst/>
          </a:prstGeom>
          <a:noFill/>
        </p:spPr>
        <p:txBody>
          <a:bodyPr wrap="square" lIns="45720" rIns="45720" tIns="27432" bIns="27432" anchor="t">
            <a:noAutofit/>
          </a:bodyPr>
          <a:lstStyle/>
          <a:p>
            <a:pPr algn="l">
              <a:lnSpc>
                <a:spcPct val="100000"/>
              </a:lnSpc>
            </a:pPr>
            <a:r>
              <a:rPr sz="850" b="0" i="0" spc="120">
                <a:solidFill>
                  <a:srgbClr val="A7B2B0"/>
                </a:solidFill>
                <a:latin typeface="Segoe UI Semibold"/>
              </a:rPr>
              <a:t>TLAMATINI  ·  VIII · RELEASE ACTUAL</a:t>
            </a:r>
          </a:p>
        </p:txBody>
      </p:sp>
      <p:sp>
        <p:nvSpPr>
          <p:cNvPr id="34" name="TextBox 33"/>
          <p:cNvSpPr txBox="1"/>
          <p:nvPr/>
        </p:nvSpPr>
        <p:spPr>
          <a:xfrm>
            <a:off x="8698687" y="6419088"/>
            <a:ext cx="2926080" cy="274320"/>
          </a:xfrm>
          <a:prstGeom prst="rect">
            <a:avLst/>
          </a:prstGeom>
          <a:noFill/>
        </p:spPr>
        <p:txBody>
          <a:bodyPr wrap="square" lIns="45720" rIns="45720" tIns="27432" bIns="27432" anchor="t">
            <a:noAutofit/>
          </a:bodyPr>
          <a:lstStyle/>
          <a:p>
            <a:pPr algn="r">
              <a:lnSpc>
                <a:spcPct val="100000"/>
              </a:lnSpc>
            </a:pPr>
            <a:r>
              <a:rPr sz="850" b="0" i="0" spc="100">
                <a:solidFill>
                  <a:srgbClr val="A7B2B0"/>
                </a:solidFill>
                <a:latin typeface="Segoe UI Semibold"/>
              </a:rPr>
              <a:t>v1.91.1   ·   137</a:t>
            </a:r>
          </a:p>
        </p:txBody>
      </p:sp>
    </p:spTree>
  </p:cSld>
  <p:clrMapOvr>
    <a:masterClrMapping/>
  </p:clrMapOvr>
</p:sld>
</file>

<file path=ppt/slides/slide1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content.png"/>
          <p:cNvPicPr>
            <a:picLocks noChangeAspect="1"/>
          </p:cNvPicPr>
          <p:nvPr/>
        </p:nvPicPr>
        <p:blipFill>
          <a:blip r:embed="rId2"/>
          <a:stretch>
            <a:fillRect/>
          </a:stretch>
        </p:blipFill>
        <p:spPr>
          <a:xfrm>
            <a:off x="0" y="0"/>
            <a:ext cx="12191695" cy="6858000"/>
          </a:xfrm>
          <a:prstGeom prst="rect">
            <a:avLst/>
          </a:prstGeom>
        </p:spPr>
      </p:pic>
      <p:sp>
        <p:nvSpPr>
          <p:cNvPr id="3" name="Diamond 2"/>
          <p:cNvSpPr/>
          <p:nvPr/>
        </p:nvSpPr>
        <p:spPr>
          <a:xfrm>
            <a:off x="566928" y="457200"/>
            <a:ext cx="100584" cy="100584"/>
          </a:xfrm>
          <a:prstGeom prst="diamond">
            <a:avLst/>
          </a:prstGeom>
          <a:solidFill>
            <a:srgbClr val="E2B4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49808" y="365760"/>
            <a:ext cx="8229600" cy="292608"/>
          </a:xfrm>
          <a:prstGeom prst="rect">
            <a:avLst/>
          </a:prstGeom>
          <a:noFill/>
        </p:spPr>
        <p:txBody>
          <a:bodyPr wrap="square" lIns="45720" rIns="45720" tIns="27432" bIns="27432" anchor="t">
            <a:noAutofit/>
          </a:bodyPr>
          <a:lstStyle/>
          <a:p>
            <a:pPr algn="l">
              <a:lnSpc>
                <a:spcPct val="100000"/>
              </a:lnSpc>
            </a:pPr>
            <a:r>
              <a:rPr sz="1100" b="0" i="0" spc="240">
                <a:solidFill>
                  <a:srgbClr val="C98457"/>
                </a:solidFill>
                <a:latin typeface="Segoe UI Semibold"/>
              </a:rPr>
              <a:t>HEREDADO DE v1.83.0</a:t>
            </a:r>
          </a:p>
        </p:txBody>
      </p:sp>
      <p:sp>
        <p:nvSpPr>
          <p:cNvPr id="5" name="TextBox 4"/>
          <p:cNvSpPr txBox="1"/>
          <p:nvPr/>
        </p:nvSpPr>
        <p:spPr>
          <a:xfrm>
            <a:off x="539496" y="676656"/>
            <a:ext cx="11057839" cy="658368"/>
          </a:xfrm>
          <a:prstGeom prst="rect">
            <a:avLst/>
          </a:prstGeom>
          <a:noFill/>
        </p:spPr>
        <p:txBody>
          <a:bodyPr wrap="square" lIns="45720" rIns="45720" tIns="27432" bIns="27432" anchor="t">
            <a:noAutofit/>
          </a:bodyPr>
          <a:lstStyle/>
          <a:p>
            <a:pPr algn="l">
              <a:lnSpc>
                <a:spcPct val="100000"/>
              </a:lnSpc>
            </a:pPr>
            <a:r>
              <a:rPr sz="3100" b="0" i="0">
                <a:solidFill>
                  <a:srgbClr val="F7F2E8"/>
                </a:solidFill>
                <a:latin typeface="Palatino Linotype"/>
              </a:rPr>
              <a:t>El retrato se encoge con la caja de mensaje</a:t>
            </a:r>
          </a:p>
        </p:txBody>
      </p:sp>
      <p:sp>
        <p:nvSpPr>
          <p:cNvPr id="6" name="Rectangle 5"/>
          <p:cNvSpPr/>
          <p:nvPr/>
        </p:nvSpPr>
        <p:spPr>
          <a:xfrm>
            <a:off x="566928" y="1344168"/>
            <a:ext cx="822960" cy="36576"/>
          </a:xfrm>
          <a:prstGeom prst="rect">
            <a:avLst/>
          </a:prstGeom>
          <a:solidFill>
            <a:srgbClr val="E2B4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566928" y="1444752"/>
            <a:ext cx="10692079" cy="585216"/>
          </a:xfrm>
          <a:prstGeom prst="rect">
            <a:avLst/>
          </a:prstGeom>
          <a:noFill/>
        </p:spPr>
        <p:txBody>
          <a:bodyPr wrap="square" lIns="45720" rIns="45720" tIns="27432" bIns="27432" anchor="t">
            <a:noAutofit/>
          </a:bodyPr>
          <a:lstStyle/>
          <a:p>
            <a:pPr algn="l">
              <a:lnSpc>
                <a:spcPct val="100000"/>
              </a:lnSpc>
            </a:pPr>
            <a:r>
              <a:rPr sz="1450" b="0" i="0">
                <a:solidFill>
                  <a:srgbClr val="A7B2B0"/>
                </a:solidFill>
                <a:latin typeface="Segoe UI Semilight"/>
              </a:rPr>
              <a:t>Commit 63a62cc1 del 13 de octubre, acreditado a Tlamatini's-AutoBot; incluido en v1.83.0.</a:t>
            </a:r>
          </a:p>
        </p:txBody>
      </p:sp>
      <p:sp>
        <p:nvSpPr>
          <p:cNvPr id="8" name="Rounded Rectangle 7"/>
          <p:cNvSpPr/>
          <p:nvPr/>
        </p:nvSpPr>
        <p:spPr>
          <a:xfrm>
            <a:off x="566928" y="2084831"/>
            <a:ext cx="5428335" cy="1956816"/>
          </a:xfrm>
          <a:prstGeom prst="roundRect">
            <a:avLst>
              <a:gd name="adj" fmla="val 5607"/>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ectangle 8"/>
          <p:cNvSpPr/>
          <p:nvPr/>
        </p:nvSpPr>
        <p:spPr>
          <a:xfrm>
            <a:off x="731520" y="2212848"/>
            <a:ext cx="502920" cy="45720"/>
          </a:xfrm>
          <a:prstGeom prst="rect">
            <a:avLst/>
          </a:prstGeom>
          <a:solidFill>
            <a:srgbClr val="3BBE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694944" y="2304287"/>
            <a:ext cx="5172303" cy="353568"/>
          </a:xfrm>
          <a:prstGeom prst="rect">
            <a:avLst/>
          </a:prstGeom>
          <a:noFill/>
        </p:spPr>
        <p:txBody>
          <a:bodyPr wrap="square" lIns="45720" rIns="45720" tIns="27432" bIns="27432" anchor="t">
            <a:noAutofit/>
          </a:bodyPr>
          <a:lstStyle/>
          <a:p>
            <a:pPr algn="l">
              <a:lnSpc>
                <a:spcPct val="100000"/>
              </a:lnSpc>
            </a:pPr>
            <a:r>
              <a:rPr sz="1600" b="0" i="0">
                <a:solidFill>
                  <a:srgbClr val="F7F2E8"/>
                </a:solidFill>
                <a:latin typeface="Segoe UI Semibold"/>
              </a:rPr>
              <a:t>Abajo</a:t>
            </a:r>
          </a:p>
        </p:txBody>
      </p:sp>
      <p:sp>
        <p:nvSpPr>
          <p:cNvPr id="11" name="TextBox 10"/>
          <p:cNvSpPr txBox="1"/>
          <p:nvPr/>
        </p:nvSpPr>
        <p:spPr>
          <a:xfrm>
            <a:off x="694944" y="2657855"/>
            <a:ext cx="5172303" cy="1292352"/>
          </a:xfrm>
          <a:prstGeom prst="rect">
            <a:avLst/>
          </a:prstGeom>
          <a:noFill/>
        </p:spPr>
        <p:txBody>
          <a:bodyPr wrap="square" lIns="45720" rIns="45720" tIns="27432" bIns="27432" anchor="t">
            <a:noAutofit/>
          </a:bodyPr>
          <a:lstStyle/>
          <a:p>
            <a:pPr algn="l">
              <a:lnSpc>
                <a:spcPct val="100000"/>
              </a:lnSpc>
            </a:pPr>
            <a:r>
              <a:rPr sz="1300" b="0" i="0">
                <a:solidFill>
                  <a:srgbClr val="A7B2B0"/>
                </a:solidFill>
                <a:latin typeface="Segoe UI"/>
              </a:rPr>
              <a:t>Arrastrar el divisor hacia abajo encoge el retrato a un cuadrado de 120 píxeles.</a:t>
            </a:r>
          </a:p>
        </p:txBody>
      </p:sp>
      <p:sp>
        <p:nvSpPr>
          <p:cNvPr id="12" name="Rounded Rectangle 11"/>
          <p:cNvSpPr/>
          <p:nvPr/>
        </p:nvSpPr>
        <p:spPr>
          <a:xfrm>
            <a:off x="6196431" y="2084831"/>
            <a:ext cx="5428335" cy="1956816"/>
          </a:xfrm>
          <a:prstGeom prst="roundRect">
            <a:avLst>
              <a:gd name="adj" fmla="val 5607"/>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6361023" y="2212848"/>
            <a:ext cx="502920" cy="45720"/>
          </a:xfrm>
          <a:prstGeom prst="rect">
            <a:avLst/>
          </a:prstGeom>
          <a:solidFill>
            <a:srgbClr val="C984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324447" y="2304287"/>
            <a:ext cx="5172303" cy="353568"/>
          </a:xfrm>
          <a:prstGeom prst="rect">
            <a:avLst/>
          </a:prstGeom>
          <a:noFill/>
        </p:spPr>
        <p:txBody>
          <a:bodyPr wrap="square" lIns="45720" rIns="45720" tIns="27432" bIns="27432" anchor="t">
            <a:noAutofit/>
          </a:bodyPr>
          <a:lstStyle/>
          <a:p>
            <a:pPr algn="l">
              <a:lnSpc>
                <a:spcPct val="100000"/>
              </a:lnSpc>
            </a:pPr>
            <a:r>
              <a:rPr sz="1600" b="0" i="0">
                <a:solidFill>
                  <a:srgbClr val="F7F2E8"/>
                </a:solidFill>
                <a:latin typeface="Segoe UI Semibold"/>
              </a:rPr>
              <a:t>Arriba</a:t>
            </a:r>
          </a:p>
        </p:txBody>
      </p:sp>
      <p:sp>
        <p:nvSpPr>
          <p:cNvPr id="15" name="TextBox 14"/>
          <p:cNvSpPr txBox="1"/>
          <p:nvPr/>
        </p:nvSpPr>
        <p:spPr>
          <a:xfrm>
            <a:off x="6324447" y="2657855"/>
            <a:ext cx="5172303" cy="1292352"/>
          </a:xfrm>
          <a:prstGeom prst="rect">
            <a:avLst/>
          </a:prstGeom>
          <a:noFill/>
        </p:spPr>
        <p:txBody>
          <a:bodyPr wrap="square" lIns="45720" rIns="45720" tIns="27432" bIns="27432" anchor="t">
            <a:noAutofit/>
          </a:bodyPr>
          <a:lstStyle/>
          <a:p>
            <a:pPr algn="l">
              <a:lnSpc>
                <a:spcPct val="100000"/>
              </a:lnSpc>
            </a:pPr>
            <a:r>
              <a:rPr sz="1300" b="0" i="0">
                <a:solidFill>
                  <a:srgbClr val="A7B2B0"/>
                </a:solidFill>
                <a:latin typeface="Segoe UI"/>
              </a:rPr>
              <a:t>Arrastrarlo hacia arriba le regresa espacio al retrato, hasta su columna original.</a:t>
            </a:r>
          </a:p>
        </p:txBody>
      </p:sp>
      <p:sp>
        <p:nvSpPr>
          <p:cNvPr id="16" name="Rounded Rectangle 15"/>
          <p:cNvSpPr/>
          <p:nvPr/>
        </p:nvSpPr>
        <p:spPr>
          <a:xfrm>
            <a:off x="566928" y="4242816"/>
            <a:ext cx="5428335" cy="1956816"/>
          </a:xfrm>
          <a:prstGeom prst="roundRect">
            <a:avLst>
              <a:gd name="adj" fmla="val 5607"/>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31520" y="4370832"/>
            <a:ext cx="502920" cy="45720"/>
          </a:xfrm>
          <a:prstGeom prst="rect">
            <a:avLst/>
          </a:prstGeom>
          <a:solidFill>
            <a:srgbClr val="E2B4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694944" y="4462272"/>
            <a:ext cx="5172303" cy="353568"/>
          </a:xfrm>
          <a:prstGeom prst="rect">
            <a:avLst/>
          </a:prstGeom>
          <a:noFill/>
        </p:spPr>
        <p:txBody>
          <a:bodyPr wrap="square" lIns="45720" rIns="45720" tIns="27432" bIns="27432" anchor="t">
            <a:noAutofit/>
          </a:bodyPr>
          <a:lstStyle/>
          <a:p>
            <a:pPr algn="l">
              <a:lnSpc>
                <a:spcPct val="100000"/>
              </a:lnSpc>
            </a:pPr>
            <a:r>
              <a:rPr sz="1600" b="0" i="0">
                <a:solidFill>
                  <a:srgbClr val="F7F2E8"/>
                </a:solidFill>
                <a:latin typeface="Segoe UI Semibold"/>
              </a:rPr>
              <a:t>Teclado</a:t>
            </a:r>
          </a:p>
        </p:txBody>
      </p:sp>
      <p:sp>
        <p:nvSpPr>
          <p:cNvPr id="19" name="TextBox 18"/>
          <p:cNvSpPr txBox="1"/>
          <p:nvPr/>
        </p:nvSpPr>
        <p:spPr>
          <a:xfrm>
            <a:off x="694944" y="4815840"/>
            <a:ext cx="5172303" cy="1292352"/>
          </a:xfrm>
          <a:prstGeom prst="rect">
            <a:avLst/>
          </a:prstGeom>
          <a:noFill/>
        </p:spPr>
        <p:txBody>
          <a:bodyPr wrap="square" lIns="45720" rIns="45720" tIns="27432" bIns="27432" anchor="t">
            <a:noAutofit/>
          </a:bodyPr>
          <a:lstStyle/>
          <a:p>
            <a:pPr algn="l">
              <a:lnSpc>
                <a:spcPct val="100000"/>
              </a:lnSpc>
            </a:pPr>
            <a:r>
              <a:rPr sz="1300" b="0" i="0">
                <a:solidFill>
                  <a:srgbClr val="A7B2B0"/>
                </a:solidFill>
                <a:latin typeface="Segoe UI"/>
              </a:rPr>
              <a:t>Flechas, Shift+flechas, Inicio, Fin, doble clic y Escape siguen funcionando.</a:t>
            </a:r>
          </a:p>
        </p:txBody>
      </p:sp>
      <p:sp>
        <p:nvSpPr>
          <p:cNvPr id="20" name="Rounded Rectangle 19"/>
          <p:cNvSpPr/>
          <p:nvPr/>
        </p:nvSpPr>
        <p:spPr>
          <a:xfrm>
            <a:off x="6196431" y="4242816"/>
            <a:ext cx="5428335" cy="1956816"/>
          </a:xfrm>
          <a:prstGeom prst="roundRect">
            <a:avLst>
              <a:gd name="adj" fmla="val 5607"/>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ectangle 20"/>
          <p:cNvSpPr/>
          <p:nvPr/>
        </p:nvSpPr>
        <p:spPr>
          <a:xfrm>
            <a:off x="6361023" y="4370832"/>
            <a:ext cx="502920" cy="45720"/>
          </a:xfrm>
          <a:prstGeom prst="rect">
            <a:avLst/>
          </a:prstGeom>
          <a:solidFill>
            <a:srgbClr val="46D2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6324447" y="4462272"/>
            <a:ext cx="5172303" cy="353568"/>
          </a:xfrm>
          <a:prstGeom prst="rect">
            <a:avLst/>
          </a:prstGeom>
          <a:noFill/>
        </p:spPr>
        <p:txBody>
          <a:bodyPr wrap="square" lIns="45720" rIns="45720" tIns="27432" bIns="27432" anchor="t">
            <a:noAutofit/>
          </a:bodyPr>
          <a:lstStyle/>
          <a:p>
            <a:pPr algn="l">
              <a:lnSpc>
                <a:spcPct val="100000"/>
              </a:lnSpc>
            </a:pPr>
            <a:r>
              <a:rPr sz="1600" b="0" i="0">
                <a:solidFill>
                  <a:srgbClr val="F7F2E8"/>
                </a:solidFill>
                <a:latin typeface="Segoe UI Semibold"/>
              </a:rPr>
              <a:t>Evidencia</a:t>
            </a:r>
          </a:p>
        </p:txBody>
      </p:sp>
      <p:sp>
        <p:nvSpPr>
          <p:cNvPr id="23" name="TextBox 22"/>
          <p:cNvSpPr txBox="1"/>
          <p:nvPr/>
        </p:nvSpPr>
        <p:spPr>
          <a:xfrm>
            <a:off x="6324447" y="4815840"/>
            <a:ext cx="5172303" cy="1292352"/>
          </a:xfrm>
          <a:prstGeom prst="rect">
            <a:avLst/>
          </a:prstGeom>
          <a:noFill/>
        </p:spPr>
        <p:txBody>
          <a:bodyPr wrap="square" lIns="45720" rIns="45720" tIns="27432" bIns="27432" anchor="t">
            <a:noAutofit/>
          </a:bodyPr>
          <a:lstStyle/>
          <a:p>
            <a:pPr algn="l">
              <a:lnSpc>
                <a:spcPct val="100000"/>
              </a:lnSpc>
            </a:pPr>
            <a:r>
              <a:rPr sz="1300" b="0" i="0">
                <a:solidFill>
                  <a:srgbClr val="A7B2B0"/>
                </a:solidFill>
                <a:latin typeface="Segoe UI"/>
              </a:rPr>
              <a:t>Pasaron 19 puntos de revisión del avatar acoplado y 18 del composer.</a:t>
            </a:r>
          </a:p>
        </p:txBody>
      </p:sp>
      <p:cxnSp>
        <p:nvCxnSpPr>
          <p:cNvPr id="24" name="Connector 23"/>
          <p:cNvCxnSpPr/>
          <p:nvPr/>
        </p:nvCxnSpPr>
        <p:spPr>
          <a:xfrm>
            <a:off x="566928" y="6373368"/>
            <a:ext cx="11057839" cy="0"/>
          </a:xfrm>
          <a:prstGeom prst="line">
            <a:avLst/>
          </a:prstGeom>
          <a:ln w="7620">
            <a:solidFill>
              <a:srgbClr val="2A3A40"/>
            </a:solidFill>
          </a:ln>
        </p:spPr>
        <p:style>
          <a:lnRef idx="2">
            <a:schemeClr val="accent1"/>
          </a:lnRef>
          <a:fillRef idx="0">
            <a:schemeClr val="accent1"/>
          </a:fillRef>
          <a:effectRef idx="1">
            <a:schemeClr val="accent1"/>
          </a:effectRef>
          <a:fontRef idx="minor">
            <a:schemeClr val="tx1"/>
          </a:fontRef>
        </p:style>
      </p:cxnSp>
      <p:sp>
        <p:nvSpPr>
          <p:cNvPr id="25" name="TextBox 24"/>
          <p:cNvSpPr txBox="1"/>
          <p:nvPr/>
        </p:nvSpPr>
        <p:spPr>
          <a:xfrm>
            <a:off x="566928" y="6419088"/>
            <a:ext cx="6858000" cy="274320"/>
          </a:xfrm>
          <a:prstGeom prst="rect">
            <a:avLst/>
          </a:prstGeom>
          <a:noFill/>
        </p:spPr>
        <p:txBody>
          <a:bodyPr wrap="square" lIns="45720" rIns="45720" tIns="27432" bIns="27432" anchor="t">
            <a:noAutofit/>
          </a:bodyPr>
          <a:lstStyle/>
          <a:p>
            <a:pPr algn="l">
              <a:lnSpc>
                <a:spcPct val="100000"/>
              </a:lnSpc>
            </a:pPr>
            <a:r>
              <a:rPr sz="850" b="0" i="0" spc="120">
                <a:solidFill>
                  <a:srgbClr val="A7B2B0"/>
                </a:solidFill>
                <a:latin typeface="Segoe UI Semibold"/>
              </a:rPr>
              <a:t>TLAMATINI  ·  VIII · RELEASE ACTUAL</a:t>
            </a:r>
          </a:p>
        </p:txBody>
      </p:sp>
      <p:sp>
        <p:nvSpPr>
          <p:cNvPr id="26" name="TextBox 25"/>
          <p:cNvSpPr txBox="1"/>
          <p:nvPr/>
        </p:nvSpPr>
        <p:spPr>
          <a:xfrm>
            <a:off x="8698687" y="6419088"/>
            <a:ext cx="2926080" cy="274320"/>
          </a:xfrm>
          <a:prstGeom prst="rect">
            <a:avLst/>
          </a:prstGeom>
          <a:noFill/>
        </p:spPr>
        <p:txBody>
          <a:bodyPr wrap="square" lIns="45720" rIns="45720" tIns="27432" bIns="27432" anchor="t">
            <a:noAutofit/>
          </a:bodyPr>
          <a:lstStyle/>
          <a:p>
            <a:pPr algn="r">
              <a:lnSpc>
                <a:spcPct val="100000"/>
              </a:lnSpc>
            </a:pPr>
            <a:r>
              <a:rPr sz="850" b="0" i="0" spc="100">
                <a:solidFill>
                  <a:srgbClr val="A7B2B0"/>
                </a:solidFill>
                <a:latin typeface="Segoe UI Semibold"/>
              </a:rPr>
              <a:t>v1.91.1   ·   138</a:t>
            </a:r>
          </a:p>
        </p:txBody>
      </p:sp>
    </p:spTree>
  </p:cSld>
  <p:clrMapOvr>
    <a:masterClrMapping/>
  </p:clrMapOvr>
</p:sld>
</file>

<file path=ppt/slides/slide1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content.png"/>
          <p:cNvPicPr>
            <a:picLocks noChangeAspect="1"/>
          </p:cNvPicPr>
          <p:nvPr/>
        </p:nvPicPr>
        <p:blipFill>
          <a:blip r:embed="rId2"/>
          <a:stretch>
            <a:fillRect/>
          </a:stretch>
        </p:blipFill>
        <p:spPr>
          <a:xfrm>
            <a:off x="0" y="0"/>
            <a:ext cx="12191695" cy="6858000"/>
          </a:xfrm>
          <a:prstGeom prst="rect">
            <a:avLst/>
          </a:prstGeom>
        </p:spPr>
      </p:pic>
      <p:sp>
        <p:nvSpPr>
          <p:cNvPr id="3" name="Diamond 2"/>
          <p:cNvSpPr/>
          <p:nvPr/>
        </p:nvSpPr>
        <p:spPr>
          <a:xfrm>
            <a:off x="566928" y="457200"/>
            <a:ext cx="100584" cy="100584"/>
          </a:xfrm>
          <a:prstGeom prst="diamond">
            <a:avLst/>
          </a:prstGeom>
          <a:solidFill>
            <a:srgbClr val="E2B4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49808" y="365760"/>
            <a:ext cx="8229600" cy="292608"/>
          </a:xfrm>
          <a:prstGeom prst="rect">
            <a:avLst/>
          </a:prstGeom>
          <a:noFill/>
        </p:spPr>
        <p:txBody>
          <a:bodyPr wrap="square" lIns="45720" rIns="45720" tIns="27432" bIns="27432" anchor="t">
            <a:noAutofit/>
          </a:bodyPr>
          <a:lstStyle/>
          <a:p>
            <a:pPr algn="l">
              <a:lnSpc>
                <a:spcPct val="100000"/>
              </a:lnSpc>
            </a:pPr>
            <a:r>
              <a:rPr sz="1100" b="0" i="0" spc="240">
                <a:solidFill>
                  <a:srgbClr val="C98457"/>
                </a:solidFill>
                <a:latin typeface="Segoe UI Semibold"/>
              </a:rPr>
              <a:t>HEREDADO DE v1.83.0</a:t>
            </a:r>
          </a:p>
        </p:txBody>
      </p:sp>
      <p:sp>
        <p:nvSpPr>
          <p:cNvPr id="5" name="TextBox 4"/>
          <p:cNvSpPr txBox="1"/>
          <p:nvPr/>
        </p:nvSpPr>
        <p:spPr>
          <a:xfrm>
            <a:off x="539496" y="676656"/>
            <a:ext cx="11057839" cy="658368"/>
          </a:xfrm>
          <a:prstGeom prst="rect">
            <a:avLst/>
          </a:prstGeom>
          <a:noFill/>
        </p:spPr>
        <p:txBody>
          <a:bodyPr wrap="square" lIns="45720" rIns="45720" tIns="27432" bIns="27432" anchor="t">
            <a:noAutofit/>
          </a:bodyPr>
          <a:lstStyle/>
          <a:p>
            <a:pPr algn="l">
              <a:lnSpc>
                <a:spcPct val="100000"/>
              </a:lnSpc>
            </a:pPr>
            <a:r>
              <a:rPr sz="3100" b="0" i="0">
                <a:solidFill>
                  <a:srgbClr val="F7F2E8"/>
                </a:solidFill>
                <a:latin typeface="Palatino Linotype"/>
              </a:rPr>
              <a:t>Una solicitud mal redactada no es fatal</a:t>
            </a:r>
          </a:p>
        </p:txBody>
      </p:sp>
      <p:sp>
        <p:nvSpPr>
          <p:cNvPr id="6" name="Rectangle 5"/>
          <p:cNvSpPr/>
          <p:nvPr/>
        </p:nvSpPr>
        <p:spPr>
          <a:xfrm>
            <a:off x="566928" y="1344168"/>
            <a:ext cx="822960" cy="36576"/>
          </a:xfrm>
          <a:prstGeom prst="rect">
            <a:avLst/>
          </a:prstGeom>
          <a:solidFill>
            <a:srgbClr val="E2B4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566928" y="1444752"/>
            <a:ext cx="10692079" cy="585216"/>
          </a:xfrm>
          <a:prstGeom prst="rect">
            <a:avLst/>
          </a:prstGeom>
          <a:noFill/>
        </p:spPr>
        <p:txBody>
          <a:bodyPr wrap="square" lIns="45720" rIns="45720" tIns="27432" bIns="27432" anchor="t">
            <a:noAutofit/>
          </a:bodyPr>
          <a:lstStyle/>
          <a:p>
            <a:pPr algn="l">
              <a:lnSpc>
                <a:spcPct val="100000"/>
              </a:lnSpc>
            </a:pPr>
            <a:r>
              <a:rPr sz="1450" b="0" i="0">
                <a:solidFill>
                  <a:srgbClr val="A7B2B0"/>
                </a:solidFill>
                <a:latin typeface="Segoe UI Semilight"/>
              </a:rPr>
              <a:t>Commit 91ff8453 del 12 de octubre, acreditado a Tlamatini's-AutoBot; incluido en v1.83.0.</a:t>
            </a:r>
          </a:p>
        </p:txBody>
      </p:sp>
      <p:sp>
        <p:nvSpPr>
          <p:cNvPr id="8" name="Rounded Rectangle 7"/>
          <p:cNvSpPr/>
          <p:nvPr/>
        </p:nvSpPr>
        <p:spPr>
          <a:xfrm>
            <a:off x="566928" y="2084831"/>
            <a:ext cx="5428335" cy="1956816"/>
          </a:xfrm>
          <a:prstGeom prst="roundRect">
            <a:avLst>
              <a:gd name="adj" fmla="val 5607"/>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ectangle 8"/>
          <p:cNvSpPr/>
          <p:nvPr/>
        </p:nvSpPr>
        <p:spPr>
          <a:xfrm>
            <a:off x="731520" y="2212848"/>
            <a:ext cx="502920" cy="45720"/>
          </a:xfrm>
          <a:prstGeom prst="rect">
            <a:avLst/>
          </a:prstGeom>
          <a:solidFill>
            <a:srgbClr val="3BBE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694944" y="2304287"/>
            <a:ext cx="5172303" cy="353568"/>
          </a:xfrm>
          <a:prstGeom prst="rect">
            <a:avLst/>
          </a:prstGeom>
          <a:noFill/>
        </p:spPr>
        <p:txBody>
          <a:bodyPr wrap="square" lIns="45720" rIns="45720" tIns="27432" bIns="27432" anchor="t">
            <a:noAutofit/>
          </a:bodyPr>
          <a:lstStyle/>
          <a:p>
            <a:pPr algn="l">
              <a:lnSpc>
                <a:spcPct val="100000"/>
              </a:lnSpc>
            </a:pPr>
            <a:r>
              <a:rPr sz="1600" b="0" i="0">
                <a:solidFill>
                  <a:srgbClr val="F7F2E8"/>
                </a:solidFill>
                <a:latin typeface="Segoe UI Semibold"/>
              </a:rPr>
              <a:t>Errores de solicitud</a:t>
            </a:r>
          </a:p>
        </p:txBody>
      </p:sp>
      <p:sp>
        <p:nvSpPr>
          <p:cNvPr id="11" name="TextBox 10"/>
          <p:cNvSpPr txBox="1"/>
          <p:nvPr/>
        </p:nvSpPr>
        <p:spPr>
          <a:xfrm>
            <a:off x="694944" y="2657855"/>
            <a:ext cx="5172303" cy="1292352"/>
          </a:xfrm>
          <a:prstGeom prst="rect">
            <a:avLst/>
          </a:prstGeom>
          <a:noFill/>
        </p:spPr>
        <p:txBody>
          <a:bodyPr wrap="square" lIns="45720" rIns="45720" tIns="27432" bIns="27432" anchor="t">
            <a:noAutofit/>
          </a:bodyPr>
          <a:lstStyle/>
          <a:p>
            <a:pPr algn="l">
              <a:lnSpc>
                <a:spcPct val="100000"/>
              </a:lnSpc>
            </a:pPr>
            <a:r>
              <a:rPr sz="1300" b="0" i="0">
                <a:solidFill>
                  <a:srgbClr val="A7B2B0"/>
                </a:solidFill>
                <a:latin typeface="Segoe UI"/>
              </a:rPr>
              <a:t>Rechazados antes de que corriera algún modelo; el modelo reintenta.</a:t>
            </a:r>
          </a:p>
        </p:txBody>
      </p:sp>
      <p:sp>
        <p:nvSpPr>
          <p:cNvPr id="12" name="Rounded Rectangle 11"/>
          <p:cNvSpPr/>
          <p:nvPr/>
        </p:nvSpPr>
        <p:spPr>
          <a:xfrm>
            <a:off x="6196431" y="2084831"/>
            <a:ext cx="5428335" cy="1956816"/>
          </a:xfrm>
          <a:prstGeom prst="roundRect">
            <a:avLst>
              <a:gd name="adj" fmla="val 5607"/>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6361023" y="2212848"/>
            <a:ext cx="502920" cy="45720"/>
          </a:xfrm>
          <a:prstGeom prst="rect">
            <a:avLst/>
          </a:prstGeom>
          <a:solidFill>
            <a:srgbClr val="C984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324447" y="2304287"/>
            <a:ext cx="5172303" cy="353568"/>
          </a:xfrm>
          <a:prstGeom prst="rect">
            <a:avLst/>
          </a:prstGeom>
          <a:noFill/>
        </p:spPr>
        <p:txBody>
          <a:bodyPr wrap="square" lIns="45720" rIns="45720" tIns="27432" bIns="27432" anchor="t">
            <a:noAutofit/>
          </a:bodyPr>
          <a:lstStyle/>
          <a:p>
            <a:pPr algn="l">
              <a:lnSpc>
                <a:spcPct val="100000"/>
              </a:lnSpc>
            </a:pPr>
            <a:r>
              <a:rPr sz="1600" b="0" i="0">
                <a:solidFill>
                  <a:srgbClr val="F7F2E8"/>
                </a:solidFill>
                <a:latin typeface="Segoe UI Semibold"/>
              </a:rPr>
              <a:t>Fallas reales</a:t>
            </a:r>
          </a:p>
        </p:txBody>
      </p:sp>
      <p:sp>
        <p:nvSpPr>
          <p:cNvPr id="15" name="TextBox 14"/>
          <p:cNvSpPr txBox="1"/>
          <p:nvPr/>
        </p:nvSpPr>
        <p:spPr>
          <a:xfrm>
            <a:off x="6324447" y="2657855"/>
            <a:ext cx="5172303" cy="1292352"/>
          </a:xfrm>
          <a:prstGeom prst="rect">
            <a:avLst/>
          </a:prstGeom>
          <a:noFill/>
        </p:spPr>
        <p:txBody>
          <a:bodyPr wrap="square" lIns="45720" rIns="45720" tIns="27432" bIns="27432" anchor="t">
            <a:noAutofit/>
          </a:bodyPr>
          <a:lstStyle/>
          <a:p>
            <a:pPr algn="l">
              <a:lnSpc>
                <a:spcPct val="100000"/>
              </a:lnSpc>
            </a:pPr>
            <a:r>
              <a:rPr sz="1300" b="0" i="0">
                <a:solidFill>
                  <a:srgbClr val="A7B2B0"/>
                </a:solidFill>
                <a:latin typeface="Segoe UI"/>
              </a:rPr>
              <a:t>Siguen levantando el diálogo fatal acumulado.</a:t>
            </a:r>
          </a:p>
        </p:txBody>
      </p:sp>
      <p:sp>
        <p:nvSpPr>
          <p:cNvPr id="16" name="Rounded Rectangle 15"/>
          <p:cNvSpPr/>
          <p:nvPr/>
        </p:nvSpPr>
        <p:spPr>
          <a:xfrm>
            <a:off x="566928" y="4242816"/>
            <a:ext cx="5428335" cy="1956816"/>
          </a:xfrm>
          <a:prstGeom prst="roundRect">
            <a:avLst>
              <a:gd name="adj" fmla="val 5607"/>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31520" y="4370832"/>
            <a:ext cx="502920" cy="45720"/>
          </a:xfrm>
          <a:prstGeom prst="rect">
            <a:avLst/>
          </a:prstGeom>
          <a:solidFill>
            <a:srgbClr val="E2B4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694944" y="4462272"/>
            <a:ext cx="5172303" cy="353568"/>
          </a:xfrm>
          <a:prstGeom prst="rect">
            <a:avLst/>
          </a:prstGeom>
          <a:noFill/>
        </p:spPr>
        <p:txBody>
          <a:bodyPr wrap="square" lIns="45720" rIns="45720" tIns="27432" bIns="27432" anchor="t">
            <a:noAutofit/>
          </a:bodyPr>
          <a:lstStyle/>
          <a:p>
            <a:pPr algn="l">
              <a:lnSpc>
                <a:spcPct val="100000"/>
              </a:lnSpc>
            </a:pPr>
            <a:r>
              <a:rPr sz="1600" b="0" i="0">
                <a:solidFill>
                  <a:srgbClr val="F7F2E8"/>
                </a:solidFill>
                <a:latin typeface="Segoe UI Semibold"/>
              </a:rPr>
              <a:t>Sin configuración de motor</a:t>
            </a:r>
          </a:p>
        </p:txBody>
      </p:sp>
      <p:sp>
        <p:nvSpPr>
          <p:cNvPr id="19" name="TextBox 18"/>
          <p:cNvSpPr txBox="1"/>
          <p:nvPr/>
        </p:nvSpPr>
        <p:spPr>
          <a:xfrm>
            <a:off x="694944" y="4815840"/>
            <a:ext cx="5172303" cy="1292352"/>
          </a:xfrm>
          <a:prstGeom prst="rect">
            <a:avLst/>
          </a:prstGeom>
          <a:noFill/>
        </p:spPr>
        <p:txBody>
          <a:bodyPr wrap="square" lIns="45720" rIns="45720" tIns="27432" bIns="27432" anchor="t">
            <a:noAutofit/>
          </a:bodyPr>
          <a:lstStyle/>
          <a:p>
            <a:pPr algn="l">
              <a:lnSpc>
                <a:spcPct val="100000"/>
              </a:lnSpc>
            </a:pPr>
            <a:r>
              <a:rPr sz="1300" b="0" i="0">
                <a:solidFill>
                  <a:srgbClr val="A7B2B0"/>
                </a:solidFill>
                <a:latin typeface="Segoe UI"/>
              </a:rPr>
              <a:t>engine= le pertenece a Whisperer, no a Video-Analyzer.</a:t>
            </a:r>
          </a:p>
        </p:txBody>
      </p:sp>
      <p:sp>
        <p:nvSpPr>
          <p:cNvPr id="20" name="Rounded Rectangle 19"/>
          <p:cNvSpPr/>
          <p:nvPr/>
        </p:nvSpPr>
        <p:spPr>
          <a:xfrm>
            <a:off x="6196431" y="4242816"/>
            <a:ext cx="5428335" cy="1956816"/>
          </a:xfrm>
          <a:prstGeom prst="roundRect">
            <a:avLst>
              <a:gd name="adj" fmla="val 5607"/>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ectangle 20"/>
          <p:cNvSpPr/>
          <p:nvPr/>
        </p:nvSpPr>
        <p:spPr>
          <a:xfrm>
            <a:off x="6361023" y="4370832"/>
            <a:ext cx="502920" cy="45720"/>
          </a:xfrm>
          <a:prstGeom prst="rect">
            <a:avLst/>
          </a:prstGeom>
          <a:solidFill>
            <a:srgbClr val="46D2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6324447" y="4462272"/>
            <a:ext cx="5172303" cy="353568"/>
          </a:xfrm>
          <a:prstGeom prst="rect">
            <a:avLst/>
          </a:prstGeom>
          <a:noFill/>
        </p:spPr>
        <p:txBody>
          <a:bodyPr wrap="square" lIns="45720" rIns="45720" tIns="27432" bIns="27432" anchor="t">
            <a:noAutofit/>
          </a:bodyPr>
          <a:lstStyle/>
          <a:p>
            <a:pPr algn="l">
              <a:lnSpc>
                <a:spcPct val="100000"/>
              </a:lnSpc>
            </a:pPr>
            <a:r>
              <a:rPr sz="1600" b="0" i="0">
                <a:solidFill>
                  <a:srgbClr val="F7F2E8"/>
                </a:solidFill>
                <a:latin typeface="Segoe UI Semibold"/>
              </a:rPr>
              <a:t>Pruebas</a:t>
            </a:r>
          </a:p>
        </p:txBody>
      </p:sp>
      <p:sp>
        <p:nvSpPr>
          <p:cNvPr id="23" name="TextBox 22"/>
          <p:cNvSpPr txBox="1"/>
          <p:nvPr/>
        </p:nvSpPr>
        <p:spPr>
          <a:xfrm>
            <a:off x="6324447" y="4815840"/>
            <a:ext cx="5172303" cy="1292352"/>
          </a:xfrm>
          <a:prstGeom prst="rect">
            <a:avLst/>
          </a:prstGeom>
          <a:noFill/>
        </p:spPr>
        <p:txBody>
          <a:bodyPr wrap="square" lIns="45720" rIns="45720" tIns="27432" bIns="27432" anchor="t">
            <a:noAutofit/>
          </a:bodyPr>
          <a:lstStyle/>
          <a:p>
            <a:pPr algn="l">
              <a:lnSpc>
                <a:spcPct val="100000"/>
              </a:lnSpc>
            </a:pPr>
            <a:r>
              <a:rPr sz="1300" b="0" i="0">
                <a:solidFill>
                  <a:srgbClr val="A7B2B0"/>
                </a:solidFill>
                <a:latin typeface="Segoe UI"/>
              </a:rPr>
              <a:t>Cinco pruebas en RequestRefusalIsNotFatalTests.</a:t>
            </a:r>
          </a:p>
        </p:txBody>
      </p:sp>
      <p:cxnSp>
        <p:nvCxnSpPr>
          <p:cNvPr id="24" name="Connector 23"/>
          <p:cNvCxnSpPr/>
          <p:nvPr/>
        </p:nvCxnSpPr>
        <p:spPr>
          <a:xfrm>
            <a:off x="566928" y="6373368"/>
            <a:ext cx="11057839" cy="0"/>
          </a:xfrm>
          <a:prstGeom prst="line">
            <a:avLst/>
          </a:prstGeom>
          <a:ln w="7620">
            <a:solidFill>
              <a:srgbClr val="2A3A40"/>
            </a:solidFill>
          </a:ln>
        </p:spPr>
        <p:style>
          <a:lnRef idx="2">
            <a:schemeClr val="accent1"/>
          </a:lnRef>
          <a:fillRef idx="0">
            <a:schemeClr val="accent1"/>
          </a:fillRef>
          <a:effectRef idx="1">
            <a:schemeClr val="accent1"/>
          </a:effectRef>
          <a:fontRef idx="minor">
            <a:schemeClr val="tx1"/>
          </a:fontRef>
        </p:style>
      </p:cxnSp>
      <p:sp>
        <p:nvSpPr>
          <p:cNvPr id="25" name="TextBox 24"/>
          <p:cNvSpPr txBox="1"/>
          <p:nvPr/>
        </p:nvSpPr>
        <p:spPr>
          <a:xfrm>
            <a:off x="566928" y="6419088"/>
            <a:ext cx="6858000" cy="274320"/>
          </a:xfrm>
          <a:prstGeom prst="rect">
            <a:avLst/>
          </a:prstGeom>
          <a:noFill/>
        </p:spPr>
        <p:txBody>
          <a:bodyPr wrap="square" lIns="45720" rIns="45720" tIns="27432" bIns="27432" anchor="t">
            <a:noAutofit/>
          </a:bodyPr>
          <a:lstStyle/>
          <a:p>
            <a:pPr algn="l">
              <a:lnSpc>
                <a:spcPct val="100000"/>
              </a:lnSpc>
            </a:pPr>
            <a:r>
              <a:rPr sz="850" b="0" i="0" spc="120">
                <a:solidFill>
                  <a:srgbClr val="A7B2B0"/>
                </a:solidFill>
                <a:latin typeface="Segoe UI Semibold"/>
              </a:rPr>
              <a:t>TLAMATINI  ·  VIII · RELEASE ACTUAL</a:t>
            </a:r>
          </a:p>
        </p:txBody>
      </p:sp>
      <p:sp>
        <p:nvSpPr>
          <p:cNvPr id="26" name="TextBox 25"/>
          <p:cNvSpPr txBox="1"/>
          <p:nvPr/>
        </p:nvSpPr>
        <p:spPr>
          <a:xfrm>
            <a:off x="8698687" y="6419088"/>
            <a:ext cx="2926080" cy="274320"/>
          </a:xfrm>
          <a:prstGeom prst="rect">
            <a:avLst/>
          </a:prstGeom>
          <a:noFill/>
        </p:spPr>
        <p:txBody>
          <a:bodyPr wrap="square" lIns="45720" rIns="45720" tIns="27432" bIns="27432" anchor="t">
            <a:noAutofit/>
          </a:bodyPr>
          <a:lstStyle/>
          <a:p>
            <a:pPr algn="r">
              <a:lnSpc>
                <a:spcPct val="100000"/>
              </a:lnSpc>
            </a:pPr>
            <a:r>
              <a:rPr sz="850" b="0" i="0" spc="100">
                <a:solidFill>
                  <a:srgbClr val="A7B2B0"/>
                </a:solidFill>
                <a:latin typeface="Segoe UI Semibold"/>
              </a:rPr>
              <a:t>v1.91.1   ·   139</a:t>
            </a:r>
          </a:p>
        </p:txBody>
      </p:sp>
    </p:spTree>
  </p:cSld>
  <p:clrMapOvr>
    <a:masterClrMapping/>
  </p:clrMapOvr>
</p:sld>
</file>

<file path=ppt/slides/slide1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content.png"/>
          <p:cNvPicPr>
            <a:picLocks noChangeAspect="1"/>
          </p:cNvPicPr>
          <p:nvPr/>
        </p:nvPicPr>
        <p:blipFill>
          <a:blip r:embed="rId2"/>
          <a:stretch>
            <a:fillRect/>
          </a:stretch>
        </p:blipFill>
        <p:spPr>
          <a:xfrm>
            <a:off x="0" y="0"/>
            <a:ext cx="12191695" cy="6858000"/>
          </a:xfrm>
          <a:prstGeom prst="rect">
            <a:avLst/>
          </a:prstGeom>
        </p:spPr>
      </p:pic>
      <p:sp>
        <p:nvSpPr>
          <p:cNvPr id="3" name="Diamond 2"/>
          <p:cNvSpPr/>
          <p:nvPr/>
        </p:nvSpPr>
        <p:spPr>
          <a:xfrm>
            <a:off x="566928" y="457200"/>
            <a:ext cx="100584" cy="100584"/>
          </a:xfrm>
          <a:prstGeom prst="diamond">
            <a:avLst/>
          </a:prstGeom>
          <a:solidFill>
            <a:srgbClr val="E2B4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49808" y="365760"/>
            <a:ext cx="8229600" cy="292608"/>
          </a:xfrm>
          <a:prstGeom prst="rect">
            <a:avLst/>
          </a:prstGeom>
          <a:noFill/>
        </p:spPr>
        <p:txBody>
          <a:bodyPr wrap="square" lIns="45720" rIns="45720" tIns="27432" bIns="27432" anchor="t">
            <a:noAutofit/>
          </a:bodyPr>
          <a:lstStyle/>
          <a:p>
            <a:pPr algn="l">
              <a:lnSpc>
                <a:spcPct val="100000"/>
              </a:lnSpc>
            </a:pPr>
            <a:r>
              <a:rPr sz="1100" b="0" i="0" spc="240">
                <a:solidFill>
                  <a:srgbClr val="C98457"/>
                </a:solidFill>
                <a:latin typeface="Segoe UI Semibold"/>
              </a:rPr>
              <a:t>HEREDADO DE v1.82.0</a:t>
            </a:r>
          </a:p>
        </p:txBody>
      </p:sp>
      <p:sp>
        <p:nvSpPr>
          <p:cNvPr id="5" name="TextBox 4"/>
          <p:cNvSpPr txBox="1"/>
          <p:nvPr/>
        </p:nvSpPr>
        <p:spPr>
          <a:xfrm>
            <a:off x="539496" y="676656"/>
            <a:ext cx="11057839" cy="658368"/>
          </a:xfrm>
          <a:prstGeom prst="rect">
            <a:avLst/>
          </a:prstGeom>
          <a:noFill/>
        </p:spPr>
        <p:txBody>
          <a:bodyPr wrap="square" lIns="45720" rIns="45720" tIns="27432" bIns="27432" anchor="t">
            <a:noAutofit/>
          </a:bodyPr>
          <a:lstStyle/>
          <a:p>
            <a:pPr algn="l">
              <a:lnSpc>
                <a:spcPct val="100000"/>
              </a:lnSpc>
            </a:pPr>
            <a:r>
              <a:rPr sz="3100" b="0" i="0">
                <a:solidFill>
                  <a:srgbClr val="F7F2E8"/>
                </a:solidFill>
                <a:latin typeface="Palatino Linotype"/>
              </a:rPr>
              <a:t>Instalar y quitar con vuelta atrás</a:t>
            </a:r>
          </a:p>
        </p:txBody>
      </p:sp>
      <p:sp>
        <p:nvSpPr>
          <p:cNvPr id="6" name="Rectangle 5"/>
          <p:cNvSpPr/>
          <p:nvPr/>
        </p:nvSpPr>
        <p:spPr>
          <a:xfrm>
            <a:off x="566928" y="1344168"/>
            <a:ext cx="822960" cy="36576"/>
          </a:xfrm>
          <a:prstGeom prst="rect">
            <a:avLst/>
          </a:prstGeom>
          <a:solidFill>
            <a:srgbClr val="E2B4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566928" y="1444752"/>
            <a:ext cx="10692079" cy="585216"/>
          </a:xfrm>
          <a:prstGeom prst="rect">
            <a:avLst/>
          </a:prstGeom>
          <a:noFill/>
        </p:spPr>
        <p:txBody>
          <a:bodyPr wrap="square" lIns="45720" rIns="45720" tIns="27432" bIns="27432" anchor="t">
            <a:noAutofit/>
          </a:bodyPr>
          <a:lstStyle/>
          <a:p>
            <a:pPr algn="l">
              <a:lnSpc>
                <a:spcPct val="100000"/>
              </a:lnSpc>
            </a:pPr>
            <a:r>
              <a:rPr sz="1450" b="0" i="0">
                <a:solidFill>
                  <a:srgbClr val="A7B2B0"/>
                </a:solidFill>
                <a:latin typeface="Segoe UI Semilight"/>
              </a:rPr>
              <a:t>Con tag y publicado el 12 de octubre: ventanas de instalación nuevas, y Markdown que se abre como página.</a:t>
            </a:r>
          </a:p>
        </p:txBody>
      </p:sp>
      <p:sp>
        <p:nvSpPr>
          <p:cNvPr id="8" name="Rounded Rectangle 7"/>
          <p:cNvSpPr/>
          <p:nvPr/>
        </p:nvSpPr>
        <p:spPr>
          <a:xfrm>
            <a:off x="566928" y="2084831"/>
            <a:ext cx="3551834" cy="1956816"/>
          </a:xfrm>
          <a:prstGeom prst="roundRect">
            <a:avLst>
              <a:gd name="adj" fmla="val 5607"/>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ectangle 8"/>
          <p:cNvSpPr/>
          <p:nvPr/>
        </p:nvSpPr>
        <p:spPr>
          <a:xfrm>
            <a:off x="731520" y="2212848"/>
            <a:ext cx="502920" cy="45720"/>
          </a:xfrm>
          <a:prstGeom prst="rect">
            <a:avLst/>
          </a:prstGeom>
          <a:solidFill>
            <a:srgbClr val="3BBE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694944" y="2304287"/>
            <a:ext cx="3295802" cy="353568"/>
          </a:xfrm>
          <a:prstGeom prst="rect">
            <a:avLst/>
          </a:prstGeom>
          <a:noFill/>
        </p:spPr>
        <p:txBody>
          <a:bodyPr wrap="square" lIns="45720" rIns="45720" tIns="27432" bIns="27432" anchor="t">
            <a:noAutofit/>
          </a:bodyPr>
          <a:lstStyle/>
          <a:p>
            <a:pPr algn="l">
              <a:lnSpc>
                <a:spcPct val="100000"/>
              </a:lnSpc>
            </a:pPr>
            <a:r>
              <a:rPr sz="1600" b="0" i="0">
                <a:solidFill>
                  <a:srgbClr val="F7F2E8"/>
                </a:solidFill>
                <a:latin typeface="Segoe UI Semibold"/>
              </a:rPr>
              <a:t>Ventanas de instalación</a:t>
            </a:r>
          </a:p>
        </p:txBody>
      </p:sp>
      <p:sp>
        <p:nvSpPr>
          <p:cNvPr id="11" name="TextBox 10"/>
          <p:cNvSpPr txBox="1"/>
          <p:nvPr/>
        </p:nvSpPr>
        <p:spPr>
          <a:xfrm>
            <a:off x="694944" y="2657855"/>
            <a:ext cx="3295802" cy="1292352"/>
          </a:xfrm>
          <a:prstGeom prst="rect">
            <a:avLst/>
          </a:prstGeom>
          <a:noFill/>
        </p:spPr>
        <p:txBody>
          <a:bodyPr wrap="square" lIns="45720" rIns="45720" tIns="27432" bIns="27432" anchor="t">
            <a:noAutofit/>
          </a:bodyPr>
          <a:lstStyle/>
          <a:p>
            <a:pPr algn="l">
              <a:lnSpc>
                <a:spcPct val="100000"/>
              </a:lnSpc>
            </a:pPr>
            <a:r>
              <a:rPr sz="1300" b="0" i="0">
                <a:solidFill>
                  <a:srgbClr val="A7B2B0"/>
                </a:solidFill>
                <a:latin typeface="Segoe UI"/>
              </a:rPr>
              <a:t>Una ventana recuperable para instalar y quitar.</a:t>
            </a:r>
          </a:p>
        </p:txBody>
      </p:sp>
      <p:sp>
        <p:nvSpPr>
          <p:cNvPr id="12" name="Rounded Rectangle 11"/>
          <p:cNvSpPr/>
          <p:nvPr/>
        </p:nvSpPr>
        <p:spPr>
          <a:xfrm>
            <a:off x="4319930" y="2084831"/>
            <a:ext cx="3551834" cy="1956816"/>
          </a:xfrm>
          <a:prstGeom prst="roundRect">
            <a:avLst>
              <a:gd name="adj" fmla="val 5607"/>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4484522" y="2212848"/>
            <a:ext cx="502920" cy="45720"/>
          </a:xfrm>
          <a:prstGeom prst="rect">
            <a:avLst/>
          </a:prstGeom>
          <a:solidFill>
            <a:srgbClr val="C984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4447946" y="2304287"/>
            <a:ext cx="3295802" cy="353568"/>
          </a:xfrm>
          <a:prstGeom prst="rect">
            <a:avLst/>
          </a:prstGeom>
          <a:noFill/>
        </p:spPr>
        <p:txBody>
          <a:bodyPr wrap="square" lIns="45720" rIns="45720" tIns="27432" bIns="27432" anchor="t">
            <a:noAutofit/>
          </a:bodyPr>
          <a:lstStyle/>
          <a:p>
            <a:pPr algn="l">
              <a:lnSpc>
                <a:spcPct val="100000"/>
              </a:lnSpc>
            </a:pPr>
            <a:r>
              <a:rPr sz="1600" b="0" i="0">
                <a:solidFill>
                  <a:srgbClr val="F7F2E8"/>
                </a:solidFill>
                <a:latin typeface="Segoe UI Semibold"/>
              </a:rPr>
              <a:t>Markdown</a:t>
            </a:r>
          </a:p>
        </p:txBody>
      </p:sp>
      <p:sp>
        <p:nvSpPr>
          <p:cNvPr id="15" name="TextBox 14"/>
          <p:cNvSpPr txBox="1"/>
          <p:nvPr/>
        </p:nvSpPr>
        <p:spPr>
          <a:xfrm>
            <a:off x="4447946" y="2657855"/>
            <a:ext cx="3295802" cy="1292352"/>
          </a:xfrm>
          <a:prstGeom prst="rect">
            <a:avLst/>
          </a:prstGeom>
          <a:noFill/>
        </p:spPr>
        <p:txBody>
          <a:bodyPr wrap="square" lIns="45720" rIns="45720" tIns="27432" bIns="27432" anchor="t">
            <a:noAutofit/>
          </a:bodyPr>
          <a:lstStyle/>
          <a:p>
            <a:pPr algn="l">
              <a:lnSpc>
                <a:spcPct val="100000"/>
              </a:lnSpc>
            </a:pPr>
            <a:r>
              <a:rPr sz="1300" b="0" i="0">
                <a:solidFill>
                  <a:srgbClr val="A7B2B0"/>
                </a:solidFill>
                <a:latin typeface="Segoe UI"/>
              </a:rPr>
              <a:t>Vista previa renderizada, Source original, sanitizador sin conexión.</a:t>
            </a:r>
          </a:p>
        </p:txBody>
      </p:sp>
      <p:sp>
        <p:nvSpPr>
          <p:cNvPr id="16" name="Rounded Rectangle 15"/>
          <p:cNvSpPr/>
          <p:nvPr/>
        </p:nvSpPr>
        <p:spPr>
          <a:xfrm>
            <a:off x="8072932" y="2084831"/>
            <a:ext cx="3551834" cy="1956816"/>
          </a:xfrm>
          <a:prstGeom prst="roundRect">
            <a:avLst>
              <a:gd name="adj" fmla="val 5607"/>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8237524" y="2212848"/>
            <a:ext cx="502920" cy="45720"/>
          </a:xfrm>
          <a:prstGeom prst="rect">
            <a:avLst/>
          </a:prstGeom>
          <a:solidFill>
            <a:srgbClr val="E2B4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200948" y="2304287"/>
            <a:ext cx="3295802" cy="353568"/>
          </a:xfrm>
          <a:prstGeom prst="rect">
            <a:avLst/>
          </a:prstGeom>
          <a:noFill/>
        </p:spPr>
        <p:txBody>
          <a:bodyPr wrap="square" lIns="45720" rIns="45720" tIns="27432" bIns="27432" anchor="t">
            <a:noAutofit/>
          </a:bodyPr>
          <a:lstStyle/>
          <a:p>
            <a:pPr algn="l">
              <a:lnSpc>
                <a:spcPct val="100000"/>
              </a:lnSpc>
            </a:pPr>
            <a:r>
              <a:rPr sz="1600" b="0" i="0">
                <a:solidFill>
                  <a:srgbClr val="F7F2E8"/>
                </a:solidFill>
                <a:latin typeface="Segoe UI Semibold"/>
              </a:rPr>
              <a:t>Publicado</a:t>
            </a:r>
          </a:p>
        </p:txBody>
      </p:sp>
      <p:sp>
        <p:nvSpPr>
          <p:cNvPr id="19" name="TextBox 18"/>
          <p:cNvSpPr txBox="1"/>
          <p:nvPr/>
        </p:nvSpPr>
        <p:spPr>
          <a:xfrm>
            <a:off x="8200948" y="2657855"/>
            <a:ext cx="3295802" cy="1292352"/>
          </a:xfrm>
          <a:prstGeom prst="rect">
            <a:avLst/>
          </a:prstGeom>
          <a:noFill/>
        </p:spPr>
        <p:txBody>
          <a:bodyPr wrap="square" lIns="45720" rIns="45720" tIns="27432" bIns="27432" anchor="t">
            <a:noAutofit/>
          </a:bodyPr>
          <a:lstStyle/>
          <a:p>
            <a:pPr algn="l">
              <a:lnSpc>
                <a:spcPct val="100000"/>
              </a:lnSpc>
            </a:pPr>
            <a:r>
              <a:rPr sz="1300" b="0" i="0">
                <a:solidFill>
                  <a:srgbClr val="A7B2B0"/>
                </a:solidFill>
                <a:latin typeface="Segoe UI"/>
              </a:rPr>
              <a:t>12 de octubre; el release más reciente hasta v1.83.0.</a:t>
            </a:r>
          </a:p>
        </p:txBody>
      </p:sp>
      <p:sp>
        <p:nvSpPr>
          <p:cNvPr id="20" name="Rounded Rectangle 19"/>
          <p:cNvSpPr/>
          <p:nvPr/>
        </p:nvSpPr>
        <p:spPr>
          <a:xfrm>
            <a:off x="566928" y="4242816"/>
            <a:ext cx="3551834" cy="1956816"/>
          </a:xfrm>
          <a:prstGeom prst="roundRect">
            <a:avLst>
              <a:gd name="adj" fmla="val 5607"/>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ectangle 20"/>
          <p:cNvSpPr/>
          <p:nvPr/>
        </p:nvSpPr>
        <p:spPr>
          <a:xfrm>
            <a:off x="731520" y="4370832"/>
            <a:ext cx="502920" cy="45720"/>
          </a:xfrm>
          <a:prstGeom prst="rect">
            <a:avLst/>
          </a:prstGeom>
          <a:solidFill>
            <a:srgbClr val="46D2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694944" y="4462272"/>
            <a:ext cx="3295802" cy="353568"/>
          </a:xfrm>
          <a:prstGeom prst="rect">
            <a:avLst/>
          </a:prstGeom>
          <a:noFill/>
        </p:spPr>
        <p:txBody>
          <a:bodyPr wrap="square" lIns="45720" rIns="45720" tIns="27432" bIns="27432" anchor="t">
            <a:noAutofit/>
          </a:bodyPr>
          <a:lstStyle/>
          <a:p>
            <a:pPr algn="l">
              <a:lnSpc>
                <a:spcPct val="100000"/>
              </a:lnSpc>
            </a:pPr>
            <a:r>
              <a:rPr sz="1600" b="0" i="0">
                <a:solidFill>
                  <a:srgbClr val="F7F2E8"/>
                </a:solidFill>
                <a:latin typeface="Segoe UI Semibold"/>
              </a:rPr>
              <a:t>Sin v1.81.0</a:t>
            </a:r>
          </a:p>
        </p:txBody>
      </p:sp>
      <p:sp>
        <p:nvSpPr>
          <p:cNvPr id="23" name="TextBox 22"/>
          <p:cNvSpPr txBox="1"/>
          <p:nvPr/>
        </p:nvSpPr>
        <p:spPr>
          <a:xfrm>
            <a:off x="694944" y="4815840"/>
            <a:ext cx="3295802" cy="1292352"/>
          </a:xfrm>
          <a:prstGeom prst="rect">
            <a:avLst/>
          </a:prstGeom>
          <a:noFill/>
        </p:spPr>
        <p:txBody>
          <a:bodyPr wrap="square" lIns="45720" rIns="45720" tIns="27432" bIns="27432" anchor="t">
            <a:noAutofit/>
          </a:bodyPr>
          <a:lstStyle/>
          <a:p>
            <a:pPr algn="l">
              <a:lnSpc>
                <a:spcPct val="100000"/>
              </a:lnSpc>
            </a:pPr>
            <a:r>
              <a:rPr sz="1300" b="0" i="0">
                <a:solidFill>
                  <a:srgbClr val="A7B2B0"/>
                </a:solidFill>
                <a:latin typeface="Segoe UI"/>
              </a:rPr>
              <a:t>Ese número se saltó; v1.80.0 y v1.79.0 vienen antes.</a:t>
            </a:r>
          </a:p>
        </p:txBody>
      </p:sp>
      <p:sp>
        <p:nvSpPr>
          <p:cNvPr id="24" name="Rounded Rectangle 23"/>
          <p:cNvSpPr/>
          <p:nvPr/>
        </p:nvSpPr>
        <p:spPr>
          <a:xfrm>
            <a:off x="4319930" y="4242816"/>
            <a:ext cx="3551834" cy="1956816"/>
          </a:xfrm>
          <a:prstGeom prst="roundRect">
            <a:avLst>
              <a:gd name="adj" fmla="val 5607"/>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ectangle 24"/>
          <p:cNvSpPr/>
          <p:nvPr/>
        </p:nvSpPr>
        <p:spPr>
          <a:xfrm>
            <a:off x="4484522" y="4370832"/>
            <a:ext cx="502920" cy="45720"/>
          </a:xfrm>
          <a:prstGeom prst="rect">
            <a:avLst/>
          </a:prstGeom>
          <a:solidFill>
            <a:srgbClr val="D25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4447946" y="4462272"/>
            <a:ext cx="3295802" cy="353568"/>
          </a:xfrm>
          <a:prstGeom prst="rect">
            <a:avLst/>
          </a:prstGeom>
          <a:noFill/>
        </p:spPr>
        <p:txBody>
          <a:bodyPr wrap="square" lIns="45720" rIns="45720" tIns="27432" bIns="27432" anchor="t">
            <a:noAutofit/>
          </a:bodyPr>
          <a:lstStyle/>
          <a:p>
            <a:pPr algn="l">
              <a:lnSpc>
                <a:spcPct val="100000"/>
              </a:lnSpc>
            </a:pPr>
            <a:r>
              <a:rPr sz="1600" b="0" i="0">
                <a:solidFill>
                  <a:srgbClr val="F7F2E8"/>
                </a:solidFill>
                <a:latin typeface="Segoe UI Semibold"/>
              </a:rPr>
              <a:t>Campaña</a:t>
            </a:r>
          </a:p>
        </p:txBody>
      </p:sp>
      <p:sp>
        <p:nvSpPr>
          <p:cNvPr id="27" name="TextBox 26"/>
          <p:cNvSpPr txBox="1"/>
          <p:nvPr/>
        </p:nvSpPr>
        <p:spPr>
          <a:xfrm>
            <a:off x="4447946" y="4815840"/>
            <a:ext cx="3295802" cy="1292352"/>
          </a:xfrm>
          <a:prstGeom prst="rect">
            <a:avLst/>
          </a:prstGeom>
          <a:noFill/>
        </p:spPr>
        <p:txBody>
          <a:bodyPr wrap="square" lIns="45720" rIns="45720" tIns="27432" bIns="27432" anchor="t">
            <a:noAutofit/>
          </a:bodyPr>
          <a:lstStyle/>
          <a:p>
            <a:pPr algn="l">
              <a:lnSpc>
                <a:spcPct val="100000"/>
              </a:lnSpc>
            </a:pPr>
            <a:r>
              <a:rPr sz="1300" b="0" i="0">
                <a:solidFill>
                  <a:srgbClr val="A7B2B0"/>
                </a:solidFill>
                <a:latin typeface="Segoe UI"/>
              </a:rPr>
              <a:t>Pasaron cinco instalaciones y cuatro eliminaciones; una eliminación se detuvo de forma segura.</a:t>
            </a:r>
          </a:p>
        </p:txBody>
      </p:sp>
      <p:sp>
        <p:nvSpPr>
          <p:cNvPr id="28" name="Rounded Rectangle 27"/>
          <p:cNvSpPr/>
          <p:nvPr/>
        </p:nvSpPr>
        <p:spPr>
          <a:xfrm>
            <a:off x="8072932" y="4242816"/>
            <a:ext cx="3551834" cy="1956816"/>
          </a:xfrm>
          <a:prstGeom prst="roundRect">
            <a:avLst>
              <a:gd name="adj" fmla="val 5607"/>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Rectangle 28"/>
          <p:cNvSpPr/>
          <p:nvPr/>
        </p:nvSpPr>
        <p:spPr>
          <a:xfrm>
            <a:off x="8237524" y="4370832"/>
            <a:ext cx="502920" cy="45720"/>
          </a:xfrm>
          <a:prstGeom prst="rect">
            <a:avLst/>
          </a:prstGeom>
          <a:solidFill>
            <a:srgbClr val="D957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8200948" y="4462272"/>
            <a:ext cx="3295802" cy="353568"/>
          </a:xfrm>
          <a:prstGeom prst="rect">
            <a:avLst/>
          </a:prstGeom>
          <a:noFill/>
        </p:spPr>
        <p:txBody>
          <a:bodyPr wrap="square" lIns="45720" rIns="45720" tIns="27432" bIns="27432" anchor="t">
            <a:noAutofit/>
          </a:bodyPr>
          <a:lstStyle/>
          <a:p>
            <a:pPr algn="l">
              <a:lnSpc>
                <a:spcPct val="100000"/>
              </a:lnSpc>
            </a:pPr>
            <a:r>
              <a:rPr sz="1600" b="0" i="0">
                <a:solidFill>
                  <a:srgbClr val="F7F2E8"/>
                </a:solidFill>
                <a:latin typeface="Segoe UI Semibold"/>
              </a:rPr>
              <a:t>Seguido de</a:t>
            </a:r>
          </a:p>
        </p:txBody>
      </p:sp>
      <p:sp>
        <p:nvSpPr>
          <p:cNvPr id="31" name="TextBox 30"/>
          <p:cNvSpPr txBox="1"/>
          <p:nvPr/>
        </p:nvSpPr>
        <p:spPr>
          <a:xfrm>
            <a:off x="8200948" y="4815840"/>
            <a:ext cx="3295802" cy="1292352"/>
          </a:xfrm>
          <a:prstGeom prst="rect">
            <a:avLst/>
          </a:prstGeom>
          <a:noFill/>
        </p:spPr>
        <p:txBody>
          <a:bodyPr wrap="square" lIns="45720" rIns="45720" tIns="27432" bIns="27432" anchor="t">
            <a:noAutofit/>
          </a:bodyPr>
          <a:lstStyle/>
          <a:p>
            <a:pPr algn="l">
              <a:lnSpc>
                <a:spcPct val="100000"/>
              </a:lnSpc>
            </a:pPr>
            <a:r>
              <a:rPr sz="1300" b="0" i="0">
                <a:solidFill>
                  <a:srgbClr val="A7B2B0"/>
                </a:solidFill>
                <a:latin typeface="Segoe UI"/>
              </a:rPr>
              <a:t>v1.83.0, del 14 de octubre, lleva los tres cambios posteriores.</a:t>
            </a:r>
          </a:p>
        </p:txBody>
      </p:sp>
      <p:cxnSp>
        <p:nvCxnSpPr>
          <p:cNvPr id="32" name="Connector 31"/>
          <p:cNvCxnSpPr/>
          <p:nvPr/>
        </p:nvCxnSpPr>
        <p:spPr>
          <a:xfrm>
            <a:off x="566928" y="6373368"/>
            <a:ext cx="11057839" cy="0"/>
          </a:xfrm>
          <a:prstGeom prst="line">
            <a:avLst/>
          </a:prstGeom>
          <a:ln w="7620">
            <a:solidFill>
              <a:srgbClr val="2A3A40"/>
            </a:solidFill>
          </a:ln>
        </p:spPr>
        <p:style>
          <a:lnRef idx="2">
            <a:schemeClr val="accent1"/>
          </a:lnRef>
          <a:fillRef idx="0">
            <a:schemeClr val="accent1"/>
          </a:fillRef>
          <a:effectRef idx="1">
            <a:schemeClr val="accent1"/>
          </a:effectRef>
          <a:fontRef idx="minor">
            <a:schemeClr val="tx1"/>
          </a:fontRef>
        </p:style>
      </p:cxnSp>
      <p:sp>
        <p:nvSpPr>
          <p:cNvPr id="33" name="TextBox 32"/>
          <p:cNvSpPr txBox="1"/>
          <p:nvPr/>
        </p:nvSpPr>
        <p:spPr>
          <a:xfrm>
            <a:off x="566928" y="6419088"/>
            <a:ext cx="6858000" cy="274320"/>
          </a:xfrm>
          <a:prstGeom prst="rect">
            <a:avLst/>
          </a:prstGeom>
          <a:noFill/>
        </p:spPr>
        <p:txBody>
          <a:bodyPr wrap="square" lIns="45720" rIns="45720" tIns="27432" bIns="27432" anchor="t">
            <a:noAutofit/>
          </a:bodyPr>
          <a:lstStyle/>
          <a:p>
            <a:pPr algn="l">
              <a:lnSpc>
                <a:spcPct val="100000"/>
              </a:lnSpc>
            </a:pPr>
            <a:r>
              <a:rPr sz="850" b="0" i="0" spc="120">
                <a:solidFill>
                  <a:srgbClr val="A7B2B0"/>
                </a:solidFill>
                <a:latin typeface="Segoe UI Semibold"/>
              </a:rPr>
              <a:t>TLAMATINI  ·  VIII · RELEASE ACTUAL</a:t>
            </a:r>
          </a:p>
        </p:txBody>
      </p:sp>
      <p:sp>
        <p:nvSpPr>
          <p:cNvPr id="34" name="TextBox 33"/>
          <p:cNvSpPr txBox="1"/>
          <p:nvPr/>
        </p:nvSpPr>
        <p:spPr>
          <a:xfrm>
            <a:off x="8698687" y="6419088"/>
            <a:ext cx="2926080" cy="274320"/>
          </a:xfrm>
          <a:prstGeom prst="rect">
            <a:avLst/>
          </a:prstGeom>
          <a:noFill/>
        </p:spPr>
        <p:txBody>
          <a:bodyPr wrap="square" lIns="45720" rIns="45720" tIns="27432" bIns="27432" anchor="t">
            <a:noAutofit/>
          </a:bodyPr>
          <a:lstStyle/>
          <a:p>
            <a:pPr algn="r">
              <a:lnSpc>
                <a:spcPct val="100000"/>
              </a:lnSpc>
            </a:pPr>
            <a:r>
              <a:rPr sz="850" b="0" i="0" spc="100">
                <a:solidFill>
                  <a:srgbClr val="A7B2B0"/>
                </a:solidFill>
                <a:latin typeface="Segoe UI Semibold"/>
              </a:rPr>
              <a:t>v1.91.1   ·   140</a:t>
            </a:r>
          </a:p>
        </p:txBody>
      </p:sp>
    </p:spTree>
  </p:cSld>
  <p:clrMapOvr>
    <a:masterClrMapping/>
  </p:clrMapOvr>
</p:sld>
</file>

<file path=ppt/slides/slide1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content.png"/>
          <p:cNvPicPr>
            <a:picLocks noChangeAspect="1"/>
          </p:cNvPicPr>
          <p:nvPr/>
        </p:nvPicPr>
        <p:blipFill>
          <a:blip r:embed="rId2"/>
          <a:stretch>
            <a:fillRect/>
          </a:stretch>
        </p:blipFill>
        <p:spPr>
          <a:xfrm>
            <a:off x="0" y="0"/>
            <a:ext cx="12191695" cy="6858000"/>
          </a:xfrm>
          <a:prstGeom prst="rect">
            <a:avLst/>
          </a:prstGeom>
        </p:spPr>
      </p:pic>
      <p:sp>
        <p:nvSpPr>
          <p:cNvPr id="3" name="Diamond 2"/>
          <p:cNvSpPr/>
          <p:nvPr/>
        </p:nvSpPr>
        <p:spPr>
          <a:xfrm>
            <a:off x="566928" y="457200"/>
            <a:ext cx="100584" cy="100584"/>
          </a:xfrm>
          <a:prstGeom prst="diamond">
            <a:avLst/>
          </a:prstGeom>
          <a:solidFill>
            <a:srgbClr val="E2B4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49808" y="365760"/>
            <a:ext cx="8229600" cy="292608"/>
          </a:xfrm>
          <a:prstGeom prst="rect">
            <a:avLst/>
          </a:prstGeom>
          <a:noFill/>
        </p:spPr>
        <p:txBody>
          <a:bodyPr wrap="square" lIns="45720" rIns="45720" tIns="27432" bIns="27432" anchor="t">
            <a:noAutofit/>
          </a:bodyPr>
          <a:lstStyle/>
          <a:p>
            <a:pPr algn="l">
              <a:lnSpc>
                <a:spcPct val="100000"/>
              </a:lnSpc>
            </a:pPr>
            <a:r>
              <a:rPr sz="1100" b="0" i="0" spc="240">
                <a:solidFill>
                  <a:srgbClr val="C98457"/>
                </a:solidFill>
                <a:latin typeface="Segoe UI Semibold"/>
              </a:rPr>
              <a:t>HEREDADO DE v1.80.0</a:t>
            </a:r>
          </a:p>
        </p:txBody>
      </p:sp>
      <p:sp>
        <p:nvSpPr>
          <p:cNvPr id="5" name="TextBox 4"/>
          <p:cNvSpPr txBox="1"/>
          <p:nvPr/>
        </p:nvSpPr>
        <p:spPr>
          <a:xfrm>
            <a:off x="539496" y="676656"/>
            <a:ext cx="11057839" cy="658368"/>
          </a:xfrm>
          <a:prstGeom prst="rect">
            <a:avLst/>
          </a:prstGeom>
          <a:noFill/>
        </p:spPr>
        <p:txBody>
          <a:bodyPr wrap="square" lIns="45720" rIns="45720" tIns="27432" bIns="27432" anchor="t">
            <a:noAutofit/>
          </a:bodyPr>
          <a:lstStyle/>
          <a:p>
            <a:pPr algn="l">
              <a:lnSpc>
                <a:spcPct val="100000"/>
              </a:lnSpc>
            </a:pPr>
            <a:r>
              <a:rPr sz="3100" b="0" i="0">
                <a:solidFill>
                  <a:srgbClr val="F7F2E8"/>
                </a:solidFill>
                <a:latin typeface="Palatino Linotype"/>
              </a:rPr>
              <a:t>Un aspecto y una forma de arrastrar</a:t>
            </a:r>
          </a:p>
        </p:txBody>
      </p:sp>
      <p:sp>
        <p:nvSpPr>
          <p:cNvPr id="6" name="Rectangle 5"/>
          <p:cNvSpPr/>
          <p:nvPr/>
        </p:nvSpPr>
        <p:spPr>
          <a:xfrm>
            <a:off x="566928" y="1344168"/>
            <a:ext cx="822960" cy="36576"/>
          </a:xfrm>
          <a:prstGeom prst="rect">
            <a:avLst/>
          </a:prstGeom>
          <a:solidFill>
            <a:srgbClr val="E2B4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566928" y="1444752"/>
            <a:ext cx="10692079" cy="585216"/>
          </a:xfrm>
          <a:prstGeom prst="rect">
            <a:avLst/>
          </a:prstGeom>
          <a:noFill/>
        </p:spPr>
        <p:txBody>
          <a:bodyPr wrap="square" lIns="45720" rIns="45720" tIns="27432" bIns="27432" anchor="t">
            <a:noAutofit/>
          </a:bodyPr>
          <a:lstStyle/>
          <a:p>
            <a:pPr algn="l">
              <a:lnSpc>
                <a:spcPct val="100000"/>
              </a:lnSpc>
            </a:pPr>
            <a:r>
              <a:rPr sz="1450" b="0" i="0">
                <a:solidFill>
                  <a:srgbClr val="A7B2B0"/>
                </a:solidFill>
                <a:latin typeface="Segoe UI Semilight"/>
              </a:rPr>
              <a:t>Con tag del 11 de octubre sin release propio; llega a los usuarios por medio de v1.82.0 y v1.83.0.</a:t>
            </a:r>
          </a:p>
        </p:txBody>
      </p:sp>
      <p:sp>
        <p:nvSpPr>
          <p:cNvPr id="8" name="Rounded Rectangle 7"/>
          <p:cNvSpPr/>
          <p:nvPr/>
        </p:nvSpPr>
        <p:spPr>
          <a:xfrm>
            <a:off x="566928" y="2084831"/>
            <a:ext cx="3551834" cy="1956816"/>
          </a:xfrm>
          <a:prstGeom prst="roundRect">
            <a:avLst>
              <a:gd name="adj" fmla="val 5607"/>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ectangle 8"/>
          <p:cNvSpPr/>
          <p:nvPr/>
        </p:nvSpPr>
        <p:spPr>
          <a:xfrm>
            <a:off x="731520" y="2212848"/>
            <a:ext cx="502920" cy="45720"/>
          </a:xfrm>
          <a:prstGeom prst="rect">
            <a:avLst/>
          </a:prstGeom>
          <a:solidFill>
            <a:srgbClr val="3BBE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694944" y="2304287"/>
            <a:ext cx="3295802" cy="353568"/>
          </a:xfrm>
          <a:prstGeom prst="rect">
            <a:avLst/>
          </a:prstGeom>
          <a:noFill/>
        </p:spPr>
        <p:txBody>
          <a:bodyPr wrap="square" lIns="45720" rIns="45720" tIns="27432" bIns="27432" anchor="t">
            <a:noAutofit/>
          </a:bodyPr>
          <a:lstStyle/>
          <a:p>
            <a:pPr algn="l">
              <a:lnSpc>
                <a:spcPct val="100000"/>
              </a:lnSpc>
            </a:pPr>
            <a:r>
              <a:rPr sz="1600" b="0" i="0">
                <a:solidFill>
                  <a:srgbClr val="F7F2E8"/>
                </a:solidFill>
                <a:latin typeface="Segoe UI Semibold"/>
              </a:rPr>
              <a:t>Tag</a:t>
            </a:r>
          </a:p>
        </p:txBody>
      </p:sp>
      <p:sp>
        <p:nvSpPr>
          <p:cNvPr id="11" name="TextBox 10"/>
          <p:cNvSpPr txBox="1"/>
          <p:nvPr/>
        </p:nvSpPr>
        <p:spPr>
          <a:xfrm>
            <a:off x="694944" y="2657855"/>
            <a:ext cx="3295802" cy="1292352"/>
          </a:xfrm>
          <a:prstGeom prst="rect">
            <a:avLst/>
          </a:prstGeom>
          <a:noFill/>
        </p:spPr>
        <p:txBody>
          <a:bodyPr wrap="square" lIns="45720" rIns="45720" tIns="27432" bIns="27432" anchor="t">
            <a:noAutofit/>
          </a:bodyPr>
          <a:lstStyle/>
          <a:p>
            <a:pPr algn="l">
              <a:lnSpc>
                <a:spcPct val="100000"/>
              </a:lnSpc>
            </a:pPr>
            <a:r>
              <a:rPr sz="1300" b="0" i="0">
                <a:solidFill>
                  <a:srgbClr val="A7B2B0"/>
                </a:solidFill>
                <a:latin typeface="Segoe UI"/>
              </a:rPr>
              <a:t>v1.80.0 en 82099963, con push; sin release publicado.</a:t>
            </a:r>
          </a:p>
        </p:txBody>
      </p:sp>
      <p:sp>
        <p:nvSpPr>
          <p:cNvPr id="12" name="Rounded Rectangle 11"/>
          <p:cNvSpPr/>
          <p:nvPr/>
        </p:nvSpPr>
        <p:spPr>
          <a:xfrm>
            <a:off x="4319930" y="2084831"/>
            <a:ext cx="3551834" cy="1956816"/>
          </a:xfrm>
          <a:prstGeom prst="roundRect">
            <a:avLst>
              <a:gd name="adj" fmla="val 5607"/>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4484522" y="2212848"/>
            <a:ext cx="502920" cy="45720"/>
          </a:xfrm>
          <a:prstGeom prst="rect">
            <a:avLst/>
          </a:prstGeom>
          <a:solidFill>
            <a:srgbClr val="C984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4447946" y="2304287"/>
            <a:ext cx="3295802" cy="353568"/>
          </a:xfrm>
          <a:prstGeom prst="rect">
            <a:avLst/>
          </a:prstGeom>
          <a:noFill/>
        </p:spPr>
        <p:txBody>
          <a:bodyPr wrap="square" lIns="45720" rIns="45720" tIns="27432" bIns="27432" anchor="t">
            <a:noAutofit/>
          </a:bodyPr>
          <a:lstStyle/>
          <a:p>
            <a:pPr algn="l">
              <a:lnSpc>
                <a:spcPct val="100000"/>
              </a:lnSpc>
            </a:pPr>
            <a:r>
              <a:rPr sz="1600" b="0" i="0">
                <a:solidFill>
                  <a:srgbClr val="F7F2E8"/>
                </a:solidFill>
                <a:latin typeface="Segoe UI Semibold"/>
              </a:rPr>
              <a:t>Tokens</a:t>
            </a:r>
          </a:p>
        </p:txBody>
      </p:sp>
      <p:sp>
        <p:nvSpPr>
          <p:cNvPr id="15" name="TextBox 14"/>
          <p:cNvSpPr txBox="1"/>
          <p:nvPr/>
        </p:nvSpPr>
        <p:spPr>
          <a:xfrm>
            <a:off x="4447946" y="2657855"/>
            <a:ext cx="3295802" cy="1292352"/>
          </a:xfrm>
          <a:prstGeom prst="rect">
            <a:avLst/>
          </a:prstGeom>
          <a:noFill/>
        </p:spPr>
        <p:txBody>
          <a:bodyPr wrap="square" lIns="45720" rIns="45720" tIns="27432" bIns="27432" anchor="t">
            <a:noAutofit/>
          </a:bodyPr>
          <a:lstStyle/>
          <a:p>
            <a:pPr algn="l">
              <a:lnSpc>
                <a:spcPct val="100000"/>
              </a:lnSpc>
            </a:pPr>
            <a:r>
              <a:rPr sz="1300" b="0" i="0">
                <a:solidFill>
                  <a:srgbClr val="A7B2B0"/>
                </a:solidFill>
                <a:latin typeface="Segoe UI"/>
              </a:rPr>
              <a:t>Superficies de pizarra, acento verde azulado, un juego de fuentes, una barra de desplazamiento.</a:t>
            </a:r>
          </a:p>
        </p:txBody>
      </p:sp>
      <p:sp>
        <p:nvSpPr>
          <p:cNvPr id="16" name="Rounded Rectangle 15"/>
          <p:cNvSpPr/>
          <p:nvPr/>
        </p:nvSpPr>
        <p:spPr>
          <a:xfrm>
            <a:off x="8072932" y="2084831"/>
            <a:ext cx="3551834" cy="1956816"/>
          </a:xfrm>
          <a:prstGeom prst="roundRect">
            <a:avLst>
              <a:gd name="adj" fmla="val 5607"/>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8237524" y="2212848"/>
            <a:ext cx="502920" cy="45720"/>
          </a:xfrm>
          <a:prstGeom prst="rect">
            <a:avLst/>
          </a:prstGeom>
          <a:solidFill>
            <a:srgbClr val="E2B4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200948" y="2304287"/>
            <a:ext cx="3295802" cy="353568"/>
          </a:xfrm>
          <a:prstGeom prst="rect">
            <a:avLst/>
          </a:prstGeom>
          <a:noFill/>
        </p:spPr>
        <p:txBody>
          <a:bodyPr wrap="square" lIns="45720" rIns="45720" tIns="27432" bIns="27432" anchor="t">
            <a:noAutofit/>
          </a:bodyPr>
          <a:lstStyle/>
          <a:p>
            <a:pPr algn="l">
              <a:lnSpc>
                <a:spcPct val="100000"/>
              </a:lnSpc>
            </a:pPr>
            <a:r>
              <a:rPr sz="1600" b="0" i="0">
                <a:solidFill>
                  <a:srgbClr val="F7F2E8"/>
                </a:solidFill>
                <a:latin typeface="Segoe UI Semibold"/>
              </a:rPr>
              <a:t>Divisores</a:t>
            </a:r>
          </a:p>
        </p:txBody>
      </p:sp>
      <p:sp>
        <p:nvSpPr>
          <p:cNvPr id="19" name="TextBox 18"/>
          <p:cNvSpPr txBox="1"/>
          <p:nvPr/>
        </p:nvSpPr>
        <p:spPr>
          <a:xfrm>
            <a:off x="8200948" y="2657855"/>
            <a:ext cx="3295802" cy="1292352"/>
          </a:xfrm>
          <a:prstGeom prst="rect">
            <a:avLst/>
          </a:prstGeom>
          <a:noFill/>
        </p:spPr>
        <p:txBody>
          <a:bodyPr wrap="square" lIns="45720" rIns="45720" tIns="27432" bIns="27432" anchor="t">
            <a:noAutofit/>
          </a:bodyPr>
          <a:lstStyle/>
          <a:p>
            <a:pPr algn="l">
              <a:lnSpc>
                <a:spcPct val="100000"/>
              </a:lnSpc>
            </a:pPr>
            <a:r>
              <a:rPr sz="1300" b="0" i="0">
                <a:solidFill>
                  <a:srgbClr val="A7B2B0"/>
                </a:solidFill>
                <a:latin typeface="Segoe UI"/>
              </a:rPr>
              <a:t>Cinco uniones, una manija, flechas y Shift, Inicio y Fin.</a:t>
            </a:r>
          </a:p>
        </p:txBody>
      </p:sp>
      <p:sp>
        <p:nvSpPr>
          <p:cNvPr id="20" name="Rounded Rectangle 19"/>
          <p:cNvSpPr/>
          <p:nvPr/>
        </p:nvSpPr>
        <p:spPr>
          <a:xfrm>
            <a:off x="566928" y="4242816"/>
            <a:ext cx="3551834" cy="1956816"/>
          </a:xfrm>
          <a:prstGeom prst="roundRect">
            <a:avLst>
              <a:gd name="adj" fmla="val 5607"/>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ectangle 20"/>
          <p:cNvSpPr/>
          <p:nvPr/>
        </p:nvSpPr>
        <p:spPr>
          <a:xfrm>
            <a:off x="731520" y="4370832"/>
            <a:ext cx="502920" cy="45720"/>
          </a:xfrm>
          <a:prstGeom prst="rect">
            <a:avLst/>
          </a:prstGeom>
          <a:solidFill>
            <a:srgbClr val="46D2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694944" y="4462272"/>
            <a:ext cx="3295802" cy="353568"/>
          </a:xfrm>
          <a:prstGeom prst="rect">
            <a:avLst/>
          </a:prstGeom>
          <a:noFill/>
        </p:spPr>
        <p:txBody>
          <a:bodyPr wrap="square" lIns="45720" rIns="45720" tIns="27432" bIns="27432" anchor="t">
            <a:noAutofit/>
          </a:bodyPr>
          <a:lstStyle/>
          <a:p>
            <a:pPr algn="l">
              <a:lnSpc>
                <a:spcPct val="100000"/>
              </a:lnSpc>
            </a:pPr>
            <a:r>
              <a:rPr sz="1600" b="0" i="0">
                <a:solidFill>
                  <a:srgbClr val="F7F2E8"/>
                </a:solidFill>
                <a:latin typeface="Segoe UI Semibold"/>
              </a:rPr>
              <a:t>Diálogos</a:t>
            </a:r>
          </a:p>
        </p:txBody>
      </p:sp>
      <p:sp>
        <p:nvSpPr>
          <p:cNvPr id="23" name="TextBox 22"/>
          <p:cNvSpPr txBox="1"/>
          <p:nvPr/>
        </p:nvSpPr>
        <p:spPr>
          <a:xfrm>
            <a:off x="694944" y="4815840"/>
            <a:ext cx="3295802" cy="1292352"/>
          </a:xfrm>
          <a:prstGeom prst="rect">
            <a:avLst/>
          </a:prstGeom>
          <a:noFill/>
        </p:spPr>
        <p:txBody>
          <a:bodyPr wrap="square" lIns="45720" rIns="45720" tIns="27432" bIns="27432" anchor="t">
            <a:noAutofit/>
          </a:bodyPr>
          <a:lstStyle/>
          <a:p>
            <a:pPr algn="l">
              <a:lnSpc>
                <a:spcPct val="100000"/>
              </a:lnSpc>
            </a:pPr>
            <a:r>
              <a:rPr sz="1300" b="0" i="0">
                <a:solidFill>
                  <a:srgbClr val="A7B2B0"/>
                </a:solidFill>
                <a:latin typeface="Segoe UI"/>
              </a:rPr>
              <a:t>Cambio de tamaño en ocho direcciones y con teclado; botones que combinan.</a:t>
            </a:r>
          </a:p>
        </p:txBody>
      </p:sp>
      <p:sp>
        <p:nvSpPr>
          <p:cNvPr id="24" name="Rounded Rectangle 23"/>
          <p:cNvSpPr/>
          <p:nvPr/>
        </p:nvSpPr>
        <p:spPr>
          <a:xfrm>
            <a:off x="4319930" y="4242816"/>
            <a:ext cx="3551834" cy="1956816"/>
          </a:xfrm>
          <a:prstGeom prst="roundRect">
            <a:avLst>
              <a:gd name="adj" fmla="val 5607"/>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ectangle 24"/>
          <p:cNvSpPr/>
          <p:nvPr/>
        </p:nvSpPr>
        <p:spPr>
          <a:xfrm>
            <a:off x="4484522" y="4370832"/>
            <a:ext cx="502920" cy="45720"/>
          </a:xfrm>
          <a:prstGeom prst="rect">
            <a:avLst/>
          </a:prstGeom>
          <a:solidFill>
            <a:srgbClr val="D25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4447946" y="4462272"/>
            <a:ext cx="3295802" cy="353568"/>
          </a:xfrm>
          <a:prstGeom prst="rect">
            <a:avLst/>
          </a:prstGeom>
          <a:noFill/>
        </p:spPr>
        <p:txBody>
          <a:bodyPr wrap="square" lIns="45720" rIns="45720" tIns="27432" bIns="27432" anchor="t">
            <a:noAutofit/>
          </a:bodyPr>
          <a:lstStyle/>
          <a:p>
            <a:pPr algn="l">
              <a:lnSpc>
                <a:spcPct val="100000"/>
              </a:lnSpc>
            </a:pPr>
            <a:r>
              <a:rPr sz="1600" b="0" i="0">
                <a:solidFill>
                  <a:srgbClr val="F7F2E8"/>
                </a:solidFill>
                <a:latin typeface="Segoe UI Semibold"/>
              </a:rPr>
              <a:t>Evidencia</a:t>
            </a:r>
          </a:p>
        </p:txBody>
      </p:sp>
      <p:sp>
        <p:nvSpPr>
          <p:cNvPr id="27" name="TextBox 26"/>
          <p:cNvSpPr txBox="1"/>
          <p:nvPr/>
        </p:nvSpPr>
        <p:spPr>
          <a:xfrm>
            <a:off x="4447946" y="4815840"/>
            <a:ext cx="3295802" cy="1292352"/>
          </a:xfrm>
          <a:prstGeom prst="rect">
            <a:avLst/>
          </a:prstGeom>
          <a:noFill/>
        </p:spPr>
        <p:txBody>
          <a:bodyPr wrap="square" lIns="45720" rIns="45720" tIns="27432" bIns="27432" anchor="t">
            <a:noAutofit/>
          </a:bodyPr>
          <a:lstStyle/>
          <a:p>
            <a:pPr algn="l">
              <a:lnSpc>
                <a:spcPct val="100000"/>
              </a:lnSpc>
            </a:pPr>
            <a:r>
              <a:rPr sz="1300" b="0" i="0">
                <a:solidFill>
                  <a:srgbClr val="A7B2B0"/>
                </a:solidFill>
                <a:latin typeface="Segoe UI"/>
              </a:rPr>
              <a:t>175 pruebas y revisiones visibles de zoom, composer y diálogos.</a:t>
            </a:r>
          </a:p>
        </p:txBody>
      </p:sp>
      <p:sp>
        <p:nvSpPr>
          <p:cNvPr id="28" name="Rounded Rectangle 27"/>
          <p:cNvSpPr/>
          <p:nvPr/>
        </p:nvSpPr>
        <p:spPr>
          <a:xfrm>
            <a:off x="8072932" y="4242816"/>
            <a:ext cx="3551834" cy="1956816"/>
          </a:xfrm>
          <a:prstGeom prst="roundRect">
            <a:avLst>
              <a:gd name="adj" fmla="val 5607"/>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Rectangle 28"/>
          <p:cNvSpPr/>
          <p:nvPr/>
        </p:nvSpPr>
        <p:spPr>
          <a:xfrm>
            <a:off x="8237524" y="4370832"/>
            <a:ext cx="502920" cy="45720"/>
          </a:xfrm>
          <a:prstGeom prst="rect">
            <a:avLst/>
          </a:prstGeom>
          <a:solidFill>
            <a:srgbClr val="D957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8200948" y="4462272"/>
            <a:ext cx="3295802" cy="353568"/>
          </a:xfrm>
          <a:prstGeom prst="rect">
            <a:avLst/>
          </a:prstGeom>
          <a:noFill/>
        </p:spPr>
        <p:txBody>
          <a:bodyPr wrap="square" lIns="45720" rIns="45720" tIns="27432" bIns="27432" anchor="t">
            <a:noAutofit/>
          </a:bodyPr>
          <a:lstStyle/>
          <a:p>
            <a:pPr algn="l">
              <a:lnSpc>
                <a:spcPct val="100000"/>
              </a:lnSpc>
            </a:pPr>
            <a:r>
              <a:rPr sz="1600" b="0" i="0">
                <a:solidFill>
                  <a:srgbClr val="F7F2E8"/>
                </a:solidFill>
                <a:latin typeface="Segoe UI Semibold"/>
              </a:rPr>
              <a:t>Entregado por</a:t>
            </a:r>
          </a:p>
        </p:txBody>
      </p:sp>
      <p:sp>
        <p:nvSpPr>
          <p:cNvPr id="31" name="TextBox 30"/>
          <p:cNvSpPr txBox="1"/>
          <p:nvPr/>
        </p:nvSpPr>
        <p:spPr>
          <a:xfrm>
            <a:off x="8200948" y="4815840"/>
            <a:ext cx="3295802" cy="1292352"/>
          </a:xfrm>
          <a:prstGeom prst="rect">
            <a:avLst/>
          </a:prstGeom>
          <a:noFill/>
        </p:spPr>
        <p:txBody>
          <a:bodyPr wrap="square" lIns="45720" rIns="45720" tIns="27432" bIns="27432" anchor="t">
            <a:noAutofit/>
          </a:bodyPr>
          <a:lstStyle/>
          <a:p>
            <a:pPr algn="l">
              <a:lnSpc>
                <a:spcPct val="100000"/>
              </a:lnSpc>
            </a:pPr>
            <a:r>
              <a:rPr sz="1300" b="0" i="0">
                <a:solidFill>
                  <a:srgbClr val="A7B2B0"/>
                </a:solidFill>
                <a:latin typeface="Segoe UI"/>
              </a:rPr>
              <a:t>Los releases publicados v1.82.0 y v1.83.0.</a:t>
            </a:r>
          </a:p>
        </p:txBody>
      </p:sp>
      <p:cxnSp>
        <p:nvCxnSpPr>
          <p:cNvPr id="32" name="Connector 31"/>
          <p:cNvCxnSpPr/>
          <p:nvPr/>
        </p:nvCxnSpPr>
        <p:spPr>
          <a:xfrm>
            <a:off x="566928" y="6373368"/>
            <a:ext cx="11057839" cy="0"/>
          </a:xfrm>
          <a:prstGeom prst="line">
            <a:avLst/>
          </a:prstGeom>
          <a:ln w="7620">
            <a:solidFill>
              <a:srgbClr val="2A3A40"/>
            </a:solidFill>
          </a:ln>
        </p:spPr>
        <p:style>
          <a:lnRef idx="2">
            <a:schemeClr val="accent1"/>
          </a:lnRef>
          <a:fillRef idx="0">
            <a:schemeClr val="accent1"/>
          </a:fillRef>
          <a:effectRef idx="1">
            <a:schemeClr val="accent1"/>
          </a:effectRef>
          <a:fontRef idx="minor">
            <a:schemeClr val="tx1"/>
          </a:fontRef>
        </p:style>
      </p:cxnSp>
      <p:sp>
        <p:nvSpPr>
          <p:cNvPr id="33" name="TextBox 32"/>
          <p:cNvSpPr txBox="1"/>
          <p:nvPr/>
        </p:nvSpPr>
        <p:spPr>
          <a:xfrm>
            <a:off x="566928" y="6419088"/>
            <a:ext cx="6858000" cy="274320"/>
          </a:xfrm>
          <a:prstGeom prst="rect">
            <a:avLst/>
          </a:prstGeom>
          <a:noFill/>
        </p:spPr>
        <p:txBody>
          <a:bodyPr wrap="square" lIns="45720" rIns="45720" tIns="27432" bIns="27432" anchor="t">
            <a:noAutofit/>
          </a:bodyPr>
          <a:lstStyle/>
          <a:p>
            <a:pPr algn="l">
              <a:lnSpc>
                <a:spcPct val="100000"/>
              </a:lnSpc>
            </a:pPr>
            <a:r>
              <a:rPr sz="850" b="0" i="0" spc="120">
                <a:solidFill>
                  <a:srgbClr val="A7B2B0"/>
                </a:solidFill>
                <a:latin typeface="Segoe UI Semibold"/>
              </a:rPr>
              <a:t>TLAMATINI  ·  VIII · RELEASE ACTUAL</a:t>
            </a:r>
          </a:p>
        </p:txBody>
      </p:sp>
      <p:sp>
        <p:nvSpPr>
          <p:cNvPr id="34" name="TextBox 33"/>
          <p:cNvSpPr txBox="1"/>
          <p:nvPr/>
        </p:nvSpPr>
        <p:spPr>
          <a:xfrm>
            <a:off x="8698687" y="6419088"/>
            <a:ext cx="2926080" cy="274320"/>
          </a:xfrm>
          <a:prstGeom prst="rect">
            <a:avLst/>
          </a:prstGeom>
          <a:noFill/>
        </p:spPr>
        <p:txBody>
          <a:bodyPr wrap="square" lIns="45720" rIns="45720" tIns="27432" bIns="27432" anchor="t">
            <a:noAutofit/>
          </a:bodyPr>
          <a:lstStyle/>
          <a:p>
            <a:pPr algn="r">
              <a:lnSpc>
                <a:spcPct val="100000"/>
              </a:lnSpc>
            </a:pPr>
            <a:r>
              <a:rPr sz="850" b="0" i="0" spc="100">
                <a:solidFill>
                  <a:srgbClr val="A7B2B0"/>
                </a:solidFill>
                <a:latin typeface="Segoe UI Semibold"/>
              </a:rPr>
              <a:t>v1.91.1   ·   141</a:t>
            </a:r>
          </a:p>
        </p:txBody>
      </p:sp>
    </p:spTree>
  </p:cSld>
  <p:clrMapOvr>
    <a:masterClrMapping/>
  </p:clrMapOvr>
</p:sld>
</file>

<file path=ppt/slides/slide1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content.png"/>
          <p:cNvPicPr>
            <a:picLocks noChangeAspect="1"/>
          </p:cNvPicPr>
          <p:nvPr/>
        </p:nvPicPr>
        <p:blipFill>
          <a:blip r:embed="rId2"/>
          <a:stretch>
            <a:fillRect/>
          </a:stretch>
        </p:blipFill>
        <p:spPr>
          <a:xfrm>
            <a:off x="0" y="0"/>
            <a:ext cx="12191695" cy="6858000"/>
          </a:xfrm>
          <a:prstGeom prst="rect">
            <a:avLst/>
          </a:prstGeom>
        </p:spPr>
      </p:pic>
      <p:sp>
        <p:nvSpPr>
          <p:cNvPr id="3" name="Diamond 2"/>
          <p:cNvSpPr/>
          <p:nvPr/>
        </p:nvSpPr>
        <p:spPr>
          <a:xfrm>
            <a:off x="566928" y="457200"/>
            <a:ext cx="100584" cy="100584"/>
          </a:xfrm>
          <a:prstGeom prst="diamond">
            <a:avLst/>
          </a:prstGeom>
          <a:solidFill>
            <a:srgbClr val="E2B4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49808" y="365760"/>
            <a:ext cx="8229600" cy="292608"/>
          </a:xfrm>
          <a:prstGeom prst="rect">
            <a:avLst/>
          </a:prstGeom>
          <a:noFill/>
        </p:spPr>
        <p:txBody>
          <a:bodyPr wrap="square" lIns="45720" rIns="45720" tIns="27432" bIns="27432" anchor="t">
            <a:noAutofit/>
          </a:bodyPr>
          <a:lstStyle/>
          <a:p>
            <a:pPr algn="l">
              <a:lnSpc>
                <a:spcPct val="100000"/>
              </a:lnSpc>
            </a:pPr>
            <a:r>
              <a:rPr sz="1100" b="0" i="0" spc="240">
                <a:solidFill>
                  <a:srgbClr val="C98457"/>
                </a:solidFill>
                <a:latin typeface="Segoe UI Semibold"/>
              </a:rPr>
              <a:t>HEREDADO DE v1.79.0</a:t>
            </a:r>
          </a:p>
        </p:txBody>
      </p:sp>
      <p:sp>
        <p:nvSpPr>
          <p:cNvPr id="5" name="TextBox 4"/>
          <p:cNvSpPr txBox="1"/>
          <p:nvPr/>
        </p:nvSpPr>
        <p:spPr>
          <a:xfrm>
            <a:off x="539496" y="676656"/>
            <a:ext cx="11057839" cy="658368"/>
          </a:xfrm>
          <a:prstGeom prst="rect">
            <a:avLst/>
          </a:prstGeom>
          <a:noFill/>
        </p:spPr>
        <p:txBody>
          <a:bodyPr wrap="square" lIns="45720" rIns="45720" tIns="27432" bIns="27432" anchor="t">
            <a:noAutofit/>
          </a:bodyPr>
          <a:lstStyle/>
          <a:p>
            <a:pPr algn="l">
              <a:lnSpc>
                <a:spcPct val="100000"/>
              </a:lnSpc>
            </a:pPr>
            <a:r>
              <a:rPr sz="3100" b="0" i="0">
                <a:solidFill>
                  <a:srgbClr val="F7F2E8"/>
                </a:solidFill>
                <a:latin typeface="Palatino Linotype"/>
              </a:rPr>
              <a:t>Video-Analyzer acepta un link web</a:t>
            </a:r>
          </a:p>
        </p:txBody>
      </p:sp>
      <p:sp>
        <p:nvSpPr>
          <p:cNvPr id="6" name="Rectangle 5"/>
          <p:cNvSpPr/>
          <p:nvPr/>
        </p:nvSpPr>
        <p:spPr>
          <a:xfrm>
            <a:off x="566928" y="1344168"/>
            <a:ext cx="822960" cy="36576"/>
          </a:xfrm>
          <a:prstGeom prst="rect">
            <a:avLst/>
          </a:prstGeom>
          <a:solidFill>
            <a:srgbClr val="E2B4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566928" y="1444752"/>
            <a:ext cx="10692079" cy="585216"/>
          </a:xfrm>
          <a:prstGeom prst="rect">
            <a:avLst/>
          </a:prstGeom>
          <a:noFill/>
        </p:spPr>
        <p:txBody>
          <a:bodyPr wrap="square" lIns="45720" rIns="45720" tIns="27432" bIns="27432" anchor="t">
            <a:noAutofit/>
          </a:bodyPr>
          <a:lstStyle/>
          <a:p>
            <a:pPr algn="l">
              <a:lnSpc>
                <a:spcPct val="100000"/>
              </a:lnSpc>
            </a:pPr>
            <a:r>
              <a:rPr sz="1450" b="0" i="0">
                <a:solidFill>
                  <a:srgbClr val="A7B2B0"/>
                </a:solidFill>
                <a:latin typeface="Segoe UI Semilight"/>
              </a:rPr>
              <a:t>Con tag del 11 de octubre sin release propio; llega a los usuarios por medio de v1.82.0 y v1.83.0.</a:t>
            </a:r>
          </a:p>
        </p:txBody>
      </p:sp>
      <p:sp>
        <p:nvSpPr>
          <p:cNvPr id="8" name="Rounded Rectangle 7"/>
          <p:cNvSpPr/>
          <p:nvPr/>
        </p:nvSpPr>
        <p:spPr>
          <a:xfrm>
            <a:off x="566928" y="2084831"/>
            <a:ext cx="3551834" cy="1956816"/>
          </a:xfrm>
          <a:prstGeom prst="roundRect">
            <a:avLst>
              <a:gd name="adj" fmla="val 5607"/>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ectangle 8"/>
          <p:cNvSpPr/>
          <p:nvPr/>
        </p:nvSpPr>
        <p:spPr>
          <a:xfrm>
            <a:off x="731520" y="2212848"/>
            <a:ext cx="502920" cy="45720"/>
          </a:xfrm>
          <a:prstGeom prst="rect">
            <a:avLst/>
          </a:prstGeom>
          <a:solidFill>
            <a:srgbClr val="3BBE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694944" y="2304287"/>
            <a:ext cx="3295802" cy="353568"/>
          </a:xfrm>
          <a:prstGeom prst="rect">
            <a:avLst/>
          </a:prstGeom>
          <a:noFill/>
        </p:spPr>
        <p:txBody>
          <a:bodyPr wrap="square" lIns="45720" rIns="45720" tIns="27432" bIns="27432" anchor="t">
            <a:noAutofit/>
          </a:bodyPr>
          <a:lstStyle/>
          <a:p>
            <a:pPr algn="l">
              <a:lnSpc>
                <a:spcPct val="100000"/>
              </a:lnSpc>
            </a:pPr>
            <a:r>
              <a:rPr sz="1600" b="0" i="0">
                <a:solidFill>
                  <a:srgbClr val="F7F2E8"/>
                </a:solidFill>
                <a:latin typeface="Segoe UI Semibold"/>
              </a:rPr>
              <a:t>Un elemento</a:t>
            </a:r>
          </a:p>
        </p:txBody>
      </p:sp>
      <p:sp>
        <p:nvSpPr>
          <p:cNvPr id="11" name="TextBox 10"/>
          <p:cNvSpPr txBox="1"/>
          <p:nvPr/>
        </p:nvSpPr>
        <p:spPr>
          <a:xfrm>
            <a:off x="694944" y="2657855"/>
            <a:ext cx="3295802" cy="1292352"/>
          </a:xfrm>
          <a:prstGeom prst="rect">
            <a:avLst/>
          </a:prstGeom>
          <a:noFill/>
        </p:spPr>
        <p:txBody>
          <a:bodyPr wrap="square" lIns="45720" rIns="45720" tIns="27432" bIns="27432" anchor="t">
            <a:noAutofit/>
          </a:bodyPr>
          <a:lstStyle/>
          <a:p>
            <a:pPr algn="l">
              <a:lnSpc>
                <a:spcPct val="100000"/>
              </a:lnSpc>
            </a:pPr>
            <a:r>
              <a:rPr sz="1300" b="0" i="0">
                <a:solidFill>
                  <a:srgbClr val="A7B2B0"/>
                </a:solidFill>
                <a:latin typeface="Segoe UI"/>
              </a:rPr>
              <a:t>Sonido para la transcripción, imagen para el resumen o la robótica.</a:t>
            </a:r>
          </a:p>
        </p:txBody>
      </p:sp>
      <p:sp>
        <p:nvSpPr>
          <p:cNvPr id="12" name="Rounded Rectangle 11"/>
          <p:cNvSpPr/>
          <p:nvPr/>
        </p:nvSpPr>
        <p:spPr>
          <a:xfrm>
            <a:off x="4319930" y="2084831"/>
            <a:ext cx="3551834" cy="1956816"/>
          </a:xfrm>
          <a:prstGeom prst="roundRect">
            <a:avLst>
              <a:gd name="adj" fmla="val 5607"/>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4484522" y="2212848"/>
            <a:ext cx="502920" cy="45720"/>
          </a:xfrm>
          <a:prstGeom prst="rect">
            <a:avLst/>
          </a:prstGeom>
          <a:solidFill>
            <a:srgbClr val="C984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4447946" y="2304287"/>
            <a:ext cx="3295802" cy="353568"/>
          </a:xfrm>
          <a:prstGeom prst="rect">
            <a:avLst/>
          </a:prstGeom>
          <a:noFill/>
        </p:spPr>
        <p:txBody>
          <a:bodyPr wrap="square" lIns="45720" rIns="45720" tIns="27432" bIns="27432" anchor="t">
            <a:noAutofit/>
          </a:bodyPr>
          <a:lstStyle/>
          <a:p>
            <a:pPr algn="l">
              <a:lnSpc>
                <a:spcPct val="100000"/>
              </a:lnSpc>
            </a:pPr>
            <a:r>
              <a:rPr sz="1600" b="0" i="0">
                <a:solidFill>
                  <a:srgbClr val="F7F2E8"/>
                </a:solidFill>
                <a:latin typeface="Segoe UI Semibold"/>
              </a:rPr>
              <a:t>Se actualiza solo</a:t>
            </a:r>
          </a:p>
        </p:txBody>
      </p:sp>
      <p:sp>
        <p:nvSpPr>
          <p:cNvPr id="15" name="TextBox 14"/>
          <p:cNvSpPr txBox="1"/>
          <p:nvPr/>
        </p:nvSpPr>
        <p:spPr>
          <a:xfrm>
            <a:off x="4447946" y="2657855"/>
            <a:ext cx="3295802" cy="1292352"/>
          </a:xfrm>
          <a:prstGeom prst="rect">
            <a:avLst/>
          </a:prstGeom>
          <a:noFill/>
        </p:spPr>
        <p:txBody>
          <a:bodyPr wrap="square" lIns="45720" rIns="45720" tIns="27432" bIns="27432" anchor="t">
            <a:noAutofit/>
          </a:bodyPr>
          <a:lstStyle/>
          <a:p>
            <a:pPr algn="l">
              <a:lnSpc>
                <a:spcPct val="100000"/>
              </a:lnSpc>
            </a:pPr>
            <a:r>
              <a:rPr sz="1300" b="0" i="0">
                <a:solidFill>
                  <a:srgbClr val="A7B2B0"/>
                </a:solidFill>
                <a:latin typeface="Segoe UI"/>
              </a:rPr>
              <a:t>Un descargador privado, renovado una vez cuando falla.</a:t>
            </a:r>
          </a:p>
        </p:txBody>
      </p:sp>
      <p:sp>
        <p:nvSpPr>
          <p:cNvPr id="16" name="Rounded Rectangle 15"/>
          <p:cNvSpPr/>
          <p:nvPr/>
        </p:nvSpPr>
        <p:spPr>
          <a:xfrm>
            <a:off x="8072932" y="2084831"/>
            <a:ext cx="3551834" cy="1956816"/>
          </a:xfrm>
          <a:prstGeom prst="roundRect">
            <a:avLst>
              <a:gd name="adj" fmla="val 5607"/>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8237524" y="2212848"/>
            <a:ext cx="502920" cy="45720"/>
          </a:xfrm>
          <a:prstGeom prst="rect">
            <a:avLst/>
          </a:prstGeom>
          <a:solidFill>
            <a:srgbClr val="E2B4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200948" y="2304287"/>
            <a:ext cx="3295802" cy="353568"/>
          </a:xfrm>
          <a:prstGeom prst="rect">
            <a:avLst/>
          </a:prstGeom>
          <a:noFill/>
        </p:spPr>
        <p:txBody>
          <a:bodyPr wrap="square" lIns="45720" rIns="45720" tIns="27432" bIns="27432" anchor="t">
            <a:noAutofit/>
          </a:bodyPr>
          <a:lstStyle/>
          <a:p>
            <a:pPr algn="l">
              <a:lnSpc>
                <a:spcPct val="100000"/>
              </a:lnSpc>
            </a:pPr>
            <a:r>
              <a:rPr sz="1600" b="0" i="0">
                <a:solidFill>
                  <a:srgbClr val="F7F2E8"/>
                </a:solidFill>
                <a:latin typeface="Segoe UI Semibold"/>
              </a:rPr>
              <a:t>Errores con nombre</a:t>
            </a:r>
          </a:p>
        </p:txBody>
      </p:sp>
      <p:sp>
        <p:nvSpPr>
          <p:cNvPr id="19" name="TextBox 18"/>
          <p:cNvSpPr txBox="1"/>
          <p:nvPr/>
        </p:nvSpPr>
        <p:spPr>
          <a:xfrm>
            <a:off x="8200948" y="2657855"/>
            <a:ext cx="3295802" cy="1292352"/>
          </a:xfrm>
          <a:prstGeom prst="rect">
            <a:avLst/>
          </a:prstGeom>
          <a:noFill/>
        </p:spPr>
        <p:txBody>
          <a:bodyPr wrap="square" lIns="45720" rIns="45720" tIns="27432" bIns="27432" anchor="t">
            <a:noAutofit/>
          </a:bodyPr>
          <a:lstStyle/>
          <a:p>
            <a:pPr algn="l">
              <a:lnSpc>
                <a:spcPct val="100000"/>
              </a:lnSpc>
            </a:pPr>
            <a:r>
              <a:rPr sz="1300" b="0" i="0">
                <a:solidFill>
                  <a:srgbClr val="A7B2B0"/>
                </a:solidFill>
                <a:latin typeface="Segoe UI"/>
              </a:rPr>
              <a:t>No disponible, requiere inicio de sesión, red, tiempo agotado y más.</a:t>
            </a:r>
          </a:p>
        </p:txBody>
      </p:sp>
      <p:sp>
        <p:nvSpPr>
          <p:cNvPr id="20" name="Rounded Rectangle 19"/>
          <p:cNvSpPr/>
          <p:nvPr/>
        </p:nvSpPr>
        <p:spPr>
          <a:xfrm>
            <a:off x="566928" y="4242816"/>
            <a:ext cx="3551834" cy="1956816"/>
          </a:xfrm>
          <a:prstGeom prst="roundRect">
            <a:avLst>
              <a:gd name="adj" fmla="val 5607"/>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ectangle 20"/>
          <p:cNvSpPr/>
          <p:nvPr/>
        </p:nvSpPr>
        <p:spPr>
          <a:xfrm>
            <a:off x="731520" y="4370832"/>
            <a:ext cx="502920" cy="45720"/>
          </a:xfrm>
          <a:prstGeom prst="rect">
            <a:avLst/>
          </a:prstGeom>
          <a:solidFill>
            <a:srgbClr val="46D2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694944" y="4462272"/>
            <a:ext cx="3295802" cy="353568"/>
          </a:xfrm>
          <a:prstGeom prst="rect">
            <a:avLst/>
          </a:prstGeom>
          <a:noFill/>
        </p:spPr>
        <p:txBody>
          <a:bodyPr wrap="square" lIns="45720" rIns="45720" tIns="27432" bIns="27432" anchor="t">
            <a:noAutofit/>
          </a:bodyPr>
          <a:lstStyle/>
          <a:p>
            <a:pPr algn="l">
              <a:lnSpc>
                <a:spcPct val="100000"/>
              </a:lnSpc>
            </a:pPr>
            <a:r>
              <a:rPr sz="1600" b="0" i="0">
                <a:solidFill>
                  <a:srgbClr val="F7F2E8"/>
                </a:solidFill>
                <a:latin typeface="Segoe UI Semibold"/>
              </a:rPr>
              <a:t>Funciona con prosa</a:t>
            </a:r>
          </a:p>
        </p:txBody>
      </p:sp>
      <p:sp>
        <p:nvSpPr>
          <p:cNvPr id="23" name="TextBox 22"/>
          <p:cNvSpPr txBox="1"/>
          <p:nvPr/>
        </p:nvSpPr>
        <p:spPr>
          <a:xfrm>
            <a:off x="694944" y="4815840"/>
            <a:ext cx="3295802" cy="1292352"/>
          </a:xfrm>
          <a:prstGeom prst="rect">
            <a:avLst/>
          </a:prstGeom>
          <a:noFill/>
        </p:spPr>
        <p:txBody>
          <a:bodyPr wrap="square" lIns="45720" rIns="45720" tIns="27432" bIns="27432" anchor="t">
            <a:noAutofit/>
          </a:bodyPr>
          <a:lstStyle/>
          <a:p>
            <a:pPr algn="l">
              <a:lnSpc>
                <a:spcPct val="100000"/>
              </a:lnSpc>
            </a:pPr>
            <a:r>
              <a:rPr sz="1300" b="0" i="0">
                <a:solidFill>
                  <a:srgbClr val="A7B2B0"/>
                </a:solidFill>
                <a:latin typeface="Segoe UI"/>
              </a:rPr>
              <a:t>Las solicitudes en lenguaje sencillo llenan el link y el modo.</a:t>
            </a:r>
          </a:p>
        </p:txBody>
      </p:sp>
      <p:sp>
        <p:nvSpPr>
          <p:cNvPr id="24" name="Rounded Rectangle 23"/>
          <p:cNvSpPr/>
          <p:nvPr/>
        </p:nvSpPr>
        <p:spPr>
          <a:xfrm>
            <a:off x="4319930" y="4242816"/>
            <a:ext cx="3551834" cy="1956816"/>
          </a:xfrm>
          <a:prstGeom prst="roundRect">
            <a:avLst>
              <a:gd name="adj" fmla="val 5607"/>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ectangle 24"/>
          <p:cNvSpPr/>
          <p:nvPr/>
        </p:nvSpPr>
        <p:spPr>
          <a:xfrm>
            <a:off x="4484522" y="4370832"/>
            <a:ext cx="502920" cy="45720"/>
          </a:xfrm>
          <a:prstGeom prst="rect">
            <a:avLst/>
          </a:prstGeom>
          <a:solidFill>
            <a:srgbClr val="D25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4447946" y="4462272"/>
            <a:ext cx="3295802" cy="353568"/>
          </a:xfrm>
          <a:prstGeom prst="rect">
            <a:avLst/>
          </a:prstGeom>
          <a:noFill/>
        </p:spPr>
        <p:txBody>
          <a:bodyPr wrap="square" lIns="45720" rIns="45720" tIns="27432" bIns="27432" anchor="t">
            <a:noAutofit/>
          </a:bodyPr>
          <a:lstStyle/>
          <a:p>
            <a:pPr algn="l">
              <a:lnSpc>
                <a:spcPct val="100000"/>
              </a:lnSpc>
            </a:pPr>
            <a:r>
              <a:rPr sz="1600" b="0" i="0">
                <a:solidFill>
                  <a:srgbClr val="F7F2E8"/>
                </a:solidFill>
                <a:latin typeface="Segoe UI Semibold"/>
              </a:rPr>
              <a:t>Evidencia</a:t>
            </a:r>
          </a:p>
        </p:txBody>
      </p:sp>
      <p:sp>
        <p:nvSpPr>
          <p:cNvPr id="27" name="TextBox 26"/>
          <p:cNvSpPr txBox="1"/>
          <p:nvPr/>
        </p:nvSpPr>
        <p:spPr>
          <a:xfrm>
            <a:off x="4447946" y="4815840"/>
            <a:ext cx="3295802" cy="1292352"/>
          </a:xfrm>
          <a:prstGeom prst="rect">
            <a:avLst/>
          </a:prstGeom>
          <a:noFill/>
        </p:spPr>
        <p:txBody>
          <a:bodyPr wrap="square" lIns="45720" rIns="45720" tIns="27432" bIns="27432" anchor="t">
            <a:noAutofit/>
          </a:bodyPr>
          <a:lstStyle/>
          <a:p>
            <a:pPr algn="l">
              <a:lnSpc>
                <a:spcPct val="100000"/>
              </a:lnSpc>
            </a:pPr>
            <a:r>
              <a:rPr sz="1300" b="0" i="0">
                <a:solidFill>
                  <a:srgbClr val="A7B2B0"/>
                </a:solidFill>
                <a:latin typeface="Segoe UI"/>
              </a:rPr>
              <a:t>141 pruebas unitarias y una ejecución visible del chat de 12 de 12.</a:t>
            </a:r>
          </a:p>
        </p:txBody>
      </p:sp>
      <p:sp>
        <p:nvSpPr>
          <p:cNvPr id="28" name="Rounded Rectangle 27"/>
          <p:cNvSpPr/>
          <p:nvPr/>
        </p:nvSpPr>
        <p:spPr>
          <a:xfrm>
            <a:off x="8072932" y="4242816"/>
            <a:ext cx="3551834" cy="1956816"/>
          </a:xfrm>
          <a:prstGeom prst="roundRect">
            <a:avLst>
              <a:gd name="adj" fmla="val 5607"/>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Rectangle 28"/>
          <p:cNvSpPr/>
          <p:nvPr/>
        </p:nvSpPr>
        <p:spPr>
          <a:xfrm>
            <a:off x="8237524" y="4370832"/>
            <a:ext cx="502920" cy="45720"/>
          </a:xfrm>
          <a:prstGeom prst="rect">
            <a:avLst/>
          </a:prstGeom>
          <a:solidFill>
            <a:srgbClr val="D957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8200948" y="4462272"/>
            <a:ext cx="3295802" cy="353568"/>
          </a:xfrm>
          <a:prstGeom prst="rect">
            <a:avLst/>
          </a:prstGeom>
          <a:noFill/>
        </p:spPr>
        <p:txBody>
          <a:bodyPr wrap="square" lIns="45720" rIns="45720" tIns="27432" bIns="27432" anchor="t">
            <a:noAutofit/>
          </a:bodyPr>
          <a:lstStyle/>
          <a:p>
            <a:pPr algn="l">
              <a:lnSpc>
                <a:spcPct val="100000"/>
              </a:lnSpc>
            </a:pPr>
            <a:r>
              <a:rPr sz="1600" b="0" i="0">
                <a:solidFill>
                  <a:srgbClr val="F7F2E8"/>
                </a:solidFill>
                <a:latin typeface="Segoe UI Semibold"/>
              </a:rPr>
              <a:t>Entregado por</a:t>
            </a:r>
          </a:p>
        </p:txBody>
      </p:sp>
      <p:sp>
        <p:nvSpPr>
          <p:cNvPr id="31" name="TextBox 30"/>
          <p:cNvSpPr txBox="1"/>
          <p:nvPr/>
        </p:nvSpPr>
        <p:spPr>
          <a:xfrm>
            <a:off x="8200948" y="4815840"/>
            <a:ext cx="3295802" cy="1292352"/>
          </a:xfrm>
          <a:prstGeom prst="rect">
            <a:avLst/>
          </a:prstGeom>
          <a:noFill/>
        </p:spPr>
        <p:txBody>
          <a:bodyPr wrap="square" lIns="45720" rIns="45720" tIns="27432" bIns="27432" anchor="t">
            <a:noAutofit/>
          </a:bodyPr>
          <a:lstStyle/>
          <a:p>
            <a:pPr algn="l">
              <a:lnSpc>
                <a:spcPct val="100000"/>
              </a:lnSpc>
            </a:pPr>
            <a:r>
              <a:rPr sz="1300" b="0" i="0">
                <a:solidFill>
                  <a:srgbClr val="A7B2B0"/>
                </a:solidFill>
                <a:latin typeface="Segoe UI"/>
              </a:rPr>
              <a:t>Los releases publicados v1.82.0 y v1.83.0.</a:t>
            </a:r>
          </a:p>
        </p:txBody>
      </p:sp>
      <p:cxnSp>
        <p:nvCxnSpPr>
          <p:cNvPr id="32" name="Connector 31"/>
          <p:cNvCxnSpPr/>
          <p:nvPr/>
        </p:nvCxnSpPr>
        <p:spPr>
          <a:xfrm>
            <a:off x="566928" y="6373368"/>
            <a:ext cx="11057839" cy="0"/>
          </a:xfrm>
          <a:prstGeom prst="line">
            <a:avLst/>
          </a:prstGeom>
          <a:ln w="7620">
            <a:solidFill>
              <a:srgbClr val="2A3A40"/>
            </a:solidFill>
          </a:ln>
        </p:spPr>
        <p:style>
          <a:lnRef idx="2">
            <a:schemeClr val="accent1"/>
          </a:lnRef>
          <a:fillRef idx="0">
            <a:schemeClr val="accent1"/>
          </a:fillRef>
          <a:effectRef idx="1">
            <a:schemeClr val="accent1"/>
          </a:effectRef>
          <a:fontRef idx="minor">
            <a:schemeClr val="tx1"/>
          </a:fontRef>
        </p:style>
      </p:cxnSp>
      <p:sp>
        <p:nvSpPr>
          <p:cNvPr id="33" name="TextBox 32"/>
          <p:cNvSpPr txBox="1"/>
          <p:nvPr/>
        </p:nvSpPr>
        <p:spPr>
          <a:xfrm>
            <a:off x="566928" y="6419088"/>
            <a:ext cx="6858000" cy="274320"/>
          </a:xfrm>
          <a:prstGeom prst="rect">
            <a:avLst/>
          </a:prstGeom>
          <a:noFill/>
        </p:spPr>
        <p:txBody>
          <a:bodyPr wrap="square" lIns="45720" rIns="45720" tIns="27432" bIns="27432" anchor="t">
            <a:noAutofit/>
          </a:bodyPr>
          <a:lstStyle/>
          <a:p>
            <a:pPr algn="l">
              <a:lnSpc>
                <a:spcPct val="100000"/>
              </a:lnSpc>
            </a:pPr>
            <a:r>
              <a:rPr sz="850" b="0" i="0" spc="120">
                <a:solidFill>
                  <a:srgbClr val="A7B2B0"/>
                </a:solidFill>
                <a:latin typeface="Segoe UI Semibold"/>
              </a:rPr>
              <a:t>TLAMATINI  ·  VIII · RELEASE ACTUAL</a:t>
            </a:r>
          </a:p>
        </p:txBody>
      </p:sp>
      <p:sp>
        <p:nvSpPr>
          <p:cNvPr id="34" name="TextBox 33"/>
          <p:cNvSpPr txBox="1"/>
          <p:nvPr/>
        </p:nvSpPr>
        <p:spPr>
          <a:xfrm>
            <a:off x="8698687" y="6419088"/>
            <a:ext cx="2926080" cy="274320"/>
          </a:xfrm>
          <a:prstGeom prst="rect">
            <a:avLst/>
          </a:prstGeom>
          <a:noFill/>
        </p:spPr>
        <p:txBody>
          <a:bodyPr wrap="square" lIns="45720" rIns="45720" tIns="27432" bIns="27432" anchor="t">
            <a:noAutofit/>
          </a:bodyPr>
          <a:lstStyle/>
          <a:p>
            <a:pPr algn="r">
              <a:lnSpc>
                <a:spcPct val="100000"/>
              </a:lnSpc>
            </a:pPr>
            <a:r>
              <a:rPr sz="850" b="0" i="0" spc="100">
                <a:solidFill>
                  <a:srgbClr val="A7B2B0"/>
                </a:solidFill>
                <a:latin typeface="Segoe UI Semibold"/>
              </a:rPr>
              <a:t>v1.91.1   ·   142</a:t>
            </a:r>
          </a:p>
        </p:txBody>
      </p:sp>
    </p:spTree>
  </p:cSld>
  <p:clrMapOvr>
    <a:masterClrMapping/>
  </p:clrMapOvr>
</p:sld>
</file>

<file path=ppt/slides/slide1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content.png"/>
          <p:cNvPicPr>
            <a:picLocks noChangeAspect="1"/>
          </p:cNvPicPr>
          <p:nvPr/>
        </p:nvPicPr>
        <p:blipFill>
          <a:blip r:embed="rId2"/>
          <a:stretch>
            <a:fillRect/>
          </a:stretch>
        </p:blipFill>
        <p:spPr>
          <a:xfrm>
            <a:off x="0" y="0"/>
            <a:ext cx="12191695" cy="6858000"/>
          </a:xfrm>
          <a:prstGeom prst="rect">
            <a:avLst/>
          </a:prstGeom>
        </p:spPr>
      </p:pic>
      <p:sp>
        <p:nvSpPr>
          <p:cNvPr id="3" name="Diamond 2"/>
          <p:cNvSpPr/>
          <p:nvPr/>
        </p:nvSpPr>
        <p:spPr>
          <a:xfrm>
            <a:off x="566928" y="457200"/>
            <a:ext cx="100584" cy="100584"/>
          </a:xfrm>
          <a:prstGeom prst="diamond">
            <a:avLst/>
          </a:prstGeom>
          <a:solidFill>
            <a:srgbClr val="E2B4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49808" y="365760"/>
            <a:ext cx="8229600" cy="292608"/>
          </a:xfrm>
          <a:prstGeom prst="rect">
            <a:avLst/>
          </a:prstGeom>
          <a:noFill/>
        </p:spPr>
        <p:txBody>
          <a:bodyPr wrap="square" lIns="45720" rIns="45720" tIns="27432" bIns="27432" anchor="t">
            <a:noAutofit/>
          </a:bodyPr>
          <a:lstStyle/>
          <a:p>
            <a:pPr algn="l">
              <a:lnSpc>
                <a:spcPct val="100000"/>
              </a:lnSpc>
            </a:pPr>
            <a:r>
              <a:rPr sz="1100" b="0" i="0" spc="240">
                <a:solidFill>
                  <a:srgbClr val="C98457"/>
                </a:solidFill>
                <a:latin typeface="Segoe UI Semibold"/>
              </a:rPr>
              <a:t>HEREDADO DE v1.78.0</a:t>
            </a:r>
          </a:p>
        </p:txBody>
      </p:sp>
      <p:sp>
        <p:nvSpPr>
          <p:cNvPr id="5" name="TextBox 4"/>
          <p:cNvSpPr txBox="1"/>
          <p:nvPr/>
        </p:nvSpPr>
        <p:spPr>
          <a:xfrm>
            <a:off x="539496" y="676656"/>
            <a:ext cx="11057839" cy="658368"/>
          </a:xfrm>
          <a:prstGeom prst="rect">
            <a:avLst/>
          </a:prstGeom>
          <a:noFill/>
        </p:spPr>
        <p:txBody>
          <a:bodyPr wrap="square" lIns="45720" rIns="45720" tIns="27432" bIns="27432" anchor="t">
            <a:noAutofit/>
          </a:bodyPr>
          <a:lstStyle/>
          <a:p>
            <a:pPr algn="l">
              <a:lnSpc>
                <a:spcPct val="100000"/>
              </a:lnSpc>
            </a:pPr>
            <a:r>
              <a:rPr sz="3100" b="0" i="0">
                <a:solidFill>
                  <a:srgbClr val="F7F2E8"/>
                </a:solidFill>
                <a:latin typeface="Palatino Linotype"/>
              </a:rPr>
              <a:t>Uso: créditos y actividad, mientras trabaja</a:t>
            </a:r>
          </a:p>
        </p:txBody>
      </p:sp>
      <p:sp>
        <p:nvSpPr>
          <p:cNvPr id="6" name="Rectangle 5"/>
          <p:cNvSpPr/>
          <p:nvPr/>
        </p:nvSpPr>
        <p:spPr>
          <a:xfrm>
            <a:off x="566928" y="1344168"/>
            <a:ext cx="822960" cy="36576"/>
          </a:xfrm>
          <a:prstGeom prst="rect">
            <a:avLst/>
          </a:prstGeom>
          <a:solidFill>
            <a:srgbClr val="E2B4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566928" y="1444752"/>
            <a:ext cx="10692079" cy="585216"/>
          </a:xfrm>
          <a:prstGeom prst="rect">
            <a:avLst/>
          </a:prstGeom>
          <a:noFill/>
        </p:spPr>
        <p:txBody>
          <a:bodyPr wrap="square" lIns="45720" rIns="45720" tIns="27432" bIns="27432" anchor="t">
            <a:noAutofit/>
          </a:bodyPr>
          <a:lstStyle/>
          <a:p>
            <a:pPr algn="l">
              <a:lnSpc>
                <a:spcPct val="100000"/>
              </a:lnSpc>
            </a:pPr>
            <a:r>
              <a:rPr sz="1450" b="0" i="0">
                <a:solidFill>
                  <a:srgbClr val="A7B2B0"/>
                </a:solidFill>
                <a:latin typeface="Segoe UI Semilight"/>
              </a:rPr>
              <a:t>Con tag del 10 de octubre; el commit de Uso llega un commit después del tag. El zip publicado de v1.78.0 lo lleva.</a:t>
            </a:r>
          </a:p>
        </p:txBody>
      </p:sp>
      <p:sp>
        <p:nvSpPr>
          <p:cNvPr id="8" name="Rounded Rectangle 7"/>
          <p:cNvSpPr/>
          <p:nvPr/>
        </p:nvSpPr>
        <p:spPr>
          <a:xfrm>
            <a:off x="566928" y="2084831"/>
            <a:ext cx="3551834" cy="1956816"/>
          </a:xfrm>
          <a:prstGeom prst="roundRect">
            <a:avLst>
              <a:gd name="adj" fmla="val 5607"/>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ectangle 8"/>
          <p:cNvSpPr/>
          <p:nvPr/>
        </p:nvSpPr>
        <p:spPr>
          <a:xfrm>
            <a:off x="731520" y="2212848"/>
            <a:ext cx="502920" cy="45720"/>
          </a:xfrm>
          <a:prstGeom prst="rect">
            <a:avLst/>
          </a:prstGeom>
          <a:solidFill>
            <a:srgbClr val="3BBE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694944" y="2304287"/>
            <a:ext cx="3295802" cy="353568"/>
          </a:xfrm>
          <a:prstGeom prst="rect">
            <a:avLst/>
          </a:prstGeom>
          <a:noFill/>
        </p:spPr>
        <p:txBody>
          <a:bodyPr wrap="square" lIns="45720" rIns="45720" tIns="27432" bIns="27432" anchor="t">
            <a:noAutofit/>
          </a:bodyPr>
          <a:lstStyle/>
          <a:p>
            <a:pPr algn="l">
              <a:lnSpc>
                <a:spcPct val="100000"/>
              </a:lnSpc>
            </a:pPr>
            <a:r>
              <a:rPr sz="1600" b="0" i="0">
                <a:solidFill>
                  <a:srgbClr val="F7F2E8"/>
                </a:solidFill>
                <a:latin typeface="Segoe UI Semibold"/>
              </a:rPr>
              <a:t>220 pruebas</a:t>
            </a:r>
          </a:p>
        </p:txBody>
      </p:sp>
      <p:sp>
        <p:nvSpPr>
          <p:cNvPr id="11" name="TextBox 10"/>
          <p:cNvSpPr txBox="1"/>
          <p:nvPr/>
        </p:nvSpPr>
        <p:spPr>
          <a:xfrm>
            <a:off x="694944" y="2657855"/>
            <a:ext cx="3295802" cy="1292352"/>
          </a:xfrm>
          <a:prstGeom prst="rect">
            <a:avLst/>
          </a:prstGeom>
          <a:noFill/>
        </p:spPr>
        <p:txBody>
          <a:bodyPr wrap="square" lIns="45720" rIns="45720" tIns="27432" bIns="27432" anchor="t">
            <a:noAutofit/>
          </a:bodyPr>
          <a:lstStyle/>
          <a:p>
            <a:pPr algn="l">
              <a:lnSpc>
                <a:spcPct val="100000"/>
              </a:lnSpc>
            </a:pPr>
            <a:r>
              <a:rPr sz="1300" b="0" i="0">
                <a:solidFill>
                  <a:srgbClr val="A7B2B0"/>
                </a:solidFill>
                <a:latin typeface="Segoe UI"/>
              </a:rPr>
              <a:t>Pasaron 18 de Uso más 202 regresiones existentes el 10 de octubre.</a:t>
            </a:r>
          </a:p>
        </p:txBody>
      </p:sp>
      <p:sp>
        <p:nvSpPr>
          <p:cNvPr id="12" name="Rounded Rectangle 11"/>
          <p:cNvSpPr/>
          <p:nvPr/>
        </p:nvSpPr>
        <p:spPr>
          <a:xfrm>
            <a:off x="4319930" y="2084831"/>
            <a:ext cx="3551834" cy="1956816"/>
          </a:xfrm>
          <a:prstGeom prst="roundRect">
            <a:avLst>
              <a:gd name="adj" fmla="val 5607"/>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4484522" y="2212848"/>
            <a:ext cx="502920" cy="45720"/>
          </a:xfrm>
          <a:prstGeom prst="rect">
            <a:avLst/>
          </a:prstGeom>
          <a:solidFill>
            <a:srgbClr val="C984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4447946" y="2304287"/>
            <a:ext cx="3295802" cy="353568"/>
          </a:xfrm>
          <a:prstGeom prst="rect">
            <a:avLst/>
          </a:prstGeom>
          <a:noFill/>
        </p:spPr>
        <p:txBody>
          <a:bodyPr wrap="square" lIns="45720" rIns="45720" tIns="27432" bIns="27432" anchor="t">
            <a:noAutofit/>
          </a:bodyPr>
          <a:lstStyle/>
          <a:p>
            <a:pPr algn="l">
              <a:lnSpc>
                <a:spcPct val="100000"/>
              </a:lnSpc>
            </a:pPr>
            <a:r>
              <a:rPr sz="1600" b="0" i="0">
                <a:solidFill>
                  <a:srgbClr val="F7F2E8"/>
                </a:solidFill>
                <a:latin typeface="Segoe UI Semibold"/>
              </a:rPr>
              <a:t>24 revisiones en el browser</a:t>
            </a:r>
          </a:p>
        </p:txBody>
      </p:sp>
      <p:sp>
        <p:nvSpPr>
          <p:cNvPr id="15" name="TextBox 14"/>
          <p:cNvSpPr txBox="1"/>
          <p:nvPr/>
        </p:nvSpPr>
        <p:spPr>
          <a:xfrm>
            <a:off x="4447946" y="2657855"/>
            <a:ext cx="3295802" cy="1292352"/>
          </a:xfrm>
          <a:prstGeom prst="rect">
            <a:avLst/>
          </a:prstGeom>
          <a:noFill/>
        </p:spPr>
        <p:txBody>
          <a:bodyPr wrap="square" lIns="45720" rIns="45720" tIns="27432" bIns="27432" anchor="t">
            <a:noAutofit/>
          </a:bodyPr>
          <a:lstStyle/>
          <a:p>
            <a:pPr algn="l">
              <a:lnSpc>
                <a:spcPct val="100000"/>
              </a:lnSpc>
            </a:pPr>
            <a:r>
              <a:rPr sz="1300" b="0" i="0">
                <a:solidFill>
                  <a:srgbClr val="A7B2B0"/>
                </a:solidFill>
                <a:latin typeface="Segoe UI"/>
              </a:rPr>
              <a:t>Comparaciones visibles en vivo con Pro más casos límite claramente sintéticos.</a:t>
            </a:r>
          </a:p>
        </p:txBody>
      </p:sp>
      <p:sp>
        <p:nvSpPr>
          <p:cNvPr id="16" name="Rounded Rectangle 15"/>
          <p:cNvSpPr/>
          <p:nvPr/>
        </p:nvSpPr>
        <p:spPr>
          <a:xfrm>
            <a:off x="8072932" y="2084831"/>
            <a:ext cx="3551834" cy="1956816"/>
          </a:xfrm>
          <a:prstGeom prst="roundRect">
            <a:avLst>
              <a:gd name="adj" fmla="val 5607"/>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8237524" y="2212848"/>
            <a:ext cx="502920" cy="45720"/>
          </a:xfrm>
          <a:prstGeom prst="rect">
            <a:avLst/>
          </a:prstGeom>
          <a:solidFill>
            <a:srgbClr val="E2B4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200948" y="2304287"/>
            <a:ext cx="3295802" cy="353568"/>
          </a:xfrm>
          <a:prstGeom prst="rect">
            <a:avLst/>
          </a:prstGeom>
          <a:noFill/>
        </p:spPr>
        <p:txBody>
          <a:bodyPr wrap="square" lIns="45720" rIns="45720" tIns="27432" bIns="27432" anchor="t">
            <a:noAutofit/>
          </a:bodyPr>
          <a:lstStyle/>
          <a:p>
            <a:pPr algn="l">
              <a:lnSpc>
                <a:spcPct val="100000"/>
              </a:lnSpc>
            </a:pPr>
            <a:r>
              <a:rPr sz="1600" b="0" i="0">
                <a:solidFill>
                  <a:srgbClr val="F7F2E8"/>
                </a:solidFill>
                <a:latin typeface="Segoe UI Semibold"/>
              </a:rPr>
              <a:t>Recuperación</a:t>
            </a:r>
          </a:p>
        </p:txBody>
      </p:sp>
      <p:sp>
        <p:nvSpPr>
          <p:cNvPr id="19" name="TextBox 18"/>
          <p:cNvSpPr txBox="1"/>
          <p:nvPr/>
        </p:nvSpPr>
        <p:spPr>
          <a:xfrm>
            <a:off x="8200948" y="2657855"/>
            <a:ext cx="3295802" cy="1292352"/>
          </a:xfrm>
          <a:prstGeom prst="rect">
            <a:avLst/>
          </a:prstGeom>
          <a:noFill/>
        </p:spPr>
        <p:txBody>
          <a:bodyPr wrap="square" lIns="45720" rIns="45720" tIns="27432" bIns="27432" anchor="t">
            <a:noAutofit/>
          </a:bodyPr>
          <a:lstStyle/>
          <a:p>
            <a:pPr algn="l">
              <a:lnSpc>
                <a:spcPct val="100000"/>
              </a:lnSpc>
            </a:pPr>
            <a:r>
              <a:rPr sz="1300" b="0" i="0">
                <a:solidFill>
                  <a:srgbClr val="A7B2B0"/>
                </a:solidFill>
                <a:latin typeface="Segoe UI"/>
              </a:rPr>
              <a:t>27 pruebas de Uso y 12 revisiones visibles; las caídas se reintentan después de 15 s.</a:t>
            </a:r>
          </a:p>
        </p:txBody>
      </p:sp>
      <p:sp>
        <p:nvSpPr>
          <p:cNvPr id="20" name="Rounded Rectangle 19"/>
          <p:cNvSpPr/>
          <p:nvPr/>
        </p:nvSpPr>
        <p:spPr>
          <a:xfrm>
            <a:off x="566928" y="4242816"/>
            <a:ext cx="3551834" cy="1956816"/>
          </a:xfrm>
          <a:prstGeom prst="roundRect">
            <a:avLst>
              <a:gd name="adj" fmla="val 5607"/>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ectangle 20"/>
          <p:cNvSpPr/>
          <p:nvPr/>
        </p:nvSpPr>
        <p:spPr>
          <a:xfrm>
            <a:off x="731520" y="4370832"/>
            <a:ext cx="502920" cy="45720"/>
          </a:xfrm>
          <a:prstGeom prst="rect">
            <a:avLst/>
          </a:prstGeom>
          <a:solidFill>
            <a:srgbClr val="46D2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694944" y="4462272"/>
            <a:ext cx="3295802" cy="353568"/>
          </a:xfrm>
          <a:prstGeom prst="rect">
            <a:avLst/>
          </a:prstGeom>
          <a:noFill/>
        </p:spPr>
        <p:txBody>
          <a:bodyPr wrap="square" lIns="45720" rIns="45720" tIns="27432" bIns="27432" anchor="t">
            <a:noAutofit/>
          </a:bodyPr>
          <a:lstStyle/>
          <a:p>
            <a:pPr algn="l">
              <a:lnSpc>
                <a:spcPct val="100000"/>
              </a:lnSpc>
            </a:pPr>
            <a:r>
              <a:rPr sz="1600" b="0" i="0">
                <a:solidFill>
                  <a:srgbClr val="F7F2E8"/>
                </a:solidFill>
                <a:latin typeface="Segoe UI Semibold"/>
              </a:rPr>
              <a:t>Durante una solicitud</a:t>
            </a:r>
          </a:p>
        </p:txBody>
      </p:sp>
      <p:sp>
        <p:nvSpPr>
          <p:cNvPr id="23" name="TextBox 22"/>
          <p:cNvSpPr txBox="1"/>
          <p:nvPr/>
        </p:nvSpPr>
        <p:spPr>
          <a:xfrm>
            <a:off x="694944" y="4815840"/>
            <a:ext cx="3295802" cy="1292352"/>
          </a:xfrm>
          <a:prstGeom prst="rect">
            <a:avLst/>
          </a:prstGeom>
          <a:noFill/>
        </p:spPr>
        <p:txBody>
          <a:bodyPr wrap="square" lIns="45720" rIns="45720" tIns="27432" bIns="27432" anchor="t">
            <a:noAutofit/>
          </a:bodyPr>
          <a:lstStyle/>
          <a:p>
            <a:pPr algn="l">
              <a:lnSpc>
                <a:spcPct val="100000"/>
              </a:lnSpc>
            </a:pPr>
            <a:r>
              <a:rPr sz="1300" b="0" i="0">
                <a:solidFill>
                  <a:srgbClr val="A7B2B0"/>
                </a:solidFill>
                <a:latin typeface="Segoe UI"/>
              </a:rPr>
              <a:t>Uso se abrió/actualizó mientras se completaba una respuesta real del modelo.</a:t>
            </a:r>
          </a:p>
        </p:txBody>
      </p:sp>
      <p:sp>
        <p:nvSpPr>
          <p:cNvPr id="24" name="Rounded Rectangle 23"/>
          <p:cNvSpPr/>
          <p:nvPr/>
        </p:nvSpPr>
        <p:spPr>
          <a:xfrm>
            <a:off x="4319930" y="4242816"/>
            <a:ext cx="3551834" cy="1956816"/>
          </a:xfrm>
          <a:prstGeom prst="roundRect">
            <a:avLst>
              <a:gd name="adj" fmla="val 5607"/>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ectangle 24"/>
          <p:cNvSpPr/>
          <p:nvPr/>
        </p:nvSpPr>
        <p:spPr>
          <a:xfrm>
            <a:off x="4484522" y="4370832"/>
            <a:ext cx="502920" cy="45720"/>
          </a:xfrm>
          <a:prstGeom prst="rect">
            <a:avLst/>
          </a:prstGeom>
          <a:solidFill>
            <a:srgbClr val="D25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4447946" y="4462272"/>
            <a:ext cx="3295802" cy="353568"/>
          </a:xfrm>
          <a:prstGeom prst="rect">
            <a:avLst/>
          </a:prstGeom>
          <a:noFill/>
        </p:spPr>
        <p:txBody>
          <a:bodyPr wrap="square" lIns="45720" rIns="45720" tIns="27432" bIns="27432" anchor="t">
            <a:noAutofit/>
          </a:bodyPr>
          <a:lstStyle/>
          <a:p>
            <a:pPr algn="l">
              <a:lnSpc>
                <a:spcPct val="100000"/>
              </a:lnSpc>
            </a:pPr>
            <a:r>
              <a:rPr sz="1600" b="0" i="0">
                <a:solidFill>
                  <a:srgbClr val="F7F2E8"/>
                </a:solidFill>
                <a:latin typeface="Segoe UI Semibold"/>
              </a:rPr>
              <a:t>En el release</a:t>
            </a:r>
          </a:p>
        </p:txBody>
      </p:sp>
      <p:sp>
        <p:nvSpPr>
          <p:cNvPr id="27" name="TextBox 26"/>
          <p:cNvSpPr txBox="1"/>
          <p:nvPr/>
        </p:nvSpPr>
        <p:spPr>
          <a:xfrm>
            <a:off x="4447946" y="4815840"/>
            <a:ext cx="3295802" cy="1292352"/>
          </a:xfrm>
          <a:prstGeom prst="rect">
            <a:avLst/>
          </a:prstGeom>
          <a:noFill/>
        </p:spPr>
        <p:txBody>
          <a:bodyPr wrap="square" lIns="45720" rIns="45720" tIns="27432" bIns="27432" anchor="t">
            <a:noAutofit/>
          </a:bodyPr>
          <a:lstStyle/>
          <a:p>
            <a:pPr algn="l">
              <a:lnSpc>
                <a:spcPct val="100000"/>
              </a:lnSpc>
            </a:pPr>
            <a:r>
              <a:rPr sz="1300" b="0" i="0">
                <a:solidFill>
                  <a:srgbClr val="A7B2B0"/>
                </a:solidFill>
                <a:latin typeface="Segoe UI"/>
              </a:rPr>
              <a:t>Los archivos del zip publicado coinciden con el último commit del 10 de octubre.</a:t>
            </a:r>
          </a:p>
        </p:txBody>
      </p:sp>
      <p:sp>
        <p:nvSpPr>
          <p:cNvPr id="28" name="Rounded Rectangle 27"/>
          <p:cNvSpPr/>
          <p:nvPr/>
        </p:nvSpPr>
        <p:spPr>
          <a:xfrm>
            <a:off x="8072932" y="4242816"/>
            <a:ext cx="3551834" cy="1956816"/>
          </a:xfrm>
          <a:prstGeom prst="roundRect">
            <a:avLst>
              <a:gd name="adj" fmla="val 5607"/>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Rectangle 28"/>
          <p:cNvSpPr/>
          <p:nvPr/>
        </p:nvSpPr>
        <p:spPr>
          <a:xfrm>
            <a:off x="8237524" y="4370832"/>
            <a:ext cx="502920" cy="45720"/>
          </a:xfrm>
          <a:prstGeom prst="rect">
            <a:avLst/>
          </a:prstGeom>
          <a:solidFill>
            <a:srgbClr val="D957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8200948" y="4462272"/>
            <a:ext cx="3295802" cy="353568"/>
          </a:xfrm>
          <a:prstGeom prst="rect">
            <a:avLst/>
          </a:prstGeom>
          <a:noFill/>
        </p:spPr>
        <p:txBody>
          <a:bodyPr wrap="square" lIns="45720" rIns="45720" tIns="27432" bIns="27432" anchor="t">
            <a:noAutofit/>
          </a:bodyPr>
          <a:lstStyle/>
          <a:p>
            <a:pPr algn="l">
              <a:lnSpc>
                <a:spcPct val="100000"/>
              </a:lnSpc>
            </a:pPr>
            <a:r>
              <a:rPr sz="1600" b="0" i="0">
                <a:solidFill>
                  <a:srgbClr val="F7F2E8"/>
                </a:solidFill>
                <a:latin typeface="Segoe UI Semibold"/>
              </a:rPr>
              <a:t>Privacidad</a:t>
            </a:r>
          </a:p>
        </p:txBody>
      </p:sp>
      <p:sp>
        <p:nvSpPr>
          <p:cNvPr id="31" name="TextBox 30"/>
          <p:cNvSpPr txBox="1"/>
          <p:nvPr/>
        </p:nvSpPr>
        <p:spPr>
          <a:xfrm>
            <a:off x="8200948" y="4815840"/>
            <a:ext cx="3295802" cy="1292352"/>
          </a:xfrm>
          <a:prstGeom prst="rect">
            <a:avLst/>
          </a:prstGeom>
          <a:noFill/>
        </p:spPr>
        <p:txBody>
          <a:bodyPr wrap="square" lIns="45720" rIns="45720" tIns="27432" bIns="27432" anchor="t">
            <a:noAutofit/>
          </a:bodyPr>
          <a:lstStyle/>
          <a:p>
            <a:pPr algn="l">
              <a:lnSpc>
                <a:spcPct val="100000"/>
              </a:lnSpc>
            </a:pPr>
            <a:r>
              <a:rPr sz="1300" b="0" i="0">
                <a:solidFill>
                  <a:srgbClr val="A7B2B0"/>
                </a:solidFill>
                <a:latin typeface="Segoe UI"/>
              </a:rPr>
              <a:t>Las observaciones de la cuenta y los screenshots autenticados se quedan fuera de este dossier.</a:t>
            </a:r>
          </a:p>
        </p:txBody>
      </p:sp>
      <p:cxnSp>
        <p:nvCxnSpPr>
          <p:cNvPr id="32" name="Connector 31"/>
          <p:cNvCxnSpPr/>
          <p:nvPr/>
        </p:nvCxnSpPr>
        <p:spPr>
          <a:xfrm>
            <a:off x="566928" y="6373368"/>
            <a:ext cx="11057839" cy="0"/>
          </a:xfrm>
          <a:prstGeom prst="line">
            <a:avLst/>
          </a:prstGeom>
          <a:ln w="7620">
            <a:solidFill>
              <a:srgbClr val="2A3A40"/>
            </a:solidFill>
          </a:ln>
        </p:spPr>
        <p:style>
          <a:lnRef idx="2">
            <a:schemeClr val="accent1"/>
          </a:lnRef>
          <a:fillRef idx="0">
            <a:schemeClr val="accent1"/>
          </a:fillRef>
          <a:effectRef idx="1">
            <a:schemeClr val="accent1"/>
          </a:effectRef>
          <a:fontRef idx="minor">
            <a:schemeClr val="tx1"/>
          </a:fontRef>
        </p:style>
      </p:cxnSp>
      <p:sp>
        <p:nvSpPr>
          <p:cNvPr id="33" name="TextBox 32"/>
          <p:cNvSpPr txBox="1"/>
          <p:nvPr/>
        </p:nvSpPr>
        <p:spPr>
          <a:xfrm>
            <a:off x="566928" y="6419088"/>
            <a:ext cx="6858000" cy="274320"/>
          </a:xfrm>
          <a:prstGeom prst="rect">
            <a:avLst/>
          </a:prstGeom>
          <a:noFill/>
        </p:spPr>
        <p:txBody>
          <a:bodyPr wrap="square" lIns="45720" rIns="45720" tIns="27432" bIns="27432" anchor="t">
            <a:noAutofit/>
          </a:bodyPr>
          <a:lstStyle/>
          <a:p>
            <a:pPr algn="l">
              <a:lnSpc>
                <a:spcPct val="100000"/>
              </a:lnSpc>
            </a:pPr>
            <a:r>
              <a:rPr sz="850" b="0" i="0" spc="120">
                <a:solidFill>
                  <a:srgbClr val="A7B2B0"/>
                </a:solidFill>
                <a:latin typeface="Segoe UI Semibold"/>
              </a:rPr>
              <a:t>TLAMATINI  ·  VIII · RELEASE ACTUAL</a:t>
            </a:r>
          </a:p>
        </p:txBody>
      </p:sp>
      <p:sp>
        <p:nvSpPr>
          <p:cNvPr id="34" name="TextBox 33"/>
          <p:cNvSpPr txBox="1"/>
          <p:nvPr/>
        </p:nvSpPr>
        <p:spPr>
          <a:xfrm>
            <a:off x="8698687" y="6419088"/>
            <a:ext cx="2926080" cy="274320"/>
          </a:xfrm>
          <a:prstGeom prst="rect">
            <a:avLst/>
          </a:prstGeom>
          <a:noFill/>
        </p:spPr>
        <p:txBody>
          <a:bodyPr wrap="square" lIns="45720" rIns="45720" tIns="27432" bIns="27432" anchor="t">
            <a:noAutofit/>
          </a:bodyPr>
          <a:lstStyle/>
          <a:p>
            <a:pPr algn="r">
              <a:lnSpc>
                <a:spcPct val="100000"/>
              </a:lnSpc>
            </a:pPr>
            <a:r>
              <a:rPr sz="850" b="0" i="0" spc="100">
                <a:solidFill>
                  <a:srgbClr val="A7B2B0"/>
                </a:solidFill>
                <a:latin typeface="Segoe UI Semibold"/>
              </a:rPr>
              <a:t>v1.91.1   ·   143</a:t>
            </a:r>
          </a:p>
        </p:txBody>
      </p:sp>
    </p:spTree>
  </p:cSld>
  <p:clrMapOvr>
    <a:masterClrMapping/>
  </p:clrMapOvr>
</p:sld>
</file>

<file path=ppt/slides/slide1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content.png"/>
          <p:cNvPicPr>
            <a:picLocks noChangeAspect="1"/>
          </p:cNvPicPr>
          <p:nvPr/>
        </p:nvPicPr>
        <p:blipFill>
          <a:blip r:embed="rId2"/>
          <a:stretch>
            <a:fillRect/>
          </a:stretch>
        </p:blipFill>
        <p:spPr>
          <a:xfrm>
            <a:off x="0" y="0"/>
            <a:ext cx="12191695" cy="6858000"/>
          </a:xfrm>
          <a:prstGeom prst="rect">
            <a:avLst/>
          </a:prstGeom>
        </p:spPr>
      </p:pic>
      <p:sp>
        <p:nvSpPr>
          <p:cNvPr id="3" name="Diamond 2"/>
          <p:cNvSpPr/>
          <p:nvPr/>
        </p:nvSpPr>
        <p:spPr>
          <a:xfrm>
            <a:off x="566928" y="457200"/>
            <a:ext cx="100584" cy="100584"/>
          </a:xfrm>
          <a:prstGeom prst="diamond">
            <a:avLst/>
          </a:prstGeom>
          <a:solidFill>
            <a:srgbClr val="E2B4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49808" y="365760"/>
            <a:ext cx="8229600" cy="292608"/>
          </a:xfrm>
          <a:prstGeom prst="rect">
            <a:avLst/>
          </a:prstGeom>
          <a:noFill/>
        </p:spPr>
        <p:txBody>
          <a:bodyPr wrap="square" lIns="45720" rIns="45720" tIns="27432" bIns="27432" anchor="t">
            <a:noAutofit/>
          </a:bodyPr>
          <a:lstStyle/>
          <a:p>
            <a:pPr algn="l">
              <a:lnSpc>
                <a:spcPct val="100000"/>
              </a:lnSpc>
            </a:pPr>
            <a:r>
              <a:rPr sz="1100" b="0" i="0" spc="240">
                <a:solidFill>
                  <a:srgbClr val="C98457"/>
                </a:solidFill>
                <a:latin typeface="Segoe UI Semibold"/>
              </a:rPr>
              <a:t>HEREDADO DE v1.78.0</a:t>
            </a:r>
          </a:p>
        </p:txBody>
      </p:sp>
      <p:sp>
        <p:nvSpPr>
          <p:cNvPr id="5" name="TextBox 4"/>
          <p:cNvSpPr txBox="1"/>
          <p:nvPr/>
        </p:nvSpPr>
        <p:spPr>
          <a:xfrm>
            <a:off x="539496" y="676656"/>
            <a:ext cx="11057839" cy="658368"/>
          </a:xfrm>
          <a:prstGeom prst="rect">
            <a:avLst/>
          </a:prstGeom>
          <a:noFill/>
        </p:spPr>
        <p:txBody>
          <a:bodyPr wrap="square" lIns="45720" rIns="45720" tIns="27432" bIns="27432" anchor="t">
            <a:noAutofit/>
          </a:bodyPr>
          <a:lstStyle/>
          <a:p>
            <a:pPr algn="l">
              <a:lnSpc>
                <a:spcPct val="100000"/>
              </a:lnSpc>
            </a:pPr>
            <a:r>
              <a:rPr sz="3100" b="0" i="0">
                <a:solidFill>
                  <a:srgbClr val="F7F2E8"/>
                </a:solidFill>
                <a:latin typeface="Palatino Linotype"/>
              </a:rPr>
              <a:t>Desacóplala y la caja de mensaje se encoge</a:t>
            </a:r>
          </a:p>
        </p:txBody>
      </p:sp>
      <p:sp>
        <p:nvSpPr>
          <p:cNvPr id="6" name="Rectangle 5"/>
          <p:cNvSpPr/>
          <p:nvPr/>
        </p:nvSpPr>
        <p:spPr>
          <a:xfrm>
            <a:off x="566928" y="1344168"/>
            <a:ext cx="822960" cy="36576"/>
          </a:xfrm>
          <a:prstGeom prst="rect">
            <a:avLst/>
          </a:prstGeom>
          <a:solidFill>
            <a:srgbClr val="E2B4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566928" y="1444752"/>
            <a:ext cx="10692079" cy="585216"/>
          </a:xfrm>
          <a:prstGeom prst="rect">
            <a:avLst/>
          </a:prstGeom>
          <a:noFill/>
        </p:spPr>
        <p:txBody>
          <a:bodyPr wrap="square" lIns="45720" rIns="45720" tIns="27432" bIns="27432" anchor="t">
            <a:noAutofit/>
          </a:bodyPr>
          <a:lstStyle/>
          <a:p>
            <a:pPr algn="l">
              <a:lnSpc>
                <a:spcPct val="100000"/>
              </a:lnSpc>
            </a:pPr>
            <a:r>
              <a:rPr sz="1450" b="0" i="0">
                <a:solidFill>
                  <a:srgbClr val="A7B2B0"/>
                </a:solidFill>
                <a:latin typeface="Segoe UI Semilight"/>
              </a:rPr>
              <a:t>Dos commits después del tag v1.78.0, y llevado por el zip publicado: el área de input cambia de tamaño cuando ella flota.</a:t>
            </a:r>
          </a:p>
        </p:txBody>
      </p:sp>
      <p:sp>
        <p:nvSpPr>
          <p:cNvPr id="8" name="Rounded Rectangle 7"/>
          <p:cNvSpPr/>
          <p:nvPr/>
        </p:nvSpPr>
        <p:spPr>
          <a:xfrm>
            <a:off x="566928" y="2084831"/>
            <a:ext cx="3551834" cy="1956816"/>
          </a:xfrm>
          <a:prstGeom prst="roundRect">
            <a:avLst>
              <a:gd name="adj" fmla="val 5607"/>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ectangle 8"/>
          <p:cNvSpPr/>
          <p:nvPr/>
        </p:nvSpPr>
        <p:spPr>
          <a:xfrm>
            <a:off x="731520" y="2212848"/>
            <a:ext cx="502920" cy="45720"/>
          </a:xfrm>
          <a:prstGeom prst="rect">
            <a:avLst/>
          </a:prstGeom>
          <a:solidFill>
            <a:srgbClr val="3BBE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694944" y="2304287"/>
            <a:ext cx="3295802" cy="353568"/>
          </a:xfrm>
          <a:prstGeom prst="rect">
            <a:avLst/>
          </a:prstGeom>
          <a:noFill/>
        </p:spPr>
        <p:txBody>
          <a:bodyPr wrap="square" lIns="45720" rIns="45720" tIns="27432" bIns="27432" anchor="t">
            <a:noAutofit/>
          </a:bodyPr>
          <a:lstStyle/>
          <a:p>
            <a:pPr algn="l">
              <a:lnSpc>
                <a:spcPct val="100000"/>
              </a:lnSpc>
            </a:pPr>
            <a:r>
              <a:rPr sz="1600" b="0" i="0">
                <a:solidFill>
                  <a:srgbClr val="F7F2E8"/>
                </a:solidFill>
                <a:latin typeface="Segoe UI Semibold"/>
              </a:rPr>
              <a:t>Se encoge para caber</a:t>
            </a:r>
          </a:p>
        </p:txBody>
      </p:sp>
      <p:sp>
        <p:nvSpPr>
          <p:cNvPr id="11" name="TextBox 10"/>
          <p:cNvSpPr txBox="1"/>
          <p:nvPr/>
        </p:nvSpPr>
        <p:spPr>
          <a:xfrm>
            <a:off x="694944" y="2657855"/>
            <a:ext cx="3295802" cy="1292352"/>
          </a:xfrm>
          <a:prstGeom prst="rect">
            <a:avLst/>
          </a:prstGeom>
          <a:noFill/>
        </p:spPr>
        <p:txBody>
          <a:bodyPr wrap="square" lIns="45720" rIns="45720" tIns="27432" bIns="27432" anchor="t">
            <a:noAutofit/>
          </a:bodyPr>
          <a:lstStyle/>
          <a:p>
            <a:pPr algn="l">
              <a:lnSpc>
                <a:spcPct val="100000"/>
              </a:lnSpc>
            </a:pPr>
            <a:r>
              <a:rPr sz="1300" b="0" i="0">
                <a:solidFill>
                  <a:srgbClr val="A7B2B0"/>
                </a:solidFill>
                <a:latin typeface="Segoe UI"/>
              </a:rPr>
              <a:t>Desacoplado, el área de input se puede encoger hasta sus botones; sin piso del 30%.</a:t>
            </a:r>
          </a:p>
        </p:txBody>
      </p:sp>
      <p:sp>
        <p:nvSpPr>
          <p:cNvPr id="12" name="Rounded Rectangle 11"/>
          <p:cNvSpPr/>
          <p:nvPr/>
        </p:nvSpPr>
        <p:spPr>
          <a:xfrm>
            <a:off x="4319930" y="2084831"/>
            <a:ext cx="3551834" cy="1956816"/>
          </a:xfrm>
          <a:prstGeom prst="roundRect">
            <a:avLst>
              <a:gd name="adj" fmla="val 5607"/>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4484522" y="2212848"/>
            <a:ext cx="502920" cy="45720"/>
          </a:xfrm>
          <a:prstGeom prst="rect">
            <a:avLst/>
          </a:prstGeom>
          <a:solidFill>
            <a:srgbClr val="C984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4447946" y="2304287"/>
            <a:ext cx="3295802" cy="353568"/>
          </a:xfrm>
          <a:prstGeom prst="rect">
            <a:avLst/>
          </a:prstGeom>
          <a:noFill/>
        </p:spPr>
        <p:txBody>
          <a:bodyPr wrap="square" lIns="45720" rIns="45720" tIns="27432" bIns="27432" anchor="t">
            <a:noAutofit/>
          </a:bodyPr>
          <a:lstStyle/>
          <a:p>
            <a:pPr algn="l">
              <a:lnSpc>
                <a:spcPct val="100000"/>
              </a:lnSpc>
            </a:pPr>
            <a:r>
              <a:rPr sz="1600" b="0" i="0">
                <a:solidFill>
                  <a:srgbClr val="F7F2E8"/>
                </a:solidFill>
                <a:latin typeface="Segoe UI Semibold"/>
              </a:rPr>
              <a:t>Acoplar de nuevo</a:t>
            </a:r>
          </a:p>
        </p:txBody>
      </p:sp>
      <p:sp>
        <p:nvSpPr>
          <p:cNvPr id="15" name="TextBox 14"/>
          <p:cNvSpPr txBox="1"/>
          <p:nvPr/>
        </p:nvSpPr>
        <p:spPr>
          <a:xfrm>
            <a:off x="4447946" y="2657855"/>
            <a:ext cx="3295802" cy="1292352"/>
          </a:xfrm>
          <a:prstGeom prst="rect">
            <a:avLst/>
          </a:prstGeom>
          <a:noFill/>
        </p:spPr>
        <p:txBody>
          <a:bodyPr wrap="square" lIns="45720" rIns="45720" tIns="27432" bIns="27432" anchor="t">
            <a:noAutofit/>
          </a:bodyPr>
          <a:lstStyle/>
          <a:p>
            <a:pPr algn="l">
              <a:lnSpc>
                <a:spcPct val="100000"/>
              </a:lnSpc>
            </a:pPr>
            <a:r>
              <a:rPr sz="1300" b="0" i="0">
                <a:solidFill>
                  <a:srgbClr val="A7B2B0"/>
                </a:solidFill>
                <a:latin typeface="Segoe UI"/>
              </a:rPr>
              <a:t>Acoplarla restaura el espacio para su retrato sobre los botones.</a:t>
            </a:r>
          </a:p>
        </p:txBody>
      </p:sp>
      <p:sp>
        <p:nvSpPr>
          <p:cNvPr id="16" name="Rounded Rectangle 15"/>
          <p:cNvSpPr/>
          <p:nvPr/>
        </p:nvSpPr>
        <p:spPr>
          <a:xfrm>
            <a:off x="8072932" y="2084831"/>
            <a:ext cx="3551834" cy="1956816"/>
          </a:xfrm>
          <a:prstGeom prst="roundRect">
            <a:avLst>
              <a:gd name="adj" fmla="val 5607"/>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8237524" y="2212848"/>
            <a:ext cx="502920" cy="45720"/>
          </a:xfrm>
          <a:prstGeom prst="rect">
            <a:avLst/>
          </a:prstGeom>
          <a:solidFill>
            <a:srgbClr val="E2B4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200948" y="2304287"/>
            <a:ext cx="3295802" cy="353568"/>
          </a:xfrm>
          <a:prstGeom prst="rect">
            <a:avLst/>
          </a:prstGeom>
          <a:noFill/>
        </p:spPr>
        <p:txBody>
          <a:bodyPr wrap="square" lIns="45720" rIns="45720" tIns="27432" bIns="27432" anchor="t">
            <a:noAutofit/>
          </a:bodyPr>
          <a:lstStyle/>
          <a:p>
            <a:pPr algn="l">
              <a:lnSpc>
                <a:spcPct val="100000"/>
              </a:lnSpc>
            </a:pPr>
            <a:r>
              <a:rPr sz="1600" b="0" i="0">
                <a:solidFill>
                  <a:srgbClr val="F7F2E8"/>
                </a:solidFill>
                <a:latin typeface="Segoe UI Semibold"/>
              </a:rPr>
              <a:t>Teclado</a:t>
            </a:r>
          </a:p>
        </p:txBody>
      </p:sp>
      <p:sp>
        <p:nvSpPr>
          <p:cNvPr id="19" name="TextBox 18"/>
          <p:cNvSpPr txBox="1"/>
          <p:nvPr/>
        </p:nvSpPr>
        <p:spPr>
          <a:xfrm>
            <a:off x="8200948" y="2657855"/>
            <a:ext cx="3295802" cy="1292352"/>
          </a:xfrm>
          <a:prstGeom prst="rect">
            <a:avLst/>
          </a:prstGeom>
          <a:noFill/>
        </p:spPr>
        <p:txBody>
          <a:bodyPr wrap="square" lIns="45720" rIns="45720" tIns="27432" bIns="27432" anchor="t">
            <a:noAutofit/>
          </a:bodyPr>
          <a:lstStyle/>
          <a:p>
            <a:pPr algn="l">
              <a:lnSpc>
                <a:spcPct val="100000"/>
              </a:lnSpc>
            </a:pPr>
            <a:r>
              <a:rPr sz="1300" b="0" i="0">
                <a:solidFill>
                  <a:srgbClr val="A7B2B0"/>
                </a:solidFill>
                <a:latin typeface="Segoe UI"/>
              </a:rPr>
              <a:t>Flechas, Shift+flechas, Inicio, Fin y doble clic en el divisor.</a:t>
            </a:r>
          </a:p>
        </p:txBody>
      </p:sp>
      <p:sp>
        <p:nvSpPr>
          <p:cNvPr id="20" name="Rounded Rectangle 19"/>
          <p:cNvSpPr/>
          <p:nvPr/>
        </p:nvSpPr>
        <p:spPr>
          <a:xfrm>
            <a:off x="566928" y="4242816"/>
            <a:ext cx="3551834" cy="1956816"/>
          </a:xfrm>
          <a:prstGeom prst="roundRect">
            <a:avLst>
              <a:gd name="adj" fmla="val 5607"/>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ectangle 20"/>
          <p:cNvSpPr/>
          <p:nvPr/>
        </p:nvSpPr>
        <p:spPr>
          <a:xfrm>
            <a:off x="731520" y="4370832"/>
            <a:ext cx="502920" cy="45720"/>
          </a:xfrm>
          <a:prstGeom prst="rect">
            <a:avLst/>
          </a:prstGeom>
          <a:solidFill>
            <a:srgbClr val="46D2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694944" y="4462272"/>
            <a:ext cx="3295802" cy="353568"/>
          </a:xfrm>
          <a:prstGeom prst="rect">
            <a:avLst/>
          </a:prstGeom>
          <a:noFill/>
        </p:spPr>
        <p:txBody>
          <a:bodyPr wrap="square" lIns="45720" rIns="45720" tIns="27432" bIns="27432" anchor="t">
            <a:noAutofit/>
          </a:bodyPr>
          <a:lstStyle/>
          <a:p>
            <a:pPr algn="l">
              <a:lnSpc>
                <a:spcPct val="100000"/>
              </a:lnSpc>
            </a:pPr>
            <a:r>
              <a:rPr sz="1600" b="0" i="0">
                <a:solidFill>
                  <a:srgbClr val="F7F2E8"/>
                </a:solidFill>
                <a:latin typeface="Segoe UI Semibold"/>
              </a:rPr>
              <a:t>Ventanas bajas</a:t>
            </a:r>
          </a:p>
        </p:txBody>
      </p:sp>
      <p:sp>
        <p:nvSpPr>
          <p:cNvPr id="23" name="TextBox 22"/>
          <p:cNvSpPr txBox="1"/>
          <p:nvPr/>
        </p:nvSpPr>
        <p:spPr>
          <a:xfrm>
            <a:off x="694944" y="4815840"/>
            <a:ext cx="3295802" cy="1292352"/>
          </a:xfrm>
          <a:prstGeom prst="rect">
            <a:avLst/>
          </a:prstGeom>
          <a:noFill/>
        </p:spPr>
        <p:txBody>
          <a:bodyPr wrap="square" lIns="45720" rIns="45720" tIns="27432" bIns="27432" anchor="t">
            <a:noAutofit/>
          </a:bodyPr>
          <a:lstStyle/>
          <a:p>
            <a:pPr algn="l">
              <a:lnSpc>
                <a:spcPct val="100000"/>
              </a:lnSpc>
            </a:pPr>
            <a:r>
              <a:rPr sz="1300" b="0" i="0">
                <a:solidFill>
                  <a:srgbClr val="A7B2B0"/>
                </a:solidFill>
                <a:latin typeface="Segoe UI"/>
              </a:rPr>
              <a:t>El composer se desplaza dentro de sí mismo; el historial del chat sigue visible.</a:t>
            </a:r>
          </a:p>
        </p:txBody>
      </p:sp>
      <p:sp>
        <p:nvSpPr>
          <p:cNvPr id="24" name="Rounded Rectangle 23"/>
          <p:cNvSpPr/>
          <p:nvPr/>
        </p:nvSpPr>
        <p:spPr>
          <a:xfrm>
            <a:off x="4319930" y="4242816"/>
            <a:ext cx="3551834" cy="1956816"/>
          </a:xfrm>
          <a:prstGeom prst="roundRect">
            <a:avLst>
              <a:gd name="adj" fmla="val 5607"/>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ectangle 24"/>
          <p:cNvSpPr/>
          <p:nvPr/>
        </p:nvSpPr>
        <p:spPr>
          <a:xfrm>
            <a:off x="4484522" y="4370832"/>
            <a:ext cx="502920" cy="45720"/>
          </a:xfrm>
          <a:prstGeom prst="rect">
            <a:avLst/>
          </a:prstGeom>
          <a:solidFill>
            <a:srgbClr val="D25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4447946" y="4462272"/>
            <a:ext cx="3295802" cy="353568"/>
          </a:xfrm>
          <a:prstGeom prst="rect">
            <a:avLst/>
          </a:prstGeom>
          <a:noFill/>
        </p:spPr>
        <p:txBody>
          <a:bodyPr wrap="square" lIns="45720" rIns="45720" tIns="27432" bIns="27432" anchor="t">
            <a:noAutofit/>
          </a:bodyPr>
          <a:lstStyle/>
          <a:p>
            <a:pPr algn="l">
              <a:lnSpc>
                <a:spcPct val="100000"/>
              </a:lnSpc>
            </a:pPr>
            <a:r>
              <a:rPr sz="1600" b="0" i="0">
                <a:solidFill>
                  <a:srgbClr val="F7F2E8"/>
                </a:solidFill>
                <a:latin typeface="Segoe UI Semibold"/>
              </a:rPr>
              <a:t>Pantallas angostas</a:t>
            </a:r>
          </a:p>
        </p:txBody>
      </p:sp>
      <p:sp>
        <p:nvSpPr>
          <p:cNvPr id="27" name="TextBox 26"/>
          <p:cNvSpPr txBox="1"/>
          <p:nvPr/>
        </p:nvSpPr>
        <p:spPr>
          <a:xfrm>
            <a:off x="4447946" y="4815840"/>
            <a:ext cx="3295802" cy="1292352"/>
          </a:xfrm>
          <a:prstGeom prst="rect">
            <a:avLst/>
          </a:prstGeom>
          <a:noFill/>
        </p:spPr>
        <p:txBody>
          <a:bodyPr wrap="square" lIns="45720" rIns="45720" tIns="27432" bIns="27432" anchor="t">
            <a:noAutofit/>
          </a:bodyPr>
          <a:lstStyle/>
          <a:p>
            <a:pPr algn="l">
              <a:lnSpc>
                <a:spcPct val="100000"/>
              </a:lnSpc>
            </a:pPr>
            <a:r>
              <a:rPr sz="1300" b="0" i="0">
                <a:solidFill>
                  <a:srgbClr val="A7B2B0"/>
                </a:solidFill>
                <a:latin typeface="Segoe UI"/>
              </a:rPr>
              <a:t>Un espacio de trabajo de 640 píxeles se desplaza; la página y los diálogos se quedan anclados.</a:t>
            </a:r>
          </a:p>
        </p:txBody>
      </p:sp>
      <p:sp>
        <p:nvSpPr>
          <p:cNvPr id="28" name="Rounded Rectangle 27"/>
          <p:cNvSpPr/>
          <p:nvPr/>
        </p:nvSpPr>
        <p:spPr>
          <a:xfrm>
            <a:off x="8072932" y="4242816"/>
            <a:ext cx="3551834" cy="1956816"/>
          </a:xfrm>
          <a:prstGeom prst="roundRect">
            <a:avLst>
              <a:gd name="adj" fmla="val 5607"/>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Rectangle 28"/>
          <p:cNvSpPr/>
          <p:nvPr/>
        </p:nvSpPr>
        <p:spPr>
          <a:xfrm>
            <a:off x="8237524" y="4370832"/>
            <a:ext cx="502920" cy="45720"/>
          </a:xfrm>
          <a:prstGeom prst="rect">
            <a:avLst/>
          </a:prstGeom>
          <a:solidFill>
            <a:srgbClr val="D957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8200948" y="4462272"/>
            <a:ext cx="3295802" cy="353568"/>
          </a:xfrm>
          <a:prstGeom prst="rect">
            <a:avLst/>
          </a:prstGeom>
          <a:noFill/>
        </p:spPr>
        <p:txBody>
          <a:bodyPr wrap="square" lIns="45720" rIns="45720" tIns="27432" bIns="27432" anchor="t">
            <a:noAutofit/>
          </a:bodyPr>
          <a:lstStyle/>
          <a:p>
            <a:pPr algn="l">
              <a:lnSpc>
                <a:spcPct val="100000"/>
              </a:lnSpc>
            </a:pPr>
            <a:r>
              <a:rPr sz="1600" b="0" i="0">
                <a:solidFill>
                  <a:srgbClr val="F7F2E8"/>
                </a:solidFill>
                <a:latin typeface="Segoe UI Semibold"/>
              </a:rPr>
              <a:t>Evidencia</a:t>
            </a:r>
          </a:p>
        </p:txBody>
      </p:sp>
      <p:sp>
        <p:nvSpPr>
          <p:cNvPr id="31" name="TextBox 30"/>
          <p:cNvSpPr txBox="1"/>
          <p:nvPr/>
        </p:nvSpPr>
        <p:spPr>
          <a:xfrm>
            <a:off x="8200948" y="4815840"/>
            <a:ext cx="3295802" cy="1292352"/>
          </a:xfrm>
          <a:prstGeom prst="rect">
            <a:avLst/>
          </a:prstGeom>
          <a:noFill/>
        </p:spPr>
        <p:txBody>
          <a:bodyPr wrap="square" lIns="45720" rIns="45720" tIns="27432" bIns="27432" anchor="t">
            <a:noAutofit/>
          </a:bodyPr>
          <a:lstStyle/>
          <a:p>
            <a:pPr algn="l">
              <a:lnSpc>
                <a:spcPct val="100000"/>
              </a:lnSpc>
            </a:pPr>
            <a:r>
              <a:rPr sz="1300" b="0" i="0">
                <a:solidFill>
                  <a:srgbClr val="A7B2B0"/>
                </a:solidFill>
                <a:latin typeface="Segoe UI"/>
              </a:rPr>
              <a:t>Pasaron 18 revisiones del composer y 38 del viewport, de forma visible, el 10 de octubre.</a:t>
            </a:r>
          </a:p>
        </p:txBody>
      </p:sp>
      <p:cxnSp>
        <p:nvCxnSpPr>
          <p:cNvPr id="32" name="Connector 31"/>
          <p:cNvCxnSpPr/>
          <p:nvPr/>
        </p:nvCxnSpPr>
        <p:spPr>
          <a:xfrm>
            <a:off x="566928" y="6373368"/>
            <a:ext cx="11057839" cy="0"/>
          </a:xfrm>
          <a:prstGeom prst="line">
            <a:avLst/>
          </a:prstGeom>
          <a:ln w="7620">
            <a:solidFill>
              <a:srgbClr val="2A3A40"/>
            </a:solidFill>
          </a:ln>
        </p:spPr>
        <p:style>
          <a:lnRef idx="2">
            <a:schemeClr val="accent1"/>
          </a:lnRef>
          <a:fillRef idx="0">
            <a:schemeClr val="accent1"/>
          </a:fillRef>
          <a:effectRef idx="1">
            <a:schemeClr val="accent1"/>
          </a:effectRef>
          <a:fontRef idx="minor">
            <a:schemeClr val="tx1"/>
          </a:fontRef>
        </p:style>
      </p:cxnSp>
      <p:sp>
        <p:nvSpPr>
          <p:cNvPr id="33" name="TextBox 32"/>
          <p:cNvSpPr txBox="1"/>
          <p:nvPr/>
        </p:nvSpPr>
        <p:spPr>
          <a:xfrm>
            <a:off x="566928" y="6419088"/>
            <a:ext cx="6858000" cy="274320"/>
          </a:xfrm>
          <a:prstGeom prst="rect">
            <a:avLst/>
          </a:prstGeom>
          <a:noFill/>
        </p:spPr>
        <p:txBody>
          <a:bodyPr wrap="square" lIns="45720" rIns="45720" tIns="27432" bIns="27432" anchor="t">
            <a:noAutofit/>
          </a:bodyPr>
          <a:lstStyle/>
          <a:p>
            <a:pPr algn="l">
              <a:lnSpc>
                <a:spcPct val="100000"/>
              </a:lnSpc>
            </a:pPr>
            <a:r>
              <a:rPr sz="850" b="0" i="0" spc="120">
                <a:solidFill>
                  <a:srgbClr val="A7B2B0"/>
                </a:solidFill>
                <a:latin typeface="Segoe UI Semibold"/>
              </a:rPr>
              <a:t>TLAMATINI  ·  VIII · RELEASE ACTUAL</a:t>
            </a:r>
          </a:p>
        </p:txBody>
      </p:sp>
      <p:sp>
        <p:nvSpPr>
          <p:cNvPr id="34" name="TextBox 33"/>
          <p:cNvSpPr txBox="1"/>
          <p:nvPr/>
        </p:nvSpPr>
        <p:spPr>
          <a:xfrm>
            <a:off x="8698687" y="6419088"/>
            <a:ext cx="2926080" cy="274320"/>
          </a:xfrm>
          <a:prstGeom prst="rect">
            <a:avLst/>
          </a:prstGeom>
          <a:noFill/>
        </p:spPr>
        <p:txBody>
          <a:bodyPr wrap="square" lIns="45720" rIns="45720" tIns="27432" bIns="27432" anchor="t">
            <a:noAutofit/>
          </a:bodyPr>
          <a:lstStyle/>
          <a:p>
            <a:pPr algn="r">
              <a:lnSpc>
                <a:spcPct val="100000"/>
              </a:lnSpc>
            </a:pPr>
            <a:r>
              <a:rPr sz="850" b="0" i="0" spc="100">
                <a:solidFill>
                  <a:srgbClr val="A7B2B0"/>
                </a:solidFill>
                <a:latin typeface="Segoe UI Semibold"/>
              </a:rPr>
              <a:t>v1.91.1   ·   144</a:t>
            </a:r>
          </a:p>
        </p:txBody>
      </p:sp>
    </p:spTree>
  </p:cSld>
  <p:clrMapOvr>
    <a:masterClrMapping/>
  </p:clrMapOvr>
</p:sld>
</file>

<file path=ppt/slides/slide1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content.png"/>
          <p:cNvPicPr>
            <a:picLocks noChangeAspect="1"/>
          </p:cNvPicPr>
          <p:nvPr/>
        </p:nvPicPr>
        <p:blipFill>
          <a:blip r:embed="rId2"/>
          <a:stretch>
            <a:fillRect/>
          </a:stretch>
        </p:blipFill>
        <p:spPr>
          <a:xfrm>
            <a:off x="0" y="0"/>
            <a:ext cx="12191695" cy="6858000"/>
          </a:xfrm>
          <a:prstGeom prst="rect">
            <a:avLst/>
          </a:prstGeom>
        </p:spPr>
      </p:pic>
      <p:sp>
        <p:nvSpPr>
          <p:cNvPr id="3" name="Diamond 2"/>
          <p:cNvSpPr/>
          <p:nvPr/>
        </p:nvSpPr>
        <p:spPr>
          <a:xfrm>
            <a:off x="566928" y="457200"/>
            <a:ext cx="100584" cy="100584"/>
          </a:xfrm>
          <a:prstGeom prst="diamond">
            <a:avLst/>
          </a:prstGeom>
          <a:solidFill>
            <a:srgbClr val="E2B4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49808" y="365760"/>
            <a:ext cx="8229600" cy="292608"/>
          </a:xfrm>
          <a:prstGeom prst="rect">
            <a:avLst/>
          </a:prstGeom>
          <a:noFill/>
        </p:spPr>
        <p:txBody>
          <a:bodyPr wrap="square" lIns="45720" rIns="45720" tIns="27432" bIns="27432" anchor="t">
            <a:noAutofit/>
          </a:bodyPr>
          <a:lstStyle/>
          <a:p>
            <a:pPr algn="l">
              <a:lnSpc>
                <a:spcPct val="100000"/>
              </a:lnSpc>
            </a:pPr>
            <a:r>
              <a:rPr sz="1100" b="0" i="0" spc="240">
                <a:solidFill>
                  <a:srgbClr val="C98457"/>
                </a:solidFill>
                <a:latin typeface="Segoe UI Semibold"/>
              </a:rPr>
              <a:t>HEREDADO DE v1.78.0</a:t>
            </a:r>
          </a:p>
        </p:txBody>
      </p:sp>
      <p:sp>
        <p:nvSpPr>
          <p:cNvPr id="5" name="TextBox 4"/>
          <p:cNvSpPr txBox="1"/>
          <p:nvPr/>
        </p:nvSpPr>
        <p:spPr>
          <a:xfrm>
            <a:off x="539496" y="676656"/>
            <a:ext cx="11057839" cy="658368"/>
          </a:xfrm>
          <a:prstGeom prst="rect">
            <a:avLst/>
          </a:prstGeom>
          <a:noFill/>
        </p:spPr>
        <p:txBody>
          <a:bodyPr wrap="square" lIns="45720" rIns="45720" tIns="27432" bIns="27432" anchor="t">
            <a:noAutofit/>
          </a:bodyPr>
          <a:lstStyle/>
          <a:p>
            <a:pPr algn="l">
              <a:lnSpc>
                <a:spcPct val="100000"/>
              </a:lnSpc>
            </a:pPr>
            <a:r>
              <a:rPr sz="3100" b="0" i="0">
                <a:solidFill>
                  <a:srgbClr val="F7F2E8"/>
                </a:solidFill>
                <a:latin typeface="Palatino Linotype"/>
              </a:rPr>
              <a:t>Reparó uno de sus propios agents</a:t>
            </a:r>
          </a:p>
        </p:txBody>
      </p:sp>
      <p:sp>
        <p:nvSpPr>
          <p:cNvPr id="6" name="Rectangle 5"/>
          <p:cNvSpPr/>
          <p:nvPr/>
        </p:nvSpPr>
        <p:spPr>
          <a:xfrm>
            <a:off x="566928" y="1344168"/>
            <a:ext cx="822960" cy="36576"/>
          </a:xfrm>
          <a:prstGeom prst="rect">
            <a:avLst/>
          </a:prstGeom>
          <a:solidFill>
            <a:srgbClr val="E2B4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566928" y="1444752"/>
            <a:ext cx="10692079" cy="585216"/>
          </a:xfrm>
          <a:prstGeom prst="rect">
            <a:avLst/>
          </a:prstGeom>
          <a:noFill/>
        </p:spPr>
        <p:txBody>
          <a:bodyPr wrap="square" lIns="45720" rIns="45720" tIns="27432" bIns="27432" anchor="t">
            <a:noAutofit/>
          </a:bodyPr>
          <a:lstStyle/>
          <a:p>
            <a:pPr algn="l">
              <a:lnSpc>
                <a:spcPct val="100000"/>
              </a:lnSpc>
            </a:pPr>
            <a:r>
              <a:rPr sz="1450" b="0" i="0">
                <a:solidFill>
                  <a:srgbClr val="A7B2B0"/>
                </a:solidFill>
                <a:latin typeface="Segoe UI Semilight"/>
              </a:rPr>
              <a:t>Image-Interpreter ahora lee una lista de imágenes separada por comas, un cambio acreditado a la propia Tlamatini.</a:t>
            </a:r>
          </a:p>
        </p:txBody>
      </p:sp>
      <p:sp>
        <p:nvSpPr>
          <p:cNvPr id="8" name="Rounded Rectangle 7"/>
          <p:cNvSpPr/>
          <p:nvPr/>
        </p:nvSpPr>
        <p:spPr>
          <a:xfrm>
            <a:off x="566928" y="2084831"/>
            <a:ext cx="3551834" cy="1956816"/>
          </a:xfrm>
          <a:prstGeom prst="roundRect">
            <a:avLst>
              <a:gd name="adj" fmla="val 5607"/>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ectangle 8"/>
          <p:cNvSpPr/>
          <p:nvPr/>
        </p:nvSpPr>
        <p:spPr>
          <a:xfrm>
            <a:off x="731520" y="2212848"/>
            <a:ext cx="502920" cy="45720"/>
          </a:xfrm>
          <a:prstGeom prst="rect">
            <a:avLst/>
          </a:prstGeom>
          <a:solidFill>
            <a:srgbClr val="3BBE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694944" y="2304287"/>
            <a:ext cx="3295802" cy="353568"/>
          </a:xfrm>
          <a:prstGeom prst="rect">
            <a:avLst/>
          </a:prstGeom>
          <a:noFill/>
        </p:spPr>
        <p:txBody>
          <a:bodyPr wrap="square" lIns="45720" rIns="45720" tIns="27432" bIns="27432" anchor="t">
            <a:noAutofit/>
          </a:bodyPr>
          <a:lstStyle/>
          <a:p>
            <a:pPr algn="l">
              <a:lnSpc>
                <a:spcPct val="100000"/>
              </a:lnSpc>
            </a:pPr>
            <a:r>
              <a:rPr sz="1600" b="0" i="0">
                <a:solidFill>
                  <a:srgbClr val="F7F2E8"/>
                </a:solidFill>
                <a:latin typeface="Segoe UI Semibold"/>
              </a:rPr>
              <a:t>Varias imágenes</a:t>
            </a:r>
          </a:p>
        </p:txBody>
      </p:sp>
      <p:sp>
        <p:nvSpPr>
          <p:cNvPr id="11" name="TextBox 10"/>
          <p:cNvSpPr txBox="1"/>
          <p:nvPr/>
        </p:nvSpPr>
        <p:spPr>
          <a:xfrm>
            <a:off x="694944" y="2657855"/>
            <a:ext cx="3295802" cy="1292352"/>
          </a:xfrm>
          <a:prstGeom prst="rect">
            <a:avLst/>
          </a:prstGeom>
          <a:noFill/>
        </p:spPr>
        <p:txBody>
          <a:bodyPr wrap="square" lIns="45720" rIns="45720" tIns="27432" bIns="27432" anchor="t">
            <a:noAutofit/>
          </a:bodyPr>
          <a:lstStyle/>
          <a:p>
            <a:pPr algn="l">
              <a:lnSpc>
                <a:spcPct val="100000"/>
              </a:lnSpc>
            </a:pPr>
            <a:r>
              <a:rPr sz="1300" b="0" i="0">
                <a:solidFill>
                  <a:srgbClr val="A7B2B0"/>
                </a:solidFill>
                <a:latin typeface="Segoe UI"/>
              </a:rPr>
              <a:t>Los paths separados por comas se resuelven uno por uno y se combinan.</a:t>
            </a:r>
          </a:p>
        </p:txBody>
      </p:sp>
      <p:sp>
        <p:nvSpPr>
          <p:cNvPr id="12" name="Rounded Rectangle 11"/>
          <p:cNvSpPr/>
          <p:nvPr/>
        </p:nvSpPr>
        <p:spPr>
          <a:xfrm>
            <a:off x="4319930" y="2084831"/>
            <a:ext cx="3551834" cy="1956816"/>
          </a:xfrm>
          <a:prstGeom prst="roundRect">
            <a:avLst>
              <a:gd name="adj" fmla="val 5607"/>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4484522" y="2212848"/>
            <a:ext cx="502920" cy="45720"/>
          </a:xfrm>
          <a:prstGeom prst="rect">
            <a:avLst/>
          </a:prstGeom>
          <a:solidFill>
            <a:srgbClr val="C984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4447946" y="2304287"/>
            <a:ext cx="3295802" cy="353568"/>
          </a:xfrm>
          <a:prstGeom prst="rect">
            <a:avLst/>
          </a:prstGeom>
          <a:noFill/>
        </p:spPr>
        <p:txBody>
          <a:bodyPr wrap="square" lIns="45720" rIns="45720" tIns="27432" bIns="27432" anchor="t">
            <a:noAutofit/>
          </a:bodyPr>
          <a:lstStyle/>
          <a:p>
            <a:pPr algn="l">
              <a:lnSpc>
                <a:spcPct val="100000"/>
              </a:lnSpc>
            </a:pPr>
            <a:r>
              <a:rPr sz="1600" b="0" i="0">
                <a:solidFill>
                  <a:srgbClr val="F7F2E8"/>
                </a:solidFill>
                <a:latin typeface="Segoe UI Semibold"/>
              </a:rPr>
              <a:t>Sin duplicados</a:t>
            </a:r>
          </a:p>
        </p:txBody>
      </p:sp>
      <p:sp>
        <p:nvSpPr>
          <p:cNvPr id="15" name="TextBox 14"/>
          <p:cNvSpPr txBox="1"/>
          <p:nvPr/>
        </p:nvSpPr>
        <p:spPr>
          <a:xfrm>
            <a:off x="4447946" y="2657855"/>
            <a:ext cx="3295802" cy="1292352"/>
          </a:xfrm>
          <a:prstGeom prst="rect">
            <a:avLst/>
          </a:prstGeom>
          <a:noFill/>
        </p:spPr>
        <p:txBody>
          <a:bodyPr wrap="square" lIns="45720" rIns="45720" tIns="27432" bIns="27432" anchor="t">
            <a:noAutofit/>
          </a:bodyPr>
          <a:lstStyle/>
          <a:p>
            <a:pPr algn="l">
              <a:lnSpc>
                <a:spcPct val="100000"/>
              </a:lnSpc>
            </a:pPr>
            <a:r>
              <a:rPr sz="1300" b="0" i="0">
                <a:solidFill>
                  <a:srgbClr val="A7B2B0"/>
                </a:solidFill>
                <a:latin typeface="Segoe UI"/>
              </a:rPr>
              <a:t>Los paths repetidos se quitan; se conserva el orden original.</a:t>
            </a:r>
          </a:p>
        </p:txBody>
      </p:sp>
      <p:sp>
        <p:nvSpPr>
          <p:cNvPr id="16" name="Rounded Rectangle 15"/>
          <p:cNvSpPr/>
          <p:nvPr/>
        </p:nvSpPr>
        <p:spPr>
          <a:xfrm>
            <a:off x="8072932" y="2084831"/>
            <a:ext cx="3551834" cy="1956816"/>
          </a:xfrm>
          <a:prstGeom prst="roundRect">
            <a:avLst>
              <a:gd name="adj" fmla="val 5607"/>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8237524" y="2212848"/>
            <a:ext cx="502920" cy="45720"/>
          </a:xfrm>
          <a:prstGeom prst="rect">
            <a:avLst/>
          </a:prstGeom>
          <a:solidFill>
            <a:srgbClr val="E2B4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200948" y="2304287"/>
            <a:ext cx="3295802" cy="353568"/>
          </a:xfrm>
          <a:prstGeom prst="rect">
            <a:avLst/>
          </a:prstGeom>
          <a:noFill/>
        </p:spPr>
        <p:txBody>
          <a:bodyPr wrap="square" lIns="45720" rIns="45720" tIns="27432" bIns="27432" anchor="t">
            <a:noAutofit/>
          </a:bodyPr>
          <a:lstStyle/>
          <a:p>
            <a:pPr algn="l">
              <a:lnSpc>
                <a:spcPct val="100000"/>
              </a:lnSpc>
            </a:pPr>
            <a:r>
              <a:rPr sz="1600" b="0" i="0">
                <a:solidFill>
                  <a:srgbClr val="F7F2E8"/>
                </a:solidFill>
                <a:latin typeface="Segoe UI Semibold"/>
              </a:rPr>
              <a:t>Comas en los nombres</a:t>
            </a:r>
          </a:p>
        </p:txBody>
      </p:sp>
      <p:sp>
        <p:nvSpPr>
          <p:cNvPr id="19" name="TextBox 18"/>
          <p:cNvSpPr txBox="1"/>
          <p:nvPr/>
        </p:nvSpPr>
        <p:spPr>
          <a:xfrm>
            <a:off x="8200948" y="2657855"/>
            <a:ext cx="3295802" cy="1292352"/>
          </a:xfrm>
          <a:prstGeom prst="rect">
            <a:avLst/>
          </a:prstGeom>
          <a:noFill/>
        </p:spPr>
        <p:txBody>
          <a:bodyPr wrap="square" lIns="45720" rIns="45720" tIns="27432" bIns="27432" anchor="t">
            <a:noAutofit/>
          </a:bodyPr>
          <a:lstStyle/>
          <a:p>
            <a:pPr algn="l">
              <a:lnSpc>
                <a:spcPct val="100000"/>
              </a:lnSpc>
            </a:pPr>
            <a:r>
              <a:rPr sz="1300" b="0" i="0">
                <a:solidFill>
                  <a:srgbClr val="A7B2B0"/>
                </a:solidFill>
                <a:latin typeface="Segoe UI"/>
              </a:rPr>
              <a:t>Un solo archivo existente nunca se divide en su coma.</a:t>
            </a:r>
          </a:p>
        </p:txBody>
      </p:sp>
      <p:sp>
        <p:nvSpPr>
          <p:cNvPr id="20" name="Rounded Rectangle 19"/>
          <p:cNvSpPr/>
          <p:nvPr/>
        </p:nvSpPr>
        <p:spPr>
          <a:xfrm>
            <a:off x="566928" y="4242816"/>
            <a:ext cx="3551834" cy="1956816"/>
          </a:xfrm>
          <a:prstGeom prst="roundRect">
            <a:avLst>
              <a:gd name="adj" fmla="val 5607"/>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ectangle 20"/>
          <p:cNvSpPr/>
          <p:nvPr/>
        </p:nvSpPr>
        <p:spPr>
          <a:xfrm>
            <a:off x="731520" y="4370832"/>
            <a:ext cx="502920" cy="45720"/>
          </a:xfrm>
          <a:prstGeom prst="rect">
            <a:avLst/>
          </a:prstGeom>
          <a:solidFill>
            <a:srgbClr val="46D2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694944" y="4462272"/>
            <a:ext cx="3295802" cy="353568"/>
          </a:xfrm>
          <a:prstGeom prst="rect">
            <a:avLst/>
          </a:prstGeom>
          <a:noFill/>
        </p:spPr>
        <p:txBody>
          <a:bodyPr wrap="square" lIns="45720" rIns="45720" tIns="27432" bIns="27432" anchor="t">
            <a:noAutofit/>
          </a:bodyPr>
          <a:lstStyle/>
          <a:p>
            <a:pPr algn="l">
              <a:lnSpc>
                <a:spcPct val="100000"/>
              </a:lnSpc>
            </a:pPr>
            <a:r>
              <a:rPr sz="1600" b="0" i="0">
                <a:solidFill>
                  <a:srgbClr val="F7F2E8"/>
                </a:solidFill>
                <a:latin typeface="Segoe UI Semibold"/>
              </a:rPr>
              <a:t>Advertencia honesta</a:t>
            </a:r>
          </a:p>
        </p:txBody>
      </p:sp>
      <p:sp>
        <p:nvSpPr>
          <p:cNvPr id="23" name="TextBox 22"/>
          <p:cNvSpPr txBox="1"/>
          <p:nvPr/>
        </p:nvSpPr>
        <p:spPr>
          <a:xfrm>
            <a:off x="694944" y="4815840"/>
            <a:ext cx="3295802" cy="1292352"/>
          </a:xfrm>
          <a:prstGeom prst="rect">
            <a:avLst/>
          </a:prstGeom>
          <a:noFill/>
        </p:spPr>
        <p:txBody>
          <a:bodyPr wrap="square" lIns="45720" rIns="45720" tIns="27432" bIns="27432" anchor="t">
            <a:noAutofit/>
          </a:bodyPr>
          <a:lstStyle/>
          <a:p>
            <a:pPr algn="l">
              <a:lnSpc>
                <a:spcPct val="100000"/>
              </a:lnSpc>
            </a:pPr>
            <a:r>
              <a:rPr sz="1300" b="0" i="0">
                <a:solidFill>
                  <a:srgbClr val="A7B2B0"/>
                </a:solidFill>
                <a:latin typeface="Segoe UI"/>
              </a:rPr>
              <a:t>Una entrada que no se resuelve a nada se registra, no se esconde.</a:t>
            </a:r>
          </a:p>
        </p:txBody>
      </p:sp>
      <p:sp>
        <p:nvSpPr>
          <p:cNvPr id="24" name="Rounded Rectangle 23"/>
          <p:cNvSpPr/>
          <p:nvPr/>
        </p:nvSpPr>
        <p:spPr>
          <a:xfrm>
            <a:off x="4319930" y="4242816"/>
            <a:ext cx="3551834" cy="1956816"/>
          </a:xfrm>
          <a:prstGeom prst="roundRect">
            <a:avLst>
              <a:gd name="adj" fmla="val 5607"/>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ectangle 24"/>
          <p:cNvSpPr/>
          <p:nvPr/>
        </p:nvSpPr>
        <p:spPr>
          <a:xfrm>
            <a:off x="4484522" y="4370832"/>
            <a:ext cx="502920" cy="45720"/>
          </a:xfrm>
          <a:prstGeom prst="rect">
            <a:avLst/>
          </a:prstGeom>
          <a:solidFill>
            <a:srgbClr val="D25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4447946" y="4462272"/>
            <a:ext cx="3295802" cy="353568"/>
          </a:xfrm>
          <a:prstGeom prst="rect">
            <a:avLst/>
          </a:prstGeom>
          <a:noFill/>
        </p:spPr>
        <p:txBody>
          <a:bodyPr wrap="square" lIns="45720" rIns="45720" tIns="27432" bIns="27432" anchor="t">
            <a:noAutofit/>
          </a:bodyPr>
          <a:lstStyle/>
          <a:p>
            <a:pPr algn="l">
              <a:lnSpc>
                <a:spcPct val="100000"/>
              </a:lnSpc>
            </a:pPr>
            <a:r>
              <a:rPr sz="1600" b="0" i="0">
                <a:solidFill>
                  <a:srgbClr val="F7F2E8"/>
                </a:solidFill>
                <a:latin typeface="Segoe UI Semibold"/>
              </a:rPr>
              <a:t>Autorreparación</a:t>
            </a:r>
          </a:p>
        </p:txBody>
      </p:sp>
      <p:sp>
        <p:nvSpPr>
          <p:cNvPr id="27" name="TextBox 26"/>
          <p:cNvSpPr txBox="1"/>
          <p:nvPr/>
        </p:nvSpPr>
        <p:spPr>
          <a:xfrm>
            <a:off x="4447946" y="4815840"/>
            <a:ext cx="3295802" cy="1292352"/>
          </a:xfrm>
          <a:prstGeom prst="rect">
            <a:avLst/>
          </a:prstGeom>
          <a:noFill/>
        </p:spPr>
        <p:txBody>
          <a:bodyPr wrap="square" lIns="45720" rIns="45720" tIns="27432" bIns="27432" anchor="t">
            <a:noAutofit/>
          </a:bodyPr>
          <a:lstStyle/>
          <a:p>
            <a:pPr algn="l">
              <a:lnSpc>
                <a:spcPct val="100000"/>
              </a:lnSpc>
            </a:pPr>
            <a:r>
              <a:rPr sz="1300" b="0" i="0">
                <a:solidFill>
                  <a:srgbClr val="A7B2B0"/>
                </a:solidFill>
                <a:latin typeface="Segoe UI"/>
              </a:rPr>
              <a:t>El commit acredita a Tlamatini's-AutoBot, su propio trabajo de self-modify.</a:t>
            </a:r>
          </a:p>
        </p:txBody>
      </p:sp>
      <p:sp>
        <p:nvSpPr>
          <p:cNvPr id="28" name="Rounded Rectangle 27"/>
          <p:cNvSpPr/>
          <p:nvPr/>
        </p:nvSpPr>
        <p:spPr>
          <a:xfrm>
            <a:off x="8072932" y="4242816"/>
            <a:ext cx="3551834" cy="1956816"/>
          </a:xfrm>
          <a:prstGeom prst="roundRect">
            <a:avLst>
              <a:gd name="adj" fmla="val 5607"/>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Rectangle 28"/>
          <p:cNvSpPr/>
          <p:nvPr/>
        </p:nvSpPr>
        <p:spPr>
          <a:xfrm>
            <a:off x="8237524" y="4370832"/>
            <a:ext cx="502920" cy="45720"/>
          </a:xfrm>
          <a:prstGeom prst="rect">
            <a:avLst/>
          </a:prstGeom>
          <a:solidFill>
            <a:srgbClr val="D957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8200948" y="4462272"/>
            <a:ext cx="3295802" cy="353568"/>
          </a:xfrm>
          <a:prstGeom prst="rect">
            <a:avLst/>
          </a:prstGeom>
          <a:noFill/>
        </p:spPr>
        <p:txBody>
          <a:bodyPr wrap="square" lIns="45720" rIns="45720" tIns="27432" bIns="27432" anchor="t">
            <a:noAutofit/>
          </a:bodyPr>
          <a:lstStyle/>
          <a:p>
            <a:pPr algn="l">
              <a:lnSpc>
                <a:spcPct val="100000"/>
              </a:lnSpc>
            </a:pPr>
            <a:r>
              <a:rPr sz="1600" b="0" i="0">
                <a:solidFill>
                  <a:srgbClr val="F7F2E8"/>
                </a:solidFill>
                <a:latin typeface="Segoe UI Semibold"/>
              </a:rPr>
              <a:t>En v1.78.0</a:t>
            </a:r>
          </a:p>
        </p:txBody>
      </p:sp>
      <p:sp>
        <p:nvSpPr>
          <p:cNvPr id="31" name="TextBox 30"/>
          <p:cNvSpPr txBox="1"/>
          <p:nvPr/>
        </p:nvSpPr>
        <p:spPr>
          <a:xfrm>
            <a:off x="8200948" y="4815840"/>
            <a:ext cx="3295802" cy="1292352"/>
          </a:xfrm>
          <a:prstGeom prst="rect">
            <a:avLst/>
          </a:prstGeom>
          <a:noFill/>
        </p:spPr>
        <p:txBody>
          <a:bodyPr wrap="square" lIns="45720" rIns="45720" tIns="27432" bIns="27432" anchor="t">
            <a:noAutofit/>
          </a:bodyPr>
          <a:lstStyle/>
          <a:p>
            <a:pPr algn="l">
              <a:lnSpc>
                <a:spcPct val="100000"/>
              </a:lnSpc>
            </a:pPr>
            <a:r>
              <a:rPr sz="1300" b="0" i="0">
                <a:solidFill>
                  <a:srgbClr val="A7B2B0"/>
                </a:solidFill>
                <a:latin typeface="Segoe UI"/>
              </a:rPr>
              <a:t>El tag apunta a este commit; todavía sin prueba dedicada.</a:t>
            </a:r>
          </a:p>
        </p:txBody>
      </p:sp>
      <p:cxnSp>
        <p:nvCxnSpPr>
          <p:cNvPr id="32" name="Connector 31"/>
          <p:cNvCxnSpPr/>
          <p:nvPr/>
        </p:nvCxnSpPr>
        <p:spPr>
          <a:xfrm>
            <a:off x="566928" y="6373368"/>
            <a:ext cx="11057839" cy="0"/>
          </a:xfrm>
          <a:prstGeom prst="line">
            <a:avLst/>
          </a:prstGeom>
          <a:ln w="7620">
            <a:solidFill>
              <a:srgbClr val="2A3A40"/>
            </a:solidFill>
          </a:ln>
        </p:spPr>
        <p:style>
          <a:lnRef idx="2">
            <a:schemeClr val="accent1"/>
          </a:lnRef>
          <a:fillRef idx="0">
            <a:schemeClr val="accent1"/>
          </a:fillRef>
          <a:effectRef idx="1">
            <a:schemeClr val="accent1"/>
          </a:effectRef>
          <a:fontRef idx="minor">
            <a:schemeClr val="tx1"/>
          </a:fontRef>
        </p:style>
      </p:cxnSp>
      <p:sp>
        <p:nvSpPr>
          <p:cNvPr id="33" name="TextBox 32"/>
          <p:cNvSpPr txBox="1"/>
          <p:nvPr/>
        </p:nvSpPr>
        <p:spPr>
          <a:xfrm>
            <a:off x="566928" y="6419088"/>
            <a:ext cx="6858000" cy="274320"/>
          </a:xfrm>
          <a:prstGeom prst="rect">
            <a:avLst/>
          </a:prstGeom>
          <a:noFill/>
        </p:spPr>
        <p:txBody>
          <a:bodyPr wrap="square" lIns="45720" rIns="45720" tIns="27432" bIns="27432" anchor="t">
            <a:noAutofit/>
          </a:bodyPr>
          <a:lstStyle/>
          <a:p>
            <a:pPr algn="l">
              <a:lnSpc>
                <a:spcPct val="100000"/>
              </a:lnSpc>
            </a:pPr>
            <a:r>
              <a:rPr sz="850" b="0" i="0" spc="120">
                <a:solidFill>
                  <a:srgbClr val="A7B2B0"/>
                </a:solidFill>
                <a:latin typeface="Segoe UI Semibold"/>
              </a:rPr>
              <a:t>TLAMATINI  ·  VIII · RELEASE ACTUAL</a:t>
            </a:r>
          </a:p>
        </p:txBody>
      </p:sp>
      <p:sp>
        <p:nvSpPr>
          <p:cNvPr id="34" name="TextBox 33"/>
          <p:cNvSpPr txBox="1"/>
          <p:nvPr/>
        </p:nvSpPr>
        <p:spPr>
          <a:xfrm>
            <a:off x="8698687" y="6419088"/>
            <a:ext cx="2926080" cy="274320"/>
          </a:xfrm>
          <a:prstGeom prst="rect">
            <a:avLst/>
          </a:prstGeom>
          <a:noFill/>
        </p:spPr>
        <p:txBody>
          <a:bodyPr wrap="square" lIns="45720" rIns="45720" tIns="27432" bIns="27432" anchor="t">
            <a:noAutofit/>
          </a:bodyPr>
          <a:lstStyle/>
          <a:p>
            <a:pPr algn="r">
              <a:lnSpc>
                <a:spcPct val="100000"/>
              </a:lnSpc>
            </a:pPr>
            <a:r>
              <a:rPr sz="850" b="0" i="0" spc="100">
                <a:solidFill>
                  <a:srgbClr val="A7B2B0"/>
                </a:solidFill>
                <a:latin typeface="Segoe UI Semibold"/>
              </a:rPr>
              <a:t>v1.91.1   ·   145</a:t>
            </a:r>
          </a:p>
        </p:txBody>
      </p:sp>
    </p:spTree>
  </p:cSld>
  <p:clrMapOvr>
    <a:masterClrMapping/>
  </p:clrMapOvr>
</p:sld>
</file>

<file path=ppt/slides/slide1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content.png"/>
          <p:cNvPicPr>
            <a:picLocks noChangeAspect="1"/>
          </p:cNvPicPr>
          <p:nvPr/>
        </p:nvPicPr>
        <p:blipFill>
          <a:blip r:embed="rId2"/>
          <a:stretch>
            <a:fillRect/>
          </a:stretch>
        </p:blipFill>
        <p:spPr>
          <a:xfrm>
            <a:off x="0" y="0"/>
            <a:ext cx="12191695" cy="6858000"/>
          </a:xfrm>
          <a:prstGeom prst="rect">
            <a:avLst/>
          </a:prstGeom>
        </p:spPr>
      </p:pic>
      <p:sp>
        <p:nvSpPr>
          <p:cNvPr id="3" name="Diamond 2"/>
          <p:cNvSpPr/>
          <p:nvPr/>
        </p:nvSpPr>
        <p:spPr>
          <a:xfrm>
            <a:off x="566928" y="457200"/>
            <a:ext cx="100584" cy="100584"/>
          </a:xfrm>
          <a:prstGeom prst="diamond">
            <a:avLst/>
          </a:prstGeom>
          <a:solidFill>
            <a:srgbClr val="E2B4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49808" y="365760"/>
            <a:ext cx="8229600" cy="292608"/>
          </a:xfrm>
          <a:prstGeom prst="rect">
            <a:avLst/>
          </a:prstGeom>
          <a:noFill/>
        </p:spPr>
        <p:txBody>
          <a:bodyPr wrap="square" lIns="45720" rIns="45720" tIns="27432" bIns="27432" anchor="t">
            <a:noAutofit/>
          </a:bodyPr>
          <a:lstStyle/>
          <a:p>
            <a:pPr algn="l">
              <a:lnSpc>
                <a:spcPct val="100000"/>
              </a:lnSpc>
            </a:pPr>
            <a:r>
              <a:rPr sz="1100" b="0" i="0" spc="240">
                <a:solidFill>
                  <a:srgbClr val="C98457"/>
                </a:solidFill>
                <a:latin typeface="Segoe UI Semibold"/>
              </a:rPr>
              <a:t>HEREDADO DE v1.77.0</a:t>
            </a:r>
          </a:p>
        </p:txBody>
      </p:sp>
      <p:sp>
        <p:nvSpPr>
          <p:cNvPr id="5" name="TextBox 4"/>
          <p:cNvSpPr txBox="1"/>
          <p:nvPr/>
        </p:nvSpPr>
        <p:spPr>
          <a:xfrm>
            <a:off x="539496" y="676656"/>
            <a:ext cx="11057839" cy="658368"/>
          </a:xfrm>
          <a:prstGeom prst="rect">
            <a:avLst/>
          </a:prstGeom>
          <a:noFill/>
        </p:spPr>
        <p:txBody>
          <a:bodyPr wrap="square" lIns="45720" rIns="45720" tIns="27432" bIns="27432" anchor="t">
            <a:noAutofit/>
          </a:bodyPr>
          <a:lstStyle/>
          <a:p>
            <a:pPr algn="l">
              <a:lnSpc>
                <a:spcPct val="100000"/>
              </a:lnSpc>
            </a:pPr>
            <a:r>
              <a:rPr sz="3100" b="0" i="0">
                <a:solidFill>
                  <a:srgbClr val="F7F2E8"/>
                </a:solidFill>
                <a:latin typeface="Palatino Linotype"/>
              </a:rPr>
              <a:t>Te habla a ti, por tu nombre</a:t>
            </a:r>
          </a:p>
        </p:txBody>
      </p:sp>
      <p:sp>
        <p:nvSpPr>
          <p:cNvPr id="6" name="Rectangle 5"/>
          <p:cNvSpPr/>
          <p:nvPr/>
        </p:nvSpPr>
        <p:spPr>
          <a:xfrm>
            <a:off x="566928" y="1344168"/>
            <a:ext cx="822960" cy="36576"/>
          </a:xfrm>
          <a:prstGeom prst="rect">
            <a:avLst/>
          </a:prstGeom>
          <a:solidFill>
            <a:srgbClr val="E2B4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566928" y="1444752"/>
            <a:ext cx="10692079" cy="585216"/>
          </a:xfrm>
          <a:prstGeom prst="rect">
            <a:avLst/>
          </a:prstGeom>
          <a:noFill/>
        </p:spPr>
        <p:txBody>
          <a:bodyPr wrap="square" lIns="45720" rIns="45720" tIns="27432" bIns="27432" anchor="t">
            <a:noAutofit/>
          </a:bodyPr>
          <a:lstStyle/>
          <a:p>
            <a:pPr algn="l">
              <a:lnSpc>
                <a:spcPct val="100000"/>
              </a:lnSpc>
            </a:pPr>
            <a:r>
              <a:rPr sz="1450" b="0" i="0">
                <a:solidFill>
                  <a:srgbClr val="A7B2B0"/>
                </a:solidFill>
                <a:latin typeface="Segoe UI Semilight"/>
              </a:rPr>
              <a:t>Con tag y publicado el 9 de octubre; v1.78.0 lo reemplazó como el release Latest el 10 de octubre.</a:t>
            </a:r>
          </a:p>
        </p:txBody>
      </p:sp>
      <p:sp>
        <p:nvSpPr>
          <p:cNvPr id="8" name="Rounded Rectangle 7"/>
          <p:cNvSpPr/>
          <p:nvPr/>
        </p:nvSpPr>
        <p:spPr>
          <a:xfrm>
            <a:off x="566928" y="2084831"/>
            <a:ext cx="3551834" cy="1956816"/>
          </a:xfrm>
          <a:prstGeom prst="roundRect">
            <a:avLst>
              <a:gd name="adj" fmla="val 5607"/>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ectangle 8"/>
          <p:cNvSpPr/>
          <p:nvPr/>
        </p:nvSpPr>
        <p:spPr>
          <a:xfrm>
            <a:off x="731520" y="2212848"/>
            <a:ext cx="502920" cy="45720"/>
          </a:xfrm>
          <a:prstGeom prst="rect">
            <a:avLst/>
          </a:prstGeom>
          <a:solidFill>
            <a:srgbClr val="3BBE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694944" y="2304287"/>
            <a:ext cx="3295802" cy="353568"/>
          </a:xfrm>
          <a:prstGeom prst="rect">
            <a:avLst/>
          </a:prstGeom>
          <a:noFill/>
        </p:spPr>
        <p:txBody>
          <a:bodyPr wrap="square" lIns="45720" rIns="45720" tIns="27432" bIns="27432" anchor="t">
            <a:noAutofit/>
          </a:bodyPr>
          <a:lstStyle/>
          <a:p>
            <a:pPr algn="l">
              <a:lnSpc>
                <a:spcPct val="100000"/>
              </a:lnSpc>
            </a:pPr>
            <a:r>
              <a:rPr sz="1600" b="0" i="0">
                <a:solidFill>
                  <a:srgbClr val="F7F2E8"/>
                </a:solidFill>
                <a:latin typeface="Segoe UI Semibold"/>
              </a:rPr>
              <a:t>Primera persona</a:t>
            </a:r>
          </a:p>
        </p:txBody>
      </p:sp>
      <p:sp>
        <p:nvSpPr>
          <p:cNvPr id="11" name="TextBox 10"/>
          <p:cNvSpPr txBox="1"/>
          <p:nvPr/>
        </p:nvSpPr>
        <p:spPr>
          <a:xfrm>
            <a:off x="694944" y="2657855"/>
            <a:ext cx="3295802" cy="1292352"/>
          </a:xfrm>
          <a:prstGeom prst="rect">
            <a:avLst/>
          </a:prstGeom>
          <a:noFill/>
        </p:spPr>
        <p:txBody>
          <a:bodyPr wrap="square" lIns="45720" rIns="45720" tIns="27432" bIns="27432" anchor="t">
            <a:noAutofit/>
          </a:bodyPr>
          <a:lstStyle/>
          <a:p>
            <a:pPr algn="l">
              <a:lnSpc>
                <a:spcPct val="100000"/>
              </a:lnSpc>
            </a:pPr>
            <a:r>
              <a:rPr sz="1300" b="0" i="0">
                <a:solidFill>
                  <a:srgbClr val="A7B2B0"/>
                </a:solidFill>
                <a:latin typeface="Segoe UI"/>
              </a:rPr>
              <a:t>Las líneas fijas del chat dicen “yo” y usan tu nombre.</a:t>
            </a:r>
          </a:p>
        </p:txBody>
      </p:sp>
      <p:sp>
        <p:nvSpPr>
          <p:cNvPr id="12" name="Rounded Rectangle 11"/>
          <p:cNvSpPr/>
          <p:nvPr/>
        </p:nvSpPr>
        <p:spPr>
          <a:xfrm>
            <a:off x="4319930" y="2084831"/>
            <a:ext cx="3551834" cy="1956816"/>
          </a:xfrm>
          <a:prstGeom prst="roundRect">
            <a:avLst>
              <a:gd name="adj" fmla="val 5607"/>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4484522" y="2212848"/>
            <a:ext cx="502920" cy="45720"/>
          </a:xfrm>
          <a:prstGeom prst="rect">
            <a:avLst/>
          </a:prstGeom>
          <a:solidFill>
            <a:srgbClr val="C984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4447946" y="2304287"/>
            <a:ext cx="3295802" cy="353568"/>
          </a:xfrm>
          <a:prstGeom prst="rect">
            <a:avLst/>
          </a:prstGeom>
          <a:noFill/>
        </p:spPr>
        <p:txBody>
          <a:bodyPr wrap="square" lIns="45720" rIns="45720" tIns="27432" bIns="27432" anchor="t">
            <a:noAutofit/>
          </a:bodyPr>
          <a:lstStyle/>
          <a:p>
            <a:pPr algn="l">
              <a:lnSpc>
                <a:spcPct val="100000"/>
              </a:lnSpc>
            </a:pPr>
            <a:r>
              <a:rPr sz="1600" b="0" i="0">
                <a:solidFill>
                  <a:srgbClr val="F7F2E8"/>
                </a:solidFill>
                <a:latin typeface="Segoe UI Semibold"/>
              </a:rPr>
              <a:t>Una sola fuente</a:t>
            </a:r>
          </a:p>
        </p:txBody>
      </p:sp>
      <p:sp>
        <p:nvSpPr>
          <p:cNvPr id="15" name="TextBox 14"/>
          <p:cNvSpPr txBox="1"/>
          <p:nvPr/>
        </p:nvSpPr>
        <p:spPr>
          <a:xfrm>
            <a:off x="4447946" y="2657855"/>
            <a:ext cx="3295802" cy="1292352"/>
          </a:xfrm>
          <a:prstGeom prst="rect">
            <a:avLst/>
          </a:prstGeom>
          <a:noFill/>
        </p:spPr>
        <p:txBody>
          <a:bodyPr wrap="square" lIns="45720" rIns="45720" tIns="27432" bIns="27432" anchor="t">
            <a:noAutofit/>
          </a:bodyPr>
          <a:lstStyle/>
          <a:p>
            <a:pPr algn="l">
              <a:lnSpc>
                <a:spcPct val="100000"/>
              </a:lnSpc>
            </a:pPr>
            <a:r>
              <a:rPr sz="1300" b="0" i="0">
                <a:solidFill>
                  <a:srgbClr val="A7B2B0"/>
                </a:solidFill>
                <a:latin typeface="Segoe UI"/>
              </a:rPr>
              <a:t>Cada línea fija vive en agent/constants.py.</a:t>
            </a:r>
          </a:p>
        </p:txBody>
      </p:sp>
      <p:sp>
        <p:nvSpPr>
          <p:cNvPr id="16" name="Rounded Rectangle 15"/>
          <p:cNvSpPr/>
          <p:nvPr/>
        </p:nvSpPr>
        <p:spPr>
          <a:xfrm>
            <a:off x="8072932" y="2084831"/>
            <a:ext cx="3551834" cy="1956816"/>
          </a:xfrm>
          <a:prstGeom prst="roundRect">
            <a:avLst>
              <a:gd name="adj" fmla="val 5607"/>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8237524" y="2212848"/>
            <a:ext cx="502920" cy="45720"/>
          </a:xfrm>
          <a:prstGeom prst="rect">
            <a:avLst/>
          </a:prstGeom>
          <a:solidFill>
            <a:srgbClr val="E2B4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200948" y="2304287"/>
            <a:ext cx="3295802" cy="353568"/>
          </a:xfrm>
          <a:prstGeom prst="rect">
            <a:avLst/>
          </a:prstGeom>
          <a:noFill/>
        </p:spPr>
        <p:txBody>
          <a:bodyPr wrap="square" lIns="45720" rIns="45720" tIns="27432" bIns="27432" anchor="t">
            <a:noAutofit/>
          </a:bodyPr>
          <a:lstStyle/>
          <a:p>
            <a:pPr algn="l">
              <a:lnSpc>
                <a:spcPct val="100000"/>
              </a:lnSpc>
            </a:pPr>
            <a:r>
              <a:rPr sz="1600" b="0" i="0">
                <a:solidFill>
                  <a:srgbClr val="F7F2E8"/>
                </a:solidFill>
                <a:latin typeface="Segoe UI Semibold"/>
              </a:rPr>
              <a:t>Redacción vieja conservada</a:t>
            </a:r>
          </a:p>
        </p:txBody>
      </p:sp>
      <p:sp>
        <p:nvSpPr>
          <p:cNvPr id="19" name="TextBox 18"/>
          <p:cNvSpPr txBox="1"/>
          <p:nvPr/>
        </p:nvSpPr>
        <p:spPr>
          <a:xfrm>
            <a:off x="8200948" y="2657855"/>
            <a:ext cx="3295802" cy="1292352"/>
          </a:xfrm>
          <a:prstGeom prst="rect">
            <a:avLst/>
          </a:prstGeom>
          <a:noFill/>
        </p:spPr>
        <p:txBody>
          <a:bodyPr wrap="square" lIns="45720" rIns="45720" tIns="27432" bIns="27432" anchor="t">
            <a:noAutofit/>
          </a:bodyPr>
          <a:lstStyle/>
          <a:p>
            <a:pPr algn="l">
              <a:lnSpc>
                <a:spcPct val="100000"/>
              </a:lnSpc>
            </a:pPr>
            <a:r>
              <a:rPr sz="1300" b="0" i="0">
                <a:solidFill>
                  <a:srgbClr val="A7B2B0"/>
                </a:solidFill>
                <a:latin typeface="Segoe UI"/>
              </a:rPr>
              <a:t>Los reconocedores aceptan ambas, así que los historiales viejos se siguen leyendo.</a:t>
            </a:r>
          </a:p>
        </p:txBody>
      </p:sp>
      <p:sp>
        <p:nvSpPr>
          <p:cNvPr id="20" name="Rounded Rectangle 19"/>
          <p:cNvSpPr/>
          <p:nvPr/>
        </p:nvSpPr>
        <p:spPr>
          <a:xfrm>
            <a:off x="566928" y="4242816"/>
            <a:ext cx="3551834" cy="1956816"/>
          </a:xfrm>
          <a:prstGeom prst="roundRect">
            <a:avLst>
              <a:gd name="adj" fmla="val 5607"/>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ectangle 20"/>
          <p:cNvSpPr/>
          <p:nvPr/>
        </p:nvSpPr>
        <p:spPr>
          <a:xfrm>
            <a:off x="731520" y="4370832"/>
            <a:ext cx="502920" cy="45720"/>
          </a:xfrm>
          <a:prstGeom prst="rect">
            <a:avLst/>
          </a:prstGeom>
          <a:solidFill>
            <a:srgbClr val="46D2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694944" y="4462272"/>
            <a:ext cx="3295802" cy="353568"/>
          </a:xfrm>
          <a:prstGeom prst="rect">
            <a:avLst/>
          </a:prstGeom>
          <a:noFill/>
        </p:spPr>
        <p:txBody>
          <a:bodyPr wrap="square" lIns="45720" rIns="45720" tIns="27432" bIns="27432" anchor="t">
            <a:noAutofit/>
          </a:bodyPr>
          <a:lstStyle/>
          <a:p>
            <a:pPr algn="l">
              <a:lnSpc>
                <a:spcPct val="100000"/>
              </a:lnSpc>
            </a:pPr>
            <a:r>
              <a:rPr sz="1600" b="0" i="0">
                <a:solidFill>
                  <a:srgbClr val="F7F2E8"/>
                </a:solidFill>
                <a:latin typeface="Segoe UI Semibold"/>
              </a:rPr>
              <a:t>Templates conservado</a:t>
            </a:r>
          </a:p>
        </p:txBody>
      </p:sp>
      <p:sp>
        <p:nvSpPr>
          <p:cNvPr id="23" name="TextBox 22"/>
          <p:cNvSpPr txBox="1"/>
          <p:nvPr/>
        </p:nvSpPr>
        <p:spPr>
          <a:xfrm>
            <a:off x="694944" y="4815840"/>
            <a:ext cx="3295802" cy="1292352"/>
          </a:xfrm>
          <a:prstGeom prst="rect">
            <a:avLst/>
          </a:prstGeom>
          <a:noFill/>
        </p:spPr>
        <p:txBody>
          <a:bodyPr wrap="square" lIns="45720" rIns="45720" tIns="27432" bIns="27432" anchor="t">
            <a:noAutofit/>
          </a:bodyPr>
          <a:lstStyle/>
          <a:p>
            <a:pPr algn="l">
              <a:lnSpc>
                <a:spcPct val="100000"/>
              </a:lnSpc>
            </a:pPr>
            <a:r>
              <a:rPr sz="1300" b="0" i="0">
                <a:solidFill>
                  <a:srgbClr val="A7B2B0"/>
                </a:solidFill>
                <a:latin typeface="Segoe UI"/>
              </a:rPr>
              <a:t>Desinstalar conserva los proyectos en Templates/.</a:t>
            </a:r>
          </a:p>
        </p:txBody>
      </p:sp>
      <p:sp>
        <p:nvSpPr>
          <p:cNvPr id="24" name="Rounded Rectangle 23"/>
          <p:cNvSpPr/>
          <p:nvPr/>
        </p:nvSpPr>
        <p:spPr>
          <a:xfrm>
            <a:off x="4319930" y="4242816"/>
            <a:ext cx="3551834" cy="1956816"/>
          </a:xfrm>
          <a:prstGeom prst="roundRect">
            <a:avLst>
              <a:gd name="adj" fmla="val 5607"/>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ectangle 24"/>
          <p:cNvSpPr/>
          <p:nvPr/>
        </p:nvSpPr>
        <p:spPr>
          <a:xfrm>
            <a:off x="4484522" y="4370832"/>
            <a:ext cx="502920" cy="45720"/>
          </a:xfrm>
          <a:prstGeom prst="rect">
            <a:avLst/>
          </a:prstGeom>
          <a:solidFill>
            <a:srgbClr val="D25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4447946" y="4462272"/>
            <a:ext cx="3295802" cy="353568"/>
          </a:xfrm>
          <a:prstGeom prst="rect">
            <a:avLst/>
          </a:prstGeom>
          <a:noFill/>
        </p:spPr>
        <p:txBody>
          <a:bodyPr wrap="square" lIns="45720" rIns="45720" tIns="27432" bIns="27432" anchor="t">
            <a:noAutofit/>
          </a:bodyPr>
          <a:lstStyle/>
          <a:p>
            <a:pPr algn="l">
              <a:lnSpc>
                <a:spcPct val="100000"/>
              </a:lnSpc>
            </a:pPr>
            <a:r>
              <a:rPr sz="1600" b="0" i="0">
                <a:solidFill>
                  <a:srgbClr val="F7F2E8"/>
                </a:solidFill>
                <a:latin typeface="Segoe UI Semibold"/>
              </a:rPr>
              <a:t>Temp borrado</a:t>
            </a:r>
          </a:p>
        </p:txBody>
      </p:sp>
      <p:sp>
        <p:nvSpPr>
          <p:cNvPr id="27" name="TextBox 26"/>
          <p:cNvSpPr txBox="1"/>
          <p:nvPr/>
        </p:nvSpPr>
        <p:spPr>
          <a:xfrm>
            <a:off x="4447946" y="4815840"/>
            <a:ext cx="3295802" cy="1292352"/>
          </a:xfrm>
          <a:prstGeom prst="rect">
            <a:avLst/>
          </a:prstGeom>
          <a:noFill/>
        </p:spPr>
        <p:txBody>
          <a:bodyPr wrap="square" lIns="45720" rIns="45720" tIns="27432" bIns="27432" anchor="t">
            <a:noAutofit/>
          </a:bodyPr>
          <a:lstStyle/>
          <a:p>
            <a:pPr algn="l">
              <a:lnSpc>
                <a:spcPct val="100000"/>
              </a:lnSpc>
            </a:pPr>
            <a:r>
              <a:rPr sz="1300" b="0" i="0">
                <a:solidFill>
                  <a:srgbClr val="A7B2B0"/>
                </a:solidFill>
                <a:latin typeface="Segoe UI"/>
              </a:rPr>
              <a:t>Lo temporal se va; las carpetas con tus archivos se quedan.</a:t>
            </a:r>
          </a:p>
        </p:txBody>
      </p:sp>
      <p:sp>
        <p:nvSpPr>
          <p:cNvPr id="28" name="Rounded Rectangle 27"/>
          <p:cNvSpPr/>
          <p:nvPr/>
        </p:nvSpPr>
        <p:spPr>
          <a:xfrm>
            <a:off x="8072932" y="4242816"/>
            <a:ext cx="3551834" cy="1956816"/>
          </a:xfrm>
          <a:prstGeom prst="roundRect">
            <a:avLst>
              <a:gd name="adj" fmla="val 5607"/>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Rectangle 28"/>
          <p:cNvSpPr/>
          <p:nvPr/>
        </p:nvSpPr>
        <p:spPr>
          <a:xfrm>
            <a:off x="8237524" y="4370832"/>
            <a:ext cx="502920" cy="45720"/>
          </a:xfrm>
          <a:prstGeom prst="rect">
            <a:avLst/>
          </a:prstGeom>
          <a:solidFill>
            <a:srgbClr val="D957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8200948" y="4462272"/>
            <a:ext cx="3295802" cy="353568"/>
          </a:xfrm>
          <a:prstGeom prst="rect">
            <a:avLst/>
          </a:prstGeom>
          <a:noFill/>
        </p:spPr>
        <p:txBody>
          <a:bodyPr wrap="square" lIns="45720" rIns="45720" tIns="27432" bIns="27432" anchor="t">
            <a:noAutofit/>
          </a:bodyPr>
          <a:lstStyle/>
          <a:p>
            <a:pPr algn="l">
              <a:lnSpc>
                <a:spcPct val="100000"/>
              </a:lnSpc>
            </a:pPr>
            <a:r>
              <a:rPr sz="1600" b="0" i="0">
                <a:solidFill>
                  <a:srgbClr val="F7F2E8"/>
                </a:solidFill>
                <a:latin typeface="Segoe UI Semibold"/>
              </a:rPr>
              <a:t>Desinstalador recompilado</a:t>
            </a:r>
          </a:p>
        </p:txBody>
      </p:sp>
      <p:sp>
        <p:nvSpPr>
          <p:cNvPr id="31" name="TextBox 30"/>
          <p:cNvSpPr txBox="1"/>
          <p:nvPr/>
        </p:nvSpPr>
        <p:spPr>
          <a:xfrm>
            <a:off x="8200948" y="4815840"/>
            <a:ext cx="3295802" cy="1292352"/>
          </a:xfrm>
          <a:prstGeom prst="rect">
            <a:avLst/>
          </a:prstGeom>
          <a:noFill/>
        </p:spPr>
        <p:txBody>
          <a:bodyPr wrap="square" lIns="45720" rIns="45720" tIns="27432" bIns="27432" anchor="t">
            <a:noAutofit/>
          </a:bodyPr>
          <a:lstStyle/>
          <a:p>
            <a:pPr algn="l">
              <a:lnSpc>
                <a:spcPct val="100000"/>
              </a:lnSpc>
            </a:pPr>
            <a:r>
              <a:rPr sz="1300" b="0" i="0">
                <a:solidFill>
                  <a:srgbClr val="A7B2B0"/>
                </a:solidFill>
                <a:latin typeface="Segoe UI"/>
              </a:rPr>
              <a:t>Una reinstalación lleva el arreglo; una actualización desde la app no.</a:t>
            </a:r>
          </a:p>
        </p:txBody>
      </p:sp>
      <p:cxnSp>
        <p:nvCxnSpPr>
          <p:cNvPr id="32" name="Connector 31"/>
          <p:cNvCxnSpPr/>
          <p:nvPr/>
        </p:nvCxnSpPr>
        <p:spPr>
          <a:xfrm>
            <a:off x="566928" y="6373368"/>
            <a:ext cx="11057839" cy="0"/>
          </a:xfrm>
          <a:prstGeom prst="line">
            <a:avLst/>
          </a:prstGeom>
          <a:ln w="7620">
            <a:solidFill>
              <a:srgbClr val="2A3A40"/>
            </a:solidFill>
          </a:ln>
        </p:spPr>
        <p:style>
          <a:lnRef idx="2">
            <a:schemeClr val="accent1"/>
          </a:lnRef>
          <a:fillRef idx="0">
            <a:schemeClr val="accent1"/>
          </a:fillRef>
          <a:effectRef idx="1">
            <a:schemeClr val="accent1"/>
          </a:effectRef>
          <a:fontRef idx="minor">
            <a:schemeClr val="tx1"/>
          </a:fontRef>
        </p:style>
      </p:cxnSp>
      <p:sp>
        <p:nvSpPr>
          <p:cNvPr id="33" name="TextBox 32"/>
          <p:cNvSpPr txBox="1"/>
          <p:nvPr/>
        </p:nvSpPr>
        <p:spPr>
          <a:xfrm>
            <a:off x="566928" y="6419088"/>
            <a:ext cx="6858000" cy="274320"/>
          </a:xfrm>
          <a:prstGeom prst="rect">
            <a:avLst/>
          </a:prstGeom>
          <a:noFill/>
        </p:spPr>
        <p:txBody>
          <a:bodyPr wrap="square" lIns="45720" rIns="45720" tIns="27432" bIns="27432" anchor="t">
            <a:noAutofit/>
          </a:bodyPr>
          <a:lstStyle/>
          <a:p>
            <a:pPr algn="l">
              <a:lnSpc>
                <a:spcPct val="100000"/>
              </a:lnSpc>
            </a:pPr>
            <a:r>
              <a:rPr sz="850" b="0" i="0" spc="120">
                <a:solidFill>
                  <a:srgbClr val="A7B2B0"/>
                </a:solidFill>
                <a:latin typeface="Segoe UI Semibold"/>
              </a:rPr>
              <a:t>TLAMATINI  ·  VIII · RELEASE ACTUAL</a:t>
            </a:r>
          </a:p>
        </p:txBody>
      </p:sp>
      <p:sp>
        <p:nvSpPr>
          <p:cNvPr id="34" name="TextBox 33"/>
          <p:cNvSpPr txBox="1"/>
          <p:nvPr/>
        </p:nvSpPr>
        <p:spPr>
          <a:xfrm>
            <a:off x="8698687" y="6419088"/>
            <a:ext cx="2926080" cy="274320"/>
          </a:xfrm>
          <a:prstGeom prst="rect">
            <a:avLst/>
          </a:prstGeom>
          <a:noFill/>
        </p:spPr>
        <p:txBody>
          <a:bodyPr wrap="square" lIns="45720" rIns="45720" tIns="27432" bIns="27432" anchor="t">
            <a:noAutofit/>
          </a:bodyPr>
          <a:lstStyle/>
          <a:p>
            <a:pPr algn="r">
              <a:lnSpc>
                <a:spcPct val="100000"/>
              </a:lnSpc>
            </a:pPr>
            <a:r>
              <a:rPr sz="850" b="0" i="0" spc="100">
                <a:solidFill>
                  <a:srgbClr val="A7B2B0"/>
                </a:solidFill>
                <a:latin typeface="Segoe UI Semibold"/>
              </a:rPr>
              <a:t>v1.91.1   ·   146</a:t>
            </a:r>
          </a:p>
        </p:txBody>
      </p:sp>
    </p:spTree>
  </p:cSld>
  <p:clrMapOvr>
    <a:masterClrMapping/>
  </p:clrMapOvr>
</p:sld>
</file>

<file path=ppt/slides/slide1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content.png"/>
          <p:cNvPicPr>
            <a:picLocks noChangeAspect="1"/>
          </p:cNvPicPr>
          <p:nvPr/>
        </p:nvPicPr>
        <p:blipFill>
          <a:blip r:embed="rId2"/>
          <a:stretch>
            <a:fillRect/>
          </a:stretch>
        </p:blipFill>
        <p:spPr>
          <a:xfrm>
            <a:off x="0" y="0"/>
            <a:ext cx="12191695" cy="6858000"/>
          </a:xfrm>
          <a:prstGeom prst="rect">
            <a:avLst/>
          </a:prstGeom>
        </p:spPr>
      </p:pic>
      <p:sp>
        <p:nvSpPr>
          <p:cNvPr id="3" name="Diamond 2"/>
          <p:cNvSpPr/>
          <p:nvPr/>
        </p:nvSpPr>
        <p:spPr>
          <a:xfrm>
            <a:off x="566928" y="457200"/>
            <a:ext cx="100584" cy="100584"/>
          </a:xfrm>
          <a:prstGeom prst="diamond">
            <a:avLst/>
          </a:prstGeom>
          <a:solidFill>
            <a:srgbClr val="E2B4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49808" y="365760"/>
            <a:ext cx="8229600" cy="292608"/>
          </a:xfrm>
          <a:prstGeom prst="rect">
            <a:avLst/>
          </a:prstGeom>
          <a:noFill/>
        </p:spPr>
        <p:txBody>
          <a:bodyPr wrap="square" lIns="45720" rIns="45720" tIns="27432" bIns="27432" anchor="t">
            <a:noAutofit/>
          </a:bodyPr>
          <a:lstStyle/>
          <a:p>
            <a:pPr algn="l">
              <a:lnSpc>
                <a:spcPct val="100000"/>
              </a:lnSpc>
            </a:pPr>
            <a:r>
              <a:rPr sz="1100" b="0" i="0" spc="240">
                <a:solidFill>
                  <a:srgbClr val="C98457"/>
                </a:solidFill>
                <a:latin typeface="Segoe UI Semibold"/>
              </a:rPr>
              <a:t>HEREDADO DE v1.76.0</a:t>
            </a:r>
          </a:p>
        </p:txBody>
      </p:sp>
      <p:sp>
        <p:nvSpPr>
          <p:cNvPr id="5" name="TextBox 4"/>
          <p:cNvSpPr txBox="1"/>
          <p:nvPr/>
        </p:nvSpPr>
        <p:spPr>
          <a:xfrm>
            <a:off x="539496" y="676656"/>
            <a:ext cx="11057839" cy="658368"/>
          </a:xfrm>
          <a:prstGeom prst="rect">
            <a:avLst/>
          </a:prstGeom>
          <a:noFill/>
        </p:spPr>
        <p:txBody>
          <a:bodyPr wrap="square" lIns="45720" rIns="45720" tIns="27432" bIns="27432" anchor="t">
            <a:noAutofit/>
          </a:bodyPr>
          <a:lstStyle/>
          <a:p>
            <a:pPr algn="l">
              <a:lnSpc>
                <a:spcPct val="100000"/>
              </a:lnSpc>
            </a:pPr>
            <a:r>
              <a:rPr sz="3100" b="0" i="0">
                <a:solidFill>
                  <a:srgbClr val="F7F2E8"/>
                </a:solidFill>
                <a:latin typeface="Palatino Linotype"/>
              </a:rPr>
              <a:t>El Model Brain ajusta cada modelo</a:t>
            </a:r>
          </a:p>
        </p:txBody>
      </p:sp>
      <p:sp>
        <p:nvSpPr>
          <p:cNvPr id="6" name="Rectangle 5"/>
          <p:cNvSpPr/>
          <p:nvPr/>
        </p:nvSpPr>
        <p:spPr>
          <a:xfrm>
            <a:off x="566928" y="1344168"/>
            <a:ext cx="822960" cy="36576"/>
          </a:xfrm>
          <a:prstGeom prst="rect">
            <a:avLst/>
          </a:prstGeom>
          <a:solidFill>
            <a:srgbClr val="E2B4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566928" y="1444752"/>
            <a:ext cx="10692079" cy="585216"/>
          </a:xfrm>
          <a:prstGeom prst="rect">
            <a:avLst/>
          </a:prstGeom>
          <a:noFill/>
        </p:spPr>
        <p:txBody>
          <a:bodyPr wrap="square" lIns="45720" rIns="45720" tIns="27432" bIns="27432" anchor="t">
            <a:noAutofit/>
          </a:bodyPr>
          <a:lstStyle/>
          <a:p>
            <a:pPr algn="l">
              <a:lnSpc>
                <a:spcPct val="100000"/>
              </a:lnSpc>
            </a:pPr>
            <a:r>
              <a:rPr sz="1450" b="0" i="0">
                <a:solidFill>
                  <a:srgbClr val="A7B2B0"/>
                </a:solidFill>
                <a:latin typeface="Segoe UI Semilight"/>
              </a:rPr>
              <a:t>Con tag del 8 de octubre; el commit del Model Brain llega a main un commit después del tag. El release publicado v1.76.0 se construyó desde main y lo lleva.</a:t>
            </a:r>
          </a:p>
        </p:txBody>
      </p:sp>
      <p:sp>
        <p:nvSpPr>
          <p:cNvPr id="8" name="Rounded Rectangle 7"/>
          <p:cNvSpPr/>
          <p:nvPr/>
        </p:nvSpPr>
        <p:spPr>
          <a:xfrm>
            <a:off x="566928" y="2084831"/>
            <a:ext cx="3551834" cy="1956816"/>
          </a:xfrm>
          <a:prstGeom prst="roundRect">
            <a:avLst>
              <a:gd name="adj" fmla="val 5607"/>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ectangle 8"/>
          <p:cNvSpPr/>
          <p:nvPr/>
        </p:nvSpPr>
        <p:spPr>
          <a:xfrm>
            <a:off x="731520" y="2212848"/>
            <a:ext cx="502920" cy="45720"/>
          </a:xfrm>
          <a:prstGeom prst="rect">
            <a:avLst/>
          </a:prstGeom>
          <a:solidFill>
            <a:srgbClr val="3BBE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694944" y="2304287"/>
            <a:ext cx="3295802" cy="353568"/>
          </a:xfrm>
          <a:prstGeom prst="rect">
            <a:avLst/>
          </a:prstGeom>
          <a:noFill/>
        </p:spPr>
        <p:txBody>
          <a:bodyPr wrap="square" lIns="45720" rIns="45720" tIns="27432" bIns="27432" anchor="t">
            <a:noAutofit/>
          </a:bodyPr>
          <a:lstStyle/>
          <a:p>
            <a:pPr algn="l">
              <a:lnSpc>
                <a:spcPct val="100000"/>
              </a:lnSpc>
            </a:pPr>
            <a:r>
              <a:rPr sz="1600" b="0" i="0">
                <a:solidFill>
                  <a:srgbClr val="F7F2E8"/>
                </a:solidFill>
                <a:latin typeface="Segoe UI Semibold"/>
              </a:rPr>
              <a:t>Model Brain</a:t>
            </a:r>
          </a:p>
        </p:txBody>
      </p:sp>
      <p:sp>
        <p:nvSpPr>
          <p:cNvPr id="11" name="TextBox 10"/>
          <p:cNvSpPr txBox="1"/>
          <p:nvPr/>
        </p:nvSpPr>
        <p:spPr>
          <a:xfrm>
            <a:off x="694944" y="2657855"/>
            <a:ext cx="3295802" cy="1292352"/>
          </a:xfrm>
          <a:prstGeom prst="rect">
            <a:avLst/>
          </a:prstGeom>
          <a:noFill/>
        </p:spPr>
        <p:txBody>
          <a:bodyPr wrap="square" lIns="45720" rIns="45720" tIns="27432" bIns="27432" anchor="t">
            <a:noAutofit/>
          </a:bodyPr>
          <a:lstStyle/>
          <a:p>
            <a:pPr algn="l">
              <a:lnSpc>
                <a:spcPct val="100000"/>
              </a:lnSpc>
            </a:pPr>
            <a:r>
              <a:rPr sz="1300" b="0" i="0">
                <a:solidFill>
                  <a:srgbClr val="A7B2B0"/>
                </a:solidFill>
                <a:latin typeface="Segoe UI"/>
              </a:rPr>
              <a:t>Configuración por modelo a partir de fuentes citadas; Autoajuste muestra cada una.</a:t>
            </a:r>
          </a:p>
        </p:txBody>
      </p:sp>
      <p:sp>
        <p:nvSpPr>
          <p:cNvPr id="12" name="Rounded Rectangle 11"/>
          <p:cNvSpPr/>
          <p:nvPr/>
        </p:nvSpPr>
        <p:spPr>
          <a:xfrm>
            <a:off x="4319930" y="2084831"/>
            <a:ext cx="3551834" cy="1956816"/>
          </a:xfrm>
          <a:prstGeom prst="roundRect">
            <a:avLst>
              <a:gd name="adj" fmla="val 5607"/>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4484522" y="2212848"/>
            <a:ext cx="502920" cy="45720"/>
          </a:xfrm>
          <a:prstGeom prst="rect">
            <a:avLst/>
          </a:prstGeom>
          <a:solidFill>
            <a:srgbClr val="C984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4447946" y="2304287"/>
            <a:ext cx="3295802" cy="353568"/>
          </a:xfrm>
          <a:prstGeom prst="rect">
            <a:avLst/>
          </a:prstGeom>
          <a:noFill/>
        </p:spPr>
        <p:txBody>
          <a:bodyPr wrap="square" lIns="45720" rIns="45720" tIns="27432" bIns="27432" anchor="t">
            <a:noAutofit/>
          </a:bodyPr>
          <a:lstStyle/>
          <a:p>
            <a:pPr algn="l">
              <a:lnSpc>
                <a:spcPct val="100000"/>
              </a:lnSpc>
            </a:pPr>
            <a:r>
              <a:rPr sz="1600" b="0" i="0">
                <a:solidFill>
                  <a:srgbClr val="F7F2E8"/>
                </a:solidFill>
                <a:latin typeface="Segoe UI Semibold"/>
              </a:rPr>
              <a:t>Razonamiento conservado</a:t>
            </a:r>
          </a:p>
        </p:txBody>
      </p:sp>
      <p:sp>
        <p:nvSpPr>
          <p:cNvPr id="15" name="TextBox 14"/>
          <p:cNvSpPr txBox="1"/>
          <p:nvPr/>
        </p:nvSpPr>
        <p:spPr>
          <a:xfrm>
            <a:off x="4447946" y="2657855"/>
            <a:ext cx="3295802" cy="1292352"/>
          </a:xfrm>
          <a:prstGeom prst="rect">
            <a:avLst/>
          </a:prstGeom>
          <a:noFill/>
        </p:spPr>
        <p:txBody>
          <a:bodyPr wrap="square" lIns="45720" rIns="45720" tIns="27432" bIns="27432" anchor="t">
            <a:noAutofit/>
          </a:bodyPr>
          <a:lstStyle/>
          <a:p>
            <a:pPr algn="l">
              <a:lnSpc>
                <a:spcPct val="100000"/>
              </a:lnSpc>
            </a:pPr>
            <a:r>
              <a:rPr sz="1300" b="0" i="0">
                <a:solidFill>
                  <a:srgbClr val="A7B2B0"/>
                </a:solidFill>
                <a:latin typeface="Segoe UI"/>
              </a:rPr>
              <a:t>Los modelos que piensan conservan su hilo de pensamiento entre llamadas a tools.</a:t>
            </a:r>
          </a:p>
        </p:txBody>
      </p:sp>
      <p:sp>
        <p:nvSpPr>
          <p:cNvPr id="16" name="Rounded Rectangle 15"/>
          <p:cNvSpPr/>
          <p:nvPr/>
        </p:nvSpPr>
        <p:spPr>
          <a:xfrm>
            <a:off x="8072932" y="2084831"/>
            <a:ext cx="3551834" cy="1956816"/>
          </a:xfrm>
          <a:prstGeom prst="roundRect">
            <a:avLst>
              <a:gd name="adj" fmla="val 5607"/>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8237524" y="2212848"/>
            <a:ext cx="502920" cy="45720"/>
          </a:xfrm>
          <a:prstGeom prst="rect">
            <a:avLst/>
          </a:prstGeom>
          <a:solidFill>
            <a:srgbClr val="E2B4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200948" y="2304287"/>
            <a:ext cx="3295802" cy="353568"/>
          </a:xfrm>
          <a:prstGeom prst="rect">
            <a:avLst/>
          </a:prstGeom>
          <a:noFill/>
        </p:spPr>
        <p:txBody>
          <a:bodyPr wrap="square" lIns="45720" rIns="45720" tIns="27432" bIns="27432" anchor="t">
            <a:noAutofit/>
          </a:bodyPr>
          <a:lstStyle/>
          <a:p>
            <a:pPr algn="l">
              <a:lnSpc>
                <a:spcPct val="100000"/>
              </a:lnSpc>
            </a:pPr>
            <a:r>
              <a:rPr sz="1600" b="0" i="0">
                <a:solidFill>
                  <a:srgbClr val="F7F2E8"/>
                </a:solidFill>
                <a:latin typeface="Segoe UI Semibold"/>
              </a:rPr>
              <a:t>Consola a colores</a:t>
            </a:r>
          </a:p>
        </p:txBody>
      </p:sp>
      <p:sp>
        <p:nvSpPr>
          <p:cNvPr id="19" name="TextBox 18"/>
          <p:cNvSpPr txBox="1"/>
          <p:nvPr/>
        </p:nvSpPr>
        <p:spPr>
          <a:xfrm>
            <a:off x="8200948" y="2657855"/>
            <a:ext cx="3295802" cy="1292352"/>
          </a:xfrm>
          <a:prstGeom prst="rect">
            <a:avLst/>
          </a:prstGeom>
          <a:noFill/>
        </p:spPr>
        <p:txBody>
          <a:bodyPr wrap="square" lIns="45720" rIns="45720" tIns="27432" bIns="27432" anchor="t">
            <a:noAutofit/>
          </a:bodyPr>
          <a:lstStyle/>
          <a:p>
            <a:pPr algn="l">
              <a:lnSpc>
                <a:spcPct val="100000"/>
              </a:lnSpc>
            </a:pPr>
            <a:r>
              <a:rPr sz="1300" b="0" i="0">
                <a:solidFill>
                  <a:srgbClr val="A7B2B0"/>
                </a:solidFill>
                <a:latin typeface="Segoe UI"/>
              </a:rPr>
              <a:t>Líneas coloreadas por nivel; el archivo de log se queda en texto plano.</a:t>
            </a:r>
          </a:p>
        </p:txBody>
      </p:sp>
      <p:sp>
        <p:nvSpPr>
          <p:cNvPr id="20" name="Rounded Rectangle 19"/>
          <p:cNvSpPr/>
          <p:nvPr/>
        </p:nvSpPr>
        <p:spPr>
          <a:xfrm>
            <a:off x="566928" y="4242816"/>
            <a:ext cx="3551834" cy="1956816"/>
          </a:xfrm>
          <a:prstGeom prst="roundRect">
            <a:avLst>
              <a:gd name="adj" fmla="val 5607"/>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ectangle 20"/>
          <p:cNvSpPr/>
          <p:nvPr/>
        </p:nvSpPr>
        <p:spPr>
          <a:xfrm>
            <a:off x="731520" y="4370832"/>
            <a:ext cx="502920" cy="45720"/>
          </a:xfrm>
          <a:prstGeom prst="rect">
            <a:avLst/>
          </a:prstGeom>
          <a:solidFill>
            <a:srgbClr val="46D2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694944" y="4462272"/>
            <a:ext cx="3295802" cy="353568"/>
          </a:xfrm>
          <a:prstGeom prst="rect">
            <a:avLst/>
          </a:prstGeom>
          <a:noFill/>
        </p:spPr>
        <p:txBody>
          <a:bodyPr wrap="square" lIns="45720" rIns="45720" tIns="27432" bIns="27432" anchor="t">
            <a:noAutofit/>
          </a:bodyPr>
          <a:lstStyle/>
          <a:p>
            <a:pPr algn="l">
              <a:lnSpc>
                <a:spcPct val="100000"/>
              </a:lnSpc>
            </a:pPr>
            <a:r>
              <a:rPr sz="1600" b="0" i="0">
                <a:solidFill>
                  <a:srgbClr val="F7F2E8"/>
                </a:solidFill>
                <a:latin typeface="Segoe UI Semibold"/>
              </a:rPr>
              <a:t>Rechazo veraz</a:t>
            </a:r>
          </a:p>
        </p:txBody>
      </p:sp>
      <p:sp>
        <p:nvSpPr>
          <p:cNvPr id="23" name="TextBox 22"/>
          <p:cNvSpPr txBox="1"/>
          <p:nvPr/>
        </p:nvSpPr>
        <p:spPr>
          <a:xfrm>
            <a:off x="694944" y="4815840"/>
            <a:ext cx="3295802" cy="1292352"/>
          </a:xfrm>
          <a:prstGeom prst="rect">
            <a:avLst/>
          </a:prstGeom>
          <a:noFill/>
        </p:spPr>
        <p:txBody>
          <a:bodyPr wrap="square" lIns="45720" rIns="45720" tIns="27432" bIns="27432" anchor="t">
            <a:noAutofit/>
          </a:bodyPr>
          <a:lstStyle/>
          <a:p>
            <a:pPr algn="l">
              <a:lnSpc>
                <a:spcPct val="100000"/>
              </a:lnSpc>
            </a:pPr>
            <a:r>
              <a:rPr sz="1300" b="0" i="0">
                <a:solidFill>
                  <a:srgbClr val="A7B2B0"/>
                </a:solidFill>
                <a:latin typeface="Segoe UI"/>
              </a:rPr>
              <a:t>Un PDF rechazado por una segunda cuenta dice por qué y cómo arreglarlo.</a:t>
            </a:r>
          </a:p>
        </p:txBody>
      </p:sp>
      <p:sp>
        <p:nvSpPr>
          <p:cNvPr id="24" name="Rounded Rectangle 23"/>
          <p:cNvSpPr/>
          <p:nvPr/>
        </p:nvSpPr>
        <p:spPr>
          <a:xfrm>
            <a:off x="4319930" y="4242816"/>
            <a:ext cx="3551834" cy="1956816"/>
          </a:xfrm>
          <a:prstGeom prst="roundRect">
            <a:avLst>
              <a:gd name="adj" fmla="val 5607"/>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ectangle 24"/>
          <p:cNvSpPr/>
          <p:nvPr/>
        </p:nvSpPr>
        <p:spPr>
          <a:xfrm>
            <a:off x="4484522" y="4370832"/>
            <a:ext cx="502920" cy="45720"/>
          </a:xfrm>
          <a:prstGeom prst="rect">
            <a:avLst/>
          </a:prstGeom>
          <a:solidFill>
            <a:srgbClr val="D25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4447946" y="4462272"/>
            <a:ext cx="3295802" cy="353568"/>
          </a:xfrm>
          <a:prstGeom prst="rect">
            <a:avLst/>
          </a:prstGeom>
          <a:noFill/>
        </p:spPr>
        <p:txBody>
          <a:bodyPr wrap="square" lIns="45720" rIns="45720" tIns="27432" bIns="27432" anchor="t">
            <a:noAutofit/>
          </a:bodyPr>
          <a:lstStyle/>
          <a:p>
            <a:pPr algn="l">
              <a:lnSpc>
                <a:spcPct val="100000"/>
              </a:lnSpc>
            </a:pPr>
            <a:r>
              <a:rPr sz="1600" b="0" i="0">
                <a:solidFill>
                  <a:srgbClr val="F7F2E8"/>
                </a:solidFill>
                <a:latin typeface="Segoe UI Semibold"/>
              </a:rPr>
              <a:t>Pestañas tranquilas</a:t>
            </a:r>
          </a:p>
        </p:txBody>
      </p:sp>
      <p:sp>
        <p:nvSpPr>
          <p:cNvPr id="27" name="TextBox 26"/>
          <p:cNvSpPr txBox="1"/>
          <p:nvPr/>
        </p:nvSpPr>
        <p:spPr>
          <a:xfrm>
            <a:off x="4447946" y="4815840"/>
            <a:ext cx="3295802" cy="1292352"/>
          </a:xfrm>
          <a:prstGeom prst="rect">
            <a:avLst/>
          </a:prstGeom>
          <a:noFill/>
        </p:spPr>
        <p:txBody>
          <a:bodyPr wrap="square" lIns="45720" rIns="45720" tIns="27432" bIns="27432" anchor="t">
            <a:noAutofit/>
          </a:bodyPr>
          <a:lstStyle/>
          <a:p>
            <a:pPr algn="l">
              <a:lnSpc>
                <a:spcPct val="100000"/>
              </a:lnSpc>
            </a:pPr>
            <a:r>
              <a:rPr sz="1300" b="0" i="0">
                <a:solidFill>
                  <a:srgbClr val="A7B2B0"/>
                </a:solidFill>
                <a:latin typeface="Segoe UI"/>
              </a:rPr>
              <a:t>Dos páginas con dos modelos ya no se vuelven a medir una a la otra.</a:t>
            </a:r>
          </a:p>
        </p:txBody>
      </p:sp>
      <p:sp>
        <p:nvSpPr>
          <p:cNvPr id="28" name="Rounded Rectangle 27"/>
          <p:cNvSpPr/>
          <p:nvPr/>
        </p:nvSpPr>
        <p:spPr>
          <a:xfrm>
            <a:off x="8072932" y="4242816"/>
            <a:ext cx="3551834" cy="1956816"/>
          </a:xfrm>
          <a:prstGeom prst="roundRect">
            <a:avLst>
              <a:gd name="adj" fmla="val 5607"/>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Rectangle 28"/>
          <p:cNvSpPr/>
          <p:nvPr/>
        </p:nvSpPr>
        <p:spPr>
          <a:xfrm>
            <a:off x="8237524" y="4370832"/>
            <a:ext cx="502920" cy="45720"/>
          </a:xfrm>
          <a:prstGeom prst="rect">
            <a:avLst/>
          </a:prstGeom>
          <a:solidFill>
            <a:srgbClr val="D957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8200948" y="4462272"/>
            <a:ext cx="3295802" cy="353568"/>
          </a:xfrm>
          <a:prstGeom prst="rect">
            <a:avLst/>
          </a:prstGeom>
          <a:noFill/>
        </p:spPr>
        <p:txBody>
          <a:bodyPr wrap="square" lIns="45720" rIns="45720" tIns="27432" bIns="27432" anchor="t">
            <a:noAutofit/>
          </a:bodyPr>
          <a:lstStyle/>
          <a:p>
            <a:pPr algn="l">
              <a:lnSpc>
                <a:spcPct val="100000"/>
              </a:lnSpc>
            </a:pPr>
            <a:r>
              <a:rPr sz="1600" b="0" i="0">
                <a:solidFill>
                  <a:srgbClr val="F7F2E8"/>
                </a:solidFill>
                <a:latin typeface="Segoe UI Semibold"/>
              </a:rPr>
              <a:t>Evidencia</a:t>
            </a:r>
          </a:p>
        </p:txBody>
      </p:sp>
      <p:sp>
        <p:nvSpPr>
          <p:cNvPr id="31" name="TextBox 30"/>
          <p:cNvSpPr txBox="1"/>
          <p:nvPr/>
        </p:nvSpPr>
        <p:spPr>
          <a:xfrm>
            <a:off x="8200948" y="4815840"/>
            <a:ext cx="3295802" cy="1292352"/>
          </a:xfrm>
          <a:prstGeom prst="rect">
            <a:avLst/>
          </a:prstGeom>
          <a:noFill/>
        </p:spPr>
        <p:txBody>
          <a:bodyPr wrap="square" lIns="45720" rIns="45720" tIns="27432" bIns="27432" anchor="t">
            <a:noAutofit/>
          </a:bodyPr>
          <a:lstStyle/>
          <a:p>
            <a:pPr algn="l">
              <a:lnSpc>
                <a:spcPct val="100000"/>
              </a:lnSpc>
            </a:pPr>
            <a:r>
              <a:rPr sz="1300" b="0" i="0">
                <a:solidFill>
                  <a:srgbClr val="A7B2B0"/>
                </a:solidFill>
                <a:latin typeface="Segoe UI"/>
              </a:rPr>
              <a:t>25 de 25 y 20 de 20 revisiones visibles el 8 de octubre.</a:t>
            </a:r>
          </a:p>
        </p:txBody>
      </p:sp>
      <p:cxnSp>
        <p:nvCxnSpPr>
          <p:cNvPr id="32" name="Connector 31"/>
          <p:cNvCxnSpPr/>
          <p:nvPr/>
        </p:nvCxnSpPr>
        <p:spPr>
          <a:xfrm>
            <a:off x="566928" y="6373368"/>
            <a:ext cx="11057839" cy="0"/>
          </a:xfrm>
          <a:prstGeom prst="line">
            <a:avLst/>
          </a:prstGeom>
          <a:ln w="7620">
            <a:solidFill>
              <a:srgbClr val="2A3A40"/>
            </a:solidFill>
          </a:ln>
        </p:spPr>
        <p:style>
          <a:lnRef idx="2">
            <a:schemeClr val="accent1"/>
          </a:lnRef>
          <a:fillRef idx="0">
            <a:schemeClr val="accent1"/>
          </a:fillRef>
          <a:effectRef idx="1">
            <a:schemeClr val="accent1"/>
          </a:effectRef>
          <a:fontRef idx="minor">
            <a:schemeClr val="tx1"/>
          </a:fontRef>
        </p:style>
      </p:cxnSp>
      <p:sp>
        <p:nvSpPr>
          <p:cNvPr id="33" name="TextBox 32"/>
          <p:cNvSpPr txBox="1"/>
          <p:nvPr/>
        </p:nvSpPr>
        <p:spPr>
          <a:xfrm>
            <a:off x="566928" y="6419088"/>
            <a:ext cx="6858000" cy="274320"/>
          </a:xfrm>
          <a:prstGeom prst="rect">
            <a:avLst/>
          </a:prstGeom>
          <a:noFill/>
        </p:spPr>
        <p:txBody>
          <a:bodyPr wrap="square" lIns="45720" rIns="45720" tIns="27432" bIns="27432" anchor="t">
            <a:noAutofit/>
          </a:bodyPr>
          <a:lstStyle/>
          <a:p>
            <a:pPr algn="l">
              <a:lnSpc>
                <a:spcPct val="100000"/>
              </a:lnSpc>
            </a:pPr>
            <a:r>
              <a:rPr sz="850" b="0" i="0" spc="120">
                <a:solidFill>
                  <a:srgbClr val="A7B2B0"/>
                </a:solidFill>
                <a:latin typeface="Segoe UI Semibold"/>
              </a:rPr>
              <a:t>TLAMATINI  ·  VIII · RELEASE ACTUAL</a:t>
            </a:r>
          </a:p>
        </p:txBody>
      </p:sp>
      <p:sp>
        <p:nvSpPr>
          <p:cNvPr id="34" name="TextBox 33"/>
          <p:cNvSpPr txBox="1"/>
          <p:nvPr/>
        </p:nvSpPr>
        <p:spPr>
          <a:xfrm>
            <a:off x="8698687" y="6419088"/>
            <a:ext cx="2926080" cy="274320"/>
          </a:xfrm>
          <a:prstGeom prst="rect">
            <a:avLst/>
          </a:prstGeom>
          <a:noFill/>
        </p:spPr>
        <p:txBody>
          <a:bodyPr wrap="square" lIns="45720" rIns="45720" tIns="27432" bIns="27432" anchor="t">
            <a:noAutofit/>
          </a:bodyPr>
          <a:lstStyle/>
          <a:p>
            <a:pPr algn="r">
              <a:lnSpc>
                <a:spcPct val="100000"/>
              </a:lnSpc>
            </a:pPr>
            <a:r>
              <a:rPr sz="850" b="0" i="0" spc="100">
                <a:solidFill>
                  <a:srgbClr val="A7B2B0"/>
                </a:solidFill>
                <a:latin typeface="Segoe UI Semibold"/>
              </a:rPr>
              <a:t>v1.91.1   ·   147</a:t>
            </a:r>
          </a:p>
        </p:txBody>
      </p:sp>
    </p:spTree>
  </p:cSld>
  <p:clrMapOvr>
    <a:masterClrMapping/>
  </p:clrMapOvr>
</p:sld>
</file>

<file path=ppt/slides/slide1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content.png"/>
          <p:cNvPicPr>
            <a:picLocks noChangeAspect="1"/>
          </p:cNvPicPr>
          <p:nvPr/>
        </p:nvPicPr>
        <p:blipFill>
          <a:blip r:embed="rId2"/>
          <a:stretch>
            <a:fillRect/>
          </a:stretch>
        </p:blipFill>
        <p:spPr>
          <a:xfrm>
            <a:off x="0" y="0"/>
            <a:ext cx="12191695" cy="6858000"/>
          </a:xfrm>
          <a:prstGeom prst="rect">
            <a:avLst/>
          </a:prstGeom>
        </p:spPr>
      </p:pic>
      <p:sp>
        <p:nvSpPr>
          <p:cNvPr id="3" name="Diamond 2"/>
          <p:cNvSpPr/>
          <p:nvPr/>
        </p:nvSpPr>
        <p:spPr>
          <a:xfrm>
            <a:off x="566928" y="457200"/>
            <a:ext cx="100584" cy="100584"/>
          </a:xfrm>
          <a:prstGeom prst="diamond">
            <a:avLst/>
          </a:prstGeom>
          <a:solidFill>
            <a:srgbClr val="E2B4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49808" y="365760"/>
            <a:ext cx="8229600" cy="292608"/>
          </a:xfrm>
          <a:prstGeom prst="rect">
            <a:avLst/>
          </a:prstGeom>
          <a:noFill/>
        </p:spPr>
        <p:txBody>
          <a:bodyPr wrap="square" lIns="45720" rIns="45720" tIns="27432" bIns="27432" anchor="t">
            <a:noAutofit/>
          </a:bodyPr>
          <a:lstStyle/>
          <a:p>
            <a:pPr algn="l">
              <a:lnSpc>
                <a:spcPct val="100000"/>
              </a:lnSpc>
            </a:pPr>
            <a:r>
              <a:rPr sz="1100" b="0" i="0" spc="240">
                <a:solidFill>
                  <a:srgbClr val="C98457"/>
                </a:solidFill>
                <a:latin typeface="Segoe UI Semibold"/>
              </a:rPr>
              <a:t>HEREDADO DE v1.76.0</a:t>
            </a:r>
          </a:p>
        </p:txBody>
      </p:sp>
      <p:sp>
        <p:nvSpPr>
          <p:cNvPr id="5" name="TextBox 4"/>
          <p:cNvSpPr txBox="1"/>
          <p:nvPr/>
        </p:nvSpPr>
        <p:spPr>
          <a:xfrm>
            <a:off x="539496" y="676656"/>
            <a:ext cx="11057839" cy="658368"/>
          </a:xfrm>
          <a:prstGeom prst="rect">
            <a:avLst/>
          </a:prstGeom>
          <a:noFill/>
        </p:spPr>
        <p:txBody>
          <a:bodyPr wrap="square" lIns="45720" rIns="45720" tIns="27432" bIns="27432" anchor="t">
            <a:noAutofit/>
          </a:bodyPr>
          <a:lstStyle/>
          <a:p>
            <a:pPr algn="l">
              <a:lnSpc>
                <a:spcPct val="100000"/>
              </a:lnSpc>
            </a:pPr>
            <a:r>
              <a:rPr sz="3100" b="0" i="0">
                <a:solidFill>
                  <a:srgbClr val="F7F2E8"/>
                </a:solidFill>
                <a:latin typeface="Palatino Linotype"/>
              </a:rPr>
              <a:t>Documentos y archivos que dicen la verdad</a:t>
            </a:r>
          </a:p>
        </p:txBody>
      </p:sp>
      <p:sp>
        <p:nvSpPr>
          <p:cNvPr id="6" name="Rectangle 5"/>
          <p:cNvSpPr/>
          <p:nvPr/>
        </p:nvSpPr>
        <p:spPr>
          <a:xfrm>
            <a:off x="566928" y="1344168"/>
            <a:ext cx="822960" cy="36576"/>
          </a:xfrm>
          <a:prstGeom prst="rect">
            <a:avLst/>
          </a:prstGeom>
          <a:solidFill>
            <a:srgbClr val="E2B4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566928" y="1444752"/>
            <a:ext cx="10692079" cy="585216"/>
          </a:xfrm>
          <a:prstGeom prst="rect">
            <a:avLst/>
          </a:prstGeom>
          <a:noFill/>
        </p:spPr>
        <p:txBody>
          <a:bodyPr wrap="square" lIns="45720" rIns="45720" tIns="27432" bIns="27432" anchor="t">
            <a:noAutofit/>
          </a:bodyPr>
          <a:lstStyle/>
          <a:p>
            <a:pPr algn="l">
              <a:lnSpc>
                <a:spcPct val="100000"/>
              </a:lnSpc>
            </a:pPr>
            <a:r>
              <a:rPr sz="1450" b="0" i="0">
                <a:solidFill>
                  <a:srgbClr val="A7B2B0"/>
                </a:solidFill>
                <a:latin typeface="Segoe UI Semilight"/>
              </a:rPr>
              <a:t>7 y 8 de octubre: LaTeXer, Mover y los agents de documentos reportan lo que de verdad pasó.</a:t>
            </a:r>
          </a:p>
        </p:txBody>
      </p:sp>
      <p:sp>
        <p:nvSpPr>
          <p:cNvPr id="8" name="Rounded Rectangle 7"/>
          <p:cNvSpPr/>
          <p:nvPr/>
        </p:nvSpPr>
        <p:spPr>
          <a:xfrm>
            <a:off x="566928" y="2084831"/>
            <a:ext cx="3551834" cy="1956816"/>
          </a:xfrm>
          <a:prstGeom prst="roundRect">
            <a:avLst>
              <a:gd name="adj" fmla="val 5607"/>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ectangle 8"/>
          <p:cNvSpPr/>
          <p:nvPr/>
        </p:nvSpPr>
        <p:spPr>
          <a:xfrm>
            <a:off x="731520" y="2212848"/>
            <a:ext cx="502920" cy="45720"/>
          </a:xfrm>
          <a:prstGeom prst="rect">
            <a:avLst/>
          </a:prstGeom>
          <a:solidFill>
            <a:srgbClr val="3BBE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694944" y="2304287"/>
            <a:ext cx="3295802" cy="353568"/>
          </a:xfrm>
          <a:prstGeom prst="rect">
            <a:avLst/>
          </a:prstGeom>
          <a:noFill/>
        </p:spPr>
        <p:txBody>
          <a:bodyPr wrap="square" lIns="45720" rIns="45720" tIns="27432" bIns="27432" anchor="t">
            <a:noAutofit/>
          </a:bodyPr>
          <a:lstStyle/>
          <a:p>
            <a:pPr algn="l">
              <a:lnSpc>
                <a:spcPct val="100000"/>
              </a:lnSpc>
            </a:pPr>
            <a:r>
              <a:rPr sz="1600" b="0" i="0">
                <a:solidFill>
                  <a:srgbClr val="F7F2E8"/>
                </a:solidFill>
                <a:latin typeface="Segoe UI Semibold"/>
              </a:rPr>
              <a:t>PDFs reales</a:t>
            </a:r>
          </a:p>
        </p:txBody>
      </p:sp>
      <p:sp>
        <p:nvSpPr>
          <p:cNvPr id="11" name="TextBox 10"/>
          <p:cNvSpPr txBox="1"/>
          <p:nvPr/>
        </p:nvSpPr>
        <p:spPr>
          <a:xfrm>
            <a:off x="694944" y="2657855"/>
            <a:ext cx="3295802" cy="1292352"/>
          </a:xfrm>
          <a:prstGeom prst="rect">
            <a:avLst/>
          </a:prstGeom>
          <a:noFill/>
        </p:spPr>
        <p:txBody>
          <a:bodyPr wrap="square" lIns="45720" rIns="45720" tIns="27432" bIns="27432" anchor="t">
            <a:noAutofit/>
          </a:bodyPr>
          <a:lstStyle/>
          <a:p>
            <a:pPr algn="l">
              <a:lnSpc>
                <a:spcPct val="100000"/>
              </a:lnSpc>
            </a:pPr>
            <a:r>
              <a:rPr sz="1300" b="0" i="0">
                <a:solidFill>
                  <a:srgbClr val="A7B2B0"/>
                </a:solidFill>
                <a:latin typeface="Segoe UI"/>
              </a:rPr>
              <a:t>Éxito sólo cuando el archivo entregado existe y no está vacío.</a:t>
            </a:r>
          </a:p>
        </p:txBody>
      </p:sp>
      <p:sp>
        <p:nvSpPr>
          <p:cNvPr id="12" name="Rounded Rectangle 11"/>
          <p:cNvSpPr/>
          <p:nvPr/>
        </p:nvSpPr>
        <p:spPr>
          <a:xfrm>
            <a:off x="4319930" y="2084831"/>
            <a:ext cx="3551834" cy="1956816"/>
          </a:xfrm>
          <a:prstGeom prst="roundRect">
            <a:avLst>
              <a:gd name="adj" fmla="val 5607"/>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4484522" y="2212848"/>
            <a:ext cx="502920" cy="45720"/>
          </a:xfrm>
          <a:prstGeom prst="rect">
            <a:avLst/>
          </a:prstGeom>
          <a:solidFill>
            <a:srgbClr val="C984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4447946" y="2304287"/>
            <a:ext cx="3295802" cy="353568"/>
          </a:xfrm>
          <a:prstGeom prst="rect">
            <a:avLst/>
          </a:prstGeom>
          <a:noFill/>
        </p:spPr>
        <p:txBody>
          <a:bodyPr wrap="square" lIns="45720" rIns="45720" tIns="27432" bIns="27432" anchor="t">
            <a:noAutofit/>
          </a:bodyPr>
          <a:lstStyle/>
          <a:p>
            <a:pPr algn="l">
              <a:lnSpc>
                <a:spcPct val="100000"/>
              </a:lnSpc>
            </a:pPr>
            <a:r>
              <a:rPr sz="1600" b="0" i="0">
                <a:solidFill>
                  <a:srgbClr val="F7F2E8"/>
                </a:solidFill>
                <a:latin typeface="Segoe UI Semibold"/>
              </a:rPr>
              <a:t>Hallazgos de distribución</a:t>
            </a:r>
          </a:p>
        </p:txBody>
      </p:sp>
      <p:sp>
        <p:nvSpPr>
          <p:cNvPr id="15" name="TextBox 14"/>
          <p:cNvSpPr txBox="1"/>
          <p:nvPr/>
        </p:nvSpPr>
        <p:spPr>
          <a:xfrm>
            <a:off x="4447946" y="2657855"/>
            <a:ext cx="3295802" cy="1292352"/>
          </a:xfrm>
          <a:prstGeom prst="rect">
            <a:avLst/>
          </a:prstGeom>
          <a:noFill/>
        </p:spPr>
        <p:txBody>
          <a:bodyPr wrap="square" lIns="45720" rIns="45720" tIns="27432" bIns="27432" anchor="t">
            <a:noAutofit/>
          </a:bodyPr>
          <a:lstStyle/>
          <a:p>
            <a:pPr algn="l">
              <a:lnSpc>
                <a:spcPct val="100000"/>
              </a:lnSpc>
            </a:pPr>
            <a:r>
              <a:rPr sz="1300" b="0" i="0">
                <a:solidFill>
                  <a:srgbClr val="A7B2B0"/>
                </a:solidFill>
                <a:latin typeface="Segoe UI"/>
              </a:rPr>
              <a:t>El texto que pasa el margen se reporta, nunca se llama limpio.</a:t>
            </a:r>
          </a:p>
        </p:txBody>
      </p:sp>
      <p:sp>
        <p:nvSpPr>
          <p:cNvPr id="16" name="Rounded Rectangle 15"/>
          <p:cNvSpPr/>
          <p:nvPr/>
        </p:nvSpPr>
        <p:spPr>
          <a:xfrm>
            <a:off x="8072932" y="2084831"/>
            <a:ext cx="3551834" cy="1956816"/>
          </a:xfrm>
          <a:prstGeom prst="roundRect">
            <a:avLst>
              <a:gd name="adj" fmla="val 5607"/>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8237524" y="2212848"/>
            <a:ext cx="502920" cy="45720"/>
          </a:xfrm>
          <a:prstGeom prst="rect">
            <a:avLst/>
          </a:prstGeom>
          <a:solidFill>
            <a:srgbClr val="E2B4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200948" y="2304287"/>
            <a:ext cx="3295802" cy="353568"/>
          </a:xfrm>
          <a:prstGeom prst="rect">
            <a:avLst/>
          </a:prstGeom>
          <a:noFill/>
        </p:spPr>
        <p:txBody>
          <a:bodyPr wrap="square" lIns="45720" rIns="45720" tIns="27432" bIns="27432" anchor="t">
            <a:noAutofit/>
          </a:bodyPr>
          <a:lstStyle/>
          <a:p>
            <a:pPr algn="l">
              <a:lnSpc>
                <a:spcPct val="100000"/>
              </a:lnSpc>
            </a:pPr>
            <a:r>
              <a:rPr sz="1600" b="0" i="0">
                <a:solidFill>
                  <a:srgbClr val="F7F2E8"/>
                </a:solidFill>
                <a:latin typeface="Segoe UI Semibold"/>
              </a:rPr>
              <a:t>Nombre DEGRADED</a:t>
            </a:r>
          </a:p>
        </p:txBody>
      </p:sp>
      <p:sp>
        <p:nvSpPr>
          <p:cNvPr id="19" name="TextBox 18"/>
          <p:cNvSpPr txBox="1"/>
          <p:nvPr/>
        </p:nvSpPr>
        <p:spPr>
          <a:xfrm>
            <a:off x="8200948" y="2657855"/>
            <a:ext cx="3295802" cy="1292352"/>
          </a:xfrm>
          <a:prstGeom prst="rect">
            <a:avLst/>
          </a:prstGeom>
          <a:noFill/>
        </p:spPr>
        <p:txBody>
          <a:bodyPr wrap="square" lIns="45720" rIns="45720" tIns="27432" bIns="27432" anchor="t">
            <a:noAutofit/>
          </a:bodyPr>
          <a:lstStyle/>
          <a:p>
            <a:pPr algn="l">
              <a:lnSpc>
                <a:spcPct val="100000"/>
              </a:lnSpc>
            </a:pPr>
            <a:r>
              <a:rPr sz="1300" b="0" i="0">
                <a:solidFill>
                  <a:srgbClr val="A7B2B0"/>
                </a:solidFill>
                <a:latin typeface="Segoe UI"/>
              </a:rPr>
              <a:t>Un build mayormente recortado nunca lleva el nombre que pediste.</a:t>
            </a:r>
          </a:p>
        </p:txBody>
      </p:sp>
      <p:sp>
        <p:nvSpPr>
          <p:cNvPr id="20" name="Rounded Rectangle 19"/>
          <p:cNvSpPr/>
          <p:nvPr/>
        </p:nvSpPr>
        <p:spPr>
          <a:xfrm>
            <a:off x="566928" y="4242816"/>
            <a:ext cx="3551834" cy="1956816"/>
          </a:xfrm>
          <a:prstGeom prst="roundRect">
            <a:avLst>
              <a:gd name="adj" fmla="val 5607"/>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ectangle 20"/>
          <p:cNvSpPr/>
          <p:nvPr/>
        </p:nvSpPr>
        <p:spPr>
          <a:xfrm>
            <a:off x="731520" y="4370832"/>
            <a:ext cx="502920" cy="45720"/>
          </a:xfrm>
          <a:prstGeom prst="rect">
            <a:avLst/>
          </a:prstGeom>
          <a:solidFill>
            <a:srgbClr val="46D2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694944" y="4462272"/>
            <a:ext cx="3295802" cy="353568"/>
          </a:xfrm>
          <a:prstGeom prst="rect">
            <a:avLst/>
          </a:prstGeom>
          <a:noFill/>
        </p:spPr>
        <p:txBody>
          <a:bodyPr wrap="square" lIns="45720" rIns="45720" tIns="27432" bIns="27432" anchor="t">
            <a:noAutofit/>
          </a:bodyPr>
          <a:lstStyle/>
          <a:p>
            <a:pPr algn="l">
              <a:lnSpc>
                <a:spcPct val="100000"/>
              </a:lnSpc>
            </a:pPr>
            <a:r>
              <a:rPr sz="1600" b="0" i="0">
                <a:solidFill>
                  <a:srgbClr val="F7F2E8"/>
                </a:solidFill>
                <a:latin typeface="Segoe UI Semibold"/>
              </a:rPr>
              <a:t>Reparación por región</a:t>
            </a:r>
          </a:p>
        </p:txBody>
      </p:sp>
      <p:sp>
        <p:nvSpPr>
          <p:cNvPr id="23" name="TextBox 22"/>
          <p:cNvSpPr txBox="1"/>
          <p:nvPr/>
        </p:nvSpPr>
        <p:spPr>
          <a:xfrm>
            <a:off x="694944" y="4815840"/>
            <a:ext cx="3295802" cy="1292352"/>
          </a:xfrm>
          <a:prstGeom prst="rect">
            <a:avLst/>
          </a:prstGeom>
          <a:noFill/>
        </p:spPr>
        <p:txBody>
          <a:bodyPr wrap="square" lIns="45720" rIns="45720" tIns="27432" bIns="27432" anchor="t">
            <a:noAutofit/>
          </a:bodyPr>
          <a:lstStyle/>
          <a:p>
            <a:pPr algn="l">
              <a:lnSpc>
                <a:spcPct val="100000"/>
              </a:lnSpc>
            </a:pPr>
            <a:r>
              <a:rPr sz="1300" b="0" i="0">
                <a:solidFill>
                  <a:srgbClr val="A7B2B0"/>
                </a:solidFill>
                <a:latin typeface="Segoe UI"/>
              </a:rPr>
              <a:t>Documentos grandes: primero se reparan las líneas alrededor del error.</a:t>
            </a:r>
          </a:p>
        </p:txBody>
      </p:sp>
      <p:sp>
        <p:nvSpPr>
          <p:cNvPr id="24" name="Rounded Rectangle 23"/>
          <p:cNvSpPr/>
          <p:nvPr/>
        </p:nvSpPr>
        <p:spPr>
          <a:xfrm>
            <a:off x="4319930" y="4242816"/>
            <a:ext cx="3551834" cy="1956816"/>
          </a:xfrm>
          <a:prstGeom prst="roundRect">
            <a:avLst>
              <a:gd name="adj" fmla="val 5607"/>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ectangle 24"/>
          <p:cNvSpPr/>
          <p:nvPr/>
        </p:nvSpPr>
        <p:spPr>
          <a:xfrm>
            <a:off x="4484522" y="4370832"/>
            <a:ext cx="502920" cy="45720"/>
          </a:xfrm>
          <a:prstGeom prst="rect">
            <a:avLst/>
          </a:prstGeom>
          <a:solidFill>
            <a:srgbClr val="D25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4447946" y="4462272"/>
            <a:ext cx="3295802" cy="353568"/>
          </a:xfrm>
          <a:prstGeom prst="rect">
            <a:avLst/>
          </a:prstGeom>
          <a:noFill/>
        </p:spPr>
        <p:txBody>
          <a:bodyPr wrap="square" lIns="45720" rIns="45720" tIns="27432" bIns="27432" anchor="t">
            <a:noAutofit/>
          </a:bodyPr>
          <a:lstStyle/>
          <a:p>
            <a:pPr algn="l">
              <a:lnSpc>
                <a:spcPct val="100000"/>
              </a:lnSpc>
            </a:pPr>
            <a:r>
              <a:rPr sz="1600" b="0" i="0">
                <a:solidFill>
                  <a:srgbClr val="F7F2E8"/>
                </a:solidFill>
                <a:latin typeface="Segoe UI Semibold"/>
              </a:rPr>
              <a:t>Mover</a:t>
            </a:r>
          </a:p>
        </p:txBody>
      </p:sp>
      <p:sp>
        <p:nvSpPr>
          <p:cNvPr id="27" name="TextBox 26"/>
          <p:cNvSpPr txBox="1"/>
          <p:nvPr/>
        </p:nvSpPr>
        <p:spPr>
          <a:xfrm>
            <a:off x="4447946" y="4815840"/>
            <a:ext cx="3295802" cy="1292352"/>
          </a:xfrm>
          <a:prstGeom prst="rect">
            <a:avLst/>
          </a:prstGeom>
          <a:noFill/>
        </p:spPr>
        <p:txBody>
          <a:bodyPr wrap="square" lIns="45720" rIns="45720" tIns="27432" bIns="27432" anchor="t">
            <a:noAutofit/>
          </a:bodyPr>
          <a:lstStyle/>
          <a:p>
            <a:pPr algn="l">
              <a:lnSpc>
                <a:spcPct val="100000"/>
              </a:lnSpc>
            </a:pPr>
            <a:r>
              <a:rPr sz="1300" b="0" i="0">
                <a:solidFill>
                  <a:srgbClr val="A7B2B0"/>
                </a:solidFill>
                <a:latin typeface="Segoe UI"/>
              </a:rPr>
              <a:t>Los destinos se combinan, nunca se borran; los errores se reportan.</a:t>
            </a:r>
          </a:p>
        </p:txBody>
      </p:sp>
      <p:sp>
        <p:nvSpPr>
          <p:cNvPr id="28" name="Rounded Rectangle 27"/>
          <p:cNvSpPr/>
          <p:nvPr/>
        </p:nvSpPr>
        <p:spPr>
          <a:xfrm>
            <a:off x="8072932" y="4242816"/>
            <a:ext cx="3551834" cy="1956816"/>
          </a:xfrm>
          <a:prstGeom prst="roundRect">
            <a:avLst>
              <a:gd name="adj" fmla="val 5607"/>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Rectangle 28"/>
          <p:cNvSpPr/>
          <p:nvPr/>
        </p:nvSpPr>
        <p:spPr>
          <a:xfrm>
            <a:off x="8237524" y="4370832"/>
            <a:ext cx="502920" cy="45720"/>
          </a:xfrm>
          <a:prstGeom prst="rect">
            <a:avLst/>
          </a:prstGeom>
          <a:solidFill>
            <a:srgbClr val="D957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8200948" y="4462272"/>
            <a:ext cx="3295802" cy="353568"/>
          </a:xfrm>
          <a:prstGeom prst="rect">
            <a:avLst/>
          </a:prstGeom>
          <a:noFill/>
        </p:spPr>
        <p:txBody>
          <a:bodyPr wrap="square" lIns="45720" rIns="45720" tIns="27432" bIns="27432" anchor="t">
            <a:noAutofit/>
          </a:bodyPr>
          <a:lstStyle/>
          <a:p>
            <a:pPr algn="l">
              <a:lnSpc>
                <a:spcPct val="100000"/>
              </a:lnSpc>
            </a:pPr>
            <a:r>
              <a:rPr sz="1600" b="0" i="0">
                <a:solidFill>
                  <a:srgbClr val="F7F2E8"/>
                </a:solidFill>
                <a:latin typeface="Segoe UI Semibold"/>
              </a:rPr>
              <a:t>Carpetas protegidas</a:t>
            </a:r>
          </a:p>
        </p:txBody>
      </p:sp>
      <p:sp>
        <p:nvSpPr>
          <p:cNvPr id="31" name="TextBox 30"/>
          <p:cNvSpPr txBox="1"/>
          <p:nvPr/>
        </p:nvSpPr>
        <p:spPr>
          <a:xfrm>
            <a:off x="8200948" y="4815840"/>
            <a:ext cx="3295802" cy="1292352"/>
          </a:xfrm>
          <a:prstGeom prst="rect">
            <a:avLst/>
          </a:prstGeom>
          <a:noFill/>
        </p:spPr>
        <p:txBody>
          <a:bodyPr wrap="square" lIns="45720" rIns="45720" tIns="27432" bIns="27432" anchor="t">
            <a:noAutofit/>
          </a:bodyPr>
          <a:lstStyle/>
          <a:p>
            <a:pPr algn="l">
              <a:lnSpc>
                <a:spcPct val="100000"/>
              </a:lnSpc>
            </a:pPr>
            <a:r>
              <a:rPr sz="1300" b="0" i="0">
                <a:solidFill>
                  <a:srgbClr val="A7B2B0"/>
                </a:solidFill>
                <a:latin typeface="Segoe UI"/>
              </a:rPr>
              <a:t>Los archivos terminados sobreviven a Controlled Folder Access.</a:t>
            </a:r>
          </a:p>
        </p:txBody>
      </p:sp>
      <p:cxnSp>
        <p:nvCxnSpPr>
          <p:cNvPr id="32" name="Connector 31"/>
          <p:cNvCxnSpPr/>
          <p:nvPr/>
        </p:nvCxnSpPr>
        <p:spPr>
          <a:xfrm>
            <a:off x="566928" y="6373368"/>
            <a:ext cx="11057839" cy="0"/>
          </a:xfrm>
          <a:prstGeom prst="line">
            <a:avLst/>
          </a:prstGeom>
          <a:ln w="7620">
            <a:solidFill>
              <a:srgbClr val="2A3A40"/>
            </a:solidFill>
          </a:ln>
        </p:spPr>
        <p:style>
          <a:lnRef idx="2">
            <a:schemeClr val="accent1"/>
          </a:lnRef>
          <a:fillRef idx="0">
            <a:schemeClr val="accent1"/>
          </a:fillRef>
          <a:effectRef idx="1">
            <a:schemeClr val="accent1"/>
          </a:effectRef>
          <a:fontRef idx="minor">
            <a:schemeClr val="tx1"/>
          </a:fontRef>
        </p:style>
      </p:cxnSp>
      <p:sp>
        <p:nvSpPr>
          <p:cNvPr id="33" name="TextBox 32"/>
          <p:cNvSpPr txBox="1"/>
          <p:nvPr/>
        </p:nvSpPr>
        <p:spPr>
          <a:xfrm>
            <a:off x="566928" y="6419088"/>
            <a:ext cx="6858000" cy="274320"/>
          </a:xfrm>
          <a:prstGeom prst="rect">
            <a:avLst/>
          </a:prstGeom>
          <a:noFill/>
        </p:spPr>
        <p:txBody>
          <a:bodyPr wrap="square" lIns="45720" rIns="45720" tIns="27432" bIns="27432" anchor="t">
            <a:noAutofit/>
          </a:bodyPr>
          <a:lstStyle/>
          <a:p>
            <a:pPr algn="l">
              <a:lnSpc>
                <a:spcPct val="100000"/>
              </a:lnSpc>
            </a:pPr>
            <a:r>
              <a:rPr sz="850" b="0" i="0" spc="120">
                <a:solidFill>
                  <a:srgbClr val="A7B2B0"/>
                </a:solidFill>
                <a:latin typeface="Segoe UI Semibold"/>
              </a:rPr>
              <a:t>TLAMATINI  ·  VIII · RELEASE ACTUAL</a:t>
            </a:r>
          </a:p>
        </p:txBody>
      </p:sp>
      <p:sp>
        <p:nvSpPr>
          <p:cNvPr id="34" name="TextBox 33"/>
          <p:cNvSpPr txBox="1"/>
          <p:nvPr/>
        </p:nvSpPr>
        <p:spPr>
          <a:xfrm>
            <a:off x="8698687" y="6419088"/>
            <a:ext cx="2926080" cy="274320"/>
          </a:xfrm>
          <a:prstGeom prst="rect">
            <a:avLst/>
          </a:prstGeom>
          <a:noFill/>
        </p:spPr>
        <p:txBody>
          <a:bodyPr wrap="square" lIns="45720" rIns="45720" tIns="27432" bIns="27432" anchor="t">
            <a:noAutofit/>
          </a:bodyPr>
          <a:lstStyle/>
          <a:p>
            <a:pPr algn="r">
              <a:lnSpc>
                <a:spcPct val="100000"/>
              </a:lnSpc>
            </a:pPr>
            <a:r>
              <a:rPr sz="850" b="0" i="0" spc="100">
                <a:solidFill>
                  <a:srgbClr val="A7B2B0"/>
                </a:solidFill>
                <a:latin typeface="Segoe UI Semibold"/>
              </a:rPr>
              <a:t>v1.91.1   ·   148</a:t>
            </a:r>
          </a:p>
        </p:txBody>
      </p:sp>
    </p:spTree>
  </p:cSld>
  <p:clrMapOvr>
    <a:masterClrMapping/>
  </p:clrMapOvr>
</p:sld>
</file>

<file path=ppt/slides/slide1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content.png"/>
          <p:cNvPicPr>
            <a:picLocks noChangeAspect="1"/>
          </p:cNvPicPr>
          <p:nvPr/>
        </p:nvPicPr>
        <p:blipFill>
          <a:blip r:embed="rId2"/>
          <a:stretch>
            <a:fillRect/>
          </a:stretch>
        </p:blipFill>
        <p:spPr>
          <a:xfrm>
            <a:off x="0" y="0"/>
            <a:ext cx="12191695" cy="6858000"/>
          </a:xfrm>
          <a:prstGeom prst="rect">
            <a:avLst/>
          </a:prstGeom>
        </p:spPr>
      </p:pic>
      <p:sp>
        <p:nvSpPr>
          <p:cNvPr id="3" name="Diamond 2"/>
          <p:cNvSpPr/>
          <p:nvPr/>
        </p:nvSpPr>
        <p:spPr>
          <a:xfrm>
            <a:off x="566928" y="457200"/>
            <a:ext cx="100584" cy="100584"/>
          </a:xfrm>
          <a:prstGeom prst="diamond">
            <a:avLst/>
          </a:prstGeom>
          <a:solidFill>
            <a:srgbClr val="E2B4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49808" y="365760"/>
            <a:ext cx="8229600" cy="292608"/>
          </a:xfrm>
          <a:prstGeom prst="rect">
            <a:avLst/>
          </a:prstGeom>
          <a:noFill/>
        </p:spPr>
        <p:txBody>
          <a:bodyPr wrap="square" lIns="45720" rIns="45720" tIns="27432" bIns="27432" anchor="t">
            <a:noAutofit/>
          </a:bodyPr>
          <a:lstStyle/>
          <a:p>
            <a:pPr algn="l">
              <a:lnSpc>
                <a:spcPct val="100000"/>
              </a:lnSpc>
            </a:pPr>
            <a:r>
              <a:rPr sz="1100" b="0" i="0" spc="240">
                <a:solidFill>
                  <a:srgbClr val="C98457"/>
                </a:solidFill>
                <a:latin typeface="Segoe UI Semibold"/>
              </a:rPr>
              <a:t>EN v1.76.0 · 5 Y 8 DE OCTUBRE</a:t>
            </a:r>
          </a:p>
        </p:txBody>
      </p:sp>
      <p:sp>
        <p:nvSpPr>
          <p:cNvPr id="5" name="TextBox 4"/>
          <p:cNvSpPr txBox="1"/>
          <p:nvPr/>
        </p:nvSpPr>
        <p:spPr>
          <a:xfrm>
            <a:off x="539496" y="676656"/>
            <a:ext cx="11057839" cy="658368"/>
          </a:xfrm>
          <a:prstGeom prst="rect">
            <a:avLst/>
          </a:prstGeom>
          <a:noFill/>
        </p:spPr>
        <p:txBody>
          <a:bodyPr wrap="square" lIns="45720" rIns="45720" tIns="27432" bIns="27432" anchor="t">
            <a:noAutofit/>
          </a:bodyPr>
          <a:lstStyle/>
          <a:p>
            <a:pPr algn="l">
              <a:lnSpc>
                <a:spcPct val="100000"/>
              </a:lnSpc>
            </a:pPr>
            <a:r>
              <a:rPr sz="3100" b="0" i="0">
                <a:solidFill>
                  <a:srgbClr val="F7F2E8"/>
                </a:solidFill>
                <a:latin typeface="Palatino Linotype"/>
              </a:rPr>
              <a:t>Arreglos que mantienen el chat en marcha</a:t>
            </a:r>
          </a:p>
        </p:txBody>
      </p:sp>
      <p:sp>
        <p:nvSpPr>
          <p:cNvPr id="6" name="Rectangle 5"/>
          <p:cNvSpPr/>
          <p:nvPr/>
        </p:nvSpPr>
        <p:spPr>
          <a:xfrm>
            <a:off x="566928" y="1344168"/>
            <a:ext cx="822960" cy="36576"/>
          </a:xfrm>
          <a:prstGeom prst="rect">
            <a:avLst/>
          </a:prstGeom>
          <a:solidFill>
            <a:srgbClr val="E2B4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566928" y="1444752"/>
            <a:ext cx="10692079" cy="585216"/>
          </a:xfrm>
          <a:prstGeom prst="rect">
            <a:avLst/>
          </a:prstGeom>
          <a:noFill/>
        </p:spPr>
        <p:txBody>
          <a:bodyPr wrap="square" lIns="45720" rIns="45720" tIns="27432" bIns="27432" anchor="t">
            <a:noAutofit/>
          </a:bodyPr>
          <a:lstStyle/>
          <a:p>
            <a:pPr algn="l">
              <a:lnSpc>
                <a:spcPct val="100000"/>
              </a:lnSpc>
            </a:pPr>
            <a:r>
              <a:rPr sz="1450" b="0" i="0">
                <a:solidFill>
                  <a:srgbClr val="A7B2B0"/>
                </a:solidFill>
                <a:latin typeface="Segoe UI Semilight"/>
              </a:rPr>
              <a:t>Hechos commit después del tag v1.75.0 y llevados por el tag v1.76.0.</a:t>
            </a:r>
          </a:p>
        </p:txBody>
      </p:sp>
      <p:sp>
        <p:nvSpPr>
          <p:cNvPr id="8" name="Rounded Rectangle 7"/>
          <p:cNvSpPr/>
          <p:nvPr/>
        </p:nvSpPr>
        <p:spPr>
          <a:xfrm>
            <a:off x="566928" y="2084831"/>
            <a:ext cx="3551834" cy="4114800"/>
          </a:xfrm>
          <a:prstGeom prst="roundRect">
            <a:avLst>
              <a:gd name="adj" fmla="val 3089"/>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ectangle 8"/>
          <p:cNvSpPr/>
          <p:nvPr/>
        </p:nvSpPr>
        <p:spPr>
          <a:xfrm>
            <a:off x="731520" y="2212848"/>
            <a:ext cx="502920" cy="45720"/>
          </a:xfrm>
          <a:prstGeom prst="rect">
            <a:avLst/>
          </a:prstGeom>
          <a:solidFill>
            <a:srgbClr val="3BBE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694944" y="2304287"/>
            <a:ext cx="3295802" cy="353568"/>
          </a:xfrm>
          <a:prstGeom prst="rect">
            <a:avLst/>
          </a:prstGeom>
          <a:noFill/>
        </p:spPr>
        <p:txBody>
          <a:bodyPr wrap="square" lIns="45720" rIns="45720" tIns="27432" bIns="27432" anchor="t">
            <a:noAutofit/>
          </a:bodyPr>
          <a:lstStyle/>
          <a:p>
            <a:pPr algn="l">
              <a:lnSpc>
                <a:spcPct val="100000"/>
              </a:lnSpc>
            </a:pPr>
            <a:r>
              <a:rPr sz="1600" b="0" i="0">
                <a:solidFill>
                  <a:srgbClr val="F7F2E8"/>
                </a:solidFill>
                <a:latin typeface="Segoe UI Semibold"/>
              </a:rPr>
              <a:t>Helpers de contexto</a:t>
            </a:r>
          </a:p>
        </p:txBody>
      </p:sp>
      <p:sp>
        <p:nvSpPr>
          <p:cNvPr id="11" name="TextBox 10"/>
          <p:cNvSpPr txBox="1"/>
          <p:nvPr/>
        </p:nvSpPr>
        <p:spPr>
          <a:xfrm>
            <a:off x="694944" y="2657855"/>
            <a:ext cx="3295802" cy="3450336"/>
          </a:xfrm>
          <a:prstGeom prst="rect">
            <a:avLst/>
          </a:prstGeom>
          <a:noFill/>
        </p:spPr>
        <p:txBody>
          <a:bodyPr wrap="square" lIns="45720" rIns="45720" tIns="27432" bIns="27432" anchor="t">
            <a:noAutofit/>
          </a:bodyPr>
          <a:lstStyle/>
          <a:p>
            <a:pPr algn="l">
              <a:lnSpc>
                <a:spcPct val="100000"/>
              </a:lnSpc>
            </a:pPr>
            <a:r>
              <a:rPr sz="1300" b="0" i="0">
                <a:solidFill>
                  <a:srgbClr val="A7B2B0"/>
                </a:solidFill>
                <a:latin typeface="Segoe UI"/>
              </a:rPr>
              <a:t>Sus propias llamadas al modelo se detienen en un límite de tiempo o con Cancelar.</a:t>
            </a:r>
          </a:p>
        </p:txBody>
      </p:sp>
      <p:sp>
        <p:nvSpPr>
          <p:cNvPr id="12" name="Rounded Rectangle 11"/>
          <p:cNvSpPr/>
          <p:nvPr/>
        </p:nvSpPr>
        <p:spPr>
          <a:xfrm>
            <a:off x="4319930" y="2084831"/>
            <a:ext cx="3551834" cy="4114800"/>
          </a:xfrm>
          <a:prstGeom prst="roundRect">
            <a:avLst>
              <a:gd name="adj" fmla="val 3089"/>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4484522" y="2212848"/>
            <a:ext cx="502920" cy="45720"/>
          </a:xfrm>
          <a:prstGeom prst="rect">
            <a:avLst/>
          </a:prstGeom>
          <a:solidFill>
            <a:srgbClr val="C984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4447946" y="2304287"/>
            <a:ext cx="3295802" cy="353568"/>
          </a:xfrm>
          <a:prstGeom prst="rect">
            <a:avLst/>
          </a:prstGeom>
          <a:noFill/>
        </p:spPr>
        <p:txBody>
          <a:bodyPr wrap="square" lIns="45720" rIns="45720" tIns="27432" bIns="27432" anchor="t">
            <a:noAutofit/>
          </a:bodyPr>
          <a:lstStyle/>
          <a:p>
            <a:pPr algn="l">
              <a:lnSpc>
                <a:spcPct val="100000"/>
              </a:lnSpc>
            </a:pPr>
            <a:r>
              <a:rPr sz="1600" b="0" i="0">
                <a:solidFill>
                  <a:srgbClr val="F7F2E8"/>
                </a:solidFill>
                <a:latin typeface="Segoe UI Semibold"/>
              </a:rPr>
              <a:t>Desinstalador</a:t>
            </a:r>
          </a:p>
        </p:txBody>
      </p:sp>
      <p:sp>
        <p:nvSpPr>
          <p:cNvPr id="15" name="TextBox 14"/>
          <p:cNvSpPr txBox="1"/>
          <p:nvPr/>
        </p:nvSpPr>
        <p:spPr>
          <a:xfrm>
            <a:off x="4447946" y="2657855"/>
            <a:ext cx="3295802" cy="3450336"/>
          </a:xfrm>
          <a:prstGeom prst="rect">
            <a:avLst/>
          </a:prstGeom>
          <a:noFill/>
        </p:spPr>
        <p:txBody>
          <a:bodyPr wrap="square" lIns="45720" rIns="45720" tIns="27432" bIns="27432" anchor="t">
            <a:noAutofit/>
          </a:bodyPr>
          <a:lstStyle/>
          <a:p>
            <a:pPr algn="l">
              <a:lnSpc>
                <a:spcPct val="100000"/>
              </a:lnSpc>
            </a:pPr>
            <a:r>
              <a:rPr sz="1300" b="0" i="0">
                <a:solidFill>
                  <a:srgbClr val="A7B2B0"/>
                </a:solidFill>
                <a:latin typeface="Segoe UI"/>
              </a:rPr>
              <a:t>Un Uninstaller.exe tomado se mueve aparte y se quita después de salir.</a:t>
            </a:r>
          </a:p>
        </p:txBody>
      </p:sp>
      <p:sp>
        <p:nvSpPr>
          <p:cNvPr id="16" name="Rounded Rectangle 15"/>
          <p:cNvSpPr/>
          <p:nvPr/>
        </p:nvSpPr>
        <p:spPr>
          <a:xfrm>
            <a:off x="8072932" y="2084831"/>
            <a:ext cx="3551834" cy="4114800"/>
          </a:xfrm>
          <a:prstGeom prst="roundRect">
            <a:avLst>
              <a:gd name="adj" fmla="val 3089"/>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8237524" y="2212848"/>
            <a:ext cx="502920" cy="45720"/>
          </a:xfrm>
          <a:prstGeom prst="rect">
            <a:avLst/>
          </a:prstGeom>
          <a:solidFill>
            <a:srgbClr val="E2B4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200948" y="2304287"/>
            <a:ext cx="3295802" cy="353568"/>
          </a:xfrm>
          <a:prstGeom prst="rect">
            <a:avLst/>
          </a:prstGeom>
          <a:noFill/>
        </p:spPr>
        <p:txBody>
          <a:bodyPr wrap="square" lIns="45720" rIns="45720" tIns="27432" bIns="27432" anchor="t">
            <a:noAutofit/>
          </a:bodyPr>
          <a:lstStyle/>
          <a:p>
            <a:pPr algn="l">
              <a:lnSpc>
                <a:spcPct val="100000"/>
              </a:lnSpc>
            </a:pPr>
            <a:r>
              <a:rPr sz="1600" b="0" i="0">
                <a:solidFill>
                  <a:srgbClr val="F7F2E8"/>
                </a:solidFill>
                <a:latin typeface="Segoe UI Semibold"/>
              </a:rPr>
              <a:t>File-Creator</a:t>
            </a:r>
          </a:p>
        </p:txBody>
      </p:sp>
      <p:sp>
        <p:nvSpPr>
          <p:cNvPr id="19" name="TextBox 18"/>
          <p:cNvSpPr txBox="1"/>
          <p:nvPr/>
        </p:nvSpPr>
        <p:spPr>
          <a:xfrm>
            <a:off x="8200948" y="2657855"/>
            <a:ext cx="3295802" cy="3450336"/>
          </a:xfrm>
          <a:prstGeom prst="rect">
            <a:avLst/>
          </a:prstGeom>
          <a:noFill/>
        </p:spPr>
        <p:txBody>
          <a:bodyPr wrap="square" lIns="45720" rIns="45720" tIns="27432" bIns="27432" anchor="t">
            <a:noAutofit/>
          </a:bodyPr>
          <a:lstStyle/>
          <a:p>
            <a:pPr algn="l">
              <a:lnSpc>
                <a:spcPct val="100000"/>
              </a:lnSpc>
            </a:pPr>
            <a:r>
              <a:rPr sz="1200" b="0" i="0">
                <a:solidFill>
                  <a:srgbClr val="E2B462"/>
                </a:solidFill>
                <a:latin typeface="Consolas"/>
              </a:rPr>
              <a:t>append: true</a:t>
            </a:r>
            <a:r>
              <a:rPr sz="1300" b="0" i="0">
                <a:solidFill>
                  <a:srgbClr val="A7B2B0"/>
                </a:solidFill>
                <a:latin typeface="Segoe UI"/>
              </a:rPr>
              <a:t> agrega a un archivo en vez de sobrescribirlo.</a:t>
            </a:r>
          </a:p>
        </p:txBody>
      </p:sp>
      <p:cxnSp>
        <p:nvCxnSpPr>
          <p:cNvPr id="20" name="Connector 19"/>
          <p:cNvCxnSpPr/>
          <p:nvPr/>
        </p:nvCxnSpPr>
        <p:spPr>
          <a:xfrm>
            <a:off x="566928" y="6373368"/>
            <a:ext cx="11057839" cy="0"/>
          </a:xfrm>
          <a:prstGeom prst="line">
            <a:avLst/>
          </a:prstGeom>
          <a:ln w="7620">
            <a:solidFill>
              <a:srgbClr val="2A3A40"/>
            </a:solidFill>
          </a:ln>
        </p:spPr>
        <p:style>
          <a:lnRef idx="2">
            <a:schemeClr val="accent1"/>
          </a:lnRef>
          <a:fillRef idx="0">
            <a:schemeClr val="accent1"/>
          </a:fillRef>
          <a:effectRef idx="1">
            <a:schemeClr val="accent1"/>
          </a:effectRef>
          <a:fontRef idx="minor">
            <a:schemeClr val="tx1"/>
          </a:fontRef>
        </p:style>
      </p:cxnSp>
      <p:sp>
        <p:nvSpPr>
          <p:cNvPr id="21" name="TextBox 20"/>
          <p:cNvSpPr txBox="1"/>
          <p:nvPr/>
        </p:nvSpPr>
        <p:spPr>
          <a:xfrm>
            <a:off x="566928" y="6419088"/>
            <a:ext cx="6858000" cy="274320"/>
          </a:xfrm>
          <a:prstGeom prst="rect">
            <a:avLst/>
          </a:prstGeom>
          <a:noFill/>
        </p:spPr>
        <p:txBody>
          <a:bodyPr wrap="square" lIns="45720" rIns="45720" tIns="27432" bIns="27432" anchor="t">
            <a:noAutofit/>
          </a:bodyPr>
          <a:lstStyle/>
          <a:p>
            <a:pPr algn="l">
              <a:lnSpc>
                <a:spcPct val="100000"/>
              </a:lnSpc>
            </a:pPr>
            <a:r>
              <a:rPr sz="850" b="0" i="0" spc="120">
                <a:solidFill>
                  <a:srgbClr val="A7B2B0"/>
                </a:solidFill>
                <a:latin typeface="Segoe UI Semibold"/>
              </a:rPr>
              <a:t>TLAMATINI  ·  VIII · RELEASE ACTUAL</a:t>
            </a:r>
          </a:p>
        </p:txBody>
      </p:sp>
      <p:sp>
        <p:nvSpPr>
          <p:cNvPr id="22" name="TextBox 21"/>
          <p:cNvSpPr txBox="1"/>
          <p:nvPr/>
        </p:nvSpPr>
        <p:spPr>
          <a:xfrm>
            <a:off x="8698687" y="6419088"/>
            <a:ext cx="2926080" cy="274320"/>
          </a:xfrm>
          <a:prstGeom prst="rect">
            <a:avLst/>
          </a:prstGeom>
          <a:noFill/>
        </p:spPr>
        <p:txBody>
          <a:bodyPr wrap="square" lIns="45720" rIns="45720" tIns="27432" bIns="27432" anchor="t">
            <a:noAutofit/>
          </a:bodyPr>
          <a:lstStyle/>
          <a:p>
            <a:pPr algn="r">
              <a:lnSpc>
                <a:spcPct val="100000"/>
              </a:lnSpc>
            </a:pPr>
            <a:r>
              <a:rPr sz="850" b="0" i="0" spc="100">
                <a:solidFill>
                  <a:srgbClr val="A7B2B0"/>
                </a:solidFill>
                <a:latin typeface="Segoe UI Semibold"/>
              </a:rPr>
              <a:t>v1.91.1   ·   149</a:t>
            </a:r>
          </a:p>
        </p:txBody>
      </p:sp>
    </p:spTree>
  </p:cSld>
  <p:clrMapOvr>
    <a:masterClrMapping/>
  </p:clrMapOvr>
</p:sld>
</file>

<file path=ppt/slides/slide1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content.png"/>
          <p:cNvPicPr>
            <a:picLocks noChangeAspect="1"/>
          </p:cNvPicPr>
          <p:nvPr/>
        </p:nvPicPr>
        <p:blipFill>
          <a:blip r:embed="rId2"/>
          <a:stretch>
            <a:fillRect/>
          </a:stretch>
        </p:blipFill>
        <p:spPr>
          <a:xfrm>
            <a:off x="0" y="0"/>
            <a:ext cx="12191695" cy="6858000"/>
          </a:xfrm>
          <a:prstGeom prst="rect">
            <a:avLst/>
          </a:prstGeom>
        </p:spPr>
      </p:pic>
      <p:sp>
        <p:nvSpPr>
          <p:cNvPr id="3" name="Diamond 2"/>
          <p:cNvSpPr/>
          <p:nvPr/>
        </p:nvSpPr>
        <p:spPr>
          <a:xfrm>
            <a:off x="566928" y="457200"/>
            <a:ext cx="100584" cy="100584"/>
          </a:xfrm>
          <a:prstGeom prst="diamond">
            <a:avLst/>
          </a:prstGeom>
          <a:solidFill>
            <a:srgbClr val="E2B4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49808" y="365760"/>
            <a:ext cx="8229600" cy="292608"/>
          </a:xfrm>
          <a:prstGeom prst="rect">
            <a:avLst/>
          </a:prstGeom>
          <a:noFill/>
        </p:spPr>
        <p:txBody>
          <a:bodyPr wrap="square" lIns="45720" rIns="45720" tIns="27432" bIns="27432" anchor="t">
            <a:noAutofit/>
          </a:bodyPr>
          <a:lstStyle/>
          <a:p>
            <a:pPr algn="l">
              <a:lnSpc>
                <a:spcPct val="100000"/>
              </a:lnSpc>
            </a:pPr>
            <a:r>
              <a:rPr sz="1100" b="0" i="0" spc="240">
                <a:solidFill>
                  <a:srgbClr val="C98457"/>
                </a:solidFill>
                <a:latin typeface="Segoe UI Semibold"/>
              </a:rPr>
              <a:t>EN v1.76.0 · 4 DE OCTUBRE</a:t>
            </a:r>
          </a:p>
        </p:txBody>
      </p:sp>
      <p:sp>
        <p:nvSpPr>
          <p:cNvPr id="5" name="TextBox 4"/>
          <p:cNvSpPr txBox="1"/>
          <p:nvPr/>
        </p:nvSpPr>
        <p:spPr>
          <a:xfrm>
            <a:off x="539496" y="676656"/>
            <a:ext cx="11057839" cy="658368"/>
          </a:xfrm>
          <a:prstGeom prst="rect">
            <a:avLst/>
          </a:prstGeom>
          <a:noFill/>
        </p:spPr>
        <p:txBody>
          <a:bodyPr wrap="square" lIns="45720" rIns="45720" tIns="27432" bIns="27432" anchor="t">
            <a:noAutofit/>
          </a:bodyPr>
          <a:lstStyle/>
          <a:p>
            <a:pPr algn="l">
              <a:lnSpc>
                <a:spcPct val="100000"/>
              </a:lnSpc>
            </a:pPr>
            <a:r>
              <a:rPr sz="3100" b="0" i="0">
                <a:solidFill>
                  <a:srgbClr val="F7F2E8"/>
                </a:solidFill>
                <a:latin typeface="Palatino Linotype"/>
              </a:rPr>
              <a:t>Notas gráficas y Output ajustable</a:t>
            </a:r>
          </a:p>
        </p:txBody>
      </p:sp>
      <p:sp>
        <p:nvSpPr>
          <p:cNvPr id="6" name="Rectangle 5"/>
          <p:cNvSpPr/>
          <p:nvPr/>
        </p:nvSpPr>
        <p:spPr>
          <a:xfrm>
            <a:off x="566928" y="1344168"/>
            <a:ext cx="822960" cy="36576"/>
          </a:xfrm>
          <a:prstGeom prst="rect">
            <a:avLst/>
          </a:prstGeom>
          <a:solidFill>
            <a:srgbClr val="E2B4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566928" y="1444752"/>
            <a:ext cx="10692079" cy="585216"/>
          </a:xfrm>
          <a:prstGeom prst="rect">
            <a:avLst/>
          </a:prstGeom>
          <a:noFill/>
        </p:spPr>
        <p:txBody>
          <a:bodyPr wrap="square" lIns="45720" rIns="45720" tIns="27432" bIns="27432" anchor="t">
            <a:noAutofit/>
          </a:bodyPr>
          <a:lstStyle/>
          <a:p>
            <a:pPr algn="l">
              <a:lnSpc>
                <a:spcPct val="100000"/>
              </a:lnSpc>
            </a:pPr>
            <a:r>
              <a:rPr sz="1450" b="0" i="0">
                <a:solidFill>
                  <a:srgbClr val="A7B2B0"/>
                </a:solidFill>
                <a:latin typeface="Segoe UI Semilight"/>
              </a:rPr>
              <a:t>Hecho commit a main el 4 de octubre y llevado por el tag v1.76.0; los ejecutables locales se recompilaron para validarlos.</a:t>
            </a:r>
          </a:p>
        </p:txBody>
      </p:sp>
      <p:sp>
        <p:nvSpPr>
          <p:cNvPr id="8" name="Rounded Rectangle 7"/>
          <p:cNvSpPr/>
          <p:nvPr/>
        </p:nvSpPr>
        <p:spPr>
          <a:xfrm>
            <a:off x="566928" y="2084831"/>
            <a:ext cx="11057839" cy="720547"/>
          </a:xfrm>
          <a:prstGeom prst="roundRect">
            <a:avLst>
              <a:gd name="adj" fmla="val 12690"/>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Diamond 8"/>
          <p:cNvSpPr/>
          <p:nvPr/>
        </p:nvSpPr>
        <p:spPr>
          <a:xfrm>
            <a:off x="768096" y="2381097"/>
            <a:ext cx="128016" cy="128016"/>
          </a:xfrm>
          <a:prstGeom prst="diamond">
            <a:avLst/>
          </a:prstGeom>
          <a:solidFill>
            <a:srgbClr val="3BBE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1024128" y="2139696"/>
            <a:ext cx="2651760" cy="610819"/>
          </a:xfrm>
          <a:prstGeom prst="rect">
            <a:avLst/>
          </a:prstGeom>
          <a:noFill/>
        </p:spPr>
        <p:txBody>
          <a:bodyPr wrap="square" lIns="45720" rIns="45720" tIns="27432" bIns="27432" anchor="ctr">
            <a:noAutofit/>
          </a:bodyPr>
          <a:lstStyle/>
          <a:p>
            <a:pPr algn="l">
              <a:lnSpc>
                <a:spcPct val="100000"/>
              </a:lnSpc>
            </a:pPr>
            <a:r>
              <a:rPr sz="1600" b="0" i="0">
                <a:solidFill>
                  <a:srgbClr val="F7F2E8"/>
                </a:solidFill>
                <a:latin typeface="Segoe UI Semibold"/>
              </a:rPr>
              <a:t>Notas enriquecidas</a:t>
            </a:r>
          </a:p>
        </p:txBody>
      </p:sp>
      <p:sp>
        <p:nvSpPr>
          <p:cNvPr id="11" name="TextBox 10"/>
          <p:cNvSpPr txBox="1"/>
          <p:nvPr/>
        </p:nvSpPr>
        <p:spPr>
          <a:xfrm>
            <a:off x="3767328" y="2139696"/>
            <a:ext cx="7720279" cy="610819"/>
          </a:xfrm>
          <a:prstGeom prst="rect">
            <a:avLst/>
          </a:prstGeom>
          <a:noFill/>
        </p:spPr>
        <p:txBody>
          <a:bodyPr wrap="square" lIns="45720" rIns="45720" tIns="27432" bIns="27432" anchor="ctr">
            <a:noAutofit/>
          </a:bodyPr>
          <a:lstStyle/>
          <a:p>
            <a:pPr algn="l">
              <a:lnSpc>
                <a:spcPct val="100000"/>
              </a:lnSpc>
            </a:pPr>
            <a:r>
              <a:rPr sz="1400" b="0" i="0">
                <a:solidFill>
                  <a:srgbClr val="A7B2B0"/>
                </a:solidFill>
                <a:latin typeface="Segoe UI"/>
              </a:rPr>
              <a:t>El texto seleccionado conserva sus propias fuentes, tamaños, colores y énfasis.</a:t>
            </a:r>
          </a:p>
        </p:txBody>
      </p:sp>
      <p:sp>
        <p:nvSpPr>
          <p:cNvPr id="12" name="Rounded Rectangle 11"/>
          <p:cNvSpPr/>
          <p:nvPr/>
        </p:nvSpPr>
        <p:spPr>
          <a:xfrm>
            <a:off x="566928" y="2933395"/>
            <a:ext cx="11057839" cy="720547"/>
          </a:xfrm>
          <a:prstGeom prst="roundRect">
            <a:avLst>
              <a:gd name="adj" fmla="val 12690"/>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Diamond 12"/>
          <p:cNvSpPr/>
          <p:nvPr/>
        </p:nvSpPr>
        <p:spPr>
          <a:xfrm>
            <a:off x="768096" y="3229660"/>
            <a:ext cx="128016" cy="128016"/>
          </a:xfrm>
          <a:prstGeom prst="diamond">
            <a:avLst/>
          </a:prstGeom>
          <a:solidFill>
            <a:srgbClr val="C984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1024128" y="2988259"/>
            <a:ext cx="2651760" cy="610819"/>
          </a:xfrm>
          <a:prstGeom prst="rect">
            <a:avLst/>
          </a:prstGeom>
          <a:noFill/>
        </p:spPr>
        <p:txBody>
          <a:bodyPr wrap="square" lIns="45720" rIns="45720" tIns="27432" bIns="27432" anchor="ctr">
            <a:noAutofit/>
          </a:bodyPr>
          <a:lstStyle/>
          <a:p>
            <a:pPr algn="l">
              <a:lnSpc>
                <a:spcPct val="100000"/>
              </a:lnSpc>
            </a:pPr>
            <a:r>
              <a:rPr sz="1600" b="0" i="0">
                <a:solidFill>
                  <a:srgbClr val="F7F2E8"/>
                </a:solidFill>
                <a:latin typeface="Segoe UI Semibold"/>
              </a:rPr>
              <a:t>Edición directa</a:t>
            </a:r>
          </a:p>
        </p:txBody>
      </p:sp>
      <p:sp>
        <p:nvSpPr>
          <p:cNvPr id="15" name="TextBox 14"/>
          <p:cNvSpPr txBox="1"/>
          <p:nvPr/>
        </p:nvSpPr>
        <p:spPr>
          <a:xfrm>
            <a:off x="3767328" y="2988259"/>
            <a:ext cx="7720279" cy="610819"/>
          </a:xfrm>
          <a:prstGeom prst="rect">
            <a:avLst/>
          </a:prstGeom>
          <a:noFill/>
        </p:spPr>
        <p:txBody>
          <a:bodyPr wrap="square" lIns="45720" rIns="45720" tIns="27432" bIns="27432" anchor="ctr">
            <a:noAutofit/>
          </a:bodyPr>
          <a:lstStyle/>
          <a:p>
            <a:pPr algn="l">
              <a:lnSpc>
                <a:spcPct val="100000"/>
              </a:lnSpc>
            </a:pPr>
            <a:r>
              <a:rPr sz="1400" b="0" i="0">
                <a:solidFill>
                  <a:srgbClr val="A7B2B0"/>
                </a:solidFill>
                <a:latin typeface="Segoe UI"/>
              </a:rPr>
              <a:t>Herramientas flotantes y cambio de tamaño por todos los bordes. Sin diálogo de comentarios.</a:t>
            </a:r>
          </a:p>
        </p:txBody>
      </p:sp>
      <p:sp>
        <p:nvSpPr>
          <p:cNvPr id="16" name="Rounded Rectangle 15"/>
          <p:cNvSpPr/>
          <p:nvPr/>
        </p:nvSpPr>
        <p:spPr>
          <a:xfrm>
            <a:off x="566928" y="3781958"/>
            <a:ext cx="11057839" cy="720547"/>
          </a:xfrm>
          <a:prstGeom prst="roundRect">
            <a:avLst>
              <a:gd name="adj" fmla="val 12690"/>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Diamond 16"/>
          <p:cNvSpPr/>
          <p:nvPr/>
        </p:nvSpPr>
        <p:spPr>
          <a:xfrm>
            <a:off x="768096" y="4078224"/>
            <a:ext cx="128016" cy="128016"/>
          </a:xfrm>
          <a:prstGeom prst="diamond">
            <a:avLst/>
          </a:prstGeom>
          <a:solidFill>
            <a:srgbClr val="E2B4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1024128" y="3836822"/>
            <a:ext cx="2651760" cy="610819"/>
          </a:xfrm>
          <a:prstGeom prst="rect">
            <a:avLst/>
          </a:prstGeom>
          <a:noFill/>
        </p:spPr>
        <p:txBody>
          <a:bodyPr wrap="square" lIns="45720" rIns="45720" tIns="27432" bIns="27432" anchor="ctr">
            <a:noAutofit/>
          </a:bodyPr>
          <a:lstStyle/>
          <a:p>
            <a:pPr algn="l">
              <a:lnSpc>
                <a:spcPct val="100000"/>
              </a:lnSpc>
            </a:pPr>
            <a:r>
              <a:rPr sz="1600" b="0" i="0">
                <a:solidFill>
                  <a:srgbClr val="F7F2E8"/>
                </a:solidFill>
                <a:latin typeface="Segoe UI Semibold"/>
              </a:rPr>
              <a:t>Output de la ejecución</a:t>
            </a:r>
          </a:p>
        </p:txBody>
      </p:sp>
      <p:sp>
        <p:nvSpPr>
          <p:cNvPr id="19" name="TextBox 18"/>
          <p:cNvSpPr txBox="1"/>
          <p:nvPr/>
        </p:nvSpPr>
        <p:spPr>
          <a:xfrm>
            <a:off x="3767328" y="3836822"/>
            <a:ext cx="7720279" cy="610819"/>
          </a:xfrm>
          <a:prstGeom prst="rect">
            <a:avLst/>
          </a:prstGeom>
          <a:noFill/>
        </p:spPr>
        <p:txBody>
          <a:bodyPr wrap="square" lIns="45720" rIns="45720" tIns="27432" bIns="27432" anchor="ctr">
            <a:noAutofit/>
          </a:bodyPr>
          <a:lstStyle/>
          <a:p>
            <a:pPr algn="l">
              <a:lnSpc>
                <a:spcPct val="100000"/>
              </a:lnSpc>
            </a:pPr>
            <a:r>
              <a:rPr sz="1400" b="0" i="0">
                <a:solidFill>
                  <a:srgbClr val="A7B2B0"/>
                </a:solidFill>
                <a:latin typeface="Segoe UI"/>
              </a:rPr>
              <a:t>Del 5% al 95% de la altura. Desplazamiento independiente con los tamaños del contenido conservados.</a:t>
            </a:r>
          </a:p>
        </p:txBody>
      </p:sp>
      <p:sp>
        <p:nvSpPr>
          <p:cNvPr id="20" name="Rounded Rectangle 19"/>
          <p:cNvSpPr/>
          <p:nvPr/>
        </p:nvSpPr>
        <p:spPr>
          <a:xfrm>
            <a:off x="566928" y="4630521"/>
            <a:ext cx="11057839" cy="720547"/>
          </a:xfrm>
          <a:prstGeom prst="roundRect">
            <a:avLst>
              <a:gd name="adj" fmla="val 12690"/>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Diamond 20"/>
          <p:cNvSpPr/>
          <p:nvPr/>
        </p:nvSpPr>
        <p:spPr>
          <a:xfrm>
            <a:off x="768096" y="4926787"/>
            <a:ext cx="128016" cy="128016"/>
          </a:xfrm>
          <a:prstGeom prst="diamond">
            <a:avLst/>
          </a:prstGeom>
          <a:solidFill>
            <a:srgbClr val="46D2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1024128" y="4685385"/>
            <a:ext cx="2651760" cy="610819"/>
          </a:xfrm>
          <a:prstGeom prst="rect">
            <a:avLst/>
          </a:prstGeom>
          <a:noFill/>
        </p:spPr>
        <p:txBody>
          <a:bodyPr wrap="square" lIns="45720" rIns="45720" tIns="27432" bIns="27432" anchor="ctr">
            <a:noAutofit/>
          </a:bodyPr>
          <a:lstStyle/>
          <a:p>
            <a:pPr algn="l">
              <a:lnSpc>
                <a:spcPct val="100000"/>
              </a:lnSpc>
            </a:pPr>
            <a:r>
              <a:rPr sz="1600" b="0" i="0">
                <a:solidFill>
                  <a:srgbClr val="F7F2E8"/>
                </a:solidFill>
                <a:latin typeface="Segoe UI Semibold"/>
              </a:rPr>
              <a:t>Fidelidad de archivos</a:t>
            </a:r>
          </a:p>
        </p:txBody>
      </p:sp>
      <p:sp>
        <p:nvSpPr>
          <p:cNvPr id="23" name="TextBox 22"/>
          <p:cNvSpPr txBox="1"/>
          <p:nvPr/>
        </p:nvSpPr>
        <p:spPr>
          <a:xfrm>
            <a:off x="3767328" y="4685385"/>
            <a:ext cx="7720279" cy="610819"/>
          </a:xfrm>
          <a:prstGeom prst="rect">
            <a:avLst/>
          </a:prstGeom>
          <a:noFill/>
        </p:spPr>
        <p:txBody>
          <a:bodyPr wrap="square" lIns="45720" rIns="45720" tIns="27432" bIns="27432" anchor="ctr">
            <a:noAutofit/>
          </a:bodyPr>
          <a:lstStyle/>
          <a:p>
            <a:pPr algn="l">
              <a:lnSpc>
                <a:spcPct val="100000"/>
              </a:lnSpc>
            </a:pPr>
            <a:r>
              <a:rPr sz="1400" b="0" i="0">
                <a:solidFill>
                  <a:srgbClr val="A7B2B0"/>
                </a:solidFill>
                <a:latin typeface="Segoe UI"/>
              </a:rPr>
              <a:t>Tres notas con estilos mezclados se renderizaron igual en tres ciclos de guardar/abrir.</a:t>
            </a:r>
          </a:p>
        </p:txBody>
      </p:sp>
      <p:sp>
        <p:nvSpPr>
          <p:cNvPr id="24" name="Rounded Rectangle 23"/>
          <p:cNvSpPr/>
          <p:nvPr/>
        </p:nvSpPr>
        <p:spPr>
          <a:xfrm>
            <a:off x="566928" y="5479084"/>
            <a:ext cx="11057839" cy="720547"/>
          </a:xfrm>
          <a:prstGeom prst="roundRect">
            <a:avLst>
              <a:gd name="adj" fmla="val 12690"/>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Diamond 24"/>
          <p:cNvSpPr/>
          <p:nvPr/>
        </p:nvSpPr>
        <p:spPr>
          <a:xfrm>
            <a:off x="768096" y="5775350"/>
            <a:ext cx="128016" cy="128016"/>
          </a:xfrm>
          <a:prstGeom prst="diamond">
            <a:avLst/>
          </a:prstGeom>
          <a:solidFill>
            <a:srgbClr val="D25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1024128" y="5533948"/>
            <a:ext cx="2651760" cy="610819"/>
          </a:xfrm>
          <a:prstGeom prst="rect">
            <a:avLst/>
          </a:prstGeom>
          <a:noFill/>
        </p:spPr>
        <p:txBody>
          <a:bodyPr wrap="square" lIns="45720" rIns="45720" tIns="27432" bIns="27432" anchor="ctr">
            <a:noAutofit/>
          </a:bodyPr>
          <a:lstStyle/>
          <a:p>
            <a:pPr algn="l">
              <a:lnSpc>
                <a:spcPct val="100000"/>
              </a:lnSpc>
            </a:pPr>
            <a:r>
              <a:rPr sz="1600" b="0" i="0">
                <a:solidFill>
                  <a:srgbClr val="F7F2E8"/>
                </a:solidFill>
                <a:latin typeface="Segoe UI Semibold"/>
              </a:rPr>
              <a:t>Entrega</a:t>
            </a:r>
          </a:p>
        </p:txBody>
      </p:sp>
      <p:sp>
        <p:nvSpPr>
          <p:cNvPr id="27" name="TextBox 26"/>
          <p:cNvSpPr txBox="1"/>
          <p:nvPr/>
        </p:nvSpPr>
        <p:spPr>
          <a:xfrm>
            <a:off x="3767328" y="5533948"/>
            <a:ext cx="7720279" cy="610819"/>
          </a:xfrm>
          <a:prstGeom prst="rect">
            <a:avLst/>
          </a:prstGeom>
          <a:noFill/>
        </p:spPr>
        <p:txBody>
          <a:bodyPr wrap="square" lIns="45720" rIns="45720" tIns="27432" bIns="27432" anchor="ctr">
            <a:noAutofit/>
          </a:bodyPr>
          <a:lstStyle/>
          <a:p>
            <a:pPr algn="l">
              <a:lnSpc>
                <a:spcPct val="100000"/>
              </a:lnSpc>
            </a:pPr>
            <a:r>
              <a:rPr sz="1400" b="0" i="0">
                <a:solidFill>
                  <a:srgbClr val="A7B2B0"/>
                </a:solidFill>
                <a:latin typeface="Segoe UI"/>
              </a:rPr>
              <a:t>Hecho commit el 4 de octubre y llevado por v1.76.0; los builds se validaron por separado.</a:t>
            </a:r>
          </a:p>
        </p:txBody>
      </p:sp>
      <p:cxnSp>
        <p:nvCxnSpPr>
          <p:cNvPr id="28" name="Connector 27"/>
          <p:cNvCxnSpPr/>
          <p:nvPr/>
        </p:nvCxnSpPr>
        <p:spPr>
          <a:xfrm>
            <a:off x="566928" y="6373368"/>
            <a:ext cx="11057839" cy="0"/>
          </a:xfrm>
          <a:prstGeom prst="line">
            <a:avLst/>
          </a:prstGeom>
          <a:ln w="7620">
            <a:solidFill>
              <a:srgbClr val="2A3A40"/>
            </a:solidFill>
          </a:ln>
        </p:spPr>
        <p:style>
          <a:lnRef idx="2">
            <a:schemeClr val="accent1"/>
          </a:lnRef>
          <a:fillRef idx="0">
            <a:schemeClr val="accent1"/>
          </a:fillRef>
          <a:effectRef idx="1">
            <a:schemeClr val="accent1"/>
          </a:effectRef>
          <a:fontRef idx="minor">
            <a:schemeClr val="tx1"/>
          </a:fontRef>
        </p:style>
      </p:cxnSp>
      <p:sp>
        <p:nvSpPr>
          <p:cNvPr id="29" name="TextBox 28"/>
          <p:cNvSpPr txBox="1"/>
          <p:nvPr/>
        </p:nvSpPr>
        <p:spPr>
          <a:xfrm>
            <a:off x="566928" y="6419088"/>
            <a:ext cx="6858000" cy="274320"/>
          </a:xfrm>
          <a:prstGeom prst="rect">
            <a:avLst/>
          </a:prstGeom>
          <a:noFill/>
        </p:spPr>
        <p:txBody>
          <a:bodyPr wrap="square" lIns="45720" rIns="45720" tIns="27432" bIns="27432" anchor="t">
            <a:noAutofit/>
          </a:bodyPr>
          <a:lstStyle/>
          <a:p>
            <a:pPr algn="l">
              <a:lnSpc>
                <a:spcPct val="100000"/>
              </a:lnSpc>
            </a:pPr>
            <a:r>
              <a:rPr sz="850" b="0" i="0" spc="120">
                <a:solidFill>
                  <a:srgbClr val="A7B2B0"/>
                </a:solidFill>
                <a:latin typeface="Segoe UI Semibold"/>
              </a:rPr>
              <a:t>TLAMATINI  ·  VIII · RELEASE ACTUAL</a:t>
            </a:r>
          </a:p>
        </p:txBody>
      </p:sp>
      <p:sp>
        <p:nvSpPr>
          <p:cNvPr id="30" name="TextBox 29"/>
          <p:cNvSpPr txBox="1"/>
          <p:nvPr/>
        </p:nvSpPr>
        <p:spPr>
          <a:xfrm>
            <a:off x="8698687" y="6419088"/>
            <a:ext cx="2926080" cy="274320"/>
          </a:xfrm>
          <a:prstGeom prst="rect">
            <a:avLst/>
          </a:prstGeom>
          <a:noFill/>
        </p:spPr>
        <p:txBody>
          <a:bodyPr wrap="square" lIns="45720" rIns="45720" tIns="27432" bIns="27432" anchor="t">
            <a:noAutofit/>
          </a:bodyPr>
          <a:lstStyle/>
          <a:p>
            <a:pPr algn="r">
              <a:lnSpc>
                <a:spcPct val="100000"/>
              </a:lnSpc>
            </a:pPr>
            <a:r>
              <a:rPr sz="850" b="0" i="0" spc="100">
                <a:solidFill>
                  <a:srgbClr val="A7B2B0"/>
                </a:solidFill>
                <a:latin typeface="Segoe UI Semibold"/>
              </a:rPr>
              <a:t>v1.91.1   ·   150</a:t>
            </a:r>
          </a:p>
        </p:txBody>
      </p:sp>
    </p:spTree>
  </p:cSld>
  <p:clrMapOvr>
    <a:masterClrMapping/>
  </p:clrMapOvr>
</p:sld>
</file>

<file path=ppt/slides/slide1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content.png"/>
          <p:cNvPicPr>
            <a:picLocks noChangeAspect="1"/>
          </p:cNvPicPr>
          <p:nvPr/>
        </p:nvPicPr>
        <p:blipFill>
          <a:blip r:embed="rId2"/>
          <a:stretch>
            <a:fillRect/>
          </a:stretch>
        </p:blipFill>
        <p:spPr>
          <a:xfrm>
            <a:off x="0" y="0"/>
            <a:ext cx="12191695" cy="6858000"/>
          </a:xfrm>
          <a:prstGeom prst="rect">
            <a:avLst/>
          </a:prstGeom>
        </p:spPr>
      </p:pic>
      <p:sp>
        <p:nvSpPr>
          <p:cNvPr id="3" name="Diamond 2"/>
          <p:cNvSpPr/>
          <p:nvPr/>
        </p:nvSpPr>
        <p:spPr>
          <a:xfrm>
            <a:off x="566928" y="457200"/>
            <a:ext cx="100584" cy="100584"/>
          </a:xfrm>
          <a:prstGeom prst="diamond">
            <a:avLst/>
          </a:prstGeom>
          <a:solidFill>
            <a:srgbClr val="E2B4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49808" y="365760"/>
            <a:ext cx="8229600" cy="292608"/>
          </a:xfrm>
          <a:prstGeom prst="rect">
            <a:avLst/>
          </a:prstGeom>
          <a:noFill/>
        </p:spPr>
        <p:txBody>
          <a:bodyPr wrap="square" lIns="45720" rIns="45720" tIns="27432" bIns="27432" anchor="t">
            <a:noAutofit/>
          </a:bodyPr>
          <a:lstStyle/>
          <a:p>
            <a:pPr algn="l">
              <a:lnSpc>
                <a:spcPct val="100000"/>
              </a:lnSpc>
            </a:pPr>
            <a:r>
              <a:rPr sz="1100" b="0" i="0" spc="240">
                <a:solidFill>
                  <a:srgbClr val="C98457"/>
                </a:solidFill>
                <a:latin typeface="Segoe UI Semibold"/>
              </a:rPr>
              <a:t>EN v1.76.0 · 3 DE OCTUBRE</a:t>
            </a:r>
          </a:p>
        </p:txBody>
      </p:sp>
      <p:sp>
        <p:nvSpPr>
          <p:cNvPr id="5" name="TextBox 4"/>
          <p:cNvSpPr txBox="1"/>
          <p:nvPr/>
        </p:nvSpPr>
        <p:spPr>
          <a:xfrm>
            <a:off x="539496" y="676656"/>
            <a:ext cx="11057839" cy="658368"/>
          </a:xfrm>
          <a:prstGeom prst="rect">
            <a:avLst/>
          </a:prstGeom>
          <a:noFill/>
        </p:spPr>
        <p:txBody>
          <a:bodyPr wrap="square" lIns="45720" rIns="45720" tIns="27432" bIns="27432" anchor="t">
            <a:noAutofit/>
          </a:bodyPr>
          <a:lstStyle/>
          <a:p>
            <a:pPr algn="l">
              <a:lnSpc>
                <a:spcPct val="100000"/>
              </a:lnSpc>
            </a:pPr>
            <a:r>
              <a:rPr sz="3100" b="0" i="0">
                <a:solidFill>
                  <a:srgbClr val="F7F2E8"/>
                </a:solidFill>
                <a:latin typeface="Palatino Linotype"/>
              </a:rPr>
              <a:t>Cuatro paradas y un Prompt Flow Panel más claro</a:t>
            </a:r>
          </a:p>
        </p:txBody>
      </p:sp>
      <p:sp>
        <p:nvSpPr>
          <p:cNvPr id="6" name="Rectangle 5"/>
          <p:cNvSpPr/>
          <p:nvPr/>
        </p:nvSpPr>
        <p:spPr>
          <a:xfrm>
            <a:off x="566928" y="1344168"/>
            <a:ext cx="822960" cy="36576"/>
          </a:xfrm>
          <a:prstGeom prst="rect">
            <a:avLst/>
          </a:prstGeom>
          <a:solidFill>
            <a:srgbClr val="E2B4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566928" y="1444752"/>
            <a:ext cx="10692079" cy="585216"/>
          </a:xfrm>
          <a:prstGeom prst="rect">
            <a:avLst/>
          </a:prstGeom>
          <a:noFill/>
        </p:spPr>
        <p:txBody>
          <a:bodyPr wrap="square" lIns="45720" rIns="45720" tIns="27432" bIns="27432" anchor="t">
            <a:noAutofit/>
          </a:bodyPr>
          <a:lstStyle/>
          <a:p>
            <a:pPr algn="l">
              <a:lnSpc>
                <a:spcPct val="100000"/>
              </a:lnSpc>
            </a:pPr>
            <a:r>
              <a:rPr sz="1450" b="0" i="0">
                <a:solidFill>
                  <a:srgbClr val="A7B2B0"/>
                </a:solidFill>
                <a:latin typeface="Segoe UI Semilight"/>
              </a:rPr>
              <a:t>Hecho commit en main después del tag v1.75.0 y llevado por el tag v1.76.0.</a:t>
            </a:r>
          </a:p>
        </p:txBody>
      </p:sp>
      <p:sp>
        <p:nvSpPr>
          <p:cNvPr id="8" name="Rounded Rectangle 7"/>
          <p:cNvSpPr/>
          <p:nvPr/>
        </p:nvSpPr>
        <p:spPr>
          <a:xfrm>
            <a:off x="566928" y="2084831"/>
            <a:ext cx="3551834" cy="1956816"/>
          </a:xfrm>
          <a:prstGeom prst="roundRect">
            <a:avLst>
              <a:gd name="adj" fmla="val 5607"/>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ectangle 8"/>
          <p:cNvSpPr/>
          <p:nvPr/>
        </p:nvSpPr>
        <p:spPr>
          <a:xfrm>
            <a:off x="731520" y="2212848"/>
            <a:ext cx="502920" cy="45720"/>
          </a:xfrm>
          <a:prstGeom prst="rect">
            <a:avLst/>
          </a:prstGeom>
          <a:solidFill>
            <a:srgbClr val="3BBE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694944" y="2304287"/>
            <a:ext cx="3295802" cy="353568"/>
          </a:xfrm>
          <a:prstGeom prst="rect">
            <a:avLst/>
          </a:prstGeom>
          <a:noFill/>
        </p:spPr>
        <p:txBody>
          <a:bodyPr wrap="square" lIns="45720" rIns="45720" tIns="27432" bIns="27432" anchor="t">
            <a:noAutofit/>
          </a:bodyPr>
          <a:lstStyle/>
          <a:p>
            <a:pPr algn="l">
              <a:lnSpc>
                <a:spcPct val="100000"/>
              </a:lnSpc>
            </a:pPr>
            <a:r>
              <a:rPr sz="1600" b="0" i="0">
                <a:solidFill>
                  <a:srgbClr val="F7F2E8"/>
                </a:solidFill>
                <a:latin typeface="Segoe UI Semibold"/>
              </a:rPr>
              <a:t>Cuatro secuencias de parada</a:t>
            </a:r>
          </a:p>
        </p:txBody>
      </p:sp>
      <p:sp>
        <p:nvSpPr>
          <p:cNvPr id="11" name="TextBox 10"/>
          <p:cNvSpPr txBox="1"/>
          <p:nvPr/>
        </p:nvSpPr>
        <p:spPr>
          <a:xfrm>
            <a:off x="694944" y="2657855"/>
            <a:ext cx="3295802" cy="1292352"/>
          </a:xfrm>
          <a:prstGeom prst="rect">
            <a:avLst/>
          </a:prstGeom>
          <a:noFill/>
        </p:spPr>
        <p:txBody>
          <a:bodyPr wrap="square" lIns="45720" rIns="45720" tIns="27432" bIns="27432" anchor="t">
            <a:noAutofit/>
          </a:bodyPr>
          <a:lstStyle/>
          <a:p>
            <a:pPr algn="l">
              <a:lnSpc>
                <a:spcPct val="100000"/>
              </a:lnSpc>
            </a:pPr>
            <a:r>
              <a:rPr sz="1300" b="0" i="0">
                <a:solidFill>
                  <a:srgbClr val="A7B2B0"/>
                </a:solidFill>
                <a:latin typeface="Segoe UI"/>
              </a:rPr>
              <a:t>Cada solicitud a Ollama; un resumen con error nunca hace fallar la respuesta.</a:t>
            </a:r>
          </a:p>
        </p:txBody>
      </p:sp>
      <p:sp>
        <p:nvSpPr>
          <p:cNvPr id="12" name="Rounded Rectangle 11"/>
          <p:cNvSpPr/>
          <p:nvPr/>
        </p:nvSpPr>
        <p:spPr>
          <a:xfrm>
            <a:off x="4319930" y="2084831"/>
            <a:ext cx="3551834" cy="1956816"/>
          </a:xfrm>
          <a:prstGeom prst="roundRect">
            <a:avLst>
              <a:gd name="adj" fmla="val 5607"/>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4484522" y="2212848"/>
            <a:ext cx="502920" cy="45720"/>
          </a:xfrm>
          <a:prstGeom prst="rect">
            <a:avLst/>
          </a:prstGeom>
          <a:solidFill>
            <a:srgbClr val="C984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4447946" y="2304287"/>
            <a:ext cx="3295802" cy="353568"/>
          </a:xfrm>
          <a:prstGeom prst="rect">
            <a:avLst/>
          </a:prstGeom>
          <a:noFill/>
        </p:spPr>
        <p:txBody>
          <a:bodyPr wrap="square" lIns="45720" rIns="45720" tIns="27432" bIns="27432" anchor="t">
            <a:noAutofit/>
          </a:bodyPr>
          <a:lstStyle/>
          <a:p>
            <a:pPr algn="l">
              <a:lnSpc>
                <a:spcPct val="100000"/>
              </a:lnSpc>
            </a:pPr>
            <a:r>
              <a:rPr sz="1600" b="0" i="0">
                <a:solidFill>
                  <a:srgbClr val="F7F2E8"/>
                </a:solidFill>
                <a:latin typeface="Segoe UI Semibold"/>
              </a:rPr>
              <a:t>Input del usuario</a:t>
            </a:r>
          </a:p>
        </p:txBody>
      </p:sp>
      <p:sp>
        <p:nvSpPr>
          <p:cNvPr id="15" name="TextBox 14"/>
          <p:cNvSpPr txBox="1"/>
          <p:nvPr/>
        </p:nvSpPr>
        <p:spPr>
          <a:xfrm>
            <a:off x="4447946" y="2657855"/>
            <a:ext cx="3295802" cy="1292352"/>
          </a:xfrm>
          <a:prstGeom prst="rect">
            <a:avLst/>
          </a:prstGeom>
          <a:noFill/>
        </p:spPr>
        <p:txBody>
          <a:bodyPr wrap="square" lIns="45720" rIns="45720" tIns="27432" bIns="27432" anchor="t">
            <a:noAutofit/>
          </a:bodyPr>
          <a:lstStyle/>
          <a:p>
            <a:pPr algn="l">
              <a:lnSpc>
                <a:spcPct val="100000"/>
              </a:lnSpc>
            </a:pPr>
            <a:r>
              <a:rPr sz="1300" b="0" i="0">
                <a:solidFill>
                  <a:srgbClr val="A7B2B0"/>
                </a:solidFill>
                <a:latin typeface="Segoe UI"/>
              </a:rPr>
              <a:t>El paso que te pregunta: mismo mecanismo, nueva figura.</a:t>
            </a:r>
          </a:p>
        </p:txBody>
      </p:sp>
      <p:sp>
        <p:nvSpPr>
          <p:cNvPr id="16" name="Rounded Rectangle 15"/>
          <p:cNvSpPr/>
          <p:nvPr/>
        </p:nvSpPr>
        <p:spPr>
          <a:xfrm>
            <a:off x="8072932" y="2084831"/>
            <a:ext cx="3551834" cy="1956816"/>
          </a:xfrm>
          <a:prstGeom prst="roundRect">
            <a:avLst>
              <a:gd name="adj" fmla="val 5607"/>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8237524" y="2212848"/>
            <a:ext cx="502920" cy="45720"/>
          </a:xfrm>
          <a:prstGeom prst="rect">
            <a:avLst/>
          </a:prstGeom>
          <a:solidFill>
            <a:srgbClr val="E2B4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200948" y="2304287"/>
            <a:ext cx="3295802" cy="353568"/>
          </a:xfrm>
          <a:prstGeom prst="rect">
            <a:avLst/>
          </a:prstGeom>
          <a:noFill/>
        </p:spPr>
        <p:txBody>
          <a:bodyPr wrap="square" lIns="45720" rIns="45720" tIns="27432" bIns="27432" anchor="t">
            <a:noAutofit/>
          </a:bodyPr>
          <a:lstStyle/>
          <a:p>
            <a:pPr algn="l">
              <a:lnSpc>
                <a:spcPct val="100000"/>
              </a:lnSpc>
            </a:pPr>
            <a:r>
              <a:rPr sz="1600" b="0" i="0">
                <a:solidFill>
                  <a:srgbClr val="F7F2E8"/>
                </a:solidFill>
                <a:latin typeface="Segoe UI Semibold"/>
              </a:rPr>
              <a:t>Comentario del usuario</a:t>
            </a:r>
          </a:p>
        </p:txBody>
      </p:sp>
      <p:sp>
        <p:nvSpPr>
          <p:cNvPr id="19" name="TextBox 18"/>
          <p:cNvSpPr txBox="1"/>
          <p:nvPr/>
        </p:nvSpPr>
        <p:spPr>
          <a:xfrm>
            <a:off x="8200948" y="2657855"/>
            <a:ext cx="3295802" cy="1292352"/>
          </a:xfrm>
          <a:prstGeom prst="rect">
            <a:avLst/>
          </a:prstGeom>
          <a:noFill/>
        </p:spPr>
        <p:txBody>
          <a:bodyPr wrap="square" lIns="45720" rIns="45720" tIns="27432" bIns="27432" anchor="t">
            <a:noAutofit/>
          </a:bodyPr>
          <a:lstStyle/>
          <a:p>
            <a:pPr algn="l">
              <a:lnSpc>
                <a:spcPct val="100000"/>
              </a:lnSpc>
            </a:pPr>
            <a:r>
              <a:rPr sz="1300" b="0" i="0">
                <a:solidFill>
                  <a:srgbClr val="A7B2B0"/>
                </a:solidFill>
                <a:latin typeface="Segoe UI"/>
              </a:rPr>
              <a:t>Una nota estática de revisión; nunca se ejecuta y nunca llega al modelo.</a:t>
            </a:r>
          </a:p>
        </p:txBody>
      </p:sp>
      <p:sp>
        <p:nvSpPr>
          <p:cNvPr id="20" name="Rounded Rectangle 19"/>
          <p:cNvSpPr/>
          <p:nvPr/>
        </p:nvSpPr>
        <p:spPr>
          <a:xfrm>
            <a:off x="566928" y="4242816"/>
            <a:ext cx="3551834" cy="1956816"/>
          </a:xfrm>
          <a:prstGeom prst="roundRect">
            <a:avLst>
              <a:gd name="adj" fmla="val 5607"/>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ectangle 20"/>
          <p:cNvSpPr/>
          <p:nvPr/>
        </p:nvSpPr>
        <p:spPr>
          <a:xfrm>
            <a:off x="731520" y="4370832"/>
            <a:ext cx="502920" cy="45720"/>
          </a:xfrm>
          <a:prstGeom prst="rect">
            <a:avLst/>
          </a:prstGeom>
          <a:solidFill>
            <a:srgbClr val="46D2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694944" y="4462272"/>
            <a:ext cx="3295802" cy="353568"/>
          </a:xfrm>
          <a:prstGeom prst="rect">
            <a:avLst/>
          </a:prstGeom>
          <a:noFill/>
        </p:spPr>
        <p:txBody>
          <a:bodyPr wrap="square" lIns="45720" rIns="45720" tIns="27432" bIns="27432" anchor="t">
            <a:noAutofit/>
          </a:bodyPr>
          <a:lstStyle/>
          <a:p>
            <a:pPr algn="l">
              <a:lnSpc>
                <a:spcPct val="100000"/>
              </a:lnSpc>
            </a:pPr>
            <a:r>
              <a:rPr sz="1600" b="0" i="0">
                <a:solidFill>
                  <a:srgbClr val="F7F2E8"/>
                </a:solidFill>
                <a:latin typeface="Segoe UI Semibold"/>
              </a:rPr>
              <a:t>Archivos versión 2</a:t>
            </a:r>
          </a:p>
        </p:txBody>
      </p:sp>
      <p:sp>
        <p:nvSpPr>
          <p:cNvPr id="23" name="TextBox 22"/>
          <p:cNvSpPr txBox="1"/>
          <p:nvPr/>
        </p:nvSpPr>
        <p:spPr>
          <a:xfrm>
            <a:off x="694944" y="4815840"/>
            <a:ext cx="3295802" cy="1292352"/>
          </a:xfrm>
          <a:prstGeom prst="rect">
            <a:avLst/>
          </a:prstGeom>
          <a:noFill/>
        </p:spPr>
        <p:txBody>
          <a:bodyPr wrap="square" lIns="45720" rIns="45720" tIns="27432" bIns="27432" anchor="t">
            <a:noAutofit/>
          </a:bodyPr>
          <a:lstStyle/>
          <a:p>
            <a:pPr algn="l">
              <a:lnSpc>
                <a:spcPct val="100000"/>
              </a:lnSpc>
            </a:pPr>
            <a:r>
              <a:rPr sz="1300" b="0" i="0">
                <a:solidFill>
                  <a:srgbClr val="A7B2B0"/>
                </a:solidFill>
                <a:latin typeface="Segoe UI"/>
              </a:rPr>
              <a:t>Los flows de la versión 1 se migran al abrirse; se conservan los identificadores y los enlaces.</a:t>
            </a:r>
          </a:p>
        </p:txBody>
      </p:sp>
      <p:sp>
        <p:nvSpPr>
          <p:cNvPr id="24" name="Rounded Rectangle 23"/>
          <p:cNvSpPr/>
          <p:nvPr/>
        </p:nvSpPr>
        <p:spPr>
          <a:xfrm>
            <a:off x="4319930" y="4242816"/>
            <a:ext cx="3551834" cy="1956816"/>
          </a:xfrm>
          <a:prstGeom prst="roundRect">
            <a:avLst>
              <a:gd name="adj" fmla="val 5607"/>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ectangle 24"/>
          <p:cNvSpPr/>
          <p:nvPr/>
        </p:nvSpPr>
        <p:spPr>
          <a:xfrm>
            <a:off x="4484522" y="4370832"/>
            <a:ext cx="502920" cy="45720"/>
          </a:xfrm>
          <a:prstGeom prst="rect">
            <a:avLst/>
          </a:prstGeom>
          <a:solidFill>
            <a:srgbClr val="D25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4447946" y="4462272"/>
            <a:ext cx="3295802" cy="353568"/>
          </a:xfrm>
          <a:prstGeom prst="rect">
            <a:avLst/>
          </a:prstGeom>
          <a:noFill/>
        </p:spPr>
        <p:txBody>
          <a:bodyPr wrap="square" lIns="45720" rIns="45720" tIns="27432" bIns="27432" anchor="t">
            <a:noAutofit/>
          </a:bodyPr>
          <a:lstStyle/>
          <a:p>
            <a:pPr algn="l">
              <a:lnSpc>
                <a:spcPct val="100000"/>
              </a:lnSpc>
            </a:pPr>
            <a:r>
              <a:rPr sz="1600" b="0" i="0">
                <a:solidFill>
                  <a:srgbClr val="F7F2E8"/>
                </a:solidFill>
                <a:latin typeface="Segoe UI Semibold"/>
              </a:rPr>
              <a:t>Evidencia del 3 de octubre</a:t>
            </a:r>
          </a:p>
        </p:txBody>
      </p:sp>
      <p:sp>
        <p:nvSpPr>
          <p:cNvPr id="27" name="TextBox 26"/>
          <p:cNvSpPr txBox="1"/>
          <p:nvPr/>
        </p:nvSpPr>
        <p:spPr>
          <a:xfrm>
            <a:off x="4447946" y="4815840"/>
            <a:ext cx="3295802" cy="1292352"/>
          </a:xfrm>
          <a:prstGeom prst="rect">
            <a:avLst/>
          </a:prstGeom>
          <a:noFill/>
        </p:spPr>
        <p:txBody>
          <a:bodyPr wrap="square" lIns="45720" rIns="45720" tIns="27432" bIns="27432" anchor="t">
            <a:noAutofit/>
          </a:bodyPr>
          <a:lstStyle/>
          <a:p>
            <a:pPr algn="l">
              <a:lnSpc>
                <a:spcPct val="100000"/>
              </a:lnSpc>
            </a:pPr>
            <a:r>
              <a:rPr sz="1300" b="0" i="0">
                <a:solidFill>
                  <a:srgbClr val="A7B2B0"/>
                </a:solidFill>
                <a:latin typeface="Segoe UI"/>
              </a:rPr>
              <a:t>430 pruebas unitarias; 9 de 9 puntos de revisión visibles en Chrome.</a:t>
            </a:r>
          </a:p>
        </p:txBody>
      </p:sp>
      <p:cxnSp>
        <p:nvCxnSpPr>
          <p:cNvPr id="28" name="Connector 27"/>
          <p:cNvCxnSpPr/>
          <p:nvPr/>
        </p:nvCxnSpPr>
        <p:spPr>
          <a:xfrm>
            <a:off x="566928" y="6373368"/>
            <a:ext cx="11057839" cy="0"/>
          </a:xfrm>
          <a:prstGeom prst="line">
            <a:avLst/>
          </a:prstGeom>
          <a:ln w="7620">
            <a:solidFill>
              <a:srgbClr val="2A3A40"/>
            </a:solidFill>
          </a:ln>
        </p:spPr>
        <p:style>
          <a:lnRef idx="2">
            <a:schemeClr val="accent1"/>
          </a:lnRef>
          <a:fillRef idx="0">
            <a:schemeClr val="accent1"/>
          </a:fillRef>
          <a:effectRef idx="1">
            <a:schemeClr val="accent1"/>
          </a:effectRef>
          <a:fontRef idx="minor">
            <a:schemeClr val="tx1"/>
          </a:fontRef>
        </p:style>
      </p:cxnSp>
      <p:sp>
        <p:nvSpPr>
          <p:cNvPr id="29" name="TextBox 28"/>
          <p:cNvSpPr txBox="1"/>
          <p:nvPr/>
        </p:nvSpPr>
        <p:spPr>
          <a:xfrm>
            <a:off x="566928" y="6419088"/>
            <a:ext cx="6858000" cy="274320"/>
          </a:xfrm>
          <a:prstGeom prst="rect">
            <a:avLst/>
          </a:prstGeom>
          <a:noFill/>
        </p:spPr>
        <p:txBody>
          <a:bodyPr wrap="square" lIns="45720" rIns="45720" tIns="27432" bIns="27432" anchor="t">
            <a:noAutofit/>
          </a:bodyPr>
          <a:lstStyle/>
          <a:p>
            <a:pPr algn="l">
              <a:lnSpc>
                <a:spcPct val="100000"/>
              </a:lnSpc>
            </a:pPr>
            <a:r>
              <a:rPr sz="850" b="0" i="0" spc="120">
                <a:solidFill>
                  <a:srgbClr val="A7B2B0"/>
                </a:solidFill>
                <a:latin typeface="Segoe UI Semibold"/>
              </a:rPr>
              <a:t>TLAMATINI  ·  VIII · RELEASE ACTUAL</a:t>
            </a:r>
          </a:p>
        </p:txBody>
      </p:sp>
      <p:sp>
        <p:nvSpPr>
          <p:cNvPr id="30" name="TextBox 29"/>
          <p:cNvSpPr txBox="1"/>
          <p:nvPr/>
        </p:nvSpPr>
        <p:spPr>
          <a:xfrm>
            <a:off x="8698687" y="6419088"/>
            <a:ext cx="2926080" cy="274320"/>
          </a:xfrm>
          <a:prstGeom prst="rect">
            <a:avLst/>
          </a:prstGeom>
          <a:noFill/>
        </p:spPr>
        <p:txBody>
          <a:bodyPr wrap="square" lIns="45720" rIns="45720" tIns="27432" bIns="27432" anchor="t">
            <a:noAutofit/>
          </a:bodyPr>
          <a:lstStyle/>
          <a:p>
            <a:pPr algn="r">
              <a:lnSpc>
                <a:spcPct val="100000"/>
              </a:lnSpc>
            </a:pPr>
            <a:r>
              <a:rPr sz="850" b="0" i="0" spc="100">
                <a:solidFill>
                  <a:srgbClr val="A7B2B0"/>
                </a:solidFill>
                <a:latin typeface="Segoe UI Semibold"/>
              </a:rPr>
              <a:t>v1.91.1   ·   151</a:t>
            </a:r>
          </a:p>
        </p:txBody>
      </p:sp>
    </p:spTree>
  </p:cSld>
  <p:clrMapOvr>
    <a:masterClrMapping/>
  </p:clrMapOvr>
</p:sld>
</file>

<file path=ppt/slides/slide1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content.png"/>
          <p:cNvPicPr>
            <a:picLocks noChangeAspect="1"/>
          </p:cNvPicPr>
          <p:nvPr/>
        </p:nvPicPr>
        <p:blipFill>
          <a:blip r:embed="rId2"/>
          <a:stretch>
            <a:fillRect/>
          </a:stretch>
        </p:blipFill>
        <p:spPr>
          <a:xfrm>
            <a:off x="0" y="0"/>
            <a:ext cx="12191695" cy="6858000"/>
          </a:xfrm>
          <a:prstGeom prst="rect">
            <a:avLst/>
          </a:prstGeom>
        </p:spPr>
      </p:pic>
      <p:sp>
        <p:nvSpPr>
          <p:cNvPr id="3" name="Diamond 2"/>
          <p:cNvSpPr/>
          <p:nvPr/>
        </p:nvSpPr>
        <p:spPr>
          <a:xfrm>
            <a:off x="566928" y="457200"/>
            <a:ext cx="100584" cy="100584"/>
          </a:xfrm>
          <a:prstGeom prst="diamond">
            <a:avLst/>
          </a:prstGeom>
          <a:solidFill>
            <a:srgbClr val="E2B4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49808" y="365760"/>
            <a:ext cx="8229600" cy="292608"/>
          </a:xfrm>
          <a:prstGeom prst="rect">
            <a:avLst/>
          </a:prstGeom>
          <a:noFill/>
        </p:spPr>
        <p:txBody>
          <a:bodyPr wrap="square" lIns="45720" rIns="45720" tIns="27432" bIns="27432" anchor="t">
            <a:noAutofit/>
          </a:bodyPr>
          <a:lstStyle/>
          <a:p>
            <a:pPr algn="l">
              <a:lnSpc>
                <a:spcPct val="100000"/>
              </a:lnSpc>
            </a:pPr>
            <a:r>
              <a:rPr sz="1100" b="0" i="0" spc="240">
                <a:solidFill>
                  <a:srgbClr val="C98457"/>
                </a:solidFill>
                <a:latin typeface="Segoe UI Semibold"/>
              </a:rPr>
              <a:t>HEREDADO DE v1.75.0</a:t>
            </a:r>
          </a:p>
        </p:txBody>
      </p:sp>
      <p:sp>
        <p:nvSpPr>
          <p:cNvPr id="5" name="TextBox 4"/>
          <p:cNvSpPr txBox="1"/>
          <p:nvPr/>
        </p:nvSpPr>
        <p:spPr>
          <a:xfrm>
            <a:off x="539496" y="676656"/>
            <a:ext cx="11057839" cy="658368"/>
          </a:xfrm>
          <a:prstGeom prst="rect">
            <a:avLst/>
          </a:prstGeom>
          <a:noFill/>
        </p:spPr>
        <p:txBody>
          <a:bodyPr wrap="square" lIns="45720" rIns="45720" tIns="27432" bIns="27432" anchor="t">
            <a:noAutofit/>
          </a:bodyPr>
          <a:lstStyle/>
          <a:p>
            <a:pPr algn="l">
              <a:lnSpc>
                <a:spcPct val="100000"/>
              </a:lnSpc>
            </a:pPr>
            <a:r>
              <a:rPr sz="3100" b="0" i="0">
                <a:solidFill>
                  <a:srgbClr val="F7F2E8"/>
                </a:solidFill>
                <a:latin typeface="Palatino Linotype"/>
              </a:rPr>
              <a:t>Compact mode y Self-modify, ahora interruptores</a:t>
            </a:r>
          </a:p>
        </p:txBody>
      </p:sp>
      <p:sp>
        <p:nvSpPr>
          <p:cNvPr id="6" name="Rectangle 5"/>
          <p:cNvSpPr/>
          <p:nvPr/>
        </p:nvSpPr>
        <p:spPr>
          <a:xfrm>
            <a:off x="566928" y="1344168"/>
            <a:ext cx="822960" cy="36576"/>
          </a:xfrm>
          <a:prstGeom prst="rect">
            <a:avLst/>
          </a:prstGeom>
          <a:solidFill>
            <a:srgbClr val="E2B4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566928" y="1444752"/>
            <a:ext cx="10692079" cy="585216"/>
          </a:xfrm>
          <a:prstGeom prst="rect">
            <a:avLst/>
          </a:prstGeom>
          <a:noFill/>
        </p:spPr>
        <p:txBody>
          <a:bodyPr wrap="square" lIns="45720" rIns="45720" tIns="27432" bIns="27432" anchor="t">
            <a:noAutofit/>
          </a:bodyPr>
          <a:lstStyle/>
          <a:p>
            <a:pPr algn="l">
              <a:lnSpc>
                <a:spcPct val="100000"/>
              </a:lnSpc>
            </a:pPr>
            <a:r>
              <a:rPr sz="1450" b="0" i="0">
                <a:solidFill>
                  <a:srgbClr val="A7B2B0"/>
                </a:solidFill>
                <a:latin typeface="Segoe UI Semilight"/>
              </a:rPr>
              <a:t>Con tag del 3 de octubre: Compact mode es un interruptor de la barra de herramientas; el interruptor Self-modify vino después y se incluye en v1.76.0.</a:t>
            </a:r>
          </a:p>
        </p:txBody>
      </p:sp>
      <p:sp>
        <p:nvSpPr>
          <p:cNvPr id="8" name="Rounded Rectangle 7"/>
          <p:cNvSpPr/>
          <p:nvPr/>
        </p:nvSpPr>
        <p:spPr>
          <a:xfrm>
            <a:off x="566928" y="2084831"/>
            <a:ext cx="5428335" cy="1956816"/>
          </a:xfrm>
          <a:prstGeom prst="roundRect">
            <a:avLst>
              <a:gd name="adj" fmla="val 5607"/>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ectangle 8"/>
          <p:cNvSpPr/>
          <p:nvPr/>
        </p:nvSpPr>
        <p:spPr>
          <a:xfrm>
            <a:off x="731520" y="2212848"/>
            <a:ext cx="502920" cy="45720"/>
          </a:xfrm>
          <a:prstGeom prst="rect">
            <a:avLst/>
          </a:prstGeom>
          <a:solidFill>
            <a:srgbClr val="3BBE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694944" y="2304287"/>
            <a:ext cx="5172303" cy="353568"/>
          </a:xfrm>
          <a:prstGeom prst="rect">
            <a:avLst/>
          </a:prstGeom>
          <a:noFill/>
        </p:spPr>
        <p:txBody>
          <a:bodyPr wrap="square" lIns="45720" rIns="45720" tIns="27432" bIns="27432" anchor="t">
            <a:noAutofit/>
          </a:bodyPr>
          <a:lstStyle/>
          <a:p>
            <a:pPr algn="l">
              <a:lnSpc>
                <a:spcPct val="100000"/>
              </a:lnSpc>
            </a:pPr>
            <a:r>
              <a:rPr sz="1600" b="0" i="0">
                <a:solidFill>
                  <a:srgbClr val="F7F2E8"/>
                </a:solidFill>
                <a:latin typeface="Segoe UI Semibold"/>
              </a:rPr>
              <a:t>Interruptor Compact</a:t>
            </a:r>
          </a:p>
        </p:txBody>
      </p:sp>
      <p:sp>
        <p:nvSpPr>
          <p:cNvPr id="11" name="TextBox 10"/>
          <p:cNvSpPr txBox="1"/>
          <p:nvPr/>
        </p:nvSpPr>
        <p:spPr>
          <a:xfrm>
            <a:off x="694944" y="2657855"/>
            <a:ext cx="5172303" cy="1292352"/>
          </a:xfrm>
          <a:prstGeom prst="rect">
            <a:avLst/>
          </a:prstGeom>
          <a:noFill/>
        </p:spPr>
        <p:txBody>
          <a:bodyPr wrap="square" lIns="45720" rIns="45720" tIns="27432" bIns="27432" anchor="t">
            <a:noAutofit/>
          </a:bodyPr>
          <a:lstStyle/>
          <a:p>
            <a:pPr algn="l">
              <a:lnSpc>
                <a:spcPct val="100000"/>
              </a:lnSpc>
            </a:pPr>
            <a:r>
              <a:rPr sz="1300" b="0" i="0">
                <a:solidFill>
                  <a:srgbClr val="A7B2B0"/>
                </a:solidFill>
                <a:latin typeface="Segoe UI"/>
              </a:rPr>
              <a:t>Sólo las filas que marcas; bloqueado en encendido cuando el modelo no puede contenerlo todo.</a:t>
            </a:r>
          </a:p>
        </p:txBody>
      </p:sp>
      <p:sp>
        <p:nvSpPr>
          <p:cNvPr id="12" name="Rounded Rectangle 11"/>
          <p:cNvSpPr/>
          <p:nvPr/>
        </p:nvSpPr>
        <p:spPr>
          <a:xfrm>
            <a:off x="6196431" y="2084831"/>
            <a:ext cx="5428335" cy="1956816"/>
          </a:xfrm>
          <a:prstGeom prst="roundRect">
            <a:avLst>
              <a:gd name="adj" fmla="val 5607"/>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6361023" y="2212848"/>
            <a:ext cx="502920" cy="45720"/>
          </a:xfrm>
          <a:prstGeom prst="rect">
            <a:avLst/>
          </a:prstGeom>
          <a:solidFill>
            <a:srgbClr val="C984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324447" y="2304287"/>
            <a:ext cx="5172303" cy="353568"/>
          </a:xfrm>
          <a:prstGeom prst="rect">
            <a:avLst/>
          </a:prstGeom>
          <a:noFill/>
        </p:spPr>
        <p:txBody>
          <a:bodyPr wrap="square" lIns="45720" rIns="45720" tIns="27432" bIns="27432" anchor="t">
            <a:noAutofit/>
          </a:bodyPr>
          <a:lstStyle/>
          <a:p>
            <a:pPr algn="l">
              <a:lnSpc>
                <a:spcPct val="100000"/>
              </a:lnSpc>
            </a:pPr>
            <a:r>
              <a:rPr sz="1600" b="0" i="0">
                <a:solidFill>
                  <a:srgbClr val="F7F2E8"/>
                </a:solidFill>
                <a:latin typeface="Segoe UI Semibold"/>
              </a:rPr>
              <a:t>Precios</a:t>
            </a:r>
          </a:p>
        </p:txBody>
      </p:sp>
      <p:sp>
        <p:nvSpPr>
          <p:cNvPr id="15" name="TextBox 14"/>
          <p:cNvSpPr txBox="1"/>
          <p:nvPr/>
        </p:nvSpPr>
        <p:spPr>
          <a:xfrm>
            <a:off x="6324447" y="2657855"/>
            <a:ext cx="5172303" cy="1292352"/>
          </a:xfrm>
          <a:prstGeom prst="rect">
            <a:avLst/>
          </a:prstGeom>
          <a:noFill/>
        </p:spPr>
        <p:txBody>
          <a:bodyPr wrap="square" lIns="45720" rIns="45720" tIns="27432" bIns="27432" anchor="t">
            <a:noAutofit/>
          </a:bodyPr>
          <a:lstStyle/>
          <a:p>
            <a:pPr algn="l">
              <a:lnSpc>
                <a:spcPct val="100000"/>
              </a:lnSpc>
            </a:pPr>
            <a:r>
              <a:rPr sz="1300" b="0" i="0">
                <a:solidFill>
                  <a:srgbClr val="A7B2B0"/>
                </a:solidFill>
                <a:latin typeface="Segoe UI"/>
              </a:rPr>
              <a:t>Cada fila de Configurar muestra los tokens que agrega a cada solicitud.</a:t>
            </a:r>
          </a:p>
        </p:txBody>
      </p:sp>
      <p:sp>
        <p:nvSpPr>
          <p:cNvPr id="16" name="Rounded Rectangle 15"/>
          <p:cNvSpPr/>
          <p:nvPr/>
        </p:nvSpPr>
        <p:spPr>
          <a:xfrm>
            <a:off x="566928" y="4242816"/>
            <a:ext cx="5428335" cy="1956816"/>
          </a:xfrm>
          <a:prstGeom prst="roundRect">
            <a:avLst>
              <a:gd name="adj" fmla="val 5607"/>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31520" y="4370832"/>
            <a:ext cx="502920" cy="45720"/>
          </a:xfrm>
          <a:prstGeom prst="rect">
            <a:avLst/>
          </a:prstGeom>
          <a:solidFill>
            <a:srgbClr val="E2B4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694944" y="4462272"/>
            <a:ext cx="5172303" cy="353568"/>
          </a:xfrm>
          <a:prstGeom prst="rect">
            <a:avLst/>
          </a:prstGeom>
          <a:noFill/>
        </p:spPr>
        <p:txBody>
          <a:bodyPr wrap="square" lIns="45720" rIns="45720" tIns="27432" bIns="27432" anchor="t">
            <a:noAutofit/>
          </a:bodyPr>
          <a:lstStyle/>
          <a:p>
            <a:pPr algn="l">
              <a:lnSpc>
                <a:spcPct val="100000"/>
              </a:lnSpc>
            </a:pPr>
            <a:r>
              <a:rPr sz="1600" b="0" i="0">
                <a:solidFill>
                  <a:srgbClr val="F7F2E8"/>
                </a:solidFill>
                <a:latin typeface="Segoe UI Semibold"/>
              </a:rPr>
              <a:t>Self-modify</a:t>
            </a:r>
          </a:p>
        </p:txBody>
      </p:sp>
      <p:sp>
        <p:nvSpPr>
          <p:cNvPr id="19" name="TextBox 18"/>
          <p:cNvSpPr txBox="1"/>
          <p:nvPr/>
        </p:nvSpPr>
        <p:spPr>
          <a:xfrm>
            <a:off x="694944" y="4815840"/>
            <a:ext cx="5172303" cy="1292352"/>
          </a:xfrm>
          <a:prstGeom prst="rect">
            <a:avLst/>
          </a:prstGeom>
          <a:noFill/>
        </p:spPr>
        <p:txBody>
          <a:bodyPr wrap="square" lIns="45720" rIns="45720" tIns="27432" bIns="27432" anchor="t">
            <a:noAutofit/>
          </a:bodyPr>
          <a:lstStyle/>
          <a:p>
            <a:pPr algn="l">
              <a:lnSpc>
                <a:spcPct val="100000"/>
              </a:lnSpc>
            </a:pPr>
            <a:r>
              <a:rPr sz="1300" b="0" i="0">
                <a:solidFill>
                  <a:srgbClr val="A7B2B0"/>
                </a:solidFill>
                <a:latin typeface="Segoe UI"/>
              </a:rPr>
              <a:t>Su autoconocimiento encendido o apagado; bloqueado en apagado cuando no cabe.</a:t>
            </a:r>
          </a:p>
        </p:txBody>
      </p:sp>
      <p:sp>
        <p:nvSpPr>
          <p:cNvPr id="20" name="Rounded Rectangle 19"/>
          <p:cNvSpPr/>
          <p:nvPr/>
        </p:nvSpPr>
        <p:spPr>
          <a:xfrm>
            <a:off x="6196431" y="4242816"/>
            <a:ext cx="5428335" cy="1956816"/>
          </a:xfrm>
          <a:prstGeom prst="roundRect">
            <a:avLst>
              <a:gd name="adj" fmla="val 5607"/>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ectangle 20"/>
          <p:cNvSpPr/>
          <p:nvPr/>
        </p:nvSpPr>
        <p:spPr>
          <a:xfrm>
            <a:off x="6361023" y="4370832"/>
            <a:ext cx="502920" cy="45720"/>
          </a:xfrm>
          <a:prstGeom prst="rect">
            <a:avLst/>
          </a:prstGeom>
          <a:solidFill>
            <a:srgbClr val="46D2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6324447" y="4462272"/>
            <a:ext cx="5172303" cy="353568"/>
          </a:xfrm>
          <a:prstGeom prst="rect">
            <a:avLst/>
          </a:prstGeom>
          <a:noFill/>
        </p:spPr>
        <p:txBody>
          <a:bodyPr wrap="square" lIns="45720" rIns="45720" tIns="27432" bIns="27432" anchor="t">
            <a:noAutofit/>
          </a:bodyPr>
          <a:lstStyle/>
          <a:p>
            <a:pPr algn="l">
              <a:lnSpc>
                <a:spcPct val="100000"/>
              </a:lnSpc>
            </a:pPr>
            <a:r>
              <a:rPr sz="1600" b="0" i="0">
                <a:solidFill>
                  <a:srgbClr val="F7F2E8"/>
                </a:solidFill>
                <a:latin typeface="Segoe UI Semibold"/>
              </a:rPr>
              <a:t>Prueba</a:t>
            </a:r>
          </a:p>
        </p:txBody>
      </p:sp>
      <p:sp>
        <p:nvSpPr>
          <p:cNvPr id="23" name="TextBox 22"/>
          <p:cNvSpPr txBox="1"/>
          <p:nvPr/>
        </p:nvSpPr>
        <p:spPr>
          <a:xfrm>
            <a:off x="6324447" y="4815840"/>
            <a:ext cx="5172303" cy="1292352"/>
          </a:xfrm>
          <a:prstGeom prst="rect">
            <a:avLst/>
          </a:prstGeom>
          <a:noFill/>
        </p:spPr>
        <p:txBody>
          <a:bodyPr wrap="square" lIns="45720" rIns="45720" tIns="27432" bIns="27432" anchor="t">
            <a:noAutofit/>
          </a:bodyPr>
          <a:lstStyle/>
          <a:p>
            <a:pPr algn="l">
              <a:lnSpc>
                <a:spcPct val="100000"/>
              </a:lnSpc>
            </a:pPr>
            <a:r>
              <a:rPr sz="1300" b="0" i="0">
                <a:solidFill>
                  <a:srgbClr val="A7B2B0"/>
                </a:solidFill>
                <a:latin typeface="Segoe UI"/>
              </a:rPr>
              <a:t>57/57 y 28/28 revisiones visibles; 473 pruebas unitarias.</a:t>
            </a:r>
          </a:p>
        </p:txBody>
      </p:sp>
      <p:cxnSp>
        <p:nvCxnSpPr>
          <p:cNvPr id="24" name="Connector 23"/>
          <p:cNvCxnSpPr/>
          <p:nvPr/>
        </p:nvCxnSpPr>
        <p:spPr>
          <a:xfrm>
            <a:off x="566928" y="6373368"/>
            <a:ext cx="11057839" cy="0"/>
          </a:xfrm>
          <a:prstGeom prst="line">
            <a:avLst/>
          </a:prstGeom>
          <a:ln w="7620">
            <a:solidFill>
              <a:srgbClr val="2A3A40"/>
            </a:solidFill>
          </a:ln>
        </p:spPr>
        <p:style>
          <a:lnRef idx="2">
            <a:schemeClr val="accent1"/>
          </a:lnRef>
          <a:fillRef idx="0">
            <a:schemeClr val="accent1"/>
          </a:fillRef>
          <a:effectRef idx="1">
            <a:schemeClr val="accent1"/>
          </a:effectRef>
          <a:fontRef idx="minor">
            <a:schemeClr val="tx1"/>
          </a:fontRef>
        </p:style>
      </p:cxnSp>
      <p:sp>
        <p:nvSpPr>
          <p:cNvPr id="25" name="TextBox 24"/>
          <p:cNvSpPr txBox="1"/>
          <p:nvPr/>
        </p:nvSpPr>
        <p:spPr>
          <a:xfrm>
            <a:off x="566928" y="6419088"/>
            <a:ext cx="6858000" cy="274320"/>
          </a:xfrm>
          <a:prstGeom prst="rect">
            <a:avLst/>
          </a:prstGeom>
          <a:noFill/>
        </p:spPr>
        <p:txBody>
          <a:bodyPr wrap="square" lIns="45720" rIns="45720" tIns="27432" bIns="27432" anchor="t">
            <a:noAutofit/>
          </a:bodyPr>
          <a:lstStyle/>
          <a:p>
            <a:pPr algn="l">
              <a:lnSpc>
                <a:spcPct val="100000"/>
              </a:lnSpc>
            </a:pPr>
            <a:r>
              <a:rPr sz="850" b="0" i="0" spc="120">
                <a:solidFill>
                  <a:srgbClr val="A7B2B0"/>
                </a:solidFill>
                <a:latin typeface="Segoe UI Semibold"/>
              </a:rPr>
              <a:t>TLAMATINI  ·  VIII · RELEASE ACTUAL</a:t>
            </a:r>
          </a:p>
        </p:txBody>
      </p:sp>
      <p:sp>
        <p:nvSpPr>
          <p:cNvPr id="26" name="TextBox 25"/>
          <p:cNvSpPr txBox="1"/>
          <p:nvPr/>
        </p:nvSpPr>
        <p:spPr>
          <a:xfrm>
            <a:off x="8698687" y="6419088"/>
            <a:ext cx="2926080" cy="274320"/>
          </a:xfrm>
          <a:prstGeom prst="rect">
            <a:avLst/>
          </a:prstGeom>
          <a:noFill/>
        </p:spPr>
        <p:txBody>
          <a:bodyPr wrap="square" lIns="45720" rIns="45720" tIns="27432" bIns="27432" anchor="t">
            <a:noAutofit/>
          </a:bodyPr>
          <a:lstStyle/>
          <a:p>
            <a:pPr algn="r">
              <a:lnSpc>
                <a:spcPct val="100000"/>
              </a:lnSpc>
            </a:pPr>
            <a:r>
              <a:rPr sz="850" b="0" i="0" spc="100">
                <a:solidFill>
                  <a:srgbClr val="A7B2B0"/>
                </a:solidFill>
                <a:latin typeface="Segoe UI Semibold"/>
              </a:rPr>
              <a:t>v1.91.1   ·   152</a:t>
            </a:r>
          </a:p>
        </p:txBody>
      </p:sp>
    </p:spTree>
  </p:cSld>
  <p:clrMapOvr>
    <a:masterClrMapping/>
  </p:clrMapOvr>
</p:sld>
</file>

<file path=ppt/slides/slide1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content.png"/>
          <p:cNvPicPr>
            <a:picLocks noChangeAspect="1"/>
          </p:cNvPicPr>
          <p:nvPr/>
        </p:nvPicPr>
        <p:blipFill>
          <a:blip r:embed="rId2"/>
          <a:stretch>
            <a:fillRect/>
          </a:stretch>
        </p:blipFill>
        <p:spPr>
          <a:xfrm>
            <a:off x="0" y="0"/>
            <a:ext cx="12191695" cy="6858000"/>
          </a:xfrm>
          <a:prstGeom prst="rect">
            <a:avLst/>
          </a:prstGeom>
        </p:spPr>
      </p:pic>
      <p:sp>
        <p:nvSpPr>
          <p:cNvPr id="3" name="Diamond 2"/>
          <p:cNvSpPr/>
          <p:nvPr/>
        </p:nvSpPr>
        <p:spPr>
          <a:xfrm>
            <a:off x="566928" y="457200"/>
            <a:ext cx="100584" cy="100584"/>
          </a:xfrm>
          <a:prstGeom prst="diamond">
            <a:avLst/>
          </a:prstGeom>
          <a:solidFill>
            <a:srgbClr val="E2B4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49808" y="365760"/>
            <a:ext cx="8229600" cy="292608"/>
          </a:xfrm>
          <a:prstGeom prst="rect">
            <a:avLst/>
          </a:prstGeom>
          <a:noFill/>
        </p:spPr>
        <p:txBody>
          <a:bodyPr wrap="square" lIns="45720" rIns="45720" tIns="27432" bIns="27432" anchor="t">
            <a:noAutofit/>
          </a:bodyPr>
          <a:lstStyle/>
          <a:p>
            <a:pPr algn="l">
              <a:lnSpc>
                <a:spcPct val="100000"/>
              </a:lnSpc>
            </a:pPr>
            <a:r>
              <a:rPr sz="1100" b="0" i="0" spc="240">
                <a:solidFill>
                  <a:srgbClr val="C98457"/>
                </a:solidFill>
                <a:latin typeface="Segoe UI Semibold"/>
              </a:rPr>
              <a:t>HEREDADO DE v1.74.0</a:t>
            </a:r>
          </a:p>
        </p:txBody>
      </p:sp>
      <p:sp>
        <p:nvSpPr>
          <p:cNvPr id="5" name="TextBox 4"/>
          <p:cNvSpPr txBox="1"/>
          <p:nvPr/>
        </p:nvSpPr>
        <p:spPr>
          <a:xfrm>
            <a:off x="539496" y="676656"/>
            <a:ext cx="11057839" cy="658368"/>
          </a:xfrm>
          <a:prstGeom prst="rect">
            <a:avLst/>
          </a:prstGeom>
          <a:noFill/>
        </p:spPr>
        <p:txBody>
          <a:bodyPr wrap="square" lIns="45720" rIns="45720" tIns="27432" bIns="27432" anchor="t">
            <a:noAutofit/>
          </a:bodyPr>
          <a:lstStyle/>
          <a:p>
            <a:pPr algn="l">
              <a:lnSpc>
                <a:spcPct val="100000"/>
              </a:lnSpc>
            </a:pPr>
            <a:r>
              <a:rPr sz="3100" b="0" i="0">
                <a:solidFill>
                  <a:srgbClr val="F7F2E8"/>
                </a:solidFill>
                <a:latin typeface="Palatino Linotype"/>
              </a:rPr>
              <a:t>Compact mode y tablas legibles</a:t>
            </a:r>
          </a:p>
        </p:txBody>
      </p:sp>
      <p:sp>
        <p:nvSpPr>
          <p:cNvPr id="6" name="Rectangle 5"/>
          <p:cNvSpPr/>
          <p:nvPr/>
        </p:nvSpPr>
        <p:spPr>
          <a:xfrm>
            <a:off x="566928" y="1344168"/>
            <a:ext cx="822960" cy="36576"/>
          </a:xfrm>
          <a:prstGeom prst="rect">
            <a:avLst/>
          </a:prstGeom>
          <a:solidFill>
            <a:srgbClr val="E2B4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566928" y="1444752"/>
            <a:ext cx="10692079" cy="585216"/>
          </a:xfrm>
          <a:prstGeom prst="rect">
            <a:avLst/>
          </a:prstGeom>
          <a:noFill/>
        </p:spPr>
        <p:txBody>
          <a:bodyPr wrap="square" lIns="45720" rIns="45720" tIns="27432" bIns="27432" anchor="t">
            <a:noAutofit/>
          </a:bodyPr>
          <a:lstStyle/>
          <a:p>
            <a:pPr algn="l">
              <a:lnSpc>
                <a:spcPct val="100000"/>
              </a:lnSpc>
            </a:pPr>
            <a:r>
              <a:rPr sz="1450" b="0" i="0">
                <a:solidFill>
                  <a:srgbClr val="A7B2B0"/>
                </a:solidFill>
                <a:latin typeface="Segoe UI Semilight"/>
              </a:rPr>
              <a:t>Con tag del 1 de octubre: cada solicitud se ajusta al modelo al que se envía.</a:t>
            </a:r>
          </a:p>
        </p:txBody>
      </p:sp>
      <p:sp>
        <p:nvSpPr>
          <p:cNvPr id="8" name="Rounded Rectangle 7"/>
          <p:cNvSpPr/>
          <p:nvPr/>
        </p:nvSpPr>
        <p:spPr>
          <a:xfrm>
            <a:off x="566928" y="2084831"/>
            <a:ext cx="5428335" cy="1956816"/>
          </a:xfrm>
          <a:prstGeom prst="roundRect">
            <a:avLst>
              <a:gd name="adj" fmla="val 5607"/>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ectangle 8"/>
          <p:cNvSpPr/>
          <p:nvPr/>
        </p:nvSpPr>
        <p:spPr>
          <a:xfrm>
            <a:off x="731520" y="2212848"/>
            <a:ext cx="502920" cy="45720"/>
          </a:xfrm>
          <a:prstGeom prst="rect">
            <a:avLst/>
          </a:prstGeom>
          <a:solidFill>
            <a:srgbClr val="3BBE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694944" y="2304287"/>
            <a:ext cx="5172303" cy="353568"/>
          </a:xfrm>
          <a:prstGeom prst="rect">
            <a:avLst/>
          </a:prstGeom>
          <a:noFill/>
        </p:spPr>
        <p:txBody>
          <a:bodyPr wrap="square" lIns="45720" rIns="45720" tIns="27432" bIns="27432" anchor="t">
            <a:noAutofit/>
          </a:bodyPr>
          <a:lstStyle/>
          <a:p>
            <a:pPr algn="l">
              <a:lnSpc>
                <a:spcPct val="100000"/>
              </a:lnSpc>
            </a:pPr>
            <a:r>
              <a:rPr sz="1600" b="0" i="0">
                <a:solidFill>
                  <a:srgbClr val="F7F2E8"/>
                </a:solidFill>
                <a:latin typeface="Segoe UI Semibold"/>
              </a:rPr>
              <a:t>Ajustado</a:t>
            </a:r>
          </a:p>
        </p:txBody>
      </p:sp>
      <p:sp>
        <p:nvSpPr>
          <p:cNvPr id="11" name="TextBox 10"/>
          <p:cNvSpPr txBox="1"/>
          <p:nvPr/>
        </p:nvSpPr>
        <p:spPr>
          <a:xfrm>
            <a:off x="694944" y="2657855"/>
            <a:ext cx="5172303" cy="1292352"/>
          </a:xfrm>
          <a:prstGeom prst="rect">
            <a:avLst/>
          </a:prstGeom>
          <a:noFill/>
        </p:spPr>
        <p:txBody>
          <a:bodyPr wrap="square" lIns="45720" rIns="45720" tIns="27432" bIns="27432" anchor="t">
            <a:noAutofit/>
          </a:bodyPr>
          <a:lstStyle/>
          <a:p>
            <a:pPr algn="l">
              <a:lnSpc>
                <a:spcPct val="100000"/>
              </a:lnSpc>
            </a:pPr>
            <a:r>
              <a:rPr sz="1300" b="0" i="0">
                <a:solidFill>
                  <a:srgbClr val="A7B2B0"/>
                </a:solidFill>
                <a:latin typeface="Segoe UI"/>
              </a:rPr>
              <a:t>Completo cuando el modelo puede contener la solicitud; Compact cuando no puede.</a:t>
            </a:r>
          </a:p>
        </p:txBody>
      </p:sp>
      <p:sp>
        <p:nvSpPr>
          <p:cNvPr id="12" name="Rounded Rectangle 11"/>
          <p:cNvSpPr/>
          <p:nvPr/>
        </p:nvSpPr>
        <p:spPr>
          <a:xfrm>
            <a:off x="6196431" y="2084831"/>
            <a:ext cx="5428335" cy="1956816"/>
          </a:xfrm>
          <a:prstGeom prst="roundRect">
            <a:avLst>
              <a:gd name="adj" fmla="val 5607"/>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6361023" y="2212848"/>
            <a:ext cx="502920" cy="45720"/>
          </a:xfrm>
          <a:prstGeom prst="rect">
            <a:avLst/>
          </a:prstGeom>
          <a:solidFill>
            <a:srgbClr val="C984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324447" y="2304287"/>
            <a:ext cx="5172303" cy="353568"/>
          </a:xfrm>
          <a:prstGeom prst="rect">
            <a:avLst/>
          </a:prstGeom>
          <a:noFill/>
        </p:spPr>
        <p:txBody>
          <a:bodyPr wrap="square" lIns="45720" rIns="45720" tIns="27432" bIns="27432" anchor="t">
            <a:noAutofit/>
          </a:bodyPr>
          <a:lstStyle/>
          <a:p>
            <a:pPr algn="l">
              <a:lnSpc>
                <a:spcPct val="100000"/>
              </a:lnSpc>
            </a:pPr>
            <a:r>
              <a:rPr sz="1600" b="0" i="0">
                <a:solidFill>
                  <a:srgbClr val="F7F2E8"/>
                </a:solidFill>
                <a:latin typeface="Segoe UI Semibold"/>
              </a:rPr>
              <a:t>Prueba de Compact</a:t>
            </a:r>
          </a:p>
        </p:txBody>
      </p:sp>
      <p:sp>
        <p:nvSpPr>
          <p:cNvPr id="15" name="TextBox 14"/>
          <p:cNvSpPr txBox="1"/>
          <p:nvPr/>
        </p:nvSpPr>
        <p:spPr>
          <a:xfrm>
            <a:off x="6324447" y="2657855"/>
            <a:ext cx="5172303" cy="1292352"/>
          </a:xfrm>
          <a:prstGeom prst="rect">
            <a:avLst/>
          </a:prstGeom>
          <a:noFill/>
        </p:spPr>
        <p:txBody>
          <a:bodyPr wrap="square" lIns="45720" rIns="45720" tIns="27432" bIns="27432" anchor="t">
            <a:noAutofit/>
          </a:bodyPr>
          <a:lstStyle/>
          <a:p>
            <a:pPr algn="l">
              <a:lnSpc>
                <a:spcPct val="100000"/>
              </a:lnSpc>
            </a:pPr>
            <a:r>
              <a:rPr sz="1300" b="0" i="0">
                <a:solidFill>
                  <a:srgbClr val="A7B2B0"/>
                </a:solidFill>
                <a:latin typeface="Segoe UI"/>
              </a:rPr>
              <a:t>37/37 revisiones visibles con un qwen2.5 local, unos 8.1K tokens, sin recortes.</a:t>
            </a:r>
          </a:p>
        </p:txBody>
      </p:sp>
      <p:sp>
        <p:nvSpPr>
          <p:cNvPr id="16" name="Rounded Rectangle 15"/>
          <p:cNvSpPr/>
          <p:nvPr/>
        </p:nvSpPr>
        <p:spPr>
          <a:xfrm>
            <a:off x="566928" y="4242816"/>
            <a:ext cx="5428335" cy="1956816"/>
          </a:xfrm>
          <a:prstGeom prst="roundRect">
            <a:avLst>
              <a:gd name="adj" fmla="val 5607"/>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31520" y="4370832"/>
            <a:ext cx="502920" cy="45720"/>
          </a:xfrm>
          <a:prstGeom prst="rect">
            <a:avLst/>
          </a:prstGeom>
          <a:solidFill>
            <a:srgbClr val="E2B4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694944" y="4462272"/>
            <a:ext cx="5172303" cy="353568"/>
          </a:xfrm>
          <a:prstGeom prst="rect">
            <a:avLst/>
          </a:prstGeom>
          <a:noFill/>
        </p:spPr>
        <p:txBody>
          <a:bodyPr wrap="square" lIns="45720" rIns="45720" tIns="27432" bIns="27432" anchor="t">
            <a:noAutofit/>
          </a:bodyPr>
          <a:lstStyle/>
          <a:p>
            <a:pPr algn="l">
              <a:lnSpc>
                <a:spcPct val="100000"/>
              </a:lnSpc>
            </a:pPr>
            <a:r>
              <a:rPr sz="1600" b="0" i="0">
                <a:solidFill>
                  <a:srgbClr val="F7F2E8"/>
                </a:solidFill>
                <a:latin typeface="Segoe UI Semibold"/>
              </a:rPr>
              <a:t>Prueba completa</a:t>
            </a:r>
          </a:p>
        </p:txBody>
      </p:sp>
      <p:sp>
        <p:nvSpPr>
          <p:cNvPr id="19" name="TextBox 18"/>
          <p:cNvSpPr txBox="1"/>
          <p:nvPr/>
        </p:nvSpPr>
        <p:spPr>
          <a:xfrm>
            <a:off x="694944" y="4815840"/>
            <a:ext cx="5172303" cy="1292352"/>
          </a:xfrm>
          <a:prstGeom prst="rect">
            <a:avLst/>
          </a:prstGeom>
          <a:noFill/>
        </p:spPr>
        <p:txBody>
          <a:bodyPr wrap="square" lIns="45720" rIns="45720" tIns="27432" bIns="27432" anchor="t">
            <a:noAutofit/>
          </a:bodyPr>
          <a:lstStyle/>
          <a:p>
            <a:pPr algn="l">
              <a:lnSpc>
                <a:spcPct val="100000"/>
              </a:lnSpc>
            </a:pPr>
            <a:r>
              <a:rPr sz="1300" b="0" i="0">
                <a:solidFill>
                  <a:srgbClr val="A7B2B0"/>
                </a:solidFill>
                <a:latin typeface="Segoe UI"/>
              </a:rPr>
              <a:t>Un modelo grande en la nube leyó completa cada solicitud: unos 103K tokens.</a:t>
            </a:r>
          </a:p>
        </p:txBody>
      </p:sp>
      <p:sp>
        <p:nvSpPr>
          <p:cNvPr id="20" name="Rounded Rectangle 19"/>
          <p:cNvSpPr/>
          <p:nvPr/>
        </p:nvSpPr>
        <p:spPr>
          <a:xfrm>
            <a:off x="6196431" y="4242816"/>
            <a:ext cx="5428335" cy="1956816"/>
          </a:xfrm>
          <a:prstGeom prst="roundRect">
            <a:avLst>
              <a:gd name="adj" fmla="val 5607"/>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ectangle 20"/>
          <p:cNvSpPr/>
          <p:nvPr/>
        </p:nvSpPr>
        <p:spPr>
          <a:xfrm>
            <a:off x="6361023" y="4370832"/>
            <a:ext cx="502920" cy="45720"/>
          </a:xfrm>
          <a:prstGeom prst="rect">
            <a:avLst/>
          </a:prstGeom>
          <a:solidFill>
            <a:srgbClr val="46D2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6324447" y="4462272"/>
            <a:ext cx="5172303" cy="353568"/>
          </a:xfrm>
          <a:prstGeom prst="rect">
            <a:avLst/>
          </a:prstGeom>
          <a:noFill/>
        </p:spPr>
        <p:txBody>
          <a:bodyPr wrap="square" lIns="45720" rIns="45720" tIns="27432" bIns="27432" anchor="t">
            <a:noAutofit/>
          </a:bodyPr>
          <a:lstStyle/>
          <a:p>
            <a:pPr algn="l">
              <a:lnSpc>
                <a:spcPct val="100000"/>
              </a:lnSpc>
            </a:pPr>
            <a:r>
              <a:rPr sz="1600" b="0" i="0">
                <a:solidFill>
                  <a:srgbClr val="F7F2E8"/>
                </a:solidFill>
                <a:latin typeface="Segoe UI Semibold"/>
              </a:rPr>
              <a:t>Tablas legibles</a:t>
            </a:r>
          </a:p>
        </p:txBody>
      </p:sp>
      <p:sp>
        <p:nvSpPr>
          <p:cNvPr id="23" name="TextBox 22"/>
          <p:cNvSpPr txBox="1"/>
          <p:nvPr/>
        </p:nvSpPr>
        <p:spPr>
          <a:xfrm>
            <a:off x="6324447" y="4815840"/>
            <a:ext cx="5172303" cy="1292352"/>
          </a:xfrm>
          <a:prstGeom prst="rect">
            <a:avLst/>
          </a:prstGeom>
          <a:noFill/>
        </p:spPr>
        <p:txBody>
          <a:bodyPr wrap="square" lIns="45720" rIns="45720" tIns="27432" bIns="27432" anchor="t">
            <a:noAutofit/>
          </a:bodyPr>
          <a:lstStyle/>
          <a:p>
            <a:pPr algn="l">
              <a:lnSpc>
                <a:spcPct val="100000"/>
              </a:lnSpc>
            </a:pPr>
            <a:r>
              <a:rPr sz="1300" b="0" i="0">
                <a:solidFill>
                  <a:srgbClr val="A7B2B0"/>
                </a:solidFill>
                <a:latin typeface="Segoe UI"/>
              </a:rPr>
              <a:t>Las celdas con contraste menor a 3:1 se vuelven a colorear, para cada modelo.</a:t>
            </a:r>
          </a:p>
        </p:txBody>
      </p:sp>
      <p:cxnSp>
        <p:nvCxnSpPr>
          <p:cNvPr id="24" name="Connector 23"/>
          <p:cNvCxnSpPr/>
          <p:nvPr/>
        </p:nvCxnSpPr>
        <p:spPr>
          <a:xfrm>
            <a:off x="566928" y="6373368"/>
            <a:ext cx="11057839" cy="0"/>
          </a:xfrm>
          <a:prstGeom prst="line">
            <a:avLst/>
          </a:prstGeom>
          <a:ln w="7620">
            <a:solidFill>
              <a:srgbClr val="2A3A40"/>
            </a:solidFill>
          </a:ln>
        </p:spPr>
        <p:style>
          <a:lnRef idx="2">
            <a:schemeClr val="accent1"/>
          </a:lnRef>
          <a:fillRef idx="0">
            <a:schemeClr val="accent1"/>
          </a:fillRef>
          <a:effectRef idx="1">
            <a:schemeClr val="accent1"/>
          </a:effectRef>
          <a:fontRef idx="minor">
            <a:schemeClr val="tx1"/>
          </a:fontRef>
        </p:style>
      </p:cxnSp>
      <p:sp>
        <p:nvSpPr>
          <p:cNvPr id="25" name="TextBox 24"/>
          <p:cNvSpPr txBox="1"/>
          <p:nvPr/>
        </p:nvSpPr>
        <p:spPr>
          <a:xfrm>
            <a:off x="566928" y="6419088"/>
            <a:ext cx="6858000" cy="274320"/>
          </a:xfrm>
          <a:prstGeom prst="rect">
            <a:avLst/>
          </a:prstGeom>
          <a:noFill/>
        </p:spPr>
        <p:txBody>
          <a:bodyPr wrap="square" lIns="45720" rIns="45720" tIns="27432" bIns="27432" anchor="t">
            <a:noAutofit/>
          </a:bodyPr>
          <a:lstStyle/>
          <a:p>
            <a:pPr algn="l">
              <a:lnSpc>
                <a:spcPct val="100000"/>
              </a:lnSpc>
            </a:pPr>
            <a:r>
              <a:rPr sz="850" b="0" i="0" spc="120">
                <a:solidFill>
                  <a:srgbClr val="A7B2B0"/>
                </a:solidFill>
                <a:latin typeface="Segoe UI Semibold"/>
              </a:rPr>
              <a:t>TLAMATINI  ·  VIII · RELEASE ACTUAL</a:t>
            </a:r>
          </a:p>
        </p:txBody>
      </p:sp>
      <p:sp>
        <p:nvSpPr>
          <p:cNvPr id="26" name="TextBox 25"/>
          <p:cNvSpPr txBox="1"/>
          <p:nvPr/>
        </p:nvSpPr>
        <p:spPr>
          <a:xfrm>
            <a:off x="8698687" y="6419088"/>
            <a:ext cx="2926080" cy="274320"/>
          </a:xfrm>
          <a:prstGeom prst="rect">
            <a:avLst/>
          </a:prstGeom>
          <a:noFill/>
        </p:spPr>
        <p:txBody>
          <a:bodyPr wrap="square" lIns="45720" rIns="45720" tIns="27432" bIns="27432" anchor="t">
            <a:noAutofit/>
          </a:bodyPr>
          <a:lstStyle/>
          <a:p>
            <a:pPr algn="r">
              <a:lnSpc>
                <a:spcPct val="100000"/>
              </a:lnSpc>
            </a:pPr>
            <a:r>
              <a:rPr sz="850" b="0" i="0" spc="100">
                <a:solidFill>
                  <a:srgbClr val="A7B2B0"/>
                </a:solidFill>
                <a:latin typeface="Segoe UI Semibold"/>
              </a:rPr>
              <a:t>v1.91.1   ·   153</a:t>
            </a:r>
          </a:p>
        </p:txBody>
      </p:sp>
    </p:spTree>
  </p:cSld>
  <p:clrMapOvr>
    <a:masterClrMapping/>
  </p:clrMapOvr>
</p:sld>
</file>

<file path=ppt/slides/slide1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content.png"/>
          <p:cNvPicPr>
            <a:picLocks noChangeAspect="1"/>
          </p:cNvPicPr>
          <p:nvPr/>
        </p:nvPicPr>
        <p:blipFill>
          <a:blip r:embed="rId2"/>
          <a:stretch>
            <a:fillRect/>
          </a:stretch>
        </p:blipFill>
        <p:spPr>
          <a:xfrm>
            <a:off x="0" y="0"/>
            <a:ext cx="12191695" cy="6858000"/>
          </a:xfrm>
          <a:prstGeom prst="rect">
            <a:avLst/>
          </a:prstGeom>
        </p:spPr>
      </p:pic>
      <p:sp>
        <p:nvSpPr>
          <p:cNvPr id="3" name="Diamond 2"/>
          <p:cNvSpPr/>
          <p:nvPr/>
        </p:nvSpPr>
        <p:spPr>
          <a:xfrm>
            <a:off x="566928" y="457200"/>
            <a:ext cx="100584" cy="100584"/>
          </a:xfrm>
          <a:prstGeom prst="diamond">
            <a:avLst/>
          </a:prstGeom>
          <a:solidFill>
            <a:srgbClr val="E2B4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49808" y="365760"/>
            <a:ext cx="8229600" cy="292608"/>
          </a:xfrm>
          <a:prstGeom prst="rect">
            <a:avLst/>
          </a:prstGeom>
          <a:noFill/>
        </p:spPr>
        <p:txBody>
          <a:bodyPr wrap="square" lIns="45720" rIns="45720" tIns="27432" bIns="27432" anchor="t">
            <a:noAutofit/>
          </a:bodyPr>
          <a:lstStyle/>
          <a:p>
            <a:pPr algn="l">
              <a:lnSpc>
                <a:spcPct val="100000"/>
              </a:lnSpc>
            </a:pPr>
            <a:r>
              <a:rPr sz="1100" b="0" i="0" spc="240">
                <a:solidFill>
                  <a:srgbClr val="C98457"/>
                </a:solidFill>
                <a:latin typeface="Segoe UI Semibold"/>
              </a:rPr>
              <a:t>HEREDADO DE v1.73.1</a:t>
            </a:r>
          </a:p>
        </p:txBody>
      </p:sp>
      <p:sp>
        <p:nvSpPr>
          <p:cNvPr id="5" name="TextBox 4"/>
          <p:cNvSpPr txBox="1"/>
          <p:nvPr/>
        </p:nvSpPr>
        <p:spPr>
          <a:xfrm>
            <a:off x="539496" y="676656"/>
            <a:ext cx="11057839" cy="658368"/>
          </a:xfrm>
          <a:prstGeom prst="rect">
            <a:avLst/>
          </a:prstGeom>
          <a:noFill/>
        </p:spPr>
        <p:txBody>
          <a:bodyPr wrap="square" lIns="45720" rIns="45720" tIns="27432" bIns="27432" anchor="t">
            <a:noAutofit/>
          </a:bodyPr>
          <a:lstStyle/>
          <a:p>
            <a:pPr algn="l">
              <a:lnSpc>
                <a:spcPct val="100000"/>
              </a:lnSpc>
            </a:pPr>
            <a:r>
              <a:rPr sz="3100" b="0" i="0">
                <a:solidFill>
                  <a:srgbClr val="F7F2E8"/>
                </a:solidFill>
                <a:latin typeface="Palatino Linotype"/>
              </a:rPr>
              <a:t>Modelos del servidor que configuraste</a:t>
            </a:r>
          </a:p>
        </p:txBody>
      </p:sp>
      <p:sp>
        <p:nvSpPr>
          <p:cNvPr id="6" name="Rectangle 5"/>
          <p:cNvSpPr/>
          <p:nvPr/>
        </p:nvSpPr>
        <p:spPr>
          <a:xfrm>
            <a:off x="566928" y="1344168"/>
            <a:ext cx="822960" cy="36576"/>
          </a:xfrm>
          <a:prstGeom prst="rect">
            <a:avLst/>
          </a:prstGeom>
          <a:solidFill>
            <a:srgbClr val="E2B4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566928" y="1444752"/>
            <a:ext cx="10692079" cy="585216"/>
          </a:xfrm>
          <a:prstGeom prst="rect">
            <a:avLst/>
          </a:prstGeom>
          <a:noFill/>
        </p:spPr>
        <p:txBody>
          <a:bodyPr wrap="square" lIns="45720" rIns="45720" tIns="27432" bIns="27432" anchor="t">
            <a:noAutofit/>
          </a:bodyPr>
          <a:lstStyle/>
          <a:p>
            <a:pPr algn="l">
              <a:lnSpc>
                <a:spcPct val="100000"/>
              </a:lnSpc>
            </a:pPr>
            <a:r>
              <a:rPr sz="1450" b="0" i="0">
                <a:solidFill>
                  <a:srgbClr val="A7B2B0"/>
                </a:solidFill>
                <a:latin typeface="Segoe UI Semilight"/>
              </a:rPr>
              <a:t>Con tag del 1 de octubre: Config </a:t>
            </a:r>
            <a:r>
              <a:rPr sz="1450" b="0" i="0">
                <a:solidFill>
                  <a:srgbClr val="A7B2B0"/>
                </a:solidFill>
                <a:latin typeface="Segoe UI Symbol"/>
              </a:rPr>
              <a:t>▸</a:t>
            </a:r>
            <a:r>
              <a:rPr sz="1450" b="0" i="0">
                <a:solidFill>
                  <a:srgbClr val="A7B2B0"/>
                </a:solidFill>
                <a:latin typeface="Segoe UI Semilight"/>
              </a:rPr>
              <a:t> Modelos consulta a los servidores de Ollama configurados, con su token.</a:t>
            </a:r>
          </a:p>
        </p:txBody>
      </p:sp>
      <p:sp>
        <p:nvSpPr>
          <p:cNvPr id="8" name="Rounded Rectangle 7"/>
          <p:cNvSpPr/>
          <p:nvPr/>
        </p:nvSpPr>
        <p:spPr>
          <a:xfrm>
            <a:off x="566928" y="2084831"/>
            <a:ext cx="5428335" cy="1956816"/>
          </a:xfrm>
          <a:prstGeom prst="roundRect">
            <a:avLst>
              <a:gd name="adj" fmla="val 5607"/>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ectangle 8"/>
          <p:cNvSpPr/>
          <p:nvPr/>
        </p:nvSpPr>
        <p:spPr>
          <a:xfrm>
            <a:off x="731520" y="2212848"/>
            <a:ext cx="502920" cy="45720"/>
          </a:xfrm>
          <a:prstGeom prst="rect">
            <a:avLst/>
          </a:prstGeom>
          <a:solidFill>
            <a:srgbClr val="3BBE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694944" y="2304287"/>
            <a:ext cx="5172303" cy="353568"/>
          </a:xfrm>
          <a:prstGeom prst="rect">
            <a:avLst/>
          </a:prstGeom>
          <a:noFill/>
        </p:spPr>
        <p:txBody>
          <a:bodyPr wrap="square" lIns="45720" rIns="45720" tIns="27432" bIns="27432" anchor="t">
            <a:noAutofit/>
          </a:bodyPr>
          <a:lstStyle/>
          <a:p>
            <a:pPr algn="l">
              <a:lnSpc>
                <a:spcPct val="100000"/>
              </a:lnSpc>
            </a:pPr>
            <a:r>
              <a:rPr sz="1600" b="0" i="0">
                <a:solidFill>
                  <a:srgbClr val="F7F2E8"/>
                </a:solidFill>
                <a:latin typeface="Segoe UI Semibold"/>
              </a:rPr>
              <a:t>Dirección actual</a:t>
            </a:r>
          </a:p>
        </p:txBody>
      </p:sp>
      <p:sp>
        <p:nvSpPr>
          <p:cNvPr id="11" name="TextBox 10"/>
          <p:cNvSpPr txBox="1"/>
          <p:nvPr/>
        </p:nvSpPr>
        <p:spPr>
          <a:xfrm>
            <a:off x="694944" y="2657855"/>
            <a:ext cx="5172303" cy="1292352"/>
          </a:xfrm>
          <a:prstGeom prst="rect">
            <a:avLst/>
          </a:prstGeom>
          <a:noFill/>
        </p:spPr>
        <p:txBody>
          <a:bodyPr wrap="square" lIns="45720" rIns="45720" tIns="27432" bIns="27432" anchor="t">
            <a:noAutofit/>
          </a:bodyPr>
          <a:lstStyle/>
          <a:p>
            <a:pPr algn="l">
              <a:lnSpc>
                <a:spcPct val="100000"/>
              </a:lnSpc>
            </a:pPr>
            <a:r>
              <a:rPr sz="1300" b="0" i="0">
                <a:solidFill>
                  <a:srgbClr val="A7B2B0"/>
                </a:solidFill>
                <a:latin typeface="Segoe UI"/>
              </a:rPr>
              <a:t>Se lee de config.json en cada llamada, nunca se fija al cargar la página.</a:t>
            </a:r>
          </a:p>
        </p:txBody>
      </p:sp>
      <p:sp>
        <p:nvSpPr>
          <p:cNvPr id="12" name="Rounded Rectangle 11"/>
          <p:cNvSpPr/>
          <p:nvPr/>
        </p:nvSpPr>
        <p:spPr>
          <a:xfrm>
            <a:off x="6196431" y="2084831"/>
            <a:ext cx="5428335" cy="1956816"/>
          </a:xfrm>
          <a:prstGeom prst="roundRect">
            <a:avLst>
              <a:gd name="adj" fmla="val 5607"/>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6361023" y="2212848"/>
            <a:ext cx="502920" cy="45720"/>
          </a:xfrm>
          <a:prstGeom prst="rect">
            <a:avLst/>
          </a:prstGeom>
          <a:solidFill>
            <a:srgbClr val="C984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324447" y="2304287"/>
            <a:ext cx="5172303" cy="353568"/>
          </a:xfrm>
          <a:prstGeom prst="rect">
            <a:avLst/>
          </a:prstGeom>
          <a:noFill/>
        </p:spPr>
        <p:txBody>
          <a:bodyPr wrap="square" lIns="45720" rIns="45720" tIns="27432" bIns="27432" anchor="t">
            <a:noAutofit/>
          </a:bodyPr>
          <a:lstStyle/>
          <a:p>
            <a:pPr algn="l">
              <a:lnSpc>
                <a:spcPct val="100000"/>
              </a:lnSpc>
            </a:pPr>
            <a:r>
              <a:rPr sz="1600" b="0" i="0">
                <a:solidFill>
                  <a:srgbClr val="F7F2E8"/>
                </a:solidFill>
                <a:latin typeface="Segoe UI Semibold"/>
              </a:rPr>
              <a:t>Token</a:t>
            </a:r>
          </a:p>
        </p:txBody>
      </p:sp>
      <p:sp>
        <p:nvSpPr>
          <p:cNvPr id="15" name="TextBox 14"/>
          <p:cNvSpPr txBox="1"/>
          <p:nvPr/>
        </p:nvSpPr>
        <p:spPr>
          <a:xfrm>
            <a:off x="6324447" y="2657855"/>
            <a:ext cx="5172303" cy="1292352"/>
          </a:xfrm>
          <a:prstGeom prst="rect">
            <a:avLst/>
          </a:prstGeom>
          <a:noFill/>
        </p:spPr>
        <p:txBody>
          <a:bodyPr wrap="square" lIns="45720" rIns="45720" tIns="27432" bIns="27432" anchor="t">
            <a:noAutofit/>
          </a:bodyPr>
          <a:lstStyle/>
          <a:p>
            <a:pPr algn="l">
              <a:lnSpc>
                <a:spcPct val="100000"/>
              </a:lnSpc>
            </a:pPr>
            <a:r>
              <a:rPr sz="1300" b="0" i="0">
                <a:solidFill>
                  <a:srgbClr val="A7B2B0"/>
                </a:solidFill>
                <a:latin typeface="Segoe UI"/>
              </a:rPr>
              <a:t>Cada servidor configurado se consulta con el propio bearer token del chat.</a:t>
            </a:r>
          </a:p>
        </p:txBody>
      </p:sp>
      <p:sp>
        <p:nvSpPr>
          <p:cNvPr id="16" name="Rounded Rectangle 15"/>
          <p:cNvSpPr/>
          <p:nvPr/>
        </p:nvSpPr>
        <p:spPr>
          <a:xfrm>
            <a:off x="566928" y="4242816"/>
            <a:ext cx="5428335" cy="1956816"/>
          </a:xfrm>
          <a:prstGeom prst="roundRect">
            <a:avLst>
              <a:gd name="adj" fmla="val 5607"/>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31520" y="4370832"/>
            <a:ext cx="502920" cy="45720"/>
          </a:xfrm>
          <a:prstGeom prst="rect">
            <a:avLst/>
          </a:prstGeom>
          <a:solidFill>
            <a:srgbClr val="E2B4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694944" y="4462272"/>
            <a:ext cx="5172303" cy="353568"/>
          </a:xfrm>
          <a:prstGeom prst="rect">
            <a:avLst/>
          </a:prstGeom>
          <a:noFill/>
        </p:spPr>
        <p:txBody>
          <a:bodyPr wrap="square" lIns="45720" rIns="45720" tIns="27432" bIns="27432" anchor="t">
            <a:noAutofit/>
          </a:bodyPr>
          <a:lstStyle/>
          <a:p>
            <a:pPr algn="l">
              <a:lnSpc>
                <a:spcPct val="100000"/>
              </a:lnSpc>
            </a:pPr>
            <a:r>
              <a:rPr sz="1600" b="0" i="0">
                <a:solidFill>
                  <a:srgbClr val="F7F2E8"/>
                </a:solidFill>
                <a:latin typeface="Segoe UI Semibold"/>
              </a:rPr>
              <a:t>Errores claros</a:t>
            </a:r>
          </a:p>
        </p:txBody>
      </p:sp>
      <p:sp>
        <p:nvSpPr>
          <p:cNvPr id="19" name="TextBox 18"/>
          <p:cNvSpPr txBox="1"/>
          <p:nvPr/>
        </p:nvSpPr>
        <p:spPr>
          <a:xfrm>
            <a:off x="694944" y="4815840"/>
            <a:ext cx="5172303" cy="1292352"/>
          </a:xfrm>
          <a:prstGeom prst="rect">
            <a:avLst/>
          </a:prstGeom>
          <a:noFill/>
        </p:spPr>
        <p:txBody>
          <a:bodyPr wrap="square" lIns="45720" rIns="45720" tIns="27432" bIns="27432" anchor="t">
            <a:noAutofit/>
          </a:bodyPr>
          <a:lstStyle/>
          <a:p>
            <a:pPr algn="l">
              <a:lnSpc>
                <a:spcPct val="100000"/>
              </a:lnSpc>
            </a:pPr>
            <a:r>
              <a:rPr sz="1300" b="0" i="0">
                <a:solidFill>
                  <a:srgbClr val="A7B2B0"/>
                </a:solidFill>
                <a:latin typeface="Segoe UI"/>
              </a:rPr>
              <a:t>Cada servidor reporta su status; un 401 apunta al token.</a:t>
            </a:r>
          </a:p>
        </p:txBody>
      </p:sp>
      <p:sp>
        <p:nvSpPr>
          <p:cNvPr id="20" name="Rounded Rectangle 19"/>
          <p:cNvSpPr/>
          <p:nvPr/>
        </p:nvSpPr>
        <p:spPr>
          <a:xfrm>
            <a:off x="6196431" y="4242816"/>
            <a:ext cx="5428335" cy="1956816"/>
          </a:xfrm>
          <a:prstGeom prst="roundRect">
            <a:avLst>
              <a:gd name="adj" fmla="val 5607"/>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ectangle 20"/>
          <p:cNvSpPr/>
          <p:nvPr/>
        </p:nvSpPr>
        <p:spPr>
          <a:xfrm>
            <a:off x="6361023" y="4370832"/>
            <a:ext cx="502920" cy="45720"/>
          </a:xfrm>
          <a:prstGeom prst="rect">
            <a:avLst/>
          </a:prstGeom>
          <a:solidFill>
            <a:srgbClr val="46D2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6324447" y="4462272"/>
            <a:ext cx="5172303" cy="353568"/>
          </a:xfrm>
          <a:prstGeom prst="rect">
            <a:avLst/>
          </a:prstGeom>
          <a:noFill/>
        </p:spPr>
        <p:txBody>
          <a:bodyPr wrap="square" lIns="45720" rIns="45720" tIns="27432" bIns="27432" anchor="t">
            <a:noAutofit/>
          </a:bodyPr>
          <a:lstStyle/>
          <a:p>
            <a:pPr algn="l">
              <a:lnSpc>
                <a:spcPct val="100000"/>
              </a:lnSpc>
            </a:pPr>
            <a:r>
              <a:rPr sz="1600" b="0" i="0">
                <a:solidFill>
                  <a:srgbClr val="F7F2E8"/>
                </a:solidFill>
                <a:latin typeface="Segoe UI Semibold"/>
              </a:rPr>
              <a:t>Arranque</a:t>
            </a:r>
          </a:p>
        </p:txBody>
      </p:sp>
      <p:sp>
        <p:nvSpPr>
          <p:cNvPr id="23" name="TextBox 22"/>
          <p:cNvSpPr txBox="1"/>
          <p:nvPr/>
        </p:nvSpPr>
        <p:spPr>
          <a:xfrm>
            <a:off x="6324447" y="4815840"/>
            <a:ext cx="5172303" cy="1292352"/>
          </a:xfrm>
          <a:prstGeom prst="rect">
            <a:avLst/>
          </a:prstGeom>
          <a:noFill/>
        </p:spPr>
        <p:txBody>
          <a:bodyPr wrap="square" lIns="45720" rIns="45720" tIns="27432" bIns="27432" anchor="t">
            <a:noAutofit/>
          </a:bodyPr>
          <a:lstStyle/>
          <a:p>
            <a:pPr algn="l">
              <a:lnSpc>
                <a:spcPct val="100000"/>
              </a:lnSpc>
            </a:pPr>
            <a:r>
              <a:rPr sz="1300" b="0" i="0">
                <a:solidFill>
                  <a:srgbClr val="A7B2B0"/>
                </a:solidFill>
                <a:latin typeface="Segoe UI"/>
              </a:rPr>
              <a:t>El calentamiento de la GPU también envía el token: sin 401 en cada arranque.</a:t>
            </a:r>
          </a:p>
        </p:txBody>
      </p:sp>
      <p:cxnSp>
        <p:nvCxnSpPr>
          <p:cNvPr id="24" name="Connector 23"/>
          <p:cNvCxnSpPr/>
          <p:nvPr/>
        </p:nvCxnSpPr>
        <p:spPr>
          <a:xfrm>
            <a:off x="566928" y="6373368"/>
            <a:ext cx="11057839" cy="0"/>
          </a:xfrm>
          <a:prstGeom prst="line">
            <a:avLst/>
          </a:prstGeom>
          <a:ln w="7620">
            <a:solidFill>
              <a:srgbClr val="2A3A40"/>
            </a:solidFill>
          </a:ln>
        </p:spPr>
        <p:style>
          <a:lnRef idx="2">
            <a:schemeClr val="accent1"/>
          </a:lnRef>
          <a:fillRef idx="0">
            <a:schemeClr val="accent1"/>
          </a:fillRef>
          <a:effectRef idx="1">
            <a:schemeClr val="accent1"/>
          </a:effectRef>
          <a:fontRef idx="minor">
            <a:schemeClr val="tx1"/>
          </a:fontRef>
        </p:style>
      </p:cxnSp>
      <p:sp>
        <p:nvSpPr>
          <p:cNvPr id="25" name="TextBox 24"/>
          <p:cNvSpPr txBox="1"/>
          <p:nvPr/>
        </p:nvSpPr>
        <p:spPr>
          <a:xfrm>
            <a:off x="566928" y="6419088"/>
            <a:ext cx="6858000" cy="274320"/>
          </a:xfrm>
          <a:prstGeom prst="rect">
            <a:avLst/>
          </a:prstGeom>
          <a:noFill/>
        </p:spPr>
        <p:txBody>
          <a:bodyPr wrap="square" lIns="45720" rIns="45720" tIns="27432" bIns="27432" anchor="t">
            <a:noAutofit/>
          </a:bodyPr>
          <a:lstStyle/>
          <a:p>
            <a:pPr algn="l">
              <a:lnSpc>
                <a:spcPct val="100000"/>
              </a:lnSpc>
            </a:pPr>
            <a:r>
              <a:rPr sz="850" b="0" i="0" spc="120">
                <a:solidFill>
                  <a:srgbClr val="A7B2B0"/>
                </a:solidFill>
                <a:latin typeface="Segoe UI Semibold"/>
              </a:rPr>
              <a:t>TLAMATINI  ·  VIII · RELEASE ACTUAL</a:t>
            </a:r>
          </a:p>
        </p:txBody>
      </p:sp>
      <p:sp>
        <p:nvSpPr>
          <p:cNvPr id="26" name="TextBox 25"/>
          <p:cNvSpPr txBox="1"/>
          <p:nvPr/>
        </p:nvSpPr>
        <p:spPr>
          <a:xfrm>
            <a:off x="8698687" y="6419088"/>
            <a:ext cx="2926080" cy="274320"/>
          </a:xfrm>
          <a:prstGeom prst="rect">
            <a:avLst/>
          </a:prstGeom>
          <a:noFill/>
        </p:spPr>
        <p:txBody>
          <a:bodyPr wrap="square" lIns="45720" rIns="45720" tIns="27432" bIns="27432" anchor="t">
            <a:noAutofit/>
          </a:bodyPr>
          <a:lstStyle/>
          <a:p>
            <a:pPr algn="r">
              <a:lnSpc>
                <a:spcPct val="100000"/>
              </a:lnSpc>
            </a:pPr>
            <a:r>
              <a:rPr sz="850" b="0" i="0" spc="100">
                <a:solidFill>
                  <a:srgbClr val="A7B2B0"/>
                </a:solidFill>
                <a:latin typeface="Segoe UI Semibold"/>
              </a:rPr>
              <a:t>v1.91.1   ·   154</a:t>
            </a:r>
          </a:p>
        </p:txBody>
      </p:sp>
    </p:spTree>
  </p:cSld>
  <p:clrMapOvr>
    <a:masterClrMapping/>
  </p:clrMapOvr>
</p:sld>
</file>

<file path=ppt/slides/slide1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content.png"/>
          <p:cNvPicPr>
            <a:picLocks noChangeAspect="1"/>
          </p:cNvPicPr>
          <p:nvPr/>
        </p:nvPicPr>
        <p:blipFill>
          <a:blip r:embed="rId2"/>
          <a:stretch>
            <a:fillRect/>
          </a:stretch>
        </p:blipFill>
        <p:spPr>
          <a:xfrm>
            <a:off x="0" y="0"/>
            <a:ext cx="12191695" cy="6858000"/>
          </a:xfrm>
          <a:prstGeom prst="rect">
            <a:avLst/>
          </a:prstGeom>
        </p:spPr>
      </p:pic>
      <p:sp>
        <p:nvSpPr>
          <p:cNvPr id="3" name="Diamond 2"/>
          <p:cNvSpPr/>
          <p:nvPr/>
        </p:nvSpPr>
        <p:spPr>
          <a:xfrm>
            <a:off x="566928" y="457200"/>
            <a:ext cx="100584" cy="100584"/>
          </a:xfrm>
          <a:prstGeom prst="diamond">
            <a:avLst/>
          </a:prstGeom>
          <a:solidFill>
            <a:srgbClr val="E2B4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49808" y="365760"/>
            <a:ext cx="8229600" cy="292608"/>
          </a:xfrm>
          <a:prstGeom prst="rect">
            <a:avLst/>
          </a:prstGeom>
          <a:noFill/>
        </p:spPr>
        <p:txBody>
          <a:bodyPr wrap="square" lIns="45720" rIns="45720" tIns="27432" bIns="27432" anchor="t">
            <a:noAutofit/>
          </a:bodyPr>
          <a:lstStyle/>
          <a:p>
            <a:pPr algn="l">
              <a:lnSpc>
                <a:spcPct val="100000"/>
              </a:lnSpc>
            </a:pPr>
            <a:r>
              <a:rPr sz="1100" b="0" i="0" spc="240">
                <a:solidFill>
                  <a:srgbClr val="C98457"/>
                </a:solidFill>
                <a:latin typeface="Segoe UI Semibold"/>
              </a:rPr>
              <a:t>HEREDADO DE v1.73.0</a:t>
            </a:r>
          </a:p>
        </p:txBody>
      </p:sp>
      <p:sp>
        <p:nvSpPr>
          <p:cNvPr id="5" name="TextBox 4"/>
          <p:cNvSpPr txBox="1"/>
          <p:nvPr/>
        </p:nvSpPr>
        <p:spPr>
          <a:xfrm>
            <a:off x="539496" y="676656"/>
            <a:ext cx="11057839" cy="658368"/>
          </a:xfrm>
          <a:prstGeom prst="rect">
            <a:avLst/>
          </a:prstGeom>
          <a:noFill/>
        </p:spPr>
        <p:txBody>
          <a:bodyPr wrap="square" lIns="45720" rIns="45720" tIns="27432" bIns="27432" anchor="t">
            <a:noAutofit/>
          </a:bodyPr>
          <a:lstStyle/>
          <a:p>
            <a:pPr algn="l">
              <a:lnSpc>
                <a:spcPct val="100000"/>
              </a:lnSpc>
            </a:pPr>
            <a:r>
              <a:rPr sz="3100" b="0" i="0">
                <a:solidFill>
                  <a:srgbClr val="F7F2E8"/>
                </a:solidFill>
                <a:latin typeface="Palatino Linotype"/>
              </a:rPr>
              <a:t>Una tarjeta quitada del contexto futuro</a:t>
            </a:r>
          </a:p>
        </p:txBody>
      </p:sp>
      <p:sp>
        <p:nvSpPr>
          <p:cNvPr id="6" name="Rectangle 5"/>
          <p:cNvSpPr/>
          <p:nvPr/>
        </p:nvSpPr>
        <p:spPr>
          <a:xfrm>
            <a:off x="566928" y="1344168"/>
            <a:ext cx="822960" cy="36576"/>
          </a:xfrm>
          <a:prstGeom prst="rect">
            <a:avLst/>
          </a:prstGeom>
          <a:solidFill>
            <a:srgbClr val="E2B4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566928" y="1444752"/>
            <a:ext cx="10692079" cy="585216"/>
          </a:xfrm>
          <a:prstGeom prst="rect">
            <a:avLst/>
          </a:prstGeom>
          <a:noFill/>
        </p:spPr>
        <p:txBody>
          <a:bodyPr wrap="square" lIns="45720" rIns="45720" tIns="27432" bIns="27432" anchor="t">
            <a:noAutofit/>
          </a:bodyPr>
          <a:lstStyle/>
          <a:p>
            <a:pPr algn="l">
              <a:lnSpc>
                <a:spcPct val="100000"/>
              </a:lnSpc>
            </a:pPr>
            <a:r>
              <a:rPr sz="1450" b="0" i="0">
                <a:solidFill>
                  <a:srgbClr val="A7B2B0"/>
                </a:solidFill>
                <a:latin typeface="Segoe UI Semilight"/>
              </a:rPr>
              <a:t>Con tag y publicado el 30 de septiembre: Descartar en todo el chat, con confirmación y actualización del historial.</a:t>
            </a:r>
          </a:p>
        </p:txBody>
      </p:sp>
      <p:sp>
        <p:nvSpPr>
          <p:cNvPr id="8" name="Rounded Rectangle 7"/>
          <p:cNvSpPr/>
          <p:nvPr/>
        </p:nvSpPr>
        <p:spPr>
          <a:xfrm>
            <a:off x="566928" y="2084831"/>
            <a:ext cx="5428335" cy="1956816"/>
          </a:xfrm>
          <a:prstGeom prst="roundRect">
            <a:avLst>
              <a:gd name="adj" fmla="val 5607"/>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ectangle 8"/>
          <p:cNvSpPr/>
          <p:nvPr/>
        </p:nvSpPr>
        <p:spPr>
          <a:xfrm>
            <a:off x="731520" y="2212848"/>
            <a:ext cx="502920" cy="45720"/>
          </a:xfrm>
          <a:prstGeom prst="rect">
            <a:avLst/>
          </a:prstGeom>
          <a:solidFill>
            <a:srgbClr val="3BBE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694944" y="2304287"/>
            <a:ext cx="5172303" cy="353568"/>
          </a:xfrm>
          <a:prstGeom prst="rect">
            <a:avLst/>
          </a:prstGeom>
          <a:noFill/>
        </p:spPr>
        <p:txBody>
          <a:bodyPr wrap="square" lIns="45720" rIns="45720" tIns="27432" bIns="27432" anchor="t">
            <a:noAutofit/>
          </a:bodyPr>
          <a:lstStyle/>
          <a:p>
            <a:pPr algn="l">
              <a:lnSpc>
                <a:spcPct val="100000"/>
              </a:lnSpc>
            </a:pPr>
            <a:r>
              <a:rPr sz="1600" b="0" i="0">
                <a:solidFill>
                  <a:srgbClr val="F7F2E8"/>
                </a:solidFill>
                <a:latin typeface="Segoe UI Semibold"/>
              </a:rPr>
              <a:t>Filas propias</a:t>
            </a:r>
          </a:p>
        </p:txBody>
      </p:sp>
      <p:sp>
        <p:nvSpPr>
          <p:cNvPr id="11" name="TextBox 10"/>
          <p:cNvSpPr txBox="1"/>
          <p:nvPr/>
        </p:nvSpPr>
        <p:spPr>
          <a:xfrm>
            <a:off x="694944" y="2657855"/>
            <a:ext cx="5172303" cy="1292352"/>
          </a:xfrm>
          <a:prstGeom prst="rect">
            <a:avLst/>
          </a:prstGeom>
          <a:noFill/>
        </p:spPr>
        <p:txBody>
          <a:bodyPr wrap="square" lIns="45720" rIns="45720" tIns="27432" bIns="27432" anchor="t">
            <a:noAutofit/>
          </a:bodyPr>
          <a:lstStyle/>
          <a:p>
            <a:pPr algn="l">
              <a:lnSpc>
                <a:spcPct val="100000"/>
              </a:lnSpc>
            </a:pPr>
            <a:r>
              <a:rPr sz="1300" b="0" i="0">
                <a:solidFill>
                  <a:srgbClr val="A7B2B0"/>
                </a:solidFill>
                <a:latin typeface="Segoe UI"/>
              </a:rPr>
              <a:t>El borrado en el servidor se limita a la conversación del usuario con sesión iniciada.</a:t>
            </a:r>
          </a:p>
        </p:txBody>
      </p:sp>
      <p:sp>
        <p:nvSpPr>
          <p:cNvPr id="12" name="Rounded Rectangle 11"/>
          <p:cNvSpPr/>
          <p:nvPr/>
        </p:nvSpPr>
        <p:spPr>
          <a:xfrm>
            <a:off x="6196431" y="2084831"/>
            <a:ext cx="5428335" cy="1956816"/>
          </a:xfrm>
          <a:prstGeom prst="roundRect">
            <a:avLst>
              <a:gd name="adj" fmla="val 5607"/>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6361023" y="2212848"/>
            <a:ext cx="502920" cy="45720"/>
          </a:xfrm>
          <a:prstGeom prst="rect">
            <a:avLst/>
          </a:prstGeom>
          <a:solidFill>
            <a:srgbClr val="C984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324447" y="2304287"/>
            <a:ext cx="5172303" cy="353568"/>
          </a:xfrm>
          <a:prstGeom prst="rect">
            <a:avLst/>
          </a:prstGeom>
          <a:noFill/>
        </p:spPr>
        <p:txBody>
          <a:bodyPr wrap="square" lIns="45720" rIns="45720" tIns="27432" bIns="27432" anchor="t">
            <a:noAutofit/>
          </a:bodyPr>
          <a:lstStyle/>
          <a:p>
            <a:pPr algn="l">
              <a:lnSpc>
                <a:spcPct val="100000"/>
              </a:lnSpc>
            </a:pPr>
            <a:r>
              <a:rPr sz="1600" b="0" i="0">
                <a:solidFill>
                  <a:srgbClr val="F7F2E8"/>
                </a:solidFill>
                <a:latin typeface="Segoe UI Semibold"/>
              </a:rPr>
              <a:t>Pestañas y medidor</a:t>
            </a:r>
          </a:p>
        </p:txBody>
      </p:sp>
      <p:sp>
        <p:nvSpPr>
          <p:cNvPr id="15" name="TextBox 14"/>
          <p:cNvSpPr txBox="1"/>
          <p:nvPr/>
        </p:nvSpPr>
        <p:spPr>
          <a:xfrm>
            <a:off x="6324447" y="2657855"/>
            <a:ext cx="5172303" cy="1292352"/>
          </a:xfrm>
          <a:prstGeom prst="rect">
            <a:avLst/>
          </a:prstGeom>
          <a:noFill/>
        </p:spPr>
        <p:txBody>
          <a:bodyPr wrap="square" lIns="45720" rIns="45720" tIns="27432" bIns="27432" anchor="t">
            <a:noAutofit/>
          </a:bodyPr>
          <a:lstStyle/>
          <a:p>
            <a:pPr algn="l">
              <a:lnSpc>
                <a:spcPct val="100000"/>
              </a:lnSpc>
            </a:pPr>
            <a:r>
              <a:rPr sz="1300" b="0" i="0">
                <a:solidFill>
                  <a:srgbClr val="A7B2B0"/>
                </a:solidFill>
                <a:latin typeface="Segoe UI"/>
              </a:rPr>
              <a:t>Los ids confirmados quitan las tarjetas guardadas en todas las pestañas y actualizan la estimación de contexto.</a:t>
            </a:r>
          </a:p>
        </p:txBody>
      </p:sp>
      <p:sp>
        <p:nvSpPr>
          <p:cNvPr id="16" name="Rounded Rectangle 15"/>
          <p:cNvSpPr/>
          <p:nvPr/>
        </p:nvSpPr>
        <p:spPr>
          <a:xfrm>
            <a:off x="566928" y="4242816"/>
            <a:ext cx="5428335" cy="1956816"/>
          </a:xfrm>
          <a:prstGeom prst="roundRect">
            <a:avLst>
              <a:gd name="adj" fmla="val 5607"/>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31520" y="4370832"/>
            <a:ext cx="502920" cy="45720"/>
          </a:xfrm>
          <a:prstGeom prst="rect">
            <a:avLst/>
          </a:prstGeom>
          <a:solidFill>
            <a:srgbClr val="E2B4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694944" y="4462272"/>
            <a:ext cx="5172303" cy="353568"/>
          </a:xfrm>
          <a:prstGeom prst="rect">
            <a:avLst/>
          </a:prstGeom>
          <a:noFill/>
        </p:spPr>
        <p:txBody>
          <a:bodyPr wrap="square" lIns="45720" rIns="45720" tIns="27432" bIns="27432" anchor="t">
            <a:noAutofit/>
          </a:bodyPr>
          <a:lstStyle/>
          <a:p>
            <a:pPr algn="l">
              <a:lnSpc>
                <a:spcPct val="100000"/>
              </a:lnSpc>
            </a:pPr>
            <a:r>
              <a:rPr sz="1600" b="0" i="0">
                <a:solidFill>
                  <a:srgbClr val="F7F2E8"/>
                </a:solidFill>
                <a:latin typeface="Segoe UI Semibold"/>
              </a:rPr>
              <a:t>Copias de rephrase</a:t>
            </a:r>
          </a:p>
        </p:txBody>
      </p:sp>
      <p:sp>
        <p:nvSpPr>
          <p:cNvPr id="19" name="TextBox 18"/>
          <p:cNvSpPr txBox="1"/>
          <p:nvPr/>
        </p:nvSpPr>
        <p:spPr>
          <a:xfrm>
            <a:off x="694944" y="4815840"/>
            <a:ext cx="5172303" cy="1292352"/>
          </a:xfrm>
          <a:prstGeom prst="rect">
            <a:avLst/>
          </a:prstGeom>
          <a:noFill/>
        </p:spPr>
        <p:txBody>
          <a:bodyPr wrap="square" lIns="45720" rIns="45720" tIns="27432" bIns="27432" anchor="t">
            <a:noAutofit/>
          </a:bodyPr>
          <a:lstStyle/>
          <a:p>
            <a:pPr algn="l">
              <a:lnSpc>
                <a:spcPct val="100000"/>
              </a:lnSpc>
            </a:pPr>
            <a:r>
              <a:rPr sz="1300" b="0" i="0">
                <a:solidFill>
                  <a:srgbClr val="A7B2B0"/>
                </a:solidFill>
                <a:latin typeface="Segoe UI"/>
              </a:rPr>
              <a:t>La limpieza del prompt quita las copias de rephrase que siguen y conserva la respuesta.</a:t>
            </a:r>
          </a:p>
        </p:txBody>
      </p:sp>
      <p:sp>
        <p:nvSpPr>
          <p:cNvPr id="20" name="Rounded Rectangle 19"/>
          <p:cNvSpPr/>
          <p:nvPr/>
        </p:nvSpPr>
        <p:spPr>
          <a:xfrm>
            <a:off x="6196431" y="4242816"/>
            <a:ext cx="5428335" cy="1956816"/>
          </a:xfrm>
          <a:prstGeom prst="roundRect">
            <a:avLst>
              <a:gd name="adj" fmla="val 5607"/>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ectangle 20"/>
          <p:cNvSpPr/>
          <p:nvPr/>
        </p:nvSpPr>
        <p:spPr>
          <a:xfrm>
            <a:off x="6361023" y="4370832"/>
            <a:ext cx="502920" cy="45720"/>
          </a:xfrm>
          <a:prstGeom prst="rect">
            <a:avLst/>
          </a:prstGeom>
          <a:solidFill>
            <a:srgbClr val="46D2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6324447" y="4462272"/>
            <a:ext cx="5172303" cy="353568"/>
          </a:xfrm>
          <a:prstGeom prst="rect">
            <a:avLst/>
          </a:prstGeom>
          <a:noFill/>
        </p:spPr>
        <p:txBody>
          <a:bodyPr wrap="square" lIns="45720" rIns="45720" tIns="27432" bIns="27432" anchor="t">
            <a:noAutofit/>
          </a:bodyPr>
          <a:lstStyle/>
          <a:p>
            <a:pPr algn="l">
              <a:lnSpc>
                <a:spcPct val="100000"/>
              </a:lnSpc>
            </a:pPr>
            <a:r>
              <a:rPr sz="1600" b="0" i="0">
                <a:solidFill>
                  <a:srgbClr val="F7F2E8"/>
                </a:solidFill>
                <a:latin typeface="Segoe UI Semibold"/>
              </a:rPr>
              <a:t>Protección de ejecución</a:t>
            </a:r>
          </a:p>
        </p:txBody>
      </p:sp>
      <p:sp>
        <p:nvSpPr>
          <p:cNvPr id="23" name="TextBox 22"/>
          <p:cNvSpPr txBox="1"/>
          <p:nvPr/>
        </p:nvSpPr>
        <p:spPr>
          <a:xfrm>
            <a:off x="6324447" y="4815840"/>
            <a:ext cx="5172303" cy="1292352"/>
          </a:xfrm>
          <a:prstGeom prst="rect">
            <a:avLst/>
          </a:prstGeom>
          <a:noFill/>
        </p:spPr>
        <p:txBody>
          <a:bodyPr wrap="square" lIns="45720" rIns="45720" tIns="27432" bIns="27432" anchor="t">
            <a:noAutofit/>
          </a:bodyPr>
          <a:lstStyle/>
          <a:p>
            <a:pPr algn="l">
              <a:lnSpc>
                <a:spcPct val="100000"/>
              </a:lnSpc>
            </a:pPr>
            <a:r>
              <a:rPr sz="1300" b="0" i="0">
                <a:solidFill>
                  <a:srgbClr val="A7B2B0"/>
                </a:solidFill>
                <a:latin typeface="Segoe UI"/>
              </a:rPr>
              <a:t>Una respuesta activa bloquea Descartar en esa conexión. Otras pestañas tienen ejecuciones aparte.</a:t>
            </a:r>
          </a:p>
        </p:txBody>
      </p:sp>
      <p:cxnSp>
        <p:nvCxnSpPr>
          <p:cNvPr id="24" name="Connector 23"/>
          <p:cNvCxnSpPr/>
          <p:nvPr/>
        </p:nvCxnSpPr>
        <p:spPr>
          <a:xfrm>
            <a:off x="566928" y="6373368"/>
            <a:ext cx="11057839" cy="0"/>
          </a:xfrm>
          <a:prstGeom prst="line">
            <a:avLst/>
          </a:prstGeom>
          <a:ln w="7620">
            <a:solidFill>
              <a:srgbClr val="2A3A40"/>
            </a:solidFill>
          </a:ln>
        </p:spPr>
        <p:style>
          <a:lnRef idx="2">
            <a:schemeClr val="accent1"/>
          </a:lnRef>
          <a:fillRef idx="0">
            <a:schemeClr val="accent1"/>
          </a:fillRef>
          <a:effectRef idx="1">
            <a:schemeClr val="accent1"/>
          </a:effectRef>
          <a:fontRef idx="minor">
            <a:schemeClr val="tx1"/>
          </a:fontRef>
        </p:style>
      </p:cxnSp>
      <p:sp>
        <p:nvSpPr>
          <p:cNvPr id="25" name="TextBox 24"/>
          <p:cNvSpPr txBox="1"/>
          <p:nvPr/>
        </p:nvSpPr>
        <p:spPr>
          <a:xfrm>
            <a:off x="566928" y="6419088"/>
            <a:ext cx="6858000" cy="274320"/>
          </a:xfrm>
          <a:prstGeom prst="rect">
            <a:avLst/>
          </a:prstGeom>
          <a:noFill/>
        </p:spPr>
        <p:txBody>
          <a:bodyPr wrap="square" lIns="45720" rIns="45720" tIns="27432" bIns="27432" anchor="t">
            <a:noAutofit/>
          </a:bodyPr>
          <a:lstStyle/>
          <a:p>
            <a:pPr algn="l">
              <a:lnSpc>
                <a:spcPct val="100000"/>
              </a:lnSpc>
            </a:pPr>
            <a:r>
              <a:rPr sz="850" b="0" i="0" spc="120">
                <a:solidFill>
                  <a:srgbClr val="A7B2B0"/>
                </a:solidFill>
                <a:latin typeface="Segoe UI Semibold"/>
              </a:rPr>
              <a:t>TLAMATINI  ·  VIII · RELEASE ACTUAL</a:t>
            </a:r>
          </a:p>
        </p:txBody>
      </p:sp>
      <p:sp>
        <p:nvSpPr>
          <p:cNvPr id="26" name="TextBox 25"/>
          <p:cNvSpPr txBox="1"/>
          <p:nvPr/>
        </p:nvSpPr>
        <p:spPr>
          <a:xfrm>
            <a:off x="8698687" y="6419088"/>
            <a:ext cx="2926080" cy="274320"/>
          </a:xfrm>
          <a:prstGeom prst="rect">
            <a:avLst/>
          </a:prstGeom>
          <a:noFill/>
        </p:spPr>
        <p:txBody>
          <a:bodyPr wrap="square" lIns="45720" rIns="45720" tIns="27432" bIns="27432" anchor="t">
            <a:noAutofit/>
          </a:bodyPr>
          <a:lstStyle/>
          <a:p>
            <a:pPr algn="r">
              <a:lnSpc>
                <a:spcPct val="100000"/>
              </a:lnSpc>
            </a:pPr>
            <a:r>
              <a:rPr sz="850" b="0" i="0" spc="100">
                <a:solidFill>
                  <a:srgbClr val="A7B2B0"/>
                </a:solidFill>
                <a:latin typeface="Segoe UI Semibold"/>
              </a:rPr>
              <a:t>v1.91.1   ·   155</a:t>
            </a:r>
          </a:p>
        </p:txBody>
      </p:sp>
    </p:spTree>
  </p:cSld>
  <p:clrMapOvr>
    <a:masterClrMapping/>
  </p:clrMapOvr>
</p:sld>
</file>

<file path=ppt/slides/slide1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content.png"/>
          <p:cNvPicPr>
            <a:picLocks noChangeAspect="1"/>
          </p:cNvPicPr>
          <p:nvPr/>
        </p:nvPicPr>
        <p:blipFill>
          <a:blip r:embed="rId2"/>
          <a:stretch>
            <a:fillRect/>
          </a:stretch>
        </p:blipFill>
        <p:spPr>
          <a:xfrm>
            <a:off x="0" y="0"/>
            <a:ext cx="12191695" cy="6858000"/>
          </a:xfrm>
          <a:prstGeom prst="rect">
            <a:avLst/>
          </a:prstGeom>
        </p:spPr>
      </p:pic>
      <p:sp>
        <p:nvSpPr>
          <p:cNvPr id="3" name="Diamond 2"/>
          <p:cNvSpPr/>
          <p:nvPr/>
        </p:nvSpPr>
        <p:spPr>
          <a:xfrm>
            <a:off x="566928" y="457200"/>
            <a:ext cx="100584" cy="100584"/>
          </a:xfrm>
          <a:prstGeom prst="diamond">
            <a:avLst/>
          </a:prstGeom>
          <a:solidFill>
            <a:srgbClr val="E2B4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49808" y="365760"/>
            <a:ext cx="8229600" cy="292608"/>
          </a:xfrm>
          <a:prstGeom prst="rect">
            <a:avLst/>
          </a:prstGeom>
          <a:noFill/>
        </p:spPr>
        <p:txBody>
          <a:bodyPr wrap="square" lIns="45720" rIns="45720" tIns="27432" bIns="27432" anchor="t">
            <a:noAutofit/>
          </a:bodyPr>
          <a:lstStyle/>
          <a:p>
            <a:pPr algn="l">
              <a:lnSpc>
                <a:spcPct val="100000"/>
              </a:lnSpc>
            </a:pPr>
            <a:r>
              <a:rPr sz="1100" b="0" i="0" spc="240">
                <a:solidFill>
                  <a:srgbClr val="C98457"/>
                </a:solidFill>
                <a:latin typeface="Segoe UI Semibold"/>
              </a:rPr>
              <a:t>HEREDADO DE v1.72.4</a:t>
            </a:r>
          </a:p>
        </p:txBody>
      </p:sp>
      <p:sp>
        <p:nvSpPr>
          <p:cNvPr id="5" name="TextBox 4"/>
          <p:cNvSpPr txBox="1"/>
          <p:nvPr/>
        </p:nvSpPr>
        <p:spPr>
          <a:xfrm>
            <a:off x="539496" y="676656"/>
            <a:ext cx="11057839" cy="658368"/>
          </a:xfrm>
          <a:prstGeom prst="rect">
            <a:avLst/>
          </a:prstGeom>
          <a:noFill/>
        </p:spPr>
        <p:txBody>
          <a:bodyPr wrap="square" lIns="45720" rIns="45720" tIns="27432" bIns="27432" anchor="t">
            <a:noAutofit/>
          </a:bodyPr>
          <a:lstStyle/>
          <a:p>
            <a:pPr algn="l">
              <a:lnSpc>
                <a:spcPct val="100000"/>
              </a:lnSpc>
            </a:pPr>
            <a:r>
              <a:rPr sz="3100" b="0" i="0">
                <a:solidFill>
                  <a:srgbClr val="F7F2E8"/>
                </a:solidFill>
                <a:latin typeface="Palatino Linotype"/>
              </a:rPr>
              <a:t>Páginas web que no desaparecen en silencio</a:t>
            </a:r>
          </a:p>
        </p:txBody>
      </p:sp>
      <p:sp>
        <p:nvSpPr>
          <p:cNvPr id="6" name="Rectangle 5"/>
          <p:cNvSpPr/>
          <p:nvPr/>
        </p:nvSpPr>
        <p:spPr>
          <a:xfrm>
            <a:off x="566928" y="1344168"/>
            <a:ext cx="822960" cy="36576"/>
          </a:xfrm>
          <a:prstGeom prst="rect">
            <a:avLst/>
          </a:prstGeom>
          <a:solidFill>
            <a:srgbClr val="E2B4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566928" y="1444752"/>
            <a:ext cx="10692079" cy="585216"/>
          </a:xfrm>
          <a:prstGeom prst="rect">
            <a:avLst/>
          </a:prstGeom>
          <a:noFill/>
        </p:spPr>
        <p:txBody>
          <a:bodyPr wrap="square" lIns="45720" rIns="45720" tIns="27432" bIns="27432" anchor="t">
            <a:noAutofit/>
          </a:bodyPr>
          <a:lstStyle/>
          <a:p>
            <a:pPr algn="l">
              <a:lnSpc>
                <a:spcPct val="100000"/>
              </a:lnSpc>
            </a:pPr>
            <a:r>
              <a:rPr sz="1450" b="0" i="0">
                <a:solidFill>
                  <a:srgbClr val="A7B2B0"/>
                </a:solidFill>
                <a:latin typeface="Segoe UI Semilight"/>
              </a:rPr>
              <a:t>Con tag y publicado el 29 de septiembre: ninguna página web pierde su texto sin decirlo.</a:t>
            </a:r>
          </a:p>
        </p:txBody>
      </p:sp>
      <p:sp>
        <p:nvSpPr>
          <p:cNvPr id="8" name="Rounded Rectangle 7"/>
          <p:cNvSpPr/>
          <p:nvPr/>
        </p:nvSpPr>
        <p:spPr>
          <a:xfrm>
            <a:off x="566928" y="2084831"/>
            <a:ext cx="3551834" cy="1956816"/>
          </a:xfrm>
          <a:prstGeom prst="roundRect">
            <a:avLst>
              <a:gd name="adj" fmla="val 5607"/>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ectangle 8"/>
          <p:cNvSpPr/>
          <p:nvPr/>
        </p:nvSpPr>
        <p:spPr>
          <a:xfrm>
            <a:off x="731520" y="2212848"/>
            <a:ext cx="502920" cy="45720"/>
          </a:xfrm>
          <a:prstGeom prst="rect">
            <a:avLst/>
          </a:prstGeom>
          <a:solidFill>
            <a:srgbClr val="3BBE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694944" y="2304287"/>
            <a:ext cx="3295802" cy="353568"/>
          </a:xfrm>
          <a:prstGeom prst="rect">
            <a:avLst/>
          </a:prstGeom>
          <a:noFill/>
        </p:spPr>
        <p:txBody>
          <a:bodyPr wrap="square" lIns="45720" rIns="45720" tIns="27432" bIns="27432" anchor="t">
            <a:noAutofit/>
          </a:bodyPr>
          <a:lstStyle/>
          <a:p>
            <a:pPr algn="l">
              <a:lnSpc>
                <a:spcPct val="100000"/>
              </a:lnSpc>
            </a:pPr>
            <a:r>
              <a:rPr sz="1600" b="0" i="0">
                <a:solidFill>
                  <a:srgbClr val="F7F2E8"/>
                </a:solidFill>
                <a:latin typeface="Segoe UI Semibold"/>
              </a:rPr>
              <a:t>Sin pérdida silenciosa</a:t>
            </a:r>
          </a:p>
        </p:txBody>
      </p:sp>
      <p:sp>
        <p:nvSpPr>
          <p:cNvPr id="11" name="TextBox 10"/>
          <p:cNvSpPr txBox="1"/>
          <p:nvPr/>
        </p:nvSpPr>
        <p:spPr>
          <a:xfrm>
            <a:off x="694944" y="2657855"/>
            <a:ext cx="3295802" cy="1292352"/>
          </a:xfrm>
          <a:prstGeom prst="rect">
            <a:avLst/>
          </a:prstGeom>
          <a:noFill/>
        </p:spPr>
        <p:txBody>
          <a:bodyPr wrap="square" lIns="45720" rIns="45720" tIns="27432" bIns="27432" anchor="t">
            <a:noAutofit/>
          </a:bodyPr>
          <a:lstStyle/>
          <a:p>
            <a:pPr algn="l">
              <a:lnSpc>
                <a:spcPct val="100000"/>
              </a:lnSpc>
            </a:pPr>
            <a:r>
              <a:rPr sz="1300" b="0" i="0">
                <a:solidFill>
                  <a:srgbClr val="A7B2B0"/>
                </a:solidFill>
                <a:latin typeface="Segoe UI"/>
              </a:rPr>
              <a:t>Una pila de etiquetas abiertas reemplaza a un contador en ambos agents.</a:t>
            </a:r>
          </a:p>
        </p:txBody>
      </p:sp>
      <p:sp>
        <p:nvSpPr>
          <p:cNvPr id="12" name="Rounded Rectangle 11"/>
          <p:cNvSpPr/>
          <p:nvPr/>
        </p:nvSpPr>
        <p:spPr>
          <a:xfrm>
            <a:off x="4319930" y="2084831"/>
            <a:ext cx="3551834" cy="1956816"/>
          </a:xfrm>
          <a:prstGeom prst="roundRect">
            <a:avLst>
              <a:gd name="adj" fmla="val 5607"/>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4484522" y="2212848"/>
            <a:ext cx="502920" cy="45720"/>
          </a:xfrm>
          <a:prstGeom prst="rect">
            <a:avLst/>
          </a:prstGeom>
          <a:solidFill>
            <a:srgbClr val="C984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4447946" y="2304287"/>
            <a:ext cx="3295802" cy="353568"/>
          </a:xfrm>
          <a:prstGeom prst="rect">
            <a:avLst/>
          </a:prstGeom>
          <a:noFill/>
        </p:spPr>
        <p:txBody>
          <a:bodyPr wrap="square" lIns="45720" rIns="45720" tIns="27432" bIns="27432" anchor="t">
            <a:noAutofit/>
          </a:bodyPr>
          <a:lstStyle/>
          <a:p>
            <a:pPr algn="l">
              <a:lnSpc>
                <a:spcPct val="100000"/>
              </a:lnSpc>
            </a:pPr>
            <a:r>
              <a:rPr sz="1600" b="0" i="0">
                <a:solidFill>
                  <a:srgbClr val="F7F2E8"/>
                </a:solidFill>
                <a:latin typeface="Segoe UI Semibold"/>
              </a:rPr>
              <a:t>Red de seguridad</a:t>
            </a:r>
          </a:p>
        </p:txBody>
      </p:sp>
      <p:sp>
        <p:nvSpPr>
          <p:cNvPr id="15" name="TextBox 14"/>
          <p:cNvSpPr txBox="1"/>
          <p:nvPr/>
        </p:nvSpPr>
        <p:spPr>
          <a:xfrm>
            <a:off x="4447946" y="2657855"/>
            <a:ext cx="3295802" cy="1292352"/>
          </a:xfrm>
          <a:prstGeom prst="rect">
            <a:avLst/>
          </a:prstGeom>
          <a:noFill/>
        </p:spPr>
        <p:txBody>
          <a:bodyPr wrap="square" lIns="45720" rIns="45720" tIns="27432" bIns="27432" anchor="t">
            <a:noAutofit/>
          </a:bodyPr>
          <a:lstStyle/>
          <a:p>
            <a:pPr algn="l">
              <a:lnSpc>
                <a:spcPct val="100000"/>
              </a:lnSpc>
            </a:pPr>
            <a:r>
              <a:rPr sz="1300" b="0" i="0">
                <a:solidFill>
                  <a:srgbClr val="A7B2B0"/>
                </a:solidFill>
                <a:latin typeface="Segoe UI"/>
              </a:rPr>
              <a:t>Una lectura simple toma el control cuando un parseo conserva muy poco.</a:t>
            </a:r>
          </a:p>
        </p:txBody>
      </p:sp>
      <p:sp>
        <p:nvSpPr>
          <p:cNvPr id="16" name="Rounded Rectangle 15"/>
          <p:cNvSpPr/>
          <p:nvPr/>
        </p:nvSpPr>
        <p:spPr>
          <a:xfrm>
            <a:off x="8072932" y="2084831"/>
            <a:ext cx="3551834" cy="1956816"/>
          </a:xfrm>
          <a:prstGeom prst="roundRect">
            <a:avLst>
              <a:gd name="adj" fmla="val 5607"/>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8237524" y="2212848"/>
            <a:ext cx="502920" cy="45720"/>
          </a:xfrm>
          <a:prstGeom prst="rect">
            <a:avLst/>
          </a:prstGeom>
          <a:solidFill>
            <a:srgbClr val="E2B4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200948" y="2304287"/>
            <a:ext cx="3295802" cy="353568"/>
          </a:xfrm>
          <a:prstGeom prst="rect">
            <a:avLst/>
          </a:prstGeom>
          <a:noFill/>
        </p:spPr>
        <p:txBody>
          <a:bodyPr wrap="square" lIns="45720" rIns="45720" tIns="27432" bIns="27432" anchor="t">
            <a:noAutofit/>
          </a:bodyPr>
          <a:lstStyle/>
          <a:p>
            <a:pPr algn="l">
              <a:lnSpc>
                <a:spcPct val="100000"/>
              </a:lnSpc>
            </a:pPr>
            <a:r>
              <a:rPr sz="1600" b="0" i="0">
                <a:solidFill>
                  <a:srgbClr val="F7F2E8"/>
                </a:solidFill>
                <a:latin typeface="Segoe UI Semibold"/>
              </a:rPr>
              <a:t>Valores acotados</a:t>
            </a:r>
          </a:p>
        </p:txBody>
      </p:sp>
      <p:sp>
        <p:nvSpPr>
          <p:cNvPr id="19" name="TextBox 18"/>
          <p:cNvSpPr txBox="1"/>
          <p:nvPr/>
        </p:nvSpPr>
        <p:spPr>
          <a:xfrm>
            <a:off x="8200948" y="2657855"/>
            <a:ext cx="3295802" cy="1292352"/>
          </a:xfrm>
          <a:prstGeom prst="rect">
            <a:avLst/>
          </a:prstGeom>
          <a:noFill/>
        </p:spPr>
        <p:txBody>
          <a:bodyPr wrap="square" lIns="45720" rIns="45720" tIns="27432" bIns="27432" anchor="t">
            <a:noAutofit/>
          </a:bodyPr>
          <a:lstStyle/>
          <a:p>
            <a:pPr algn="l">
              <a:lnSpc>
                <a:spcPct val="100000"/>
              </a:lnSpc>
            </a:pPr>
            <a:r>
              <a:rPr sz="1300" b="0" i="0">
                <a:solidFill>
                  <a:srgbClr val="A7B2B0"/>
                </a:solidFill>
                <a:latin typeface="Segoe UI"/>
              </a:rPr>
              <a:t>v1.72.2: presupuestos de búsqueda y de crawl, cancelación y resultados explícitos.</a:t>
            </a:r>
          </a:p>
        </p:txBody>
      </p:sp>
      <p:sp>
        <p:nvSpPr>
          <p:cNvPr id="20" name="Rounded Rectangle 19"/>
          <p:cNvSpPr/>
          <p:nvPr/>
        </p:nvSpPr>
        <p:spPr>
          <a:xfrm>
            <a:off x="566928" y="4242816"/>
            <a:ext cx="3551834" cy="1956816"/>
          </a:xfrm>
          <a:prstGeom prst="roundRect">
            <a:avLst>
              <a:gd name="adj" fmla="val 5607"/>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ectangle 20"/>
          <p:cNvSpPr/>
          <p:nvPr/>
        </p:nvSpPr>
        <p:spPr>
          <a:xfrm>
            <a:off x="731520" y="4370832"/>
            <a:ext cx="502920" cy="45720"/>
          </a:xfrm>
          <a:prstGeom prst="rect">
            <a:avLst/>
          </a:prstGeom>
          <a:solidFill>
            <a:srgbClr val="46D2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694944" y="4462272"/>
            <a:ext cx="3295802" cy="353568"/>
          </a:xfrm>
          <a:prstGeom prst="rect">
            <a:avLst/>
          </a:prstGeom>
          <a:noFill/>
        </p:spPr>
        <p:txBody>
          <a:bodyPr wrap="square" lIns="45720" rIns="45720" tIns="27432" bIns="27432" anchor="t">
            <a:noAutofit/>
          </a:bodyPr>
          <a:lstStyle/>
          <a:p>
            <a:pPr algn="l">
              <a:lnSpc>
                <a:spcPct val="100000"/>
              </a:lnSpc>
            </a:pPr>
            <a:r>
              <a:rPr sz="1600" b="0" i="0">
                <a:solidFill>
                  <a:srgbClr val="F7F2E8"/>
                </a:solidFill>
                <a:latin typeface="Segoe UI Semibold"/>
              </a:rPr>
              <a:t>Rechazos con nombre</a:t>
            </a:r>
          </a:p>
        </p:txBody>
      </p:sp>
      <p:sp>
        <p:nvSpPr>
          <p:cNvPr id="23" name="TextBox 22"/>
          <p:cNvSpPr txBox="1"/>
          <p:nvPr/>
        </p:nvSpPr>
        <p:spPr>
          <a:xfrm>
            <a:off x="694944" y="4815840"/>
            <a:ext cx="3295802" cy="1292352"/>
          </a:xfrm>
          <a:prstGeom prst="rect">
            <a:avLst/>
          </a:prstGeom>
          <a:noFill/>
        </p:spPr>
        <p:txBody>
          <a:bodyPr wrap="square" lIns="45720" rIns="45720" tIns="27432" bIns="27432" anchor="t">
            <a:noAutofit/>
          </a:bodyPr>
          <a:lstStyle/>
          <a:p>
            <a:pPr algn="l">
              <a:lnSpc>
                <a:spcPct val="100000"/>
              </a:lnSpc>
            </a:pPr>
            <a:r>
              <a:rPr sz="1300" b="0" i="0">
                <a:solidFill>
                  <a:srgbClr val="A7B2B0"/>
                </a:solidFill>
                <a:latin typeface="Segoe UI"/>
              </a:rPr>
              <a:t>Un CAPTCHA o un muro de bots regresa como bloqueado, nunca como contenido.</a:t>
            </a:r>
          </a:p>
        </p:txBody>
      </p:sp>
      <p:sp>
        <p:nvSpPr>
          <p:cNvPr id="24" name="Rounded Rectangle 23"/>
          <p:cNvSpPr/>
          <p:nvPr/>
        </p:nvSpPr>
        <p:spPr>
          <a:xfrm>
            <a:off x="4319930" y="4242816"/>
            <a:ext cx="3551834" cy="1956816"/>
          </a:xfrm>
          <a:prstGeom prst="roundRect">
            <a:avLst>
              <a:gd name="adj" fmla="val 5607"/>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ectangle 24"/>
          <p:cNvSpPr/>
          <p:nvPr/>
        </p:nvSpPr>
        <p:spPr>
          <a:xfrm>
            <a:off x="4484522" y="4370832"/>
            <a:ext cx="502920" cy="45720"/>
          </a:xfrm>
          <a:prstGeom prst="rect">
            <a:avLst/>
          </a:prstGeom>
          <a:solidFill>
            <a:srgbClr val="D25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4447946" y="4462272"/>
            <a:ext cx="3295802" cy="353568"/>
          </a:xfrm>
          <a:prstGeom prst="rect">
            <a:avLst/>
          </a:prstGeom>
          <a:noFill/>
        </p:spPr>
        <p:txBody>
          <a:bodyPr wrap="square" lIns="45720" rIns="45720" tIns="27432" bIns="27432" anchor="t">
            <a:noAutofit/>
          </a:bodyPr>
          <a:lstStyle/>
          <a:p>
            <a:pPr algn="l">
              <a:lnSpc>
                <a:spcPct val="100000"/>
              </a:lnSpc>
            </a:pPr>
            <a:r>
              <a:rPr sz="1600" b="0" i="0">
                <a:solidFill>
                  <a:srgbClr val="F7F2E8"/>
                </a:solidFill>
                <a:latin typeface="Segoe UI Semibold"/>
              </a:rPr>
              <a:t>Labios visibles</a:t>
            </a:r>
          </a:p>
        </p:txBody>
      </p:sp>
      <p:sp>
        <p:nvSpPr>
          <p:cNvPr id="27" name="TextBox 26"/>
          <p:cNvSpPr txBox="1"/>
          <p:nvPr/>
        </p:nvSpPr>
        <p:spPr>
          <a:xfrm>
            <a:off x="4447946" y="4815840"/>
            <a:ext cx="3295802" cy="1292352"/>
          </a:xfrm>
          <a:prstGeom prst="rect">
            <a:avLst/>
          </a:prstGeom>
          <a:noFill/>
        </p:spPr>
        <p:txBody>
          <a:bodyPr wrap="square" lIns="45720" rIns="45720" tIns="27432" bIns="27432" anchor="t">
            <a:noAutofit/>
          </a:bodyPr>
          <a:lstStyle/>
          <a:p>
            <a:pPr algn="l">
              <a:lnSpc>
                <a:spcPct val="100000"/>
              </a:lnSpc>
            </a:pPr>
            <a:r>
              <a:rPr sz="1300" b="0" i="0">
                <a:solidFill>
                  <a:srgbClr val="A7B2B0"/>
                </a:solidFill>
                <a:latin typeface="Segoe UI"/>
              </a:rPr>
              <a:t>v1.72.3: sus labios se abren y se cierran claramente, sin quedarse muy abiertos.</a:t>
            </a:r>
          </a:p>
        </p:txBody>
      </p:sp>
      <p:cxnSp>
        <p:nvCxnSpPr>
          <p:cNvPr id="28" name="Connector 27"/>
          <p:cNvCxnSpPr/>
          <p:nvPr/>
        </p:nvCxnSpPr>
        <p:spPr>
          <a:xfrm>
            <a:off x="566928" y="6373368"/>
            <a:ext cx="11057839" cy="0"/>
          </a:xfrm>
          <a:prstGeom prst="line">
            <a:avLst/>
          </a:prstGeom>
          <a:ln w="7620">
            <a:solidFill>
              <a:srgbClr val="2A3A40"/>
            </a:solidFill>
          </a:ln>
        </p:spPr>
        <p:style>
          <a:lnRef idx="2">
            <a:schemeClr val="accent1"/>
          </a:lnRef>
          <a:fillRef idx="0">
            <a:schemeClr val="accent1"/>
          </a:fillRef>
          <a:effectRef idx="1">
            <a:schemeClr val="accent1"/>
          </a:effectRef>
          <a:fontRef idx="minor">
            <a:schemeClr val="tx1"/>
          </a:fontRef>
        </p:style>
      </p:cxnSp>
      <p:sp>
        <p:nvSpPr>
          <p:cNvPr id="29" name="TextBox 28"/>
          <p:cNvSpPr txBox="1"/>
          <p:nvPr/>
        </p:nvSpPr>
        <p:spPr>
          <a:xfrm>
            <a:off x="566928" y="6419088"/>
            <a:ext cx="6858000" cy="274320"/>
          </a:xfrm>
          <a:prstGeom prst="rect">
            <a:avLst/>
          </a:prstGeom>
          <a:noFill/>
        </p:spPr>
        <p:txBody>
          <a:bodyPr wrap="square" lIns="45720" rIns="45720" tIns="27432" bIns="27432" anchor="t">
            <a:noAutofit/>
          </a:bodyPr>
          <a:lstStyle/>
          <a:p>
            <a:pPr algn="l">
              <a:lnSpc>
                <a:spcPct val="100000"/>
              </a:lnSpc>
            </a:pPr>
            <a:r>
              <a:rPr sz="850" b="0" i="0" spc="120">
                <a:solidFill>
                  <a:srgbClr val="A7B2B0"/>
                </a:solidFill>
                <a:latin typeface="Segoe UI Semibold"/>
              </a:rPr>
              <a:t>TLAMATINI  ·  VIII · RELEASE ACTUAL</a:t>
            </a:r>
          </a:p>
        </p:txBody>
      </p:sp>
      <p:sp>
        <p:nvSpPr>
          <p:cNvPr id="30" name="TextBox 29"/>
          <p:cNvSpPr txBox="1"/>
          <p:nvPr/>
        </p:nvSpPr>
        <p:spPr>
          <a:xfrm>
            <a:off x="8698687" y="6419088"/>
            <a:ext cx="2926080" cy="274320"/>
          </a:xfrm>
          <a:prstGeom prst="rect">
            <a:avLst/>
          </a:prstGeom>
          <a:noFill/>
        </p:spPr>
        <p:txBody>
          <a:bodyPr wrap="square" lIns="45720" rIns="45720" tIns="27432" bIns="27432" anchor="t">
            <a:noAutofit/>
          </a:bodyPr>
          <a:lstStyle/>
          <a:p>
            <a:pPr algn="r">
              <a:lnSpc>
                <a:spcPct val="100000"/>
              </a:lnSpc>
            </a:pPr>
            <a:r>
              <a:rPr sz="850" b="0" i="0" spc="100">
                <a:solidFill>
                  <a:srgbClr val="A7B2B0"/>
                </a:solidFill>
                <a:latin typeface="Segoe UI Semibold"/>
              </a:rPr>
              <a:t>v1.91.1   ·   156</a:t>
            </a:r>
          </a:p>
        </p:txBody>
      </p:sp>
    </p:spTree>
  </p:cSld>
  <p:clrMapOvr>
    <a:masterClrMapping/>
  </p:clrMapOvr>
</p:sld>
</file>

<file path=ppt/slides/slide1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content.png"/>
          <p:cNvPicPr>
            <a:picLocks noChangeAspect="1"/>
          </p:cNvPicPr>
          <p:nvPr/>
        </p:nvPicPr>
        <p:blipFill>
          <a:blip r:embed="rId2"/>
          <a:stretch>
            <a:fillRect/>
          </a:stretch>
        </p:blipFill>
        <p:spPr>
          <a:xfrm>
            <a:off x="0" y="0"/>
            <a:ext cx="12191695" cy="6858000"/>
          </a:xfrm>
          <a:prstGeom prst="rect">
            <a:avLst/>
          </a:prstGeom>
        </p:spPr>
      </p:pic>
      <p:sp>
        <p:nvSpPr>
          <p:cNvPr id="3" name="Diamond 2"/>
          <p:cNvSpPr/>
          <p:nvPr/>
        </p:nvSpPr>
        <p:spPr>
          <a:xfrm>
            <a:off x="566928" y="457200"/>
            <a:ext cx="100584" cy="100584"/>
          </a:xfrm>
          <a:prstGeom prst="diamond">
            <a:avLst/>
          </a:prstGeom>
          <a:solidFill>
            <a:srgbClr val="E2B4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49808" y="365760"/>
            <a:ext cx="8229600" cy="292608"/>
          </a:xfrm>
          <a:prstGeom prst="rect">
            <a:avLst/>
          </a:prstGeom>
          <a:noFill/>
        </p:spPr>
        <p:txBody>
          <a:bodyPr wrap="square" lIns="45720" rIns="45720" tIns="27432" bIns="27432" anchor="t">
            <a:noAutofit/>
          </a:bodyPr>
          <a:lstStyle/>
          <a:p>
            <a:pPr algn="l">
              <a:lnSpc>
                <a:spcPct val="100000"/>
              </a:lnSpc>
            </a:pPr>
            <a:r>
              <a:rPr sz="1100" b="0" i="0" spc="240">
                <a:solidFill>
                  <a:srgbClr val="C98457"/>
                </a:solidFill>
                <a:latin typeface="Segoe UI Semibold"/>
              </a:rPr>
              <a:t>HEREDADO DE v1.72.1</a:t>
            </a:r>
          </a:p>
        </p:txBody>
      </p:sp>
      <p:sp>
        <p:nvSpPr>
          <p:cNvPr id="5" name="TextBox 4"/>
          <p:cNvSpPr txBox="1"/>
          <p:nvPr/>
        </p:nvSpPr>
        <p:spPr>
          <a:xfrm>
            <a:off x="539496" y="676656"/>
            <a:ext cx="11057839" cy="658368"/>
          </a:xfrm>
          <a:prstGeom prst="rect">
            <a:avLst/>
          </a:prstGeom>
          <a:noFill/>
        </p:spPr>
        <p:txBody>
          <a:bodyPr wrap="square" lIns="45720" rIns="45720" tIns="27432" bIns="27432" anchor="t">
            <a:noAutofit/>
          </a:bodyPr>
          <a:lstStyle/>
          <a:p>
            <a:pPr algn="l">
              <a:lnSpc>
                <a:spcPct val="100000"/>
              </a:lnSpc>
            </a:pPr>
            <a:r>
              <a:rPr sz="3100" b="0" i="0">
                <a:solidFill>
                  <a:srgbClr val="F7F2E8"/>
                </a:solidFill>
                <a:latin typeface="Palatino Linotype"/>
              </a:rPr>
              <a:t>Un medidor de contexto veraz</a:t>
            </a:r>
          </a:p>
        </p:txBody>
      </p:sp>
      <p:sp>
        <p:nvSpPr>
          <p:cNvPr id="6" name="Rectangle 5"/>
          <p:cNvSpPr/>
          <p:nvPr/>
        </p:nvSpPr>
        <p:spPr>
          <a:xfrm>
            <a:off x="566928" y="1344168"/>
            <a:ext cx="822960" cy="36576"/>
          </a:xfrm>
          <a:prstGeom prst="rect">
            <a:avLst/>
          </a:prstGeom>
          <a:solidFill>
            <a:srgbClr val="E2B4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566928" y="1444752"/>
            <a:ext cx="10692079" cy="585216"/>
          </a:xfrm>
          <a:prstGeom prst="rect">
            <a:avLst/>
          </a:prstGeom>
          <a:noFill/>
        </p:spPr>
        <p:txBody>
          <a:bodyPr wrap="square" lIns="45720" rIns="45720" tIns="27432" bIns="27432" anchor="t">
            <a:noAutofit/>
          </a:bodyPr>
          <a:lstStyle/>
          <a:p>
            <a:pPr algn="l">
              <a:lnSpc>
                <a:spcPct val="100000"/>
              </a:lnSpc>
            </a:pPr>
            <a:r>
              <a:rPr sz="1450" b="0" i="0">
                <a:solidFill>
                  <a:srgbClr val="A7B2B0"/>
                </a:solidFill>
                <a:latin typeface="Segoe UI Semilight"/>
              </a:rPr>
              <a:t>Con tag y publicado el 28 de septiembre: el anillo junto a la caja de mensaje muestra el propio conteo de Ollama.</a:t>
            </a:r>
          </a:p>
        </p:txBody>
      </p:sp>
      <p:sp>
        <p:nvSpPr>
          <p:cNvPr id="8" name="Rounded Rectangle 7"/>
          <p:cNvSpPr/>
          <p:nvPr/>
        </p:nvSpPr>
        <p:spPr>
          <a:xfrm>
            <a:off x="566928" y="2084831"/>
            <a:ext cx="3551834" cy="1956816"/>
          </a:xfrm>
          <a:prstGeom prst="roundRect">
            <a:avLst>
              <a:gd name="adj" fmla="val 5607"/>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ectangle 8"/>
          <p:cNvSpPr/>
          <p:nvPr/>
        </p:nvSpPr>
        <p:spPr>
          <a:xfrm>
            <a:off x="731520" y="2212848"/>
            <a:ext cx="502920" cy="45720"/>
          </a:xfrm>
          <a:prstGeom prst="rect">
            <a:avLst/>
          </a:prstGeom>
          <a:solidFill>
            <a:srgbClr val="3BBE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694944" y="2304287"/>
            <a:ext cx="3295802" cy="353568"/>
          </a:xfrm>
          <a:prstGeom prst="rect">
            <a:avLst/>
          </a:prstGeom>
          <a:noFill/>
        </p:spPr>
        <p:txBody>
          <a:bodyPr wrap="square" lIns="45720" rIns="45720" tIns="27432" bIns="27432" anchor="t">
            <a:noAutofit/>
          </a:bodyPr>
          <a:lstStyle/>
          <a:p>
            <a:pPr algn="l">
              <a:lnSpc>
                <a:spcPct val="100000"/>
              </a:lnSpc>
            </a:pPr>
            <a:r>
              <a:rPr sz="1600" b="0" i="0">
                <a:solidFill>
                  <a:srgbClr val="F7F2E8"/>
                </a:solidFill>
                <a:latin typeface="Segoe UI Semibold"/>
              </a:rPr>
              <a:t>Tokens reales</a:t>
            </a:r>
          </a:p>
        </p:txBody>
      </p:sp>
      <p:sp>
        <p:nvSpPr>
          <p:cNvPr id="11" name="TextBox 10"/>
          <p:cNvSpPr txBox="1"/>
          <p:nvPr/>
        </p:nvSpPr>
        <p:spPr>
          <a:xfrm>
            <a:off x="694944" y="2657855"/>
            <a:ext cx="3295802" cy="1292352"/>
          </a:xfrm>
          <a:prstGeom prst="rect">
            <a:avLst/>
          </a:prstGeom>
          <a:noFill/>
        </p:spPr>
        <p:txBody>
          <a:bodyPr wrap="square" lIns="45720" rIns="45720" tIns="27432" bIns="27432" anchor="t">
            <a:noAutofit/>
          </a:bodyPr>
          <a:lstStyle/>
          <a:p>
            <a:pPr algn="l">
              <a:lnSpc>
                <a:spcPct val="100000"/>
              </a:lnSpc>
            </a:pPr>
            <a:r>
              <a:rPr sz="1300" b="0" i="0">
                <a:solidFill>
                  <a:srgbClr val="A7B2B0"/>
                </a:solidFill>
                <a:latin typeface="Segoe UI"/>
              </a:rPr>
              <a:t>El prompt_eval_count de Ollama, emparejado con su propia solicitud.</a:t>
            </a:r>
          </a:p>
        </p:txBody>
      </p:sp>
      <p:sp>
        <p:nvSpPr>
          <p:cNvPr id="12" name="Rounded Rectangle 11"/>
          <p:cNvSpPr/>
          <p:nvPr/>
        </p:nvSpPr>
        <p:spPr>
          <a:xfrm>
            <a:off x="4319930" y="2084831"/>
            <a:ext cx="3551834" cy="1956816"/>
          </a:xfrm>
          <a:prstGeom prst="roundRect">
            <a:avLst>
              <a:gd name="adj" fmla="val 5607"/>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4484522" y="2212848"/>
            <a:ext cx="502920" cy="45720"/>
          </a:xfrm>
          <a:prstGeom prst="rect">
            <a:avLst/>
          </a:prstGeom>
          <a:solidFill>
            <a:srgbClr val="C984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4447946" y="2304287"/>
            <a:ext cx="3295802" cy="353568"/>
          </a:xfrm>
          <a:prstGeom prst="rect">
            <a:avLst/>
          </a:prstGeom>
          <a:noFill/>
        </p:spPr>
        <p:txBody>
          <a:bodyPr wrap="square" lIns="45720" rIns="45720" tIns="27432" bIns="27432" anchor="t">
            <a:noAutofit/>
          </a:bodyPr>
          <a:lstStyle/>
          <a:p>
            <a:pPr algn="l">
              <a:lnSpc>
                <a:spcPct val="100000"/>
              </a:lnSpc>
            </a:pPr>
            <a:r>
              <a:rPr sz="1600" b="0" i="0">
                <a:solidFill>
                  <a:srgbClr val="F7F2E8"/>
                </a:solidFill>
                <a:latin typeface="Segoe UI Semibold"/>
              </a:rPr>
              <a:t>Exacto en ambos modos</a:t>
            </a:r>
          </a:p>
        </p:txBody>
      </p:sp>
      <p:sp>
        <p:nvSpPr>
          <p:cNvPr id="15" name="TextBox 14"/>
          <p:cNvSpPr txBox="1"/>
          <p:nvPr/>
        </p:nvSpPr>
        <p:spPr>
          <a:xfrm>
            <a:off x="4447946" y="2657855"/>
            <a:ext cx="3295802" cy="1292352"/>
          </a:xfrm>
          <a:prstGeom prst="rect">
            <a:avLst/>
          </a:prstGeom>
          <a:noFill/>
        </p:spPr>
        <p:txBody>
          <a:bodyPr wrap="square" lIns="45720" rIns="45720" tIns="27432" bIns="27432" anchor="t">
            <a:noAutofit/>
          </a:bodyPr>
          <a:lstStyle/>
          <a:p>
            <a:pPr algn="l">
              <a:lnSpc>
                <a:spcPct val="100000"/>
              </a:lnSpc>
            </a:pPr>
            <a:r>
              <a:rPr sz="1300" b="0" i="0">
                <a:solidFill>
                  <a:srgbClr val="A7B2B0"/>
                </a:solidFill>
                <a:latin typeface="Segoe UI"/>
              </a:rPr>
              <a:t>En vivo = predicción en reposo + la pregunta + el plan de Multi-Turn.</a:t>
            </a:r>
          </a:p>
        </p:txBody>
      </p:sp>
      <p:sp>
        <p:nvSpPr>
          <p:cNvPr id="16" name="Rounded Rectangle 15"/>
          <p:cNvSpPr/>
          <p:nvPr/>
        </p:nvSpPr>
        <p:spPr>
          <a:xfrm>
            <a:off x="8072932" y="2084831"/>
            <a:ext cx="3551834" cy="1956816"/>
          </a:xfrm>
          <a:prstGeom prst="roundRect">
            <a:avLst>
              <a:gd name="adj" fmla="val 5607"/>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8237524" y="2212848"/>
            <a:ext cx="502920" cy="45720"/>
          </a:xfrm>
          <a:prstGeom prst="rect">
            <a:avLst/>
          </a:prstGeom>
          <a:solidFill>
            <a:srgbClr val="E2B4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200948" y="2304287"/>
            <a:ext cx="3295802" cy="353568"/>
          </a:xfrm>
          <a:prstGeom prst="rect">
            <a:avLst/>
          </a:prstGeom>
          <a:noFill/>
        </p:spPr>
        <p:txBody>
          <a:bodyPr wrap="square" lIns="45720" rIns="45720" tIns="27432" bIns="27432" anchor="t">
            <a:noAutofit/>
          </a:bodyPr>
          <a:lstStyle/>
          <a:p>
            <a:pPr algn="l">
              <a:lnSpc>
                <a:spcPct val="100000"/>
              </a:lnSpc>
            </a:pPr>
            <a:r>
              <a:rPr sz="1600" b="0" i="0">
                <a:solidFill>
                  <a:srgbClr val="F7F2E8"/>
                </a:solidFill>
                <a:latin typeface="Segoe UI Semibold"/>
              </a:rPr>
              <a:t>Sólo la cadena principal</a:t>
            </a:r>
          </a:p>
        </p:txBody>
      </p:sp>
      <p:sp>
        <p:nvSpPr>
          <p:cNvPr id="19" name="TextBox 18"/>
          <p:cNvSpPr txBox="1"/>
          <p:nvPr/>
        </p:nvSpPr>
        <p:spPr>
          <a:xfrm>
            <a:off x="8200948" y="2657855"/>
            <a:ext cx="3295802" cy="1292352"/>
          </a:xfrm>
          <a:prstGeom prst="rect">
            <a:avLst/>
          </a:prstGeom>
          <a:noFill/>
        </p:spPr>
        <p:txBody>
          <a:bodyPr wrap="square" lIns="45720" rIns="45720" tIns="27432" bIns="27432" anchor="t">
            <a:noAutofit/>
          </a:bodyPr>
          <a:lstStyle/>
          <a:p>
            <a:pPr algn="l">
              <a:lnSpc>
                <a:spcPct val="100000"/>
              </a:lnSpc>
            </a:pPr>
            <a:r>
              <a:rPr sz="1300" b="0" i="0">
                <a:solidFill>
                  <a:srgbClr val="A7B2B0"/>
                </a:solidFill>
                <a:latin typeface="Segoe UI"/>
              </a:rPr>
              <a:t>Las llamadas fuera de banda nunca llegan al anillo; cada usuario ve las suyas.</a:t>
            </a:r>
          </a:p>
        </p:txBody>
      </p:sp>
      <p:sp>
        <p:nvSpPr>
          <p:cNvPr id="20" name="Rounded Rectangle 19"/>
          <p:cNvSpPr/>
          <p:nvPr/>
        </p:nvSpPr>
        <p:spPr>
          <a:xfrm>
            <a:off x="566928" y="4242816"/>
            <a:ext cx="3551834" cy="1956816"/>
          </a:xfrm>
          <a:prstGeom prst="roundRect">
            <a:avLst>
              <a:gd name="adj" fmla="val 5607"/>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ectangle 20"/>
          <p:cNvSpPr/>
          <p:nvPr/>
        </p:nvSpPr>
        <p:spPr>
          <a:xfrm>
            <a:off x="731520" y="4370832"/>
            <a:ext cx="502920" cy="45720"/>
          </a:xfrm>
          <a:prstGeom prst="rect">
            <a:avLst/>
          </a:prstGeom>
          <a:solidFill>
            <a:srgbClr val="46D2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694944" y="4462272"/>
            <a:ext cx="3295802" cy="353568"/>
          </a:xfrm>
          <a:prstGeom prst="rect">
            <a:avLst/>
          </a:prstGeom>
          <a:noFill/>
        </p:spPr>
        <p:txBody>
          <a:bodyPr wrap="square" lIns="45720" rIns="45720" tIns="27432" bIns="27432" anchor="t">
            <a:noAutofit/>
          </a:bodyPr>
          <a:lstStyle/>
          <a:p>
            <a:pPr algn="l">
              <a:lnSpc>
                <a:spcPct val="100000"/>
              </a:lnSpc>
            </a:pPr>
            <a:r>
              <a:rPr sz="1600" b="0" i="0">
                <a:solidFill>
                  <a:srgbClr val="F7F2E8"/>
                </a:solidFill>
                <a:latin typeface="Segoe UI Semibold"/>
              </a:rPr>
              <a:t>Menos desperdicio</a:t>
            </a:r>
          </a:p>
        </p:txBody>
      </p:sp>
      <p:sp>
        <p:nvSpPr>
          <p:cNvPr id="23" name="TextBox 22"/>
          <p:cNvSpPr txBox="1"/>
          <p:nvPr/>
        </p:nvSpPr>
        <p:spPr>
          <a:xfrm>
            <a:off x="694944" y="4815840"/>
            <a:ext cx="3295802" cy="1292352"/>
          </a:xfrm>
          <a:prstGeom prst="rect">
            <a:avLst/>
          </a:prstGeom>
          <a:noFill/>
        </p:spPr>
        <p:txBody>
          <a:bodyPr wrap="square" lIns="45720" rIns="45720" tIns="27432" bIns="27432" anchor="t">
            <a:noAutofit/>
          </a:bodyPr>
          <a:lstStyle/>
          <a:p>
            <a:pPr algn="l">
              <a:lnSpc>
                <a:spcPct val="100000"/>
              </a:lnSpc>
            </a:pPr>
            <a:r>
              <a:rPr sz="1300" b="0" i="0">
                <a:solidFill>
                  <a:srgbClr val="A7B2B0"/>
                </a:solidFill>
                <a:latin typeface="Segoe UI"/>
              </a:rPr>
              <a:t>La pregunta se envía una vez; la línea de relleno de una sola ejecución desapareció.</a:t>
            </a:r>
          </a:p>
        </p:txBody>
      </p:sp>
      <p:sp>
        <p:nvSpPr>
          <p:cNvPr id="24" name="Rounded Rectangle 23"/>
          <p:cNvSpPr/>
          <p:nvPr/>
        </p:nvSpPr>
        <p:spPr>
          <a:xfrm>
            <a:off x="4319930" y="4242816"/>
            <a:ext cx="3551834" cy="1956816"/>
          </a:xfrm>
          <a:prstGeom prst="roundRect">
            <a:avLst>
              <a:gd name="adj" fmla="val 5607"/>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ectangle 24"/>
          <p:cNvSpPr/>
          <p:nvPr/>
        </p:nvSpPr>
        <p:spPr>
          <a:xfrm>
            <a:off x="4484522" y="4370832"/>
            <a:ext cx="502920" cy="45720"/>
          </a:xfrm>
          <a:prstGeom prst="rect">
            <a:avLst/>
          </a:prstGeom>
          <a:solidFill>
            <a:srgbClr val="D25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4447946" y="4462272"/>
            <a:ext cx="3295802" cy="353568"/>
          </a:xfrm>
          <a:prstGeom prst="rect">
            <a:avLst/>
          </a:prstGeom>
          <a:noFill/>
        </p:spPr>
        <p:txBody>
          <a:bodyPr wrap="square" lIns="45720" rIns="45720" tIns="27432" bIns="27432" anchor="t">
            <a:noAutofit/>
          </a:bodyPr>
          <a:lstStyle/>
          <a:p>
            <a:pPr algn="l">
              <a:lnSpc>
                <a:spcPct val="100000"/>
              </a:lnSpc>
            </a:pPr>
            <a:r>
              <a:rPr sz="1600" b="0" i="0">
                <a:solidFill>
                  <a:srgbClr val="F7F2E8"/>
                </a:solidFill>
                <a:latin typeface="Segoe UI Semibold"/>
              </a:rPr>
              <a:t>Prueba</a:t>
            </a:r>
          </a:p>
        </p:txBody>
      </p:sp>
      <p:sp>
        <p:nvSpPr>
          <p:cNvPr id="27" name="TextBox 26"/>
          <p:cNvSpPr txBox="1"/>
          <p:nvPr/>
        </p:nvSpPr>
        <p:spPr>
          <a:xfrm>
            <a:off x="4447946" y="4815840"/>
            <a:ext cx="3295802" cy="1292352"/>
          </a:xfrm>
          <a:prstGeom prst="rect">
            <a:avLst/>
          </a:prstGeom>
          <a:noFill/>
        </p:spPr>
        <p:txBody>
          <a:bodyPr wrap="square" lIns="45720" rIns="45720" tIns="27432" bIns="27432" anchor="t">
            <a:noAutofit/>
          </a:bodyPr>
          <a:lstStyle/>
          <a:p>
            <a:pPr algn="l">
              <a:lnSpc>
                <a:spcPct val="100000"/>
              </a:lnSpc>
            </a:pPr>
            <a:r>
              <a:rPr sz="1300" b="0" i="0">
                <a:solidFill>
                  <a:srgbClr val="A7B2B0"/>
                </a:solidFill>
                <a:latin typeface="Segoe UI"/>
              </a:rPr>
              <a:t>Un laboratorio visible pasó 60 de 60 revisiones contra tlamatini.log.</a:t>
            </a:r>
          </a:p>
        </p:txBody>
      </p:sp>
      <p:cxnSp>
        <p:nvCxnSpPr>
          <p:cNvPr id="28" name="Connector 27"/>
          <p:cNvCxnSpPr/>
          <p:nvPr/>
        </p:nvCxnSpPr>
        <p:spPr>
          <a:xfrm>
            <a:off x="566928" y="6373368"/>
            <a:ext cx="11057839" cy="0"/>
          </a:xfrm>
          <a:prstGeom prst="line">
            <a:avLst/>
          </a:prstGeom>
          <a:ln w="7620">
            <a:solidFill>
              <a:srgbClr val="2A3A40"/>
            </a:solidFill>
          </a:ln>
        </p:spPr>
        <p:style>
          <a:lnRef idx="2">
            <a:schemeClr val="accent1"/>
          </a:lnRef>
          <a:fillRef idx="0">
            <a:schemeClr val="accent1"/>
          </a:fillRef>
          <a:effectRef idx="1">
            <a:schemeClr val="accent1"/>
          </a:effectRef>
          <a:fontRef idx="minor">
            <a:schemeClr val="tx1"/>
          </a:fontRef>
        </p:style>
      </p:cxnSp>
      <p:sp>
        <p:nvSpPr>
          <p:cNvPr id="29" name="TextBox 28"/>
          <p:cNvSpPr txBox="1"/>
          <p:nvPr/>
        </p:nvSpPr>
        <p:spPr>
          <a:xfrm>
            <a:off x="566928" y="6419088"/>
            <a:ext cx="6858000" cy="274320"/>
          </a:xfrm>
          <a:prstGeom prst="rect">
            <a:avLst/>
          </a:prstGeom>
          <a:noFill/>
        </p:spPr>
        <p:txBody>
          <a:bodyPr wrap="square" lIns="45720" rIns="45720" tIns="27432" bIns="27432" anchor="t">
            <a:noAutofit/>
          </a:bodyPr>
          <a:lstStyle/>
          <a:p>
            <a:pPr algn="l">
              <a:lnSpc>
                <a:spcPct val="100000"/>
              </a:lnSpc>
            </a:pPr>
            <a:r>
              <a:rPr sz="850" b="0" i="0" spc="120">
                <a:solidFill>
                  <a:srgbClr val="A7B2B0"/>
                </a:solidFill>
                <a:latin typeface="Segoe UI Semibold"/>
              </a:rPr>
              <a:t>TLAMATINI  ·  VIII · RELEASE ACTUAL</a:t>
            </a:r>
          </a:p>
        </p:txBody>
      </p:sp>
      <p:sp>
        <p:nvSpPr>
          <p:cNvPr id="30" name="TextBox 29"/>
          <p:cNvSpPr txBox="1"/>
          <p:nvPr/>
        </p:nvSpPr>
        <p:spPr>
          <a:xfrm>
            <a:off x="8698687" y="6419088"/>
            <a:ext cx="2926080" cy="274320"/>
          </a:xfrm>
          <a:prstGeom prst="rect">
            <a:avLst/>
          </a:prstGeom>
          <a:noFill/>
        </p:spPr>
        <p:txBody>
          <a:bodyPr wrap="square" lIns="45720" rIns="45720" tIns="27432" bIns="27432" anchor="t">
            <a:noAutofit/>
          </a:bodyPr>
          <a:lstStyle/>
          <a:p>
            <a:pPr algn="r">
              <a:lnSpc>
                <a:spcPct val="100000"/>
              </a:lnSpc>
            </a:pPr>
            <a:r>
              <a:rPr sz="850" b="0" i="0" spc="100">
                <a:solidFill>
                  <a:srgbClr val="A7B2B0"/>
                </a:solidFill>
                <a:latin typeface="Segoe UI Semibold"/>
              </a:rPr>
              <a:t>v1.91.1   ·   157</a:t>
            </a:r>
          </a:p>
        </p:txBody>
      </p:sp>
    </p:spTree>
  </p:cSld>
  <p:clrMapOvr>
    <a:masterClrMapping/>
  </p:clrMapOvr>
</p:sld>
</file>

<file path=ppt/slides/slide1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content.png"/>
          <p:cNvPicPr>
            <a:picLocks noChangeAspect="1"/>
          </p:cNvPicPr>
          <p:nvPr/>
        </p:nvPicPr>
        <p:blipFill>
          <a:blip r:embed="rId2"/>
          <a:stretch>
            <a:fillRect/>
          </a:stretch>
        </p:blipFill>
        <p:spPr>
          <a:xfrm>
            <a:off x="0" y="0"/>
            <a:ext cx="12191695" cy="6858000"/>
          </a:xfrm>
          <a:prstGeom prst="rect">
            <a:avLst/>
          </a:prstGeom>
        </p:spPr>
      </p:pic>
      <p:sp>
        <p:nvSpPr>
          <p:cNvPr id="3" name="Diamond 2"/>
          <p:cNvSpPr/>
          <p:nvPr/>
        </p:nvSpPr>
        <p:spPr>
          <a:xfrm>
            <a:off x="566928" y="457200"/>
            <a:ext cx="100584" cy="100584"/>
          </a:xfrm>
          <a:prstGeom prst="diamond">
            <a:avLst/>
          </a:prstGeom>
          <a:solidFill>
            <a:srgbClr val="E2B4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49808" y="365760"/>
            <a:ext cx="8229600" cy="292608"/>
          </a:xfrm>
          <a:prstGeom prst="rect">
            <a:avLst/>
          </a:prstGeom>
          <a:noFill/>
        </p:spPr>
        <p:txBody>
          <a:bodyPr wrap="square" lIns="45720" rIns="45720" tIns="27432" bIns="27432" anchor="t">
            <a:noAutofit/>
          </a:bodyPr>
          <a:lstStyle/>
          <a:p>
            <a:pPr algn="l">
              <a:lnSpc>
                <a:spcPct val="100000"/>
              </a:lnSpc>
            </a:pPr>
            <a:r>
              <a:rPr sz="1100" b="0" i="0" spc="240">
                <a:solidFill>
                  <a:srgbClr val="C98457"/>
                </a:solidFill>
                <a:latin typeface="Segoe UI Semibold"/>
              </a:rPr>
              <a:t>HEREDADO DE v1.72.0</a:t>
            </a:r>
          </a:p>
        </p:txBody>
      </p:sp>
      <p:sp>
        <p:nvSpPr>
          <p:cNvPr id="5" name="TextBox 4"/>
          <p:cNvSpPr txBox="1"/>
          <p:nvPr/>
        </p:nvSpPr>
        <p:spPr>
          <a:xfrm>
            <a:off x="539496" y="676656"/>
            <a:ext cx="11057839" cy="658368"/>
          </a:xfrm>
          <a:prstGeom prst="rect">
            <a:avLst/>
          </a:prstGeom>
          <a:noFill/>
        </p:spPr>
        <p:txBody>
          <a:bodyPr wrap="square" lIns="45720" rIns="45720" tIns="27432" bIns="27432" anchor="t">
            <a:noAutofit/>
          </a:bodyPr>
          <a:lstStyle/>
          <a:p>
            <a:pPr algn="l">
              <a:lnSpc>
                <a:spcPct val="100000"/>
              </a:lnSpc>
            </a:pPr>
            <a:r>
              <a:rPr sz="3100" b="0" i="0">
                <a:solidFill>
                  <a:srgbClr val="F7F2E8"/>
                </a:solidFill>
                <a:latin typeface="Palatino Linotype"/>
              </a:rPr>
              <a:t>Dictado directo y dependencias</a:t>
            </a:r>
          </a:p>
        </p:txBody>
      </p:sp>
      <p:sp>
        <p:nvSpPr>
          <p:cNvPr id="6" name="Rectangle 5"/>
          <p:cNvSpPr/>
          <p:nvPr/>
        </p:nvSpPr>
        <p:spPr>
          <a:xfrm>
            <a:off x="566928" y="1344168"/>
            <a:ext cx="822960" cy="36576"/>
          </a:xfrm>
          <a:prstGeom prst="rect">
            <a:avLst/>
          </a:prstGeom>
          <a:solidFill>
            <a:srgbClr val="E2B4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566928" y="1444752"/>
            <a:ext cx="10692079" cy="585216"/>
          </a:xfrm>
          <a:prstGeom prst="rect">
            <a:avLst/>
          </a:prstGeom>
          <a:noFill/>
        </p:spPr>
        <p:txBody>
          <a:bodyPr wrap="square" lIns="45720" rIns="45720" tIns="27432" bIns="27432" anchor="t">
            <a:noAutofit/>
          </a:bodyPr>
          <a:lstStyle/>
          <a:p>
            <a:pPr algn="l">
              <a:lnSpc>
                <a:spcPct val="100000"/>
              </a:lnSpc>
            </a:pPr>
            <a:r>
              <a:rPr sz="1450" b="0" i="0">
                <a:solidFill>
                  <a:srgbClr val="A7B2B0"/>
                </a:solidFill>
                <a:latin typeface="Segoe UI Semilight"/>
              </a:rPr>
              <a:t>Estos cambios del 27 de septiembre llevaron el tag v1.72.0 y se publicaron el 28 de septiembre.</a:t>
            </a:r>
          </a:p>
        </p:txBody>
      </p:sp>
      <p:sp>
        <p:nvSpPr>
          <p:cNvPr id="8" name="Rounded Rectangle 7"/>
          <p:cNvSpPr/>
          <p:nvPr/>
        </p:nvSpPr>
        <p:spPr>
          <a:xfrm>
            <a:off x="566928" y="2084831"/>
            <a:ext cx="5428335" cy="1956816"/>
          </a:xfrm>
          <a:prstGeom prst="roundRect">
            <a:avLst>
              <a:gd name="adj" fmla="val 5607"/>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ectangle 8"/>
          <p:cNvSpPr/>
          <p:nvPr/>
        </p:nvSpPr>
        <p:spPr>
          <a:xfrm>
            <a:off x="731520" y="2212848"/>
            <a:ext cx="502920" cy="45720"/>
          </a:xfrm>
          <a:prstGeom prst="rect">
            <a:avLst/>
          </a:prstGeom>
          <a:solidFill>
            <a:srgbClr val="3BBE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694944" y="2304287"/>
            <a:ext cx="5172303" cy="353568"/>
          </a:xfrm>
          <a:prstGeom prst="rect">
            <a:avLst/>
          </a:prstGeom>
          <a:noFill/>
        </p:spPr>
        <p:txBody>
          <a:bodyPr wrap="square" lIns="45720" rIns="45720" tIns="27432" bIns="27432" anchor="t">
            <a:noAutofit/>
          </a:bodyPr>
          <a:lstStyle/>
          <a:p>
            <a:pPr algn="l">
              <a:lnSpc>
                <a:spcPct val="100000"/>
              </a:lnSpc>
            </a:pPr>
            <a:r>
              <a:rPr sz="1600" b="0" i="0">
                <a:solidFill>
                  <a:srgbClr val="F7F2E8"/>
                </a:solidFill>
                <a:latin typeface="Segoe UI Semibold"/>
              </a:rPr>
              <a:t>Guía del usuario</a:t>
            </a:r>
          </a:p>
        </p:txBody>
      </p:sp>
      <p:sp>
        <p:nvSpPr>
          <p:cNvPr id="11" name="TextBox 10"/>
          <p:cNvSpPr txBox="1"/>
          <p:nvPr/>
        </p:nvSpPr>
        <p:spPr>
          <a:xfrm>
            <a:off x="694944" y="2657855"/>
            <a:ext cx="5172303" cy="1292352"/>
          </a:xfrm>
          <a:prstGeom prst="rect">
            <a:avLst/>
          </a:prstGeom>
          <a:noFill/>
        </p:spPr>
        <p:txBody>
          <a:bodyPr wrap="square" lIns="45720" rIns="45720" tIns="27432" bIns="27432" anchor="t">
            <a:noAutofit/>
          </a:bodyPr>
          <a:lstStyle/>
          <a:p>
            <a:pPr algn="l">
              <a:lnSpc>
                <a:spcPct val="100000"/>
              </a:lnSpc>
            </a:pPr>
            <a:r>
              <a:rPr sz="1300" b="0" i="0">
                <a:solidFill>
                  <a:srgbClr val="A7B2B0"/>
                </a:solidFill>
                <a:latin typeface="Segoe UI"/>
              </a:rPr>
              <a:t>README.md y BookOfTlamatini.md explican la configuración de Micrófono, la grabación, la cancelación y ambos modos.</a:t>
            </a:r>
          </a:p>
        </p:txBody>
      </p:sp>
      <p:sp>
        <p:nvSpPr>
          <p:cNvPr id="12" name="Rounded Rectangle 11"/>
          <p:cNvSpPr/>
          <p:nvPr/>
        </p:nvSpPr>
        <p:spPr>
          <a:xfrm>
            <a:off x="6196431" y="2084831"/>
            <a:ext cx="5428335" cy="1956816"/>
          </a:xfrm>
          <a:prstGeom prst="roundRect">
            <a:avLst>
              <a:gd name="adj" fmla="val 5607"/>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6361023" y="2212848"/>
            <a:ext cx="502920" cy="45720"/>
          </a:xfrm>
          <a:prstGeom prst="rect">
            <a:avLst/>
          </a:prstGeom>
          <a:solidFill>
            <a:srgbClr val="C984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324447" y="2304287"/>
            <a:ext cx="5172303" cy="353568"/>
          </a:xfrm>
          <a:prstGeom prst="rect">
            <a:avLst/>
          </a:prstGeom>
          <a:noFill/>
        </p:spPr>
        <p:txBody>
          <a:bodyPr wrap="square" lIns="45720" rIns="45720" tIns="27432" bIns="27432" anchor="t">
            <a:noAutofit/>
          </a:bodyPr>
          <a:lstStyle/>
          <a:p>
            <a:pPr algn="l">
              <a:lnSpc>
                <a:spcPct val="100000"/>
              </a:lnSpc>
            </a:pPr>
            <a:r>
              <a:rPr sz="1600" b="0" i="0">
                <a:solidFill>
                  <a:srgbClr val="F7F2E8"/>
                </a:solidFill>
                <a:latin typeface="Segoe UI Semibold"/>
              </a:rPr>
              <a:t>Contrato del runtime</a:t>
            </a:r>
          </a:p>
        </p:txBody>
      </p:sp>
      <p:sp>
        <p:nvSpPr>
          <p:cNvPr id="15" name="TextBox 14"/>
          <p:cNvSpPr txBox="1"/>
          <p:nvPr/>
        </p:nvSpPr>
        <p:spPr>
          <a:xfrm>
            <a:off x="6324447" y="2657855"/>
            <a:ext cx="5172303" cy="1292352"/>
          </a:xfrm>
          <a:prstGeom prst="rect">
            <a:avLst/>
          </a:prstGeom>
          <a:noFill/>
        </p:spPr>
        <p:txBody>
          <a:bodyPr wrap="square" lIns="45720" rIns="45720" tIns="27432" bIns="27432" anchor="t">
            <a:noAutofit/>
          </a:bodyPr>
          <a:lstStyle/>
          <a:p>
            <a:pPr algn="l">
              <a:lnSpc>
                <a:spcPct val="100000"/>
              </a:lnSpc>
            </a:pPr>
            <a:r>
              <a:rPr sz="1300" b="0" i="0">
                <a:solidFill>
                  <a:srgbClr val="A7B2B0"/>
                </a:solidFill>
                <a:latin typeface="Segoe UI"/>
              </a:rPr>
              <a:t>docs/chat-microphone-design.md registra la propiedad, el protocolo, la configuración y los límites.</a:t>
            </a:r>
          </a:p>
        </p:txBody>
      </p:sp>
      <p:sp>
        <p:nvSpPr>
          <p:cNvPr id="16" name="Rounded Rectangle 15"/>
          <p:cNvSpPr/>
          <p:nvPr/>
        </p:nvSpPr>
        <p:spPr>
          <a:xfrm>
            <a:off x="566928" y="4242816"/>
            <a:ext cx="5428335" cy="1956816"/>
          </a:xfrm>
          <a:prstGeom prst="roundRect">
            <a:avLst>
              <a:gd name="adj" fmla="val 5607"/>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31520" y="4370832"/>
            <a:ext cx="502920" cy="45720"/>
          </a:xfrm>
          <a:prstGeom prst="rect">
            <a:avLst/>
          </a:prstGeom>
          <a:solidFill>
            <a:srgbClr val="E2B4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694944" y="4462272"/>
            <a:ext cx="5172303" cy="353568"/>
          </a:xfrm>
          <a:prstGeom prst="rect">
            <a:avLst/>
          </a:prstGeom>
          <a:noFill/>
        </p:spPr>
        <p:txBody>
          <a:bodyPr wrap="square" lIns="45720" rIns="45720" tIns="27432" bIns="27432" anchor="t">
            <a:noAutofit/>
          </a:bodyPr>
          <a:lstStyle/>
          <a:p>
            <a:pPr algn="l">
              <a:lnSpc>
                <a:spcPct val="100000"/>
              </a:lnSpc>
            </a:pPr>
            <a:r>
              <a:rPr sz="1600" b="0" i="0">
                <a:solidFill>
                  <a:srgbClr val="F7F2E8"/>
                </a:solidFill>
                <a:latin typeface="Segoe UI Semibold"/>
              </a:rPr>
              <a:t>Dependencias</a:t>
            </a:r>
          </a:p>
        </p:txBody>
      </p:sp>
      <p:sp>
        <p:nvSpPr>
          <p:cNvPr id="19" name="TextBox 18"/>
          <p:cNvSpPr txBox="1"/>
          <p:nvPr/>
        </p:nvSpPr>
        <p:spPr>
          <a:xfrm>
            <a:off x="694944" y="4815840"/>
            <a:ext cx="5172303" cy="1292352"/>
          </a:xfrm>
          <a:prstGeom prst="rect">
            <a:avLst/>
          </a:prstGeom>
          <a:noFill/>
        </p:spPr>
        <p:txBody>
          <a:bodyPr wrap="square" lIns="45720" rIns="45720" tIns="27432" bIns="27432" anchor="t">
            <a:noAutofit/>
          </a:bodyPr>
          <a:lstStyle/>
          <a:p>
            <a:pPr algn="l">
              <a:lnSpc>
                <a:spcPct val="100000"/>
              </a:lnSpc>
            </a:pPr>
            <a:r>
              <a:rPr sz="1300" b="0" i="0">
                <a:solidFill>
                  <a:srgbClr val="A7B2B0"/>
                </a:solidFill>
                <a:latin typeface="Segoe UI"/>
              </a:rPr>
              <a:t>docs/dependency-coverage-audit.md registra las declaraciones, el aislamiento y la verificación.</a:t>
            </a:r>
          </a:p>
        </p:txBody>
      </p:sp>
      <p:sp>
        <p:nvSpPr>
          <p:cNvPr id="20" name="Rounded Rectangle 19"/>
          <p:cNvSpPr/>
          <p:nvPr/>
        </p:nvSpPr>
        <p:spPr>
          <a:xfrm>
            <a:off x="6196431" y="4242816"/>
            <a:ext cx="5428335" cy="1956816"/>
          </a:xfrm>
          <a:prstGeom prst="roundRect">
            <a:avLst>
              <a:gd name="adj" fmla="val 5607"/>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ectangle 20"/>
          <p:cNvSpPr/>
          <p:nvPr/>
        </p:nvSpPr>
        <p:spPr>
          <a:xfrm>
            <a:off x="6361023" y="4370832"/>
            <a:ext cx="502920" cy="45720"/>
          </a:xfrm>
          <a:prstGeom prst="rect">
            <a:avLst/>
          </a:prstGeom>
          <a:solidFill>
            <a:srgbClr val="46D2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6324447" y="4462272"/>
            <a:ext cx="5172303" cy="353568"/>
          </a:xfrm>
          <a:prstGeom prst="rect">
            <a:avLst/>
          </a:prstGeom>
          <a:noFill/>
        </p:spPr>
        <p:txBody>
          <a:bodyPr wrap="square" lIns="45720" rIns="45720" tIns="27432" bIns="27432" anchor="t">
            <a:noAutofit/>
          </a:bodyPr>
          <a:lstStyle/>
          <a:p>
            <a:pPr algn="l">
              <a:lnSpc>
                <a:spcPct val="100000"/>
              </a:lnSpc>
            </a:pPr>
            <a:r>
              <a:rPr sz="1600" b="0" i="0">
                <a:solidFill>
                  <a:srgbClr val="F7F2E8"/>
                </a:solidFill>
                <a:latin typeface="Segoe UI Semibold"/>
              </a:rPr>
              <a:t>Entrega</a:t>
            </a:r>
          </a:p>
        </p:txBody>
      </p:sp>
      <p:sp>
        <p:nvSpPr>
          <p:cNvPr id="23" name="TextBox 22"/>
          <p:cNvSpPr txBox="1"/>
          <p:nvPr/>
        </p:nvSpPr>
        <p:spPr>
          <a:xfrm>
            <a:off x="6324447" y="4815840"/>
            <a:ext cx="5172303" cy="1292352"/>
          </a:xfrm>
          <a:prstGeom prst="rect">
            <a:avLst/>
          </a:prstGeom>
          <a:noFill/>
        </p:spPr>
        <p:txBody>
          <a:bodyPr wrap="square" lIns="45720" rIns="45720" tIns="27432" bIns="27432" anchor="t">
            <a:noAutofit/>
          </a:bodyPr>
          <a:lstStyle/>
          <a:p>
            <a:pPr algn="l">
              <a:lnSpc>
                <a:spcPct val="100000"/>
              </a:lnSpc>
            </a:pPr>
            <a:r>
              <a:rPr sz="1300" b="0" i="0">
                <a:solidFill>
                  <a:srgbClr val="A7B2B0"/>
                </a:solidFill>
                <a:latin typeface="Segoe UI"/>
              </a:rPr>
              <a:t>Publicado como v1.72.0 y llevado por v1.72.1, con la reparación del transportador de assets raíz.</a:t>
            </a:r>
          </a:p>
        </p:txBody>
      </p:sp>
      <p:cxnSp>
        <p:nvCxnSpPr>
          <p:cNvPr id="24" name="Connector 23"/>
          <p:cNvCxnSpPr/>
          <p:nvPr/>
        </p:nvCxnSpPr>
        <p:spPr>
          <a:xfrm>
            <a:off x="566928" y="6373368"/>
            <a:ext cx="11057839" cy="0"/>
          </a:xfrm>
          <a:prstGeom prst="line">
            <a:avLst/>
          </a:prstGeom>
          <a:ln w="7620">
            <a:solidFill>
              <a:srgbClr val="2A3A40"/>
            </a:solidFill>
          </a:ln>
        </p:spPr>
        <p:style>
          <a:lnRef idx="2">
            <a:schemeClr val="accent1"/>
          </a:lnRef>
          <a:fillRef idx="0">
            <a:schemeClr val="accent1"/>
          </a:fillRef>
          <a:effectRef idx="1">
            <a:schemeClr val="accent1"/>
          </a:effectRef>
          <a:fontRef idx="minor">
            <a:schemeClr val="tx1"/>
          </a:fontRef>
        </p:style>
      </p:cxnSp>
      <p:sp>
        <p:nvSpPr>
          <p:cNvPr id="25" name="TextBox 24"/>
          <p:cNvSpPr txBox="1"/>
          <p:nvPr/>
        </p:nvSpPr>
        <p:spPr>
          <a:xfrm>
            <a:off x="566928" y="6419088"/>
            <a:ext cx="6858000" cy="274320"/>
          </a:xfrm>
          <a:prstGeom prst="rect">
            <a:avLst/>
          </a:prstGeom>
          <a:noFill/>
        </p:spPr>
        <p:txBody>
          <a:bodyPr wrap="square" lIns="45720" rIns="45720" tIns="27432" bIns="27432" anchor="t">
            <a:noAutofit/>
          </a:bodyPr>
          <a:lstStyle/>
          <a:p>
            <a:pPr algn="l">
              <a:lnSpc>
                <a:spcPct val="100000"/>
              </a:lnSpc>
            </a:pPr>
            <a:r>
              <a:rPr sz="850" b="0" i="0" spc="120">
                <a:solidFill>
                  <a:srgbClr val="A7B2B0"/>
                </a:solidFill>
                <a:latin typeface="Segoe UI Semibold"/>
              </a:rPr>
              <a:t>TLAMATINI  ·  VIII · RELEASE ACTUAL</a:t>
            </a:r>
          </a:p>
        </p:txBody>
      </p:sp>
      <p:sp>
        <p:nvSpPr>
          <p:cNvPr id="26" name="TextBox 25"/>
          <p:cNvSpPr txBox="1"/>
          <p:nvPr/>
        </p:nvSpPr>
        <p:spPr>
          <a:xfrm>
            <a:off x="8698687" y="6419088"/>
            <a:ext cx="2926080" cy="274320"/>
          </a:xfrm>
          <a:prstGeom prst="rect">
            <a:avLst/>
          </a:prstGeom>
          <a:noFill/>
        </p:spPr>
        <p:txBody>
          <a:bodyPr wrap="square" lIns="45720" rIns="45720" tIns="27432" bIns="27432" anchor="t">
            <a:noAutofit/>
          </a:bodyPr>
          <a:lstStyle/>
          <a:p>
            <a:pPr algn="r">
              <a:lnSpc>
                <a:spcPct val="100000"/>
              </a:lnSpc>
            </a:pPr>
            <a:r>
              <a:rPr sz="850" b="0" i="0" spc="100">
                <a:solidFill>
                  <a:srgbClr val="A7B2B0"/>
                </a:solidFill>
                <a:latin typeface="Segoe UI Semibold"/>
              </a:rPr>
              <a:t>v1.91.1   ·   158</a:t>
            </a:r>
          </a:p>
        </p:txBody>
      </p:sp>
    </p:spTree>
  </p:cSld>
  <p:clrMapOvr>
    <a:masterClrMapping/>
  </p:clrMapOvr>
</p:sld>
</file>

<file path=ppt/slides/slide1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content.png"/>
          <p:cNvPicPr>
            <a:picLocks noChangeAspect="1"/>
          </p:cNvPicPr>
          <p:nvPr/>
        </p:nvPicPr>
        <p:blipFill>
          <a:blip r:embed="rId2"/>
          <a:stretch>
            <a:fillRect/>
          </a:stretch>
        </p:blipFill>
        <p:spPr>
          <a:xfrm>
            <a:off x="0" y="0"/>
            <a:ext cx="12191695" cy="6858000"/>
          </a:xfrm>
          <a:prstGeom prst="rect">
            <a:avLst/>
          </a:prstGeom>
        </p:spPr>
      </p:pic>
      <p:sp>
        <p:nvSpPr>
          <p:cNvPr id="3" name="Diamond 2"/>
          <p:cNvSpPr/>
          <p:nvPr/>
        </p:nvSpPr>
        <p:spPr>
          <a:xfrm>
            <a:off x="566928" y="457200"/>
            <a:ext cx="100584" cy="100584"/>
          </a:xfrm>
          <a:prstGeom prst="diamond">
            <a:avLst/>
          </a:prstGeom>
          <a:solidFill>
            <a:srgbClr val="E2B4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49808" y="365760"/>
            <a:ext cx="8229600" cy="292608"/>
          </a:xfrm>
          <a:prstGeom prst="rect">
            <a:avLst/>
          </a:prstGeom>
          <a:noFill/>
        </p:spPr>
        <p:txBody>
          <a:bodyPr wrap="square" lIns="45720" rIns="45720" tIns="27432" bIns="27432" anchor="t">
            <a:noAutofit/>
          </a:bodyPr>
          <a:lstStyle/>
          <a:p>
            <a:pPr algn="l">
              <a:lnSpc>
                <a:spcPct val="100000"/>
              </a:lnSpc>
            </a:pPr>
            <a:r>
              <a:rPr sz="1100" b="0" i="0" spc="240">
                <a:solidFill>
                  <a:srgbClr val="C98457"/>
                </a:solidFill>
                <a:latin typeface="Segoe UI Semibold"/>
              </a:rPr>
              <a:t>RELEASE HEREDADO</a:t>
            </a:r>
          </a:p>
        </p:txBody>
      </p:sp>
      <p:sp>
        <p:nvSpPr>
          <p:cNvPr id="5" name="TextBox 4"/>
          <p:cNvSpPr txBox="1"/>
          <p:nvPr/>
        </p:nvSpPr>
        <p:spPr>
          <a:xfrm>
            <a:off x="539496" y="676656"/>
            <a:ext cx="11057839" cy="658368"/>
          </a:xfrm>
          <a:prstGeom prst="rect">
            <a:avLst/>
          </a:prstGeom>
          <a:noFill/>
        </p:spPr>
        <p:txBody>
          <a:bodyPr wrap="square" lIns="45720" rIns="45720" tIns="27432" bIns="27432" anchor="t">
            <a:noAutofit/>
          </a:bodyPr>
          <a:lstStyle/>
          <a:p>
            <a:pPr algn="l">
              <a:lnSpc>
                <a:spcPct val="100000"/>
              </a:lnSpc>
            </a:pPr>
            <a:r>
              <a:rPr sz="3100" b="0" i="0">
                <a:solidFill>
                  <a:srgbClr val="F7F2E8"/>
                </a:solidFill>
                <a:latin typeface="Palatino Linotype"/>
              </a:rPr>
              <a:t>v1.70.0: el Prompt Flow Panel</a:t>
            </a:r>
          </a:p>
        </p:txBody>
      </p:sp>
      <p:sp>
        <p:nvSpPr>
          <p:cNvPr id="6" name="Rectangle 5"/>
          <p:cNvSpPr/>
          <p:nvPr/>
        </p:nvSpPr>
        <p:spPr>
          <a:xfrm>
            <a:off x="566928" y="1344168"/>
            <a:ext cx="822960" cy="36576"/>
          </a:xfrm>
          <a:prstGeom prst="rect">
            <a:avLst/>
          </a:prstGeom>
          <a:solidFill>
            <a:srgbClr val="E2B4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566928" y="1444752"/>
            <a:ext cx="10692079" cy="585216"/>
          </a:xfrm>
          <a:prstGeom prst="rect">
            <a:avLst/>
          </a:prstGeom>
          <a:noFill/>
        </p:spPr>
        <p:txBody>
          <a:bodyPr wrap="square" lIns="45720" rIns="45720" tIns="27432" bIns="27432" anchor="t">
            <a:noAutofit/>
          </a:bodyPr>
          <a:lstStyle/>
          <a:p>
            <a:pPr algn="l">
              <a:lnSpc>
                <a:spcPct val="100000"/>
              </a:lnSpc>
            </a:pPr>
            <a:r>
              <a:rPr sz="1450" b="0" i="0">
                <a:solidFill>
                  <a:srgbClr val="A7B2B0"/>
                </a:solidFill>
                <a:latin typeface="Segoe UI Semilight"/>
              </a:rPr>
              <a:t>La versión 1.70.0 trata de diseñar conversaciones y editar flows con la misma facilidad.</a:t>
            </a:r>
          </a:p>
        </p:txBody>
      </p:sp>
      <p:sp>
        <p:nvSpPr>
          <p:cNvPr id="8" name="Rounded Rectangle 7"/>
          <p:cNvSpPr/>
          <p:nvPr/>
        </p:nvSpPr>
        <p:spPr>
          <a:xfrm>
            <a:off x="566928" y="2084831"/>
            <a:ext cx="3551834" cy="1956816"/>
          </a:xfrm>
          <a:prstGeom prst="roundRect">
            <a:avLst>
              <a:gd name="adj" fmla="val 5607"/>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ectangle 8"/>
          <p:cNvSpPr/>
          <p:nvPr/>
        </p:nvSpPr>
        <p:spPr>
          <a:xfrm>
            <a:off x="731520" y="2212848"/>
            <a:ext cx="502920" cy="45720"/>
          </a:xfrm>
          <a:prstGeom prst="rect">
            <a:avLst/>
          </a:prstGeom>
          <a:solidFill>
            <a:srgbClr val="3BBE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694944" y="2304287"/>
            <a:ext cx="3295802" cy="353568"/>
          </a:xfrm>
          <a:prstGeom prst="rect">
            <a:avLst/>
          </a:prstGeom>
          <a:noFill/>
        </p:spPr>
        <p:txBody>
          <a:bodyPr wrap="square" lIns="45720" rIns="45720" tIns="27432" bIns="27432" anchor="t">
            <a:noAutofit/>
          </a:bodyPr>
          <a:lstStyle/>
          <a:p>
            <a:pPr algn="l">
              <a:lnSpc>
                <a:spcPct val="100000"/>
              </a:lnSpc>
            </a:pPr>
            <a:r>
              <a:rPr sz="1600" b="0" i="0">
                <a:solidFill>
                  <a:srgbClr val="F7F2E8"/>
                </a:solidFill>
                <a:latin typeface="Segoe UI Semibold"/>
              </a:rPr>
              <a:t>Prompt Flow Panel</a:t>
            </a:r>
          </a:p>
        </p:txBody>
      </p:sp>
      <p:sp>
        <p:nvSpPr>
          <p:cNvPr id="11" name="TextBox 10"/>
          <p:cNvSpPr txBox="1"/>
          <p:nvPr/>
        </p:nvSpPr>
        <p:spPr>
          <a:xfrm>
            <a:off x="694944" y="2657855"/>
            <a:ext cx="3295802" cy="1292352"/>
          </a:xfrm>
          <a:prstGeom prst="rect">
            <a:avLst/>
          </a:prstGeom>
          <a:noFill/>
        </p:spPr>
        <p:txBody>
          <a:bodyPr wrap="square" lIns="45720" rIns="45720" tIns="27432" bIns="27432" anchor="t">
            <a:noAutofit/>
          </a:bodyPr>
          <a:lstStyle/>
          <a:p>
            <a:pPr algn="l">
              <a:lnSpc>
                <a:spcPct val="100000"/>
              </a:lnSpc>
            </a:pPr>
            <a:r>
              <a:rPr sz="1300" b="0" i="0">
                <a:solidFill>
                  <a:srgbClr val="A7B2B0"/>
                </a:solidFill>
                <a:latin typeface="Segoe UI"/>
              </a:rPr>
              <a:t>Siete operaciones, archivos </a:t>
            </a:r>
            <a:r>
              <a:rPr sz="1200" b="0" i="0">
                <a:solidFill>
                  <a:srgbClr val="E2B462"/>
                </a:solidFill>
                <a:latin typeface="Consolas"/>
              </a:rPr>
              <a:t>.fpmt</a:t>
            </a:r>
            <a:r>
              <a:rPr sz="1300" b="0" i="0">
                <a:solidFill>
                  <a:srgbClr val="A7B2B0"/>
                </a:solidFill>
                <a:latin typeface="Segoe UI"/>
              </a:rPr>
              <a:t>, ejecución validada, ejecuciones aisladas.</a:t>
            </a:r>
          </a:p>
        </p:txBody>
      </p:sp>
      <p:sp>
        <p:nvSpPr>
          <p:cNvPr id="12" name="Rounded Rectangle 11"/>
          <p:cNvSpPr/>
          <p:nvPr/>
        </p:nvSpPr>
        <p:spPr>
          <a:xfrm>
            <a:off x="4319930" y="2084831"/>
            <a:ext cx="3551834" cy="1956816"/>
          </a:xfrm>
          <a:prstGeom prst="roundRect">
            <a:avLst>
              <a:gd name="adj" fmla="val 5607"/>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4484522" y="2212848"/>
            <a:ext cx="502920" cy="45720"/>
          </a:xfrm>
          <a:prstGeom prst="rect">
            <a:avLst/>
          </a:prstGeom>
          <a:solidFill>
            <a:srgbClr val="C984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4447946" y="2304287"/>
            <a:ext cx="3295802" cy="353568"/>
          </a:xfrm>
          <a:prstGeom prst="rect">
            <a:avLst/>
          </a:prstGeom>
          <a:noFill/>
        </p:spPr>
        <p:txBody>
          <a:bodyPr wrap="square" lIns="45720" rIns="45720" tIns="27432" bIns="27432" anchor="t">
            <a:noAutofit/>
          </a:bodyPr>
          <a:lstStyle/>
          <a:p>
            <a:pPr algn="l">
              <a:lnSpc>
                <a:spcPct val="100000"/>
              </a:lnSpc>
            </a:pPr>
            <a:r>
              <a:rPr sz="1600" b="0" i="0">
                <a:solidFill>
                  <a:srgbClr val="F7F2E8"/>
                </a:solidFill>
                <a:latin typeface="Segoe UI Semibold"/>
              </a:rPr>
              <a:t>Paneles y Config</a:t>
            </a:r>
          </a:p>
        </p:txBody>
      </p:sp>
      <p:sp>
        <p:nvSpPr>
          <p:cNvPr id="15" name="TextBox 14"/>
          <p:cNvSpPr txBox="1"/>
          <p:nvPr/>
        </p:nvSpPr>
        <p:spPr>
          <a:xfrm>
            <a:off x="4447946" y="2657855"/>
            <a:ext cx="3295802" cy="1292352"/>
          </a:xfrm>
          <a:prstGeom prst="rect">
            <a:avLst/>
          </a:prstGeom>
          <a:noFill/>
        </p:spPr>
        <p:txBody>
          <a:bodyPr wrap="square" lIns="45720" rIns="45720" tIns="27432" bIns="27432" anchor="t">
            <a:noAutofit/>
          </a:bodyPr>
          <a:lstStyle/>
          <a:p>
            <a:pPr algn="l">
              <a:lnSpc>
                <a:spcPct val="100000"/>
              </a:lnSpc>
            </a:pPr>
            <a:r>
              <a:rPr sz="1300" b="0" i="0">
                <a:solidFill>
                  <a:srgbClr val="A7B2B0"/>
                </a:solidFill>
                <a:latin typeface="Segoe UI"/>
              </a:rPr>
              <a:t>Los canvases viven en Paneles; cada diálogo Configurar, en Config.</a:t>
            </a:r>
          </a:p>
        </p:txBody>
      </p:sp>
      <p:sp>
        <p:nvSpPr>
          <p:cNvPr id="16" name="Rounded Rectangle 15"/>
          <p:cNvSpPr/>
          <p:nvPr/>
        </p:nvSpPr>
        <p:spPr>
          <a:xfrm>
            <a:off x="8072932" y="2084831"/>
            <a:ext cx="3551834" cy="1956816"/>
          </a:xfrm>
          <a:prstGeom prst="roundRect">
            <a:avLst>
              <a:gd name="adj" fmla="val 5607"/>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8237524" y="2212848"/>
            <a:ext cx="502920" cy="45720"/>
          </a:xfrm>
          <a:prstGeom prst="rect">
            <a:avLst/>
          </a:prstGeom>
          <a:solidFill>
            <a:srgbClr val="E2B4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200948" y="2304287"/>
            <a:ext cx="3295802" cy="353568"/>
          </a:xfrm>
          <a:prstGeom prst="rect">
            <a:avLst/>
          </a:prstGeom>
          <a:noFill/>
        </p:spPr>
        <p:txBody>
          <a:bodyPr wrap="square" lIns="45720" rIns="45720" tIns="27432" bIns="27432" anchor="t">
            <a:noAutofit/>
          </a:bodyPr>
          <a:lstStyle/>
          <a:p>
            <a:pPr algn="l">
              <a:lnSpc>
                <a:spcPct val="100000"/>
              </a:lnSpc>
            </a:pPr>
            <a:r>
              <a:rPr sz="1600" b="0" i="0">
                <a:solidFill>
                  <a:srgbClr val="F7F2E8"/>
                </a:solidFill>
                <a:latin typeface="Segoe UI Semibold"/>
              </a:rPr>
              <a:t>Un editor de verdad</a:t>
            </a:r>
          </a:p>
        </p:txBody>
      </p:sp>
      <p:sp>
        <p:nvSpPr>
          <p:cNvPr id="19" name="TextBox 18"/>
          <p:cNvSpPr txBox="1"/>
          <p:nvPr/>
        </p:nvSpPr>
        <p:spPr>
          <a:xfrm>
            <a:off x="8200948" y="2657855"/>
            <a:ext cx="3295802" cy="1292352"/>
          </a:xfrm>
          <a:prstGeom prst="rect">
            <a:avLst/>
          </a:prstGeom>
          <a:noFill/>
        </p:spPr>
        <p:txBody>
          <a:bodyPr wrap="square" lIns="45720" rIns="45720" tIns="27432" bIns="27432" anchor="t">
            <a:noAutofit/>
          </a:bodyPr>
          <a:lstStyle/>
          <a:p>
            <a:pPr algn="l">
              <a:lnSpc>
                <a:spcPct val="100000"/>
              </a:lnSpc>
            </a:pPr>
            <a:r>
              <a:rPr sz="1300" b="0" i="0">
                <a:solidFill>
                  <a:srgbClr val="A7B2B0"/>
                </a:solidFill>
                <a:latin typeface="Segoe UI"/>
              </a:rPr>
              <a:t>Deshacer y Rehacer, Duplicar con configuración, zoom, Ajustar, búsqueda de agents, Ayuda.</a:t>
            </a:r>
          </a:p>
        </p:txBody>
      </p:sp>
      <p:sp>
        <p:nvSpPr>
          <p:cNvPr id="20" name="Rounded Rectangle 19"/>
          <p:cNvSpPr/>
          <p:nvPr/>
        </p:nvSpPr>
        <p:spPr>
          <a:xfrm>
            <a:off x="566928" y="4242816"/>
            <a:ext cx="3551834" cy="1956816"/>
          </a:xfrm>
          <a:prstGeom prst="roundRect">
            <a:avLst>
              <a:gd name="adj" fmla="val 5607"/>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ectangle 20"/>
          <p:cNvSpPr/>
          <p:nvPr/>
        </p:nvSpPr>
        <p:spPr>
          <a:xfrm>
            <a:off x="731520" y="4370832"/>
            <a:ext cx="502920" cy="45720"/>
          </a:xfrm>
          <a:prstGeom prst="rect">
            <a:avLst/>
          </a:prstGeom>
          <a:solidFill>
            <a:srgbClr val="46D2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694944" y="4462272"/>
            <a:ext cx="3295802" cy="353568"/>
          </a:xfrm>
          <a:prstGeom prst="rect">
            <a:avLst/>
          </a:prstGeom>
          <a:noFill/>
        </p:spPr>
        <p:txBody>
          <a:bodyPr wrap="square" lIns="45720" rIns="45720" tIns="27432" bIns="27432" anchor="t">
            <a:noAutofit/>
          </a:bodyPr>
          <a:lstStyle/>
          <a:p>
            <a:pPr algn="l">
              <a:lnSpc>
                <a:spcPct val="100000"/>
              </a:lnSpc>
            </a:pPr>
            <a:r>
              <a:rPr sz="1600" b="0" i="0">
                <a:solidFill>
                  <a:srgbClr val="F7F2E8"/>
                </a:solidFill>
                <a:latin typeface="Segoe UI Semibold"/>
              </a:rPr>
              <a:t>Mecánica compartida</a:t>
            </a:r>
          </a:p>
        </p:txBody>
      </p:sp>
      <p:sp>
        <p:nvSpPr>
          <p:cNvPr id="23" name="TextBox 22"/>
          <p:cNvSpPr txBox="1"/>
          <p:nvPr/>
        </p:nvSpPr>
        <p:spPr>
          <a:xfrm>
            <a:off x="694944" y="4815840"/>
            <a:ext cx="3295802" cy="1292352"/>
          </a:xfrm>
          <a:prstGeom prst="rect">
            <a:avLst/>
          </a:prstGeom>
          <a:noFill/>
        </p:spPr>
        <p:txBody>
          <a:bodyPr wrap="square" lIns="45720" rIns="45720" tIns="27432" bIns="27432" anchor="t">
            <a:noAutofit/>
          </a:bodyPr>
          <a:lstStyle/>
          <a:p>
            <a:pPr algn="l">
              <a:lnSpc>
                <a:spcPct val="100000"/>
              </a:lnSpc>
            </a:pPr>
            <a:r>
              <a:rPr sz="1300" b="0" i="0">
                <a:solidFill>
                  <a:srgbClr val="A7B2B0"/>
                </a:solidFill>
                <a:latin typeface="Segoe UI"/>
              </a:rPr>
              <a:t>Ambos canvases conectan, arrastran, seleccionan y hacen zoom de la misma forma.</a:t>
            </a:r>
          </a:p>
        </p:txBody>
      </p:sp>
      <p:sp>
        <p:nvSpPr>
          <p:cNvPr id="24" name="Rounded Rectangle 23"/>
          <p:cNvSpPr/>
          <p:nvPr/>
        </p:nvSpPr>
        <p:spPr>
          <a:xfrm>
            <a:off x="4319930" y="4242816"/>
            <a:ext cx="3551834" cy="1956816"/>
          </a:xfrm>
          <a:prstGeom prst="roundRect">
            <a:avLst>
              <a:gd name="adj" fmla="val 5607"/>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ectangle 24"/>
          <p:cNvSpPr/>
          <p:nvPr/>
        </p:nvSpPr>
        <p:spPr>
          <a:xfrm>
            <a:off x="4484522" y="4370832"/>
            <a:ext cx="502920" cy="45720"/>
          </a:xfrm>
          <a:prstGeom prst="rect">
            <a:avLst/>
          </a:prstGeom>
          <a:solidFill>
            <a:srgbClr val="D25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4447946" y="4462272"/>
            <a:ext cx="3295802" cy="353568"/>
          </a:xfrm>
          <a:prstGeom prst="rect">
            <a:avLst/>
          </a:prstGeom>
          <a:noFill/>
        </p:spPr>
        <p:txBody>
          <a:bodyPr wrap="square" lIns="45720" rIns="45720" tIns="27432" bIns="27432" anchor="t">
            <a:noAutofit/>
          </a:bodyPr>
          <a:lstStyle/>
          <a:p>
            <a:pPr algn="l">
              <a:lnSpc>
                <a:spcPct val="100000"/>
              </a:lnSpc>
            </a:pPr>
            <a:r>
              <a:rPr sz="1600" b="0" i="0">
                <a:solidFill>
                  <a:srgbClr val="F7F2E8"/>
                </a:solidFill>
                <a:latin typeface="Segoe UI Semibold"/>
              </a:rPr>
              <a:t>Menús a prueba de ocupación</a:t>
            </a:r>
          </a:p>
        </p:txBody>
      </p:sp>
      <p:sp>
        <p:nvSpPr>
          <p:cNvPr id="27" name="TextBox 26"/>
          <p:cNvSpPr txBox="1"/>
          <p:nvPr/>
        </p:nvSpPr>
        <p:spPr>
          <a:xfrm>
            <a:off x="4447946" y="4815840"/>
            <a:ext cx="3295802" cy="1292352"/>
          </a:xfrm>
          <a:prstGeom prst="rect">
            <a:avLst/>
          </a:prstGeom>
          <a:noFill/>
        </p:spPr>
        <p:txBody>
          <a:bodyPr wrap="square" lIns="45720" rIns="45720" tIns="27432" bIns="27432" anchor="t">
            <a:noAutofit/>
          </a:bodyPr>
          <a:lstStyle/>
          <a:p>
            <a:pPr algn="l">
              <a:lnSpc>
                <a:spcPct val="100000"/>
              </a:lnSpc>
            </a:pPr>
            <a:r>
              <a:rPr sz="1300" b="0" i="0">
                <a:solidFill>
                  <a:srgbClr val="A7B2B0"/>
                </a:solidFill>
                <a:latin typeface="Segoe UI"/>
              </a:rPr>
              <a:t>Paneles sigue disponible mientras ella contesta; un solo camino reactiva los menús.</a:t>
            </a:r>
          </a:p>
        </p:txBody>
      </p:sp>
      <p:sp>
        <p:nvSpPr>
          <p:cNvPr id="28" name="Rounded Rectangle 27"/>
          <p:cNvSpPr/>
          <p:nvPr/>
        </p:nvSpPr>
        <p:spPr>
          <a:xfrm>
            <a:off x="8072932" y="4242816"/>
            <a:ext cx="3551834" cy="1956816"/>
          </a:xfrm>
          <a:prstGeom prst="roundRect">
            <a:avLst>
              <a:gd name="adj" fmla="val 5607"/>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Rectangle 28"/>
          <p:cNvSpPr/>
          <p:nvPr/>
        </p:nvSpPr>
        <p:spPr>
          <a:xfrm>
            <a:off x="8237524" y="4370832"/>
            <a:ext cx="502920" cy="45720"/>
          </a:xfrm>
          <a:prstGeom prst="rect">
            <a:avLst/>
          </a:prstGeom>
          <a:solidFill>
            <a:srgbClr val="D957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8200948" y="4462272"/>
            <a:ext cx="3295802" cy="353568"/>
          </a:xfrm>
          <a:prstGeom prst="rect">
            <a:avLst/>
          </a:prstGeom>
          <a:noFill/>
        </p:spPr>
        <p:txBody>
          <a:bodyPr wrap="square" lIns="45720" rIns="45720" tIns="27432" bIns="27432" anchor="t">
            <a:noAutofit/>
          </a:bodyPr>
          <a:lstStyle/>
          <a:p>
            <a:pPr algn="l">
              <a:lnSpc>
                <a:spcPct val="100000"/>
              </a:lnSpc>
            </a:pPr>
            <a:r>
              <a:rPr sz="1600" b="0" i="0">
                <a:solidFill>
                  <a:srgbClr val="F7F2E8"/>
                </a:solidFill>
                <a:latin typeface="Segoe UI Semibold"/>
              </a:rPr>
              <a:t>Línea de contexto heredada</a:t>
            </a:r>
          </a:p>
        </p:txBody>
      </p:sp>
      <p:sp>
        <p:nvSpPr>
          <p:cNvPr id="31" name="TextBox 30"/>
          <p:cNvSpPr txBox="1"/>
          <p:nvPr/>
        </p:nvSpPr>
        <p:spPr>
          <a:xfrm>
            <a:off x="8200948" y="4815840"/>
            <a:ext cx="3295802" cy="1292352"/>
          </a:xfrm>
          <a:prstGeom prst="rect">
            <a:avLst/>
          </a:prstGeom>
          <a:noFill/>
        </p:spPr>
        <p:txBody>
          <a:bodyPr wrap="square" lIns="45720" rIns="45720" tIns="27432" bIns="27432" anchor="t">
            <a:noAutofit/>
          </a:bodyPr>
          <a:lstStyle/>
          <a:p>
            <a:pPr algn="l">
              <a:lnSpc>
                <a:spcPct val="100000"/>
              </a:lnSpc>
            </a:pPr>
            <a:r>
              <a:rPr sz="1300" b="0" i="0">
                <a:solidFill>
                  <a:srgbClr val="A7B2B0"/>
                </a:solidFill>
                <a:latin typeface="Segoe UI"/>
              </a:rPr>
              <a:t>El medidor de contexto, el Context Governor y el indicador de contexto de v1.65.</a:t>
            </a:r>
          </a:p>
        </p:txBody>
      </p:sp>
      <p:cxnSp>
        <p:nvCxnSpPr>
          <p:cNvPr id="32" name="Connector 31"/>
          <p:cNvCxnSpPr/>
          <p:nvPr/>
        </p:nvCxnSpPr>
        <p:spPr>
          <a:xfrm>
            <a:off x="566928" y="6373368"/>
            <a:ext cx="11057839" cy="0"/>
          </a:xfrm>
          <a:prstGeom prst="line">
            <a:avLst/>
          </a:prstGeom>
          <a:ln w="7620">
            <a:solidFill>
              <a:srgbClr val="2A3A40"/>
            </a:solidFill>
          </a:ln>
        </p:spPr>
        <p:style>
          <a:lnRef idx="2">
            <a:schemeClr val="accent1"/>
          </a:lnRef>
          <a:fillRef idx="0">
            <a:schemeClr val="accent1"/>
          </a:fillRef>
          <a:effectRef idx="1">
            <a:schemeClr val="accent1"/>
          </a:effectRef>
          <a:fontRef idx="minor">
            <a:schemeClr val="tx1"/>
          </a:fontRef>
        </p:style>
      </p:cxnSp>
      <p:sp>
        <p:nvSpPr>
          <p:cNvPr id="33" name="TextBox 32"/>
          <p:cNvSpPr txBox="1"/>
          <p:nvPr/>
        </p:nvSpPr>
        <p:spPr>
          <a:xfrm>
            <a:off x="566928" y="6419088"/>
            <a:ext cx="6858000" cy="274320"/>
          </a:xfrm>
          <a:prstGeom prst="rect">
            <a:avLst/>
          </a:prstGeom>
          <a:noFill/>
        </p:spPr>
        <p:txBody>
          <a:bodyPr wrap="square" lIns="45720" rIns="45720" tIns="27432" bIns="27432" anchor="t">
            <a:noAutofit/>
          </a:bodyPr>
          <a:lstStyle/>
          <a:p>
            <a:pPr algn="l">
              <a:lnSpc>
                <a:spcPct val="100000"/>
              </a:lnSpc>
            </a:pPr>
            <a:r>
              <a:rPr sz="850" b="0" i="0" spc="120">
                <a:solidFill>
                  <a:srgbClr val="A7B2B0"/>
                </a:solidFill>
                <a:latin typeface="Segoe UI Semibold"/>
              </a:rPr>
              <a:t>TLAMATINI  ·  VIII · RELEASE ACTUAL</a:t>
            </a:r>
          </a:p>
        </p:txBody>
      </p:sp>
      <p:sp>
        <p:nvSpPr>
          <p:cNvPr id="34" name="TextBox 33"/>
          <p:cNvSpPr txBox="1"/>
          <p:nvPr/>
        </p:nvSpPr>
        <p:spPr>
          <a:xfrm>
            <a:off x="8698687" y="6419088"/>
            <a:ext cx="2926080" cy="274320"/>
          </a:xfrm>
          <a:prstGeom prst="rect">
            <a:avLst/>
          </a:prstGeom>
          <a:noFill/>
        </p:spPr>
        <p:txBody>
          <a:bodyPr wrap="square" lIns="45720" rIns="45720" tIns="27432" bIns="27432" anchor="t">
            <a:noAutofit/>
          </a:bodyPr>
          <a:lstStyle/>
          <a:p>
            <a:pPr algn="r">
              <a:lnSpc>
                <a:spcPct val="100000"/>
              </a:lnSpc>
            </a:pPr>
            <a:r>
              <a:rPr sz="850" b="0" i="0" spc="100">
                <a:solidFill>
                  <a:srgbClr val="A7B2B0"/>
                </a:solidFill>
                <a:latin typeface="Segoe UI Semibold"/>
              </a:rPr>
              <a:t>v1.91.1   ·   159</a:t>
            </a:r>
          </a:p>
        </p:txBody>
      </p:sp>
    </p:spTree>
  </p:cSld>
  <p:clrMapOvr>
    <a:masterClrMapping/>
  </p:clrMapOvr>
</p:sld>
</file>

<file path=ppt/slides/slide1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content.png"/>
          <p:cNvPicPr>
            <a:picLocks noChangeAspect="1"/>
          </p:cNvPicPr>
          <p:nvPr/>
        </p:nvPicPr>
        <p:blipFill>
          <a:blip r:embed="rId2"/>
          <a:stretch>
            <a:fillRect/>
          </a:stretch>
        </p:blipFill>
        <p:spPr>
          <a:xfrm>
            <a:off x="0" y="0"/>
            <a:ext cx="12191695" cy="6858000"/>
          </a:xfrm>
          <a:prstGeom prst="rect">
            <a:avLst/>
          </a:prstGeom>
        </p:spPr>
      </p:pic>
      <p:sp>
        <p:nvSpPr>
          <p:cNvPr id="3" name="Diamond 2"/>
          <p:cNvSpPr/>
          <p:nvPr/>
        </p:nvSpPr>
        <p:spPr>
          <a:xfrm>
            <a:off x="566928" y="457200"/>
            <a:ext cx="100584" cy="100584"/>
          </a:xfrm>
          <a:prstGeom prst="diamond">
            <a:avLst/>
          </a:prstGeom>
          <a:solidFill>
            <a:srgbClr val="E2B4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49808" y="365760"/>
            <a:ext cx="8229600" cy="292608"/>
          </a:xfrm>
          <a:prstGeom prst="rect">
            <a:avLst/>
          </a:prstGeom>
          <a:noFill/>
        </p:spPr>
        <p:txBody>
          <a:bodyPr wrap="square" lIns="45720" rIns="45720" tIns="27432" bIns="27432" anchor="t">
            <a:noAutofit/>
          </a:bodyPr>
          <a:lstStyle/>
          <a:p>
            <a:pPr algn="l">
              <a:lnSpc>
                <a:spcPct val="100000"/>
              </a:lnSpc>
            </a:pPr>
            <a:r>
              <a:rPr sz="1100" b="0" i="0" spc="240">
                <a:solidFill>
                  <a:srgbClr val="C98457"/>
                </a:solidFill>
                <a:latin typeface="Segoe UI Semibold"/>
              </a:rPr>
              <a:t>LINAJE</a:t>
            </a:r>
          </a:p>
        </p:txBody>
      </p:sp>
      <p:sp>
        <p:nvSpPr>
          <p:cNvPr id="5" name="TextBox 4"/>
          <p:cNvSpPr txBox="1"/>
          <p:nvPr/>
        </p:nvSpPr>
        <p:spPr>
          <a:xfrm>
            <a:off x="539496" y="676656"/>
            <a:ext cx="11057839" cy="658368"/>
          </a:xfrm>
          <a:prstGeom prst="rect">
            <a:avLst/>
          </a:prstGeom>
          <a:noFill/>
        </p:spPr>
        <p:txBody>
          <a:bodyPr wrap="square" lIns="45720" rIns="45720" tIns="27432" bIns="27432" anchor="t">
            <a:noAutofit/>
          </a:bodyPr>
          <a:lstStyle/>
          <a:p>
            <a:pPr algn="l">
              <a:lnSpc>
                <a:spcPct val="100000"/>
              </a:lnSpc>
            </a:pPr>
            <a:r>
              <a:rPr sz="3100" b="0" i="0">
                <a:solidFill>
                  <a:srgbClr val="F7F2E8"/>
                </a:solidFill>
                <a:latin typeface="Palatino Linotype"/>
              </a:rPr>
              <a:t>Cómo llegó la línea aquí</a:t>
            </a:r>
          </a:p>
        </p:txBody>
      </p:sp>
      <p:sp>
        <p:nvSpPr>
          <p:cNvPr id="6" name="Rectangle 5"/>
          <p:cNvSpPr/>
          <p:nvPr/>
        </p:nvSpPr>
        <p:spPr>
          <a:xfrm>
            <a:off x="566928" y="1344168"/>
            <a:ext cx="822960" cy="36576"/>
          </a:xfrm>
          <a:prstGeom prst="rect">
            <a:avLst/>
          </a:prstGeom>
          <a:solidFill>
            <a:srgbClr val="E2B4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566928" y="1444752"/>
            <a:ext cx="10692079" cy="585216"/>
          </a:xfrm>
          <a:prstGeom prst="rect">
            <a:avLst/>
          </a:prstGeom>
          <a:noFill/>
        </p:spPr>
        <p:txBody>
          <a:bodyPr wrap="square" lIns="45720" rIns="45720" tIns="27432" bIns="27432" anchor="t">
            <a:noAutofit/>
          </a:bodyPr>
          <a:lstStyle/>
          <a:p>
            <a:pPr algn="l">
              <a:lnSpc>
                <a:spcPct val="100000"/>
              </a:lnSpc>
            </a:pPr>
            <a:r>
              <a:rPr sz="1450" b="0" i="0">
                <a:solidFill>
                  <a:srgbClr val="A7B2B0"/>
                </a:solidFill>
                <a:latin typeface="Segoe UI Semilight"/>
              </a:rPr>
              <a:t>Tags recientes, del más viejo al más nuevo, leídos de Git.</a:t>
            </a:r>
          </a:p>
        </p:txBody>
      </p:sp>
      <p:cxnSp>
        <p:nvCxnSpPr>
          <p:cNvPr id="8" name="Connector 7"/>
          <p:cNvCxnSpPr/>
          <p:nvPr/>
        </p:nvCxnSpPr>
        <p:spPr>
          <a:xfrm>
            <a:off x="1956816" y="2519172"/>
            <a:ext cx="0" cy="502919"/>
          </a:xfrm>
          <a:prstGeom prst="line">
            <a:avLst/>
          </a:prstGeom>
          <a:ln w="15240">
            <a:solidFill>
              <a:srgbClr val="C98457"/>
            </a:solidFill>
          </a:ln>
        </p:spPr>
        <p:style>
          <a:lnRef idx="2">
            <a:schemeClr val="accent1"/>
          </a:lnRef>
          <a:fillRef idx="0">
            <a:schemeClr val="accent1"/>
          </a:fillRef>
          <a:effectRef idx="1">
            <a:schemeClr val="accent1"/>
          </a:effectRef>
          <a:fontRef idx="minor">
            <a:schemeClr val="tx1"/>
          </a:fontRef>
        </p:style>
      </p:cxnSp>
      <p:sp>
        <p:nvSpPr>
          <p:cNvPr id="9" name="Diamond 8"/>
          <p:cNvSpPr/>
          <p:nvPr/>
        </p:nvSpPr>
        <p:spPr>
          <a:xfrm>
            <a:off x="1883664" y="2354579"/>
            <a:ext cx="146304" cy="146304"/>
          </a:xfrm>
          <a:prstGeom prst="diamond">
            <a:avLst/>
          </a:prstGeom>
          <a:solidFill>
            <a:srgbClr val="C984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566928" y="2103120"/>
            <a:ext cx="1243584" cy="649224"/>
          </a:xfrm>
          <a:prstGeom prst="rect">
            <a:avLst/>
          </a:prstGeom>
          <a:noFill/>
        </p:spPr>
        <p:txBody>
          <a:bodyPr wrap="square" lIns="45720" rIns="45720" tIns="27432" bIns="27432" anchor="ctr">
            <a:noAutofit/>
          </a:bodyPr>
          <a:lstStyle/>
          <a:p>
            <a:pPr algn="l">
              <a:lnSpc>
                <a:spcPct val="100000"/>
              </a:lnSpc>
            </a:pPr>
            <a:r>
              <a:rPr sz="1200" b="0" i="0">
                <a:solidFill>
                  <a:srgbClr val="A7B2B0"/>
                </a:solidFill>
                <a:latin typeface="Consolas"/>
              </a:rPr>
              <a:t>2026-08-03</a:t>
            </a:r>
          </a:p>
        </p:txBody>
      </p:sp>
      <p:sp>
        <p:nvSpPr>
          <p:cNvPr id="11" name="TextBox 10"/>
          <p:cNvSpPr txBox="1"/>
          <p:nvPr/>
        </p:nvSpPr>
        <p:spPr>
          <a:xfrm>
            <a:off x="2139696" y="2103120"/>
            <a:ext cx="1143000" cy="649224"/>
          </a:xfrm>
          <a:prstGeom prst="rect">
            <a:avLst/>
          </a:prstGeom>
          <a:noFill/>
        </p:spPr>
        <p:txBody>
          <a:bodyPr wrap="square" lIns="45720" rIns="45720" tIns="27432" bIns="27432" anchor="ctr">
            <a:noAutofit/>
          </a:bodyPr>
          <a:lstStyle/>
          <a:p>
            <a:pPr algn="l">
              <a:lnSpc>
                <a:spcPct val="100000"/>
              </a:lnSpc>
            </a:pPr>
            <a:r>
              <a:rPr sz="1600" b="1" i="0">
                <a:solidFill>
                  <a:srgbClr val="F7F2E8"/>
                </a:solidFill>
                <a:latin typeface="Palatino Linotype"/>
              </a:rPr>
              <a:t>v1.47.6s</a:t>
            </a:r>
          </a:p>
        </p:txBody>
      </p:sp>
      <p:sp>
        <p:nvSpPr>
          <p:cNvPr id="12" name="TextBox 11"/>
          <p:cNvSpPr txBox="1"/>
          <p:nvPr/>
        </p:nvSpPr>
        <p:spPr>
          <a:xfrm>
            <a:off x="3310128" y="2103120"/>
            <a:ext cx="2557119" cy="649224"/>
          </a:xfrm>
          <a:prstGeom prst="rect">
            <a:avLst/>
          </a:prstGeom>
          <a:noFill/>
        </p:spPr>
        <p:txBody>
          <a:bodyPr wrap="square" lIns="45720" rIns="45720" tIns="27432" bIns="27432" anchor="ctr">
            <a:noAutofit/>
          </a:bodyPr>
          <a:lstStyle/>
          <a:p>
            <a:pPr algn="l">
              <a:lnSpc>
                <a:spcPct val="100000"/>
              </a:lnSpc>
            </a:pPr>
            <a:r>
              <a:rPr sz="1200" b="0" i="0">
                <a:solidFill>
                  <a:srgbClr val="A7B2B0"/>
                </a:solidFill>
                <a:latin typeface="Segoe UI"/>
              </a:rPr>
              <a:t>Release v1.47.6_s Some improvments to harness db and corresponded to spanish version.</a:t>
            </a:r>
          </a:p>
        </p:txBody>
      </p:sp>
      <p:cxnSp>
        <p:nvCxnSpPr>
          <p:cNvPr id="13" name="Connector 12"/>
          <p:cNvCxnSpPr/>
          <p:nvPr/>
        </p:nvCxnSpPr>
        <p:spPr>
          <a:xfrm>
            <a:off x="1956816" y="3204972"/>
            <a:ext cx="0" cy="502919"/>
          </a:xfrm>
          <a:prstGeom prst="line">
            <a:avLst/>
          </a:prstGeom>
          <a:ln w="15240">
            <a:solidFill>
              <a:srgbClr val="C98457"/>
            </a:solidFill>
          </a:ln>
        </p:spPr>
        <p:style>
          <a:lnRef idx="2">
            <a:schemeClr val="accent1"/>
          </a:lnRef>
          <a:fillRef idx="0">
            <a:schemeClr val="accent1"/>
          </a:fillRef>
          <a:effectRef idx="1">
            <a:schemeClr val="accent1"/>
          </a:effectRef>
          <a:fontRef idx="minor">
            <a:schemeClr val="tx1"/>
          </a:fontRef>
        </p:style>
      </p:cxnSp>
      <p:sp>
        <p:nvSpPr>
          <p:cNvPr id="14" name="Diamond 13"/>
          <p:cNvSpPr/>
          <p:nvPr/>
        </p:nvSpPr>
        <p:spPr>
          <a:xfrm>
            <a:off x="1883664" y="3040379"/>
            <a:ext cx="146304" cy="146304"/>
          </a:xfrm>
          <a:prstGeom prst="diamond">
            <a:avLst/>
          </a:prstGeom>
          <a:solidFill>
            <a:srgbClr val="C984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566928" y="2788920"/>
            <a:ext cx="1243584" cy="649224"/>
          </a:xfrm>
          <a:prstGeom prst="rect">
            <a:avLst/>
          </a:prstGeom>
          <a:noFill/>
        </p:spPr>
        <p:txBody>
          <a:bodyPr wrap="square" lIns="45720" rIns="45720" tIns="27432" bIns="27432" anchor="ctr">
            <a:noAutofit/>
          </a:bodyPr>
          <a:lstStyle/>
          <a:p>
            <a:pPr algn="l">
              <a:lnSpc>
                <a:spcPct val="100000"/>
              </a:lnSpc>
            </a:pPr>
            <a:r>
              <a:rPr sz="1200" b="0" i="0">
                <a:solidFill>
                  <a:srgbClr val="A7B2B0"/>
                </a:solidFill>
                <a:latin typeface="Consolas"/>
              </a:rPr>
              <a:t>2026-08-04</a:t>
            </a:r>
          </a:p>
        </p:txBody>
      </p:sp>
      <p:sp>
        <p:nvSpPr>
          <p:cNvPr id="16" name="TextBox 15"/>
          <p:cNvSpPr txBox="1"/>
          <p:nvPr/>
        </p:nvSpPr>
        <p:spPr>
          <a:xfrm>
            <a:off x="2139696" y="2788920"/>
            <a:ext cx="1143000" cy="649224"/>
          </a:xfrm>
          <a:prstGeom prst="rect">
            <a:avLst/>
          </a:prstGeom>
          <a:noFill/>
        </p:spPr>
        <p:txBody>
          <a:bodyPr wrap="square" lIns="45720" rIns="45720" tIns="27432" bIns="27432" anchor="ctr">
            <a:noAutofit/>
          </a:bodyPr>
          <a:lstStyle/>
          <a:p>
            <a:pPr algn="l">
              <a:lnSpc>
                <a:spcPct val="100000"/>
              </a:lnSpc>
            </a:pPr>
            <a:r>
              <a:rPr sz="1600" b="1" i="0">
                <a:solidFill>
                  <a:srgbClr val="F7F2E8"/>
                </a:solidFill>
                <a:latin typeface="Palatino Linotype"/>
              </a:rPr>
              <a:t>v1.47.7s</a:t>
            </a:r>
          </a:p>
        </p:txBody>
      </p:sp>
      <p:sp>
        <p:nvSpPr>
          <p:cNvPr id="17" name="TextBox 16"/>
          <p:cNvSpPr txBox="1"/>
          <p:nvPr/>
        </p:nvSpPr>
        <p:spPr>
          <a:xfrm>
            <a:off x="3310128" y="2788920"/>
            <a:ext cx="2557119" cy="649224"/>
          </a:xfrm>
          <a:prstGeom prst="rect">
            <a:avLst/>
          </a:prstGeom>
          <a:noFill/>
        </p:spPr>
        <p:txBody>
          <a:bodyPr wrap="square" lIns="45720" rIns="45720" tIns="27432" bIns="27432" anchor="ctr">
            <a:noAutofit/>
          </a:bodyPr>
          <a:lstStyle/>
          <a:p>
            <a:pPr algn="l">
              <a:lnSpc>
                <a:spcPct val="100000"/>
              </a:lnSpc>
            </a:pPr>
            <a:r>
              <a:rPr sz="1200" b="0" i="0">
                <a:solidFill>
                  <a:srgbClr val="A7B2B0"/>
                </a:solidFill>
                <a:latin typeface="Segoe UI"/>
              </a:rPr>
              <a:t>Release v1.47.7s An improvement in multiple MCP/Agents enabling/disabling.</a:t>
            </a:r>
          </a:p>
        </p:txBody>
      </p:sp>
      <p:cxnSp>
        <p:nvCxnSpPr>
          <p:cNvPr id="18" name="Connector 17"/>
          <p:cNvCxnSpPr/>
          <p:nvPr/>
        </p:nvCxnSpPr>
        <p:spPr>
          <a:xfrm>
            <a:off x="1956816" y="3890771"/>
            <a:ext cx="0" cy="502921"/>
          </a:xfrm>
          <a:prstGeom prst="line">
            <a:avLst/>
          </a:prstGeom>
          <a:ln w="15240">
            <a:solidFill>
              <a:srgbClr val="C98457"/>
            </a:solidFill>
          </a:ln>
        </p:spPr>
        <p:style>
          <a:lnRef idx="2">
            <a:schemeClr val="accent1"/>
          </a:lnRef>
          <a:fillRef idx="0">
            <a:schemeClr val="accent1"/>
          </a:fillRef>
          <a:effectRef idx="1">
            <a:schemeClr val="accent1"/>
          </a:effectRef>
          <a:fontRef idx="minor">
            <a:schemeClr val="tx1"/>
          </a:fontRef>
        </p:style>
      </p:cxnSp>
      <p:sp>
        <p:nvSpPr>
          <p:cNvPr id="19" name="Diamond 18"/>
          <p:cNvSpPr/>
          <p:nvPr/>
        </p:nvSpPr>
        <p:spPr>
          <a:xfrm>
            <a:off x="1883664" y="3726179"/>
            <a:ext cx="146304" cy="146304"/>
          </a:xfrm>
          <a:prstGeom prst="diamond">
            <a:avLst/>
          </a:prstGeom>
          <a:solidFill>
            <a:srgbClr val="C984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566928" y="3474720"/>
            <a:ext cx="1243584" cy="649224"/>
          </a:xfrm>
          <a:prstGeom prst="rect">
            <a:avLst/>
          </a:prstGeom>
          <a:noFill/>
        </p:spPr>
        <p:txBody>
          <a:bodyPr wrap="square" lIns="45720" rIns="45720" tIns="27432" bIns="27432" anchor="ctr">
            <a:noAutofit/>
          </a:bodyPr>
          <a:lstStyle/>
          <a:p>
            <a:pPr algn="l">
              <a:lnSpc>
                <a:spcPct val="100000"/>
              </a:lnSpc>
            </a:pPr>
            <a:r>
              <a:rPr sz="1200" b="0" i="0">
                <a:solidFill>
                  <a:srgbClr val="A7B2B0"/>
                </a:solidFill>
                <a:latin typeface="Consolas"/>
              </a:rPr>
              <a:t>2026-08-06</a:t>
            </a:r>
          </a:p>
        </p:txBody>
      </p:sp>
      <p:sp>
        <p:nvSpPr>
          <p:cNvPr id="21" name="TextBox 20"/>
          <p:cNvSpPr txBox="1"/>
          <p:nvPr/>
        </p:nvSpPr>
        <p:spPr>
          <a:xfrm>
            <a:off x="2139696" y="3474720"/>
            <a:ext cx="1143000" cy="649224"/>
          </a:xfrm>
          <a:prstGeom prst="rect">
            <a:avLst/>
          </a:prstGeom>
          <a:noFill/>
        </p:spPr>
        <p:txBody>
          <a:bodyPr wrap="square" lIns="45720" rIns="45720" tIns="27432" bIns="27432" anchor="ctr">
            <a:noAutofit/>
          </a:bodyPr>
          <a:lstStyle/>
          <a:p>
            <a:pPr algn="l">
              <a:lnSpc>
                <a:spcPct val="100000"/>
              </a:lnSpc>
            </a:pPr>
            <a:r>
              <a:rPr sz="1600" b="1" i="0">
                <a:solidFill>
                  <a:srgbClr val="F7F2E8"/>
                </a:solidFill>
                <a:latin typeface="Palatino Linotype"/>
              </a:rPr>
              <a:t>v1.48.2s</a:t>
            </a:r>
          </a:p>
        </p:txBody>
      </p:sp>
      <p:sp>
        <p:nvSpPr>
          <p:cNvPr id="22" name="TextBox 21"/>
          <p:cNvSpPr txBox="1"/>
          <p:nvPr/>
        </p:nvSpPr>
        <p:spPr>
          <a:xfrm>
            <a:off x="3310128" y="3474720"/>
            <a:ext cx="2557119" cy="649224"/>
          </a:xfrm>
          <a:prstGeom prst="rect">
            <a:avLst/>
          </a:prstGeom>
          <a:noFill/>
        </p:spPr>
        <p:txBody>
          <a:bodyPr wrap="square" lIns="45720" rIns="45720" tIns="27432" bIns="27432" anchor="ctr">
            <a:noAutofit/>
          </a:bodyPr>
          <a:lstStyle/>
          <a:p>
            <a:pPr algn="l">
              <a:lnSpc>
                <a:spcPct val="100000"/>
              </a:lnSpc>
            </a:pPr>
            <a:r>
              <a:rPr sz="1200" b="0" i="0">
                <a:solidFill>
                  <a:srgbClr val="A7B2B0"/>
                </a:solidFill>
                <a:latin typeface="Segoe UI"/>
              </a:rPr>
              <a:t>Release v1.48.2s Improving LaTeXer and Execution report to drop false-positives and true-negatives.</a:t>
            </a:r>
          </a:p>
        </p:txBody>
      </p:sp>
      <p:cxnSp>
        <p:nvCxnSpPr>
          <p:cNvPr id="23" name="Connector 22"/>
          <p:cNvCxnSpPr/>
          <p:nvPr/>
        </p:nvCxnSpPr>
        <p:spPr>
          <a:xfrm>
            <a:off x="1956816" y="4576571"/>
            <a:ext cx="0" cy="502921"/>
          </a:xfrm>
          <a:prstGeom prst="line">
            <a:avLst/>
          </a:prstGeom>
          <a:ln w="15240">
            <a:solidFill>
              <a:srgbClr val="C98457"/>
            </a:solidFill>
          </a:ln>
        </p:spPr>
        <p:style>
          <a:lnRef idx="2">
            <a:schemeClr val="accent1"/>
          </a:lnRef>
          <a:fillRef idx="0">
            <a:schemeClr val="accent1"/>
          </a:fillRef>
          <a:effectRef idx="1">
            <a:schemeClr val="accent1"/>
          </a:effectRef>
          <a:fontRef idx="minor">
            <a:schemeClr val="tx1"/>
          </a:fontRef>
        </p:style>
      </p:cxnSp>
      <p:sp>
        <p:nvSpPr>
          <p:cNvPr id="24" name="Diamond 23"/>
          <p:cNvSpPr/>
          <p:nvPr/>
        </p:nvSpPr>
        <p:spPr>
          <a:xfrm>
            <a:off x="1883664" y="4411979"/>
            <a:ext cx="146304" cy="146304"/>
          </a:xfrm>
          <a:prstGeom prst="diamond">
            <a:avLst/>
          </a:prstGeom>
          <a:solidFill>
            <a:srgbClr val="C984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TextBox 24"/>
          <p:cNvSpPr txBox="1"/>
          <p:nvPr/>
        </p:nvSpPr>
        <p:spPr>
          <a:xfrm>
            <a:off x="566928" y="4160519"/>
            <a:ext cx="1243584" cy="649224"/>
          </a:xfrm>
          <a:prstGeom prst="rect">
            <a:avLst/>
          </a:prstGeom>
          <a:noFill/>
        </p:spPr>
        <p:txBody>
          <a:bodyPr wrap="square" lIns="45720" rIns="45720" tIns="27432" bIns="27432" anchor="ctr">
            <a:noAutofit/>
          </a:bodyPr>
          <a:lstStyle/>
          <a:p>
            <a:pPr algn="l">
              <a:lnSpc>
                <a:spcPct val="100000"/>
              </a:lnSpc>
            </a:pPr>
            <a:r>
              <a:rPr sz="1200" b="0" i="0">
                <a:solidFill>
                  <a:srgbClr val="A7B2B0"/>
                </a:solidFill>
                <a:latin typeface="Consolas"/>
              </a:rPr>
              <a:t>2026-08-12</a:t>
            </a:r>
          </a:p>
        </p:txBody>
      </p:sp>
      <p:sp>
        <p:nvSpPr>
          <p:cNvPr id="26" name="TextBox 25"/>
          <p:cNvSpPr txBox="1"/>
          <p:nvPr/>
        </p:nvSpPr>
        <p:spPr>
          <a:xfrm>
            <a:off x="2139696" y="4160519"/>
            <a:ext cx="1143000" cy="649224"/>
          </a:xfrm>
          <a:prstGeom prst="rect">
            <a:avLst/>
          </a:prstGeom>
          <a:noFill/>
        </p:spPr>
        <p:txBody>
          <a:bodyPr wrap="square" lIns="45720" rIns="45720" tIns="27432" bIns="27432" anchor="ctr">
            <a:noAutofit/>
          </a:bodyPr>
          <a:lstStyle/>
          <a:p>
            <a:pPr algn="l">
              <a:lnSpc>
                <a:spcPct val="100000"/>
              </a:lnSpc>
            </a:pPr>
            <a:r>
              <a:rPr sz="1600" b="1" i="0">
                <a:solidFill>
                  <a:srgbClr val="F7F2E8"/>
                </a:solidFill>
                <a:latin typeface="Palatino Linotype"/>
              </a:rPr>
              <a:t>v1.48.5s</a:t>
            </a:r>
          </a:p>
        </p:txBody>
      </p:sp>
      <p:sp>
        <p:nvSpPr>
          <p:cNvPr id="27" name="TextBox 26"/>
          <p:cNvSpPr txBox="1"/>
          <p:nvPr/>
        </p:nvSpPr>
        <p:spPr>
          <a:xfrm>
            <a:off x="3310128" y="4160519"/>
            <a:ext cx="2557119" cy="649224"/>
          </a:xfrm>
          <a:prstGeom prst="rect">
            <a:avLst/>
          </a:prstGeom>
          <a:noFill/>
        </p:spPr>
        <p:txBody>
          <a:bodyPr wrap="square" lIns="45720" rIns="45720" tIns="27432" bIns="27432" anchor="ctr">
            <a:noAutofit/>
          </a:bodyPr>
          <a:lstStyle/>
          <a:p>
            <a:pPr algn="l">
              <a:lnSpc>
                <a:spcPct val="100000"/>
              </a:lnSpc>
            </a:pPr>
            <a:r>
              <a:rPr sz="1200" b="0" i="0">
                <a:solidFill>
                  <a:srgbClr val="A7B2B0"/>
                </a:solidFill>
                <a:latin typeface="Segoe UI"/>
              </a:rPr>
              <a:t>Release v1.48.5s Improving way too much LaTeXer agent and its peripherals related, by Claude-CLI.</a:t>
            </a:r>
          </a:p>
        </p:txBody>
      </p:sp>
      <p:cxnSp>
        <p:nvCxnSpPr>
          <p:cNvPr id="28" name="Connector 27"/>
          <p:cNvCxnSpPr/>
          <p:nvPr/>
        </p:nvCxnSpPr>
        <p:spPr>
          <a:xfrm>
            <a:off x="1956816" y="5262371"/>
            <a:ext cx="0" cy="502921"/>
          </a:xfrm>
          <a:prstGeom prst="line">
            <a:avLst/>
          </a:prstGeom>
          <a:ln w="15240">
            <a:solidFill>
              <a:srgbClr val="C98457"/>
            </a:solidFill>
          </a:ln>
        </p:spPr>
        <p:style>
          <a:lnRef idx="2">
            <a:schemeClr val="accent1"/>
          </a:lnRef>
          <a:fillRef idx="0">
            <a:schemeClr val="accent1"/>
          </a:fillRef>
          <a:effectRef idx="1">
            <a:schemeClr val="accent1"/>
          </a:effectRef>
          <a:fontRef idx="minor">
            <a:schemeClr val="tx1"/>
          </a:fontRef>
        </p:style>
      </p:cxnSp>
      <p:sp>
        <p:nvSpPr>
          <p:cNvPr id="29" name="Diamond 28"/>
          <p:cNvSpPr/>
          <p:nvPr/>
        </p:nvSpPr>
        <p:spPr>
          <a:xfrm>
            <a:off x="1883664" y="5097779"/>
            <a:ext cx="146304" cy="146304"/>
          </a:xfrm>
          <a:prstGeom prst="diamond">
            <a:avLst/>
          </a:prstGeom>
          <a:solidFill>
            <a:srgbClr val="C984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566928" y="4846319"/>
            <a:ext cx="1243584" cy="649224"/>
          </a:xfrm>
          <a:prstGeom prst="rect">
            <a:avLst/>
          </a:prstGeom>
          <a:noFill/>
        </p:spPr>
        <p:txBody>
          <a:bodyPr wrap="square" lIns="45720" rIns="45720" tIns="27432" bIns="27432" anchor="ctr">
            <a:noAutofit/>
          </a:bodyPr>
          <a:lstStyle/>
          <a:p>
            <a:pPr algn="l">
              <a:lnSpc>
                <a:spcPct val="100000"/>
              </a:lnSpc>
            </a:pPr>
            <a:r>
              <a:rPr sz="1200" b="0" i="0">
                <a:solidFill>
                  <a:srgbClr val="A7B2B0"/>
                </a:solidFill>
                <a:latin typeface="Consolas"/>
              </a:rPr>
              <a:t>2026-08-19</a:t>
            </a:r>
          </a:p>
        </p:txBody>
      </p:sp>
      <p:sp>
        <p:nvSpPr>
          <p:cNvPr id="31" name="TextBox 30"/>
          <p:cNvSpPr txBox="1"/>
          <p:nvPr/>
        </p:nvSpPr>
        <p:spPr>
          <a:xfrm>
            <a:off x="2139696" y="4846319"/>
            <a:ext cx="1143000" cy="649224"/>
          </a:xfrm>
          <a:prstGeom prst="rect">
            <a:avLst/>
          </a:prstGeom>
          <a:noFill/>
        </p:spPr>
        <p:txBody>
          <a:bodyPr wrap="square" lIns="45720" rIns="45720" tIns="27432" bIns="27432" anchor="ctr">
            <a:noAutofit/>
          </a:bodyPr>
          <a:lstStyle/>
          <a:p>
            <a:pPr algn="l">
              <a:lnSpc>
                <a:spcPct val="100000"/>
              </a:lnSpc>
            </a:pPr>
            <a:r>
              <a:rPr sz="1600" b="1" i="0">
                <a:solidFill>
                  <a:srgbClr val="F7F2E8"/>
                </a:solidFill>
                <a:latin typeface="Palatino Linotype"/>
              </a:rPr>
              <a:t>v1.48.17s</a:t>
            </a:r>
          </a:p>
        </p:txBody>
      </p:sp>
      <p:sp>
        <p:nvSpPr>
          <p:cNvPr id="32" name="TextBox 31"/>
          <p:cNvSpPr txBox="1"/>
          <p:nvPr/>
        </p:nvSpPr>
        <p:spPr>
          <a:xfrm>
            <a:off x="3310128" y="4846319"/>
            <a:ext cx="2557119" cy="649224"/>
          </a:xfrm>
          <a:prstGeom prst="rect">
            <a:avLst/>
          </a:prstGeom>
          <a:noFill/>
        </p:spPr>
        <p:txBody>
          <a:bodyPr wrap="square" lIns="45720" rIns="45720" tIns="27432" bIns="27432" anchor="ctr">
            <a:noAutofit/>
          </a:bodyPr>
          <a:lstStyle/>
          <a:p>
            <a:pPr algn="l">
              <a:lnSpc>
                <a:spcPct val="100000"/>
              </a:lnSpc>
            </a:pPr>
            <a:r>
              <a:rPr sz="1150" b="0" i="0">
                <a:solidFill>
                  <a:srgbClr val="A7B2B0"/>
                </a:solidFill>
                <a:latin typeface="Segoe UI"/>
              </a:rPr>
              <a:t>Release v1.48.17s Standarization of escape as method of dialog-closing, english version pairing.</a:t>
            </a:r>
          </a:p>
        </p:txBody>
      </p:sp>
      <p:sp>
        <p:nvSpPr>
          <p:cNvPr id="33" name="Diamond 32"/>
          <p:cNvSpPr/>
          <p:nvPr/>
        </p:nvSpPr>
        <p:spPr>
          <a:xfrm>
            <a:off x="1883664" y="5783579"/>
            <a:ext cx="146304" cy="146304"/>
          </a:xfrm>
          <a:prstGeom prst="diamond">
            <a:avLst/>
          </a:prstGeom>
          <a:solidFill>
            <a:srgbClr val="C984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566928" y="5532119"/>
            <a:ext cx="1243584" cy="649224"/>
          </a:xfrm>
          <a:prstGeom prst="rect">
            <a:avLst/>
          </a:prstGeom>
          <a:noFill/>
        </p:spPr>
        <p:txBody>
          <a:bodyPr wrap="square" lIns="45720" rIns="45720" tIns="27432" bIns="27432" anchor="ctr">
            <a:noAutofit/>
          </a:bodyPr>
          <a:lstStyle/>
          <a:p>
            <a:pPr algn="l">
              <a:lnSpc>
                <a:spcPct val="100000"/>
              </a:lnSpc>
            </a:pPr>
            <a:r>
              <a:rPr sz="1200" b="0" i="0">
                <a:solidFill>
                  <a:srgbClr val="A7B2B0"/>
                </a:solidFill>
                <a:latin typeface="Consolas"/>
              </a:rPr>
              <a:t>2026-08-23</a:t>
            </a:r>
          </a:p>
        </p:txBody>
      </p:sp>
      <p:sp>
        <p:nvSpPr>
          <p:cNvPr id="35" name="TextBox 34"/>
          <p:cNvSpPr txBox="1"/>
          <p:nvPr/>
        </p:nvSpPr>
        <p:spPr>
          <a:xfrm>
            <a:off x="2139696" y="5532119"/>
            <a:ext cx="1143000" cy="649224"/>
          </a:xfrm>
          <a:prstGeom prst="rect">
            <a:avLst/>
          </a:prstGeom>
          <a:noFill/>
        </p:spPr>
        <p:txBody>
          <a:bodyPr wrap="square" lIns="45720" rIns="45720" tIns="27432" bIns="27432" anchor="ctr">
            <a:noAutofit/>
          </a:bodyPr>
          <a:lstStyle/>
          <a:p>
            <a:pPr algn="l">
              <a:lnSpc>
                <a:spcPct val="100000"/>
              </a:lnSpc>
            </a:pPr>
            <a:r>
              <a:rPr sz="1600" b="1" i="0">
                <a:solidFill>
                  <a:srgbClr val="F7F2E8"/>
                </a:solidFill>
                <a:latin typeface="Palatino Linotype"/>
              </a:rPr>
              <a:t>v1.49.1s</a:t>
            </a:r>
          </a:p>
        </p:txBody>
      </p:sp>
      <p:sp>
        <p:nvSpPr>
          <p:cNvPr id="36" name="TextBox 35"/>
          <p:cNvSpPr txBox="1"/>
          <p:nvPr/>
        </p:nvSpPr>
        <p:spPr>
          <a:xfrm>
            <a:off x="3310128" y="5532119"/>
            <a:ext cx="2557119" cy="649224"/>
          </a:xfrm>
          <a:prstGeom prst="rect">
            <a:avLst/>
          </a:prstGeom>
          <a:noFill/>
        </p:spPr>
        <p:txBody>
          <a:bodyPr wrap="square" lIns="45720" rIns="45720" tIns="27432" bIns="27432" anchor="ctr">
            <a:noAutofit/>
          </a:bodyPr>
          <a:lstStyle/>
          <a:p>
            <a:pPr algn="l">
              <a:lnSpc>
                <a:spcPct val="100000"/>
              </a:lnSpc>
            </a:pPr>
            <a:r>
              <a:rPr sz="1000" b="0" i="0">
                <a:solidFill>
                  <a:srgbClr val="A7B2B0"/>
                </a:solidFill>
                <a:latin typeface="Segoe UI"/>
              </a:rPr>
              <a:t>Release v1.49.1s Paired with Tlamatini (english), Created the NetSpeed-Calculator agent,  Improving Google (dorking caps).</a:t>
            </a:r>
          </a:p>
        </p:txBody>
      </p:sp>
      <p:cxnSp>
        <p:nvCxnSpPr>
          <p:cNvPr id="37" name="Connector 36"/>
          <p:cNvCxnSpPr/>
          <p:nvPr/>
        </p:nvCxnSpPr>
        <p:spPr>
          <a:xfrm>
            <a:off x="7714335" y="2519172"/>
            <a:ext cx="0" cy="502919"/>
          </a:xfrm>
          <a:prstGeom prst="line">
            <a:avLst/>
          </a:prstGeom>
          <a:ln w="15240">
            <a:solidFill>
              <a:srgbClr val="C98457"/>
            </a:solidFill>
          </a:ln>
        </p:spPr>
        <p:style>
          <a:lnRef idx="2">
            <a:schemeClr val="accent1"/>
          </a:lnRef>
          <a:fillRef idx="0">
            <a:schemeClr val="accent1"/>
          </a:fillRef>
          <a:effectRef idx="1">
            <a:schemeClr val="accent1"/>
          </a:effectRef>
          <a:fontRef idx="minor">
            <a:schemeClr val="tx1"/>
          </a:fontRef>
        </p:style>
      </p:cxnSp>
      <p:sp>
        <p:nvSpPr>
          <p:cNvPr id="38" name="Diamond 37"/>
          <p:cNvSpPr/>
          <p:nvPr/>
        </p:nvSpPr>
        <p:spPr>
          <a:xfrm>
            <a:off x="7641183" y="2354579"/>
            <a:ext cx="146304" cy="146304"/>
          </a:xfrm>
          <a:prstGeom prst="diamond">
            <a:avLst/>
          </a:prstGeom>
          <a:solidFill>
            <a:srgbClr val="C984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9" name="TextBox 38"/>
          <p:cNvSpPr txBox="1"/>
          <p:nvPr/>
        </p:nvSpPr>
        <p:spPr>
          <a:xfrm>
            <a:off x="6324447" y="2103120"/>
            <a:ext cx="1243584" cy="649224"/>
          </a:xfrm>
          <a:prstGeom prst="rect">
            <a:avLst/>
          </a:prstGeom>
          <a:noFill/>
        </p:spPr>
        <p:txBody>
          <a:bodyPr wrap="square" lIns="45720" rIns="45720" tIns="27432" bIns="27432" anchor="ctr">
            <a:noAutofit/>
          </a:bodyPr>
          <a:lstStyle/>
          <a:p>
            <a:pPr algn="l">
              <a:lnSpc>
                <a:spcPct val="100000"/>
              </a:lnSpc>
            </a:pPr>
            <a:r>
              <a:rPr sz="1200" b="0" i="0">
                <a:solidFill>
                  <a:srgbClr val="A7B2B0"/>
                </a:solidFill>
                <a:latin typeface="Consolas"/>
              </a:rPr>
              <a:t>2026-08-28</a:t>
            </a:r>
          </a:p>
        </p:txBody>
      </p:sp>
      <p:sp>
        <p:nvSpPr>
          <p:cNvPr id="40" name="TextBox 39"/>
          <p:cNvSpPr txBox="1"/>
          <p:nvPr/>
        </p:nvSpPr>
        <p:spPr>
          <a:xfrm>
            <a:off x="7897215" y="2103120"/>
            <a:ext cx="1143000" cy="649224"/>
          </a:xfrm>
          <a:prstGeom prst="rect">
            <a:avLst/>
          </a:prstGeom>
          <a:noFill/>
        </p:spPr>
        <p:txBody>
          <a:bodyPr wrap="square" lIns="45720" rIns="45720" tIns="27432" bIns="27432" anchor="ctr">
            <a:noAutofit/>
          </a:bodyPr>
          <a:lstStyle/>
          <a:p>
            <a:pPr algn="l">
              <a:lnSpc>
                <a:spcPct val="100000"/>
              </a:lnSpc>
            </a:pPr>
            <a:r>
              <a:rPr sz="1600" b="1" i="0">
                <a:solidFill>
                  <a:srgbClr val="F7F2E8"/>
                </a:solidFill>
                <a:latin typeface="Palatino Linotype"/>
              </a:rPr>
              <a:t>v1.50.3s</a:t>
            </a:r>
          </a:p>
        </p:txBody>
      </p:sp>
      <p:sp>
        <p:nvSpPr>
          <p:cNvPr id="41" name="TextBox 40"/>
          <p:cNvSpPr txBox="1"/>
          <p:nvPr/>
        </p:nvSpPr>
        <p:spPr>
          <a:xfrm>
            <a:off x="9067647" y="2103120"/>
            <a:ext cx="2557119" cy="649224"/>
          </a:xfrm>
          <a:prstGeom prst="rect">
            <a:avLst/>
          </a:prstGeom>
          <a:noFill/>
        </p:spPr>
        <p:txBody>
          <a:bodyPr wrap="square" lIns="45720" rIns="45720" tIns="27432" bIns="27432" anchor="ctr">
            <a:noAutofit/>
          </a:bodyPr>
          <a:lstStyle/>
          <a:p>
            <a:pPr algn="l">
              <a:lnSpc>
                <a:spcPct val="100000"/>
              </a:lnSpc>
            </a:pPr>
            <a:r>
              <a:rPr sz="1200" b="0" i="0">
                <a:solidFill>
                  <a:srgbClr val="A7B2B0"/>
                </a:solidFill>
                <a:latin typeface="Segoe UI"/>
              </a:rPr>
              <a:t>Release v1.50.3s Googler improvement phase 1 under paired Tlamatinis staging.</a:t>
            </a:r>
          </a:p>
        </p:txBody>
      </p:sp>
      <p:cxnSp>
        <p:nvCxnSpPr>
          <p:cNvPr id="42" name="Connector 41"/>
          <p:cNvCxnSpPr/>
          <p:nvPr/>
        </p:nvCxnSpPr>
        <p:spPr>
          <a:xfrm>
            <a:off x="7714335" y="3204972"/>
            <a:ext cx="0" cy="502919"/>
          </a:xfrm>
          <a:prstGeom prst="line">
            <a:avLst/>
          </a:prstGeom>
          <a:ln w="15240">
            <a:solidFill>
              <a:srgbClr val="C98457"/>
            </a:solidFill>
          </a:ln>
        </p:spPr>
        <p:style>
          <a:lnRef idx="2">
            <a:schemeClr val="accent1"/>
          </a:lnRef>
          <a:fillRef idx="0">
            <a:schemeClr val="accent1"/>
          </a:fillRef>
          <a:effectRef idx="1">
            <a:schemeClr val="accent1"/>
          </a:effectRef>
          <a:fontRef idx="minor">
            <a:schemeClr val="tx1"/>
          </a:fontRef>
        </p:style>
      </p:cxnSp>
      <p:sp>
        <p:nvSpPr>
          <p:cNvPr id="43" name="Diamond 42"/>
          <p:cNvSpPr/>
          <p:nvPr/>
        </p:nvSpPr>
        <p:spPr>
          <a:xfrm>
            <a:off x="7641183" y="3040379"/>
            <a:ext cx="146304" cy="146304"/>
          </a:xfrm>
          <a:prstGeom prst="diamond">
            <a:avLst/>
          </a:prstGeom>
          <a:solidFill>
            <a:srgbClr val="C984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4" name="TextBox 43"/>
          <p:cNvSpPr txBox="1"/>
          <p:nvPr/>
        </p:nvSpPr>
        <p:spPr>
          <a:xfrm>
            <a:off x="6324447" y="2788920"/>
            <a:ext cx="1243584" cy="649224"/>
          </a:xfrm>
          <a:prstGeom prst="rect">
            <a:avLst/>
          </a:prstGeom>
          <a:noFill/>
        </p:spPr>
        <p:txBody>
          <a:bodyPr wrap="square" lIns="45720" rIns="45720" tIns="27432" bIns="27432" anchor="ctr">
            <a:noAutofit/>
          </a:bodyPr>
          <a:lstStyle/>
          <a:p>
            <a:pPr algn="l">
              <a:lnSpc>
                <a:spcPct val="100000"/>
              </a:lnSpc>
            </a:pPr>
            <a:r>
              <a:rPr sz="1200" b="0" i="0">
                <a:solidFill>
                  <a:srgbClr val="A7B2B0"/>
                </a:solidFill>
                <a:latin typeface="Consolas"/>
              </a:rPr>
              <a:t>2026-08-29</a:t>
            </a:r>
          </a:p>
        </p:txBody>
      </p:sp>
      <p:sp>
        <p:nvSpPr>
          <p:cNvPr id="45" name="TextBox 44"/>
          <p:cNvSpPr txBox="1"/>
          <p:nvPr/>
        </p:nvSpPr>
        <p:spPr>
          <a:xfrm>
            <a:off x="7897215" y="2788920"/>
            <a:ext cx="1143000" cy="649224"/>
          </a:xfrm>
          <a:prstGeom prst="rect">
            <a:avLst/>
          </a:prstGeom>
          <a:noFill/>
        </p:spPr>
        <p:txBody>
          <a:bodyPr wrap="square" lIns="45720" rIns="45720" tIns="27432" bIns="27432" anchor="ctr">
            <a:noAutofit/>
          </a:bodyPr>
          <a:lstStyle/>
          <a:p>
            <a:pPr algn="l">
              <a:lnSpc>
                <a:spcPct val="100000"/>
              </a:lnSpc>
            </a:pPr>
            <a:r>
              <a:rPr sz="1600" b="1" i="0">
                <a:solidFill>
                  <a:srgbClr val="F7F2E8"/>
                </a:solidFill>
                <a:latin typeface="Palatino Linotype"/>
              </a:rPr>
              <a:t>v1.50.4s</a:t>
            </a:r>
          </a:p>
        </p:txBody>
      </p:sp>
      <p:sp>
        <p:nvSpPr>
          <p:cNvPr id="46" name="TextBox 45"/>
          <p:cNvSpPr txBox="1"/>
          <p:nvPr/>
        </p:nvSpPr>
        <p:spPr>
          <a:xfrm>
            <a:off x="9067647" y="2788920"/>
            <a:ext cx="2557119" cy="649224"/>
          </a:xfrm>
          <a:prstGeom prst="rect">
            <a:avLst/>
          </a:prstGeom>
          <a:noFill/>
        </p:spPr>
        <p:txBody>
          <a:bodyPr wrap="square" lIns="45720" rIns="45720" tIns="27432" bIns="27432" anchor="ctr">
            <a:noAutofit/>
          </a:bodyPr>
          <a:lstStyle/>
          <a:p>
            <a:pPr algn="l">
              <a:lnSpc>
                <a:spcPct val="100000"/>
              </a:lnSpc>
            </a:pPr>
            <a:r>
              <a:rPr sz="1200" b="0" i="0">
                <a:solidFill>
                  <a:srgbClr val="A7B2B0"/>
                </a:solidFill>
                <a:latin typeface="Segoe UI"/>
              </a:rPr>
              <a:t>Release v1.50.4s Pairing with Tlamatini 1.50.4.</a:t>
            </a:r>
          </a:p>
        </p:txBody>
      </p:sp>
      <p:cxnSp>
        <p:nvCxnSpPr>
          <p:cNvPr id="47" name="Connector 46"/>
          <p:cNvCxnSpPr/>
          <p:nvPr/>
        </p:nvCxnSpPr>
        <p:spPr>
          <a:xfrm>
            <a:off x="7714335" y="3890771"/>
            <a:ext cx="0" cy="502921"/>
          </a:xfrm>
          <a:prstGeom prst="line">
            <a:avLst/>
          </a:prstGeom>
          <a:ln w="15240">
            <a:solidFill>
              <a:srgbClr val="C98457"/>
            </a:solidFill>
          </a:ln>
        </p:spPr>
        <p:style>
          <a:lnRef idx="2">
            <a:schemeClr val="accent1"/>
          </a:lnRef>
          <a:fillRef idx="0">
            <a:schemeClr val="accent1"/>
          </a:fillRef>
          <a:effectRef idx="1">
            <a:schemeClr val="accent1"/>
          </a:effectRef>
          <a:fontRef idx="minor">
            <a:schemeClr val="tx1"/>
          </a:fontRef>
        </p:style>
      </p:cxnSp>
      <p:sp>
        <p:nvSpPr>
          <p:cNvPr id="48" name="Diamond 47"/>
          <p:cNvSpPr/>
          <p:nvPr/>
        </p:nvSpPr>
        <p:spPr>
          <a:xfrm>
            <a:off x="7641183" y="3726179"/>
            <a:ext cx="146304" cy="146304"/>
          </a:xfrm>
          <a:prstGeom prst="diamond">
            <a:avLst/>
          </a:prstGeom>
          <a:solidFill>
            <a:srgbClr val="C984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9" name="TextBox 48"/>
          <p:cNvSpPr txBox="1"/>
          <p:nvPr/>
        </p:nvSpPr>
        <p:spPr>
          <a:xfrm>
            <a:off x="6324447" y="3474720"/>
            <a:ext cx="1243584" cy="649224"/>
          </a:xfrm>
          <a:prstGeom prst="rect">
            <a:avLst/>
          </a:prstGeom>
          <a:noFill/>
        </p:spPr>
        <p:txBody>
          <a:bodyPr wrap="square" lIns="45720" rIns="45720" tIns="27432" bIns="27432" anchor="ctr">
            <a:noAutofit/>
          </a:bodyPr>
          <a:lstStyle/>
          <a:p>
            <a:pPr algn="l">
              <a:lnSpc>
                <a:spcPct val="100000"/>
              </a:lnSpc>
            </a:pPr>
            <a:r>
              <a:rPr sz="1200" b="0" i="0">
                <a:solidFill>
                  <a:srgbClr val="A7B2B0"/>
                </a:solidFill>
                <a:latin typeface="Consolas"/>
              </a:rPr>
              <a:t>2026-09-03</a:t>
            </a:r>
          </a:p>
        </p:txBody>
      </p:sp>
      <p:sp>
        <p:nvSpPr>
          <p:cNvPr id="50" name="TextBox 49"/>
          <p:cNvSpPr txBox="1"/>
          <p:nvPr/>
        </p:nvSpPr>
        <p:spPr>
          <a:xfrm>
            <a:off x="7897215" y="3474720"/>
            <a:ext cx="1143000" cy="649224"/>
          </a:xfrm>
          <a:prstGeom prst="rect">
            <a:avLst/>
          </a:prstGeom>
          <a:noFill/>
        </p:spPr>
        <p:txBody>
          <a:bodyPr wrap="square" lIns="45720" rIns="45720" tIns="27432" bIns="27432" anchor="ctr">
            <a:noAutofit/>
          </a:bodyPr>
          <a:lstStyle/>
          <a:p>
            <a:pPr algn="l">
              <a:lnSpc>
                <a:spcPct val="100000"/>
              </a:lnSpc>
            </a:pPr>
            <a:r>
              <a:rPr sz="1600" b="1" i="0">
                <a:solidFill>
                  <a:srgbClr val="F7F2E8"/>
                </a:solidFill>
                <a:latin typeface="Palatino Linotype"/>
              </a:rPr>
              <a:t>v1.50.6s</a:t>
            </a:r>
          </a:p>
        </p:txBody>
      </p:sp>
      <p:sp>
        <p:nvSpPr>
          <p:cNvPr id="51" name="TextBox 50"/>
          <p:cNvSpPr txBox="1"/>
          <p:nvPr/>
        </p:nvSpPr>
        <p:spPr>
          <a:xfrm>
            <a:off x="9067647" y="3474720"/>
            <a:ext cx="2557119" cy="649224"/>
          </a:xfrm>
          <a:prstGeom prst="rect">
            <a:avLst/>
          </a:prstGeom>
          <a:noFill/>
        </p:spPr>
        <p:txBody>
          <a:bodyPr wrap="square" lIns="45720" rIns="45720" tIns="27432" bIns="27432" anchor="ctr">
            <a:noAutofit/>
          </a:bodyPr>
          <a:lstStyle/>
          <a:p>
            <a:pPr algn="l">
              <a:lnSpc>
                <a:spcPct val="100000"/>
              </a:lnSpc>
            </a:pPr>
            <a:r>
              <a:rPr sz="1200" b="0" i="0">
                <a:solidFill>
                  <a:srgbClr val="A7B2B0"/>
                </a:solidFill>
                <a:latin typeface="Segoe UI"/>
              </a:rPr>
              <a:t>Release v1.50.6s Paired functionality with Tlamatini (english).</a:t>
            </a:r>
          </a:p>
        </p:txBody>
      </p:sp>
      <p:cxnSp>
        <p:nvCxnSpPr>
          <p:cNvPr id="52" name="Connector 51"/>
          <p:cNvCxnSpPr/>
          <p:nvPr/>
        </p:nvCxnSpPr>
        <p:spPr>
          <a:xfrm>
            <a:off x="7714335" y="4576571"/>
            <a:ext cx="0" cy="502921"/>
          </a:xfrm>
          <a:prstGeom prst="line">
            <a:avLst/>
          </a:prstGeom>
          <a:ln w="15240">
            <a:solidFill>
              <a:srgbClr val="C98457"/>
            </a:solidFill>
          </a:ln>
        </p:spPr>
        <p:style>
          <a:lnRef idx="2">
            <a:schemeClr val="accent1"/>
          </a:lnRef>
          <a:fillRef idx="0">
            <a:schemeClr val="accent1"/>
          </a:fillRef>
          <a:effectRef idx="1">
            <a:schemeClr val="accent1"/>
          </a:effectRef>
          <a:fontRef idx="minor">
            <a:schemeClr val="tx1"/>
          </a:fontRef>
        </p:style>
      </p:cxnSp>
      <p:sp>
        <p:nvSpPr>
          <p:cNvPr id="53" name="Diamond 52"/>
          <p:cNvSpPr/>
          <p:nvPr/>
        </p:nvSpPr>
        <p:spPr>
          <a:xfrm>
            <a:off x="7641183" y="4411979"/>
            <a:ext cx="146304" cy="146304"/>
          </a:xfrm>
          <a:prstGeom prst="diamond">
            <a:avLst/>
          </a:prstGeom>
          <a:solidFill>
            <a:srgbClr val="C984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4" name="TextBox 53"/>
          <p:cNvSpPr txBox="1"/>
          <p:nvPr/>
        </p:nvSpPr>
        <p:spPr>
          <a:xfrm>
            <a:off x="6324447" y="4160519"/>
            <a:ext cx="1243584" cy="649224"/>
          </a:xfrm>
          <a:prstGeom prst="rect">
            <a:avLst/>
          </a:prstGeom>
          <a:noFill/>
        </p:spPr>
        <p:txBody>
          <a:bodyPr wrap="square" lIns="45720" rIns="45720" tIns="27432" bIns="27432" anchor="ctr">
            <a:noAutofit/>
          </a:bodyPr>
          <a:lstStyle/>
          <a:p>
            <a:pPr algn="l">
              <a:lnSpc>
                <a:spcPct val="100000"/>
              </a:lnSpc>
            </a:pPr>
            <a:r>
              <a:rPr sz="1200" b="0" i="0">
                <a:solidFill>
                  <a:srgbClr val="A7B2B0"/>
                </a:solidFill>
                <a:latin typeface="Consolas"/>
              </a:rPr>
              <a:t>2026-09-08</a:t>
            </a:r>
          </a:p>
        </p:txBody>
      </p:sp>
      <p:sp>
        <p:nvSpPr>
          <p:cNvPr id="55" name="TextBox 54"/>
          <p:cNvSpPr txBox="1"/>
          <p:nvPr/>
        </p:nvSpPr>
        <p:spPr>
          <a:xfrm>
            <a:off x="7897215" y="4160519"/>
            <a:ext cx="1143000" cy="649224"/>
          </a:xfrm>
          <a:prstGeom prst="rect">
            <a:avLst/>
          </a:prstGeom>
          <a:noFill/>
        </p:spPr>
        <p:txBody>
          <a:bodyPr wrap="square" lIns="45720" rIns="45720" tIns="27432" bIns="27432" anchor="ctr">
            <a:noAutofit/>
          </a:bodyPr>
          <a:lstStyle/>
          <a:p>
            <a:pPr algn="l">
              <a:lnSpc>
                <a:spcPct val="100000"/>
              </a:lnSpc>
            </a:pPr>
            <a:r>
              <a:rPr sz="1600" b="1" i="0">
                <a:solidFill>
                  <a:srgbClr val="F7F2E8"/>
                </a:solidFill>
                <a:latin typeface="Palatino Linotype"/>
              </a:rPr>
              <a:t>v1.51.3s</a:t>
            </a:r>
          </a:p>
        </p:txBody>
      </p:sp>
      <p:sp>
        <p:nvSpPr>
          <p:cNvPr id="56" name="TextBox 55"/>
          <p:cNvSpPr txBox="1"/>
          <p:nvPr/>
        </p:nvSpPr>
        <p:spPr>
          <a:xfrm>
            <a:off x="9067647" y="4160519"/>
            <a:ext cx="2557119" cy="649224"/>
          </a:xfrm>
          <a:prstGeom prst="rect">
            <a:avLst/>
          </a:prstGeom>
          <a:noFill/>
        </p:spPr>
        <p:txBody>
          <a:bodyPr wrap="square" lIns="45720" rIns="45720" tIns="27432" bIns="27432" anchor="ctr">
            <a:noAutofit/>
          </a:bodyPr>
          <a:lstStyle/>
          <a:p>
            <a:pPr algn="l">
              <a:lnSpc>
                <a:spcPct val="100000"/>
              </a:lnSpc>
            </a:pPr>
            <a:r>
              <a:rPr sz="950" b="0" i="0">
                <a:solidFill>
                  <a:srgbClr val="A7B2B0"/>
                </a:solidFill>
                <a:latin typeface="Segoe UI"/>
              </a:rPr>
              <a:t>Release 1.51.3s: Atelier de PDFer, ACPX que dice la verdad sobre sus pares, y el cierre de las colisiones de nombre de program/snippet.</a:t>
            </a:r>
          </a:p>
        </p:txBody>
      </p:sp>
      <p:cxnSp>
        <p:nvCxnSpPr>
          <p:cNvPr id="57" name="Connector 56"/>
          <p:cNvCxnSpPr/>
          <p:nvPr/>
        </p:nvCxnSpPr>
        <p:spPr>
          <a:xfrm>
            <a:off x="7714335" y="5262371"/>
            <a:ext cx="0" cy="502921"/>
          </a:xfrm>
          <a:prstGeom prst="line">
            <a:avLst/>
          </a:prstGeom>
          <a:ln w="15240">
            <a:solidFill>
              <a:srgbClr val="C98457"/>
            </a:solidFill>
          </a:ln>
        </p:spPr>
        <p:style>
          <a:lnRef idx="2">
            <a:schemeClr val="accent1"/>
          </a:lnRef>
          <a:fillRef idx="0">
            <a:schemeClr val="accent1"/>
          </a:fillRef>
          <a:effectRef idx="1">
            <a:schemeClr val="accent1"/>
          </a:effectRef>
          <a:fontRef idx="minor">
            <a:schemeClr val="tx1"/>
          </a:fontRef>
        </p:style>
      </p:cxnSp>
      <p:sp>
        <p:nvSpPr>
          <p:cNvPr id="58" name="Diamond 57"/>
          <p:cNvSpPr/>
          <p:nvPr/>
        </p:nvSpPr>
        <p:spPr>
          <a:xfrm>
            <a:off x="7641183" y="5097779"/>
            <a:ext cx="146304" cy="146304"/>
          </a:xfrm>
          <a:prstGeom prst="diamond">
            <a:avLst/>
          </a:prstGeom>
          <a:solidFill>
            <a:srgbClr val="C984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9" name="TextBox 58"/>
          <p:cNvSpPr txBox="1"/>
          <p:nvPr/>
        </p:nvSpPr>
        <p:spPr>
          <a:xfrm>
            <a:off x="6324447" y="4846319"/>
            <a:ext cx="1243584" cy="649224"/>
          </a:xfrm>
          <a:prstGeom prst="rect">
            <a:avLst/>
          </a:prstGeom>
          <a:noFill/>
        </p:spPr>
        <p:txBody>
          <a:bodyPr wrap="square" lIns="45720" rIns="45720" tIns="27432" bIns="27432" anchor="ctr">
            <a:noAutofit/>
          </a:bodyPr>
          <a:lstStyle/>
          <a:p>
            <a:pPr algn="l">
              <a:lnSpc>
                <a:spcPct val="100000"/>
              </a:lnSpc>
            </a:pPr>
            <a:r>
              <a:rPr sz="1200" b="0" i="0">
                <a:solidFill>
                  <a:srgbClr val="A7B2B0"/>
                </a:solidFill>
                <a:latin typeface="Consolas"/>
              </a:rPr>
              <a:t>2026-10-25</a:t>
            </a:r>
          </a:p>
        </p:txBody>
      </p:sp>
      <p:sp>
        <p:nvSpPr>
          <p:cNvPr id="60" name="TextBox 59"/>
          <p:cNvSpPr txBox="1"/>
          <p:nvPr/>
        </p:nvSpPr>
        <p:spPr>
          <a:xfrm>
            <a:off x="7897215" y="4846319"/>
            <a:ext cx="1143000" cy="649224"/>
          </a:xfrm>
          <a:prstGeom prst="rect">
            <a:avLst/>
          </a:prstGeom>
          <a:noFill/>
        </p:spPr>
        <p:txBody>
          <a:bodyPr wrap="square" lIns="45720" rIns="45720" tIns="27432" bIns="27432" anchor="ctr">
            <a:noAutofit/>
          </a:bodyPr>
          <a:lstStyle/>
          <a:p>
            <a:pPr algn="l">
              <a:lnSpc>
                <a:spcPct val="100000"/>
              </a:lnSpc>
            </a:pPr>
            <a:r>
              <a:rPr sz="1600" b="1" i="0">
                <a:solidFill>
                  <a:srgbClr val="F7F2E8"/>
                </a:solidFill>
                <a:latin typeface="Palatino Linotype"/>
              </a:rPr>
              <a:t>v1.91.0</a:t>
            </a:r>
          </a:p>
        </p:txBody>
      </p:sp>
      <p:sp>
        <p:nvSpPr>
          <p:cNvPr id="61" name="TextBox 60"/>
          <p:cNvSpPr txBox="1"/>
          <p:nvPr/>
        </p:nvSpPr>
        <p:spPr>
          <a:xfrm>
            <a:off x="9067647" y="4846319"/>
            <a:ext cx="2557119" cy="649224"/>
          </a:xfrm>
          <a:prstGeom prst="rect">
            <a:avLst/>
          </a:prstGeom>
          <a:noFill/>
        </p:spPr>
        <p:txBody>
          <a:bodyPr wrap="square" lIns="45720" rIns="45720" tIns="27432" bIns="27432" anchor="ctr">
            <a:noAutofit/>
          </a:bodyPr>
          <a:lstStyle/>
          <a:p>
            <a:pPr algn="l">
              <a:lnSpc>
                <a:spcPct val="100000"/>
              </a:lnSpc>
            </a:pPr>
            <a:r>
              <a:rPr sz="1200" b="0" i="0">
                <a:solidFill>
                  <a:srgbClr val="A7B2B0"/>
                </a:solidFill>
                <a:latin typeface="Segoe UI"/>
              </a:rPr>
              <a:t>Release v1.91.0 Completely ported from 1.91.0 Tlamatini (english) into Tlamatini-Spanish.</a:t>
            </a:r>
          </a:p>
        </p:txBody>
      </p:sp>
      <p:sp>
        <p:nvSpPr>
          <p:cNvPr id="62" name="Diamond 61"/>
          <p:cNvSpPr/>
          <p:nvPr/>
        </p:nvSpPr>
        <p:spPr>
          <a:xfrm>
            <a:off x="7641183" y="5783579"/>
            <a:ext cx="146304" cy="146304"/>
          </a:xfrm>
          <a:prstGeom prst="diamond">
            <a:avLst/>
          </a:prstGeom>
          <a:solidFill>
            <a:srgbClr val="3BBE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3" name="TextBox 62"/>
          <p:cNvSpPr txBox="1"/>
          <p:nvPr/>
        </p:nvSpPr>
        <p:spPr>
          <a:xfrm>
            <a:off x="6324447" y="5532119"/>
            <a:ext cx="1243584" cy="649224"/>
          </a:xfrm>
          <a:prstGeom prst="rect">
            <a:avLst/>
          </a:prstGeom>
          <a:noFill/>
        </p:spPr>
        <p:txBody>
          <a:bodyPr wrap="square" lIns="45720" rIns="45720" tIns="27432" bIns="27432" anchor="ctr">
            <a:noAutofit/>
          </a:bodyPr>
          <a:lstStyle/>
          <a:p>
            <a:pPr algn="l">
              <a:lnSpc>
                <a:spcPct val="100000"/>
              </a:lnSpc>
            </a:pPr>
            <a:r>
              <a:rPr sz="1200" b="0" i="0">
                <a:solidFill>
                  <a:srgbClr val="A7B2B0"/>
                </a:solidFill>
                <a:latin typeface="Consolas"/>
              </a:rPr>
              <a:t>2026-10-27</a:t>
            </a:r>
          </a:p>
        </p:txBody>
      </p:sp>
      <p:sp>
        <p:nvSpPr>
          <p:cNvPr id="64" name="TextBox 63"/>
          <p:cNvSpPr txBox="1"/>
          <p:nvPr/>
        </p:nvSpPr>
        <p:spPr>
          <a:xfrm>
            <a:off x="7897215" y="5532119"/>
            <a:ext cx="1143000" cy="649224"/>
          </a:xfrm>
          <a:prstGeom prst="rect">
            <a:avLst/>
          </a:prstGeom>
          <a:noFill/>
        </p:spPr>
        <p:txBody>
          <a:bodyPr wrap="square" lIns="45720" rIns="45720" tIns="27432" bIns="27432" anchor="ctr">
            <a:noAutofit/>
          </a:bodyPr>
          <a:lstStyle/>
          <a:p>
            <a:pPr algn="l">
              <a:lnSpc>
                <a:spcPct val="100000"/>
              </a:lnSpc>
            </a:pPr>
            <a:r>
              <a:rPr sz="1600" b="1" i="0">
                <a:solidFill>
                  <a:srgbClr val="E2B462"/>
                </a:solidFill>
                <a:latin typeface="Palatino Linotype"/>
              </a:rPr>
              <a:t>v1.91.1</a:t>
            </a:r>
          </a:p>
        </p:txBody>
      </p:sp>
      <p:sp>
        <p:nvSpPr>
          <p:cNvPr id="65" name="TextBox 64"/>
          <p:cNvSpPr txBox="1"/>
          <p:nvPr/>
        </p:nvSpPr>
        <p:spPr>
          <a:xfrm>
            <a:off x="9067647" y="5532119"/>
            <a:ext cx="2557119" cy="649224"/>
          </a:xfrm>
          <a:prstGeom prst="rect">
            <a:avLst/>
          </a:prstGeom>
          <a:noFill/>
        </p:spPr>
        <p:txBody>
          <a:bodyPr wrap="square" lIns="45720" rIns="45720" tIns="27432" bIns="27432" anchor="ctr">
            <a:noAutofit/>
          </a:bodyPr>
          <a:lstStyle/>
          <a:p>
            <a:pPr algn="l">
              <a:lnSpc>
                <a:spcPct val="100000"/>
              </a:lnSpc>
            </a:pPr>
            <a:r>
              <a:rPr sz="950" b="0" i="0">
                <a:solidFill>
                  <a:srgbClr val="A7B2B0"/>
                </a:solidFill>
                <a:latin typeface="Segoe UI"/>
              </a:rPr>
              <a:t>Release v1.91.1 Fix on prompting flow correction with conversation_user_id, and answering handling, and some additional GUI fixes (from Tlamatini english).</a:t>
            </a:r>
          </a:p>
        </p:txBody>
      </p:sp>
      <p:cxnSp>
        <p:nvCxnSpPr>
          <p:cNvPr id="66" name="Connector 65"/>
          <p:cNvCxnSpPr/>
          <p:nvPr/>
        </p:nvCxnSpPr>
        <p:spPr>
          <a:xfrm>
            <a:off x="566928" y="6373368"/>
            <a:ext cx="11057839" cy="0"/>
          </a:xfrm>
          <a:prstGeom prst="line">
            <a:avLst/>
          </a:prstGeom>
          <a:ln w="7620">
            <a:solidFill>
              <a:srgbClr val="2A3A40"/>
            </a:solidFill>
          </a:ln>
        </p:spPr>
        <p:style>
          <a:lnRef idx="2">
            <a:schemeClr val="accent1"/>
          </a:lnRef>
          <a:fillRef idx="0">
            <a:schemeClr val="accent1"/>
          </a:fillRef>
          <a:effectRef idx="1">
            <a:schemeClr val="accent1"/>
          </a:effectRef>
          <a:fontRef idx="minor">
            <a:schemeClr val="tx1"/>
          </a:fontRef>
        </p:style>
      </p:cxnSp>
      <p:sp>
        <p:nvSpPr>
          <p:cNvPr id="67" name="TextBox 66"/>
          <p:cNvSpPr txBox="1"/>
          <p:nvPr/>
        </p:nvSpPr>
        <p:spPr>
          <a:xfrm>
            <a:off x="566928" y="6419088"/>
            <a:ext cx="6858000" cy="274320"/>
          </a:xfrm>
          <a:prstGeom prst="rect">
            <a:avLst/>
          </a:prstGeom>
          <a:noFill/>
        </p:spPr>
        <p:txBody>
          <a:bodyPr wrap="square" lIns="45720" rIns="45720" tIns="27432" bIns="27432" anchor="t">
            <a:noAutofit/>
          </a:bodyPr>
          <a:lstStyle/>
          <a:p>
            <a:pPr algn="l">
              <a:lnSpc>
                <a:spcPct val="100000"/>
              </a:lnSpc>
            </a:pPr>
            <a:r>
              <a:rPr sz="850" b="0" i="0" spc="120">
                <a:solidFill>
                  <a:srgbClr val="A7B2B0"/>
                </a:solidFill>
                <a:latin typeface="Segoe UI Semibold"/>
              </a:rPr>
              <a:t>TLAMATINI  ·  VIII · RELEASE ACTUAL</a:t>
            </a:r>
          </a:p>
        </p:txBody>
      </p:sp>
      <p:sp>
        <p:nvSpPr>
          <p:cNvPr id="68" name="TextBox 67"/>
          <p:cNvSpPr txBox="1"/>
          <p:nvPr/>
        </p:nvSpPr>
        <p:spPr>
          <a:xfrm>
            <a:off x="8698687" y="6419088"/>
            <a:ext cx="2926080" cy="274320"/>
          </a:xfrm>
          <a:prstGeom prst="rect">
            <a:avLst/>
          </a:prstGeom>
          <a:noFill/>
        </p:spPr>
        <p:txBody>
          <a:bodyPr wrap="square" lIns="45720" rIns="45720" tIns="27432" bIns="27432" anchor="t">
            <a:noAutofit/>
          </a:bodyPr>
          <a:lstStyle/>
          <a:p>
            <a:pPr algn="r">
              <a:lnSpc>
                <a:spcPct val="100000"/>
              </a:lnSpc>
            </a:pPr>
            <a:r>
              <a:rPr sz="850" b="0" i="0" spc="100">
                <a:solidFill>
                  <a:srgbClr val="A7B2B0"/>
                </a:solidFill>
                <a:latin typeface="Segoe UI Semibold"/>
              </a:rPr>
              <a:t>v1.91.1   ·   160</a:t>
            </a:r>
          </a:p>
        </p:txBody>
      </p:sp>
    </p:spTree>
  </p:cSld>
  <p:clrMapOvr>
    <a:masterClrMapping/>
  </p:clrMapOvr>
</p:sld>
</file>

<file path=ppt/slides/slide1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content.png"/>
          <p:cNvPicPr>
            <a:picLocks noChangeAspect="1"/>
          </p:cNvPicPr>
          <p:nvPr/>
        </p:nvPicPr>
        <p:blipFill>
          <a:blip r:embed="rId2"/>
          <a:stretch>
            <a:fillRect/>
          </a:stretch>
        </p:blipFill>
        <p:spPr>
          <a:xfrm>
            <a:off x="0" y="0"/>
            <a:ext cx="12191695" cy="6858000"/>
          </a:xfrm>
          <a:prstGeom prst="rect">
            <a:avLst/>
          </a:prstGeom>
        </p:spPr>
      </p:pic>
      <p:sp>
        <p:nvSpPr>
          <p:cNvPr id="3" name="Diamond 2"/>
          <p:cNvSpPr/>
          <p:nvPr/>
        </p:nvSpPr>
        <p:spPr>
          <a:xfrm>
            <a:off x="566928" y="457200"/>
            <a:ext cx="100584" cy="100584"/>
          </a:xfrm>
          <a:prstGeom prst="diamond">
            <a:avLst/>
          </a:prstGeom>
          <a:solidFill>
            <a:srgbClr val="E2B4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49808" y="365760"/>
            <a:ext cx="8229600" cy="292608"/>
          </a:xfrm>
          <a:prstGeom prst="rect">
            <a:avLst/>
          </a:prstGeom>
          <a:noFill/>
        </p:spPr>
        <p:txBody>
          <a:bodyPr wrap="square" lIns="45720" rIns="45720" tIns="27432" bIns="27432" anchor="t">
            <a:noAutofit/>
          </a:bodyPr>
          <a:lstStyle/>
          <a:p>
            <a:pPr algn="l">
              <a:lnSpc>
                <a:spcPct val="100000"/>
              </a:lnSpc>
            </a:pPr>
            <a:r>
              <a:rPr sz="1100" b="0" i="0" spc="240">
                <a:solidFill>
                  <a:srgbClr val="C98457"/>
                </a:solidFill>
                <a:latin typeface="Segoe UI Semibold"/>
              </a:rPr>
              <a:t>IDENTIDAD DEL RELEASE</a:t>
            </a:r>
          </a:p>
        </p:txBody>
      </p:sp>
      <p:sp>
        <p:nvSpPr>
          <p:cNvPr id="5" name="TextBox 4"/>
          <p:cNvSpPr txBox="1"/>
          <p:nvPr/>
        </p:nvSpPr>
        <p:spPr>
          <a:xfrm>
            <a:off x="539496" y="676656"/>
            <a:ext cx="11057839" cy="658368"/>
          </a:xfrm>
          <a:prstGeom prst="rect">
            <a:avLst/>
          </a:prstGeom>
          <a:noFill/>
        </p:spPr>
        <p:txBody>
          <a:bodyPr wrap="square" lIns="45720" rIns="45720" tIns="27432" bIns="27432" anchor="t">
            <a:noAutofit/>
          </a:bodyPr>
          <a:lstStyle/>
          <a:p>
            <a:pPr algn="l">
              <a:lnSpc>
                <a:spcPct val="100000"/>
              </a:lnSpc>
            </a:pPr>
            <a:r>
              <a:rPr sz="3100" b="0" i="0">
                <a:solidFill>
                  <a:srgbClr val="F7F2E8"/>
                </a:solidFill>
                <a:latin typeface="Palatino Linotype"/>
              </a:rPr>
              <a:t>Una versión publicada: v1.91.1</a:t>
            </a:r>
          </a:p>
        </p:txBody>
      </p:sp>
      <p:sp>
        <p:nvSpPr>
          <p:cNvPr id="6" name="Rectangle 5"/>
          <p:cNvSpPr/>
          <p:nvPr/>
        </p:nvSpPr>
        <p:spPr>
          <a:xfrm>
            <a:off x="566928" y="1344168"/>
            <a:ext cx="822960" cy="36576"/>
          </a:xfrm>
          <a:prstGeom prst="rect">
            <a:avLst/>
          </a:prstGeom>
          <a:solidFill>
            <a:srgbClr val="E2B4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566928" y="1444752"/>
            <a:ext cx="10692079" cy="585216"/>
          </a:xfrm>
          <a:prstGeom prst="rect">
            <a:avLst/>
          </a:prstGeom>
          <a:noFill/>
        </p:spPr>
        <p:txBody>
          <a:bodyPr wrap="square" lIns="45720" rIns="45720" tIns="27432" bIns="27432" anchor="t">
            <a:noAutofit/>
          </a:bodyPr>
          <a:lstStyle/>
          <a:p>
            <a:pPr algn="l">
              <a:lnSpc>
                <a:spcPct val="100000"/>
              </a:lnSpc>
            </a:pPr>
            <a:r>
              <a:rPr sz="1450" b="0" i="0">
                <a:solidFill>
                  <a:srgbClr val="A7B2B0"/>
                </a:solidFill>
                <a:latin typeface="Segoe UI Semilight"/>
              </a:rPr>
              <a:t>La aplicación, las guías del usuario, el PDF y el PowerPoint identifican el mismo release actual. Los metadatos del repositorio registran la implementación inspeccionada para este dossier.</a:t>
            </a:r>
          </a:p>
        </p:txBody>
      </p:sp>
      <p:sp>
        <p:nvSpPr>
          <p:cNvPr id="8" name="Rounded Rectangle 7"/>
          <p:cNvSpPr/>
          <p:nvPr/>
        </p:nvSpPr>
        <p:spPr>
          <a:xfrm>
            <a:off x="566928" y="2084831"/>
            <a:ext cx="5212080" cy="1286255"/>
          </a:xfrm>
          <a:prstGeom prst="roundRect">
            <a:avLst>
              <a:gd name="adj" fmla="val 7109"/>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Diamond 8"/>
          <p:cNvSpPr/>
          <p:nvPr/>
        </p:nvSpPr>
        <p:spPr>
          <a:xfrm>
            <a:off x="768096" y="2663952"/>
            <a:ext cx="128016" cy="128016"/>
          </a:xfrm>
          <a:prstGeom prst="diamond">
            <a:avLst/>
          </a:prstGeom>
          <a:solidFill>
            <a:srgbClr val="3BBE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1024128" y="2139696"/>
            <a:ext cx="1554480" cy="1176528"/>
          </a:xfrm>
          <a:prstGeom prst="rect">
            <a:avLst/>
          </a:prstGeom>
          <a:noFill/>
        </p:spPr>
        <p:txBody>
          <a:bodyPr wrap="square" lIns="45720" rIns="45720" tIns="27432" bIns="27432" anchor="ctr">
            <a:noAutofit/>
          </a:bodyPr>
          <a:lstStyle/>
          <a:p>
            <a:pPr algn="l">
              <a:lnSpc>
                <a:spcPct val="100000"/>
              </a:lnSpc>
            </a:pPr>
            <a:r>
              <a:rPr sz="1600" b="0" i="0">
                <a:solidFill>
                  <a:srgbClr val="F7F2E8"/>
                </a:solidFill>
                <a:latin typeface="Segoe UI Semibold"/>
              </a:rPr>
              <a:t>Release actual</a:t>
            </a:r>
          </a:p>
        </p:txBody>
      </p:sp>
      <p:sp>
        <p:nvSpPr>
          <p:cNvPr id="11" name="TextBox 10"/>
          <p:cNvSpPr txBox="1"/>
          <p:nvPr/>
        </p:nvSpPr>
        <p:spPr>
          <a:xfrm>
            <a:off x="2670048" y="2139696"/>
            <a:ext cx="2971800" cy="1176528"/>
          </a:xfrm>
          <a:prstGeom prst="rect">
            <a:avLst/>
          </a:prstGeom>
          <a:noFill/>
        </p:spPr>
        <p:txBody>
          <a:bodyPr wrap="square" lIns="45720" rIns="45720" tIns="27432" bIns="27432" anchor="ctr">
            <a:noAutofit/>
          </a:bodyPr>
          <a:lstStyle/>
          <a:p>
            <a:pPr algn="l">
              <a:lnSpc>
                <a:spcPct val="100000"/>
              </a:lnSpc>
            </a:pPr>
            <a:r>
              <a:rPr sz="1400" b="0" i="0">
                <a:solidFill>
                  <a:srgbClr val="A7B2B0"/>
                </a:solidFill>
                <a:latin typeface="Segoe UI"/>
              </a:rPr>
              <a:t>v1.91.1</a:t>
            </a:r>
          </a:p>
        </p:txBody>
      </p:sp>
      <p:sp>
        <p:nvSpPr>
          <p:cNvPr id="12" name="Rounded Rectangle 11"/>
          <p:cNvSpPr/>
          <p:nvPr/>
        </p:nvSpPr>
        <p:spPr>
          <a:xfrm>
            <a:off x="566928" y="3499103"/>
            <a:ext cx="5212080" cy="1286255"/>
          </a:xfrm>
          <a:prstGeom prst="roundRect">
            <a:avLst>
              <a:gd name="adj" fmla="val 7109"/>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Diamond 12"/>
          <p:cNvSpPr/>
          <p:nvPr/>
        </p:nvSpPr>
        <p:spPr>
          <a:xfrm>
            <a:off x="768096" y="4078223"/>
            <a:ext cx="128016" cy="128016"/>
          </a:xfrm>
          <a:prstGeom prst="diamond">
            <a:avLst/>
          </a:prstGeom>
          <a:solidFill>
            <a:srgbClr val="C984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1024128" y="3553967"/>
            <a:ext cx="1554480" cy="1176528"/>
          </a:xfrm>
          <a:prstGeom prst="rect">
            <a:avLst/>
          </a:prstGeom>
          <a:noFill/>
        </p:spPr>
        <p:txBody>
          <a:bodyPr wrap="square" lIns="45720" rIns="45720" tIns="27432" bIns="27432" anchor="ctr">
            <a:noAutofit/>
          </a:bodyPr>
          <a:lstStyle/>
          <a:p>
            <a:pPr algn="l">
              <a:lnSpc>
                <a:spcPct val="100000"/>
              </a:lnSpc>
            </a:pPr>
            <a:r>
              <a:rPr sz="1600" b="0" i="0">
                <a:solidFill>
                  <a:srgbClr val="F7F2E8"/>
                </a:solidFill>
                <a:latin typeface="Segoe UI Semibold"/>
              </a:rPr>
              <a:t>Commit de la auditoría</a:t>
            </a:r>
          </a:p>
        </p:txBody>
      </p:sp>
      <p:sp>
        <p:nvSpPr>
          <p:cNvPr id="15" name="TextBox 14"/>
          <p:cNvSpPr txBox="1"/>
          <p:nvPr/>
        </p:nvSpPr>
        <p:spPr>
          <a:xfrm>
            <a:off x="2670048" y="3553967"/>
            <a:ext cx="2971800" cy="1176528"/>
          </a:xfrm>
          <a:prstGeom prst="rect">
            <a:avLst/>
          </a:prstGeom>
          <a:noFill/>
        </p:spPr>
        <p:txBody>
          <a:bodyPr wrap="square" lIns="45720" rIns="45720" tIns="27432" bIns="27432" anchor="ctr">
            <a:noAutofit/>
          </a:bodyPr>
          <a:lstStyle/>
          <a:p>
            <a:pPr algn="l">
              <a:lnSpc>
                <a:spcPct val="100000"/>
              </a:lnSpc>
            </a:pPr>
            <a:r>
              <a:rPr sz="1400" b="0" i="0">
                <a:solidFill>
                  <a:srgbClr val="A7B2B0"/>
                </a:solidFill>
                <a:latin typeface="Segoe UI"/>
              </a:rPr>
              <a:t>21b0a5c</a:t>
            </a:r>
          </a:p>
        </p:txBody>
      </p:sp>
      <p:sp>
        <p:nvSpPr>
          <p:cNvPr id="16" name="Rounded Rectangle 15"/>
          <p:cNvSpPr/>
          <p:nvPr/>
        </p:nvSpPr>
        <p:spPr>
          <a:xfrm>
            <a:off x="566928" y="4913376"/>
            <a:ext cx="5212080" cy="1286255"/>
          </a:xfrm>
          <a:prstGeom prst="roundRect">
            <a:avLst>
              <a:gd name="adj" fmla="val 7109"/>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Diamond 16"/>
          <p:cNvSpPr/>
          <p:nvPr/>
        </p:nvSpPr>
        <p:spPr>
          <a:xfrm>
            <a:off x="768096" y="5492495"/>
            <a:ext cx="128016" cy="128016"/>
          </a:xfrm>
          <a:prstGeom prst="diamond">
            <a:avLst/>
          </a:prstGeom>
          <a:solidFill>
            <a:srgbClr val="E2B4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1024128" y="4968239"/>
            <a:ext cx="1554480" cy="1176528"/>
          </a:xfrm>
          <a:prstGeom prst="rect">
            <a:avLst/>
          </a:prstGeom>
          <a:noFill/>
        </p:spPr>
        <p:txBody>
          <a:bodyPr wrap="square" lIns="45720" rIns="45720" tIns="27432" bIns="27432" anchor="ctr">
            <a:noAutofit/>
          </a:bodyPr>
          <a:lstStyle/>
          <a:p>
            <a:pPr algn="l">
              <a:lnSpc>
                <a:spcPct val="100000"/>
              </a:lnSpc>
            </a:pPr>
            <a:r>
              <a:rPr sz="1600" b="0" i="0">
                <a:solidFill>
                  <a:srgbClr val="F7F2E8"/>
                </a:solidFill>
                <a:latin typeface="Segoe UI Semibold"/>
              </a:rPr>
              <a:t>Versión del runtime</a:t>
            </a:r>
          </a:p>
        </p:txBody>
      </p:sp>
      <p:sp>
        <p:nvSpPr>
          <p:cNvPr id="19" name="TextBox 18"/>
          <p:cNvSpPr txBox="1"/>
          <p:nvPr/>
        </p:nvSpPr>
        <p:spPr>
          <a:xfrm>
            <a:off x="2670048" y="4968239"/>
            <a:ext cx="2971800" cy="1176528"/>
          </a:xfrm>
          <a:prstGeom prst="rect">
            <a:avLst/>
          </a:prstGeom>
          <a:noFill/>
        </p:spPr>
        <p:txBody>
          <a:bodyPr wrap="square" lIns="45720" rIns="45720" tIns="27432" bIns="27432" anchor="ctr">
            <a:noAutofit/>
          </a:bodyPr>
          <a:lstStyle/>
          <a:p>
            <a:pPr algn="l">
              <a:lnSpc>
                <a:spcPct val="100000"/>
              </a:lnSpc>
            </a:pPr>
            <a:r>
              <a:rPr sz="1400" b="0" i="0">
                <a:solidFill>
                  <a:srgbClr val="A7B2B0"/>
                </a:solidFill>
                <a:latin typeface="Segoe UI"/>
              </a:rPr>
              <a:t>1.91.1</a:t>
            </a:r>
          </a:p>
        </p:txBody>
      </p:sp>
      <p:sp>
        <p:nvSpPr>
          <p:cNvPr id="20" name="Rounded Rectangle 19"/>
          <p:cNvSpPr/>
          <p:nvPr/>
        </p:nvSpPr>
        <p:spPr>
          <a:xfrm>
            <a:off x="6144768" y="2084831"/>
            <a:ext cx="5479999" cy="2029967"/>
          </a:xfrm>
          <a:prstGeom prst="roundRect">
            <a:avLst>
              <a:gd name="adj" fmla="val 3603"/>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ounded Rectangle 20"/>
          <p:cNvSpPr/>
          <p:nvPr/>
        </p:nvSpPr>
        <p:spPr>
          <a:xfrm>
            <a:off x="6144768" y="2084831"/>
            <a:ext cx="5479999" cy="384048"/>
          </a:xfrm>
          <a:prstGeom prst="roundRect">
            <a:avLst>
              <a:gd name="adj" fmla="val 19047"/>
            </a:avLst>
          </a:prstGeom>
          <a:solidFill>
            <a:srgbClr val="151F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6217920" y="2121408"/>
            <a:ext cx="2045695" cy="310896"/>
          </a:xfrm>
          <a:prstGeom prst="rect">
            <a:avLst/>
          </a:prstGeom>
          <a:noFill/>
        </p:spPr>
        <p:txBody>
          <a:bodyPr wrap="square" lIns="45720" rIns="45720" tIns="27432" bIns="27432" anchor="ctr">
            <a:noAutofit/>
          </a:bodyPr>
          <a:lstStyle/>
          <a:p>
            <a:pPr algn="l">
              <a:lnSpc>
                <a:spcPct val="100000"/>
              </a:lnSpc>
            </a:pPr>
            <a:r>
              <a:rPr sz="1000" b="0" i="0" spc="120">
                <a:solidFill>
                  <a:srgbClr val="E2B462"/>
                </a:solidFill>
                <a:latin typeface="Segoe UI Semibold"/>
              </a:rPr>
              <a:t>DATO</a:t>
            </a:r>
          </a:p>
        </p:txBody>
      </p:sp>
      <p:sp>
        <p:nvSpPr>
          <p:cNvPr id="23" name="TextBox 22"/>
          <p:cNvSpPr txBox="1"/>
          <p:nvPr/>
        </p:nvSpPr>
        <p:spPr>
          <a:xfrm>
            <a:off x="8409919" y="2121408"/>
            <a:ext cx="3141695" cy="310896"/>
          </a:xfrm>
          <a:prstGeom prst="rect">
            <a:avLst/>
          </a:prstGeom>
          <a:noFill/>
        </p:spPr>
        <p:txBody>
          <a:bodyPr wrap="square" lIns="45720" rIns="45720" tIns="27432" bIns="27432" anchor="ctr">
            <a:noAutofit/>
          </a:bodyPr>
          <a:lstStyle/>
          <a:p>
            <a:pPr algn="l">
              <a:lnSpc>
                <a:spcPct val="100000"/>
              </a:lnSpc>
            </a:pPr>
            <a:r>
              <a:rPr sz="1000" b="0" i="0" spc="120">
                <a:solidFill>
                  <a:srgbClr val="E2B462"/>
                </a:solidFill>
                <a:latin typeface="Segoe UI Semibold"/>
              </a:rPr>
              <a:t>VALOR</a:t>
            </a:r>
          </a:p>
        </p:txBody>
      </p:sp>
      <p:sp>
        <p:nvSpPr>
          <p:cNvPr id="24" name="TextBox 23"/>
          <p:cNvSpPr txBox="1"/>
          <p:nvPr/>
        </p:nvSpPr>
        <p:spPr>
          <a:xfrm>
            <a:off x="6217920" y="2505456"/>
            <a:ext cx="2045695" cy="256031"/>
          </a:xfrm>
          <a:prstGeom prst="rect">
            <a:avLst/>
          </a:prstGeom>
          <a:noFill/>
        </p:spPr>
        <p:txBody>
          <a:bodyPr wrap="square" lIns="45720" rIns="45720" tIns="27432" bIns="27432" anchor="ctr">
            <a:noAutofit/>
          </a:bodyPr>
          <a:lstStyle/>
          <a:p>
            <a:pPr algn="l">
              <a:lnSpc>
                <a:spcPct val="100000"/>
              </a:lnSpc>
            </a:pPr>
            <a:r>
              <a:rPr sz="1200" b="0" i="0">
                <a:solidFill>
                  <a:srgbClr val="F7F2E8"/>
                </a:solidFill>
                <a:latin typeface="Segoe UI Semibold"/>
              </a:rPr>
              <a:t>Release actual</a:t>
            </a:r>
          </a:p>
        </p:txBody>
      </p:sp>
      <p:sp>
        <p:nvSpPr>
          <p:cNvPr id="25" name="TextBox 24"/>
          <p:cNvSpPr txBox="1"/>
          <p:nvPr/>
        </p:nvSpPr>
        <p:spPr>
          <a:xfrm>
            <a:off x="8409919" y="2505456"/>
            <a:ext cx="3141695" cy="256031"/>
          </a:xfrm>
          <a:prstGeom prst="rect">
            <a:avLst/>
          </a:prstGeom>
          <a:noFill/>
        </p:spPr>
        <p:txBody>
          <a:bodyPr wrap="square" lIns="45720" rIns="45720" tIns="27432" bIns="27432" anchor="ctr">
            <a:noAutofit/>
          </a:bodyPr>
          <a:lstStyle/>
          <a:p>
            <a:pPr algn="l">
              <a:lnSpc>
                <a:spcPct val="100000"/>
              </a:lnSpc>
            </a:pPr>
            <a:r>
              <a:rPr sz="1200" b="0" i="0">
                <a:solidFill>
                  <a:srgbClr val="A7B2B0"/>
                </a:solidFill>
                <a:latin typeface="Segoe UI"/>
              </a:rPr>
              <a:t>v1.91.1</a:t>
            </a:r>
          </a:p>
        </p:txBody>
      </p:sp>
      <p:sp>
        <p:nvSpPr>
          <p:cNvPr id="26" name="Rectangle 25"/>
          <p:cNvSpPr/>
          <p:nvPr/>
        </p:nvSpPr>
        <p:spPr>
          <a:xfrm>
            <a:off x="6163056" y="2798063"/>
            <a:ext cx="5443423" cy="329184"/>
          </a:xfrm>
          <a:prstGeom prst="rect">
            <a:avLst/>
          </a:prstGeom>
          <a:solidFill>
            <a:srgbClr val="1824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6217920" y="2834639"/>
            <a:ext cx="2045695" cy="256031"/>
          </a:xfrm>
          <a:prstGeom prst="rect">
            <a:avLst/>
          </a:prstGeom>
          <a:noFill/>
        </p:spPr>
        <p:txBody>
          <a:bodyPr wrap="square" lIns="45720" rIns="45720" tIns="27432" bIns="27432" anchor="ctr">
            <a:noAutofit/>
          </a:bodyPr>
          <a:lstStyle/>
          <a:p>
            <a:pPr algn="l">
              <a:lnSpc>
                <a:spcPct val="100000"/>
              </a:lnSpc>
            </a:pPr>
            <a:r>
              <a:rPr sz="1200" b="0" i="0">
                <a:solidFill>
                  <a:srgbClr val="F7F2E8"/>
                </a:solidFill>
                <a:latin typeface="Segoe UI Semibold"/>
              </a:rPr>
              <a:t>Versión del runtime</a:t>
            </a:r>
          </a:p>
        </p:txBody>
      </p:sp>
      <p:sp>
        <p:nvSpPr>
          <p:cNvPr id="28" name="TextBox 27"/>
          <p:cNvSpPr txBox="1"/>
          <p:nvPr/>
        </p:nvSpPr>
        <p:spPr>
          <a:xfrm>
            <a:off x="8409919" y="2834639"/>
            <a:ext cx="3141695" cy="256031"/>
          </a:xfrm>
          <a:prstGeom prst="rect">
            <a:avLst/>
          </a:prstGeom>
          <a:noFill/>
        </p:spPr>
        <p:txBody>
          <a:bodyPr wrap="square" lIns="45720" rIns="45720" tIns="27432" bIns="27432" anchor="ctr">
            <a:noAutofit/>
          </a:bodyPr>
          <a:lstStyle/>
          <a:p>
            <a:pPr algn="l">
              <a:lnSpc>
                <a:spcPct val="100000"/>
              </a:lnSpc>
            </a:pPr>
            <a:r>
              <a:rPr sz="1200" b="0" i="0">
                <a:solidFill>
                  <a:srgbClr val="A7B2B0"/>
                </a:solidFill>
                <a:latin typeface="Segoe UI"/>
              </a:rPr>
              <a:t>1.91.1</a:t>
            </a:r>
          </a:p>
        </p:txBody>
      </p:sp>
      <p:sp>
        <p:nvSpPr>
          <p:cNvPr id="29" name="TextBox 28"/>
          <p:cNvSpPr txBox="1"/>
          <p:nvPr/>
        </p:nvSpPr>
        <p:spPr>
          <a:xfrm>
            <a:off x="6217920" y="3163823"/>
            <a:ext cx="2045695" cy="256031"/>
          </a:xfrm>
          <a:prstGeom prst="rect">
            <a:avLst/>
          </a:prstGeom>
          <a:noFill/>
        </p:spPr>
        <p:txBody>
          <a:bodyPr wrap="square" lIns="45720" rIns="45720" tIns="27432" bIns="27432" anchor="ctr">
            <a:noAutofit/>
          </a:bodyPr>
          <a:lstStyle/>
          <a:p>
            <a:pPr algn="l">
              <a:lnSpc>
                <a:spcPct val="100000"/>
              </a:lnSpc>
            </a:pPr>
            <a:r>
              <a:rPr sz="1200" b="0" i="0">
                <a:solidFill>
                  <a:srgbClr val="F7F2E8"/>
                </a:solidFill>
                <a:latin typeface="Segoe UI Semibold"/>
              </a:rPr>
              <a:t>Tag anotado existente</a:t>
            </a:r>
          </a:p>
        </p:txBody>
      </p:sp>
      <p:sp>
        <p:nvSpPr>
          <p:cNvPr id="30" name="TextBox 29"/>
          <p:cNvSpPr txBox="1"/>
          <p:nvPr/>
        </p:nvSpPr>
        <p:spPr>
          <a:xfrm>
            <a:off x="8409919" y="3163823"/>
            <a:ext cx="3141695" cy="256031"/>
          </a:xfrm>
          <a:prstGeom prst="rect">
            <a:avLst/>
          </a:prstGeom>
          <a:noFill/>
        </p:spPr>
        <p:txBody>
          <a:bodyPr wrap="square" lIns="45720" rIns="45720" tIns="27432" bIns="27432" anchor="ctr">
            <a:noAutofit/>
          </a:bodyPr>
          <a:lstStyle/>
          <a:p>
            <a:pPr algn="l">
              <a:lnSpc>
                <a:spcPct val="100000"/>
              </a:lnSpc>
            </a:pPr>
            <a:r>
              <a:rPr sz="1200" b="0" i="0">
                <a:solidFill>
                  <a:srgbClr val="A7B2B0"/>
                </a:solidFill>
                <a:latin typeface="Segoe UI"/>
              </a:rPr>
              <a:t>v1.91.1 → 74a53b9 (2026-10-27)</a:t>
            </a:r>
          </a:p>
        </p:txBody>
      </p:sp>
      <p:sp>
        <p:nvSpPr>
          <p:cNvPr id="31" name="Rectangle 30"/>
          <p:cNvSpPr/>
          <p:nvPr/>
        </p:nvSpPr>
        <p:spPr>
          <a:xfrm>
            <a:off x="6163056" y="3456431"/>
            <a:ext cx="5443423" cy="329184"/>
          </a:xfrm>
          <a:prstGeom prst="rect">
            <a:avLst/>
          </a:prstGeom>
          <a:solidFill>
            <a:srgbClr val="1824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TextBox 31"/>
          <p:cNvSpPr txBox="1"/>
          <p:nvPr/>
        </p:nvSpPr>
        <p:spPr>
          <a:xfrm>
            <a:off x="6217920" y="3493007"/>
            <a:ext cx="2045695" cy="256031"/>
          </a:xfrm>
          <a:prstGeom prst="rect">
            <a:avLst/>
          </a:prstGeom>
          <a:noFill/>
        </p:spPr>
        <p:txBody>
          <a:bodyPr wrap="square" lIns="45720" rIns="45720" tIns="27432" bIns="27432" anchor="ctr">
            <a:noAutofit/>
          </a:bodyPr>
          <a:lstStyle/>
          <a:p>
            <a:pPr algn="l">
              <a:lnSpc>
                <a:spcPct val="100000"/>
              </a:lnSpc>
            </a:pPr>
            <a:r>
              <a:rPr sz="1200" b="0" i="0">
                <a:solidFill>
                  <a:srgbClr val="F7F2E8"/>
                </a:solidFill>
                <a:latin typeface="Segoe UI Semibold"/>
              </a:rPr>
              <a:t>Commit inspeccionado</a:t>
            </a:r>
          </a:p>
        </p:txBody>
      </p:sp>
      <p:sp>
        <p:nvSpPr>
          <p:cNvPr id="33" name="TextBox 32"/>
          <p:cNvSpPr txBox="1"/>
          <p:nvPr/>
        </p:nvSpPr>
        <p:spPr>
          <a:xfrm>
            <a:off x="8409919" y="3493007"/>
            <a:ext cx="3141695" cy="256031"/>
          </a:xfrm>
          <a:prstGeom prst="rect">
            <a:avLst/>
          </a:prstGeom>
          <a:noFill/>
        </p:spPr>
        <p:txBody>
          <a:bodyPr wrap="square" lIns="45720" rIns="45720" tIns="27432" bIns="27432" anchor="ctr">
            <a:noAutofit/>
          </a:bodyPr>
          <a:lstStyle/>
          <a:p>
            <a:pPr algn="l">
              <a:lnSpc>
                <a:spcPct val="100000"/>
              </a:lnSpc>
            </a:pPr>
            <a:r>
              <a:rPr sz="1200" b="0" i="0">
                <a:solidFill>
                  <a:srgbClr val="A7B2B0"/>
                </a:solidFill>
                <a:latin typeface="Segoe UI"/>
              </a:rPr>
              <a:t>21b0a5c</a:t>
            </a:r>
          </a:p>
        </p:txBody>
      </p:sp>
      <p:sp>
        <p:nvSpPr>
          <p:cNvPr id="34" name="TextBox 33"/>
          <p:cNvSpPr txBox="1"/>
          <p:nvPr/>
        </p:nvSpPr>
        <p:spPr>
          <a:xfrm>
            <a:off x="6217920" y="3822191"/>
            <a:ext cx="2045695" cy="256031"/>
          </a:xfrm>
          <a:prstGeom prst="rect">
            <a:avLst/>
          </a:prstGeom>
          <a:noFill/>
        </p:spPr>
        <p:txBody>
          <a:bodyPr wrap="square" lIns="45720" rIns="45720" tIns="27432" bIns="27432" anchor="ctr">
            <a:noAutofit/>
          </a:bodyPr>
          <a:lstStyle/>
          <a:p>
            <a:pPr algn="l">
              <a:lnSpc>
                <a:spcPct val="100000"/>
              </a:lnSpc>
            </a:pPr>
            <a:r>
              <a:rPr sz="1200" b="0" i="0">
                <a:solidFill>
                  <a:srgbClr val="F7F2E8"/>
                </a:solidFill>
                <a:latin typeface="Segoe UI Semibold"/>
              </a:rPr>
              <a:t>Tag en el remoto</a:t>
            </a:r>
          </a:p>
        </p:txBody>
      </p:sp>
      <p:sp>
        <p:nvSpPr>
          <p:cNvPr id="35" name="TextBox 34"/>
          <p:cNvSpPr txBox="1"/>
          <p:nvPr/>
        </p:nvSpPr>
        <p:spPr>
          <a:xfrm>
            <a:off x="8409919" y="3822191"/>
            <a:ext cx="3141695" cy="256031"/>
          </a:xfrm>
          <a:prstGeom prst="rect">
            <a:avLst/>
          </a:prstGeom>
          <a:noFill/>
        </p:spPr>
        <p:txBody>
          <a:bodyPr wrap="square" lIns="45720" rIns="45720" tIns="27432" bIns="27432" anchor="ctr">
            <a:noAutofit/>
          </a:bodyPr>
          <a:lstStyle/>
          <a:p>
            <a:pPr algn="l">
              <a:lnSpc>
                <a:spcPct val="100000"/>
              </a:lnSpc>
            </a:pPr>
            <a:r>
              <a:rPr sz="1200" b="0" i="0">
                <a:solidFill>
                  <a:srgbClr val="A7B2B0"/>
                </a:solidFill>
                <a:latin typeface="Segoe UI"/>
              </a:rPr>
              <a:t>No</a:t>
            </a:r>
          </a:p>
        </p:txBody>
      </p:sp>
      <p:cxnSp>
        <p:nvCxnSpPr>
          <p:cNvPr id="36" name="Connector 35"/>
          <p:cNvCxnSpPr/>
          <p:nvPr/>
        </p:nvCxnSpPr>
        <p:spPr>
          <a:xfrm>
            <a:off x="566928" y="6373368"/>
            <a:ext cx="11057839" cy="0"/>
          </a:xfrm>
          <a:prstGeom prst="line">
            <a:avLst/>
          </a:prstGeom>
          <a:ln w="7620">
            <a:solidFill>
              <a:srgbClr val="2A3A40"/>
            </a:solidFill>
          </a:ln>
        </p:spPr>
        <p:style>
          <a:lnRef idx="2">
            <a:schemeClr val="accent1"/>
          </a:lnRef>
          <a:fillRef idx="0">
            <a:schemeClr val="accent1"/>
          </a:fillRef>
          <a:effectRef idx="1">
            <a:schemeClr val="accent1"/>
          </a:effectRef>
          <a:fontRef idx="minor">
            <a:schemeClr val="tx1"/>
          </a:fontRef>
        </p:style>
      </p:cxnSp>
      <p:sp>
        <p:nvSpPr>
          <p:cNvPr id="37" name="TextBox 36"/>
          <p:cNvSpPr txBox="1"/>
          <p:nvPr/>
        </p:nvSpPr>
        <p:spPr>
          <a:xfrm>
            <a:off x="566928" y="6419088"/>
            <a:ext cx="6858000" cy="274320"/>
          </a:xfrm>
          <a:prstGeom prst="rect">
            <a:avLst/>
          </a:prstGeom>
          <a:noFill/>
        </p:spPr>
        <p:txBody>
          <a:bodyPr wrap="square" lIns="45720" rIns="45720" tIns="27432" bIns="27432" anchor="t">
            <a:noAutofit/>
          </a:bodyPr>
          <a:lstStyle/>
          <a:p>
            <a:pPr algn="l">
              <a:lnSpc>
                <a:spcPct val="100000"/>
              </a:lnSpc>
            </a:pPr>
            <a:r>
              <a:rPr sz="850" b="0" i="0" spc="120">
                <a:solidFill>
                  <a:srgbClr val="A7B2B0"/>
                </a:solidFill>
                <a:latin typeface="Segoe UI Semibold"/>
              </a:rPr>
              <a:t>TLAMATINI  ·  VIII · RELEASE ACTUAL</a:t>
            </a:r>
          </a:p>
        </p:txBody>
      </p:sp>
      <p:sp>
        <p:nvSpPr>
          <p:cNvPr id="38" name="TextBox 37"/>
          <p:cNvSpPr txBox="1"/>
          <p:nvPr/>
        </p:nvSpPr>
        <p:spPr>
          <a:xfrm>
            <a:off x="8698687" y="6419088"/>
            <a:ext cx="2926080" cy="274320"/>
          </a:xfrm>
          <a:prstGeom prst="rect">
            <a:avLst/>
          </a:prstGeom>
          <a:noFill/>
        </p:spPr>
        <p:txBody>
          <a:bodyPr wrap="square" lIns="45720" rIns="45720" tIns="27432" bIns="27432" anchor="t">
            <a:noAutofit/>
          </a:bodyPr>
          <a:lstStyle/>
          <a:p>
            <a:pPr algn="r">
              <a:lnSpc>
                <a:spcPct val="100000"/>
              </a:lnSpc>
            </a:pPr>
            <a:r>
              <a:rPr sz="850" b="0" i="0" spc="100">
                <a:solidFill>
                  <a:srgbClr val="A7B2B0"/>
                </a:solidFill>
                <a:latin typeface="Segoe UI Semibold"/>
              </a:rPr>
              <a:t>v1.91.1   ·   161</a:t>
            </a:r>
          </a:p>
        </p:txBody>
      </p:sp>
    </p:spTree>
  </p:cSld>
  <p:clrMapOvr>
    <a:masterClrMapping/>
  </p:clrMapOvr>
</p:sld>
</file>

<file path=ppt/slides/slide1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divider.png"/>
          <p:cNvPicPr>
            <a:picLocks noChangeAspect="1"/>
          </p:cNvPicPr>
          <p:nvPr/>
        </p:nvPicPr>
        <p:blipFill>
          <a:blip r:embed="rId2"/>
          <a:stretch>
            <a:fillRect/>
          </a:stretch>
        </p:blipFill>
        <p:spPr>
          <a:xfrm>
            <a:off x="0" y="0"/>
            <a:ext cx="12191695" cy="6858000"/>
          </a:xfrm>
          <a:prstGeom prst="rect">
            <a:avLst/>
          </a:prstGeom>
        </p:spPr>
      </p:pic>
      <p:sp>
        <p:nvSpPr>
          <p:cNvPr id="3" name="TextBox 2"/>
          <p:cNvSpPr txBox="1"/>
          <p:nvPr/>
        </p:nvSpPr>
        <p:spPr>
          <a:xfrm>
            <a:off x="822960" y="868680"/>
            <a:ext cx="4572000" cy="365760"/>
          </a:xfrm>
          <a:prstGeom prst="rect">
            <a:avLst/>
          </a:prstGeom>
          <a:noFill/>
        </p:spPr>
        <p:txBody>
          <a:bodyPr wrap="square" lIns="45720" rIns="45720" tIns="27432" bIns="27432" anchor="t">
            <a:noAutofit/>
          </a:bodyPr>
          <a:lstStyle/>
          <a:p>
            <a:pPr algn="l">
              <a:lnSpc>
                <a:spcPct val="100000"/>
              </a:lnSpc>
            </a:pPr>
            <a:r>
              <a:rPr sz="1300" b="0" i="0" spc="340">
                <a:solidFill>
                  <a:srgbClr val="C98457"/>
                </a:solidFill>
                <a:latin typeface="Segoe UI Semibold"/>
              </a:rPr>
              <a:t>CHAPTER</a:t>
            </a:r>
          </a:p>
        </p:txBody>
      </p:sp>
      <p:sp>
        <p:nvSpPr>
          <p:cNvPr id="4" name="TextBox 3"/>
          <p:cNvSpPr txBox="1"/>
          <p:nvPr/>
        </p:nvSpPr>
        <p:spPr>
          <a:xfrm>
            <a:off x="749808" y="1261872"/>
            <a:ext cx="5029200" cy="1691640"/>
          </a:xfrm>
          <a:prstGeom prst="rect">
            <a:avLst/>
          </a:prstGeom>
          <a:noFill/>
        </p:spPr>
        <p:txBody>
          <a:bodyPr wrap="square" lIns="45720" rIns="45720" tIns="27432" bIns="27432" anchor="t">
            <a:noAutofit/>
          </a:bodyPr>
          <a:lstStyle/>
          <a:p>
            <a:pPr algn="l">
              <a:lnSpc>
                <a:spcPct val="100000"/>
              </a:lnSpc>
            </a:pPr>
            <a:r>
              <a:rPr sz="10550" b="0" i="0">
                <a:solidFill>
                  <a:srgbClr val="C98457"/>
                </a:solidFill>
                <a:latin typeface="Palatino Linotype"/>
              </a:rPr>
              <a:t>IX</a:t>
            </a:r>
          </a:p>
        </p:txBody>
      </p:sp>
      <p:sp>
        <p:nvSpPr>
          <p:cNvPr id="5" name="TextBox 4"/>
          <p:cNvSpPr txBox="1"/>
          <p:nvPr/>
        </p:nvSpPr>
        <p:spPr>
          <a:xfrm>
            <a:off x="822960" y="2971800"/>
            <a:ext cx="6766560" cy="1280160"/>
          </a:xfrm>
          <a:prstGeom prst="rect">
            <a:avLst/>
          </a:prstGeom>
          <a:noFill/>
        </p:spPr>
        <p:txBody>
          <a:bodyPr wrap="square" lIns="45720" rIns="45720" tIns="27432" bIns="27432" anchor="t">
            <a:noAutofit/>
          </a:bodyPr>
          <a:lstStyle/>
          <a:p>
            <a:pPr algn="l">
              <a:lnSpc>
                <a:spcPct val="100000"/>
              </a:lnSpc>
            </a:pPr>
            <a:r>
              <a:rPr sz="4600" b="0" i="0">
                <a:solidFill>
                  <a:srgbClr val="F7F2E8"/>
                </a:solidFill>
                <a:latin typeface="Palatino Linotype"/>
              </a:rPr>
              <a:t>Datos del repositorio</a:t>
            </a:r>
          </a:p>
        </p:txBody>
      </p:sp>
      <p:sp>
        <p:nvSpPr>
          <p:cNvPr id="6" name="Rectangle 5"/>
          <p:cNvSpPr/>
          <p:nvPr/>
        </p:nvSpPr>
        <p:spPr>
          <a:xfrm>
            <a:off x="841248" y="4315968"/>
            <a:ext cx="1005840" cy="45720"/>
          </a:xfrm>
          <a:prstGeom prst="rect">
            <a:avLst/>
          </a:prstGeom>
          <a:solidFill>
            <a:srgbClr val="C984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822960" y="4443984"/>
            <a:ext cx="6400800" cy="731520"/>
          </a:xfrm>
          <a:prstGeom prst="rect">
            <a:avLst/>
          </a:prstGeom>
          <a:noFill/>
        </p:spPr>
        <p:txBody>
          <a:bodyPr wrap="square" lIns="45720" rIns="45720" tIns="27432" bIns="27432" anchor="t">
            <a:noAutofit/>
          </a:bodyPr>
          <a:lstStyle/>
          <a:p>
            <a:pPr algn="l">
              <a:lnSpc>
                <a:spcPct val="100000"/>
              </a:lnSpc>
            </a:pPr>
            <a:r>
              <a:rPr sz="1800" b="0" i="0">
                <a:solidFill>
                  <a:srgbClr val="ECE7DC"/>
                </a:solidFill>
                <a:latin typeface="Segoe UI Light"/>
              </a:rPr>
              <a:t>El árbol del source medido: archivos, lenguajes, líneas efectivas, los archivos más grandes y la historia reciente.</a:t>
            </a:r>
          </a:p>
        </p:txBody>
      </p:sp>
      <p:cxnSp>
        <p:nvCxnSpPr>
          <p:cNvPr id="8" name="Connector 7"/>
          <p:cNvCxnSpPr/>
          <p:nvPr/>
        </p:nvCxnSpPr>
        <p:spPr>
          <a:xfrm>
            <a:off x="566928" y="6373368"/>
            <a:ext cx="11057839" cy="0"/>
          </a:xfrm>
          <a:prstGeom prst="line">
            <a:avLst/>
          </a:prstGeom>
          <a:ln w="7620">
            <a:solidFill>
              <a:srgbClr val="2A3A40"/>
            </a:solidFill>
          </a:ln>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566928" y="6419088"/>
            <a:ext cx="6858000" cy="274320"/>
          </a:xfrm>
          <a:prstGeom prst="rect">
            <a:avLst/>
          </a:prstGeom>
          <a:noFill/>
        </p:spPr>
        <p:txBody>
          <a:bodyPr wrap="square" lIns="45720" rIns="45720" tIns="27432" bIns="27432" anchor="t">
            <a:noAutofit/>
          </a:bodyPr>
          <a:lstStyle/>
          <a:p>
            <a:pPr algn="l">
              <a:lnSpc>
                <a:spcPct val="100000"/>
              </a:lnSpc>
            </a:pPr>
            <a:r>
              <a:rPr sz="850" b="0" i="0" spc="120">
                <a:solidFill>
                  <a:srgbClr val="A7B2B0"/>
                </a:solidFill>
                <a:latin typeface="Segoe UI Semibold"/>
              </a:rPr>
              <a:t>TLAMATINI  ·  CAPÍTULO IX</a:t>
            </a:r>
          </a:p>
        </p:txBody>
      </p:sp>
      <p:sp>
        <p:nvSpPr>
          <p:cNvPr id="10" name="TextBox 9"/>
          <p:cNvSpPr txBox="1"/>
          <p:nvPr/>
        </p:nvSpPr>
        <p:spPr>
          <a:xfrm>
            <a:off x="8698687" y="6419088"/>
            <a:ext cx="2926080" cy="274320"/>
          </a:xfrm>
          <a:prstGeom prst="rect">
            <a:avLst/>
          </a:prstGeom>
          <a:noFill/>
        </p:spPr>
        <p:txBody>
          <a:bodyPr wrap="square" lIns="45720" rIns="45720" tIns="27432" bIns="27432" anchor="t">
            <a:noAutofit/>
          </a:bodyPr>
          <a:lstStyle/>
          <a:p>
            <a:pPr algn="r">
              <a:lnSpc>
                <a:spcPct val="100000"/>
              </a:lnSpc>
            </a:pPr>
            <a:r>
              <a:rPr sz="850" b="0" i="0" spc="100">
                <a:solidFill>
                  <a:srgbClr val="A7B2B0"/>
                </a:solidFill>
                <a:latin typeface="Segoe UI Semibold"/>
              </a:rPr>
              <a:t>v1.91.1   ·   162</a:t>
            </a:r>
          </a:p>
        </p:txBody>
      </p:sp>
    </p:spTree>
  </p:cSld>
  <p:clrMapOvr>
    <a:masterClrMapping/>
  </p:clrMapOvr>
</p:sld>
</file>

<file path=ppt/slides/slide1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content.png"/>
          <p:cNvPicPr>
            <a:picLocks noChangeAspect="1"/>
          </p:cNvPicPr>
          <p:nvPr/>
        </p:nvPicPr>
        <p:blipFill>
          <a:blip r:embed="rId2"/>
          <a:stretch>
            <a:fillRect/>
          </a:stretch>
        </p:blipFill>
        <p:spPr>
          <a:xfrm>
            <a:off x="0" y="0"/>
            <a:ext cx="12191695" cy="6858000"/>
          </a:xfrm>
          <a:prstGeom prst="rect">
            <a:avLst/>
          </a:prstGeom>
        </p:spPr>
      </p:pic>
      <p:sp>
        <p:nvSpPr>
          <p:cNvPr id="3" name="Diamond 2"/>
          <p:cNvSpPr/>
          <p:nvPr/>
        </p:nvSpPr>
        <p:spPr>
          <a:xfrm>
            <a:off x="566928" y="457200"/>
            <a:ext cx="100584" cy="100584"/>
          </a:xfrm>
          <a:prstGeom prst="diamond">
            <a:avLst/>
          </a:prstGeom>
          <a:solidFill>
            <a:srgbClr val="C984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49808" y="365760"/>
            <a:ext cx="8229600" cy="292608"/>
          </a:xfrm>
          <a:prstGeom prst="rect">
            <a:avLst/>
          </a:prstGeom>
          <a:noFill/>
        </p:spPr>
        <p:txBody>
          <a:bodyPr wrap="square" lIns="45720" rIns="45720" tIns="27432" bIns="27432" anchor="t">
            <a:noAutofit/>
          </a:bodyPr>
          <a:lstStyle/>
          <a:p>
            <a:pPr algn="l">
              <a:lnSpc>
                <a:spcPct val="100000"/>
              </a:lnSpc>
            </a:pPr>
            <a:r>
              <a:rPr sz="1100" b="0" i="0" spc="240">
                <a:solidFill>
                  <a:srgbClr val="C98457"/>
                </a:solidFill>
                <a:latin typeface="Segoe UI Semibold"/>
              </a:rPr>
              <a:t>INVENTARIO</a:t>
            </a:r>
          </a:p>
        </p:txBody>
      </p:sp>
      <p:sp>
        <p:nvSpPr>
          <p:cNvPr id="5" name="TextBox 4"/>
          <p:cNvSpPr txBox="1"/>
          <p:nvPr/>
        </p:nvSpPr>
        <p:spPr>
          <a:xfrm>
            <a:off x="539496" y="676656"/>
            <a:ext cx="11057839" cy="658368"/>
          </a:xfrm>
          <a:prstGeom prst="rect">
            <a:avLst/>
          </a:prstGeom>
          <a:noFill/>
        </p:spPr>
        <p:txBody>
          <a:bodyPr wrap="square" lIns="45720" rIns="45720" tIns="27432" bIns="27432" anchor="t">
            <a:noAutofit/>
          </a:bodyPr>
          <a:lstStyle/>
          <a:p>
            <a:pPr algn="l">
              <a:lnSpc>
                <a:spcPct val="100000"/>
              </a:lnSpc>
            </a:pPr>
            <a:r>
              <a:rPr sz="3100" b="0" i="0">
                <a:solidFill>
                  <a:srgbClr val="F7F2E8"/>
                </a:solidFill>
                <a:latin typeface="Palatino Linotype"/>
              </a:rPr>
              <a:t>El repositorio en números  (1/2)</a:t>
            </a:r>
          </a:p>
        </p:txBody>
      </p:sp>
      <p:sp>
        <p:nvSpPr>
          <p:cNvPr id="6" name="Rectangle 5"/>
          <p:cNvSpPr/>
          <p:nvPr/>
        </p:nvSpPr>
        <p:spPr>
          <a:xfrm>
            <a:off x="566928" y="1344168"/>
            <a:ext cx="822960" cy="36576"/>
          </a:xfrm>
          <a:prstGeom prst="rect">
            <a:avLst/>
          </a:prstGeom>
          <a:solidFill>
            <a:srgbClr val="C984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566928" y="1444752"/>
            <a:ext cx="10692079" cy="585216"/>
          </a:xfrm>
          <a:prstGeom prst="rect">
            <a:avLst/>
          </a:prstGeom>
          <a:noFill/>
        </p:spPr>
        <p:txBody>
          <a:bodyPr wrap="square" lIns="45720" rIns="45720" tIns="27432" bIns="27432" anchor="t">
            <a:noAutofit/>
          </a:bodyPr>
          <a:lstStyle/>
          <a:p>
            <a:pPr algn="l">
              <a:lnSpc>
                <a:spcPct val="100000"/>
              </a:lnSpc>
            </a:pPr>
            <a:r>
              <a:rPr sz="1450" b="0" i="0">
                <a:solidFill>
                  <a:srgbClr val="A7B2B0"/>
                </a:solidFill>
                <a:latin typeface="Segoe UI Semilight"/>
              </a:rPr>
              <a:t>Los conteos vienen de Git y de los archivos del source al momento de generarse.</a:t>
            </a:r>
          </a:p>
        </p:txBody>
      </p:sp>
      <p:sp>
        <p:nvSpPr>
          <p:cNvPr id="8" name="Rounded Rectangle 7"/>
          <p:cNvSpPr/>
          <p:nvPr/>
        </p:nvSpPr>
        <p:spPr>
          <a:xfrm>
            <a:off x="566928" y="2084831"/>
            <a:ext cx="11057839" cy="4059935"/>
          </a:xfrm>
          <a:prstGeom prst="roundRect">
            <a:avLst>
              <a:gd name="adj" fmla="val 1801"/>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ounded Rectangle 8"/>
          <p:cNvSpPr/>
          <p:nvPr/>
        </p:nvSpPr>
        <p:spPr>
          <a:xfrm>
            <a:off x="566928" y="2084831"/>
            <a:ext cx="11057839" cy="384048"/>
          </a:xfrm>
          <a:prstGeom prst="roundRect">
            <a:avLst>
              <a:gd name="adj" fmla="val 19047"/>
            </a:avLst>
          </a:prstGeom>
          <a:solidFill>
            <a:srgbClr val="151F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640080" y="2121408"/>
            <a:ext cx="4940302" cy="310896"/>
          </a:xfrm>
          <a:prstGeom prst="rect">
            <a:avLst/>
          </a:prstGeom>
          <a:noFill/>
        </p:spPr>
        <p:txBody>
          <a:bodyPr wrap="square" lIns="45720" rIns="45720" tIns="27432" bIns="27432" anchor="ctr">
            <a:noAutofit/>
          </a:bodyPr>
          <a:lstStyle/>
          <a:p>
            <a:pPr algn="l">
              <a:lnSpc>
                <a:spcPct val="100000"/>
              </a:lnSpc>
            </a:pPr>
            <a:r>
              <a:rPr sz="1000" b="0" i="0" spc="120">
                <a:solidFill>
                  <a:srgbClr val="E2B462"/>
                </a:solidFill>
                <a:latin typeface="Segoe UI Semibold"/>
              </a:rPr>
              <a:t>MEDIDA</a:t>
            </a:r>
          </a:p>
        </p:txBody>
      </p:sp>
      <p:sp>
        <p:nvSpPr>
          <p:cNvPr id="11" name="TextBox 10"/>
          <p:cNvSpPr txBox="1"/>
          <p:nvPr/>
        </p:nvSpPr>
        <p:spPr>
          <a:xfrm>
            <a:off x="5726686" y="2121408"/>
            <a:ext cx="5824929" cy="310896"/>
          </a:xfrm>
          <a:prstGeom prst="rect">
            <a:avLst/>
          </a:prstGeom>
          <a:noFill/>
        </p:spPr>
        <p:txBody>
          <a:bodyPr wrap="square" lIns="45720" rIns="45720" tIns="27432" bIns="27432" anchor="ctr">
            <a:noAutofit/>
          </a:bodyPr>
          <a:lstStyle/>
          <a:p>
            <a:pPr algn="l">
              <a:lnSpc>
                <a:spcPct val="100000"/>
              </a:lnSpc>
            </a:pPr>
            <a:r>
              <a:rPr sz="1000" b="0" i="0" spc="120">
                <a:solidFill>
                  <a:srgbClr val="E2B462"/>
                </a:solidFill>
                <a:latin typeface="Segoe UI Semibold"/>
              </a:rPr>
              <a:t>VALOR</a:t>
            </a:r>
          </a:p>
        </p:txBody>
      </p:sp>
      <p:sp>
        <p:nvSpPr>
          <p:cNvPr id="12" name="TextBox 11"/>
          <p:cNvSpPr txBox="1"/>
          <p:nvPr/>
        </p:nvSpPr>
        <p:spPr>
          <a:xfrm>
            <a:off x="640080" y="2505456"/>
            <a:ext cx="4940302" cy="233171"/>
          </a:xfrm>
          <a:prstGeom prst="rect">
            <a:avLst/>
          </a:prstGeom>
          <a:noFill/>
        </p:spPr>
        <p:txBody>
          <a:bodyPr wrap="square" lIns="45720" rIns="45720" tIns="27432" bIns="27432" anchor="ctr">
            <a:noAutofit/>
          </a:bodyPr>
          <a:lstStyle/>
          <a:p>
            <a:pPr algn="l">
              <a:lnSpc>
                <a:spcPct val="100000"/>
              </a:lnSpc>
            </a:pPr>
            <a:r>
              <a:rPr sz="1050" b="0" i="0">
                <a:solidFill>
                  <a:srgbClr val="F7F2E8"/>
                </a:solidFill>
                <a:latin typeface="Segoe UI Semibold"/>
              </a:rPr>
              <a:t>Commit inspeccionado</a:t>
            </a:r>
          </a:p>
        </p:txBody>
      </p:sp>
      <p:sp>
        <p:nvSpPr>
          <p:cNvPr id="13" name="TextBox 12"/>
          <p:cNvSpPr txBox="1"/>
          <p:nvPr/>
        </p:nvSpPr>
        <p:spPr>
          <a:xfrm>
            <a:off x="5726686" y="2505456"/>
            <a:ext cx="5824929" cy="233171"/>
          </a:xfrm>
          <a:prstGeom prst="rect">
            <a:avLst/>
          </a:prstGeom>
          <a:noFill/>
        </p:spPr>
        <p:txBody>
          <a:bodyPr wrap="square" lIns="45720" rIns="45720" tIns="27432" bIns="27432" anchor="ctr">
            <a:noAutofit/>
          </a:bodyPr>
          <a:lstStyle/>
          <a:p>
            <a:pPr algn="l">
              <a:lnSpc>
                <a:spcPct val="100000"/>
              </a:lnSpc>
            </a:pPr>
            <a:r>
              <a:rPr sz="1050" b="0" i="0">
                <a:solidFill>
                  <a:srgbClr val="A7B2B0"/>
                </a:solidFill>
                <a:latin typeface="Segoe UI"/>
              </a:rPr>
              <a:t>21b0a5c · 2026-10-27 · branch main</a:t>
            </a:r>
          </a:p>
        </p:txBody>
      </p:sp>
      <p:sp>
        <p:nvSpPr>
          <p:cNvPr id="14" name="Rectangle 13"/>
          <p:cNvSpPr/>
          <p:nvPr/>
        </p:nvSpPr>
        <p:spPr>
          <a:xfrm>
            <a:off x="585216" y="2775203"/>
            <a:ext cx="11021263" cy="306323"/>
          </a:xfrm>
          <a:prstGeom prst="rect">
            <a:avLst/>
          </a:prstGeom>
          <a:solidFill>
            <a:srgbClr val="1824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640080" y="2811779"/>
            <a:ext cx="4940302" cy="233171"/>
          </a:xfrm>
          <a:prstGeom prst="rect">
            <a:avLst/>
          </a:prstGeom>
          <a:noFill/>
        </p:spPr>
        <p:txBody>
          <a:bodyPr wrap="square" lIns="45720" rIns="45720" tIns="27432" bIns="27432" anchor="ctr">
            <a:noAutofit/>
          </a:bodyPr>
          <a:lstStyle/>
          <a:p>
            <a:pPr algn="l">
              <a:lnSpc>
                <a:spcPct val="100000"/>
              </a:lnSpc>
            </a:pPr>
            <a:r>
              <a:rPr sz="1050" b="0" i="0">
                <a:solidFill>
                  <a:srgbClr val="F7F2E8"/>
                </a:solidFill>
                <a:latin typeface="Segoe UI Semibold"/>
              </a:rPr>
              <a:t>Versión</a:t>
            </a:r>
          </a:p>
        </p:txBody>
      </p:sp>
      <p:sp>
        <p:nvSpPr>
          <p:cNvPr id="16" name="TextBox 15"/>
          <p:cNvSpPr txBox="1"/>
          <p:nvPr/>
        </p:nvSpPr>
        <p:spPr>
          <a:xfrm>
            <a:off x="5726686" y="2811779"/>
            <a:ext cx="5824929" cy="233171"/>
          </a:xfrm>
          <a:prstGeom prst="rect">
            <a:avLst/>
          </a:prstGeom>
          <a:noFill/>
        </p:spPr>
        <p:txBody>
          <a:bodyPr wrap="square" lIns="45720" rIns="45720" tIns="27432" bIns="27432" anchor="ctr">
            <a:noAutofit/>
          </a:bodyPr>
          <a:lstStyle/>
          <a:p>
            <a:pPr algn="l">
              <a:lnSpc>
                <a:spcPct val="100000"/>
              </a:lnSpc>
            </a:pPr>
            <a:r>
              <a:rPr sz="1050" b="0" i="0">
                <a:solidFill>
                  <a:srgbClr val="A7B2B0"/>
                </a:solidFill>
                <a:latin typeface="Segoe UI"/>
              </a:rPr>
              <a:t>1.91.1</a:t>
            </a:r>
          </a:p>
        </p:txBody>
      </p:sp>
      <p:sp>
        <p:nvSpPr>
          <p:cNvPr id="17" name="TextBox 16"/>
          <p:cNvSpPr txBox="1"/>
          <p:nvPr/>
        </p:nvSpPr>
        <p:spPr>
          <a:xfrm>
            <a:off x="640080" y="3118103"/>
            <a:ext cx="4940302" cy="233171"/>
          </a:xfrm>
          <a:prstGeom prst="rect">
            <a:avLst/>
          </a:prstGeom>
          <a:noFill/>
        </p:spPr>
        <p:txBody>
          <a:bodyPr wrap="square" lIns="45720" rIns="45720" tIns="27432" bIns="27432" anchor="ctr">
            <a:noAutofit/>
          </a:bodyPr>
          <a:lstStyle/>
          <a:p>
            <a:pPr algn="l">
              <a:lnSpc>
                <a:spcPct val="100000"/>
              </a:lnSpc>
            </a:pPr>
            <a:r>
              <a:rPr sz="1050" b="0" i="0">
                <a:solidFill>
                  <a:srgbClr val="F7F2E8"/>
                </a:solidFill>
                <a:latin typeface="Segoe UI Semibold"/>
              </a:rPr>
              <a:t>Archivos con seguimiento</a:t>
            </a:r>
          </a:p>
        </p:txBody>
      </p:sp>
      <p:sp>
        <p:nvSpPr>
          <p:cNvPr id="18" name="TextBox 17"/>
          <p:cNvSpPr txBox="1"/>
          <p:nvPr/>
        </p:nvSpPr>
        <p:spPr>
          <a:xfrm>
            <a:off x="5726686" y="3118103"/>
            <a:ext cx="5824929" cy="233171"/>
          </a:xfrm>
          <a:prstGeom prst="rect">
            <a:avLst/>
          </a:prstGeom>
          <a:noFill/>
        </p:spPr>
        <p:txBody>
          <a:bodyPr wrap="square" lIns="45720" rIns="45720" tIns="27432" bIns="27432" anchor="ctr">
            <a:noAutofit/>
          </a:bodyPr>
          <a:lstStyle/>
          <a:p>
            <a:pPr algn="l">
              <a:lnSpc>
                <a:spcPct val="100000"/>
              </a:lnSpc>
            </a:pPr>
            <a:r>
              <a:rPr sz="1050" b="0" i="0">
                <a:solidFill>
                  <a:srgbClr val="A7B2B0"/>
                </a:solidFill>
                <a:latin typeface="Segoe UI"/>
              </a:rPr>
              <a:t>2,119</a:t>
            </a:r>
          </a:p>
        </p:txBody>
      </p:sp>
      <p:sp>
        <p:nvSpPr>
          <p:cNvPr id="19" name="Rectangle 18"/>
          <p:cNvSpPr/>
          <p:nvPr/>
        </p:nvSpPr>
        <p:spPr>
          <a:xfrm>
            <a:off x="585216" y="3387851"/>
            <a:ext cx="11021263" cy="306323"/>
          </a:xfrm>
          <a:prstGeom prst="rect">
            <a:avLst/>
          </a:prstGeom>
          <a:solidFill>
            <a:srgbClr val="1824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640080" y="3424427"/>
            <a:ext cx="4940302" cy="233171"/>
          </a:xfrm>
          <a:prstGeom prst="rect">
            <a:avLst/>
          </a:prstGeom>
          <a:noFill/>
        </p:spPr>
        <p:txBody>
          <a:bodyPr wrap="square" lIns="45720" rIns="45720" tIns="27432" bIns="27432" anchor="ctr">
            <a:noAutofit/>
          </a:bodyPr>
          <a:lstStyle/>
          <a:p>
            <a:pPr algn="l">
              <a:lnSpc>
                <a:spcPct val="100000"/>
              </a:lnSpc>
            </a:pPr>
            <a:r>
              <a:rPr sz="1050" b="0" i="0">
                <a:solidFill>
                  <a:srgbClr val="F7F2E8"/>
                </a:solidFill>
                <a:latin typeface="Segoe UI Semibold"/>
              </a:rPr>
              <a:t>Adiciones no ignoradas del árbol de trabajo</a:t>
            </a:r>
          </a:p>
        </p:txBody>
      </p:sp>
      <p:sp>
        <p:nvSpPr>
          <p:cNvPr id="21" name="TextBox 20"/>
          <p:cNvSpPr txBox="1"/>
          <p:nvPr/>
        </p:nvSpPr>
        <p:spPr>
          <a:xfrm>
            <a:off x="5726686" y="3424427"/>
            <a:ext cx="5824929" cy="233171"/>
          </a:xfrm>
          <a:prstGeom prst="rect">
            <a:avLst/>
          </a:prstGeom>
          <a:noFill/>
        </p:spPr>
        <p:txBody>
          <a:bodyPr wrap="square" lIns="45720" rIns="45720" tIns="27432" bIns="27432" anchor="ctr">
            <a:noAutofit/>
          </a:bodyPr>
          <a:lstStyle/>
          <a:p>
            <a:pPr algn="l">
              <a:lnSpc>
                <a:spcPct val="100000"/>
              </a:lnSpc>
            </a:pPr>
            <a:r>
              <a:rPr sz="1050" b="0" i="0">
                <a:solidFill>
                  <a:srgbClr val="A7B2B0"/>
                </a:solidFill>
                <a:latin typeface="Segoe UI"/>
              </a:rPr>
              <a:t>9</a:t>
            </a:r>
          </a:p>
        </p:txBody>
      </p:sp>
      <p:sp>
        <p:nvSpPr>
          <p:cNvPr id="22" name="TextBox 21"/>
          <p:cNvSpPr txBox="1"/>
          <p:nvPr/>
        </p:nvSpPr>
        <p:spPr>
          <a:xfrm>
            <a:off x="640080" y="3730751"/>
            <a:ext cx="4940302" cy="233171"/>
          </a:xfrm>
          <a:prstGeom prst="rect">
            <a:avLst/>
          </a:prstGeom>
          <a:noFill/>
        </p:spPr>
        <p:txBody>
          <a:bodyPr wrap="square" lIns="45720" rIns="45720" tIns="27432" bIns="27432" anchor="ctr">
            <a:noAutofit/>
          </a:bodyPr>
          <a:lstStyle/>
          <a:p>
            <a:pPr algn="l">
              <a:lnSpc>
                <a:spcPct val="100000"/>
              </a:lnSpc>
            </a:pPr>
            <a:r>
              <a:rPr sz="1050" b="0" i="0">
                <a:solidFill>
                  <a:srgbClr val="F7F2E8"/>
                </a:solidFill>
                <a:latin typeface="Segoe UI Semibold"/>
              </a:rPr>
              <a:t>Archivos de texto contados</a:t>
            </a:r>
          </a:p>
        </p:txBody>
      </p:sp>
      <p:sp>
        <p:nvSpPr>
          <p:cNvPr id="23" name="TextBox 22"/>
          <p:cNvSpPr txBox="1"/>
          <p:nvPr/>
        </p:nvSpPr>
        <p:spPr>
          <a:xfrm>
            <a:off x="5726686" y="3730751"/>
            <a:ext cx="5824929" cy="233171"/>
          </a:xfrm>
          <a:prstGeom prst="rect">
            <a:avLst/>
          </a:prstGeom>
          <a:noFill/>
        </p:spPr>
        <p:txBody>
          <a:bodyPr wrap="square" lIns="45720" rIns="45720" tIns="27432" bIns="27432" anchor="ctr">
            <a:noAutofit/>
          </a:bodyPr>
          <a:lstStyle/>
          <a:p>
            <a:pPr algn="l">
              <a:lnSpc>
                <a:spcPct val="100000"/>
              </a:lnSpc>
            </a:pPr>
            <a:r>
              <a:rPr sz="1050" b="0" i="0">
                <a:solidFill>
                  <a:srgbClr val="A7B2B0"/>
                </a:solidFill>
                <a:latin typeface="Segoe UI"/>
              </a:rPr>
              <a:t>1,886</a:t>
            </a:r>
          </a:p>
        </p:txBody>
      </p:sp>
      <p:sp>
        <p:nvSpPr>
          <p:cNvPr id="24" name="Rectangle 23"/>
          <p:cNvSpPr/>
          <p:nvPr/>
        </p:nvSpPr>
        <p:spPr>
          <a:xfrm>
            <a:off x="585216" y="4000499"/>
            <a:ext cx="11021263" cy="306323"/>
          </a:xfrm>
          <a:prstGeom prst="rect">
            <a:avLst/>
          </a:prstGeom>
          <a:solidFill>
            <a:srgbClr val="1824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TextBox 24"/>
          <p:cNvSpPr txBox="1"/>
          <p:nvPr/>
        </p:nvSpPr>
        <p:spPr>
          <a:xfrm>
            <a:off x="640080" y="4037075"/>
            <a:ext cx="4940302" cy="233171"/>
          </a:xfrm>
          <a:prstGeom prst="rect">
            <a:avLst/>
          </a:prstGeom>
          <a:noFill/>
        </p:spPr>
        <p:txBody>
          <a:bodyPr wrap="square" lIns="45720" rIns="45720" tIns="27432" bIns="27432" anchor="ctr">
            <a:noAutofit/>
          </a:bodyPr>
          <a:lstStyle/>
          <a:p>
            <a:pPr algn="l">
              <a:lnSpc>
                <a:spcPct val="100000"/>
              </a:lnSpc>
            </a:pPr>
            <a:r>
              <a:rPr sz="1050" b="0" i="0">
                <a:solidFill>
                  <a:srgbClr val="F7F2E8"/>
                </a:solidFill>
                <a:latin typeface="Segoe UI Semibold"/>
              </a:rPr>
              <a:t>Assets binarios (contados, no medidos)</a:t>
            </a:r>
          </a:p>
        </p:txBody>
      </p:sp>
      <p:sp>
        <p:nvSpPr>
          <p:cNvPr id="26" name="TextBox 25"/>
          <p:cNvSpPr txBox="1"/>
          <p:nvPr/>
        </p:nvSpPr>
        <p:spPr>
          <a:xfrm>
            <a:off x="5726686" y="4037075"/>
            <a:ext cx="5824929" cy="233171"/>
          </a:xfrm>
          <a:prstGeom prst="rect">
            <a:avLst/>
          </a:prstGeom>
          <a:noFill/>
        </p:spPr>
        <p:txBody>
          <a:bodyPr wrap="square" lIns="45720" rIns="45720" tIns="27432" bIns="27432" anchor="ctr">
            <a:noAutofit/>
          </a:bodyPr>
          <a:lstStyle/>
          <a:p>
            <a:pPr algn="l">
              <a:lnSpc>
                <a:spcPct val="100000"/>
              </a:lnSpc>
            </a:pPr>
            <a:r>
              <a:rPr sz="1050" b="0" i="0">
                <a:solidFill>
                  <a:srgbClr val="A7B2B0"/>
                </a:solidFill>
                <a:latin typeface="Segoe UI"/>
              </a:rPr>
              <a:t>242</a:t>
            </a:r>
          </a:p>
        </p:txBody>
      </p:sp>
      <p:sp>
        <p:nvSpPr>
          <p:cNvPr id="27" name="TextBox 26"/>
          <p:cNvSpPr txBox="1"/>
          <p:nvPr/>
        </p:nvSpPr>
        <p:spPr>
          <a:xfrm>
            <a:off x="640080" y="4343399"/>
            <a:ext cx="4940302" cy="233171"/>
          </a:xfrm>
          <a:prstGeom prst="rect">
            <a:avLst/>
          </a:prstGeom>
          <a:noFill/>
        </p:spPr>
        <p:txBody>
          <a:bodyPr wrap="square" lIns="45720" rIns="45720" tIns="27432" bIns="27432" anchor="ctr">
            <a:noAutofit/>
          </a:bodyPr>
          <a:lstStyle/>
          <a:p>
            <a:pPr algn="l">
              <a:lnSpc>
                <a:spcPct val="100000"/>
              </a:lnSpc>
            </a:pPr>
            <a:r>
              <a:rPr sz="1050" b="0" i="0">
                <a:solidFill>
                  <a:srgbClr val="F7F2E8"/>
                </a:solidFill>
                <a:latin typeface="Segoe UI Semibold"/>
              </a:rPr>
              <a:t>Líneas físicas de texto</a:t>
            </a:r>
          </a:p>
        </p:txBody>
      </p:sp>
      <p:sp>
        <p:nvSpPr>
          <p:cNvPr id="28" name="TextBox 27"/>
          <p:cNvSpPr txBox="1"/>
          <p:nvPr/>
        </p:nvSpPr>
        <p:spPr>
          <a:xfrm>
            <a:off x="5726686" y="4343399"/>
            <a:ext cx="5824929" cy="233171"/>
          </a:xfrm>
          <a:prstGeom prst="rect">
            <a:avLst/>
          </a:prstGeom>
          <a:noFill/>
        </p:spPr>
        <p:txBody>
          <a:bodyPr wrap="square" lIns="45720" rIns="45720" tIns="27432" bIns="27432" anchor="ctr">
            <a:noAutofit/>
          </a:bodyPr>
          <a:lstStyle/>
          <a:p>
            <a:pPr algn="l">
              <a:lnSpc>
                <a:spcPct val="100000"/>
              </a:lnSpc>
            </a:pPr>
            <a:r>
              <a:rPr sz="1050" b="0" i="0">
                <a:solidFill>
                  <a:srgbClr val="A7B2B0"/>
                </a:solidFill>
                <a:latin typeface="Segoe UI"/>
              </a:rPr>
              <a:t>679,395</a:t>
            </a:r>
          </a:p>
        </p:txBody>
      </p:sp>
      <p:sp>
        <p:nvSpPr>
          <p:cNvPr id="29" name="Rectangle 28"/>
          <p:cNvSpPr/>
          <p:nvPr/>
        </p:nvSpPr>
        <p:spPr>
          <a:xfrm>
            <a:off x="585216" y="4613147"/>
            <a:ext cx="11021263" cy="306323"/>
          </a:xfrm>
          <a:prstGeom prst="rect">
            <a:avLst/>
          </a:prstGeom>
          <a:solidFill>
            <a:srgbClr val="1824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640080" y="4649723"/>
            <a:ext cx="4940302" cy="233171"/>
          </a:xfrm>
          <a:prstGeom prst="rect">
            <a:avLst/>
          </a:prstGeom>
          <a:noFill/>
        </p:spPr>
        <p:txBody>
          <a:bodyPr wrap="square" lIns="45720" rIns="45720" tIns="27432" bIns="27432" anchor="ctr">
            <a:noAutofit/>
          </a:bodyPr>
          <a:lstStyle/>
          <a:p>
            <a:pPr algn="l">
              <a:lnSpc>
                <a:spcPct val="100000"/>
              </a:lnSpc>
            </a:pPr>
            <a:r>
              <a:rPr sz="1050" b="0" i="0">
                <a:solidFill>
                  <a:srgbClr val="F7F2E8"/>
                </a:solidFill>
                <a:latin typeface="Segoe UI Semibold"/>
              </a:rPr>
              <a:t>Líneas efectivas</a:t>
            </a:r>
          </a:p>
        </p:txBody>
      </p:sp>
      <p:sp>
        <p:nvSpPr>
          <p:cNvPr id="31" name="TextBox 30"/>
          <p:cNvSpPr txBox="1"/>
          <p:nvPr/>
        </p:nvSpPr>
        <p:spPr>
          <a:xfrm>
            <a:off x="5726686" y="4649723"/>
            <a:ext cx="5824929" cy="233171"/>
          </a:xfrm>
          <a:prstGeom prst="rect">
            <a:avLst/>
          </a:prstGeom>
          <a:noFill/>
        </p:spPr>
        <p:txBody>
          <a:bodyPr wrap="square" lIns="45720" rIns="45720" tIns="27432" bIns="27432" anchor="ctr">
            <a:noAutofit/>
          </a:bodyPr>
          <a:lstStyle/>
          <a:p>
            <a:pPr algn="l">
              <a:lnSpc>
                <a:spcPct val="100000"/>
              </a:lnSpc>
            </a:pPr>
            <a:r>
              <a:rPr sz="1050" b="0" i="0">
                <a:solidFill>
                  <a:srgbClr val="A7B2B0"/>
                </a:solidFill>
                <a:latin typeface="Segoe UI"/>
              </a:rPr>
              <a:t>544,489</a:t>
            </a:r>
          </a:p>
        </p:txBody>
      </p:sp>
      <p:sp>
        <p:nvSpPr>
          <p:cNvPr id="32" name="TextBox 31"/>
          <p:cNvSpPr txBox="1"/>
          <p:nvPr/>
        </p:nvSpPr>
        <p:spPr>
          <a:xfrm>
            <a:off x="640080" y="4956047"/>
            <a:ext cx="4940302" cy="233171"/>
          </a:xfrm>
          <a:prstGeom prst="rect">
            <a:avLst/>
          </a:prstGeom>
          <a:noFill/>
        </p:spPr>
        <p:txBody>
          <a:bodyPr wrap="square" lIns="45720" rIns="45720" tIns="27432" bIns="27432" anchor="ctr">
            <a:noAutofit/>
          </a:bodyPr>
          <a:lstStyle/>
          <a:p>
            <a:pPr algn="l">
              <a:lnSpc>
                <a:spcPct val="100000"/>
              </a:lnSpc>
            </a:pPr>
            <a:r>
              <a:rPr sz="1050" b="0" i="0">
                <a:solidFill>
                  <a:srgbClr val="F7F2E8"/>
                </a:solidFill>
                <a:latin typeface="Segoe UI Semibold"/>
              </a:rPr>
              <a:t>Tipos de agents de workflow</a:t>
            </a:r>
          </a:p>
        </p:txBody>
      </p:sp>
      <p:sp>
        <p:nvSpPr>
          <p:cNvPr id="33" name="TextBox 32"/>
          <p:cNvSpPr txBox="1"/>
          <p:nvPr/>
        </p:nvSpPr>
        <p:spPr>
          <a:xfrm>
            <a:off x="5726686" y="4956047"/>
            <a:ext cx="5824929" cy="233171"/>
          </a:xfrm>
          <a:prstGeom prst="rect">
            <a:avLst/>
          </a:prstGeom>
          <a:noFill/>
        </p:spPr>
        <p:txBody>
          <a:bodyPr wrap="square" lIns="45720" rIns="45720" tIns="27432" bIns="27432" anchor="ctr">
            <a:noAutofit/>
          </a:bodyPr>
          <a:lstStyle/>
          <a:p>
            <a:pPr algn="l">
              <a:lnSpc>
                <a:spcPct val="100000"/>
              </a:lnSpc>
            </a:pPr>
            <a:r>
              <a:rPr sz="1050" b="0" i="0">
                <a:solidFill>
                  <a:srgbClr val="A7B2B0"/>
                </a:solidFill>
                <a:latin typeface="Segoe UI"/>
              </a:rPr>
              <a:t>86</a:t>
            </a:r>
          </a:p>
        </p:txBody>
      </p:sp>
      <p:sp>
        <p:nvSpPr>
          <p:cNvPr id="34" name="Rectangle 33"/>
          <p:cNvSpPr/>
          <p:nvPr/>
        </p:nvSpPr>
        <p:spPr>
          <a:xfrm>
            <a:off x="585216" y="5225795"/>
            <a:ext cx="11021263" cy="306323"/>
          </a:xfrm>
          <a:prstGeom prst="rect">
            <a:avLst/>
          </a:prstGeom>
          <a:solidFill>
            <a:srgbClr val="1824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TextBox 34"/>
          <p:cNvSpPr txBox="1"/>
          <p:nvPr/>
        </p:nvSpPr>
        <p:spPr>
          <a:xfrm>
            <a:off x="640080" y="5262371"/>
            <a:ext cx="4940302" cy="233171"/>
          </a:xfrm>
          <a:prstGeom prst="rect">
            <a:avLst/>
          </a:prstGeom>
          <a:noFill/>
        </p:spPr>
        <p:txBody>
          <a:bodyPr wrap="square" lIns="45720" rIns="45720" tIns="27432" bIns="27432" anchor="ctr">
            <a:noAutofit/>
          </a:bodyPr>
          <a:lstStyle/>
          <a:p>
            <a:pPr algn="l">
              <a:lnSpc>
                <a:spcPct val="100000"/>
              </a:lnSpc>
            </a:pPr>
            <a:r>
              <a:rPr sz="1050" b="0" i="0">
                <a:solidFill>
                  <a:srgbClr val="F7F2E8"/>
                </a:solidFill>
                <a:latin typeface="Segoe UI Semibold"/>
              </a:rPr>
              <a:t>Tools wrapped de agents de chat</a:t>
            </a:r>
          </a:p>
        </p:txBody>
      </p:sp>
      <p:sp>
        <p:nvSpPr>
          <p:cNvPr id="36" name="TextBox 35"/>
          <p:cNvSpPr txBox="1"/>
          <p:nvPr/>
        </p:nvSpPr>
        <p:spPr>
          <a:xfrm>
            <a:off x="5726686" y="5262371"/>
            <a:ext cx="5824929" cy="233171"/>
          </a:xfrm>
          <a:prstGeom prst="rect">
            <a:avLst/>
          </a:prstGeom>
          <a:noFill/>
        </p:spPr>
        <p:txBody>
          <a:bodyPr wrap="square" lIns="45720" rIns="45720" tIns="27432" bIns="27432" anchor="ctr">
            <a:noAutofit/>
          </a:bodyPr>
          <a:lstStyle/>
          <a:p>
            <a:pPr algn="l">
              <a:lnSpc>
                <a:spcPct val="100000"/>
              </a:lnSpc>
            </a:pPr>
            <a:r>
              <a:rPr sz="1050" b="0" i="0">
                <a:solidFill>
                  <a:srgbClr val="A7B2B0"/>
                </a:solidFill>
                <a:latin typeface="Segoe UI"/>
              </a:rPr>
              <a:t>67</a:t>
            </a:r>
          </a:p>
        </p:txBody>
      </p:sp>
      <p:sp>
        <p:nvSpPr>
          <p:cNvPr id="37" name="TextBox 36"/>
          <p:cNvSpPr txBox="1"/>
          <p:nvPr/>
        </p:nvSpPr>
        <p:spPr>
          <a:xfrm>
            <a:off x="640080" y="5568695"/>
            <a:ext cx="4940302" cy="233171"/>
          </a:xfrm>
          <a:prstGeom prst="rect">
            <a:avLst/>
          </a:prstGeom>
          <a:noFill/>
        </p:spPr>
        <p:txBody>
          <a:bodyPr wrap="square" lIns="45720" rIns="45720" tIns="27432" bIns="27432" anchor="ctr">
            <a:noAutofit/>
          </a:bodyPr>
          <a:lstStyle/>
          <a:p>
            <a:pPr algn="l">
              <a:lnSpc>
                <a:spcPct val="100000"/>
              </a:lnSpc>
            </a:pPr>
            <a:r>
              <a:rPr sz="1050" b="0" i="0">
                <a:solidFill>
                  <a:srgbClr val="F7F2E8"/>
                </a:solidFill>
                <a:latin typeface="Segoe UI Semibold"/>
              </a:rPr>
              <a:t>Tools integrados de Multi-Turn</a:t>
            </a:r>
          </a:p>
        </p:txBody>
      </p:sp>
      <p:sp>
        <p:nvSpPr>
          <p:cNvPr id="38" name="TextBox 37"/>
          <p:cNvSpPr txBox="1"/>
          <p:nvPr/>
        </p:nvSpPr>
        <p:spPr>
          <a:xfrm>
            <a:off x="5726686" y="5568695"/>
            <a:ext cx="5824929" cy="233171"/>
          </a:xfrm>
          <a:prstGeom prst="rect">
            <a:avLst/>
          </a:prstGeom>
          <a:noFill/>
        </p:spPr>
        <p:txBody>
          <a:bodyPr wrap="square" lIns="45720" rIns="45720" tIns="27432" bIns="27432" anchor="ctr">
            <a:noAutofit/>
          </a:bodyPr>
          <a:lstStyle/>
          <a:p>
            <a:pPr algn="l">
              <a:lnSpc>
                <a:spcPct val="100000"/>
              </a:lnSpc>
            </a:pPr>
            <a:r>
              <a:rPr sz="1050" b="0" i="0">
                <a:solidFill>
                  <a:srgbClr val="A7B2B0"/>
                </a:solidFill>
                <a:latin typeface="Segoe UI"/>
              </a:rPr>
              <a:t>110 = 21 núcleo + 67 wrapped + 12 ACPX/Skill + 10 supervisores</a:t>
            </a:r>
          </a:p>
        </p:txBody>
      </p:sp>
      <p:sp>
        <p:nvSpPr>
          <p:cNvPr id="39" name="Rectangle 38"/>
          <p:cNvSpPr/>
          <p:nvPr/>
        </p:nvSpPr>
        <p:spPr>
          <a:xfrm>
            <a:off x="585216" y="5838443"/>
            <a:ext cx="11021263" cy="306323"/>
          </a:xfrm>
          <a:prstGeom prst="rect">
            <a:avLst/>
          </a:prstGeom>
          <a:solidFill>
            <a:srgbClr val="1824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0" name="TextBox 39"/>
          <p:cNvSpPr txBox="1"/>
          <p:nvPr/>
        </p:nvSpPr>
        <p:spPr>
          <a:xfrm>
            <a:off x="640080" y="5875019"/>
            <a:ext cx="4940302" cy="233171"/>
          </a:xfrm>
          <a:prstGeom prst="rect">
            <a:avLst/>
          </a:prstGeom>
          <a:noFill/>
        </p:spPr>
        <p:txBody>
          <a:bodyPr wrap="square" lIns="45720" rIns="45720" tIns="27432" bIns="27432" anchor="ctr">
            <a:noAutofit/>
          </a:bodyPr>
          <a:lstStyle/>
          <a:p>
            <a:pPr algn="l">
              <a:lnSpc>
                <a:spcPct val="100000"/>
              </a:lnSpc>
            </a:pPr>
            <a:r>
              <a:rPr sz="1050" b="0" i="0">
                <a:solidFill>
                  <a:srgbClr val="F7F2E8"/>
                </a:solidFill>
                <a:latin typeface="Segoe UI Semibold"/>
              </a:rPr>
              <a:t>Skills</a:t>
            </a:r>
          </a:p>
        </p:txBody>
      </p:sp>
      <p:sp>
        <p:nvSpPr>
          <p:cNvPr id="41" name="TextBox 40"/>
          <p:cNvSpPr txBox="1"/>
          <p:nvPr/>
        </p:nvSpPr>
        <p:spPr>
          <a:xfrm>
            <a:off x="5726686" y="5875019"/>
            <a:ext cx="5824929" cy="233171"/>
          </a:xfrm>
          <a:prstGeom prst="rect">
            <a:avLst/>
          </a:prstGeom>
          <a:noFill/>
        </p:spPr>
        <p:txBody>
          <a:bodyPr wrap="square" lIns="45720" rIns="45720" tIns="27432" bIns="27432" anchor="ctr">
            <a:noAutofit/>
          </a:bodyPr>
          <a:lstStyle/>
          <a:p>
            <a:pPr algn="l">
              <a:lnSpc>
                <a:spcPct val="100000"/>
              </a:lnSpc>
            </a:pPr>
            <a:r>
              <a:rPr sz="1050" b="0" i="0">
                <a:solidFill>
                  <a:srgbClr val="A7B2B0"/>
                </a:solidFill>
                <a:latin typeface="Segoe UI"/>
              </a:rPr>
              <a:t>29</a:t>
            </a:r>
          </a:p>
        </p:txBody>
      </p:sp>
      <p:cxnSp>
        <p:nvCxnSpPr>
          <p:cNvPr id="42" name="Connector 41"/>
          <p:cNvCxnSpPr/>
          <p:nvPr/>
        </p:nvCxnSpPr>
        <p:spPr>
          <a:xfrm>
            <a:off x="566928" y="6373368"/>
            <a:ext cx="11057839" cy="0"/>
          </a:xfrm>
          <a:prstGeom prst="line">
            <a:avLst/>
          </a:prstGeom>
          <a:ln w="7620">
            <a:solidFill>
              <a:srgbClr val="2A3A40"/>
            </a:solidFill>
          </a:ln>
        </p:spPr>
        <p:style>
          <a:lnRef idx="2">
            <a:schemeClr val="accent1"/>
          </a:lnRef>
          <a:fillRef idx="0">
            <a:schemeClr val="accent1"/>
          </a:fillRef>
          <a:effectRef idx="1">
            <a:schemeClr val="accent1"/>
          </a:effectRef>
          <a:fontRef idx="minor">
            <a:schemeClr val="tx1"/>
          </a:fontRef>
        </p:style>
      </p:cxnSp>
      <p:sp>
        <p:nvSpPr>
          <p:cNvPr id="43" name="TextBox 42"/>
          <p:cNvSpPr txBox="1"/>
          <p:nvPr/>
        </p:nvSpPr>
        <p:spPr>
          <a:xfrm>
            <a:off x="566928" y="6419088"/>
            <a:ext cx="6858000" cy="274320"/>
          </a:xfrm>
          <a:prstGeom prst="rect">
            <a:avLst/>
          </a:prstGeom>
          <a:noFill/>
        </p:spPr>
        <p:txBody>
          <a:bodyPr wrap="square" lIns="45720" rIns="45720" tIns="27432" bIns="27432" anchor="t">
            <a:noAutofit/>
          </a:bodyPr>
          <a:lstStyle/>
          <a:p>
            <a:pPr algn="l">
              <a:lnSpc>
                <a:spcPct val="100000"/>
              </a:lnSpc>
            </a:pPr>
            <a:r>
              <a:rPr sz="850" b="0" i="0" spc="120">
                <a:solidFill>
                  <a:srgbClr val="A7B2B0"/>
                </a:solidFill>
                <a:latin typeface="Segoe UI Semibold"/>
              </a:rPr>
              <a:t>TLAMATINI  ·  IX · DATOS DEL REPOSITORIO</a:t>
            </a:r>
          </a:p>
        </p:txBody>
      </p:sp>
      <p:sp>
        <p:nvSpPr>
          <p:cNvPr id="44" name="TextBox 43"/>
          <p:cNvSpPr txBox="1"/>
          <p:nvPr/>
        </p:nvSpPr>
        <p:spPr>
          <a:xfrm>
            <a:off x="8698687" y="6419088"/>
            <a:ext cx="2926080" cy="274320"/>
          </a:xfrm>
          <a:prstGeom prst="rect">
            <a:avLst/>
          </a:prstGeom>
          <a:noFill/>
        </p:spPr>
        <p:txBody>
          <a:bodyPr wrap="square" lIns="45720" rIns="45720" tIns="27432" bIns="27432" anchor="t">
            <a:noAutofit/>
          </a:bodyPr>
          <a:lstStyle/>
          <a:p>
            <a:pPr algn="r">
              <a:lnSpc>
                <a:spcPct val="100000"/>
              </a:lnSpc>
            </a:pPr>
            <a:r>
              <a:rPr sz="850" b="0" i="0" spc="100">
                <a:solidFill>
                  <a:srgbClr val="A7B2B0"/>
                </a:solidFill>
                <a:latin typeface="Segoe UI Semibold"/>
              </a:rPr>
              <a:t>v1.91.1   ·   163</a:t>
            </a:r>
          </a:p>
        </p:txBody>
      </p:sp>
    </p:spTree>
  </p:cSld>
  <p:clrMapOvr>
    <a:masterClrMapping/>
  </p:clrMapOvr>
</p:sld>
</file>

<file path=ppt/slides/slide1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content.png"/>
          <p:cNvPicPr>
            <a:picLocks noChangeAspect="1"/>
          </p:cNvPicPr>
          <p:nvPr/>
        </p:nvPicPr>
        <p:blipFill>
          <a:blip r:embed="rId2"/>
          <a:stretch>
            <a:fillRect/>
          </a:stretch>
        </p:blipFill>
        <p:spPr>
          <a:xfrm>
            <a:off x="0" y="0"/>
            <a:ext cx="12191695" cy="6858000"/>
          </a:xfrm>
          <a:prstGeom prst="rect">
            <a:avLst/>
          </a:prstGeom>
        </p:spPr>
      </p:pic>
      <p:sp>
        <p:nvSpPr>
          <p:cNvPr id="3" name="Diamond 2"/>
          <p:cNvSpPr/>
          <p:nvPr/>
        </p:nvSpPr>
        <p:spPr>
          <a:xfrm>
            <a:off x="566928" y="457200"/>
            <a:ext cx="100584" cy="100584"/>
          </a:xfrm>
          <a:prstGeom prst="diamond">
            <a:avLst/>
          </a:prstGeom>
          <a:solidFill>
            <a:srgbClr val="C984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49808" y="365760"/>
            <a:ext cx="8229600" cy="292608"/>
          </a:xfrm>
          <a:prstGeom prst="rect">
            <a:avLst/>
          </a:prstGeom>
          <a:noFill/>
        </p:spPr>
        <p:txBody>
          <a:bodyPr wrap="square" lIns="45720" rIns="45720" tIns="27432" bIns="27432" anchor="t">
            <a:noAutofit/>
          </a:bodyPr>
          <a:lstStyle/>
          <a:p>
            <a:pPr algn="l">
              <a:lnSpc>
                <a:spcPct val="100000"/>
              </a:lnSpc>
            </a:pPr>
            <a:r>
              <a:rPr sz="1100" b="0" i="0" spc="240">
                <a:solidFill>
                  <a:srgbClr val="C98457"/>
                </a:solidFill>
                <a:latin typeface="Segoe UI Semibold"/>
              </a:rPr>
              <a:t>INVENTARIO</a:t>
            </a:r>
          </a:p>
        </p:txBody>
      </p:sp>
      <p:sp>
        <p:nvSpPr>
          <p:cNvPr id="5" name="TextBox 4"/>
          <p:cNvSpPr txBox="1"/>
          <p:nvPr/>
        </p:nvSpPr>
        <p:spPr>
          <a:xfrm>
            <a:off x="539496" y="676656"/>
            <a:ext cx="11057839" cy="658368"/>
          </a:xfrm>
          <a:prstGeom prst="rect">
            <a:avLst/>
          </a:prstGeom>
          <a:noFill/>
        </p:spPr>
        <p:txBody>
          <a:bodyPr wrap="square" lIns="45720" rIns="45720" tIns="27432" bIns="27432" anchor="t">
            <a:noAutofit/>
          </a:bodyPr>
          <a:lstStyle/>
          <a:p>
            <a:pPr algn="l">
              <a:lnSpc>
                <a:spcPct val="100000"/>
              </a:lnSpc>
            </a:pPr>
            <a:r>
              <a:rPr sz="3100" b="0" i="0">
                <a:solidFill>
                  <a:srgbClr val="F7F2E8"/>
                </a:solidFill>
                <a:latin typeface="Palatino Linotype"/>
              </a:rPr>
              <a:t>El repositorio en números  (2/2)</a:t>
            </a:r>
          </a:p>
        </p:txBody>
      </p:sp>
      <p:sp>
        <p:nvSpPr>
          <p:cNvPr id="6" name="Rectangle 5"/>
          <p:cNvSpPr/>
          <p:nvPr/>
        </p:nvSpPr>
        <p:spPr>
          <a:xfrm>
            <a:off x="566928" y="1344168"/>
            <a:ext cx="822960" cy="36576"/>
          </a:xfrm>
          <a:prstGeom prst="rect">
            <a:avLst/>
          </a:prstGeom>
          <a:solidFill>
            <a:srgbClr val="C984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566928" y="1444752"/>
            <a:ext cx="10692079" cy="585216"/>
          </a:xfrm>
          <a:prstGeom prst="rect">
            <a:avLst/>
          </a:prstGeom>
          <a:noFill/>
        </p:spPr>
        <p:txBody>
          <a:bodyPr wrap="square" lIns="45720" rIns="45720" tIns="27432" bIns="27432" anchor="t">
            <a:noAutofit/>
          </a:bodyPr>
          <a:lstStyle/>
          <a:p>
            <a:pPr algn="l">
              <a:lnSpc>
                <a:spcPct val="100000"/>
              </a:lnSpc>
            </a:pPr>
            <a:r>
              <a:rPr sz="1450" b="0" i="0">
                <a:solidFill>
                  <a:srgbClr val="A7B2B0"/>
                </a:solidFill>
                <a:latin typeface="Segoe UI Semilight"/>
              </a:rPr>
              <a:t>Los conteos vienen de Git y de los archivos del source al momento de generarse.</a:t>
            </a:r>
          </a:p>
        </p:txBody>
      </p:sp>
      <p:sp>
        <p:nvSpPr>
          <p:cNvPr id="8" name="Rounded Rectangle 7"/>
          <p:cNvSpPr/>
          <p:nvPr/>
        </p:nvSpPr>
        <p:spPr>
          <a:xfrm>
            <a:off x="566928" y="2084831"/>
            <a:ext cx="11057839" cy="2633472"/>
          </a:xfrm>
          <a:prstGeom prst="roundRect">
            <a:avLst>
              <a:gd name="adj" fmla="val 2777"/>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ounded Rectangle 8"/>
          <p:cNvSpPr/>
          <p:nvPr/>
        </p:nvSpPr>
        <p:spPr>
          <a:xfrm>
            <a:off x="566928" y="2084831"/>
            <a:ext cx="11057839" cy="384048"/>
          </a:xfrm>
          <a:prstGeom prst="roundRect">
            <a:avLst>
              <a:gd name="adj" fmla="val 19047"/>
            </a:avLst>
          </a:prstGeom>
          <a:solidFill>
            <a:srgbClr val="151F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640080" y="2121408"/>
            <a:ext cx="4940302" cy="310896"/>
          </a:xfrm>
          <a:prstGeom prst="rect">
            <a:avLst/>
          </a:prstGeom>
          <a:noFill/>
        </p:spPr>
        <p:txBody>
          <a:bodyPr wrap="square" lIns="45720" rIns="45720" tIns="27432" bIns="27432" anchor="ctr">
            <a:noAutofit/>
          </a:bodyPr>
          <a:lstStyle/>
          <a:p>
            <a:pPr algn="l">
              <a:lnSpc>
                <a:spcPct val="100000"/>
              </a:lnSpc>
            </a:pPr>
            <a:r>
              <a:rPr sz="1000" b="0" i="0" spc="120">
                <a:solidFill>
                  <a:srgbClr val="E2B462"/>
                </a:solidFill>
                <a:latin typeface="Segoe UI Semibold"/>
              </a:rPr>
              <a:t>MEDIDA</a:t>
            </a:r>
          </a:p>
        </p:txBody>
      </p:sp>
      <p:sp>
        <p:nvSpPr>
          <p:cNvPr id="11" name="TextBox 10"/>
          <p:cNvSpPr txBox="1"/>
          <p:nvPr/>
        </p:nvSpPr>
        <p:spPr>
          <a:xfrm>
            <a:off x="5726686" y="2121408"/>
            <a:ext cx="5824929" cy="310896"/>
          </a:xfrm>
          <a:prstGeom prst="rect">
            <a:avLst/>
          </a:prstGeom>
          <a:noFill/>
        </p:spPr>
        <p:txBody>
          <a:bodyPr wrap="square" lIns="45720" rIns="45720" tIns="27432" bIns="27432" anchor="ctr">
            <a:noAutofit/>
          </a:bodyPr>
          <a:lstStyle/>
          <a:p>
            <a:pPr algn="l">
              <a:lnSpc>
                <a:spcPct val="100000"/>
              </a:lnSpc>
            </a:pPr>
            <a:r>
              <a:rPr sz="1000" b="0" i="0" spc="120">
                <a:solidFill>
                  <a:srgbClr val="E2B462"/>
                </a:solidFill>
                <a:latin typeface="Segoe UI Semibold"/>
              </a:rPr>
              <a:t>VALOR</a:t>
            </a:r>
          </a:p>
        </p:txBody>
      </p:sp>
      <p:sp>
        <p:nvSpPr>
          <p:cNvPr id="12" name="TextBox 11"/>
          <p:cNvSpPr txBox="1"/>
          <p:nvPr/>
        </p:nvSpPr>
        <p:spPr>
          <a:xfrm>
            <a:off x="640080" y="2505456"/>
            <a:ext cx="4940302" cy="301752"/>
          </a:xfrm>
          <a:prstGeom prst="rect">
            <a:avLst/>
          </a:prstGeom>
          <a:noFill/>
        </p:spPr>
        <p:txBody>
          <a:bodyPr wrap="square" lIns="45720" rIns="45720" tIns="27432" bIns="27432" anchor="ctr">
            <a:noAutofit/>
          </a:bodyPr>
          <a:lstStyle/>
          <a:p>
            <a:pPr algn="l">
              <a:lnSpc>
                <a:spcPct val="100000"/>
              </a:lnSpc>
            </a:pPr>
            <a:r>
              <a:rPr sz="1500" b="0" i="0">
                <a:solidFill>
                  <a:srgbClr val="F7F2E8"/>
                </a:solidFill>
                <a:latin typeface="Segoe UI Semibold"/>
              </a:rPr>
              <a:t>Pares de ACPX</a:t>
            </a:r>
          </a:p>
        </p:txBody>
      </p:sp>
      <p:sp>
        <p:nvSpPr>
          <p:cNvPr id="13" name="TextBox 12"/>
          <p:cNvSpPr txBox="1"/>
          <p:nvPr/>
        </p:nvSpPr>
        <p:spPr>
          <a:xfrm>
            <a:off x="5726686" y="2505456"/>
            <a:ext cx="5824929" cy="301752"/>
          </a:xfrm>
          <a:prstGeom prst="rect">
            <a:avLst/>
          </a:prstGeom>
          <a:noFill/>
        </p:spPr>
        <p:txBody>
          <a:bodyPr wrap="square" lIns="45720" rIns="45720" tIns="27432" bIns="27432" anchor="ctr">
            <a:noAutofit/>
          </a:bodyPr>
          <a:lstStyle/>
          <a:p>
            <a:pPr algn="l">
              <a:lnSpc>
                <a:spcPct val="100000"/>
              </a:lnSpc>
            </a:pPr>
            <a:r>
              <a:rPr sz="1500" b="0" i="0">
                <a:solidFill>
                  <a:srgbClr val="A7B2B0"/>
                </a:solidFill>
                <a:latin typeface="Segoe UI"/>
              </a:rPr>
              <a:t>14</a:t>
            </a:r>
          </a:p>
        </p:txBody>
      </p:sp>
      <p:sp>
        <p:nvSpPr>
          <p:cNvPr id="14" name="Rectangle 13"/>
          <p:cNvSpPr/>
          <p:nvPr/>
        </p:nvSpPr>
        <p:spPr>
          <a:xfrm>
            <a:off x="585216" y="2843784"/>
            <a:ext cx="11021263" cy="374904"/>
          </a:xfrm>
          <a:prstGeom prst="rect">
            <a:avLst/>
          </a:prstGeom>
          <a:solidFill>
            <a:srgbClr val="1824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640080" y="2880360"/>
            <a:ext cx="4940302" cy="301752"/>
          </a:xfrm>
          <a:prstGeom prst="rect">
            <a:avLst/>
          </a:prstGeom>
          <a:noFill/>
        </p:spPr>
        <p:txBody>
          <a:bodyPr wrap="square" lIns="45720" rIns="45720" tIns="27432" bIns="27432" anchor="ctr">
            <a:noAutofit/>
          </a:bodyPr>
          <a:lstStyle/>
          <a:p>
            <a:pPr algn="l">
              <a:lnSpc>
                <a:spcPct val="100000"/>
              </a:lnSpc>
            </a:pPr>
            <a:r>
              <a:rPr sz="1500" b="0" i="0">
                <a:solidFill>
                  <a:srgbClr val="F7F2E8"/>
                </a:solidFill>
                <a:latin typeface="Segoe UI Semibold"/>
              </a:rPr>
              <a:t>Migraciones de la base de datos</a:t>
            </a:r>
          </a:p>
        </p:txBody>
      </p:sp>
      <p:sp>
        <p:nvSpPr>
          <p:cNvPr id="16" name="TextBox 15"/>
          <p:cNvSpPr txBox="1"/>
          <p:nvPr/>
        </p:nvSpPr>
        <p:spPr>
          <a:xfrm>
            <a:off x="5726686" y="2880360"/>
            <a:ext cx="5824929" cy="301752"/>
          </a:xfrm>
          <a:prstGeom prst="rect">
            <a:avLst/>
          </a:prstGeom>
          <a:noFill/>
        </p:spPr>
        <p:txBody>
          <a:bodyPr wrap="square" lIns="45720" rIns="45720" tIns="27432" bIns="27432" anchor="ctr">
            <a:noAutofit/>
          </a:bodyPr>
          <a:lstStyle/>
          <a:p>
            <a:pPr algn="l">
              <a:lnSpc>
                <a:spcPct val="100000"/>
              </a:lnSpc>
            </a:pPr>
            <a:r>
              <a:rPr sz="1500" b="0" i="0">
                <a:solidFill>
                  <a:srgbClr val="A7B2B0"/>
                </a:solidFill>
                <a:latin typeface="Segoe UI"/>
              </a:rPr>
              <a:t>220</a:t>
            </a:r>
          </a:p>
        </p:txBody>
      </p:sp>
      <p:sp>
        <p:nvSpPr>
          <p:cNvPr id="17" name="TextBox 16"/>
          <p:cNvSpPr txBox="1"/>
          <p:nvPr/>
        </p:nvSpPr>
        <p:spPr>
          <a:xfrm>
            <a:off x="640080" y="3255264"/>
            <a:ext cx="4940302" cy="301752"/>
          </a:xfrm>
          <a:prstGeom prst="rect">
            <a:avLst/>
          </a:prstGeom>
          <a:noFill/>
        </p:spPr>
        <p:txBody>
          <a:bodyPr wrap="square" lIns="45720" rIns="45720" tIns="27432" bIns="27432" anchor="ctr">
            <a:noAutofit/>
          </a:bodyPr>
          <a:lstStyle/>
          <a:p>
            <a:pPr algn="l">
              <a:lnSpc>
                <a:spcPct val="100000"/>
              </a:lnSpc>
            </a:pPr>
            <a:r>
              <a:rPr sz="1500" b="0" i="0">
                <a:solidFill>
                  <a:srgbClr val="F7F2E8"/>
                </a:solidFill>
                <a:latin typeface="Segoe UI Semibold"/>
              </a:rPr>
              <a:t>Módulos JavaScript · hojas de estilo · plantillas</a:t>
            </a:r>
          </a:p>
        </p:txBody>
      </p:sp>
      <p:sp>
        <p:nvSpPr>
          <p:cNvPr id="18" name="TextBox 17"/>
          <p:cNvSpPr txBox="1"/>
          <p:nvPr/>
        </p:nvSpPr>
        <p:spPr>
          <a:xfrm>
            <a:off x="5726686" y="3255264"/>
            <a:ext cx="5824929" cy="301752"/>
          </a:xfrm>
          <a:prstGeom prst="rect">
            <a:avLst/>
          </a:prstGeom>
          <a:noFill/>
        </p:spPr>
        <p:txBody>
          <a:bodyPr wrap="square" lIns="45720" rIns="45720" tIns="27432" bIns="27432" anchor="ctr">
            <a:noAutofit/>
          </a:bodyPr>
          <a:lstStyle/>
          <a:p>
            <a:pPr algn="l">
              <a:lnSpc>
                <a:spcPct val="100000"/>
              </a:lnSpc>
            </a:pPr>
            <a:r>
              <a:rPr sz="1500" b="0" i="0">
                <a:solidFill>
                  <a:srgbClr val="A7B2B0"/>
                </a:solidFill>
                <a:latin typeface="Segoe UI"/>
              </a:rPr>
              <a:t>64 · 29 · 8</a:t>
            </a:r>
          </a:p>
        </p:txBody>
      </p:sp>
      <p:sp>
        <p:nvSpPr>
          <p:cNvPr id="19" name="Rectangle 18"/>
          <p:cNvSpPr/>
          <p:nvPr/>
        </p:nvSpPr>
        <p:spPr>
          <a:xfrm>
            <a:off x="585216" y="3593592"/>
            <a:ext cx="11021263" cy="374904"/>
          </a:xfrm>
          <a:prstGeom prst="rect">
            <a:avLst/>
          </a:prstGeom>
          <a:solidFill>
            <a:srgbClr val="1824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640080" y="3630168"/>
            <a:ext cx="4940302" cy="301752"/>
          </a:xfrm>
          <a:prstGeom prst="rect">
            <a:avLst/>
          </a:prstGeom>
          <a:noFill/>
        </p:spPr>
        <p:txBody>
          <a:bodyPr wrap="square" lIns="45720" rIns="45720" tIns="27432" bIns="27432" anchor="ctr">
            <a:noAutofit/>
          </a:bodyPr>
          <a:lstStyle/>
          <a:p>
            <a:pPr algn="l">
              <a:lnSpc>
                <a:spcPct val="100000"/>
              </a:lnSpc>
            </a:pPr>
            <a:r>
              <a:rPr sz="1500" b="0" i="0">
                <a:solidFill>
                  <a:srgbClr val="F7F2E8"/>
                </a:solidFill>
                <a:latin typeface="Segoe UI Semibold"/>
              </a:rPr>
              <a:t>Requirements de Python fijados</a:t>
            </a:r>
          </a:p>
        </p:txBody>
      </p:sp>
      <p:sp>
        <p:nvSpPr>
          <p:cNvPr id="21" name="TextBox 20"/>
          <p:cNvSpPr txBox="1"/>
          <p:nvPr/>
        </p:nvSpPr>
        <p:spPr>
          <a:xfrm>
            <a:off x="5726686" y="3630168"/>
            <a:ext cx="5824929" cy="301752"/>
          </a:xfrm>
          <a:prstGeom prst="rect">
            <a:avLst/>
          </a:prstGeom>
          <a:noFill/>
        </p:spPr>
        <p:txBody>
          <a:bodyPr wrap="square" lIns="45720" rIns="45720" tIns="27432" bIns="27432" anchor="ctr">
            <a:noAutofit/>
          </a:bodyPr>
          <a:lstStyle/>
          <a:p>
            <a:pPr algn="l">
              <a:lnSpc>
                <a:spcPct val="100000"/>
              </a:lnSpc>
            </a:pPr>
            <a:r>
              <a:rPr sz="1500" b="0" i="0">
                <a:solidFill>
                  <a:srgbClr val="A7B2B0"/>
                </a:solidFill>
                <a:latin typeface="Segoe UI"/>
              </a:rPr>
              <a:t>264</a:t>
            </a:r>
          </a:p>
        </p:txBody>
      </p:sp>
      <p:sp>
        <p:nvSpPr>
          <p:cNvPr id="22" name="TextBox 21"/>
          <p:cNvSpPr txBox="1"/>
          <p:nvPr/>
        </p:nvSpPr>
        <p:spPr>
          <a:xfrm>
            <a:off x="640080" y="4005072"/>
            <a:ext cx="4940302" cy="301752"/>
          </a:xfrm>
          <a:prstGeom prst="rect">
            <a:avLst/>
          </a:prstGeom>
          <a:noFill/>
        </p:spPr>
        <p:txBody>
          <a:bodyPr wrap="square" lIns="45720" rIns="45720" tIns="27432" bIns="27432" anchor="ctr">
            <a:noAutofit/>
          </a:bodyPr>
          <a:lstStyle/>
          <a:p>
            <a:pPr algn="l">
              <a:lnSpc>
                <a:spcPct val="100000"/>
              </a:lnSpc>
            </a:pPr>
            <a:r>
              <a:rPr sz="1500" b="0" i="0">
                <a:solidFill>
                  <a:srgbClr val="F7F2E8"/>
                </a:solidFill>
                <a:latin typeface="Segoe UI Semibold"/>
              </a:rPr>
              <a:t>Secciones del catálogo</a:t>
            </a:r>
          </a:p>
        </p:txBody>
      </p:sp>
      <p:sp>
        <p:nvSpPr>
          <p:cNvPr id="23" name="TextBox 22"/>
          <p:cNvSpPr txBox="1"/>
          <p:nvPr/>
        </p:nvSpPr>
        <p:spPr>
          <a:xfrm>
            <a:off x="5726686" y="4005072"/>
            <a:ext cx="5824929" cy="301752"/>
          </a:xfrm>
          <a:prstGeom prst="rect">
            <a:avLst/>
          </a:prstGeom>
          <a:noFill/>
        </p:spPr>
        <p:txBody>
          <a:bodyPr wrap="square" lIns="45720" rIns="45720" tIns="27432" bIns="27432" anchor="ctr">
            <a:noAutofit/>
          </a:bodyPr>
          <a:lstStyle/>
          <a:p>
            <a:pPr algn="l">
              <a:lnSpc>
                <a:spcPct val="100000"/>
              </a:lnSpc>
            </a:pPr>
            <a:r>
              <a:rPr sz="1500" b="0" i="0">
                <a:solidFill>
                  <a:srgbClr val="A7B2B0"/>
                </a:solidFill>
                <a:latin typeface="Segoe UI"/>
              </a:rPr>
              <a:t>16</a:t>
            </a:r>
          </a:p>
        </p:txBody>
      </p:sp>
      <p:sp>
        <p:nvSpPr>
          <p:cNvPr id="24" name="Rectangle 23"/>
          <p:cNvSpPr/>
          <p:nvPr/>
        </p:nvSpPr>
        <p:spPr>
          <a:xfrm>
            <a:off x="585216" y="4343400"/>
            <a:ext cx="11021263" cy="374904"/>
          </a:xfrm>
          <a:prstGeom prst="rect">
            <a:avLst/>
          </a:prstGeom>
          <a:solidFill>
            <a:srgbClr val="1824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TextBox 24"/>
          <p:cNvSpPr txBox="1"/>
          <p:nvPr/>
        </p:nvSpPr>
        <p:spPr>
          <a:xfrm>
            <a:off x="640080" y="4379976"/>
            <a:ext cx="4940302" cy="301752"/>
          </a:xfrm>
          <a:prstGeom prst="rect">
            <a:avLst/>
          </a:prstGeom>
          <a:noFill/>
        </p:spPr>
        <p:txBody>
          <a:bodyPr wrap="square" lIns="45720" rIns="45720" tIns="27432" bIns="27432" anchor="ctr">
            <a:noAutofit/>
          </a:bodyPr>
          <a:lstStyle/>
          <a:p>
            <a:pPr algn="l">
              <a:lnSpc>
                <a:spcPct val="100000"/>
              </a:lnSpc>
            </a:pPr>
            <a:r>
              <a:rPr sz="1500" b="0" i="0">
                <a:solidFill>
                  <a:srgbClr val="F7F2E8"/>
                </a:solidFill>
                <a:latin typeface="Segoe UI Semibold"/>
              </a:rPr>
              <a:t>Configuraciones centrales de modelos</a:t>
            </a:r>
          </a:p>
        </p:txBody>
      </p:sp>
      <p:sp>
        <p:nvSpPr>
          <p:cNvPr id="26" name="TextBox 25"/>
          <p:cNvSpPr txBox="1"/>
          <p:nvPr/>
        </p:nvSpPr>
        <p:spPr>
          <a:xfrm>
            <a:off x="5726686" y="4379976"/>
            <a:ext cx="5824929" cy="301752"/>
          </a:xfrm>
          <a:prstGeom prst="rect">
            <a:avLst/>
          </a:prstGeom>
          <a:noFill/>
        </p:spPr>
        <p:txBody>
          <a:bodyPr wrap="square" lIns="45720" rIns="45720" tIns="27432" bIns="27432" anchor="ctr">
            <a:noAutofit/>
          </a:bodyPr>
          <a:lstStyle/>
          <a:p>
            <a:pPr algn="l">
              <a:lnSpc>
                <a:spcPct val="100000"/>
              </a:lnSpc>
            </a:pPr>
            <a:r>
              <a:rPr sz="1500" b="0" i="0">
                <a:solidFill>
                  <a:srgbClr val="A7B2B0"/>
                </a:solidFill>
                <a:latin typeface="Segoe UI"/>
              </a:rPr>
              <a:t>38 para 21 agents con modelo</a:t>
            </a:r>
          </a:p>
        </p:txBody>
      </p:sp>
      <p:cxnSp>
        <p:nvCxnSpPr>
          <p:cNvPr id="27" name="Connector 26"/>
          <p:cNvCxnSpPr/>
          <p:nvPr/>
        </p:nvCxnSpPr>
        <p:spPr>
          <a:xfrm>
            <a:off x="566928" y="6373368"/>
            <a:ext cx="11057839" cy="0"/>
          </a:xfrm>
          <a:prstGeom prst="line">
            <a:avLst/>
          </a:prstGeom>
          <a:ln w="7620">
            <a:solidFill>
              <a:srgbClr val="2A3A40"/>
            </a:solidFill>
          </a:ln>
        </p:spPr>
        <p:style>
          <a:lnRef idx="2">
            <a:schemeClr val="accent1"/>
          </a:lnRef>
          <a:fillRef idx="0">
            <a:schemeClr val="accent1"/>
          </a:fillRef>
          <a:effectRef idx="1">
            <a:schemeClr val="accent1"/>
          </a:effectRef>
          <a:fontRef idx="minor">
            <a:schemeClr val="tx1"/>
          </a:fontRef>
        </p:style>
      </p:cxnSp>
      <p:sp>
        <p:nvSpPr>
          <p:cNvPr id="28" name="TextBox 27"/>
          <p:cNvSpPr txBox="1"/>
          <p:nvPr/>
        </p:nvSpPr>
        <p:spPr>
          <a:xfrm>
            <a:off x="566928" y="6419088"/>
            <a:ext cx="6858000" cy="274320"/>
          </a:xfrm>
          <a:prstGeom prst="rect">
            <a:avLst/>
          </a:prstGeom>
          <a:noFill/>
        </p:spPr>
        <p:txBody>
          <a:bodyPr wrap="square" lIns="45720" rIns="45720" tIns="27432" bIns="27432" anchor="t">
            <a:noAutofit/>
          </a:bodyPr>
          <a:lstStyle/>
          <a:p>
            <a:pPr algn="l">
              <a:lnSpc>
                <a:spcPct val="100000"/>
              </a:lnSpc>
            </a:pPr>
            <a:r>
              <a:rPr sz="850" b="0" i="0" spc="120">
                <a:solidFill>
                  <a:srgbClr val="A7B2B0"/>
                </a:solidFill>
                <a:latin typeface="Segoe UI Semibold"/>
              </a:rPr>
              <a:t>TLAMATINI  ·  IX · DATOS DEL REPOSITORIO</a:t>
            </a:r>
          </a:p>
        </p:txBody>
      </p:sp>
      <p:sp>
        <p:nvSpPr>
          <p:cNvPr id="29" name="TextBox 28"/>
          <p:cNvSpPr txBox="1"/>
          <p:nvPr/>
        </p:nvSpPr>
        <p:spPr>
          <a:xfrm>
            <a:off x="8698687" y="6419088"/>
            <a:ext cx="2926080" cy="274320"/>
          </a:xfrm>
          <a:prstGeom prst="rect">
            <a:avLst/>
          </a:prstGeom>
          <a:noFill/>
        </p:spPr>
        <p:txBody>
          <a:bodyPr wrap="square" lIns="45720" rIns="45720" tIns="27432" bIns="27432" anchor="t">
            <a:noAutofit/>
          </a:bodyPr>
          <a:lstStyle/>
          <a:p>
            <a:pPr algn="r">
              <a:lnSpc>
                <a:spcPct val="100000"/>
              </a:lnSpc>
            </a:pPr>
            <a:r>
              <a:rPr sz="850" b="0" i="0" spc="100">
                <a:solidFill>
                  <a:srgbClr val="A7B2B0"/>
                </a:solidFill>
                <a:latin typeface="Segoe UI Semibold"/>
              </a:rPr>
              <a:t>v1.91.1   ·   164</a:t>
            </a:r>
          </a:p>
        </p:txBody>
      </p:sp>
    </p:spTree>
  </p:cSld>
  <p:clrMapOvr>
    <a:masterClrMapping/>
  </p:clrMapOvr>
</p:sld>
</file>

<file path=ppt/slides/slide1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content.png"/>
          <p:cNvPicPr>
            <a:picLocks noChangeAspect="1"/>
          </p:cNvPicPr>
          <p:nvPr/>
        </p:nvPicPr>
        <p:blipFill>
          <a:blip r:embed="rId2"/>
          <a:stretch>
            <a:fillRect/>
          </a:stretch>
        </p:blipFill>
        <p:spPr>
          <a:xfrm>
            <a:off x="0" y="0"/>
            <a:ext cx="12191695" cy="6858000"/>
          </a:xfrm>
          <a:prstGeom prst="rect">
            <a:avLst/>
          </a:prstGeom>
        </p:spPr>
      </p:pic>
      <p:sp>
        <p:nvSpPr>
          <p:cNvPr id="3" name="Diamond 2"/>
          <p:cNvSpPr/>
          <p:nvPr/>
        </p:nvSpPr>
        <p:spPr>
          <a:xfrm>
            <a:off x="566928" y="457200"/>
            <a:ext cx="100584" cy="100584"/>
          </a:xfrm>
          <a:prstGeom prst="diamond">
            <a:avLst/>
          </a:prstGeom>
          <a:solidFill>
            <a:srgbClr val="C984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49808" y="365760"/>
            <a:ext cx="8229600" cy="292608"/>
          </a:xfrm>
          <a:prstGeom prst="rect">
            <a:avLst/>
          </a:prstGeom>
          <a:noFill/>
        </p:spPr>
        <p:txBody>
          <a:bodyPr wrap="square" lIns="45720" rIns="45720" tIns="27432" bIns="27432" anchor="t">
            <a:noAutofit/>
          </a:bodyPr>
          <a:lstStyle/>
          <a:p>
            <a:pPr algn="l">
              <a:lnSpc>
                <a:spcPct val="100000"/>
              </a:lnSpc>
            </a:pPr>
            <a:r>
              <a:rPr sz="1100" b="0" i="0" spc="240">
                <a:solidFill>
                  <a:srgbClr val="C98457"/>
                </a:solidFill>
                <a:latin typeface="Segoe UI Semibold"/>
              </a:rPr>
              <a:t>INVENTARIO DE LÍNEAS</a:t>
            </a:r>
          </a:p>
        </p:txBody>
      </p:sp>
      <p:sp>
        <p:nvSpPr>
          <p:cNvPr id="5" name="TextBox 4"/>
          <p:cNvSpPr txBox="1"/>
          <p:nvPr/>
        </p:nvSpPr>
        <p:spPr>
          <a:xfrm>
            <a:off x="539496" y="676656"/>
            <a:ext cx="11057839" cy="658368"/>
          </a:xfrm>
          <a:prstGeom prst="rect">
            <a:avLst/>
          </a:prstGeom>
          <a:noFill/>
        </p:spPr>
        <p:txBody>
          <a:bodyPr wrap="square" lIns="45720" rIns="45720" tIns="27432" bIns="27432" anchor="t">
            <a:noAutofit/>
          </a:bodyPr>
          <a:lstStyle/>
          <a:p>
            <a:pPr algn="l">
              <a:lnSpc>
                <a:spcPct val="100000"/>
              </a:lnSpc>
            </a:pPr>
            <a:r>
              <a:rPr sz="3100" b="0" i="0">
                <a:solidFill>
                  <a:srgbClr val="F7F2E8"/>
                </a:solidFill>
                <a:latin typeface="Palatino Linotype"/>
              </a:rPr>
              <a:t>Líneas efectivas por lenguaje</a:t>
            </a:r>
          </a:p>
        </p:txBody>
      </p:sp>
      <p:sp>
        <p:nvSpPr>
          <p:cNvPr id="6" name="Rectangle 5"/>
          <p:cNvSpPr/>
          <p:nvPr/>
        </p:nvSpPr>
        <p:spPr>
          <a:xfrm>
            <a:off x="566928" y="1344168"/>
            <a:ext cx="822960" cy="36576"/>
          </a:xfrm>
          <a:prstGeom prst="rect">
            <a:avLst/>
          </a:prstGeom>
          <a:solidFill>
            <a:srgbClr val="C984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566928" y="1444752"/>
            <a:ext cx="10692079" cy="585216"/>
          </a:xfrm>
          <a:prstGeom prst="rect">
            <a:avLst/>
          </a:prstGeom>
          <a:noFill/>
        </p:spPr>
        <p:txBody>
          <a:bodyPr wrap="square" lIns="45720" rIns="45720" tIns="27432" bIns="27432" anchor="t">
            <a:noAutofit/>
          </a:bodyPr>
          <a:lstStyle/>
          <a:p>
            <a:pPr algn="l">
              <a:lnSpc>
                <a:spcPct val="100000"/>
              </a:lnSpc>
            </a:pPr>
            <a:r>
              <a:rPr sz="1450" b="0" i="0">
                <a:solidFill>
                  <a:srgbClr val="A7B2B0"/>
                </a:solidFill>
                <a:latin typeface="Segoe UI Semilight"/>
              </a:rPr>
              <a:t>544,489 líneas efectivas en 1,886 archivos de texto; 679,395 líneas físicas.</a:t>
            </a:r>
          </a:p>
        </p:txBody>
      </p:sp>
      <p:graphicFrame>
        <p:nvGraphicFramePr>
          <p:cNvPr id="8" name="Chart 7"/>
          <p:cNvGraphicFramePr>
            <a:graphicFrameLocks noGrp="1"/>
          </p:cNvGraphicFramePr>
          <p:nvPr/>
        </p:nvGraphicFramePr>
        <p:xfrm>
          <a:off x="566928" y="2084831"/>
          <a:ext cx="11057839" cy="4114800"/>
        </p:xfrm>
        <a:graphic>
          <a:graphicData uri="http://schemas.openxmlformats.org/drawingml/2006/chart">
            <c:chart xmlns:c="http://schemas.openxmlformats.org/drawingml/2006/chart" r:id="rId4"/>
          </a:graphicData>
        </a:graphic>
      </p:graphicFrame>
      <p:cxnSp>
        <p:nvCxnSpPr>
          <p:cNvPr id="9" name="Connector 8"/>
          <p:cNvCxnSpPr/>
          <p:nvPr/>
        </p:nvCxnSpPr>
        <p:spPr>
          <a:xfrm>
            <a:off x="566928" y="6373368"/>
            <a:ext cx="11057839" cy="0"/>
          </a:xfrm>
          <a:prstGeom prst="line">
            <a:avLst/>
          </a:prstGeom>
          <a:ln w="7620">
            <a:solidFill>
              <a:srgbClr val="2A3A40"/>
            </a:solidFill>
          </a:ln>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566928" y="6419088"/>
            <a:ext cx="6858000" cy="274320"/>
          </a:xfrm>
          <a:prstGeom prst="rect">
            <a:avLst/>
          </a:prstGeom>
          <a:noFill/>
        </p:spPr>
        <p:txBody>
          <a:bodyPr wrap="square" lIns="45720" rIns="45720" tIns="27432" bIns="27432" anchor="t">
            <a:noAutofit/>
          </a:bodyPr>
          <a:lstStyle/>
          <a:p>
            <a:pPr algn="l">
              <a:lnSpc>
                <a:spcPct val="100000"/>
              </a:lnSpc>
            </a:pPr>
            <a:r>
              <a:rPr sz="850" b="0" i="0" spc="120">
                <a:solidFill>
                  <a:srgbClr val="A7B2B0"/>
                </a:solidFill>
                <a:latin typeface="Segoe UI Semibold"/>
              </a:rPr>
              <a:t>TLAMATINI  ·  IX · DATOS DEL REPOSITORIO</a:t>
            </a:r>
          </a:p>
        </p:txBody>
      </p:sp>
      <p:sp>
        <p:nvSpPr>
          <p:cNvPr id="11" name="TextBox 10"/>
          <p:cNvSpPr txBox="1"/>
          <p:nvPr/>
        </p:nvSpPr>
        <p:spPr>
          <a:xfrm>
            <a:off x="8698687" y="6419088"/>
            <a:ext cx="2926080" cy="274320"/>
          </a:xfrm>
          <a:prstGeom prst="rect">
            <a:avLst/>
          </a:prstGeom>
          <a:noFill/>
        </p:spPr>
        <p:txBody>
          <a:bodyPr wrap="square" lIns="45720" rIns="45720" tIns="27432" bIns="27432" anchor="t">
            <a:noAutofit/>
          </a:bodyPr>
          <a:lstStyle/>
          <a:p>
            <a:pPr algn="r">
              <a:lnSpc>
                <a:spcPct val="100000"/>
              </a:lnSpc>
            </a:pPr>
            <a:r>
              <a:rPr sz="850" b="0" i="0" spc="100">
                <a:solidFill>
                  <a:srgbClr val="A7B2B0"/>
                </a:solidFill>
                <a:latin typeface="Segoe UI Semibold"/>
              </a:rPr>
              <a:t>v1.91.1   ·   165</a:t>
            </a:r>
          </a:p>
        </p:txBody>
      </p:sp>
    </p:spTree>
  </p:cSld>
  <p:clrMapOvr>
    <a:masterClrMapping/>
  </p:clrMapOvr>
</p:sld>
</file>

<file path=ppt/slides/slide1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content.png"/>
          <p:cNvPicPr>
            <a:picLocks noChangeAspect="1"/>
          </p:cNvPicPr>
          <p:nvPr/>
        </p:nvPicPr>
        <p:blipFill>
          <a:blip r:embed="rId2"/>
          <a:stretch>
            <a:fillRect/>
          </a:stretch>
        </p:blipFill>
        <p:spPr>
          <a:xfrm>
            <a:off x="0" y="0"/>
            <a:ext cx="12191695" cy="6858000"/>
          </a:xfrm>
          <a:prstGeom prst="rect">
            <a:avLst/>
          </a:prstGeom>
        </p:spPr>
      </p:pic>
      <p:sp>
        <p:nvSpPr>
          <p:cNvPr id="3" name="Diamond 2"/>
          <p:cNvSpPr/>
          <p:nvPr/>
        </p:nvSpPr>
        <p:spPr>
          <a:xfrm>
            <a:off x="566928" y="457200"/>
            <a:ext cx="100584" cy="100584"/>
          </a:xfrm>
          <a:prstGeom prst="diamond">
            <a:avLst/>
          </a:prstGeom>
          <a:solidFill>
            <a:srgbClr val="C984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49808" y="365760"/>
            <a:ext cx="8229600" cy="292608"/>
          </a:xfrm>
          <a:prstGeom prst="rect">
            <a:avLst/>
          </a:prstGeom>
          <a:noFill/>
        </p:spPr>
        <p:txBody>
          <a:bodyPr wrap="square" lIns="45720" rIns="45720" tIns="27432" bIns="27432" anchor="t">
            <a:noAutofit/>
          </a:bodyPr>
          <a:lstStyle/>
          <a:p>
            <a:pPr algn="l">
              <a:lnSpc>
                <a:spcPct val="100000"/>
              </a:lnSpc>
            </a:pPr>
            <a:r>
              <a:rPr sz="1100" b="0" i="0" spc="240">
                <a:solidFill>
                  <a:srgbClr val="C98457"/>
                </a:solidFill>
                <a:latin typeface="Segoe UI Semibold"/>
              </a:rPr>
              <a:t>INVENTARIO DE LÍNEAS</a:t>
            </a:r>
          </a:p>
        </p:txBody>
      </p:sp>
      <p:sp>
        <p:nvSpPr>
          <p:cNvPr id="5" name="TextBox 4"/>
          <p:cNvSpPr txBox="1"/>
          <p:nvPr/>
        </p:nvSpPr>
        <p:spPr>
          <a:xfrm>
            <a:off x="539496" y="676656"/>
            <a:ext cx="11057839" cy="658368"/>
          </a:xfrm>
          <a:prstGeom prst="rect">
            <a:avLst/>
          </a:prstGeom>
          <a:noFill/>
        </p:spPr>
        <p:txBody>
          <a:bodyPr wrap="square" lIns="45720" rIns="45720" tIns="27432" bIns="27432" anchor="t">
            <a:noAutofit/>
          </a:bodyPr>
          <a:lstStyle/>
          <a:p>
            <a:pPr algn="l">
              <a:lnSpc>
                <a:spcPct val="100000"/>
              </a:lnSpc>
            </a:pPr>
            <a:r>
              <a:rPr sz="3100" b="0" i="0">
                <a:solidFill>
                  <a:srgbClr val="F7F2E8"/>
                </a:solidFill>
                <a:latin typeface="Palatino Linotype"/>
              </a:rPr>
              <a:t>Cada lenguaje, contado  (1/2)</a:t>
            </a:r>
          </a:p>
        </p:txBody>
      </p:sp>
      <p:sp>
        <p:nvSpPr>
          <p:cNvPr id="6" name="Rectangle 5"/>
          <p:cNvSpPr/>
          <p:nvPr/>
        </p:nvSpPr>
        <p:spPr>
          <a:xfrm>
            <a:off x="566928" y="1344168"/>
            <a:ext cx="822960" cy="36576"/>
          </a:xfrm>
          <a:prstGeom prst="rect">
            <a:avLst/>
          </a:prstGeom>
          <a:solidFill>
            <a:srgbClr val="C984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566928" y="1444752"/>
            <a:ext cx="10692079" cy="585216"/>
          </a:xfrm>
          <a:prstGeom prst="rect">
            <a:avLst/>
          </a:prstGeom>
          <a:noFill/>
        </p:spPr>
        <p:txBody>
          <a:bodyPr wrap="square" lIns="45720" rIns="45720" tIns="27432" bIns="27432" anchor="t">
            <a:noAutofit/>
          </a:bodyPr>
          <a:lstStyle/>
          <a:p>
            <a:pPr algn="l">
              <a:lnSpc>
                <a:spcPct val="100000"/>
              </a:lnSpc>
            </a:pPr>
            <a:r>
              <a:rPr sz="1450" b="0" i="0">
                <a:solidFill>
                  <a:srgbClr val="A7B2B0"/>
                </a:solidFill>
                <a:latin typeface="Segoe UI Semilight"/>
              </a:rPr>
              <a:t>Las líneas efectivas excluyen las líneas en blanco, las líneas que sólo tienen comentarios y los docstrings de Python.</a:t>
            </a:r>
          </a:p>
        </p:txBody>
      </p:sp>
      <p:sp>
        <p:nvSpPr>
          <p:cNvPr id="8" name="Rounded Rectangle 7"/>
          <p:cNvSpPr/>
          <p:nvPr/>
        </p:nvSpPr>
        <p:spPr>
          <a:xfrm>
            <a:off x="566928" y="2084831"/>
            <a:ext cx="11057839" cy="4059935"/>
          </a:xfrm>
          <a:prstGeom prst="roundRect">
            <a:avLst>
              <a:gd name="adj" fmla="val 1801"/>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ounded Rectangle 8"/>
          <p:cNvSpPr/>
          <p:nvPr/>
        </p:nvSpPr>
        <p:spPr>
          <a:xfrm>
            <a:off x="566928" y="2084831"/>
            <a:ext cx="11057839" cy="384048"/>
          </a:xfrm>
          <a:prstGeom prst="roundRect">
            <a:avLst>
              <a:gd name="adj" fmla="val 19047"/>
            </a:avLst>
          </a:prstGeom>
          <a:solidFill>
            <a:srgbClr val="151F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640080" y="2121408"/>
            <a:ext cx="3613361" cy="310896"/>
          </a:xfrm>
          <a:prstGeom prst="rect">
            <a:avLst/>
          </a:prstGeom>
          <a:noFill/>
        </p:spPr>
        <p:txBody>
          <a:bodyPr wrap="square" lIns="45720" rIns="45720" tIns="27432" bIns="27432" anchor="ctr">
            <a:noAutofit/>
          </a:bodyPr>
          <a:lstStyle/>
          <a:p>
            <a:pPr algn="l">
              <a:lnSpc>
                <a:spcPct val="100000"/>
              </a:lnSpc>
            </a:pPr>
            <a:r>
              <a:rPr sz="1000" b="0" i="0" spc="120">
                <a:solidFill>
                  <a:srgbClr val="E2B462"/>
                </a:solidFill>
                <a:latin typeface="Segoe UI Semibold"/>
              </a:rPr>
              <a:t>LENGUAJE</a:t>
            </a:r>
          </a:p>
        </p:txBody>
      </p:sp>
      <p:sp>
        <p:nvSpPr>
          <p:cNvPr id="11" name="TextBox 10"/>
          <p:cNvSpPr txBox="1"/>
          <p:nvPr/>
        </p:nvSpPr>
        <p:spPr>
          <a:xfrm>
            <a:off x="4399745" y="2121408"/>
            <a:ext cx="1180636" cy="310896"/>
          </a:xfrm>
          <a:prstGeom prst="rect">
            <a:avLst/>
          </a:prstGeom>
          <a:noFill/>
        </p:spPr>
        <p:txBody>
          <a:bodyPr wrap="square" lIns="45720" rIns="45720" tIns="27432" bIns="27432" anchor="ctr">
            <a:noAutofit/>
          </a:bodyPr>
          <a:lstStyle/>
          <a:p>
            <a:pPr algn="r">
              <a:lnSpc>
                <a:spcPct val="100000"/>
              </a:lnSpc>
            </a:pPr>
            <a:r>
              <a:rPr sz="1000" b="0" i="0" spc="120">
                <a:solidFill>
                  <a:srgbClr val="E2B462"/>
                </a:solidFill>
                <a:latin typeface="Segoe UI Semibold"/>
              </a:rPr>
              <a:t>ARCHIVOS</a:t>
            </a:r>
          </a:p>
        </p:txBody>
      </p:sp>
      <p:sp>
        <p:nvSpPr>
          <p:cNvPr id="12" name="TextBox 11"/>
          <p:cNvSpPr txBox="1"/>
          <p:nvPr/>
        </p:nvSpPr>
        <p:spPr>
          <a:xfrm>
            <a:off x="5726686" y="2121408"/>
            <a:ext cx="1844107" cy="310896"/>
          </a:xfrm>
          <a:prstGeom prst="rect">
            <a:avLst/>
          </a:prstGeom>
          <a:noFill/>
        </p:spPr>
        <p:txBody>
          <a:bodyPr wrap="square" lIns="45720" rIns="45720" tIns="27432" bIns="27432" anchor="ctr">
            <a:noAutofit/>
          </a:bodyPr>
          <a:lstStyle/>
          <a:p>
            <a:pPr algn="r">
              <a:lnSpc>
                <a:spcPct val="100000"/>
              </a:lnSpc>
            </a:pPr>
            <a:r>
              <a:rPr sz="1000" b="0" i="0" spc="120">
                <a:solidFill>
                  <a:srgbClr val="E2B462"/>
                </a:solidFill>
                <a:latin typeface="Segoe UI Semibold"/>
              </a:rPr>
              <a:t>FÍSICAS</a:t>
            </a:r>
          </a:p>
        </p:txBody>
      </p:sp>
      <p:sp>
        <p:nvSpPr>
          <p:cNvPr id="13" name="TextBox 12"/>
          <p:cNvSpPr txBox="1"/>
          <p:nvPr/>
        </p:nvSpPr>
        <p:spPr>
          <a:xfrm>
            <a:off x="7717097" y="2121408"/>
            <a:ext cx="1844107" cy="310896"/>
          </a:xfrm>
          <a:prstGeom prst="rect">
            <a:avLst/>
          </a:prstGeom>
          <a:noFill/>
        </p:spPr>
        <p:txBody>
          <a:bodyPr wrap="square" lIns="45720" rIns="45720" tIns="27432" bIns="27432" anchor="ctr">
            <a:noAutofit/>
          </a:bodyPr>
          <a:lstStyle/>
          <a:p>
            <a:pPr algn="r">
              <a:lnSpc>
                <a:spcPct val="100000"/>
              </a:lnSpc>
            </a:pPr>
            <a:r>
              <a:rPr sz="1000" b="0" i="0" spc="120">
                <a:solidFill>
                  <a:srgbClr val="E2B462"/>
                </a:solidFill>
                <a:latin typeface="Segoe UI Semibold"/>
              </a:rPr>
              <a:t>EFECTIVAS</a:t>
            </a:r>
          </a:p>
        </p:txBody>
      </p:sp>
      <p:sp>
        <p:nvSpPr>
          <p:cNvPr id="14" name="TextBox 13"/>
          <p:cNvSpPr txBox="1"/>
          <p:nvPr/>
        </p:nvSpPr>
        <p:spPr>
          <a:xfrm>
            <a:off x="9707508" y="2121408"/>
            <a:ext cx="1844107" cy="310896"/>
          </a:xfrm>
          <a:prstGeom prst="rect">
            <a:avLst/>
          </a:prstGeom>
          <a:noFill/>
        </p:spPr>
        <p:txBody>
          <a:bodyPr wrap="square" lIns="45720" rIns="45720" tIns="27432" bIns="27432" anchor="ctr">
            <a:noAutofit/>
          </a:bodyPr>
          <a:lstStyle/>
          <a:p>
            <a:pPr algn="r">
              <a:lnSpc>
                <a:spcPct val="100000"/>
              </a:lnSpc>
            </a:pPr>
            <a:r>
              <a:rPr sz="1000" b="0" i="0" spc="120">
                <a:solidFill>
                  <a:srgbClr val="E2B462"/>
                </a:solidFill>
                <a:latin typeface="Segoe UI Semibold"/>
              </a:rPr>
              <a:t>PROPORCIÓN</a:t>
            </a:r>
          </a:p>
        </p:txBody>
      </p:sp>
      <p:sp>
        <p:nvSpPr>
          <p:cNvPr id="15" name="TextBox 14"/>
          <p:cNvSpPr txBox="1"/>
          <p:nvPr/>
        </p:nvSpPr>
        <p:spPr>
          <a:xfrm>
            <a:off x="640080" y="2505456"/>
            <a:ext cx="3613361" cy="233171"/>
          </a:xfrm>
          <a:prstGeom prst="rect">
            <a:avLst/>
          </a:prstGeom>
          <a:noFill/>
        </p:spPr>
        <p:txBody>
          <a:bodyPr wrap="square" lIns="45720" rIns="45720" tIns="27432" bIns="27432" anchor="ctr">
            <a:noAutofit/>
          </a:bodyPr>
          <a:lstStyle/>
          <a:p>
            <a:pPr algn="l">
              <a:lnSpc>
                <a:spcPct val="100000"/>
              </a:lnSpc>
            </a:pPr>
            <a:r>
              <a:rPr sz="1050" b="0" i="0">
                <a:solidFill>
                  <a:srgbClr val="F7F2E8"/>
                </a:solidFill>
                <a:latin typeface="Segoe UI Semibold"/>
              </a:rPr>
              <a:t>Python</a:t>
            </a:r>
          </a:p>
        </p:txBody>
      </p:sp>
      <p:sp>
        <p:nvSpPr>
          <p:cNvPr id="16" name="TextBox 15"/>
          <p:cNvSpPr txBox="1"/>
          <p:nvPr/>
        </p:nvSpPr>
        <p:spPr>
          <a:xfrm>
            <a:off x="4399745" y="2505456"/>
            <a:ext cx="1180636" cy="233171"/>
          </a:xfrm>
          <a:prstGeom prst="rect">
            <a:avLst/>
          </a:prstGeom>
          <a:noFill/>
        </p:spPr>
        <p:txBody>
          <a:bodyPr wrap="square" lIns="45720" rIns="45720" tIns="27432" bIns="27432" anchor="ctr">
            <a:noAutofit/>
          </a:bodyPr>
          <a:lstStyle/>
          <a:p>
            <a:pPr algn="r">
              <a:lnSpc>
                <a:spcPct val="100000"/>
              </a:lnSpc>
            </a:pPr>
            <a:r>
              <a:rPr sz="1050" b="0" i="0">
                <a:solidFill>
                  <a:srgbClr val="A7B2B0"/>
                </a:solidFill>
                <a:latin typeface="Segoe UI"/>
              </a:rPr>
              <a:t>934</a:t>
            </a:r>
          </a:p>
        </p:txBody>
      </p:sp>
      <p:sp>
        <p:nvSpPr>
          <p:cNvPr id="17" name="TextBox 16"/>
          <p:cNvSpPr txBox="1"/>
          <p:nvPr/>
        </p:nvSpPr>
        <p:spPr>
          <a:xfrm>
            <a:off x="5726686" y="2505456"/>
            <a:ext cx="1844107" cy="233171"/>
          </a:xfrm>
          <a:prstGeom prst="rect">
            <a:avLst/>
          </a:prstGeom>
          <a:noFill/>
        </p:spPr>
        <p:txBody>
          <a:bodyPr wrap="square" lIns="45720" rIns="45720" tIns="27432" bIns="27432" anchor="ctr">
            <a:noAutofit/>
          </a:bodyPr>
          <a:lstStyle/>
          <a:p>
            <a:pPr algn="r">
              <a:lnSpc>
                <a:spcPct val="100000"/>
              </a:lnSpc>
            </a:pPr>
            <a:r>
              <a:rPr sz="1050" b="0" i="0">
                <a:solidFill>
                  <a:srgbClr val="A7B2B0"/>
                </a:solidFill>
                <a:latin typeface="Segoe UI"/>
              </a:rPr>
              <a:t>368,047</a:t>
            </a:r>
          </a:p>
        </p:txBody>
      </p:sp>
      <p:sp>
        <p:nvSpPr>
          <p:cNvPr id="18" name="TextBox 17"/>
          <p:cNvSpPr txBox="1"/>
          <p:nvPr/>
        </p:nvSpPr>
        <p:spPr>
          <a:xfrm>
            <a:off x="7717097" y="2505456"/>
            <a:ext cx="1844107" cy="233171"/>
          </a:xfrm>
          <a:prstGeom prst="rect">
            <a:avLst/>
          </a:prstGeom>
          <a:noFill/>
        </p:spPr>
        <p:txBody>
          <a:bodyPr wrap="square" lIns="45720" rIns="45720" tIns="27432" bIns="27432" anchor="ctr">
            <a:noAutofit/>
          </a:bodyPr>
          <a:lstStyle/>
          <a:p>
            <a:pPr algn="r">
              <a:lnSpc>
                <a:spcPct val="100000"/>
              </a:lnSpc>
            </a:pPr>
            <a:r>
              <a:rPr sz="1050" b="0" i="0">
                <a:solidFill>
                  <a:srgbClr val="A7B2B0"/>
                </a:solidFill>
                <a:latin typeface="Segoe UI"/>
              </a:rPr>
              <a:t>265,055</a:t>
            </a:r>
          </a:p>
        </p:txBody>
      </p:sp>
      <p:sp>
        <p:nvSpPr>
          <p:cNvPr id="19" name="TextBox 18"/>
          <p:cNvSpPr txBox="1"/>
          <p:nvPr/>
        </p:nvSpPr>
        <p:spPr>
          <a:xfrm>
            <a:off x="9707508" y="2505456"/>
            <a:ext cx="1844107" cy="233171"/>
          </a:xfrm>
          <a:prstGeom prst="rect">
            <a:avLst/>
          </a:prstGeom>
          <a:noFill/>
        </p:spPr>
        <p:txBody>
          <a:bodyPr wrap="square" lIns="45720" rIns="45720" tIns="27432" bIns="27432" anchor="ctr">
            <a:noAutofit/>
          </a:bodyPr>
          <a:lstStyle/>
          <a:p>
            <a:pPr algn="r">
              <a:lnSpc>
                <a:spcPct val="100000"/>
              </a:lnSpc>
            </a:pPr>
            <a:r>
              <a:rPr sz="1050" b="0" i="0">
                <a:solidFill>
                  <a:srgbClr val="A7B2B0"/>
                </a:solidFill>
                <a:latin typeface="Segoe UI"/>
              </a:rPr>
              <a:t>48.7%</a:t>
            </a:r>
          </a:p>
        </p:txBody>
      </p:sp>
      <p:sp>
        <p:nvSpPr>
          <p:cNvPr id="20" name="Rectangle 19"/>
          <p:cNvSpPr/>
          <p:nvPr/>
        </p:nvSpPr>
        <p:spPr>
          <a:xfrm>
            <a:off x="585216" y="2775203"/>
            <a:ext cx="11021263" cy="306323"/>
          </a:xfrm>
          <a:prstGeom prst="rect">
            <a:avLst/>
          </a:prstGeom>
          <a:solidFill>
            <a:srgbClr val="1824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640080" y="2811779"/>
            <a:ext cx="3613361" cy="233171"/>
          </a:xfrm>
          <a:prstGeom prst="rect">
            <a:avLst/>
          </a:prstGeom>
          <a:noFill/>
        </p:spPr>
        <p:txBody>
          <a:bodyPr wrap="square" lIns="45720" rIns="45720" tIns="27432" bIns="27432" anchor="ctr">
            <a:noAutofit/>
          </a:bodyPr>
          <a:lstStyle/>
          <a:p>
            <a:pPr algn="l">
              <a:lnSpc>
                <a:spcPct val="100000"/>
              </a:lnSpc>
            </a:pPr>
            <a:r>
              <a:rPr sz="1050" b="0" i="0">
                <a:solidFill>
                  <a:srgbClr val="F7F2E8"/>
                </a:solidFill>
                <a:latin typeface="Segoe UI Semibold"/>
              </a:rPr>
              <a:t>Módulo JavaScript</a:t>
            </a:r>
          </a:p>
        </p:txBody>
      </p:sp>
      <p:sp>
        <p:nvSpPr>
          <p:cNvPr id="22" name="TextBox 21"/>
          <p:cNvSpPr txBox="1"/>
          <p:nvPr/>
        </p:nvSpPr>
        <p:spPr>
          <a:xfrm>
            <a:off x="4399745" y="2811779"/>
            <a:ext cx="1180636" cy="233171"/>
          </a:xfrm>
          <a:prstGeom prst="rect">
            <a:avLst/>
          </a:prstGeom>
          <a:noFill/>
        </p:spPr>
        <p:txBody>
          <a:bodyPr wrap="square" lIns="45720" rIns="45720" tIns="27432" bIns="27432" anchor="ctr">
            <a:noAutofit/>
          </a:bodyPr>
          <a:lstStyle/>
          <a:p>
            <a:pPr algn="r">
              <a:lnSpc>
                <a:spcPct val="100000"/>
              </a:lnSpc>
            </a:pPr>
            <a:r>
              <a:rPr sz="1050" b="0" i="0">
                <a:solidFill>
                  <a:srgbClr val="A7B2B0"/>
                </a:solidFill>
                <a:latin typeface="Segoe UI"/>
              </a:rPr>
              <a:t>10</a:t>
            </a:r>
          </a:p>
        </p:txBody>
      </p:sp>
      <p:sp>
        <p:nvSpPr>
          <p:cNvPr id="23" name="TextBox 22"/>
          <p:cNvSpPr txBox="1"/>
          <p:nvPr/>
        </p:nvSpPr>
        <p:spPr>
          <a:xfrm>
            <a:off x="5726686" y="2811779"/>
            <a:ext cx="1844107" cy="233171"/>
          </a:xfrm>
          <a:prstGeom prst="rect">
            <a:avLst/>
          </a:prstGeom>
          <a:noFill/>
        </p:spPr>
        <p:txBody>
          <a:bodyPr wrap="square" lIns="45720" rIns="45720" tIns="27432" bIns="27432" anchor="ctr">
            <a:noAutofit/>
          </a:bodyPr>
          <a:lstStyle/>
          <a:p>
            <a:pPr algn="r">
              <a:lnSpc>
                <a:spcPct val="100000"/>
              </a:lnSpc>
            </a:pPr>
            <a:r>
              <a:rPr sz="1050" b="0" i="0">
                <a:solidFill>
                  <a:srgbClr val="A7B2B0"/>
                </a:solidFill>
                <a:latin typeface="Segoe UI"/>
              </a:rPr>
              <a:t>104,803</a:t>
            </a:r>
          </a:p>
        </p:txBody>
      </p:sp>
      <p:sp>
        <p:nvSpPr>
          <p:cNvPr id="24" name="TextBox 23"/>
          <p:cNvSpPr txBox="1"/>
          <p:nvPr/>
        </p:nvSpPr>
        <p:spPr>
          <a:xfrm>
            <a:off x="7717097" y="2811779"/>
            <a:ext cx="1844107" cy="233171"/>
          </a:xfrm>
          <a:prstGeom prst="rect">
            <a:avLst/>
          </a:prstGeom>
          <a:noFill/>
        </p:spPr>
        <p:txBody>
          <a:bodyPr wrap="square" lIns="45720" rIns="45720" tIns="27432" bIns="27432" anchor="ctr">
            <a:noAutofit/>
          </a:bodyPr>
          <a:lstStyle/>
          <a:p>
            <a:pPr algn="r">
              <a:lnSpc>
                <a:spcPct val="100000"/>
              </a:lnSpc>
            </a:pPr>
            <a:r>
              <a:rPr sz="1050" b="0" i="0">
                <a:solidFill>
                  <a:srgbClr val="A7B2B0"/>
                </a:solidFill>
                <a:latin typeface="Segoe UI"/>
              </a:rPr>
              <a:t>103,320</a:t>
            </a:r>
          </a:p>
        </p:txBody>
      </p:sp>
      <p:sp>
        <p:nvSpPr>
          <p:cNvPr id="25" name="TextBox 24"/>
          <p:cNvSpPr txBox="1"/>
          <p:nvPr/>
        </p:nvSpPr>
        <p:spPr>
          <a:xfrm>
            <a:off x="9707508" y="2811779"/>
            <a:ext cx="1844107" cy="233171"/>
          </a:xfrm>
          <a:prstGeom prst="rect">
            <a:avLst/>
          </a:prstGeom>
          <a:noFill/>
        </p:spPr>
        <p:txBody>
          <a:bodyPr wrap="square" lIns="45720" rIns="45720" tIns="27432" bIns="27432" anchor="ctr">
            <a:noAutofit/>
          </a:bodyPr>
          <a:lstStyle/>
          <a:p>
            <a:pPr algn="r">
              <a:lnSpc>
                <a:spcPct val="100000"/>
              </a:lnSpc>
            </a:pPr>
            <a:r>
              <a:rPr sz="1050" b="0" i="0">
                <a:solidFill>
                  <a:srgbClr val="A7B2B0"/>
                </a:solidFill>
                <a:latin typeface="Segoe UI"/>
              </a:rPr>
              <a:t>19.0%</a:t>
            </a:r>
          </a:p>
        </p:txBody>
      </p:sp>
      <p:sp>
        <p:nvSpPr>
          <p:cNvPr id="26" name="TextBox 25"/>
          <p:cNvSpPr txBox="1"/>
          <p:nvPr/>
        </p:nvSpPr>
        <p:spPr>
          <a:xfrm>
            <a:off x="640080" y="3118103"/>
            <a:ext cx="3613361" cy="233171"/>
          </a:xfrm>
          <a:prstGeom prst="rect">
            <a:avLst/>
          </a:prstGeom>
          <a:noFill/>
        </p:spPr>
        <p:txBody>
          <a:bodyPr wrap="square" lIns="45720" rIns="45720" tIns="27432" bIns="27432" anchor="ctr">
            <a:noAutofit/>
          </a:bodyPr>
          <a:lstStyle/>
          <a:p>
            <a:pPr algn="l">
              <a:lnSpc>
                <a:spcPct val="100000"/>
              </a:lnSpc>
            </a:pPr>
            <a:r>
              <a:rPr sz="1050" b="0" i="0">
                <a:solidFill>
                  <a:srgbClr val="F7F2E8"/>
                </a:solidFill>
                <a:latin typeface="Segoe UI Semibold"/>
              </a:rPr>
              <a:t>JSON</a:t>
            </a:r>
          </a:p>
        </p:txBody>
      </p:sp>
      <p:sp>
        <p:nvSpPr>
          <p:cNvPr id="27" name="TextBox 26"/>
          <p:cNvSpPr txBox="1"/>
          <p:nvPr/>
        </p:nvSpPr>
        <p:spPr>
          <a:xfrm>
            <a:off x="4399745" y="3118103"/>
            <a:ext cx="1180636" cy="233171"/>
          </a:xfrm>
          <a:prstGeom prst="rect">
            <a:avLst/>
          </a:prstGeom>
          <a:noFill/>
        </p:spPr>
        <p:txBody>
          <a:bodyPr wrap="square" lIns="45720" rIns="45720" tIns="27432" bIns="27432" anchor="ctr">
            <a:noAutofit/>
          </a:bodyPr>
          <a:lstStyle/>
          <a:p>
            <a:pPr algn="r">
              <a:lnSpc>
                <a:spcPct val="100000"/>
              </a:lnSpc>
            </a:pPr>
            <a:r>
              <a:rPr sz="1050" b="0" i="0">
                <a:solidFill>
                  <a:srgbClr val="A7B2B0"/>
                </a:solidFill>
                <a:latin typeface="Segoe UI"/>
              </a:rPr>
              <a:t>294</a:t>
            </a:r>
          </a:p>
        </p:txBody>
      </p:sp>
      <p:sp>
        <p:nvSpPr>
          <p:cNvPr id="28" name="TextBox 27"/>
          <p:cNvSpPr txBox="1"/>
          <p:nvPr/>
        </p:nvSpPr>
        <p:spPr>
          <a:xfrm>
            <a:off x="5726686" y="3118103"/>
            <a:ext cx="1844107" cy="233171"/>
          </a:xfrm>
          <a:prstGeom prst="rect">
            <a:avLst/>
          </a:prstGeom>
          <a:noFill/>
        </p:spPr>
        <p:txBody>
          <a:bodyPr wrap="square" lIns="45720" rIns="45720" tIns="27432" bIns="27432" anchor="ctr">
            <a:noAutofit/>
          </a:bodyPr>
          <a:lstStyle/>
          <a:p>
            <a:pPr algn="r">
              <a:lnSpc>
                <a:spcPct val="100000"/>
              </a:lnSpc>
            </a:pPr>
            <a:r>
              <a:rPr sz="1050" b="0" i="0">
                <a:solidFill>
                  <a:srgbClr val="A7B2B0"/>
                </a:solidFill>
                <a:latin typeface="Segoe UI"/>
              </a:rPr>
              <a:t>69,331</a:t>
            </a:r>
          </a:p>
        </p:txBody>
      </p:sp>
      <p:sp>
        <p:nvSpPr>
          <p:cNvPr id="29" name="TextBox 28"/>
          <p:cNvSpPr txBox="1"/>
          <p:nvPr/>
        </p:nvSpPr>
        <p:spPr>
          <a:xfrm>
            <a:off x="7717097" y="3118103"/>
            <a:ext cx="1844107" cy="233171"/>
          </a:xfrm>
          <a:prstGeom prst="rect">
            <a:avLst/>
          </a:prstGeom>
          <a:noFill/>
        </p:spPr>
        <p:txBody>
          <a:bodyPr wrap="square" lIns="45720" rIns="45720" tIns="27432" bIns="27432" anchor="ctr">
            <a:noAutofit/>
          </a:bodyPr>
          <a:lstStyle/>
          <a:p>
            <a:pPr algn="r">
              <a:lnSpc>
                <a:spcPct val="100000"/>
              </a:lnSpc>
            </a:pPr>
            <a:r>
              <a:rPr sz="1050" b="0" i="0">
                <a:solidFill>
                  <a:srgbClr val="A7B2B0"/>
                </a:solidFill>
                <a:latin typeface="Segoe UI"/>
              </a:rPr>
              <a:t>69,331</a:t>
            </a:r>
          </a:p>
        </p:txBody>
      </p:sp>
      <p:sp>
        <p:nvSpPr>
          <p:cNvPr id="30" name="TextBox 29"/>
          <p:cNvSpPr txBox="1"/>
          <p:nvPr/>
        </p:nvSpPr>
        <p:spPr>
          <a:xfrm>
            <a:off x="9707508" y="3118103"/>
            <a:ext cx="1844107" cy="233171"/>
          </a:xfrm>
          <a:prstGeom prst="rect">
            <a:avLst/>
          </a:prstGeom>
          <a:noFill/>
        </p:spPr>
        <p:txBody>
          <a:bodyPr wrap="square" lIns="45720" rIns="45720" tIns="27432" bIns="27432" anchor="ctr">
            <a:noAutofit/>
          </a:bodyPr>
          <a:lstStyle/>
          <a:p>
            <a:pPr algn="r">
              <a:lnSpc>
                <a:spcPct val="100000"/>
              </a:lnSpc>
            </a:pPr>
            <a:r>
              <a:rPr sz="1050" b="0" i="0">
                <a:solidFill>
                  <a:srgbClr val="A7B2B0"/>
                </a:solidFill>
                <a:latin typeface="Segoe UI"/>
              </a:rPr>
              <a:t>12.7%</a:t>
            </a:r>
          </a:p>
        </p:txBody>
      </p:sp>
      <p:sp>
        <p:nvSpPr>
          <p:cNvPr id="31" name="Rectangle 30"/>
          <p:cNvSpPr/>
          <p:nvPr/>
        </p:nvSpPr>
        <p:spPr>
          <a:xfrm>
            <a:off x="585216" y="3387851"/>
            <a:ext cx="11021263" cy="306323"/>
          </a:xfrm>
          <a:prstGeom prst="rect">
            <a:avLst/>
          </a:prstGeom>
          <a:solidFill>
            <a:srgbClr val="1824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TextBox 31"/>
          <p:cNvSpPr txBox="1"/>
          <p:nvPr/>
        </p:nvSpPr>
        <p:spPr>
          <a:xfrm>
            <a:off x="640080" y="3424427"/>
            <a:ext cx="3613361" cy="233171"/>
          </a:xfrm>
          <a:prstGeom prst="rect">
            <a:avLst/>
          </a:prstGeom>
          <a:noFill/>
        </p:spPr>
        <p:txBody>
          <a:bodyPr wrap="square" lIns="45720" rIns="45720" tIns="27432" bIns="27432" anchor="ctr">
            <a:noAutofit/>
          </a:bodyPr>
          <a:lstStyle/>
          <a:p>
            <a:pPr algn="l">
              <a:lnSpc>
                <a:spcPct val="100000"/>
              </a:lnSpc>
            </a:pPr>
            <a:r>
              <a:rPr sz="1050" b="0" i="0">
                <a:solidFill>
                  <a:srgbClr val="F7F2E8"/>
                </a:solidFill>
                <a:latin typeface="Segoe UI Semibold"/>
              </a:rPr>
              <a:t>Markdown</a:t>
            </a:r>
          </a:p>
        </p:txBody>
      </p:sp>
      <p:sp>
        <p:nvSpPr>
          <p:cNvPr id="33" name="TextBox 32"/>
          <p:cNvSpPr txBox="1"/>
          <p:nvPr/>
        </p:nvSpPr>
        <p:spPr>
          <a:xfrm>
            <a:off x="4399745" y="3424427"/>
            <a:ext cx="1180636" cy="233171"/>
          </a:xfrm>
          <a:prstGeom prst="rect">
            <a:avLst/>
          </a:prstGeom>
          <a:noFill/>
        </p:spPr>
        <p:txBody>
          <a:bodyPr wrap="square" lIns="45720" rIns="45720" tIns="27432" bIns="27432" anchor="ctr">
            <a:noAutofit/>
          </a:bodyPr>
          <a:lstStyle/>
          <a:p>
            <a:pPr algn="r">
              <a:lnSpc>
                <a:spcPct val="100000"/>
              </a:lnSpc>
            </a:pPr>
            <a:r>
              <a:rPr sz="1050" b="0" i="0">
                <a:solidFill>
                  <a:srgbClr val="A7B2B0"/>
                </a:solidFill>
                <a:latin typeface="Segoe UI"/>
              </a:rPr>
              <a:t>241</a:t>
            </a:r>
          </a:p>
        </p:txBody>
      </p:sp>
      <p:sp>
        <p:nvSpPr>
          <p:cNvPr id="34" name="TextBox 33"/>
          <p:cNvSpPr txBox="1"/>
          <p:nvPr/>
        </p:nvSpPr>
        <p:spPr>
          <a:xfrm>
            <a:off x="5726686" y="3424427"/>
            <a:ext cx="1844107" cy="233171"/>
          </a:xfrm>
          <a:prstGeom prst="rect">
            <a:avLst/>
          </a:prstGeom>
          <a:noFill/>
        </p:spPr>
        <p:txBody>
          <a:bodyPr wrap="square" lIns="45720" rIns="45720" tIns="27432" bIns="27432" anchor="ctr">
            <a:noAutofit/>
          </a:bodyPr>
          <a:lstStyle/>
          <a:p>
            <a:pPr algn="r">
              <a:lnSpc>
                <a:spcPct val="100000"/>
              </a:lnSpc>
            </a:pPr>
            <a:r>
              <a:rPr sz="1050" b="0" i="0">
                <a:solidFill>
                  <a:srgbClr val="A7B2B0"/>
                </a:solidFill>
                <a:latin typeface="Segoe UI"/>
              </a:rPr>
              <a:t>52,900</a:t>
            </a:r>
          </a:p>
        </p:txBody>
      </p:sp>
      <p:sp>
        <p:nvSpPr>
          <p:cNvPr id="35" name="TextBox 34"/>
          <p:cNvSpPr txBox="1"/>
          <p:nvPr/>
        </p:nvSpPr>
        <p:spPr>
          <a:xfrm>
            <a:off x="7717097" y="3424427"/>
            <a:ext cx="1844107" cy="233171"/>
          </a:xfrm>
          <a:prstGeom prst="rect">
            <a:avLst/>
          </a:prstGeom>
          <a:noFill/>
        </p:spPr>
        <p:txBody>
          <a:bodyPr wrap="square" lIns="45720" rIns="45720" tIns="27432" bIns="27432" anchor="ctr">
            <a:noAutofit/>
          </a:bodyPr>
          <a:lstStyle/>
          <a:p>
            <a:pPr algn="r">
              <a:lnSpc>
                <a:spcPct val="100000"/>
              </a:lnSpc>
            </a:pPr>
            <a:r>
              <a:rPr sz="1050" b="0" i="0">
                <a:solidFill>
                  <a:srgbClr val="A7B2B0"/>
                </a:solidFill>
                <a:latin typeface="Segoe UI"/>
              </a:rPr>
              <a:t>40,350</a:t>
            </a:r>
          </a:p>
        </p:txBody>
      </p:sp>
      <p:sp>
        <p:nvSpPr>
          <p:cNvPr id="36" name="TextBox 35"/>
          <p:cNvSpPr txBox="1"/>
          <p:nvPr/>
        </p:nvSpPr>
        <p:spPr>
          <a:xfrm>
            <a:off x="9707508" y="3424427"/>
            <a:ext cx="1844107" cy="233171"/>
          </a:xfrm>
          <a:prstGeom prst="rect">
            <a:avLst/>
          </a:prstGeom>
          <a:noFill/>
        </p:spPr>
        <p:txBody>
          <a:bodyPr wrap="square" lIns="45720" rIns="45720" tIns="27432" bIns="27432" anchor="ctr">
            <a:noAutofit/>
          </a:bodyPr>
          <a:lstStyle/>
          <a:p>
            <a:pPr algn="r">
              <a:lnSpc>
                <a:spcPct val="100000"/>
              </a:lnSpc>
            </a:pPr>
            <a:r>
              <a:rPr sz="1050" b="0" i="0">
                <a:solidFill>
                  <a:srgbClr val="A7B2B0"/>
                </a:solidFill>
                <a:latin typeface="Segoe UI"/>
              </a:rPr>
              <a:t>7.4%</a:t>
            </a:r>
          </a:p>
        </p:txBody>
      </p:sp>
      <p:sp>
        <p:nvSpPr>
          <p:cNvPr id="37" name="TextBox 36"/>
          <p:cNvSpPr txBox="1"/>
          <p:nvPr/>
        </p:nvSpPr>
        <p:spPr>
          <a:xfrm>
            <a:off x="640080" y="3730751"/>
            <a:ext cx="3613361" cy="233171"/>
          </a:xfrm>
          <a:prstGeom prst="rect">
            <a:avLst/>
          </a:prstGeom>
          <a:noFill/>
        </p:spPr>
        <p:txBody>
          <a:bodyPr wrap="square" lIns="45720" rIns="45720" tIns="27432" bIns="27432" anchor="ctr">
            <a:noAutofit/>
          </a:bodyPr>
          <a:lstStyle/>
          <a:p>
            <a:pPr algn="l">
              <a:lnSpc>
                <a:spcPct val="100000"/>
              </a:lnSpc>
            </a:pPr>
            <a:r>
              <a:rPr sz="1050" b="0" i="0">
                <a:solidFill>
                  <a:srgbClr val="F7F2E8"/>
                </a:solidFill>
                <a:latin typeface="Segoe UI Semibold"/>
              </a:rPr>
              <a:t>JavaScript</a:t>
            </a:r>
          </a:p>
        </p:txBody>
      </p:sp>
      <p:sp>
        <p:nvSpPr>
          <p:cNvPr id="38" name="TextBox 37"/>
          <p:cNvSpPr txBox="1"/>
          <p:nvPr/>
        </p:nvSpPr>
        <p:spPr>
          <a:xfrm>
            <a:off x="4399745" y="3730751"/>
            <a:ext cx="1180636" cy="233171"/>
          </a:xfrm>
          <a:prstGeom prst="rect">
            <a:avLst/>
          </a:prstGeom>
          <a:noFill/>
        </p:spPr>
        <p:txBody>
          <a:bodyPr wrap="square" lIns="45720" rIns="45720" tIns="27432" bIns="27432" anchor="ctr">
            <a:noAutofit/>
          </a:bodyPr>
          <a:lstStyle/>
          <a:p>
            <a:pPr algn="r">
              <a:lnSpc>
                <a:spcPct val="100000"/>
              </a:lnSpc>
            </a:pPr>
            <a:r>
              <a:rPr sz="1050" b="0" i="0">
                <a:solidFill>
                  <a:srgbClr val="A7B2B0"/>
                </a:solidFill>
                <a:latin typeface="Segoe UI"/>
              </a:rPr>
              <a:t>93</a:t>
            </a:r>
          </a:p>
        </p:txBody>
      </p:sp>
      <p:sp>
        <p:nvSpPr>
          <p:cNvPr id="39" name="TextBox 38"/>
          <p:cNvSpPr txBox="1"/>
          <p:nvPr/>
        </p:nvSpPr>
        <p:spPr>
          <a:xfrm>
            <a:off x="5726686" y="3730751"/>
            <a:ext cx="1844107" cy="233171"/>
          </a:xfrm>
          <a:prstGeom prst="rect">
            <a:avLst/>
          </a:prstGeom>
          <a:noFill/>
        </p:spPr>
        <p:txBody>
          <a:bodyPr wrap="square" lIns="45720" rIns="45720" tIns="27432" bIns="27432" anchor="ctr">
            <a:noAutofit/>
          </a:bodyPr>
          <a:lstStyle/>
          <a:p>
            <a:pPr algn="r">
              <a:lnSpc>
                <a:spcPct val="100000"/>
              </a:lnSpc>
            </a:pPr>
            <a:r>
              <a:rPr sz="1050" b="0" i="0">
                <a:solidFill>
                  <a:srgbClr val="A7B2B0"/>
                </a:solidFill>
                <a:latin typeface="Segoe UI"/>
              </a:rPr>
              <a:t>36,598</a:t>
            </a:r>
          </a:p>
        </p:txBody>
      </p:sp>
      <p:sp>
        <p:nvSpPr>
          <p:cNvPr id="40" name="TextBox 39"/>
          <p:cNvSpPr txBox="1"/>
          <p:nvPr/>
        </p:nvSpPr>
        <p:spPr>
          <a:xfrm>
            <a:off x="7717097" y="3730751"/>
            <a:ext cx="1844107" cy="233171"/>
          </a:xfrm>
          <a:prstGeom prst="rect">
            <a:avLst/>
          </a:prstGeom>
          <a:noFill/>
        </p:spPr>
        <p:txBody>
          <a:bodyPr wrap="square" lIns="45720" rIns="45720" tIns="27432" bIns="27432" anchor="ctr">
            <a:noAutofit/>
          </a:bodyPr>
          <a:lstStyle/>
          <a:p>
            <a:pPr algn="r">
              <a:lnSpc>
                <a:spcPct val="100000"/>
              </a:lnSpc>
            </a:pPr>
            <a:r>
              <a:rPr sz="1050" b="0" i="0">
                <a:solidFill>
                  <a:srgbClr val="A7B2B0"/>
                </a:solidFill>
                <a:latin typeface="Segoe UI"/>
              </a:rPr>
              <a:t>29,272</a:t>
            </a:r>
          </a:p>
        </p:txBody>
      </p:sp>
      <p:sp>
        <p:nvSpPr>
          <p:cNvPr id="41" name="TextBox 40"/>
          <p:cNvSpPr txBox="1"/>
          <p:nvPr/>
        </p:nvSpPr>
        <p:spPr>
          <a:xfrm>
            <a:off x="9707508" y="3730751"/>
            <a:ext cx="1844107" cy="233171"/>
          </a:xfrm>
          <a:prstGeom prst="rect">
            <a:avLst/>
          </a:prstGeom>
          <a:noFill/>
        </p:spPr>
        <p:txBody>
          <a:bodyPr wrap="square" lIns="45720" rIns="45720" tIns="27432" bIns="27432" anchor="ctr">
            <a:noAutofit/>
          </a:bodyPr>
          <a:lstStyle/>
          <a:p>
            <a:pPr algn="r">
              <a:lnSpc>
                <a:spcPct val="100000"/>
              </a:lnSpc>
            </a:pPr>
            <a:r>
              <a:rPr sz="1050" b="0" i="0">
                <a:solidFill>
                  <a:srgbClr val="A7B2B0"/>
                </a:solidFill>
                <a:latin typeface="Segoe UI"/>
              </a:rPr>
              <a:t>5.4%</a:t>
            </a:r>
          </a:p>
        </p:txBody>
      </p:sp>
      <p:sp>
        <p:nvSpPr>
          <p:cNvPr id="42" name="Rectangle 41"/>
          <p:cNvSpPr/>
          <p:nvPr/>
        </p:nvSpPr>
        <p:spPr>
          <a:xfrm>
            <a:off x="585216" y="4000499"/>
            <a:ext cx="11021263" cy="306323"/>
          </a:xfrm>
          <a:prstGeom prst="rect">
            <a:avLst/>
          </a:prstGeom>
          <a:solidFill>
            <a:srgbClr val="1824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3" name="TextBox 42"/>
          <p:cNvSpPr txBox="1"/>
          <p:nvPr/>
        </p:nvSpPr>
        <p:spPr>
          <a:xfrm>
            <a:off x="640080" y="4037075"/>
            <a:ext cx="3613361" cy="233171"/>
          </a:xfrm>
          <a:prstGeom prst="rect">
            <a:avLst/>
          </a:prstGeom>
          <a:noFill/>
        </p:spPr>
        <p:txBody>
          <a:bodyPr wrap="square" lIns="45720" rIns="45720" tIns="27432" bIns="27432" anchor="ctr">
            <a:noAutofit/>
          </a:bodyPr>
          <a:lstStyle/>
          <a:p>
            <a:pPr algn="l">
              <a:lnSpc>
                <a:spcPct val="100000"/>
              </a:lnSpc>
            </a:pPr>
            <a:r>
              <a:rPr sz="1050" b="0" i="0">
                <a:solidFill>
                  <a:srgbClr val="F7F2E8"/>
                </a:solidFill>
                <a:latin typeface="Segoe UI Semibold"/>
              </a:rPr>
              <a:t>CSS</a:t>
            </a:r>
          </a:p>
        </p:txBody>
      </p:sp>
      <p:sp>
        <p:nvSpPr>
          <p:cNvPr id="44" name="TextBox 43"/>
          <p:cNvSpPr txBox="1"/>
          <p:nvPr/>
        </p:nvSpPr>
        <p:spPr>
          <a:xfrm>
            <a:off x="4399745" y="4037075"/>
            <a:ext cx="1180636" cy="233171"/>
          </a:xfrm>
          <a:prstGeom prst="rect">
            <a:avLst/>
          </a:prstGeom>
          <a:noFill/>
        </p:spPr>
        <p:txBody>
          <a:bodyPr wrap="square" lIns="45720" rIns="45720" tIns="27432" bIns="27432" anchor="ctr">
            <a:noAutofit/>
          </a:bodyPr>
          <a:lstStyle/>
          <a:p>
            <a:pPr algn="r">
              <a:lnSpc>
                <a:spcPct val="100000"/>
              </a:lnSpc>
            </a:pPr>
            <a:r>
              <a:rPr sz="1050" b="0" i="0">
                <a:solidFill>
                  <a:srgbClr val="A7B2B0"/>
                </a:solidFill>
                <a:latin typeface="Segoe UI"/>
              </a:rPr>
              <a:t>36</a:t>
            </a:r>
          </a:p>
        </p:txBody>
      </p:sp>
      <p:sp>
        <p:nvSpPr>
          <p:cNvPr id="45" name="TextBox 44"/>
          <p:cNvSpPr txBox="1"/>
          <p:nvPr/>
        </p:nvSpPr>
        <p:spPr>
          <a:xfrm>
            <a:off x="5726686" y="4037075"/>
            <a:ext cx="1844107" cy="233171"/>
          </a:xfrm>
          <a:prstGeom prst="rect">
            <a:avLst/>
          </a:prstGeom>
          <a:noFill/>
        </p:spPr>
        <p:txBody>
          <a:bodyPr wrap="square" lIns="45720" rIns="45720" tIns="27432" bIns="27432" anchor="ctr">
            <a:noAutofit/>
          </a:bodyPr>
          <a:lstStyle/>
          <a:p>
            <a:pPr algn="r">
              <a:lnSpc>
                <a:spcPct val="100000"/>
              </a:lnSpc>
            </a:pPr>
            <a:r>
              <a:rPr sz="1050" b="0" i="0">
                <a:solidFill>
                  <a:srgbClr val="A7B2B0"/>
                </a:solidFill>
                <a:latin typeface="Segoe UI"/>
              </a:rPr>
              <a:t>17,913</a:t>
            </a:r>
          </a:p>
        </p:txBody>
      </p:sp>
      <p:sp>
        <p:nvSpPr>
          <p:cNvPr id="46" name="TextBox 45"/>
          <p:cNvSpPr txBox="1"/>
          <p:nvPr/>
        </p:nvSpPr>
        <p:spPr>
          <a:xfrm>
            <a:off x="7717097" y="4037075"/>
            <a:ext cx="1844107" cy="233171"/>
          </a:xfrm>
          <a:prstGeom prst="rect">
            <a:avLst/>
          </a:prstGeom>
          <a:noFill/>
        </p:spPr>
        <p:txBody>
          <a:bodyPr wrap="square" lIns="45720" rIns="45720" tIns="27432" bIns="27432" anchor="ctr">
            <a:noAutofit/>
          </a:bodyPr>
          <a:lstStyle/>
          <a:p>
            <a:pPr algn="r">
              <a:lnSpc>
                <a:spcPct val="100000"/>
              </a:lnSpc>
            </a:pPr>
            <a:r>
              <a:rPr sz="1050" b="0" i="0">
                <a:solidFill>
                  <a:srgbClr val="A7B2B0"/>
                </a:solidFill>
                <a:latin typeface="Segoe UI"/>
              </a:rPr>
              <a:t>14,435</a:t>
            </a:r>
          </a:p>
        </p:txBody>
      </p:sp>
      <p:sp>
        <p:nvSpPr>
          <p:cNvPr id="47" name="TextBox 46"/>
          <p:cNvSpPr txBox="1"/>
          <p:nvPr/>
        </p:nvSpPr>
        <p:spPr>
          <a:xfrm>
            <a:off x="9707508" y="4037075"/>
            <a:ext cx="1844107" cy="233171"/>
          </a:xfrm>
          <a:prstGeom prst="rect">
            <a:avLst/>
          </a:prstGeom>
          <a:noFill/>
        </p:spPr>
        <p:txBody>
          <a:bodyPr wrap="square" lIns="45720" rIns="45720" tIns="27432" bIns="27432" anchor="ctr">
            <a:noAutofit/>
          </a:bodyPr>
          <a:lstStyle/>
          <a:p>
            <a:pPr algn="r">
              <a:lnSpc>
                <a:spcPct val="100000"/>
              </a:lnSpc>
            </a:pPr>
            <a:r>
              <a:rPr sz="1050" b="0" i="0">
                <a:solidFill>
                  <a:srgbClr val="A7B2B0"/>
                </a:solidFill>
                <a:latin typeface="Segoe UI"/>
              </a:rPr>
              <a:t>2.7%</a:t>
            </a:r>
          </a:p>
        </p:txBody>
      </p:sp>
      <p:sp>
        <p:nvSpPr>
          <p:cNvPr id="48" name="TextBox 47"/>
          <p:cNvSpPr txBox="1"/>
          <p:nvPr/>
        </p:nvSpPr>
        <p:spPr>
          <a:xfrm>
            <a:off x="640080" y="4343399"/>
            <a:ext cx="3613361" cy="233171"/>
          </a:xfrm>
          <a:prstGeom prst="rect">
            <a:avLst/>
          </a:prstGeom>
          <a:noFill/>
        </p:spPr>
        <p:txBody>
          <a:bodyPr wrap="square" lIns="45720" rIns="45720" tIns="27432" bIns="27432" anchor="ctr">
            <a:noAutofit/>
          </a:bodyPr>
          <a:lstStyle/>
          <a:p>
            <a:pPr algn="l">
              <a:lnSpc>
                <a:spcPct val="100000"/>
              </a:lnSpc>
            </a:pPr>
            <a:r>
              <a:rPr sz="1050" b="0" i="0">
                <a:solidFill>
                  <a:srgbClr val="F7F2E8"/>
                </a:solidFill>
                <a:latin typeface="Segoe UI Semibold"/>
              </a:rPr>
              <a:t>Otro texto</a:t>
            </a:r>
          </a:p>
        </p:txBody>
      </p:sp>
      <p:sp>
        <p:nvSpPr>
          <p:cNvPr id="49" name="TextBox 48"/>
          <p:cNvSpPr txBox="1"/>
          <p:nvPr/>
        </p:nvSpPr>
        <p:spPr>
          <a:xfrm>
            <a:off x="4399745" y="4343399"/>
            <a:ext cx="1180636" cy="233171"/>
          </a:xfrm>
          <a:prstGeom prst="rect">
            <a:avLst/>
          </a:prstGeom>
          <a:noFill/>
        </p:spPr>
        <p:txBody>
          <a:bodyPr wrap="square" lIns="45720" rIns="45720" tIns="27432" bIns="27432" anchor="ctr">
            <a:noAutofit/>
          </a:bodyPr>
          <a:lstStyle/>
          <a:p>
            <a:pPr algn="r">
              <a:lnSpc>
                <a:spcPct val="100000"/>
              </a:lnSpc>
            </a:pPr>
            <a:r>
              <a:rPr sz="1050" b="0" i="0">
                <a:solidFill>
                  <a:srgbClr val="A7B2B0"/>
                </a:solidFill>
                <a:latin typeface="Segoe UI"/>
              </a:rPr>
              <a:t>48</a:t>
            </a:r>
          </a:p>
        </p:txBody>
      </p:sp>
      <p:sp>
        <p:nvSpPr>
          <p:cNvPr id="50" name="TextBox 49"/>
          <p:cNvSpPr txBox="1"/>
          <p:nvPr/>
        </p:nvSpPr>
        <p:spPr>
          <a:xfrm>
            <a:off x="5726686" y="4343399"/>
            <a:ext cx="1844107" cy="233171"/>
          </a:xfrm>
          <a:prstGeom prst="rect">
            <a:avLst/>
          </a:prstGeom>
          <a:noFill/>
        </p:spPr>
        <p:txBody>
          <a:bodyPr wrap="square" lIns="45720" rIns="45720" tIns="27432" bIns="27432" anchor="ctr">
            <a:noAutofit/>
          </a:bodyPr>
          <a:lstStyle/>
          <a:p>
            <a:pPr algn="r">
              <a:lnSpc>
                <a:spcPct val="100000"/>
              </a:lnSpc>
            </a:pPr>
            <a:r>
              <a:rPr sz="1050" b="0" i="0">
                <a:solidFill>
                  <a:srgbClr val="A7B2B0"/>
                </a:solidFill>
                <a:latin typeface="Segoe UI"/>
              </a:rPr>
              <a:t>11,994</a:t>
            </a:r>
          </a:p>
        </p:txBody>
      </p:sp>
      <p:sp>
        <p:nvSpPr>
          <p:cNvPr id="51" name="TextBox 50"/>
          <p:cNvSpPr txBox="1"/>
          <p:nvPr/>
        </p:nvSpPr>
        <p:spPr>
          <a:xfrm>
            <a:off x="7717097" y="4343399"/>
            <a:ext cx="1844107" cy="233171"/>
          </a:xfrm>
          <a:prstGeom prst="rect">
            <a:avLst/>
          </a:prstGeom>
          <a:noFill/>
        </p:spPr>
        <p:txBody>
          <a:bodyPr wrap="square" lIns="45720" rIns="45720" tIns="27432" bIns="27432" anchor="ctr">
            <a:noAutofit/>
          </a:bodyPr>
          <a:lstStyle/>
          <a:p>
            <a:pPr algn="r">
              <a:lnSpc>
                <a:spcPct val="100000"/>
              </a:lnSpc>
            </a:pPr>
            <a:r>
              <a:rPr sz="1050" b="0" i="0">
                <a:solidFill>
                  <a:srgbClr val="A7B2B0"/>
                </a:solidFill>
                <a:latin typeface="Segoe UI"/>
              </a:rPr>
              <a:t>10,595</a:t>
            </a:r>
          </a:p>
        </p:txBody>
      </p:sp>
      <p:sp>
        <p:nvSpPr>
          <p:cNvPr id="52" name="TextBox 51"/>
          <p:cNvSpPr txBox="1"/>
          <p:nvPr/>
        </p:nvSpPr>
        <p:spPr>
          <a:xfrm>
            <a:off x="9707508" y="4343399"/>
            <a:ext cx="1844107" cy="233171"/>
          </a:xfrm>
          <a:prstGeom prst="rect">
            <a:avLst/>
          </a:prstGeom>
          <a:noFill/>
        </p:spPr>
        <p:txBody>
          <a:bodyPr wrap="square" lIns="45720" rIns="45720" tIns="27432" bIns="27432" anchor="ctr">
            <a:noAutofit/>
          </a:bodyPr>
          <a:lstStyle/>
          <a:p>
            <a:pPr algn="r">
              <a:lnSpc>
                <a:spcPct val="100000"/>
              </a:lnSpc>
            </a:pPr>
            <a:r>
              <a:rPr sz="1050" b="0" i="0">
                <a:solidFill>
                  <a:srgbClr val="A7B2B0"/>
                </a:solidFill>
                <a:latin typeface="Segoe UI"/>
              </a:rPr>
              <a:t>1.9%</a:t>
            </a:r>
          </a:p>
        </p:txBody>
      </p:sp>
      <p:sp>
        <p:nvSpPr>
          <p:cNvPr id="53" name="Rectangle 52"/>
          <p:cNvSpPr/>
          <p:nvPr/>
        </p:nvSpPr>
        <p:spPr>
          <a:xfrm>
            <a:off x="585216" y="4613147"/>
            <a:ext cx="11021263" cy="306323"/>
          </a:xfrm>
          <a:prstGeom prst="rect">
            <a:avLst/>
          </a:prstGeom>
          <a:solidFill>
            <a:srgbClr val="1824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4" name="TextBox 53"/>
          <p:cNvSpPr txBox="1"/>
          <p:nvPr/>
        </p:nvSpPr>
        <p:spPr>
          <a:xfrm>
            <a:off x="640080" y="4649723"/>
            <a:ext cx="3613361" cy="233171"/>
          </a:xfrm>
          <a:prstGeom prst="rect">
            <a:avLst/>
          </a:prstGeom>
          <a:noFill/>
        </p:spPr>
        <p:txBody>
          <a:bodyPr wrap="square" lIns="45720" rIns="45720" tIns="27432" bIns="27432" anchor="ctr">
            <a:noAutofit/>
          </a:bodyPr>
          <a:lstStyle/>
          <a:p>
            <a:pPr algn="l">
              <a:lnSpc>
                <a:spcPct val="100000"/>
              </a:lnSpc>
            </a:pPr>
            <a:r>
              <a:rPr sz="1050" b="0" i="0">
                <a:solidFill>
                  <a:srgbClr val="F7F2E8"/>
                </a:solidFill>
                <a:latin typeface="Segoe UI Semibold"/>
              </a:rPr>
              <a:t>YAML</a:t>
            </a:r>
          </a:p>
        </p:txBody>
      </p:sp>
      <p:sp>
        <p:nvSpPr>
          <p:cNvPr id="55" name="TextBox 54"/>
          <p:cNvSpPr txBox="1"/>
          <p:nvPr/>
        </p:nvSpPr>
        <p:spPr>
          <a:xfrm>
            <a:off x="4399745" y="4649723"/>
            <a:ext cx="1180636" cy="233171"/>
          </a:xfrm>
          <a:prstGeom prst="rect">
            <a:avLst/>
          </a:prstGeom>
          <a:noFill/>
        </p:spPr>
        <p:txBody>
          <a:bodyPr wrap="square" lIns="45720" rIns="45720" tIns="27432" bIns="27432" anchor="ctr">
            <a:noAutofit/>
          </a:bodyPr>
          <a:lstStyle/>
          <a:p>
            <a:pPr algn="r">
              <a:lnSpc>
                <a:spcPct val="100000"/>
              </a:lnSpc>
            </a:pPr>
            <a:r>
              <a:rPr sz="1050" b="0" i="0">
                <a:solidFill>
                  <a:srgbClr val="A7B2B0"/>
                </a:solidFill>
                <a:latin typeface="Segoe UI"/>
              </a:rPr>
              <a:t>93</a:t>
            </a:r>
          </a:p>
        </p:txBody>
      </p:sp>
      <p:sp>
        <p:nvSpPr>
          <p:cNvPr id="56" name="TextBox 55"/>
          <p:cNvSpPr txBox="1"/>
          <p:nvPr/>
        </p:nvSpPr>
        <p:spPr>
          <a:xfrm>
            <a:off x="5726686" y="4649723"/>
            <a:ext cx="1844107" cy="233171"/>
          </a:xfrm>
          <a:prstGeom prst="rect">
            <a:avLst/>
          </a:prstGeom>
          <a:noFill/>
        </p:spPr>
        <p:txBody>
          <a:bodyPr wrap="square" lIns="45720" rIns="45720" tIns="27432" bIns="27432" anchor="ctr">
            <a:noAutofit/>
          </a:bodyPr>
          <a:lstStyle/>
          <a:p>
            <a:pPr algn="r">
              <a:lnSpc>
                <a:spcPct val="100000"/>
              </a:lnSpc>
            </a:pPr>
            <a:r>
              <a:rPr sz="1050" b="0" i="0">
                <a:solidFill>
                  <a:srgbClr val="A7B2B0"/>
                </a:solidFill>
                <a:latin typeface="Segoe UI"/>
              </a:rPr>
              <a:t>6,656</a:t>
            </a:r>
          </a:p>
        </p:txBody>
      </p:sp>
      <p:sp>
        <p:nvSpPr>
          <p:cNvPr id="57" name="TextBox 56"/>
          <p:cNvSpPr txBox="1"/>
          <p:nvPr/>
        </p:nvSpPr>
        <p:spPr>
          <a:xfrm>
            <a:off x="7717097" y="4649723"/>
            <a:ext cx="1844107" cy="233171"/>
          </a:xfrm>
          <a:prstGeom prst="rect">
            <a:avLst/>
          </a:prstGeom>
          <a:noFill/>
        </p:spPr>
        <p:txBody>
          <a:bodyPr wrap="square" lIns="45720" rIns="45720" tIns="27432" bIns="27432" anchor="ctr">
            <a:noAutofit/>
          </a:bodyPr>
          <a:lstStyle/>
          <a:p>
            <a:pPr algn="r">
              <a:lnSpc>
                <a:spcPct val="100000"/>
              </a:lnSpc>
            </a:pPr>
            <a:r>
              <a:rPr sz="1050" b="0" i="0">
                <a:solidFill>
                  <a:srgbClr val="A7B2B0"/>
                </a:solidFill>
                <a:latin typeface="Segoe UI"/>
              </a:rPr>
              <a:t>2,648</a:t>
            </a:r>
          </a:p>
        </p:txBody>
      </p:sp>
      <p:sp>
        <p:nvSpPr>
          <p:cNvPr id="58" name="TextBox 57"/>
          <p:cNvSpPr txBox="1"/>
          <p:nvPr/>
        </p:nvSpPr>
        <p:spPr>
          <a:xfrm>
            <a:off x="9707508" y="4649723"/>
            <a:ext cx="1844107" cy="233171"/>
          </a:xfrm>
          <a:prstGeom prst="rect">
            <a:avLst/>
          </a:prstGeom>
          <a:noFill/>
        </p:spPr>
        <p:txBody>
          <a:bodyPr wrap="square" lIns="45720" rIns="45720" tIns="27432" bIns="27432" anchor="ctr">
            <a:noAutofit/>
          </a:bodyPr>
          <a:lstStyle/>
          <a:p>
            <a:pPr algn="r">
              <a:lnSpc>
                <a:spcPct val="100000"/>
              </a:lnSpc>
            </a:pPr>
            <a:r>
              <a:rPr sz="1050" b="0" i="0">
                <a:solidFill>
                  <a:srgbClr val="A7B2B0"/>
                </a:solidFill>
                <a:latin typeface="Segoe UI"/>
              </a:rPr>
              <a:t>0.5%</a:t>
            </a:r>
          </a:p>
        </p:txBody>
      </p:sp>
      <p:sp>
        <p:nvSpPr>
          <p:cNvPr id="59" name="TextBox 58"/>
          <p:cNvSpPr txBox="1"/>
          <p:nvPr/>
        </p:nvSpPr>
        <p:spPr>
          <a:xfrm>
            <a:off x="640080" y="4956047"/>
            <a:ext cx="3613361" cy="233171"/>
          </a:xfrm>
          <a:prstGeom prst="rect">
            <a:avLst/>
          </a:prstGeom>
          <a:noFill/>
        </p:spPr>
        <p:txBody>
          <a:bodyPr wrap="square" lIns="45720" rIns="45720" tIns="27432" bIns="27432" anchor="ctr">
            <a:noAutofit/>
          </a:bodyPr>
          <a:lstStyle/>
          <a:p>
            <a:pPr algn="l">
              <a:lnSpc>
                <a:spcPct val="100000"/>
              </a:lnSpc>
            </a:pPr>
            <a:r>
              <a:rPr sz="1050" b="0" i="0">
                <a:solidFill>
                  <a:srgbClr val="F7F2E8"/>
                </a:solidFill>
                <a:latin typeface="Segoe UI Semibold"/>
              </a:rPr>
              <a:t>PowerShell</a:t>
            </a:r>
          </a:p>
        </p:txBody>
      </p:sp>
      <p:sp>
        <p:nvSpPr>
          <p:cNvPr id="60" name="TextBox 59"/>
          <p:cNvSpPr txBox="1"/>
          <p:nvPr/>
        </p:nvSpPr>
        <p:spPr>
          <a:xfrm>
            <a:off x="4399745" y="4956047"/>
            <a:ext cx="1180636" cy="233171"/>
          </a:xfrm>
          <a:prstGeom prst="rect">
            <a:avLst/>
          </a:prstGeom>
          <a:noFill/>
        </p:spPr>
        <p:txBody>
          <a:bodyPr wrap="square" lIns="45720" rIns="45720" tIns="27432" bIns="27432" anchor="ctr">
            <a:noAutofit/>
          </a:bodyPr>
          <a:lstStyle/>
          <a:p>
            <a:pPr algn="r">
              <a:lnSpc>
                <a:spcPct val="100000"/>
              </a:lnSpc>
            </a:pPr>
            <a:r>
              <a:rPr sz="1050" b="0" i="0">
                <a:solidFill>
                  <a:srgbClr val="A7B2B0"/>
                </a:solidFill>
                <a:latin typeface="Segoe UI"/>
              </a:rPr>
              <a:t>20</a:t>
            </a:r>
          </a:p>
        </p:txBody>
      </p:sp>
      <p:sp>
        <p:nvSpPr>
          <p:cNvPr id="61" name="TextBox 60"/>
          <p:cNvSpPr txBox="1"/>
          <p:nvPr/>
        </p:nvSpPr>
        <p:spPr>
          <a:xfrm>
            <a:off x="5726686" y="4956047"/>
            <a:ext cx="1844107" cy="233171"/>
          </a:xfrm>
          <a:prstGeom prst="rect">
            <a:avLst/>
          </a:prstGeom>
          <a:noFill/>
        </p:spPr>
        <p:txBody>
          <a:bodyPr wrap="square" lIns="45720" rIns="45720" tIns="27432" bIns="27432" anchor="ctr">
            <a:noAutofit/>
          </a:bodyPr>
          <a:lstStyle/>
          <a:p>
            <a:pPr algn="r">
              <a:lnSpc>
                <a:spcPct val="100000"/>
              </a:lnSpc>
            </a:pPr>
            <a:r>
              <a:rPr sz="1050" b="0" i="0">
                <a:solidFill>
                  <a:srgbClr val="A7B2B0"/>
                </a:solidFill>
                <a:latin typeface="Segoe UI"/>
              </a:rPr>
              <a:t>3,023</a:t>
            </a:r>
          </a:p>
        </p:txBody>
      </p:sp>
      <p:sp>
        <p:nvSpPr>
          <p:cNvPr id="62" name="TextBox 61"/>
          <p:cNvSpPr txBox="1"/>
          <p:nvPr/>
        </p:nvSpPr>
        <p:spPr>
          <a:xfrm>
            <a:off x="7717097" y="4956047"/>
            <a:ext cx="1844107" cy="233171"/>
          </a:xfrm>
          <a:prstGeom prst="rect">
            <a:avLst/>
          </a:prstGeom>
          <a:noFill/>
        </p:spPr>
        <p:txBody>
          <a:bodyPr wrap="square" lIns="45720" rIns="45720" tIns="27432" bIns="27432" anchor="ctr">
            <a:noAutofit/>
          </a:bodyPr>
          <a:lstStyle/>
          <a:p>
            <a:pPr algn="r">
              <a:lnSpc>
                <a:spcPct val="100000"/>
              </a:lnSpc>
            </a:pPr>
            <a:r>
              <a:rPr sz="1050" b="0" i="0">
                <a:solidFill>
                  <a:srgbClr val="A7B2B0"/>
                </a:solidFill>
                <a:latin typeface="Segoe UI"/>
              </a:rPr>
              <a:t>2,355</a:t>
            </a:r>
          </a:p>
        </p:txBody>
      </p:sp>
      <p:sp>
        <p:nvSpPr>
          <p:cNvPr id="63" name="TextBox 62"/>
          <p:cNvSpPr txBox="1"/>
          <p:nvPr/>
        </p:nvSpPr>
        <p:spPr>
          <a:xfrm>
            <a:off x="9707508" y="4956047"/>
            <a:ext cx="1844107" cy="233171"/>
          </a:xfrm>
          <a:prstGeom prst="rect">
            <a:avLst/>
          </a:prstGeom>
          <a:noFill/>
        </p:spPr>
        <p:txBody>
          <a:bodyPr wrap="square" lIns="45720" rIns="45720" tIns="27432" bIns="27432" anchor="ctr">
            <a:noAutofit/>
          </a:bodyPr>
          <a:lstStyle/>
          <a:p>
            <a:pPr algn="r">
              <a:lnSpc>
                <a:spcPct val="100000"/>
              </a:lnSpc>
            </a:pPr>
            <a:r>
              <a:rPr sz="1050" b="0" i="0">
                <a:solidFill>
                  <a:srgbClr val="A7B2B0"/>
                </a:solidFill>
                <a:latin typeface="Segoe UI"/>
              </a:rPr>
              <a:t>0.4%</a:t>
            </a:r>
          </a:p>
        </p:txBody>
      </p:sp>
      <p:sp>
        <p:nvSpPr>
          <p:cNvPr id="64" name="Rectangle 63"/>
          <p:cNvSpPr/>
          <p:nvPr/>
        </p:nvSpPr>
        <p:spPr>
          <a:xfrm>
            <a:off x="585216" y="5225795"/>
            <a:ext cx="11021263" cy="306323"/>
          </a:xfrm>
          <a:prstGeom prst="rect">
            <a:avLst/>
          </a:prstGeom>
          <a:solidFill>
            <a:srgbClr val="1824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5" name="TextBox 64"/>
          <p:cNvSpPr txBox="1"/>
          <p:nvPr/>
        </p:nvSpPr>
        <p:spPr>
          <a:xfrm>
            <a:off x="640080" y="5262371"/>
            <a:ext cx="3613361" cy="233171"/>
          </a:xfrm>
          <a:prstGeom prst="rect">
            <a:avLst/>
          </a:prstGeom>
          <a:noFill/>
        </p:spPr>
        <p:txBody>
          <a:bodyPr wrap="square" lIns="45720" rIns="45720" tIns="27432" bIns="27432" anchor="ctr">
            <a:noAutofit/>
          </a:bodyPr>
          <a:lstStyle/>
          <a:p>
            <a:pPr algn="l">
              <a:lnSpc>
                <a:spcPct val="100000"/>
              </a:lnSpc>
            </a:pPr>
            <a:r>
              <a:rPr sz="1050" b="0" i="0">
                <a:solidFill>
                  <a:srgbClr val="F7F2E8"/>
                </a:solidFill>
                <a:latin typeface="Segoe UI Semibold"/>
              </a:rPr>
              <a:t>Texto</a:t>
            </a:r>
          </a:p>
        </p:txBody>
      </p:sp>
      <p:sp>
        <p:nvSpPr>
          <p:cNvPr id="66" name="TextBox 65"/>
          <p:cNvSpPr txBox="1"/>
          <p:nvPr/>
        </p:nvSpPr>
        <p:spPr>
          <a:xfrm>
            <a:off x="4399745" y="5262371"/>
            <a:ext cx="1180636" cy="233171"/>
          </a:xfrm>
          <a:prstGeom prst="rect">
            <a:avLst/>
          </a:prstGeom>
          <a:noFill/>
        </p:spPr>
        <p:txBody>
          <a:bodyPr wrap="square" lIns="45720" rIns="45720" tIns="27432" bIns="27432" anchor="ctr">
            <a:noAutofit/>
          </a:bodyPr>
          <a:lstStyle/>
          <a:p>
            <a:pPr algn="r">
              <a:lnSpc>
                <a:spcPct val="100000"/>
              </a:lnSpc>
            </a:pPr>
            <a:r>
              <a:rPr sz="1050" b="0" i="0">
                <a:solidFill>
                  <a:srgbClr val="A7B2B0"/>
                </a:solidFill>
                <a:latin typeface="Segoe UI"/>
              </a:rPr>
              <a:t>12</a:t>
            </a:r>
          </a:p>
        </p:txBody>
      </p:sp>
      <p:sp>
        <p:nvSpPr>
          <p:cNvPr id="67" name="TextBox 66"/>
          <p:cNvSpPr txBox="1"/>
          <p:nvPr/>
        </p:nvSpPr>
        <p:spPr>
          <a:xfrm>
            <a:off x="5726686" y="5262371"/>
            <a:ext cx="1844107" cy="233171"/>
          </a:xfrm>
          <a:prstGeom prst="rect">
            <a:avLst/>
          </a:prstGeom>
          <a:noFill/>
        </p:spPr>
        <p:txBody>
          <a:bodyPr wrap="square" lIns="45720" rIns="45720" tIns="27432" bIns="27432" anchor="ctr">
            <a:noAutofit/>
          </a:bodyPr>
          <a:lstStyle/>
          <a:p>
            <a:pPr algn="r">
              <a:lnSpc>
                <a:spcPct val="100000"/>
              </a:lnSpc>
            </a:pPr>
            <a:r>
              <a:rPr sz="1050" b="0" i="0">
                <a:solidFill>
                  <a:srgbClr val="A7B2B0"/>
                </a:solidFill>
                <a:latin typeface="Segoe UI"/>
              </a:rPr>
              <a:t>2,657</a:t>
            </a:r>
          </a:p>
        </p:txBody>
      </p:sp>
      <p:sp>
        <p:nvSpPr>
          <p:cNvPr id="68" name="TextBox 67"/>
          <p:cNvSpPr txBox="1"/>
          <p:nvPr/>
        </p:nvSpPr>
        <p:spPr>
          <a:xfrm>
            <a:off x="7717097" y="5262371"/>
            <a:ext cx="1844107" cy="233171"/>
          </a:xfrm>
          <a:prstGeom prst="rect">
            <a:avLst/>
          </a:prstGeom>
          <a:noFill/>
        </p:spPr>
        <p:txBody>
          <a:bodyPr wrap="square" lIns="45720" rIns="45720" tIns="27432" bIns="27432" anchor="ctr">
            <a:noAutofit/>
          </a:bodyPr>
          <a:lstStyle/>
          <a:p>
            <a:pPr algn="r">
              <a:lnSpc>
                <a:spcPct val="100000"/>
              </a:lnSpc>
            </a:pPr>
            <a:r>
              <a:rPr sz="1050" b="0" i="0">
                <a:solidFill>
                  <a:srgbClr val="A7B2B0"/>
                </a:solidFill>
                <a:latin typeface="Segoe UI"/>
              </a:rPr>
              <a:t>2,122</a:t>
            </a:r>
          </a:p>
        </p:txBody>
      </p:sp>
      <p:sp>
        <p:nvSpPr>
          <p:cNvPr id="69" name="TextBox 68"/>
          <p:cNvSpPr txBox="1"/>
          <p:nvPr/>
        </p:nvSpPr>
        <p:spPr>
          <a:xfrm>
            <a:off x="9707508" y="5262371"/>
            <a:ext cx="1844107" cy="233171"/>
          </a:xfrm>
          <a:prstGeom prst="rect">
            <a:avLst/>
          </a:prstGeom>
          <a:noFill/>
        </p:spPr>
        <p:txBody>
          <a:bodyPr wrap="square" lIns="45720" rIns="45720" tIns="27432" bIns="27432" anchor="ctr">
            <a:noAutofit/>
          </a:bodyPr>
          <a:lstStyle/>
          <a:p>
            <a:pPr algn="r">
              <a:lnSpc>
                <a:spcPct val="100000"/>
              </a:lnSpc>
            </a:pPr>
            <a:r>
              <a:rPr sz="1050" b="0" i="0">
                <a:solidFill>
                  <a:srgbClr val="A7B2B0"/>
                </a:solidFill>
                <a:latin typeface="Segoe UI"/>
              </a:rPr>
              <a:t>0.4%</a:t>
            </a:r>
          </a:p>
        </p:txBody>
      </p:sp>
      <p:sp>
        <p:nvSpPr>
          <p:cNvPr id="70" name="TextBox 69"/>
          <p:cNvSpPr txBox="1"/>
          <p:nvPr/>
        </p:nvSpPr>
        <p:spPr>
          <a:xfrm>
            <a:off x="640080" y="5568695"/>
            <a:ext cx="3613361" cy="233171"/>
          </a:xfrm>
          <a:prstGeom prst="rect">
            <a:avLst/>
          </a:prstGeom>
          <a:noFill/>
        </p:spPr>
        <p:txBody>
          <a:bodyPr wrap="square" lIns="45720" rIns="45720" tIns="27432" bIns="27432" anchor="ctr">
            <a:noAutofit/>
          </a:bodyPr>
          <a:lstStyle/>
          <a:p>
            <a:pPr algn="l">
              <a:lnSpc>
                <a:spcPct val="100000"/>
              </a:lnSpc>
            </a:pPr>
            <a:r>
              <a:rPr sz="1050" b="0" i="0">
                <a:solidFill>
                  <a:srgbClr val="F7F2E8"/>
                </a:solidFill>
                <a:latin typeface="Segoe UI Semibold"/>
              </a:rPr>
              <a:t>HTML</a:t>
            </a:r>
          </a:p>
        </p:txBody>
      </p:sp>
      <p:sp>
        <p:nvSpPr>
          <p:cNvPr id="71" name="TextBox 70"/>
          <p:cNvSpPr txBox="1"/>
          <p:nvPr/>
        </p:nvSpPr>
        <p:spPr>
          <a:xfrm>
            <a:off x="4399745" y="5568695"/>
            <a:ext cx="1180636" cy="233171"/>
          </a:xfrm>
          <a:prstGeom prst="rect">
            <a:avLst/>
          </a:prstGeom>
          <a:noFill/>
        </p:spPr>
        <p:txBody>
          <a:bodyPr wrap="square" lIns="45720" rIns="45720" tIns="27432" bIns="27432" anchor="ctr">
            <a:noAutofit/>
          </a:bodyPr>
          <a:lstStyle/>
          <a:p>
            <a:pPr algn="r">
              <a:lnSpc>
                <a:spcPct val="100000"/>
              </a:lnSpc>
            </a:pPr>
            <a:r>
              <a:rPr sz="1050" b="0" i="0">
                <a:solidFill>
                  <a:srgbClr val="A7B2B0"/>
                </a:solidFill>
                <a:latin typeface="Segoe UI"/>
              </a:rPr>
              <a:t>10</a:t>
            </a:r>
          </a:p>
        </p:txBody>
      </p:sp>
      <p:sp>
        <p:nvSpPr>
          <p:cNvPr id="72" name="TextBox 71"/>
          <p:cNvSpPr txBox="1"/>
          <p:nvPr/>
        </p:nvSpPr>
        <p:spPr>
          <a:xfrm>
            <a:off x="5726686" y="5568695"/>
            <a:ext cx="1844107" cy="233171"/>
          </a:xfrm>
          <a:prstGeom prst="rect">
            <a:avLst/>
          </a:prstGeom>
          <a:noFill/>
        </p:spPr>
        <p:txBody>
          <a:bodyPr wrap="square" lIns="45720" rIns="45720" tIns="27432" bIns="27432" anchor="ctr">
            <a:noAutofit/>
          </a:bodyPr>
          <a:lstStyle/>
          <a:p>
            <a:pPr algn="r">
              <a:lnSpc>
                <a:spcPct val="100000"/>
              </a:lnSpc>
            </a:pPr>
            <a:r>
              <a:rPr sz="1050" b="0" i="0">
                <a:solidFill>
                  <a:srgbClr val="A7B2B0"/>
                </a:solidFill>
                <a:latin typeface="Segoe UI"/>
              </a:rPr>
              <a:t>1,738</a:t>
            </a:r>
          </a:p>
        </p:txBody>
      </p:sp>
      <p:sp>
        <p:nvSpPr>
          <p:cNvPr id="73" name="TextBox 72"/>
          <p:cNvSpPr txBox="1"/>
          <p:nvPr/>
        </p:nvSpPr>
        <p:spPr>
          <a:xfrm>
            <a:off x="7717097" y="5568695"/>
            <a:ext cx="1844107" cy="233171"/>
          </a:xfrm>
          <a:prstGeom prst="rect">
            <a:avLst/>
          </a:prstGeom>
          <a:noFill/>
        </p:spPr>
        <p:txBody>
          <a:bodyPr wrap="square" lIns="45720" rIns="45720" tIns="27432" bIns="27432" anchor="ctr">
            <a:noAutofit/>
          </a:bodyPr>
          <a:lstStyle/>
          <a:p>
            <a:pPr algn="r">
              <a:lnSpc>
                <a:spcPct val="100000"/>
              </a:lnSpc>
            </a:pPr>
            <a:r>
              <a:rPr sz="1050" b="0" i="0">
                <a:solidFill>
                  <a:srgbClr val="A7B2B0"/>
                </a:solidFill>
                <a:latin typeface="Segoe UI"/>
              </a:rPr>
              <a:t>1,677</a:t>
            </a:r>
          </a:p>
        </p:txBody>
      </p:sp>
      <p:sp>
        <p:nvSpPr>
          <p:cNvPr id="74" name="TextBox 73"/>
          <p:cNvSpPr txBox="1"/>
          <p:nvPr/>
        </p:nvSpPr>
        <p:spPr>
          <a:xfrm>
            <a:off x="9707508" y="5568695"/>
            <a:ext cx="1844107" cy="233171"/>
          </a:xfrm>
          <a:prstGeom prst="rect">
            <a:avLst/>
          </a:prstGeom>
          <a:noFill/>
        </p:spPr>
        <p:txBody>
          <a:bodyPr wrap="square" lIns="45720" rIns="45720" tIns="27432" bIns="27432" anchor="ctr">
            <a:noAutofit/>
          </a:bodyPr>
          <a:lstStyle/>
          <a:p>
            <a:pPr algn="r">
              <a:lnSpc>
                <a:spcPct val="100000"/>
              </a:lnSpc>
            </a:pPr>
            <a:r>
              <a:rPr sz="1050" b="0" i="0">
                <a:solidFill>
                  <a:srgbClr val="A7B2B0"/>
                </a:solidFill>
                <a:latin typeface="Segoe UI"/>
              </a:rPr>
              <a:t>0.3%</a:t>
            </a:r>
          </a:p>
        </p:txBody>
      </p:sp>
      <p:sp>
        <p:nvSpPr>
          <p:cNvPr id="75" name="Rectangle 74"/>
          <p:cNvSpPr/>
          <p:nvPr/>
        </p:nvSpPr>
        <p:spPr>
          <a:xfrm>
            <a:off x="585216" y="5838443"/>
            <a:ext cx="11021263" cy="306323"/>
          </a:xfrm>
          <a:prstGeom prst="rect">
            <a:avLst/>
          </a:prstGeom>
          <a:solidFill>
            <a:srgbClr val="1824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6" name="TextBox 75"/>
          <p:cNvSpPr txBox="1"/>
          <p:nvPr/>
        </p:nvSpPr>
        <p:spPr>
          <a:xfrm>
            <a:off x="640080" y="5875019"/>
            <a:ext cx="3613361" cy="233171"/>
          </a:xfrm>
          <a:prstGeom prst="rect">
            <a:avLst/>
          </a:prstGeom>
          <a:noFill/>
        </p:spPr>
        <p:txBody>
          <a:bodyPr wrap="square" lIns="45720" rIns="45720" tIns="27432" bIns="27432" anchor="ctr">
            <a:noAutofit/>
          </a:bodyPr>
          <a:lstStyle/>
          <a:p>
            <a:pPr algn="l">
              <a:lnSpc>
                <a:spcPct val="100000"/>
              </a:lnSpc>
            </a:pPr>
            <a:r>
              <a:rPr sz="1050" b="0" i="0">
                <a:solidFill>
                  <a:srgbClr val="F7F2E8"/>
                </a:solidFill>
                <a:latin typeface="Segoe UI Semibold"/>
              </a:rPr>
              <a:t>Plantilla de prompt</a:t>
            </a:r>
          </a:p>
        </p:txBody>
      </p:sp>
      <p:sp>
        <p:nvSpPr>
          <p:cNvPr id="77" name="TextBox 76"/>
          <p:cNvSpPr txBox="1"/>
          <p:nvPr/>
        </p:nvSpPr>
        <p:spPr>
          <a:xfrm>
            <a:off x="4399745" y="5875019"/>
            <a:ext cx="1180636" cy="233171"/>
          </a:xfrm>
          <a:prstGeom prst="rect">
            <a:avLst/>
          </a:prstGeom>
          <a:noFill/>
        </p:spPr>
        <p:txBody>
          <a:bodyPr wrap="square" lIns="45720" rIns="45720" tIns="27432" bIns="27432" anchor="ctr">
            <a:noAutofit/>
          </a:bodyPr>
          <a:lstStyle/>
          <a:p>
            <a:pPr algn="r">
              <a:lnSpc>
                <a:spcPct val="100000"/>
              </a:lnSpc>
            </a:pPr>
            <a:r>
              <a:rPr sz="1050" b="0" i="0">
                <a:solidFill>
                  <a:srgbClr val="A7B2B0"/>
                </a:solidFill>
                <a:latin typeface="Segoe UI"/>
              </a:rPr>
              <a:t>2</a:t>
            </a:r>
          </a:p>
        </p:txBody>
      </p:sp>
      <p:sp>
        <p:nvSpPr>
          <p:cNvPr id="78" name="TextBox 77"/>
          <p:cNvSpPr txBox="1"/>
          <p:nvPr/>
        </p:nvSpPr>
        <p:spPr>
          <a:xfrm>
            <a:off x="5726686" y="5875019"/>
            <a:ext cx="1844107" cy="233171"/>
          </a:xfrm>
          <a:prstGeom prst="rect">
            <a:avLst/>
          </a:prstGeom>
          <a:noFill/>
        </p:spPr>
        <p:txBody>
          <a:bodyPr wrap="square" lIns="45720" rIns="45720" tIns="27432" bIns="27432" anchor="ctr">
            <a:noAutofit/>
          </a:bodyPr>
          <a:lstStyle/>
          <a:p>
            <a:pPr algn="r">
              <a:lnSpc>
                <a:spcPct val="100000"/>
              </a:lnSpc>
            </a:pPr>
            <a:r>
              <a:rPr sz="1050" b="0" i="0">
                <a:solidFill>
                  <a:srgbClr val="A7B2B0"/>
                </a:solidFill>
                <a:latin typeface="Segoe UI"/>
              </a:rPr>
              <a:t>1,515</a:t>
            </a:r>
          </a:p>
        </p:txBody>
      </p:sp>
      <p:sp>
        <p:nvSpPr>
          <p:cNvPr id="79" name="TextBox 78"/>
          <p:cNvSpPr txBox="1"/>
          <p:nvPr/>
        </p:nvSpPr>
        <p:spPr>
          <a:xfrm>
            <a:off x="7717097" y="5875019"/>
            <a:ext cx="1844107" cy="233171"/>
          </a:xfrm>
          <a:prstGeom prst="rect">
            <a:avLst/>
          </a:prstGeom>
          <a:noFill/>
        </p:spPr>
        <p:txBody>
          <a:bodyPr wrap="square" lIns="45720" rIns="45720" tIns="27432" bIns="27432" anchor="ctr">
            <a:noAutofit/>
          </a:bodyPr>
          <a:lstStyle/>
          <a:p>
            <a:pPr algn="r">
              <a:lnSpc>
                <a:spcPct val="100000"/>
              </a:lnSpc>
            </a:pPr>
            <a:r>
              <a:rPr sz="1050" b="0" i="0">
                <a:solidFill>
                  <a:srgbClr val="A7B2B0"/>
                </a:solidFill>
                <a:latin typeface="Segoe UI"/>
              </a:rPr>
              <a:t>1,369</a:t>
            </a:r>
          </a:p>
        </p:txBody>
      </p:sp>
      <p:sp>
        <p:nvSpPr>
          <p:cNvPr id="80" name="TextBox 79"/>
          <p:cNvSpPr txBox="1"/>
          <p:nvPr/>
        </p:nvSpPr>
        <p:spPr>
          <a:xfrm>
            <a:off x="9707508" y="5875019"/>
            <a:ext cx="1844107" cy="233171"/>
          </a:xfrm>
          <a:prstGeom prst="rect">
            <a:avLst/>
          </a:prstGeom>
          <a:noFill/>
        </p:spPr>
        <p:txBody>
          <a:bodyPr wrap="square" lIns="45720" rIns="45720" tIns="27432" bIns="27432" anchor="ctr">
            <a:noAutofit/>
          </a:bodyPr>
          <a:lstStyle/>
          <a:p>
            <a:pPr algn="r">
              <a:lnSpc>
                <a:spcPct val="100000"/>
              </a:lnSpc>
            </a:pPr>
            <a:r>
              <a:rPr sz="1050" b="0" i="0">
                <a:solidFill>
                  <a:srgbClr val="A7B2B0"/>
                </a:solidFill>
                <a:latin typeface="Segoe UI"/>
              </a:rPr>
              <a:t>0.3%</a:t>
            </a:r>
          </a:p>
        </p:txBody>
      </p:sp>
      <p:cxnSp>
        <p:nvCxnSpPr>
          <p:cNvPr id="81" name="Connector 80"/>
          <p:cNvCxnSpPr/>
          <p:nvPr/>
        </p:nvCxnSpPr>
        <p:spPr>
          <a:xfrm>
            <a:off x="566928" y="6373368"/>
            <a:ext cx="11057839" cy="0"/>
          </a:xfrm>
          <a:prstGeom prst="line">
            <a:avLst/>
          </a:prstGeom>
          <a:ln w="7620">
            <a:solidFill>
              <a:srgbClr val="2A3A40"/>
            </a:solidFill>
          </a:ln>
        </p:spPr>
        <p:style>
          <a:lnRef idx="2">
            <a:schemeClr val="accent1"/>
          </a:lnRef>
          <a:fillRef idx="0">
            <a:schemeClr val="accent1"/>
          </a:fillRef>
          <a:effectRef idx="1">
            <a:schemeClr val="accent1"/>
          </a:effectRef>
          <a:fontRef idx="minor">
            <a:schemeClr val="tx1"/>
          </a:fontRef>
        </p:style>
      </p:cxnSp>
      <p:sp>
        <p:nvSpPr>
          <p:cNvPr id="82" name="TextBox 81"/>
          <p:cNvSpPr txBox="1"/>
          <p:nvPr/>
        </p:nvSpPr>
        <p:spPr>
          <a:xfrm>
            <a:off x="566928" y="6419088"/>
            <a:ext cx="6858000" cy="274320"/>
          </a:xfrm>
          <a:prstGeom prst="rect">
            <a:avLst/>
          </a:prstGeom>
          <a:noFill/>
        </p:spPr>
        <p:txBody>
          <a:bodyPr wrap="square" lIns="45720" rIns="45720" tIns="27432" bIns="27432" anchor="t">
            <a:noAutofit/>
          </a:bodyPr>
          <a:lstStyle/>
          <a:p>
            <a:pPr algn="l">
              <a:lnSpc>
                <a:spcPct val="100000"/>
              </a:lnSpc>
            </a:pPr>
            <a:r>
              <a:rPr sz="850" b="0" i="0" spc="120">
                <a:solidFill>
                  <a:srgbClr val="A7B2B0"/>
                </a:solidFill>
                <a:latin typeface="Segoe UI Semibold"/>
              </a:rPr>
              <a:t>TLAMATINI  ·  IX · DATOS DEL REPOSITORIO</a:t>
            </a:r>
          </a:p>
        </p:txBody>
      </p:sp>
      <p:sp>
        <p:nvSpPr>
          <p:cNvPr id="83" name="TextBox 82"/>
          <p:cNvSpPr txBox="1"/>
          <p:nvPr/>
        </p:nvSpPr>
        <p:spPr>
          <a:xfrm>
            <a:off x="8698687" y="6419088"/>
            <a:ext cx="2926080" cy="274320"/>
          </a:xfrm>
          <a:prstGeom prst="rect">
            <a:avLst/>
          </a:prstGeom>
          <a:noFill/>
        </p:spPr>
        <p:txBody>
          <a:bodyPr wrap="square" lIns="45720" rIns="45720" tIns="27432" bIns="27432" anchor="t">
            <a:noAutofit/>
          </a:bodyPr>
          <a:lstStyle/>
          <a:p>
            <a:pPr algn="r">
              <a:lnSpc>
                <a:spcPct val="100000"/>
              </a:lnSpc>
            </a:pPr>
            <a:r>
              <a:rPr sz="850" b="0" i="0" spc="100">
                <a:solidFill>
                  <a:srgbClr val="A7B2B0"/>
                </a:solidFill>
                <a:latin typeface="Segoe UI Semibold"/>
              </a:rPr>
              <a:t>v1.91.1   ·   166</a:t>
            </a:r>
          </a:p>
        </p:txBody>
      </p:sp>
    </p:spTree>
  </p:cSld>
  <p:clrMapOvr>
    <a:masterClrMapping/>
  </p:clrMapOvr>
</p:sld>
</file>

<file path=ppt/slides/slide1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content.png"/>
          <p:cNvPicPr>
            <a:picLocks noChangeAspect="1"/>
          </p:cNvPicPr>
          <p:nvPr/>
        </p:nvPicPr>
        <p:blipFill>
          <a:blip r:embed="rId2"/>
          <a:stretch>
            <a:fillRect/>
          </a:stretch>
        </p:blipFill>
        <p:spPr>
          <a:xfrm>
            <a:off x="0" y="0"/>
            <a:ext cx="12191695" cy="6858000"/>
          </a:xfrm>
          <a:prstGeom prst="rect">
            <a:avLst/>
          </a:prstGeom>
        </p:spPr>
      </p:pic>
      <p:sp>
        <p:nvSpPr>
          <p:cNvPr id="3" name="Diamond 2"/>
          <p:cNvSpPr/>
          <p:nvPr/>
        </p:nvSpPr>
        <p:spPr>
          <a:xfrm>
            <a:off x="566928" y="457200"/>
            <a:ext cx="100584" cy="100584"/>
          </a:xfrm>
          <a:prstGeom prst="diamond">
            <a:avLst/>
          </a:prstGeom>
          <a:solidFill>
            <a:srgbClr val="C984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49808" y="365760"/>
            <a:ext cx="8229600" cy="292608"/>
          </a:xfrm>
          <a:prstGeom prst="rect">
            <a:avLst/>
          </a:prstGeom>
          <a:noFill/>
        </p:spPr>
        <p:txBody>
          <a:bodyPr wrap="square" lIns="45720" rIns="45720" tIns="27432" bIns="27432" anchor="t">
            <a:noAutofit/>
          </a:bodyPr>
          <a:lstStyle/>
          <a:p>
            <a:pPr algn="l">
              <a:lnSpc>
                <a:spcPct val="100000"/>
              </a:lnSpc>
            </a:pPr>
            <a:r>
              <a:rPr sz="1100" b="0" i="0" spc="240">
                <a:solidFill>
                  <a:srgbClr val="C98457"/>
                </a:solidFill>
                <a:latin typeface="Segoe UI Semibold"/>
              </a:rPr>
              <a:t>INVENTARIO DE LÍNEAS</a:t>
            </a:r>
          </a:p>
        </p:txBody>
      </p:sp>
      <p:sp>
        <p:nvSpPr>
          <p:cNvPr id="5" name="TextBox 4"/>
          <p:cNvSpPr txBox="1"/>
          <p:nvPr/>
        </p:nvSpPr>
        <p:spPr>
          <a:xfrm>
            <a:off x="539496" y="676656"/>
            <a:ext cx="11057839" cy="658368"/>
          </a:xfrm>
          <a:prstGeom prst="rect">
            <a:avLst/>
          </a:prstGeom>
          <a:noFill/>
        </p:spPr>
        <p:txBody>
          <a:bodyPr wrap="square" lIns="45720" rIns="45720" tIns="27432" bIns="27432" anchor="t">
            <a:noAutofit/>
          </a:bodyPr>
          <a:lstStyle/>
          <a:p>
            <a:pPr algn="l">
              <a:lnSpc>
                <a:spcPct val="100000"/>
              </a:lnSpc>
            </a:pPr>
            <a:r>
              <a:rPr sz="3100" b="0" i="0">
                <a:solidFill>
                  <a:srgbClr val="F7F2E8"/>
                </a:solidFill>
                <a:latin typeface="Palatino Linotype"/>
              </a:rPr>
              <a:t>Cada lenguaje, contado  (2/2)</a:t>
            </a:r>
          </a:p>
        </p:txBody>
      </p:sp>
      <p:sp>
        <p:nvSpPr>
          <p:cNvPr id="6" name="Rectangle 5"/>
          <p:cNvSpPr/>
          <p:nvPr/>
        </p:nvSpPr>
        <p:spPr>
          <a:xfrm>
            <a:off x="566928" y="1344168"/>
            <a:ext cx="822960" cy="36576"/>
          </a:xfrm>
          <a:prstGeom prst="rect">
            <a:avLst/>
          </a:prstGeom>
          <a:solidFill>
            <a:srgbClr val="C984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566928" y="1444752"/>
            <a:ext cx="10692079" cy="585216"/>
          </a:xfrm>
          <a:prstGeom prst="rect">
            <a:avLst/>
          </a:prstGeom>
          <a:noFill/>
        </p:spPr>
        <p:txBody>
          <a:bodyPr wrap="square" lIns="45720" rIns="45720" tIns="27432" bIns="27432" anchor="t">
            <a:noAutofit/>
          </a:bodyPr>
          <a:lstStyle/>
          <a:p>
            <a:pPr algn="l">
              <a:lnSpc>
                <a:spcPct val="100000"/>
              </a:lnSpc>
            </a:pPr>
            <a:r>
              <a:rPr sz="1450" b="0" i="0">
                <a:solidFill>
                  <a:srgbClr val="A7B2B0"/>
                </a:solidFill>
                <a:latin typeface="Segoe UI Semilight"/>
              </a:rPr>
              <a:t>Las líneas efectivas excluyen las líneas en blanco, las líneas que sólo tienen comentarios y los docstrings de Python.</a:t>
            </a:r>
          </a:p>
        </p:txBody>
      </p:sp>
      <p:sp>
        <p:nvSpPr>
          <p:cNvPr id="8" name="Rounded Rectangle 7"/>
          <p:cNvSpPr/>
          <p:nvPr/>
        </p:nvSpPr>
        <p:spPr>
          <a:xfrm>
            <a:off x="566928" y="2084831"/>
            <a:ext cx="11057839" cy="3383280"/>
          </a:xfrm>
          <a:prstGeom prst="roundRect">
            <a:avLst>
              <a:gd name="adj" fmla="val 2162"/>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ounded Rectangle 8"/>
          <p:cNvSpPr/>
          <p:nvPr/>
        </p:nvSpPr>
        <p:spPr>
          <a:xfrm>
            <a:off x="566928" y="2084831"/>
            <a:ext cx="11057839" cy="384048"/>
          </a:xfrm>
          <a:prstGeom prst="roundRect">
            <a:avLst>
              <a:gd name="adj" fmla="val 19047"/>
            </a:avLst>
          </a:prstGeom>
          <a:solidFill>
            <a:srgbClr val="151F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640080" y="2121408"/>
            <a:ext cx="3613361" cy="310896"/>
          </a:xfrm>
          <a:prstGeom prst="rect">
            <a:avLst/>
          </a:prstGeom>
          <a:noFill/>
        </p:spPr>
        <p:txBody>
          <a:bodyPr wrap="square" lIns="45720" rIns="45720" tIns="27432" bIns="27432" anchor="ctr">
            <a:noAutofit/>
          </a:bodyPr>
          <a:lstStyle/>
          <a:p>
            <a:pPr algn="l">
              <a:lnSpc>
                <a:spcPct val="100000"/>
              </a:lnSpc>
            </a:pPr>
            <a:r>
              <a:rPr sz="1000" b="0" i="0" spc="120">
                <a:solidFill>
                  <a:srgbClr val="E2B462"/>
                </a:solidFill>
                <a:latin typeface="Segoe UI Semibold"/>
              </a:rPr>
              <a:t>LENGUAJE</a:t>
            </a:r>
          </a:p>
        </p:txBody>
      </p:sp>
      <p:sp>
        <p:nvSpPr>
          <p:cNvPr id="11" name="TextBox 10"/>
          <p:cNvSpPr txBox="1"/>
          <p:nvPr/>
        </p:nvSpPr>
        <p:spPr>
          <a:xfrm>
            <a:off x="4399745" y="2121408"/>
            <a:ext cx="1180636" cy="310896"/>
          </a:xfrm>
          <a:prstGeom prst="rect">
            <a:avLst/>
          </a:prstGeom>
          <a:noFill/>
        </p:spPr>
        <p:txBody>
          <a:bodyPr wrap="square" lIns="45720" rIns="45720" tIns="27432" bIns="27432" anchor="ctr">
            <a:noAutofit/>
          </a:bodyPr>
          <a:lstStyle/>
          <a:p>
            <a:pPr algn="r">
              <a:lnSpc>
                <a:spcPct val="100000"/>
              </a:lnSpc>
            </a:pPr>
            <a:r>
              <a:rPr sz="1000" b="0" i="0" spc="120">
                <a:solidFill>
                  <a:srgbClr val="E2B462"/>
                </a:solidFill>
                <a:latin typeface="Segoe UI Semibold"/>
              </a:rPr>
              <a:t>ARCHIVOS</a:t>
            </a:r>
          </a:p>
        </p:txBody>
      </p:sp>
      <p:sp>
        <p:nvSpPr>
          <p:cNvPr id="12" name="TextBox 11"/>
          <p:cNvSpPr txBox="1"/>
          <p:nvPr/>
        </p:nvSpPr>
        <p:spPr>
          <a:xfrm>
            <a:off x="5726686" y="2121408"/>
            <a:ext cx="1844107" cy="310896"/>
          </a:xfrm>
          <a:prstGeom prst="rect">
            <a:avLst/>
          </a:prstGeom>
          <a:noFill/>
        </p:spPr>
        <p:txBody>
          <a:bodyPr wrap="square" lIns="45720" rIns="45720" tIns="27432" bIns="27432" anchor="ctr">
            <a:noAutofit/>
          </a:bodyPr>
          <a:lstStyle/>
          <a:p>
            <a:pPr algn="r">
              <a:lnSpc>
                <a:spcPct val="100000"/>
              </a:lnSpc>
            </a:pPr>
            <a:r>
              <a:rPr sz="1000" b="0" i="0" spc="120">
                <a:solidFill>
                  <a:srgbClr val="E2B462"/>
                </a:solidFill>
                <a:latin typeface="Segoe UI Semibold"/>
              </a:rPr>
              <a:t>FÍSICAS</a:t>
            </a:r>
          </a:p>
        </p:txBody>
      </p:sp>
      <p:sp>
        <p:nvSpPr>
          <p:cNvPr id="13" name="TextBox 12"/>
          <p:cNvSpPr txBox="1"/>
          <p:nvPr/>
        </p:nvSpPr>
        <p:spPr>
          <a:xfrm>
            <a:off x="7717097" y="2121408"/>
            <a:ext cx="1844107" cy="310896"/>
          </a:xfrm>
          <a:prstGeom prst="rect">
            <a:avLst/>
          </a:prstGeom>
          <a:noFill/>
        </p:spPr>
        <p:txBody>
          <a:bodyPr wrap="square" lIns="45720" rIns="45720" tIns="27432" bIns="27432" anchor="ctr">
            <a:noAutofit/>
          </a:bodyPr>
          <a:lstStyle/>
          <a:p>
            <a:pPr algn="r">
              <a:lnSpc>
                <a:spcPct val="100000"/>
              </a:lnSpc>
            </a:pPr>
            <a:r>
              <a:rPr sz="1000" b="0" i="0" spc="120">
                <a:solidFill>
                  <a:srgbClr val="E2B462"/>
                </a:solidFill>
                <a:latin typeface="Segoe UI Semibold"/>
              </a:rPr>
              <a:t>EFECTIVAS</a:t>
            </a:r>
          </a:p>
        </p:txBody>
      </p:sp>
      <p:sp>
        <p:nvSpPr>
          <p:cNvPr id="14" name="TextBox 13"/>
          <p:cNvSpPr txBox="1"/>
          <p:nvPr/>
        </p:nvSpPr>
        <p:spPr>
          <a:xfrm>
            <a:off x="9707508" y="2121408"/>
            <a:ext cx="1844107" cy="310896"/>
          </a:xfrm>
          <a:prstGeom prst="rect">
            <a:avLst/>
          </a:prstGeom>
          <a:noFill/>
        </p:spPr>
        <p:txBody>
          <a:bodyPr wrap="square" lIns="45720" rIns="45720" tIns="27432" bIns="27432" anchor="ctr">
            <a:noAutofit/>
          </a:bodyPr>
          <a:lstStyle/>
          <a:p>
            <a:pPr algn="r">
              <a:lnSpc>
                <a:spcPct val="100000"/>
              </a:lnSpc>
            </a:pPr>
            <a:r>
              <a:rPr sz="1000" b="0" i="0" spc="120">
                <a:solidFill>
                  <a:srgbClr val="E2B462"/>
                </a:solidFill>
                <a:latin typeface="Segoe UI Semibold"/>
              </a:rPr>
              <a:t>PROPORCIÓN</a:t>
            </a:r>
          </a:p>
        </p:txBody>
      </p:sp>
      <p:sp>
        <p:nvSpPr>
          <p:cNvPr id="15" name="TextBox 14"/>
          <p:cNvSpPr txBox="1"/>
          <p:nvPr/>
        </p:nvSpPr>
        <p:spPr>
          <a:xfrm>
            <a:off x="640080" y="2505456"/>
            <a:ext cx="3613361" cy="301752"/>
          </a:xfrm>
          <a:prstGeom prst="rect">
            <a:avLst/>
          </a:prstGeom>
          <a:noFill/>
        </p:spPr>
        <p:txBody>
          <a:bodyPr wrap="square" lIns="45720" rIns="45720" tIns="27432" bIns="27432" anchor="ctr">
            <a:noAutofit/>
          </a:bodyPr>
          <a:lstStyle/>
          <a:p>
            <a:pPr algn="l">
              <a:lnSpc>
                <a:spcPct val="100000"/>
              </a:lnSpc>
            </a:pPr>
            <a:r>
              <a:rPr sz="1500" b="0" i="0">
                <a:solidFill>
                  <a:srgbClr val="F7F2E8"/>
                </a:solidFill>
                <a:latin typeface="Segoe UI Semibold"/>
              </a:rPr>
              <a:t>Batch</a:t>
            </a:r>
          </a:p>
        </p:txBody>
      </p:sp>
      <p:sp>
        <p:nvSpPr>
          <p:cNvPr id="16" name="TextBox 15"/>
          <p:cNvSpPr txBox="1"/>
          <p:nvPr/>
        </p:nvSpPr>
        <p:spPr>
          <a:xfrm>
            <a:off x="4399745" y="2505456"/>
            <a:ext cx="1180636" cy="301752"/>
          </a:xfrm>
          <a:prstGeom prst="rect">
            <a:avLst/>
          </a:prstGeom>
          <a:noFill/>
        </p:spPr>
        <p:txBody>
          <a:bodyPr wrap="square" lIns="45720" rIns="45720" tIns="27432" bIns="27432" anchor="ctr">
            <a:noAutofit/>
          </a:bodyPr>
          <a:lstStyle/>
          <a:p>
            <a:pPr algn="r">
              <a:lnSpc>
                <a:spcPct val="100000"/>
              </a:lnSpc>
            </a:pPr>
            <a:r>
              <a:rPr sz="1500" b="0" i="0">
                <a:solidFill>
                  <a:srgbClr val="A7B2B0"/>
                </a:solidFill>
                <a:latin typeface="Segoe UI"/>
              </a:rPr>
              <a:t>4</a:t>
            </a:r>
          </a:p>
        </p:txBody>
      </p:sp>
      <p:sp>
        <p:nvSpPr>
          <p:cNvPr id="17" name="TextBox 16"/>
          <p:cNvSpPr txBox="1"/>
          <p:nvPr/>
        </p:nvSpPr>
        <p:spPr>
          <a:xfrm>
            <a:off x="5726686" y="2505456"/>
            <a:ext cx="1844107" cy="301752"/>
          </a:xfrm>
          <a:prstGeom prst="rect">
            <a:avLst/>
          </a:prstGeom>
          <a:noFill/>
        </p:spPr>
        <p:txBody>
          <a:bodyPr wrap="square" lIns="45720" rIns="45720" tIns="27432" bIns="27432" anchor="ctr">
            <a:noAutofit/>
          </a:bodyPr>
          <a:lstStyle/>
          <a:p>
            <a:pPr algn="r">
              <a:lnSpc>
                <a:spcPct val="100000"/>
              </a:lnSpc>
            </a:pPr>
            <a:r>
              <a:rPr sz="1500" b="0" i="0">
                <a:solidFill>
                  <a:srgbClr val="A7B2B0"/>
                </a:solidFill>
                <a:latin typeface="Segoe UI"/>
              </a:rPr>
              <a:t>1,026</a:t>
            </a:r>
          </a:p>
        </p:txBody>
      </p:sp>
      <p:sp>
        <p:nvSpPr>
          <p:cNvPr id="18" name="TextBox 17"/>
          <p:cNvSpPr txBox="1"/>
          <p:nvPr/>
        </p:nvSpPr>
        <p:spPr>
          <a:xfrm>
            <a:off x="7717097" y="2505456"/>
            <a:ext cx="1844107" cy="301752"/>
          </a:xfrm>
          <a:prstGeom prst="rect">
            <a:avLst/>
          </a:prstGeom>
          <a:noFill/>
        </p:spPr>
        <p:txBody>
          <a:bodyPr wrap="square" lIns="45720" rIns="45720" tIns="27432" bIns="27432" anchor="ctr">
            <a:noAutofit/>
          </a:bodyPr>
          <a:lstStyle/>
          <a:p>
            <a:pPr algn="r">
              <a:lnSpc>
                <a:spcPct val="100000"/>
              </a:lnSpc>
            </a:pPr>
            <a:r>
              <a:rPr sz="1500" b="0" i="0">
                <a:solidFill>
                  <a:srgbClr val="A7B2B0"/>
                </a:solidFill>
                <a:latin typeface="Segoe UI"/>
              </a:rPr>
              <a:t>882</a:t>
            </a:r>
          </a:p>
        </p:txBody>
      </p:sp>
      <p:sp>
        <p:nvSpPr>
          <p:cNvPr id="19" name="TextBox 18"/>
          <p:cNvSpPr txBox="1"/>
          <p:nvPr/>
        </p:nvSpPr>
        <p:spPr>
          <a:xfrm>
            <a:off x="9707508" y="2505456"/>
            <a:ext cx="1844107" cy="301752"/>
          </a:xfrm>
          <a:prstGeom prst="rect">
            <a:avLst/>
          </a:prstGeom>
          <a:noFill/>
        </p:spPr>
        <p:txBody>
          <a:bodyPr wrap="square" lIns="45720" rIns="45720" tIns="27432" bIns="27432" anchor="ctr">
            <a:noAutofit/>
          </a:bodyPr>
          <a:lstStyle/>
          <a:p>
            <a:pPr algn="r">
              <a:lnSpc>
                <a:spcPct val="100000"/>
              </a:lnSpc>
            </a:pPr>
            <a:r>
              <a:rPr sz="1500" b="0" i="0">
                <a:solidFill>
                  <a:srgbClr val="A7B2B0"/>
                </a:solidFill>
                <a:latin typeface="Segoe UI"/>
              </a:rPr>
              <a:t>0.2%</a:t>
            </a:r>
          </a:p>
        </p:txBody>
      </p:sp>
      <p:sp>
        <p:nvSpPr>
          <p:cNvPr id="20" name="Rectangle 19"/>
          <p:cNvSpPr/>
          <p:nvPr/>
        </p:nvSpPr>
        <p:spPr>
          <a:xfrm>
            <a:off x="585216" y="2843784"/>
            <a:ext cx="11021263" cy="374904"/>
          </a:xfrm>
          <a:prstGeom prst="rect">
            <a:avLst/>
          </a:prstGeom>
          <a:solidFill>
            <a:srgbClr val="1824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640080" y="2880360"/>
            <a:ext cx="3613361" cy="301752"/>
          </a:xfrm>
          <a:prstGeom prst="rect">
            <a:avLst/>
          </a:prstGeom>
          <a:noFill/>
        </p:spPr>
        <p:txBody>
          <a:bodyPr wrap="square" lIns="45720" rIns="45720" tIns="27432" bIns="27432" anchor="ctr">
            <a:noAutofit/>
          </a:bodyPr>
          <a:lstStyle/>
          <a:p>
            <a:pPr algn="l">
              <a:lnSpc>
                <a:spcPct val="100000"/>
              </a:lnSpc>
            </a:pPr>
            <a:r>
              <a:rPr sz="1500" b="0" i="0">
                <a:solidFill>
                  <a:srgbClr val="F7F2E8"/>
                </a:solidFill>
                <a:latin typeface="Segoe UI Semibold"/>
              </a:rPr>
              <a:t>SVG</a:t>
            </a:r>
          </a:p>
        </p:txBody>
      </p:sp>
      <p:sp>
        <p:nvSpPr>
          <p:cNvPr id="22" name="TextBox 21"/>
          <p:cNvSpPr txBox="1"/>
          <p:nvPr/>
        </p:nvSpPr>
        <p:spPr>
          <a:xfrm>
            <a:off x="4399745" y="2880360"/>
            <a:ext cx="1180636" cy="301752"/>
          </a:xfrm>
          <a:prstGeom prst="rect">
            <a:avLst/>
          </a:prstGeom>
          <a:noFill/>
        </p:spPr>
        <p:txBody>
          <a:bodyPr wrap="square" lIns="45720" rIns="45720" tIns="27432" bIns="27432" anchor="ctr">
            <a:noAutofit/>
          </a:bodyPr>
          <a:lstStyle/>
          <a:p>
            <a:pPr algn="r">
              <a:lnSpc>
                <a:spcPct val="100000"/>
              </a:lnSpc>
            </a:pPr>
            <a:r>
              <a:rPr sz="1500" b="0" i="0">
                <a:solidFill>
                  <a:srgbClr val="A7B2B0"/>
                </a:solidFill>
                <a:latin typeface="Segoe UI"/>
              </a:rPr>
              <a:t>83</a:t>
            </a:r>
          </a:p>
        </p:txBody>
      </p:sp>
      <p:sp>
        <p:nvSpPr>
          <p:cNvPr id="23" name="TextBox 22"/>
          <p:cNvSpPr txBox="1"/>
          <p:nvPr/>
        </p:nvSpPr>
        <p:spPr>
          <a:xfrm>
            <a:off x="5726686" y="2880360"/>
            <a:ext cx="1844107" cy="301752"/>
          </a:xfrm>
          <a:prstGeom prst="rect">
            <a:avLst/>
          </a:prstGeom>
          <a:noFill/>
        </p:spPr>
        <p:txBody>
          <a:bodyPr wrap="square" lIns="45720" rIns="45720" tIns="27432" bIns="27432" anchor="ctr">
            <a:noAutofit/>
          </a:bodyPr>
          <a:lstStyle/>
          <a:p>
            <a:pPr algn="r">
              <a:lnSpc>
                <a:spcPct val="100000"/>
              </a:lnSpc>
            </a:pPr>
            <a:r>
              <a:rPr sz="1500" b="0" i="0">
                <a:solidFill>
                  <a:srgbClr val="A7B2B0"/>
                </a:solidFill>
                <a:latin typeface="Segoe UI"/>
              </a:rPr>
              <a:t>574</a:t>
            </a:r>
          </a:p>
        </p:txBody>
      </p:sp>
      <p:sp>
        <p:nvSpPr>
          <p:cNvPr id="24" name="TextBox 23"/>
          <p:cNvSpPr txBox="1"/>
          <p:nvPr/>
        </p:nvSpPr>
        <p:spPr>
          <a:xfrm>
            <a:off x="7717097" y="2880360"/>
            <a:ext cx="1844107" cy="301752"/>
          </a:xfrm>
          <a:prstGeom prst="rect">
            <a:avLst/>
          </a:prstGeom>
          <a:noFill/>
        </p:spPr>
        <p:txBody>
          <a:bodyPr wrap="square" lIns="45720" rIns="45720" tIns="27432" bIns="27432" anchor="ctr">
            <a:noAutofit/>
          </a:bodyPr>
          <a:lstStyle/>
          <a:p>
            <a:pPr algn="r">
              <a:lnSpc>
                <a:spcPct val="100000"/>
              </a:lnSpc>
            </a:pPr>
            <a:r>
              <a:rPr sz="1500" b="0" i="0">
                <a:solidFill>
                  <a:srgbClr val="A7B2B0"/>
                </a:solidFill>
                <a:latin typeface="Segoe UI"/>
              </a:rPr>
              <a:t>540</a:t>
            </a:r>
          </a:p>
        </p:txBody>
      </p:sp>
      <p:sp>
        <p:nvSpPr>
          <p:cNvPr id="25" name="TextBox 24"/>
          <p:cNvSpPr txBox="1"/>
          <p:nvPr/>
        </p:nvSpPr>
        <p:spPr>
          <a:xfrm>
            <a:off x="9707508" y="2880360"/>
            <a:ext cx="1844107" cy="301752"/>
          </a:xfrm>
          <a:prstGeom prst="rect">
            <a:avLst/>
          </a:prstGeom>
          <a:noFill/>
        </p:spPr>
        <p:txBody>
          <a:bodyPr wrap="square" lIns="45720" rIns="45720" tIns="27432" bIns="27432" anchor="ctr">
            <a:noAutofit/>
          </a:bodyPr>
          <a:lstStyle/>
          <a:p>
            <a:pPr algn="r">
              <a:lnSpc>
                <a:spcPct val="100000"/>
              </a:lnSpc>
            </a:pPr>
            <a:r>
              <a:rPr sz="1500" b="0" i="0">
                <a:solidFill>
                  <a:srgbClr val="A7B2B0"/>
                </a:solidFill>
                <a:latin typeface="Segoe UI"/>
              </a:rPr>
              <a:t>0.1%</a:t>
            </a:r>
          </a:p>
        </p:txBody>
      </p:sp>
      <p:sp>
        <p:nvSpPr>
          <p:cNvPr id="26" name="TextBox 25"/>
          <p:cNvSpPr txBox="1"/>
          <p:nvPr/>
        </p:nvSpPr>
        <p:spPr>
          <a:xfrm>
            <a:off x="640080" y="3255264"/>
            <a:ext cx="3613361" cy="301752"/>
          </a:xfrm>
          <a:prstGeom prst="rect">
            <a:avLst/>
          </a:prstGeom>
          <a:noFill/>
        </p:spPr>
        <p:txBody>
          <a:bodyPr wrap="square" lIns="45720" rIns="45720" tIns="27432" bIns="27432" anchor="ctr">
            <a:noAutofit/>
          </a:bodyPr>
          <a:lstStyle/>
          <a:p>
            <a:pPr algn="l">
              <a:lnSpc>
                <a:spcPct val="100000"/>
              </a:lnSpc>
            </a:pPr>
            <a:r>
              <a:rPr sz="1500" b="0" i="0">
                <a:solidFill>
                  <a:srgbClr val="F7F2E8"/>
                </a:solidFill>
                <a:latin typeface="Segoe UI Semibold"/>
              </a:rPr>
              <a:t>Tlamatini Flow</a:t>
            </a:r>
          </a:p>
        </p:txBody>
      </p:sp>
      <p:sp>
        <p:nvSpPr>
          <p:cNvPr id="27" name="TextBox 26"/>
          <p:cNvSpPr txBox="1"/>
          <p:nvPr/>
        </p:nvSpPr>
        <p:spPr>
          <a:xfrm>
            <a:off x="4399745" y="3255264"/>
            <a:ext cx="1180636" cy="301752"/>
          </a:xfrm>
          <a:prstGeom prst="rect">
            <a:avLst/>
          </a:prstGeom>
          <a:noFill/>
        </p:spPr>
        <p:txBody>
          <a:bodyPr wrap="square" lIns="45720" rIns="45720" tIns="27432" bIns="27432" anchor="ctr">
            <a:noAutofit/>
          </a:bodyPr>
          <a:lstStyle/>
          <a:p>
            <a:pPr algn="r">
              <a:lnSpc>
                <a:spcPct val="100000"/>
              </a:lnSpc>
            </a:pPr>
            <a:r>
              <a:rPr sz="1500" b="0" i="0">
                <a:solidFill>
                  <a:srgbClr val="A7B2B0"/>
                </a:solidFill>
                <a:latin typeface="Segoe UI"/>
              </a:rPr>
              <a:t>1</a:t>
            </a:r>
          </a:p>
        </p:txBody>
      </p:sp>
      <p:sp>
        <p:nvSpPr>
          <p:cNvPr id="28" name="TextBox 27"/>
          <p:cNvSpPr txBox="1"/>
          <p:nvPr/>
        </p:nvSpPr>
        <p:spPr>
          <a:xfrm>
            <a:off x="5726686" y="3255264"/>
            <a:ext cx="1844107" cy="301752"/>
          </a:xfrm>
          <a:prstGeom prst="rect">
            <a:avLst/>
          </a:prstGeom>
          <a:noFill/>
        </p:spPr>
        <p:txBody>
          <a:bodyPr wrap="square" lIns="45720" rIns="45720" tIns="27432" bIns="27432" anchor="ctr">
            <a:noAutofit/>
          </a:bodyPr>
          <a:lstStyle/>
          <a:p>
            <a:pPr algn="r">
              <a:lnSpc>
                <a:spcPct val="100000"/>
              </a:lnSpc>
            </a:pPr>
            <a:r>
              <a:rPr sz="1500" b="0" i="0">
                <a:solidFill>
                  <a:srgbClr val="A7B2B0"/>
                </a:solidFill>
                <a:latin typeface="Segoe UI"/>
              </a:rPr>
              <a:t>434</a:t>
            </a:r>
          </a:p>
        </p:txBody>
      </p:sp>
      <p:sp>
        <p:nvSpPr>
          <p:cNvPr id="29" name="TextBox 28"/>
          <p:cNvSpPr txBox="1"/>
          <p:nvPr/>
        </p:nvSpPr>
        <p:spPr>
          <a:xfrm>
            <a:off x="7717097" y="3255264"/>
            <a:ext cx="1844107" cy="301752"/>
          </a:xfrm>
          <a:prstGeom prst="rect">
            <a:avLst/>
          </a:prstGeom>
          <a:noFill/>
        </p:spPr>
        <p:txBody>
          <a:bodyPr wrap="square" lIns="45720" rIns="45720" tIns="27432" bIns="27432" anchor="ctr">
            <a:noAutofit/>
          </a:bodyPr>
          <a:lstStyle/>
          <a:p>
            <a:pPr algn="r">
              <a:lnSpc>
                <a:spcPct val="100000"/>
              </a:lnSpc>
            </a:pPr>
            <a:r>
              <a:rPr sz="1500" b="0" i="0">
                <a:solidFill>
                  <a:srgbClr val="A7B2B0"/>
                </a:solidFill>
                <a:latin typeface="Segoe UI"/>
              </a:rPr>
              <a:t>434</a:t>
            </a:r>
          </a:p>
        </p:txBody>
      </p:sp>
      <p:sp>
        <p:nvSpPr>
          <p:cNvPr id="30" name="TextBox 29"/>
          <p:cNvSpPr txBox="1"/>
          <p:nvPr/>
        </p:nvSpPr>
        <p:spPr>
          <a:xfrm>
            <a:off x="9707508" y="3255264"/>
            <a:ext cx="1844107" cy="301752"/>
          </a:xfrm>
          <a:prstGeom prst="rect">
            <a:avLst/>
          </a:prstGeom>
          <a:noFill/>
        </p:spPr>
        <p:txBody>
          <a:bodyPr wrap="square" lIns="45720" rIns="45720" tIns="27432" bIns="27432" anchor="ctr">
            <a:noAutofit/>
          </a:bodyPr>
          <a:lstStyle/>
          <a:p>
            <a:pPr algn="r">
              <a:lnSpc>
                <a:spcPct val="100000"/>
              </a:lnSpc>
            </a:pPr>
            <a:r>
              <a:rPr sz="1500" b="0" i="0">
                <a:solidFill>
                  <a:srgbClr val="A7B2B0"/>
                </a:solidFill>
                <a:latin typeface="Segoe UI"/>
              </a:rPr>
              <a:t>0.1%</a:t>
            </a:r>
          </a:p>
        </p:txBody>
      </p:sp>
      <p:sp>
        <p:nvSpPr>
          <p:cNvPr id="31" name="Rectangle 30"/>
          <p:cNvSpPr/>
          <p:nvPr/>
        </p:nvSpPr>
        <p:spPr>
          <a:xfrm>
            <a:off x="585216" y="3593592"/>
            <a:ext cx="11021263" cy="374904"/>
          </a:xfrm>
          <a:prstGeom prst="rect">
            <a:avLst/>
          </a:prstGeom>
          <a:solidFill>
            <a:srgbClr val="1824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TextBox 31"/>
          <p:cNvSpPr txBox="1"/>
          <p:nvPr/>
        </p:nvSpPr>
        <p:spPr>
          <a:xfrm>
            <a:off x="640080" y="3630168"/>
            <a:ext cx="3613361" cy="301752"/>
          </a:xfrm>
          <a:prstGeom prst="rect">
            <a:avLst/>
          </a:prstGeom>
          <a:noFill/>
        </p:spPr>
        <p:txBody>
          <a:bodyPr wrap="square" lIns="45720" rIns="45720" tIns="27432" bIns="27432" anchor="ctr">
            <a:noAutofit/>
          </a:bodyPr>
          <a:lstStyle/>
          <a:p>
            <a:pPr algn="l">
              <a:lnSpc>
                <a:spcPct val="100000"/>
              </a:lnSpc>
            </a:pPr>
            <a:r>
              <a:rPr sz="1500" b="0" i="0">
                <a:solidFill>
                  <a:srgbClr val="F7F2E8"/>
                </a:solidFill>
                <a:latin typeface="Segoe UI Semibold"/>
              </a:rPr>
              <a:t>C++</a:t>
            </a:r>
          </a:p>
        </p:txBody>
      </p:sp>
      <p:sp>
        <p:nvSpPr>
          <p:cNvPr id="33" name="TextBox 32"/>
          <p:cNvSpPr txBox="1"/>
          <p:nvPr/>
        </p:nvSpPr>
        <p:spPr>
          <a:xfrm>
            <a:off x="4399745" y="3630168"/>
            <a:ext cx="1180636" cy="301752"/>
          </a:xfrm>
          <a:prstGeom prst="rect">
            <a:avLst/>
          </a:prstGeom>
          <a:noFill/>
        </p:spPr>
        <p:txBody>
          <a:bodyPr wrap="square" lIns="45720" rIns="45720" tIns="27432" bIns="27432" anchor="ctr">
            <a:noAutofit/>
          </a:bodyPr>
          <a:lstStyle/>
          <a:p>
            <a:pPr algn="r">
              <a:lnSpc>
                <a:spcPct val="100000"/>
              </a:lnSpc>
            </a:pPr>
            <a:r>
              <a:rPr sz="1500" b="0" i="0">
                <a:solidFill>
                  <a:srgbClr val="A7B2B0"/>
                </a:solidFill>
                <a:latin typeface="Segoe UI"/>
              </a:rPr>
              <a:t>2</a:t>
            </a:r>
          </a:p>
        </p:txBody>
      </p:sp>
      <p:sp>
        <p:nvSpPr>
          <p:cNvPr id="34" name="TextBox 33"/>
          <p:cNvSpPr txBox="1"/>
          <p:nvPr/>
        </p:nvSpPr>
        <p:spPr>
          <a:xfrm>
            <a:off x="5726686" y="3630168"/>
            <a:ext cx="1844107" cy="301752"/>
          </a:xfrm>
          <a:prstGeom prst="rect">
            <a:avLst/>
          </a:prstGeom>
          <a:noFill/>
        </p:spPr>
        <p:txBody>
          <a:bodyPr wrap="square" lIns="45720" rIns="45720" tIns="27432" bIns="27432" anchor="ctr">
            <a:noAutofit/>
          </a:bodyPr>
          <a:lstStyle/>
          <a:p>
            <a:pPr algn="r">
              <a:lnSpc>
                <a:spcPct val="100000"/>
              </a:lnSpc>
            </a:pPr>
            <a:r>
              <a:rPr sz="1500" b="0" i="0">
                <a:solidFill>
                  <a:srgbClr val="A7B2B0"/>
                </a:solidFill>
                <a:latin typeface="Segoe UI"/>
              </a:rPr>
              <a:t>87</a:t>
            </a:r>
          </a:p>
        </p:txBody>
      </p:sp>
      <p:sp>
        <p:nvSpPr>
          <p:cNvPr id="35" name="TextBox 34"/>
          <p:cNvSpPr txBox="1"/>
          <p:nvPr/>
        </p:nvSpPr>
        <p:spPr>
          <a:xfrm>
            <a:off x="7717097" y="3630168"/>
            <a:ext cx="1844107" cy="301752"/>
          </a:xfrm>
          <a:prstGeom prst="rect">
            <a:avLst/>
          </a:prstGeom>
          <a:noFill/>
        </p:spPr>
        <p:txBody>
          <a:bodyPr wrap="square" lIns="45720" rIns="45720" tIns="27432" bIns="27432" anchor="ctr">
            <a:noAutofit/>
          </a:bodyPr>
          <a:lstStyle/>
          <a:p>
            <a:pPr algn="r">
              <a:lnSpc>
                <a:spcPct val="100000"/>
              </a:lnSpc>
            </a:pPr>
            <a:r>
              <a:rPr sz="1500" b="0" i="0">
                <a:solidFill>
                  <a:srgbClr val="A7B2B0"/>
                </a:solidFill>
                <a:latin typeface="Segoe UI"/>
              </a:rPr>
              <a:t>50</a:t>
            </a:r>
          </a:p>
        </p:txBody>
      </p:sp>
      <p:sp>
        <p:nvSpPr>
          <p:cNvPr id="36" name="TextBox 35"/>
          <p:cNvSpPr txBox="1"/>
          <p:nvPr/>
        </p:nvSpPr>
        <p:spPr>
          <a:xfrm>
            <a:off x="9707508" y="3630168"/>
            <a:ext cx="1844107" cy="301752"/>
          </a:xfrm>
          <a:prstGeom prst="rect">
            <a:avLst/>
          </a:prstGeom>
          <a:noFill/>
        </p:spPr>
        <p:txBody>
          <a:bodyPr wrap="square" lIns="45720" rIns="45720" tIns="27432" bIns="27432" anchor="ctr">
            <a:noAutofit/>
          </a:bodyPr>
          <a:lstStyle/>
          <a:p>
            <a:pPr algn="r">
              <a:lnSpc>
                <a:spcPct val="100000"/>
              </a:lnSpc>
            </a:pPr>
            <a:r>
              <a:rPr sz="1500" b="0" i="0">
                <a:solidFill>
                  <a:srgbClr val="A7B2B0"/>
                </a:solidFill>
                <a:latin typeface="Segoe UI"/>
              </a:rPr>
              <a:t>0.0%</a:t>
            </a:r>
          </a:p>
        </p:txBody>
      </p:sp>
      <p:sp>
        <p:nvSpPr>
          <p:cNvPr id="37" name="TextBox 36"/>
          <p:cNvSpPr txBox="1"/>
          <p:nvPr/>
        </p:nvSpPr>
        <p:spPr>
          <a:xfrm>
            <a:off x="640080" y="4005072"/>
            <a:ext cx="3613361" cy="301752"/>
          </a:xfrm>
          <a:prstGeom prst="rect">
            <a:avLst/>
          </a:prstGeom>
          <a:noFill/>
        </p:spPr>
        <p:txBody>
          <a:bodyPr wrap="square" lIns="45720" rIns="45720" tIns="27432" bIns="27432" anchor="ctr">
            <a:noAutofit/>
          </a:bodyPr>
          <a:lstStyle/>
          <a:p>
            <a:pPr algn="l">
              <a:lnSpc>
                <a:spcPct val="100000"/>
              </a:lnSpc>
            </a:pPr>
            <a:r>
              <a:rPr sz="1500" b="0" i="0">
                <a:solidFill>
                  <a:srgbClr val="F7F2E8"/>
                </a:solidFill>
                <a:latin typeface="Segoe UI Semibold"/>
              </a:rPr>
              <a:t>Prompt flow</a:t>
            </a:r>
          </a:p>
        </p:txBody>
      </p:sp>
      <p:sp>
        <p:nvSpPr>
          <p:cNvPr id="38" name="TextBox 37"/>
          <p:cNvSpPr txBox="1"/>
          <p:nvPr/>
        </p:nvSpPr>
        <p:spPr>
          <a:xfrm>
            <a:off x="4399745" y="4005072"/>
            <a:ext cx="1180636" cy="301752"/>
          </a:xfrm>
          <a:prstGeom prst="rect">
            <a:avLst/>
          </a:prstGeom>
          <a:noFill/>
        </p:spPr>
        <p:txBody>
          <a:bodyPr wrap="square" lIns="45720" rIns="45720" tIns="27432" bIns="27432" anchor="ctr">
            <a:noAutofit/>
          </a:bodyPr>
          <a:lstStyle/>
          <a:p>
            <a:pPr algn="r">
              <a:lnSpc>
                <a:spcPct val="100000"/>
              </a:lnSpc>
            </a:pPr>
            <a:r>
              <a:rPr sz="1500" b="0" i="0">
                <a:solidFill>
                  <a:srgbClr val="A7B2B0"/>
                </a:solidFill>
                <a:latin typeface="Segoe UI"/>
              </a:rPr>
              <a:t>1</a:t>
            </a:r>
          </a:p>
        </p:txBody>
      </p:sp>
      <p:sp>
        <p:nvSpPr>
          <p:cNvPr id="39" name="TextBox 38"/>
          <p:cNvSpPr txBox="1"/>
          <p:nvPr/>
        </p:nvSpPr>
        <p:spPr>
          <a:xfrm>
            <a:off x="5726686" y="4005072"/>
            <a:ext cx="1844107" cy="301752"/>
          </a:xfrm>
          <a:prstGeom prst="rect">
            <a:avLst/>
          </a:prstGeom>
          <a:noFill/>
        </p:spPr>
        <p:txBody>
          <a:bodyPr wrap="square" lIns="45720" rIns="45720" tIns="27432" bIns="27432" anchor="ctr">
            <a:noAutofit/>
          </a:bodyPr>
          <a:lstStyle/>
          <a:p>
            <a:pPr algn="r">
              <a:lnSpc>
                <a:spcPct val="100000"/>
              </a:lnSpc>
            </a:pPr>
            <a:r>
              <a:rPr sz="1500" b="0" i="0">
                <a:solidFill>
                  <a:srgbClr val="A7B2B0"/>
                </a:solidFill>
                <a:latin typeface="Segoe UI"/>
              </a:rPr>
              <a:t>26</a:t>
            </a:r>
          </a:p>
        </p:txBody>
      </p:sp>
      <p:sp>
        <p:nvSpPr>
          <p:cNvPr id="40" name="TextBox 39"/>
          <p:cNvSpPr txBox="1"/>
          <p:nvPr/>
        </p:nvSpPr>
        <p:spPr>
          <a:xfrm>
            <a:off x="7717097" y="4005072"/>
            <a:ext cx="1844107" cy="301752"/>
          </a:xfrm>
          <a:prstGeom prst="rect">
            <a:avLst/>
          </a:prstGeom>
          <a:noFill/>
        </p:spPr>
        <p:txBody>
          <a:bodyPr wrap="square" lIns="45720" rIns="45720" tIns="27432" bIns="27432" anchor="ctr">
            <a:noAutofit/>
          </a:bodyPr>
          <a:lstStyle/>
          <a:p>
            <a:pPr algn="r">
              <a:lnSpc>
                <a:spcPct val="100000"/>
              </a:lnSpc>
            </a:pPr>
            <a:r>
              <a:rPr sz="1500" b="0" i="0">
                <a:solidFill>
                  <a:srgbClr val="A7B2B0"/>
                </a:solidFill>
                <a:latin typeface="Segoe UI"/>
              </a:rPr>
              <a:t>26</a:t>
            </a:r>
          </a:p>
        </p:txBody>
      </p:sp>
      <p:sp>
        <p:nvSpPr>
          <p:cNvPr id="41" name="TextBox 40"/>
          <p:cNvSpPr txBox="1"/>
          <p:nvPr/>
        </p:nvSpPr>
        <p:spPr>
          <a:xfrm>
            <a:off x="9707508" y="4005072"/>
            <a:ext cx="1844107" cy="301752"/>
          </a:xfrm>
          <a:prstGeom prst="rect">
            <a:avLst/>
          </a:prstGeom>
          <a:noFill/>
        </p:spPr>
        <p:txBody>
          <a:bodyPr wrap="square" lIns="45720" rIns="45720" tIns="27432" bIns="27432" anchor="ctr">
            <a:noAutofit/>
          </a:bodyPr>
          <a:lstStyle/>
          <a:p>
            <a:pPr algn="r">
              <a:lnSpc>
                <a:spcPct val="100000"/>
              </a:lnSpc>
            </a:pPr>
            <a:r>
              <a:rPr sz="1500" b="0" i="0">
                <a:solidFill>
                  <a:srgbClr val="A7B2B0"/>
                </a:solidFill>
                <a:latin typeface="Segoe UI"/>
              </a:rPr>
              <a:t>0.0%</a:t>
            </a:r>
          </a:p>
        </p:txBody>
      </p:sp>
      <p:sp>
        <p:nvSpPr>
          <p:cNvPr id="42" name="Rectangle 41"/>
          <p:cNvSpPr/>
          <p:nvPr/>
        </p:nvSpPr>
        <p:spPr>
          <a:xfrm>
            <a:off x="585216" y="4343400"/>
            <a:ext cx="11021263" cy="374904"/>
          </a:xfrm>
          <a:prstGeom prst="rect">
            <a:avLst/>
          </a:prstGeom>
          <a:solidFill>
            <a:srgbClr val="1824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3" name="TextBox 42"/>
          <p:cNvSpPr txBox="1"/>
          <p:nvPr/>
        </p:nvSpPr>
        <p:spPr>
          <a:xfrm>
            <a:off x="640080" y="4379976"/>
            <a:ext cx="3613361" cy="301752"/>
          </a:xfrm>
          <a:prstGeom prst="rect">
            <a:avLst/>
          </a:prstGeom>
          <a:noFill/>
        </p:spPr>
        <p:txBody>
          <a:bodyPr wrap="square" lIns="45720" rIns="45720" tIns="27432" bIns="27432" anchor="ctr">
            <a:noAutofit/>
          </a:bodyPr>
          <a:lstStyle/>
          <a:p>
            <a:pPr algn="l">
              <a:lnSpc>
                <a:spcPct val="100000"/>
              </a:lnSpc>
            </a:pPr>
            <a:r>
              <a:rPr sz="1500" b="0" i="0">
                <a:solidFill>
                  <a:srgbClr val="F7F2E8"/>
                </a:solidFill>
                <a:latin typeface="Segoe UI Semibold"/>
              </a:rPr>
              <a:t>Protocol Buffers</a:t>
            </a:r>
          </a:p>
        </p:txBody>
      </p:sp>
      <p:sp>
        <p:nvSpPr>
          <p:cNvPr id="44" name="TextBox 43"/>
          <p:cNvSpPr txBox="1"/>
          <p:nvPr/>
        </p:nvSpPr>
        <p:spPr>
          <a:xfrm>
            <a:off x="4399745" y="4379976"/>
            <a:ext cx="1180636" cy="301752"/>
          </a:xfrm>
          <a:prstGeom prst="rect">
            <a:avLst/>
          </a:prstGeom>
          <a:noFill/>
        </p:spPr>
        <p:txBody>
          <a:bodyPr wrap="square" lIns="45720" rIns="45720" tIns="27432" bIns="27432" anchor="ctr">
            <a:noAutofit/>
          </a:bodyPr>
          <a:lstStyle/>
          <a:p>
            <a:pPr algn="r">
              <a:lnSpc>
                <a:spcPct val="100000"/>
              </a:lnSpc>
            </a:pPr>
            <a:r>
              <a:rPr sz="1500" b="0" i="0">
                <a:solidFill>
                  <a:srgbClr val="A7B2B0"/>
                </a:solidFill>
                <a:latin typeface="Segoe UI"/>
              </a:rPr>
              <a:t>1</a:t>
            </a:r>
          </a:p>
        </p:txBody>
      </p:sp>
      <p:sp>
        <p:nvSpPr>
          <p:cNvPr id="45" name="TextBox 44"/>
          <p:cNvSpPr txBox="1"/>
          <p:nvPr/>
        </p:nvSpPr>
        <p:spPr>
          <a:xfrm>
            <a:off x="5726686" y="4379976"/>
            <a:ext cx="1844107" cy="301752"/>
          </a:xfrm>
          <a:prstGeom prst="rect">
            <a:avLst/>
          </a:prstGeom>
          <a:noFill/>
        </p:spPr>
        <p:txBody>
          <a:bodyPr wrap="square" lIns="45720" rIns="45720" tIns="27432" bIns="27432" anchor="ctr">
            <a:noAutofit/>
          </a:bodyPr>
          <a:lstStyle/>
          <a:p>
            <a:pPr algn="r">
              <a:lnSpc>
                <a:spcPct val="100000"/>
              </a:lnSpc>
            </a:pPr>
            <a:r>
              <a:rPr sz="1500" b="0" i="0">
                <a:solidFill>
                  <a:srgbClr val="A7B2B0"/>
                </a:solidFill>
                <a:latin typeface="Segoe UI"/>
              </a:rPr>
              <a:t>33</a:t>
            </a:r>
          </a:p>
        </p:txBody>
      </p:sp>
      <p:sp>
        <p:nvSpPr>
          <p:cNvPr id="46" name="TextBox 45"/>
          <p:cNvSpPr txBox="1"/>
          <p:nvPr/>
        </p:nvSpPr>
        <p:spPr>
          <a:xfrm>
            <a:off x="7717097" y="4379976"/>
            <a:ext cx="1844107" cy="301752"/>
          </a:xfrm>
          <a:prstGeom prst="rect">
            <a:avLst/>
          </a:prstGeom>
          <a:noFill/>
        </p:spPr>
        <p:txBody>
          <a:bodyPr wrap="square" lIns="45720" rIns="45720" tIns="27432" bIns="27432" anchor="ctr">
            <a:noAutofit/>
          </a:bodyPr>
          <a:lstStyle/>
          <a:p>
            <a:pPr algn="r">
              <a:lnSpc>
                <a:spcPct val="100000"/>
              </a:lnSpc>
            </a:pPr>
            <a:r>
              <a:rPr sz="1500" b="0" i="0">
                <a:solidFill>
                  <a:srgbClr val="A7B2B0"/>
                </a:solidFill>
                <a:latin typeface="Segoe UI"/>
              </a:rPr>
              <a:t>20</a:t>
            </a:r>
          </a:p>
        </p:txBody>
      </p:sp>
      <p:sp>
        <p:nvSpPr>
          <p:cNvPr id="47" name="TextBox 46"/>
          <p:cNvSpPr txBox="1"/>
          <p:nvPr/>
        </p:nvSpPr>
        <p:spPr>
          <a:xfrm>
            <a:off x="9707508" y="4379976"/>
            <a:ext cx="1844107" cy="301752"/>
          </a:xfrm>
          <a:prstGeom prst="rect">
            <a:avLst/>
          </a:prstGeom>
          <a:noFill/>
        </p:spPr>
        <p:txBody>
          <a:bodyPr wrap="square" lIns="45720" rIns="45720" tIns="27432" bIns="27432" anchor="ctr">
            <a:noAutofit/>
          </a:bodyPr>
          <a:lstStyle/>
          <a:p>
            <a:pPr algn="r">
              <a:lnSpc>
                <a:spcPct val="100000"/>
              </a:lnSpc>
            </a:pPr>
            <a:r>
              <a:rPr sz="1500" b="0" i="0">
                <a:solidFill>
                  <a:srgbClr val="A7B2B0"/>
                </a:solidFill>
                <a:latin typeface="Segoe UI"/>
              </a:rPr>
              <a:t>0.0%</a:t>
            </a:r>
          </a:p>
        </p:txBody>
      </p:sp>
      <p:sp>
        <p:nvSpPr>
          <p:cNvPr id="48" name="TextBox 47"/>
          <p:cNvSpPr txBox="1"/>
          <p:nvPr/>
        </p:nvSpPr>
        <p:spPr>
          <a:xfrm>
            <a:off x="640080" y="4754880"/>
            <a:ext cx="3613361" cy="301752"/>
          </a:xfrm>
          <a:prstGeom prst="rect">
            <a:avLst/>
          </a:prstGeom>
          <a:noFill/>
        </p:spPr>
        <p:txBody>
          <a:bodyPr wrap="square" lIns="45720" rIns="45720" tIns="27432" bIns="27432" anchor="ctr">
            <a:noAutofit/>
          </a:bodyPr>
          <a:lstStyle/>
          <a:p>
            <a:pPr algn="l">
              <a:lnSpc>
                <a:spcPct val="100000"/>
              </a:lnSpc>
            </a:pPr>
            <a:r>
              <a:rPr sz="1500" b="0" i="0">
                <a:solidFill>
                  <a:srgbClr val="F7F2E8"/>
                </a:solidFill>
                <a:latin typeface="Segoe UI Semibold"/>
              </a:rPr>
              <a:t>INI</a:t>
            </a:r>
          </a:p>
        </p:txBody>
      </p:sp>
      <p:sp>
        <p:nvSpPr>
          <p:cNvPr id="49" name="TextBox 48"/>
          <p:cNvSpPr txBox="1"/>
          <p:nvPr/>
        </p:nvSpPr>
        <p:spPr>
          <a:xfrm>
            <a:off x="4399745" y="4754880"/>
            <a:ext cx="1180636" cy="301752"/>
          </a:xfrm>
          <a:prstGeom prst="rect">
            <a:avLst/>
          </a:prstGeom>
          <a:noFill/>
        </p:spPr>
        <p:txBody>
          <a:bodyPr wrap="square" lIns="45720" rIns="45720" tIns="27432" bIns="27432" anchor="ctr">
            <a:noAutofit/>
          </a:bodyPr>
          <a:lstStyle/>
          <a:p>
            <a:pPr algn="r">
              <a:lnSpc>
                <a:spcPct val="100000"/>
              </a:lnSpc>
            </a:pPr>
            <a:r>
              <a:rPr sz="1500" b="0" i="0">
                <a:solidFill>
                  <a:srgbClr val="A7B2B0"/>
                </a:solidFill>
                <a:latin typeface="Segoe UI"/>
              </a:rPr>
              <a:t>1</a:t>
            </a:r>
          </a:p>
        </p:txBody>
      </p:sp>
      <p:sp>
        <p:nvSpPr>
          <p:cNvPr id="50" name="TextBox 49"/>
          <p:cNvSpPr txBox="1"/>
          <p:nvPr/>
        </p:nvSpPr>
        <p:spPr>
          <a:xfrm>
            <a:off x="5726686" y="4754880"/>
            <a:ext cx="1844107" cy="301752"/>
          </a:xfrm>
          <a:prstGeom prst="rect">
            <a:avLst/>
          </a:prstGeom>
          <a:noFill/>
        </p:spPr>
        <p:txBody>
          <a:bodyPr wrap="square" lIns="45720" rIns="45720" tIns="27432" bIns="27432" anchor="ctr">
            <a:noAutofit/>
          </a:bodyPr>
          <a:lstStyle/>
          <a:p>
            <a:pPr algn="r">
              <a:lnSpc>
                <a:spcPct val="100000"/>
              </a:lnSpc>
            </a:pPr>
            <a:r>
              <a:rPr sz="1500" b="0" i="0">
                <a:solidFill>
                  <a:srgbClr val="A7B2B0"/>
                </a:solidFill>
                <a:latin typeface="Segoe UI"/>
              </a:rPr>
              <a:t>40</a:t>
            </a:r>
          </a:p>
        </p:txBody>
      </p:sp>
      <p:sp>
        <p:nvSpPr>
          <p:cNvPr id="51" name="TextBox 50"/>
          <p:cNvSpPr txBox="1"/>
          <p:nvPr/>
        </p:nvSpPr>
        <p:spPr>
          <a:xfrm>
            <a:off x="7717097" y="4754880"/>
            <a:ext cx="1844107" cy="301752"/>
          </a:xfrm>
          <a:prstGeom prst="rect">
            <a:avLst/>
          </a:prstGeom>
          <a:noFill/>
        </p:spPr>
        <p:txBody>
          <a:bodyPr wrap="square" lIns="45720" rIns="45720" tIns="27432" bIns="27432" anchor="ctr">
            <a:noAutofit/>
          </a:bodyPr>
          <a:lstStyle/>
          <a:p>
            <a:pPr algn="r">
              <a:lnSpc>
                <a:spcPct val="100000"/>
              </a:lnSpc>
            </a:pPr>
            <a:r>
              <a:rPr sz="1500" b="0" i="0">
                <a:solidFill>
                  <a:srgbClr val="A7B2B0"/>
                </a:solidFill>
                <a:latin typeface="Segoe UI"/>
              </a:rPr>
              <a:t>8</a:t>
            </a:r>
          </a:p>
        </p:txBody>
      </p:sp>
      <p:sp>
        <p:nvSpPr>
          <p:cNvPr id="52" name="TextBox 51"/>
          <p:cNvSpPr txBox="1"/>
          <p:nvPr/>
        </p:nvSpPr>
        <p:spPr>
          <a:xfrm>
            <a:off x="9707508" y="4754880"/>
            <a:ext cx="1844107" cy="301752"/>
          </a:xfrm>
          <a:prstGeom prst="rect">
            <a:avLst/>
          </a:prstGeom>
          <a:noFill/>
        </p:spPr>
        <p:txBody>
          <a:bodyPr wrap="square" lIns="45720" rIns="45720" tIns="27432" bIns="27432" anchor="ctr">
            <a:noAutofit/>
          </a:bodyPr>
          <a:lstStyle/>
          <a:p>
            <a:pPr algn="r">
              <a:lnSpc>
                <a:spcPct val="100000"/>
              </a:lnSpc>
            </a:pPr>
            <a:r>
              <a:rPr sz="1500" b="0" i="0">
                <a:solidFill>
                  <a:srgbClr val="A7B2B0"/>
                </a:solidFill>
                <a:latin typeface="Segoe UI"/>
              </a:rPr>
              <a:t>0.0%</a:t>
            </a:r>
          </a:p>
        </p:txBody>
      </p:sp>
      <p:sp>
        <p:nvSpPr>
          <p:cNvPr id="53" name="Rectangle 52"/>
          <p:cNvSpPr/>
          <p:nvPr/>
        </p:nvSpPr>
        <p:spPr>
          <a:xfrm>
            <a:off x="585216" y="5093208"/>
            <a:ext cx="11021263" cy="374904"/>
          </a:xfrm>
          <a:prstGeom prst="rect">
            <a:avLst/>
          </a:prstGeom>
          <a:solidFill>
            <a:srgbClr val="3BBE93">
              <a:alpha val="2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4" name="TextBox 53"/>
          <p:cNvSpPr txBox="1"/>
          <p:nvPr/>
        </p:nvSpPr>
        <p:spPr>
          <a:xfrm>
            <a:off x="640080" y="5129784"/>
            <a:ext cx="3613361" cy="301752"/>
          </a:xfrm>
          <a:prstGeom prst="rect">
            <a:avLst/>
          </a:prstGeom>
          <a:noFill/>
        </p:spPr>
        <p:txBody>
          <a:bodyPr wrap="square" lIns="45720" rIns="45720" tIns="27432" bIns="27432" anchor="ctr">
            <a:noAutofit/>
          </a:bodyPr>
          <a:lstStyle/>
          <a:p>
            <a:pPr algn="l">
              <a:lnSpc>
                <a:spcPct val="100000"/>
              </a:lnSpc>
            </a:pPr>
            <a:r>
              <a:rPr sz="1500" b="0" i="0">
                <a:solidFill>
                  <a:srgbClr val="F7F2E8"/>
                </a:solidFill>
                <a:latin typeface="Segoe UI Semibold"/>
              </a:rPr>
              <a:t>Total</a:t>
            </a:r>
          </a:p>
        </p:txBody>
      </p:sp>
      <p:sp>
        <p:nvSpPr>
          <p:cNvPr id="55" name="TextBox 54"/>
          <p:cNvSpPr txBox="1"/>
          <p:nvPr/>
        </p:nvSpPr>
        <p:spPr>
          <a:xfrm>
            <a:off x="4399745" y="5129784"/>
            <a:ext cx="1180636" cy="301752"/>
          </a:xfrm>
          <a:prstGeom prst="rect">
            <a:avLst/>
          </a:prstGeom>
          <a:noFill/>
        </p:spPr>
        <p:txBody>
          <a:bodyPr wrap="square" lIns="45720" rIns="45720" tIns="27432" bIns="27432" anchor="ctr">
            <a:noAutofit/>
          </a:bodyPr>
          <a:lstStyle/>
          <a:p>
            <a:pPr algn="r">
              <a:lnSpc>
                <a:spcPct val="100000"/>
              </a:lnSpc>
            </a:pPr>
            <a:r>
              <a:rPr sz="1500" b="0" i="0">
                <a:solidFill>
                  <a:srgbClr val="F7F2E8"/>
                </a:solidFill>
                <a:latin typeface="Segoe UI Semibold"/>
              </a:rPr>
              <a:t>1,886</a:t>
            </a:r>
          </a:p>
        </p:txBody>
      </p:sp>
      <p:sp>
        <p:nvSpPr>
          <p:cNvPr id="56" name="TextBox 55"/>
          <p:cNvSpPr txBox="1"/>
          <p:nvPr/>
        </p:nvSpPr>
        <p:spPr>
          <a:xfrm>
            <a:off x="5726686" y="5129784"/>
            <a:ext cx="1844107" cy="301752"/>
          </a:xfrm>
          <a:prstGeom prst="rect">
            <a:avLst/>
          </a:prstGeom>
          <a:noFill/>
        </p:spPr>
        <p:txBody>
          <a:bodyPr wrap="square" lIns="45720" rIns="45720" tIns="27432" bIns="27432" anchor="ctr">
            <a:noAutofit/>
          </a:bodyPr>
          <a:lstStyle/>
          <a:p>
            <a:pPr algn="r">
              <a:lnSpc>
                <a:spcPct val="100000"/>
              </a:lnSpc>
            </a:pPr>
            <a:r>
              <a:rPr sz="1500" b="0" i="0">
                <a:solidFill>
                  <a:srgbClr val="F7F2E8"/>
                </a:solidFill>
                <a:latin typeface="Segoe UI Semibold"/>
              </a:rPr>
              <a:t>679,395</a:t>
            </a:r>
          </a:p>
        </p:txBody>
      </p:sp>
      <p:sp>
        <p:nvSpPr>
          <p:cNvPr id="57" name="TextBox 56"/>
          <p:cNvSpPr txBox="1"/>
          <p:nvPr/>
        </p:nvSpPr>
        <p:spPr>
          <a:xfrm>
            <a:off x="7717097" y="5129784"/>
            <a:ext cx="1844107" cy="301752"/>
          </a:xfrm>
          <a:prstGeom prst="rect">
            <a:avLst/>
          </a:prstGeom>
          <a:noFill/>
        </p:spPr>
        <p:txBody>
          <a:bodyPr wrap="square" lIns="45720" rIns="45720" tIns="27432" bIns="27432" anchor="ctr">
            <a:noAutofit/>
          </a:bodyPr>
          <a:lstStyle/>
          <a:p>
            <a:pPr algn="r">
              <a:lnSpc>
                <a:spcPct val="100000"/>
              </a:lnSpc>
            </a:pPr>
            <a:r>
              <a:rPr sz="1500" b="0" i="0">
                <a:solidFill>
                  <a:srgbClr val="F7F2E8"/>
                </a:solidFill>
                <a:latin typeface="Segoe UI Semibold"/>
              </a:rPr>
              <a:t>544,489</a:t>
            </a:r>
          </a:p>
        </p:txBody>
      </p:sp>
      <p:sp>
        <p:nvSpPr>
          <p:cNvPr id="58" name="TextBox 57"/>
          <p:cNvSpPr txBox="1"/>
          <p:nvPr/>
        </p:nvSpPr>
        <p:spPr>
          <a:xfrm>
            <a:off x="9707508" y="5129784"/>
            <a:ext cx="1844107" cy="301752"/>
          </a:xfrm>
          <a:prstGeom prst="rect">
            <a:avLst/>
          </a:prstGeom>
          <a:noFill/>
        </p:spPr>
        <p:txBody>
          <a:bodyPr wrap="square" lIns="45720" rIns="45720" tIns="27432" bIns="27432" anchor="ctr">
            <a:noAutofit/>
          </a:bodyPr>
          <a:lstStyle/>
          <a:p>
            <a:pPr algn="r">
              <a:lnSpc>
                <a:spcPct val="100000"/>
              </a:lnSpc>
            </a:pPr>
            <a:r>
              <a:rPr sz="1500" b="0" i="0">
                <a:solidFill>
                  <a:srgbClr val="F7F2E8"/>
                </a:solidFill>
                <a:latin typeface="Segoe UI Semibold"/>
              </a:rPr>
              <a:t>100.0%</a:t>
            </a:r>
          </a:p>
        </p:txBody>
      </p:sp>
      <p:cxnSp>
        <p:nvCxnSpPr>
          <p:cNvPr id="59" name="Connector 58"/>
          <p:cNvCxnSpPr/>
          <p:nvPr/>
        </p:nvCxnSpPr>
        <p:spPr>
          <a:xfrm>
            <a:off x="566928" y="6373368"/>
            <a:ext cx="11057839" cy="0"/>
          </a:xfrm>
          <a:prstGeom prst="line">
            <a:avLst/>
          </a:prstGeom>
          <a:ln w="7620">
            <a:solidFill>
              <a:srgbClr val="2A3A40"/>
            </a:solidFill>
          </a:ln>
        </p:spPr>
        <p:style>
          <a:lnRef idx="2">
            <a:schemeClr val="accent1"/>
          </a:lnRef>
          <a:fillRef idx="0">
            <a:schemeClr val="accent1"/>
          </a:fillRef>
          <a:effectRef idx="1">
            <a:schemeClr val="accent1"/>
          </a:effectRef>
          <a:fontRef idx="minor">
            <a:schemeClr val="tx1"/>
          </a:fontRef>
        </p:style>
      </p:cxnSp>
      <p:sp>
        <p:nvSpPr>
          <p:cNvPr id="60" name="TextBox 59"/>
          <p:cNvSpPr txBox="1"/>
          <p:nvPr/>
        </p:nvSpPr>
        <p:spPr>
          <a:xfrm>
            <a:off x="566928" y="6419088"/>
            <a:ext cx="6858000" cy="274320"/>
          </a:xfrm>
          <a:prstGeom prst="rect">
            <a:avLst/>
          </a:prstGeom>
          <a:noFill/>
        </p:spPr>
        <p:txBody>
          <a:bodyPr wrap="square" lIns="45720" rIns="45720" tIns="27432" bIns="27432" anchor="t">
            <a:noAutofit/>
          </a:bodyPr>
          <a:lstStyle/>
          <a:p>
            <a:pPr algn="l">
              <a:lnSpc>
                <a:spcPct val="100000"/>
              </a:lnSpc>
            </a:pPr>
            <a:r>
              <a:rPr sz="850" b="0" i="0" spc="120">
                <a:solidFill>
                  <a:srgbClr val="A7B2B0"/>
                </a:solidFill>
                <a:latin typeface="Segoe UI Semibold"/>
              </a:rPr>
              <a:t>TLAMATINI  ·  IX · DATOS DEL REPOSITORIO</a:t>
            </a:r>
          </a:p>
        </p:txBody>
      </p:sp>
      <p:sp>
        <p:nvSpPr>
          <p:cNvPr id="61" name="TextBox 60"/>
          <p:cNvSpPr txBox="1"/>
          <p:nvPr/>
        </p:nvSpPr>
        <p:spPr>
          <a:xfrm>
            <a:off x="8698687" y="6419088"/>
            <a:ext cx="2926080" cy="274320"/>
          </a:xfrm>
          <a:prstGeom prst="rect">
            <a:avLst/>
          </a:prstGeom>
          <a:noFill/>
        </p:spPr>
        <p:txBody>
          <a:bodyPr wrap="square" lIns="45720" rIns="45720" tIns="27432" bIns="27432" anchor="t">
            <a:noAutofit/>
          </a:bodyPr>
          <a:lstStyle/>
          <a:p>
            <a:pPr algn="r">
              <a:lnSpc>
                <a:spcPct val="100000"/>
              </a:lnSpc>
            </a:pPr>
            <a:r>
              <a:rPr sz="850" b="0" i="0" spc="100">
                <a:solidFill>
                  <a:srgbClr val="A7B2B0"/>
                </a:solidFill>
                <a:latin typeface="Segoe UI Semibold"/>
              </a:rPr>
              <a:t>v1.91.1   ·   167</a:t>
            </a:r>
          </a:p>
        </p:txBody>
      </p:sp>
    </p:spTree>
  </p:cSld>
  <p:clrMapOvr>
    <a:masterClrMapping/>
  </p:clrMapOvr>
</p:sld>
</file>

<file path=ppt/slides/slide1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content.png"/>
          <p:cNvPicPr>
            <a:picLocks noChangeAspect="1"/>
          </p:cNvPicPr>
          <p:nvPr/>
        </p:nvPicPr>
        <p:blipFill>
          <a:blip r:embed="rId2"/>
          <a:stretch>
            <a:fillRect/>
          </a:stretch>
        </p:blipFill>
        <p:spPr>
          <a:xfrm>
            <a:off x="0" y="0"/>
            <a:ext cx="12191695" cy="6858000"/>
          </a:xfrm>
          <a:prstGeom prst="rect">
            <a:avLst/>
          </a:prstGeom>
        </p:spPr>
      </p:pic>
      <p:sp>
        <p:nvSpPr>
          <p:cNvPr id="3" name="Diamond 2"/>
          <p:cNvSpPr/>
          <p:nvPr/>
        </p:nvSpPr>
        <p:spPr>
          <a:xfrm>
            <a:off x="566928" y="457200"/>
            <a:ext cx="100584" cy="100584"/>
          </a:xfrm>
          <a:prstGeom prst="diamond">
            <a:avLst/>
          </a:prstGeom>
          <a:solidFill>
            <a:srgbClr val="C984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49808" y="365760"/>
            <a:ext cx="8229600" cy="292608"/>
          </a:xfrm>
          <a:prstGeom prst="rect">
            <a:avLst/>
          </a:prstGeom>
          <a:noFill/>
        </p:spPr>
        <p:txBody>
          <a:bodyPr wrap="square" lIns="45720" rIns="45720" tIns="27432" bIns="27432" anchor="t">
            <a:noAutofit/>
          </a:bodyPr>
          <a:lstStyle/>
          <a:p>
            <a:pPr algn="l">
              <a:lnSpc>
                <a:spcPct val="100000"/>
              </a:lnSpc>
            </a:pPr>
            <a:r>
              <a:rPr sz="1100" b="0" i="0" spc="240">
                <a:solidFill>
                  <a:srgbClr val="C98457"/>
                </a:solidFill>
                <a:latin typeface="Segoe UI Semibold"/>
              </a:rPr>
              <a:t>PROCEDENCIA</a:t>
            </a:r>
          </a:p>
        </p:txBody>
      </p:sp>
      <p:sp>
        <p:nvSpPr>
          <p:cNvPr id="5" name="TextBox 4"/>
          <p:cNvSpPr txBox="1"/>
          <p:nvPr/>
        </p:nvSpPr>
        <p:spPr>
          <a:xfrm>
            <a:off x="539496" y="676656"/>
            <a:ext cx="11057839" cy="658368"/>
          </a:xfrm>
          <a:prstGeom prst="rect">
            <a:avLst/>
          </a:prstGeom>
          <a:noFill/>
        </p:spPr>
        <p:txBody>
          <a:bodyPr wrap="square" lIns="45720" rIns="45720" tIns="27432" bIns="27432" anchor="t">
            <a:noAutofit/>
          </a:bodyPr>
          <a:lstStyle/>
          <a:p>
            <a:pPr algn="l">
              <a:lnSpc>
                <a:spcPct val="100000"/>
              </a:lnSpc>
            </a:pPr>
            <a:r>
              <a:rPr sz="3100" b="0" i="0">
                <a:solidFill>
                  <a:srgbClr val="F7F2E8"/>
                </a:solidFill>
                <a:latin typeface="Palatino Linotype"/>
              </a:rPr>
              <a:t>Escrito y de terceros</a:t>
            </a:r>
          </a:p>
        </p:txBody>
      </p:sp>
      <p:sp>
        <p:nvSpPr>
          <p:cNvPr id="6" name="Rectangle 5"/>
          <p:cNvSpPr/>
          <p:nvPr/>
        </p:nvSpPr>
        <p:spPr>
          <a:xfrm>
            <a:off x="566928" y="1344168"/>
            <a:ext cx="822960" cy="36576"/>
          </a:xfrm>
          <a:prstGeom prst="rect">
            <a:avLst/>
          </a:prstGeom>
          <a:solidFill>
            <a:srgbClr val="C984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566928" y="1444752"/>
            <a:ext cx="10692079" cy="585216"/>
          </a:xfrm>
          <a:prstGeom prst="rect">
            <a:avLst/>
          </a:prstGeom>
          <a:noFill/>
        </p:spPr>
        <p:txBody>
          <a:bodyPr wrap="square" lIns="45720" rIns="45720" tIns="27432" bIns="27432" anchor="t">
            <a:noAutofit/>
          </a:bodyPr>
          <a:lstStyle/>
          <a:p>
            <a:pPr algn="l">
              <a:lnSpc>
                <a:spcPct val="100000"/>
              </a:lnSpc>
            </a:pPr>
            <a:r>
              <a:rPr sz="1450" b="0" i="0">
                <a:solidFill>
                  <a:srgbClr val="A7B2B0"/>
                </a:solidFill>
                <a:latin typeface="Segoe UI Semilight"/>
              </a:rPr>
              <a:t>Las librerías de frontend de terceros van incluidas para que la aplicación no necesite un CDN al ejecutarse; sus líneas se cuentan aparte aquí para que nunca se confundan con la lógica propia de Tlamatini.</a:t>
            </a:r>
          </a:p>
        </p:txBody>
      </p:sp>
      <p:sp>
        <p:nvSpPr>
          <p:cNvPr id="8" name="Rounded Rectangle 7"/>
          <p:cNvSpPr/>
          <p:nvPr/>
        </p:nvSpPr>
        <p:spPr>
          <a:xfrm>
            <a:off x="566928" y="2084831"/>
            <a:ext cx="11057839" cy="1965960"/>
          </a:xfrm>
          <a:prstGeom prst="roundRect">
            <a:avLst>
              <a:gd name="adj" fmla="val 3720"/>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ounded Rectangle 8"/>
          <p:cNvSpPr/>
          <p:nvPr/>
        </p:nvSpPr>
        <p:spPr>
          <a:xfrm>
            <a:off x="566928" y="2084831"/>
            <a:ext cx="11057839" cy="384048"/>
          </a:xfrm>
          <a:prstGeom prst="roundRect">
            <a:avLst>
              <a:gd name="adj" fmla="val 19047"/>
            </a:avLst>
          </a:prstGeom>
          <a:solidFill>
            <a:srgbClr val="151F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640080" y="2121408"/>
            <a:ext cx="5382615" cy="310896"/>
          </a:xfrm>
          <a:prstGeom prst="rect">
            <a:avLst/>
          </a:prstGeom>
          <a:noFill/>
        </p:spPr>
        <p:txBody>
          <a:bodyPr wrap="square" lIns="45720" rIns="45720" tIns="27432" bIns="27432" anchor="ctr">
            <a:noAutofit/>
          </a:bodyPr>
          <a:lstStyle/>
          <a:p>
            <a:pPr algn="l">
              <a:lnSpc>
                <a:spcPct val="100000"/>
              </a:lnSpc>
            </a:pPr>
            <a:r>
              <a:rPr sz="1000" b="0" i="0" spc="120">
                <a:solidFill>
                  <a:srgbClr val="E2B462"/>
                </a:solidFill>
                <a:latin typeface="Segoe UI Semibold"/>
              </a:rPr>
              <a:t>PORCIÓN</a:t>
            </a:r>
          </a:p>
        </p:txBody>
      </p:sp>
      <p:sp>
        <p:nvSpPr>
          <p:cNvPr id="11" name="TextBox 10"/>
          <p:cNvSpPr txBox="1"/>
          <p:nvPr/>
        </p:nvSpPr>
        <p:spPr>
          <a:xfrm>
            <a:off x="6168999" y="2121408"/>
            <a:ext cx="2065263" cy="310896"/>
          </a:xfrm>
          <a:prstGeom prst="rect">
            <a:avLst/>
          </a:prstGeom>
          <a:noFill/>
        </p:spPr>
        <p:txBody>
          <a:bodyPr wrap="square" lIns="45720" rIns="45720" tIns="27432" bIns="27432" anchor="ctr">
            <a:noAutofit/>
          </a:bodyPr>
          <a:lstStyle/>
          <a:p>
            <a:pPr algn="r">
              <a:lnSpc>
                <a:spcPct val="100000"/>
              </a:lnSpc>
            </a:pPr>
            <a:r>
              <a:rPr sz="1000" b="0" i="0" spc="120">
                <a:solidFill>
                  <a:srgbClr val="E2B462"/>
                </a:solidFill>
                <a:latin typeface="Segoe UI Semibold"/>
              </a:rPr>
              <a:t>ARCHIVOS</a:t>
            </a:r>
          </a:p>
        </p:txBody>
      </p:sp>
      <p:sp>
        <p:nvSpPr>
          <p:cNvPr id="12" name="TextBox 11"/>
          <p:cNvSpPr txBox="1"/>
          <p:nvPr/>
        </p:nvSpPr>
        <p:spPr>
          <a:xfrm>
            <a:off x="8380567" y="2121408"/>
            <a:ext cx="3171047" cy="310896"/>
          </a:xfrm>
          <a:prstGeom prst="rect">
            <a:avLst/>
          </a:prstGeom>
          <a:noFill/>
        </p:spPr>
        <p:txBody>
          <a:bodyPr wrap="square" lIns="45720" rIns="45720" tIns="27432" bIns="27432" anchor="ctr">
            <a:noAutofit/>
          </a:bodyPr>
          <a:lstStyle/>
          <a:p>
            <a:pPr algn="r">
              <a:lnSpc>
                <a:spcPct val="100000"/>
              </a:lnSpc>
            </a:pPr>
            <a:r>
              <a:rPr sz="1000" b="0" i="0" spc="120">
                <a:solidFill>
                  <a:srgbClr val="E2B462"/>
                </a:solidFill>
                <a:latin typeface="Segoe UI Semibold"/>
              </a:rPr>
              <a:t>LÍNEAS EFECTIVAS</a:t>
            </a:r>
          </a:p>
        </p:txBody>
      </p:sp>
      <p:sp>
        <p:nvSpPr>
          <p:cNvPr id="13" name="TextBox 12"/>
          <p:cNvSpPr txBox="1"/>
          <p:nvPr/>
        </p:nvSpPr>
        <p:spPr>
          <a:xfrm>
            <a:off x="640080" y="2505456"/>
            <a:ext cx="5382615" cy="530352"/>
          </a:xfrm>
          <a:prstGeom prst="rect">
            <a:avLst/>
          </a:prstGeom>
          <a:noFill/>
        </p:spPr>
        <p:txBody>
          <a:bodyPr wrap="square" lIns="45720" rIns="45720" tIns="27432" bIns="27432" anchor="ctr">
            <a:noAutofit/>
          </a:bodyPr>
          <a:lstStyle/>
          <a:p>
            <a:pPr algn="l">
              <a:lnSpc>
                <a:spcPct val="100000"/>
              </a:lnSpc>
            </a:pPr>
            <a:r>
              <a:rPr sz="1500" b="0" i="0">
                <a:solidFill>
                  <a:srgbClr val="F7F2E8"/>
                </a:solidFill>
                <a:latin typeface="Segoe UI Semibold"/>
              </a:rPr>
              <a:t>Texto escrito por Tlamatini (aplicación, agents, docs, pruebas)</a:t>
            </a:r>
          </a:p>
        </p:txBody>
      </p:sp>
      <p:sp>
        <p:nvSpPr>
          <p:cNvPr id="14" name="TextBox 13"/>
          <p:cNvSpPr txBox="1"/>
          <p:nvPr/>
        </p:nvSpPr>
        <p:spPr>
          <a:xfrm>
            <a:off x="6168999" y="2505456"/>
            <a:ext cx="2065263" cy="530352"/>
          </a:xfrm>
          <a:prstGeom prst="rect">
            <a:avLst/>
          </a:prstGeom>
          <a:noFill/>
        </p:spPr>
        <p:txBody>
          <a:bodyPr wrap="square" lIns="45720" rIns="45720" tIns="27432" bIns="27432" anchor="ctr">
            <a:noAutofit/>
          </a:bodyPr>
          <a:lstStyle/>
          <a:p>
            <a:pPr algn="r">
              <a:lnSpc>
                <a:spcPct val="100000"/>
              </a:lnSpc>
            </a:pPr>
            <a:r>
              <a:rPr sz="1500" b="0" i="0">
                <a:solidFill>
                  <a:srgbClr val="A7B2B0"/>
                </a:solidFill>
                <a:latin typeface="Segoe UI"/>
              </a:rPr>
              <a:t>1,744</a:t>
            </a:r>
          </a:p>
        </p:txBody>
      </p:sp>
      <p:sp>
        <p:nvSpPr>
          <p:cNvPr id="15" name="TextBox 14"/>
          <p:cNvSpPr txBox="1"/>
          <p:nvPr/>
        </p:nvSpPr>
        <p:spPr>
          <a:xfrm>
            <a:off x="8380567" y="2505456"/>
            <a:ext cx="3171047" cy="530352"/>
          </a:xfrm>
          <a:prstGeom prst="rect">
            <a:avLst/>
          </a:prstGeom>
          <a:noFill/>
        </p:spPr>
        <p:txBody>
          <a:bodyPr wrap="square" lIns="45720" rIns="45720" tIns="27432" bIns="27432" anchor="ctr">
            <a:noAutofit/>
          </a:bodyPr>
          <a:lstStyle/>
          <a:p>
            <a:pPr algn="r">
              <a:lnSpc>
                <a:spcPct val="100000"/>
              </a:lnSpc>
            </a:pPr>
            <a:r>
              <a:rPr sz="1500" b="0" i="0">
                <a:solidFill>
                  <a:srgbClr val="A7B2B0"/>
                </a:solidFill>
                <a:latin typeface="Segoe UI"/>
              </a:rPr>
              <a:t>432,125</a:t>
            </a:r>
          </a:p>
        </p:txBody>
      </p:sp>
      <p:sp>
        <p:nvSpPr>
          <p:cNvPr id="16" name="Rectangle 15"/>
          <p:cNvSpPr/>
          <p:nvPr/>
        </p:nvSpPr>
        <p:spPr>
          <a:xfrm>
            <a:off x="585216" y="3072384"/>
            <a:ext cx="11021263" cy="603504"/>
          </a:xfrm>
          <a:prstGeom prst="rect">
            <a:avLst/>
          </a:prstGeom>
          <a:solidFill>
            <a:srgbClr val="1824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640080" y="3108960"/>
            <a:ext cx="5382615" cy="530352"/>
          </a:xfrm>
          <a:prstGeom prst="rect">
            <a:avLst/>
          </a:prstGeom>
          <a:noFill/>
        </p:spPr>
        <p:txBody>
          <a:bodyPr wrap="square" lIns="45720" rIns="45720" tIns="27432" bIns="27432" anchor="ctr">
            <a:noAutofit/>
          </a:bodyPr>
          <a:lstStyle/>
          <a:p>
            <a:pPr algn="l">
              <a:lnSpc>
                <a:spcPct val="100000"/>
              </a:lnSpc>
            </a:pPr>
            <a:r>
              <a:rPr sz="1500" b="0" i="0">
                <a:solidFill>
                  <a:srgbClr val="F7F2E8"/>
                </a:solidFill>
                <a:latin typeface="Segoe UI Semibold"/>
              </a:rPr>
              <a:t>Librerías de frontend de terceros (PDF.js, Bootstrap, jQuery …)</a:t>
            </a:r>
          </a:p>
        </p:txBody>
      </p:sp>
      <p:sp>
        <p:nvSpPr>
          <p:cNvPr id="18" name="TextBox 17"/>
          <p:cNvSpPr txBox="1"/>
          <p:nvPr/>
        </p:nvSpPr>
        <p:spPr>
          <a:xfrm>
            <a:off x="6168999" y="3108960"/>
            <a:ext cx="2065263" cy="530352"/>
          </a:xfrm>
          <a:prstGeom prst="rect">
            <a:avLst/>
          </a:prstGeom>
          <a:noFill/>
        </p:spPr>
        <p:txBody>
          <a:bodyPr wrap="square" lIns="45720" rIns="45720" tIns="27432" bIns="27432" anchor="ctr">
            <a:noAutofit/>
          </a:bodyPr>
          <a:lstStyle/>
          <a:p>
            <a:pPr algn="r">
              <a:lnSpc>
                <a:spcPct val="100000"/>
              </a:lnSpc>
            </a:pPr>
            <a:r>
              <a:rPr sz="1500" b="0" i="0">
                <a:solidFill>
                  <a:srgbClr val="A7B2B0"/>
                </a:solidFill>
                <a:latin typeface="Segoe UI"/>
              </a:rPr>
              <a:t>142</a:t>
            </a:r>
          </a:p>
        </p:txBody>
      </p:sp>
      <p:sp>
        <p:nvSpPr>
          <p:cNvPr id="19" name="TextBox 18"/>
          <p:cNvSpPr txBox="1"/>
          <p:nvPr/>
        </p:nvSpPr>
        <p:spPr>
          <a:xfrm>
            <a:off x="8380567" y="3108960"/>
            <a:ext cx="3171047" cy="530352"/>
          </a:xfrm>
          <a:prstGeom prst="rect">
            <a:avLst/>
          </a:prstGeom>
          <a:noFill/>
        </p:spPr>
        <p:txBody>
          <a:bodyPr wrap="square" lIns="45720" rIns="45720" tIns="27432" bIns="27432" anchor="ctr">
            <a:noAutofit/>
          </a:bodyPr>
          <a:lstStyle/>
          <a:p>
            <a:pPr algn="r">
              <a:lnSpc>
                <a:spcPct val="100000"/>
              </a:lnSpc>
            </a:pPr>
            <a:r>
              <a:rPr sz="1500" b="0" i="0">
                <a:solidFill>
                  <a:srgbClr val="A7B2B0"/>
                </a:solidFill>
                <a:latin typeface="Segoe UI"/>
              </a:rPr>
              <a:t>112,364</a:t>
            </a:r>
          </a:p>
        </p:txBody>
      </p:sp>
      <p:sp>
        <p:nvSpPr>
          <p:cNvPr id="20" name="TextBox 19"/>
          <p:cNvSpPr txBox="1"/>
          <p:nvPr/>
        </p:nvSpPr>
        <p:spPr>
          <a:xfrm>
            <a:off x="640080" y="3712463"/>
            <a:ext cx="5382615" cy="301752"/>
          </a:xfrm>
          <a:prstGeom prst="rect">
            <a:avLst/>
          </a:prstGeom>
          <a:noFill/>
        </p:spPr>
        <p:txBody>
          <a:bodyPr wrap="square" lIns="45720" rIns="45720" tIns="27432" bIns="27432" anchor="ctr">
            <a:noAutofit/>
          </a:bodyPr>
          <a:lstStyle/>
          <a:p>
            <a:pPr algn="l">
              <a:lnSpc>
                <a:spcPct val="100000"/>
              </a:lnSpc>
            </a:pPr>
            <a:r>
              <a:rPr sz="1500" b="0" i="0">
                <a:solidFill>
                  <a:srgbClr val="F7F2E8"/>
                </a:solidFill>
                <a:latin typeface="Segoe UI Semibold"/>
              </a:rPr>
              <a:t>Todos los archivos de texto</a:t>
            </a:r>
          </a:p>
        </p:txBody>
      </p:sp>
      <p:sp>
        <p:nvSpPr>
          <p:cNvPr id="21" name="TextBox 20"/>
          <p:cNvSpPr txBox="1"/>
          <p:nvPr/>
        </p:nvSpPr>
        <p:spPr>
          <a:xfrm>
            <a:off x="6168999" y="3712463"/>
            <a:ext cx="2065263" cy="301752"/>
          </a:xfrm>
          <a:prstGeom prst="rect">
            <a:avLst/>
          </a:prstGeom>
          <a:noFill/>
        </p:spPr>
        <p:txBody>
          <a:bodyPr wrap="square" lIns="45720" rIns="45720" tIns="27432" bIns="27432" anchor="ctr">
            <a:noAutofit/>
          </a:bodyPr>
          <a:lstStyle/>
          <a:p>
            <a:pPr algn="r">
              <a:lnSpc>
                <a:spcPct val="100000"/>
              </a:lnSpc>
            </a:pPr>
            <a:r>
              <a:rPr sz="1500" b="0" i="0">
                <a:solidFill>
                  <a:srgbClr val="A7B2B0"/>
                </a:solidFill>
                <a:latin typeface="Segoe UI"/>
              </a:rPr>
              <a:t>1,886</a:t>
            </a:r>
          </a:p>
        </p:txBody>
      </p:sp>
      <p:sp>
        <p:nvSpPr>
          <p:cNvPr id="22" name="TextBox 21"/>
          <p:cNvSpPr txBox="1"/>
          <p:nvPr/>
        </p:nvSpPr>
        <p:spPr>
          <a:xfrm>
            <a:off x="8380567" y="3712463"/>
            <a:ext cx="3171047" cy="301752"/>
          </a:xfrm>
          <a:prstGeom prst="rect">
            <a:avLst/>
          </a:prstGeom>
          <a:noFill/>
        </p:spPr>
        <p:txBody>
          <a:bodyPr wrap="square" lIns="45720" rIns="45720" tIns="27432" bIns="27432" anchor="ctr">
            <a:noAutofit/>
          </a:bodyPr>
          <a:lstStyle/>
          <a:p>
            <a:pPr algn="r">
              <a:lnSpc>
                <a:spcPct val="100000"/>
              </a:lnSpc>
            </a:pPr>
            <a:r>
              <a:rPr sz="1500" b="0" i="0">
                <a:solidFill>
                  <a:srgbClr val="A7B2B0"/>
                </a:solidFill>
                <a:latin typeface="Segoe UI"/>
              </a:rPr>
              <a:t>544,489</a:t>
            </a:r>
          </a:p>
        </p:txBody>
      </p:sp>
      <p:cxnSp>
        <p:nvCxnSpPr>
          <p:cNvPr id="23" name="Connector 22"/>
          <p:cNvCxnSpPr/>
          <p:nvPr/>
        </p:nvCxnSpPr>
        <p:spPr>
          <a:xfrm>
            <a:off x="566928" y="6373368"/>
            <a:ext cx="11057839" cy="0"/>
          </a:xfrm>
          <a:prstGeom prst="line">
            <a:avLst/>
          </a:prstGeom>
          <a:ln w="7620">
            <a:solidFill>
              <a:srgbClr val="2A3A40"/>
            </a:solidFill>
          </a:ln>
        </p:spPr>
        <p:style>
          <a:lnRef idx="2">
            <a:schemeClr val="accent1"/>
          </a:lnRef>
          <a:fillRef idx="0">
            <a:schemeClr val="accent1"/>
          </a:fillRef>
          <a:effectRef idx="1">
            <a:schemeClr val="accent1"/>
          </a:effectRef>
          <a:fontRef idx="minor">
            <a:schemeClr val="tx1"/>
          </a:fontRef>
        </p:style>
      </p:cxnSp>
      <p:sp>
        <p:nvSpPr>
          <p:cNvPr id="24" name="TextBox 23"/>
          <p:cNvSpPr txBox="1"/>
          <p:nvPr/>
        </p:nvSpPr>
        <p:spPr>
          <a:xfrm>
            <a:off x="566928" y="6419088"/>
            <a:ext cx="6858000" cy="274320"/>
          </a:xfrm>
          <a:prstGeom prst="rect">
            <a:avLst/>
          </a:prstGeom>
          <a:noFill/>
        </p:spPr>
        <p:txBody>
          <a:bodyPr wrap="square" lIns="45720" rIns="45720" tIns="27432" bIns="27432" anchor="t">
            <a:noAutofit/>
          </a:bodyPr>
          <a:lstStyle/>
          <a:p>
            <a:pPr algn="l">
              <a:lnSpc>
                <a:spcPct val="100000"/>
              </a:lnSpc>
            </a:pPr>
            <a:r>
              <a:rPr sz="850" b="0" i="0" spc="120">
                <a:solidFill>
                  <a:srgbClr val="A7B2B0"/>
                </a:solidFill>
                <a:latin typeface="Segoe UI Semibold"/>
              </a:rPr>
              <a:t>TLAMATINI  ·  IX · DATOS DEL REPOSITORIO</a:t>
            </a:r>
          </a:p>
        </p:txBody>
      </p:sp>
      <p:sp>
        <p:nvSpPr>
          <p:cNvPr id="25" name="TextBox 24"/>
          <p:cNvSpPr txBox="1"/>
          <p:nvPr/>
        </p:nvSpPr>
        <p:spPr>
          <a:xfrm>
            <a:off x="8698687" y="6419088"/>
            <a:ext cx="2926080" cy="274320"/>
          </a:xfrm>
          <a:prstGeom prst="rect">
            <a:avLst/>
          </a:prstGeom>
          <a:noFill/>
        </p:spPr>
        <p:txBody>
          <a:bodyPr wrap="square" lIns="45720" rIns="45720" tIns="27432" bIns="27432" anchor="t">
            <a:noAutofit/>
          </a:bodyPr>
          <a:lstStyle/>
          <a:p>
            <a:pPr algn="r">
              <a:lnSpc>
                <a:spcPct val="100000"/>
              </a:lnSpc>
            </a:pPr>
            <a:r>
              <a:rPr sz="850" b="0" i="0" spc="100">
                <a:solidFill>
                  <a:srgbClr val="A7B2B0"/>
                </a:solidFill>
                <a:latin typeface="Segoe UI Semibold"/>
              </a:rPr>
              <a:t>v1.91.1   ·   168</a:t>
            </a:r>
          </a:p>
        </p:txBody>
      </p:sp>
    </p:spTree>
  </p:cSld>
  <p:clrMapOvr>
    <a:masterClrMapping/>
  </p:clrMapOvr>
</p:sld>
</file>

<file path=ppt/slides/slide1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content.png"/>
          <p:cNvPicPr>
            <a:picLocks noChangeAspect="1"/>
          </p:cNvPicPr>
          <p:nvPr/>
        </p:nvPicPr>
        <p:blipFill>
          <a:blip r:embed="rId2"/>
          <a:stretch>
            <a:fillRect/>
          </a:stretch>
        </p:blipFill>
        <p:spPr>
          <a:xfrm>
            <a:off x="0" y="0"/>
            <a:ext cx="12191695" cy="6858000"/>
          </a:xfrm>
          <a:prstGeom prst="rect">
            <a:avLst/>
          </a:prstGeom>
        </p:spPr>
      </p:pic>
      <p:sp>
        <p:nvSpPr>
          <p:cNvPr id="3" name="Diamond 2"/>
          <p:cNvSpPr/>
          <p:nvPr/>
        </p:nvSpPr>
        <p:spPr>
          <a:xfrm>
            <a:off x="566928" y="457200"/>
            <a:ext cx="100584" cy="100584"/>
          </a:xfrm>
          <a:prstGeom prst="diamond">
            <a:avLst/>
          </a:prstGeom>
          <a:solidFill>
            <a:srgbClr val="C984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49808" y="365760"/>
            <a:ext cx="8229600" cy="292608"/>
          </a:xfrm>
          <a:prstGeom prst="rect">
            <a:avLst/>
          </a:prstGeom>
          <a:noFill/>
        </p:spPr>
        <p:txBody>
          <a:bodyPr wrap="square" lIns="45720" rIns="45720" tIns="27432" bIns="27432" anchor="t">
            <a:noAutofit/>
          </a:bodyPr>
          <a:lstStyle/>
          <a:p>
            <a:pPr algn="l">
              <a:lnSpc>
                <a:spcPct val="100000"/>
              </a:lnSpc>
            </a:pPr>
            <a:r>
              <a:rPr sz="1100" b="0" i="0" spc="240">
                <a:solidFill>
                  <a:srgbClr val="C98457"/>
                </a:solidFill>
                <a:latin typeface="Segoe UI Semibold"/>
              </a:rPr>
              <a:t>ARCHIVOS MÁS GRANDES</a:t>
            </a:r>
          </a:p>
        </p:txBody>
      </p:sp>
      <p:sp>
        <p:nvSpPr>
          <p:cNvPr id="5" name="TextBox 4"/>
          <p:cNvSpPr txBox="1"/>
          <p:nvPr/>
        </p:nvSpPr>
        <p:spPr>
          <a:xfrm>
            <a:off x="539496" y="676656"/>
            <a:ext cx="11057839" cy="658368"/>
          </a:xfrm>
          <a:prstGeom prst="rect">
            <a:avLst/>
          </a:prstGeom>
          <a:noFill/>
        </p:spPr>
        <p:txBody>
          <a:bodyPr wrap="square" lIns="45720" rIns="45720" tIns="27432" bIns="27432" anchor="t">
            <a:noAutofit/>
          </a:bodyPr>
          <a:lstStyle/>
          <a:p>
            <a:pPr algn="l">
              <a:lnSpc>
                <a:spcPct val="100000"/>
              </a:lnSpc>
            </a:pPr>
            <a:r>
              <a:rPr sz="3100" b="0" i="0">
                <a:solidFill>
                  <a:srgbClr val="F7F2E8"/>
                </a:solidFill>
                <a:latin typeface="Palatino Linotype"/>
              </a:rPr>
              <a:t>Los archivos de source más grandes  (1/2)</a:t>
            </a:r>
          </a:p>
        </p:txBody>
      </p:sp>
      <p:sp>
        <p:nvSpPr>
          <p:cNvPr id="6" name="Rectangle 5"/>
          <p:cNvSpPr/>
          <p:nvPr/>
        </p:nvSpPr>
        <p:spPr>
          <a:xfrm>
            <a:off x="566928" y="1344168"/>
            <a:ext cx="822960" cy="36576"/>
          </a:xfrm>
          <a:prstGeom prst="rect">
            <a:avLst/>
          </a:prstGeom>
          <a:solidFill>
            <a:srgbClr val="C984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566928" y="1444752"/>
            <a:ext cx="10692079" cy="585216"/>
          </a:xfrm>
          <a:prstGeom prst="rect">
            <a:avLst/>
          </a:prstGeom>
          <a:noFill/>
        </p:spPr>
        <p:txBody>
          <a:bodyPr wrap="square" lIns="45720" rIns="45720" tIns="27432" bIns="27432" anchor="t">
            <a:noAutofit/>
          </a:bodyPr>
          <a:lstStyle/>
          <a:p>
            <a:pPr algn="l">
              <a:lnSpc>
                <a:spcPct val="100000"/>
              </a:lnSpc>
            </a:pPr>
            <a:r>
              <a:rPr sz="1450" b="0" i="0">
                <a:solidFill>
                  <a:srgbClr val="A7B2B0"/>
                </a:solidFill>
                <a:latin typeface="Segoe UI Semilight"/>
              </a:rPr>
              <a:t>Ordenados por líneas efectivas.</a:t>
            </a:r>
          </a:p>
        </p:txBody>
      </p:sp>
      <p:sp>
        <p:nvSpPr>
          <p:cNvPr id="8" name="Rounded Rectangle 7"/>
          <p:cNvSpPr/>
          <p:nvPr/>
        </p:nvSpPr>
        <p:spPr>
          <a:xfrm>
            <a:off x="566928" y="2084831"/>
            <a:ext cx="11057839" cy="4059935"/>
          </a:xfrm>
          <a:prstGeom prst="roundRect">
            <a:avLst>
              <a:gd name="adj" fmla="val 1801"/>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ounded Rectangle 8"/>
          <p:cNvSpPr/>
          <p:nvPr/>
        </p:nvSpPr>
        <p:spPr>
          <a:xfrm>
            <a:off x="566928" y="2084831"/>
            <a:ext cx="11057839" cy="384048"/>
          </a:xfrm>
          <a:prstGeom prst="roundRect">
            <a:avLst>
              <a:gd name="adj" fmla="val 19047"/>
            </a:avLst>
          </a:prstGeom>
          <a:solidFill>
            <a:srgbClr val="151F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640080" y="2121408"/>
            <a:ext cx="6930713" cy="310896"/>
          </a:xfrm>
          <a:prstGeom prst="rect">
            <a:avLst/>
          </a:prstGeom>
          <a:noFill/>
        </p:spPr>
        <p:txBody>
          <a:bodyPr wrap="square" lIns="45720" rIns="45720" tIns="27432" bIns="27432" anchor="ctr">
            <a:noAutofit/>
          </a:bodyPr>
          <a:lstStyle/>
          <a:p>
            <a:pPr algn="l">
              <a:lnSpc>
                <a:spcPct val="100000"/>
              </a:lnSpc>
            </a:pPr>
            <a:r>
              <a:rPr sz="1000" b="0" i="0" spc="120">
                <a:solidFill>
                  <a:srgbClr val="E2B462"/>
                </a:solidFill>
                <a:latin typeface="Segoe UI Semibold"/>
              </a:rPr>
              <a:t>ARCHIVO</a:t>
            </a:r>
          </a:p>
        </p:txBody>
      </p:sp>
      <p:sp>
        <p:nvSpPr>
          <p:cNvPr id="11" name="TextBox 10"/>
          <p:cNvSpPr txBox="1"/>
          <p:nvPr/>
        </p:nvSpPr>
        <p:spPr>
          <a:xfrm>
            <a:off x="7717097" y="2121408"/>
            <a:ext cx="1844107" cy="310896"/>
          </a:xfrm>
          <a:prstGeom prst="rect">
            <a:avLst/>
          </a:prstGeom>
          <a:noFill/>
        </p:spPr>
        <p:txBody>
          <a:bodyPr wrap="square" lIns="45720" rIns="45720" tIns="27432" bIns="27432" anchor="ctr">
            <a:noAutofit/>
          </a:bodyPr>
          <a:lstStyle/>
          <a:p>
            <a:pPr algn="l">
              <a:lnSpc>
                <a:spcPct val="100000"/>
              </a:lnSpc>
            </a:pPr>
            <a:r>
              <a:rPr sz="1000" b="0" i="0" spc="120">
                <a:solidFill>
                  <a:srgbClr val="E2B462"/>
                </a:solidFill>
                <a:latin typeface="Segoe UI Semibold"/>
              </a:rPr>
              <a:t>LENGUAJE</a:t>
            </a:r>
          </a:p>
        </p:txBody>
      </p:sp>
      <p:sp>
        <p:nvSpPr>
          <p:cNvPr id="12" name="TextBox 11"/>
          <p:cNvSpPr txBox="1"/>
          <p:nvPr/>
        </p:nvSpPr>
        <p:spPr>
          <a:xfrm>
            <a:off x="9707508" y="2121408"/>
            <a:ext cx="1844107" cy="310896"/>
          </a:xfrm>
          <a:prstGeom prst="rect">
            <a:avLst/>
          </a:prstGeom>
          <a:noFill/>
        </p:spPr>
        <p:txBody>
          <a:bodyPr wrap="square" lIns="45720" rIns="45720" tIns="27432" bIns="27432" anchor="ctr">
            <a:noAutofit/>
          </a:bodyPr>
          <a:lstStyle/>
          <a:p>
            <a:pPr algn="r">
              <a:lnSpc>
                <a:spcPct val="100000"/>
              </a:lnSpc>
            </a:pPr>
            <a:r>
              <a:rPr sz="1000" b="0" i="0" spc="120">
                <a:solidFill>
                  <a:srgbClr val="E2B462"/>
                </a:solidFill>
                <a:latin typeface="Segoe UI Semibold"/>
              </a:rPr>
              <a:t>EFECTIVAS</a:t>
            </a:r>
          </a:p>
        </p:txBody>
      </p:sp>
      <p:sp>
        <p:nvSpPr>
          <p:cNvPr id="13" name="TextBox 12"/>
          <p:cNvSpPr txBox="1"/>
          <p:nvPr/>
        </p:nvSpPr>
        <p:spPr>
          <a:xfrm>
            <a:off x="640080" y="2505456"/>
            <a:ext cx="6930713" cy="233171"/>
          </a:xfrm>
          <a:prstGeom prst="rect">
            <a:avLst/>
          </a:prstGeom>
          <a:noFill/>
        </p:spPr>
        <p:txBody>
          <a:bodyPr wrap="square" lIns="45720" rIns="45720" tIns="27432" bIns="27432" anchor="ctr">
            <a:noAutofit/>
          </a:bodyPr>
          <a:lstStyle/>
          <a:p>
            <a:pPr algn="l">
              <a:lnSpc>
                <a:spcPct val="100000"/>
              </a:lnSpc>
            </a:pPr>
            <a:r>
              <a:rPr sz="1050" b="0" i="0">
                <a:solidFill>
                  <a:srgbClr val="F7F2E8"/>
                </a:solidFill>
                <a:latin typeface="Segoe UI Semibold"/>
              </a:rPr>
              <a:t>l10n/memoria/Tlamatini/agent/doc_generation/dossier_content.py.json</a:t>
            </a:r>
          </a:p>
        </p:txBody>
      </p:sp>
      <p:sp>
        <p:nvSpPr>
          <p:cNvPr id="14" name="TextBox 13"/>
          <p:cNvSpPr txBox="1"/>
          <p:nvPr/>
        </p:nvSpPr>
        <p:spPr>
          <a:xfrm>
            <a:off x="7717097" y="2505456"/>
            <a:ext cx="1844107" cy="233171"/>
          </a:xfrm>
          <a:prstGeom prst="rect">
            <a:avLst/>
          </a:prstGeom>
          <a:noFill/>
        </p:spPr>
        <p:txBody>
          <a:bodyPr wrap="square" lIns="45720" rIns="45720" tIns="27432" bIns="27432" anchor="ctr">
            <a:noAutofit/>
          </a:bodyPr>
          <a:lstStyle/>
          <a:p>
            <a:pPr algn="l">
              <a:lnSpc>
                <a:spcPct val="100000"/>
              </a:lnSpc>
            </a:pPr>
            <a:r>
              <a:rPr sz="1050" b="0" i="0">
                <a:solidFill>
                  <a:srgbClr val="A7B2B0"/>
                </a:solidFill>
                <a:latin typeface="Segoe UI"/>
              </a:rPr>
              <a:t>JSON</a:t>
            </a:r>
          </a:p>
        </p:txBody>
      </p:sp>
      <p:sp>
        <p:nvSpPr>
          <p:cNvPr id="15" name="TextBox 14"/>
          <p:cNvSpPr txBox="1"/>
          <p:nvPr/>
        </p:nvSpPr>
        <p:spPr>
          <a:xfrm>
            <a:off x="9707508" y="2505456"/>
            <a:ext cx="1844107" cy="233171"/>
          </a:xfrm>
          <a:prstGeom prst="rect">
            <a:avLst/>
          </a:prstGeom>
          <a:noFill/>
        </p:spPr>
        <p:txBody>
          <a:bodyPr wrap="square" lIns="45720" rIns="45720" tIns="27432" bIns="27432" anchor="ctr">
            <a:noAutofit/>
          </a:bodyPr>
          <a:lstStyle/>
          <a:p>
            <a:pPr algn="r">
              <a:lnSpc>
                <a:spcPct val="100000"/>
              </a:lnSpc>
            </a:pPr>
            <a:r>
              <a:rPr sz="1050" b="0" i="0">
                <a:solidFill>
                  <a:srgbClr val="A7B2B0"/>
                </a:solidFill>
                <a:latin typeface="Segoe UI"/>
              </a:rPr>
              <a:t>12,561</a:t>
            </a:r>
          </a:p>
        </p:txBody>
      </p:sp>
      <p:sp>
        <p:nvSpPr>
          <p:cNvPr id="16" name="Rectangle 15"/>
          <p:cNvSpPr/>
          <p:nvPr/>
        </p:nvSpPr>
        <p:spPr>
          <a:xfrm>
            <a:off x="585216" y="2775203"/>
            <a:ext cx="11021263" cy="306323"/>
          </a:xfrm>
          <a:prstGeom prst="rect">
            <a:avLst/>
          </a:prstGeom>
          <a:solidFill>
            <a:srgbClr val="1824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640080" y="2811779"/>
            <a:ext cx="6930713" cy="233171"/>
          </a:xfrm>
          <a:prstGeom prst="rect">
            <a:avLst/>
          </a:prstGeom>
          <a:noFill/>
        </p:spPr>
        <p:txBody>
          <a:bodyPr wrap="square" lIns="45720" rIns="45720" tIns="27432" bIns="27432" anchor="ctr">
            <a:noAutofit/>
          </a:bodyPr>
          <a:lstStyle/>
          <a:p>
            <a:pPr algn="l">
              <a:lnSpc>
                <a:spcPct val="100000"/>
              </a:lnSpc>
            </a:pPr>
            <a:r>
              <a:rPr sz="1050" b="0" i="0">
                <a:solidFill>
                  <a:srgbClr val="F7F2E8"/>
                </a:solidFill>
                <a:latin typeface="Segoe UI Semibold"/>
              </a:rPr>
              <a:t>Tlamatini/agent/views.py</a:t>
            </a:r>
          </a:p>
        </p:txBody>
      </p:sp>
      <p:sp>
        <p:nvSpPr>
          <p:cNvPr id="18" name="TextBox 17"/>
          <p:cNvSpPr txBox="1"/>
          <p:nvPr/>
        </p:nvSpPr>
        <p:spPr>
          <a:xfrm>
            <a:off x="7717097" y="2811779"/>
            <a:ext cx="1844107" cy="233171"/>
          </a:xfrm>
          <a:prstGeom prst="rect">
            <a:avLst/>
          </a:prstGeom>
          <a:noFill/>
        </p:spPr>
        <p:txBody>
          <a:bodyPr wrap="square" lIns="45720" rIns="45720" tIns="27432" bIns="27432" anchor="ctr">
            <a:noAutofit/>
          </a:bodyPr>
          <a:lstStyle/>
          <a:p>
            <a:pPr algn="l">
              <a:lnSpc>
                <a:spcPct val="100000"/>
              </a:lnSpc>
            </a:pPr>
            <a:r>
              <a:rPr sz="1050" b="0" i="0">
                <a:solidFill>
                  <a:srgbClr val="A7B2B0"/>
                </a:solidFill>
                <a:latin typeface="Segoe UI"/>
              </a:rPr>
              <a:t>Python</a:t>
            </a:r>
          </a:p>
        </p:txBody>
      </p:sp>
      <p:sp>
        <p:nvSpPr>
          <p:cNvPr id="19" name="TextBox 18"/>
          <p:cNvSpPr txBox="1"/>
          <p:nvPr/>
        </p:nvSpPr>
        <p:spPr>
          <a:xfrm>
            <a:off x="9707508" y="2811779"/>
            <a:ext cx="1844107" cy="233171"/>
          </a:xfrm>
          <a:prstGeom prst="rect">
            <a:avLst/>
          </a:prstGeom>
          <a:noFill/>
        </p:spPr>
        <p:txBody>
          <a:bodyPr wrap="square" lIns="45720" rIns="45720" tIns="27432" bIns="27432" anchor="ctr">
            <a:noAutofit/>
          </a:bodyPr>
          <a:lstStyle/>
          <a:p>
            <a:pPr algn="r">
              <a:lnSpc>
                <a:spcPct val="100000"/>
              </a:lnSpc>
            </a:pPr>
            <a:r>
              <a:rPr sz="1050" b="0" i="0">
                <a:solidFill>
                  <a:srgbClr val="A7B2B0"/>
                </a:solidFill>
                <a:latin typeface="Segoe UI"/>
              </a:rPr>
              <a:t>8,645</a:t>
            </a:r>
          </a:p>
        </p:txBody>
      </p:sp>
      <p:sp>
        <p:nvSpPr>
          <p:cNvPr id="20" name="TextBox 19"/>
          <p:cNvSpPr txBox="1"/>
          <p:nvPr/>
        </p:nvSpPr>
        <p:spPr>
          <a:xfrm>
            <a:off x="640080" y="3118103"/>
            <a:ext cx="6930713" cy="233171"/>
          </a:xfrm>
          <a:prstGeom prst="rect">
            <a:avLst/>
          </a:prstGeom>
          <a:noFill/>
        </p:spPr>
        <p:txBody>
          <a:bodyPr wrap="square" lIns="45720" rIns="45720" tIns="27432" bIns="27432" anchor="ctr">
            <a:noAutofit/>
          </a:bodyPr>
          <a:lstStyle/>
          <a:p>
            <a:pPr algn="l">
              <a:lnSpc>
                <a:spcPct val="100000"/>
              </a:lnSpc>
            </a:pPr>
            <a:r>
              <a:rPr sz="1050" b="0" i="0">
                <a:solidFill>
                  <a:srgbClr val="F7F2E8"/>
                </a:solidFill>
                <a:latin typeface="Segoe UI Semibold"/>
              </a:rPr>
              <a:t>Tlamatini/agent/tests.py</a:t>
            </a:r>
          </a:p>
        </p:txBody>
      </p:sp>
      <p:sp>
        <p:nvSpPr>
          <p:cNvPr id="21" name="TextBox 20"/>
          <p:cNvSpPr txBox="1"/>
          <p:nvPr/>
        </p:nvSpPr>
        <p:spPr>
          <a:xfrm>
            <a:off x="7717097" y="3118103"/>
            <a:ext cx="1844107" cy="233171"/>
          </a:xfrm>
          <a:prstGeom prst="rect">
            <a:avLst/>
          </a:prstGeom>
          <a:noFill/>
        </p:spPr>
        <p:txBody>
          <a:bodyPr wrap="square" lIns="45720" rIns="45720" tIns="27432" bIns="27432" anchor="ctr">
            <a:noAutofit/>
          </a:bodyPr>
          <a:lstStyle/>
          <a:p>
            <a:pPr algn="l">
              <a:lnSpc>
                <a:spcPct val="100000"/>
              </a:lnSpc>
            </a:pPr>
            <a:r>
              <a:rPr sz="1050" b="0" i="0">
                <a:solidFill>
                  <a:srgbClr val="A7B2B0"/>
                </a:solidFill>
                <a:latin typeface="Segoe UI"/>
              </a:rPr>
              <a:t>Python</a:t>
            </a:r>
          </a:p>
        </p:txBody>
      </p:sp>
      <p:sp>
        <p:nvSpPr>
          <p:cNvPr id="22" name="TextBox 21"/>
          <p:cNvSpPr txBox="1"/>
          <p:nvPr/>
        </p:nvSpPr>
        <p:spPr>
          <a:xfrm>
            <a:off x="9707508" y="3118103"/>
            <a:ext cx="1844107" cy="233171"/>
          </a:xfrm>
          <a:prstGeom prst="rect">
            <a:avLst/>
          </a:prstGeom>
          <a:noFill/>
        </p:spPr>
        <p:txBody>
          <a:bodyPr wrap="square" lIns="45720" rIns="45720" tIns="27432" bIns="27432" anchor="ctr">
            <a:noAutofit/>
          </a:bodyPr>
          <a:lstStyle/>
          <a:p>
            <a:pPr algn="r">
              <a:lnSpc>
                <a:spcPct val="100000"/>
              </a:lnSpc>
            </a:pPr>
            <a:r>
              <a:rPr sz="1050" b="0" i="0">
                <a:solidFill>
                  <a:srgbClr val="A7B2B0"/>
                </a:solidFill>
                <a:latin typeface="Segoe UI"/>
              </a:rPr>
              <a:t>5,964</a:t>
            </a:r>
          </a:p>
        </p:txBody>
      </p:sp>
      <p:sp>
        <p:nvSpPr>
          <p:cNvPr id="23" name="Rectangle 22"/>
          <p:cNvSpPr/>
          <p:nvPr/>
        </p:nvSpPr>
        <p:spPr>
          <a:xfrm>
            <a:off x="585216" y="3387851"/>
            <a:ext cx="11021263" cy="306323"/>
          </a:xfrm>
          <a:prstGeom prst="rect">
            <a:avLst/>
          </a:prstGeom>
          <a:solidFill>
            <a:srgbClr val="1824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640080" y="3424427"/>
            <a:ext cx="6930713" cy="233171"/>
          </a:xfrm>
          <a:prstGeom prst="rect">
            <a:avLst/>
          </a:prstGeom>
          <a:noFill/>
        </p:spPr>
        <p:txBody>
          <a:bodyPr wrap="square" lIns="45720" rIns="45720" tIns="27432" bIns="27432" anchor="ctr">
            <a:noAutofit/>
          </a:bodyPr>
          <a:lstStyle/>
          <a:p>
            <a:pPr algn="l">
              <a:lnSpc>
                <a:spcPct val="100000"/>
              </a:lnSpc>
            </a:pPr>
            <a:r>
              <a:rPr sz="1050" b="0" i="0">
                <a:solidFill>
                  <a:srgbClr val="F7F2E8"/>
                </a:solidFill>
                <a:latin typeface="Segoe UI Semibold"/>
              </a:rPr>
              <a:t>Tlamatini/agent/agents/flowcreator/flow_catalog.json</a:t>
            </a:r>
          </a:p>
        </p:txBody>
      </p:sp>
      <p:sp>
        <p:nvSpPr>
          <p:cNvPr id="25" name="TextBox 24"/>
          <p:cNvSpPr txBox="1"/>
          <p:nvPr/>
        </p:nvSpPr>
        <p:spPr>
          <a:xfrm>
            <a:off x="7717097" y="3424427"/>
            <a:ext cx="1844107" cy="233171"/>
          </a:xfrm>
          <a:prstGeom prst="rect">
            <a:avLst/>
          </a:prstGeom>
          <a:noFill/>
        </p:spPr>
        <p:txBody>
          <a:bodyPr wrap="square" lIns="45720" rIns="45720" tIns="27432" bIns="27432" anchor="ctr">
            <a:noAutofit/>
          </a:bodyPr>
          <a:lstStyle/>
          <a:p>
            <a:pPr algn="l">
              <a:lnSpc>
                <a:spcPct val="100000"/>
              </a:lnSpc>
            </a:pPr>
            <a:r>
              <a:rPr sz="1050" b="0" i="0">
                <a:solidFill>
                  <a:srgbClr val="A7B2B0"/>
                </a:solidFill>
                <a:latin typeface="Segoe UI"/>
              </a:rPr>
              <a:t>JSON</a:t>
            </a:r>
          </a:p>
        </p:txBody>
      </p:sp>
      <p:sp>
        <p:nvSpPr>
          <p:cNvPr id="26" name="TextBox 25"/>
          <p:cNvSpPr txBox="1"/>
          <p:nvPr/>
        </p:nvSpPr>
        <p:spPr>
          <a:xfrm>
            <a:off x="9707508" y="3424427"/>
            <a:ext cx="1844107" cy="233171"/>
          </a:xfrm>
          <a:prstGeom prst="rect">
            <a:avLst/>
          </a:prstGeom>
          <a:noFill/>
        </p:spPr>
        <p:txBody>
          <a:bodyPr wrap="square" lIns="45720" rIns="45720" tIns="27432" bIns="27432" anchor="ctr">
            <a:noAutofit/>
          </a:bodyPr>
          <a:lstStyle/>
          <a:p>
            <a:pPr algn="r">
              <a:lnSpc>
                <a:spcPct val="100000"/>
              </a:lnSpc>
            </a:pPr>
            <a:r>
              <a:rPr sz="1050" b="0" i="0">
                <a:solidFill>
                  <a:srgbClr val="A7B2B0"/>
                </a:solidFill>
                <a:latin typeface="Segoe UI"/>
              </a:rPr>
              <a:t>4,972</a:t>
            </a:r>
          </a:p>
        </p:txBody>
      </p:sp>
      <p:sp>
        <p:nvSpPr>
          <p:cNvPr id="27" name="TextBox 26"/>
          <p:cNvSpPr txBox="1"/>
          <p:nvPr/>
        </p:nvSpPr>
        <p:spPr>
          <a:xfrm>
            <a:off x="640080" y="3730751"/>
            <a:ext cx="6930713" cy="233171"/>
          </a:xfrm>
          <a:prstGeom prst="rect">
            <a:avLst/>
          </a:prstGeom>
          <a:noFill/>
        </p:spPr>
        <p:txBody>
          <a:bodyPr wrap="square" lIns="45720" rIns="45720" tIns="27432" bIns="27432" anchor="ctr">
            <a:noAutofit/>
          </a:bodyPr>
          <a:lstStyle/>
          <a:p>
            <a:pPr algn="l">
              <a:lnSpc>
                <a:spcPct val="100000"/>
              </a:lnSpc>
            </a:pPr>
            <a:r>
              <a:rPr sz="1050" b="0" i="0">
                <a:solidFill>
                  <a:srgbClr val="F7F2E8"/>
                </a:solidFill>
                <a:latin typeface="Segoe UI Semibold"/>
              </a:rPr>
              <a:t>docs/claude/recent-fixes.md</a:t>
            </a:r>
          </a:p>
        </p:txBody>
      </p:sp>
      <p:sp>
        <p:nvSpPr>
          <p:cNvPr id="28" name="TextBox 27"/>
          <p:cNvSpPr txBox="1"/>
          <p:nvPr/>
        </p:nvSpPr>
        <p:spPr>
          <a:xfrm>
            <a:off x="7717097" y="3730751"/>
            <a:ext cx="1844107" cy="233171"/>
          </a:xfrm>
          <a:prstGeom prst="rect">
            <a:avLst/>
          </a:prstGeom>
          <a:noFill/>
        </p:spPr>
        <p:txBody>
          <a:bodyPr wrap="square" lIns="45720" rIns="45720" tIns="27432" bIns="27432" anchor="ctr">
            <a:noAutofit/>
          </a:bodyPr>
          <a:lstStyle/>
          <a:p>
            <a:pPr algn="l">
              <a:lnSpc>
                <a:spcPct val="100000"/>
              </a:lnSpc>
            </a:pPr>
            <a:r>
              <a:rPr sz="1050" b="0" i="0">
                <a:solidFill>
                  <a:srgbClr val="A7B2B0"/>
                </a:solidFill>
                <a:latin typeface="Segoe UI"/>
              </a:rPr>
              <a:t>Markdown</a:t>
            </a:r>
          </a:p>
        </p:txBody>
      </p:sp>
      <p:sp>
        <p:nvSpPr>
          <p:cNvPr id="29" name="TextBox 28"/>
          <p:cNvSpPr txBox="1"/>
          <p:nvPr/>
        </p:nvSpPr>
        <p:spPr>
          <a:xfrm>
            <a:off x="9707508" y="3730751"/>
            <a:ext cx="1844107" cy="233171"/>
          </a:xfrm>
          <a:prstGeom prst="rect">
            <a:avLst/>
          </a:prstGeom>
          <a:noFill/>
        </p:spPr>
        <p:txBody>
          <a:bodyPr wrap="square" lIns="45720" rIns="45720" tIns="27432" bIns="27432" anchor="ctr">
            <a:noAutofit/>
          </a:bodyPr>
          <a:lstStyle/>
          <a:p>
            <a:pPr algn="r">
              <a:lnSpc>
                <a:spcPct val="100000"/>
              </a:lnSpc>
            </a:pPr>
            <a:r>
              <a:rPr sz="1050" b="0" i="0">
                <a:solidFill>
                  <a:srgbClr val="A7B2B0"/>
                </a:solidFill>
                <a:latin typeface="Segoe UI"/>
              </a:rPr>
              <a:t>4,449</a:t>
            </a:r>
          </a:p>
        </p:txBody>
      </p:sp>
      <p:sp>
        <p:nvSpPr>
          <p:cNvPr id="30" name="Rectangle 29"/>
          <p:cNvSpPr/>
          <p:nvPr/>
        </p:nvSpPr>
        <p:spPr>
          <a:xfrm>
            <a:off x="585216" y="4000499"/>
            <a:ext cx="11021263" cy="306323"/>
          </a:xfrm>
          <a:prstGeom prst="rect">
            <a:avLst/>
          </a:prstGeom>
          <a:solidFill>
            <a:srgbClr val="1824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TextBox 30"/>
          <p:cNvSpPr txBox="1"/>
          <p:nvPr/>
        </p:nvSpPr>
        <p:spPr>
          <a:xfrm>
            <a:off x="640080" y="4037075"/>
            <a:ext cx="6930713" cy="233171"/>
          </a:xfrm>
          <a:prstGeom prst="rect">
            <a:avLst/>
          </a:prstGeom>
          <a:noFill/>
        </p:spPr>
        <p:txBody>
          <a:bodyPr wrap="square" lIns="45720" rIns="45720" tIns="27432" bIns="27432" anchor="ctr">
            <a:noAutofit/>
          </a:bodyPr>
          <a:lstStyle/>
          <a:p>
            <a:pPr algn="l">
              <a:lnSpc>
                <a:spcPct val="100000"/>
              </a:lnSpc>
            </a:pPr>
            <a:r>
              <a:rPr sz="1050" b="0" i="0">
                <a:solidFill>
                  <a:srgbClr val="F7F2E8"/>
                </a:solidFill>
                <a:latin typeface="Segoe UI Semibold"/>
              </a:rPr>
              <a:t>Tlamatini/agent/agents/latexer/latexer.py</a:t>
            </a:r>
          </a:p>
        </p:txBody>
      </p:sp>
      <p:sp>
        <p:nvSpPr>
          <p:cNvPr id="32" name="TextBox 31"/>
          <p:cNvSpPr txBox="1"/>
          <p:nvPr/>
        </p:nvSpPr>
        <p:spPr>
          <a:xfrm>
            <a:off x="7717097" y="4037075"/>
            <a:ext cx="1844107" cy="233171"/>
          </a:xfrm>
          <a:prstGeom prst="rect">
            <a:avLst/>
          </a:prstGeom>
          <a:noFill/>
        </p:spPr>
        <p:txBody>
          <a:bodyPr wrap="square" lIns="45720" rIns="45720" tIns="27432" bIns="27432" anchor="ctr">
            <a:noAutofit/>
          </a:bodyPr>
          <a:lstStyle/>
          <a:p>
            <a:pPr algn="l">
              <a:lnSpc>
                <a:spcPct val="100000"/>
              </a:lnSpc>
            </a:pPr>
            <a:r>
              <a:rPr sz="1050" b="0" i="0">
                <a:solidFill>
                  <a:srgbClr val="A7B2B0"/>
                </a:solidFill>
                <a:latin typeface="Segoe UI"/>
              </a:rPr>
              <a:t>Python</a:t>
            </a:r>
          </a:p>
        </p:txBody>
      </p:sp>
      <p:sp>
        <p:nvSpPr>
          <p:cNvPr id="33" name="TextBox 32"/>
          <p:cNvSpPr txBox="1"/>
          <p:nvPr/>
        </p:nvSpPr>
        <p:spPr>
          <a:xfrm>
            <a:off x="9707508" y="4037075"/>
            <a:ext cx="1844107" cy="233171"/>
          </a:xfrm>
          <a:prstGeom prst="rect">
            <a:avLst/>
          </a:prstGeom>
          <a:noFill/>
        </p:spPr>
        <p:txBody>
          <a:bodyPr wrap="square" lIns="45720" rIns="45720" tIns="27432" bIns="27432" anchor="ctr">
            <a:noAutofit/>
          </a:bodyPr>
          <a:lstStyle/>
          <a:p>
            <a:pPr algn="r">
              <a:lnSpc>
                <a:spcPct val="100000"/>
              </a:lnSpc>
            </a:pPr>
            <a:r>
              <a:rPr sz="1050" b="0" i="0">
                <a:solidFill>
                  <a:srgbClr val="A7B2B0"/>
                </a:solidFill>
                <a:latin typeface="Segoe UI"/>
              </a:rPr>
              <a:t>3,763</a:t>
            </a:r>
          </a:p>
        </p:txBody>
      </p:sp>
      <p:sp>
        <p:nvSpPr>
          <p:cNvPr id="34" name="TextBox 33"/>
          <p:cNvSpPr txBox="1"/>
          <p:nvPr/>
        </p:nvSpPr>
        <p:spPr>
          <a:xfrm>
            <a:off x="640080" y="4343399"/>
            <a:ext cx="6930713" cy="233171"/>
          </a:xfrm>
          <a:prstGeom prst="rect">
            <a:avLst/>
          </a:prstGeom>
          <a:noFill/>
        </p:spPr>
        <p:txBody>
          <a:bodyPr wrap="square" lIns="45720" rIns="45720" tIns="27432" bIns="27432" anchor="ctr">
            <a:noAutofit/>
          </a:bodyPr>
          <a:lstStyle/>
          <a:p>
            <a:pPr algn="l">
              <a:lnSpc>
                <a:spcPct val="100000"/>
              </a:lnSpc>
            </a:pPr>
            <a:r>
              <a:rPr sz="1050" b="0" i="0">
                <a:solidFill>
                  <a:srgbClr val="F7F2E8"/>
                </a:solidFill>
                <a:latin typeface="Segoe UI Semibold"/>
              </a:rPr>
              <a:t>Tlamatini/agent/tools.py</a:t>
            </a:r>
          </a:p>
        </p:txBody>
      </p:sp>
      <p:sp>
        <p:nvSpPr>
          <p:cNvPr id="35" name="TextBox 34"/>
          <p:cNvSpPr txBox="1"/>
          <p:nvPr/>
        </p:nvSpPr>
        <p:spPr>
          <a:xfrm>
            <a:off x="7717097" y="4343399"/>
            <a:ext cx="1844107" cy="233171"/>
          </a:xfrm>
          <a:prstGeom prst="rect">
            <a:avLst/>
          </a:prstGeom>
          <a:noFill/>
        </p:spPr>
        <p:txBody>
          <a:bodyPr wrap="square" lIns="45720" rIns="45720" tIns="27432" bIns="27432" anchor="ctr">
            <a:noAutofit/>
          </a:bodyPr>
          <a:lstStyle/>
          <a:p>
            <a:pPr algn="l">
              <a:lnSpc>
                <a:spcPct val="100000"/>
              </a:lnSpc>
            </a:pPr>
            <a:r>
              <a:rPr sz="1050" b="0" i="0">
                <a:solidFill>
                  <a:srgbClr val="A7B2B0"/>
                </a:solidFill>
                <a:latin typeface="Segoe UI"/>
              </a:rPr>
              <a:t>Python</a:t>
            </a:r>
          </a:p>
        </p:txBody>
      </p:sp>
      <p:sp>
        <p:nvSpPr>
          <p:cNvPr id="36" name="TextBox 35"/>
          <p:cNvSpPr txBox="1"/>
          <p:nvPr/>
        </p:nvSpPr>
        <p:spPr>
          <a:xfrm>
            <a:off x="9707508" y="4343399"/>
            <a:ext cx="1844107" cy="233171"/>
          </a:xfrm>
          <a:prstGeom prst="rect">
            <a:avLst/>
          </a:prstGeom>
          <a:noFill/>
        </p:spPr>
        <p:txBody>
          <a:bodyPr wrap="square" lIns="45720" rIns="45720" tIns="27432" bIns="27432" anchor="ctr">
            <a:noAutofit/>
          </a:bodyPr>
          <a:lstStyle/>
          <a:p>
            <a:pPr algn="r">
              <a:lnSpc>
                <a:spcPct val="100000"/>
              </a:lnSpc>
            </a:pPr>
            <a:r>
              <a:rPr sz="1050" b="0" i="0">
                <a:solidFill>
                  <a:srgbClr val="A7B2B0"/>
                </a:solidFill>
                <a:latin typeface="Segoe UI"/>
              </a:rPr>
              <a:t>3,479</a:t>
            </a:r>
          </a:p>
        </p:txBody>
      </p:sp>
      <p:sp>
        <p:nvSpPr>
          <p:cNvPr id="37" name="Rectangle 36"/>
          <p:cNvSpPr/>
          <p:nvPr/>
        </p:nvSpPr>
        <p:spPr>
          <a:xfrm>
            <a:off x="585216" y="4613147"/>
            <a:ext cx="11021263" cy="306323"/>
          </a:xfrm>
          <a:prstGeom prst="rect">
            <a:avLst/>
          </a:prstGeom>
          <a:solidFill>
            <a:srgbClr val="1824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8" name="TextBox 37"/>
          <p:cNvSpPr txBox="1"/>
          <p:nvPr/>
        </p:nvSpPr>
        <p:spPr>
          <a:xfrm>
            <a:off x="640080" y="4649723"/>
            <a:ext cx="6930713" cy="233171"/>
          </a:xfrm>
          <a:prstGeom prst="rect">
            <a:avLst/>
          </a:prstGeom>
          <a:noFill/>
        </p:spPr>
        <p:txBody>
          <a:bodyPr wrap="square" lIns="45720" rIns="45720" tIns="27432" bIns="27432" anchor="ctr">
            <a:noAutofit/>
          </a:bodyPr>
          <a:lstStyle/>
          <a:p>
            <a:pPr algn="l">
              <a:lnSpc>
                <a:spcPct val="100000"/>
              </a:lnSpc>
            </a:pPr>
            <a:r>
              <a:rPr sz="1050" b="0" i="0">
                <a:solidFill>
                  <a:srgbClr val="F7F2E8"/>
                </a:solidFill>
                <a:latin typeface="Segoe UI Semibold"/>
              </a:rPr>
              <a:t>BookOfTlamatini.md</a:t>
            </a:r>
          </a:p>
        </p:txBody>
      </p:sp>
      <p:sp>
        <p:nvSpPr>
          <p:cNvPr id="39" name="TextBox 38"/>
          <p:cNvSpPr txBox="1"/>
          <p:nvPr/>
        </p:nvSpPr>
        <p:spPr>
          <a:xfrm>
            <a:off x="7717097" y="4649723"/>
            <a:ext cx="1844107" cy="233171"/>
          </a:xfrm>
          <a:prstGeom prst="rect">
            <a:avLst/>
          </a:prstGeom>
          <a:noFill/>
        </p:spPr>
        <p:txBody>
          <a:bodyPr wrap="square" lIns="45720" rIns="45720" tIns="27432" bIns="27432" anchor="ctr">
            <a:noAutofit/>
          </a:bodyPr>
          <a:lstStyle/>
          <a:p>
            <a:pPr algn="l">
              <a:lnSpc>
                <a:spcPct val="100000"/>
              </a:lnSpc>
            </a:pPr>
            <a:r>
              <a:rPr sz="1050" b="0" i="0">
                <a:solidFill>
                  <a:srgbClr val="A7B2B0"/>
                </a:solidFill>
                <a:latin typeface="Segoe UI"/>
              </a:rPr>
              <a:t>Markdown</a:t>
            </a:r>
          </a:p>
        </p:txBody>
      </p:sp>
      <p:sp>
        <p:nvSpPr>
          <p:cNvPr id="40" name="TextBox 39"/>
          <p:cNvSpPr txBox="1"/>
          <p:nvPr/>
        </p:nvSpPr>
        <p:spPr>
          <a:xfrm>
            <a:off x="9707508" y="4649723"/>
            <a:ext cx="1844107" cy="233171"/>
          </a:xfrm>
          <a:prstGeom prst="rect">
            <a:avLst/>
          </a:prstGeom>
          <a:noFill/>
        </p:spPr>
        <p:txBody>
          <a:bodyPr wrap="square" lIns="45720" rIns="45720" tIns="27432" bIns="27432" anchor="ctr">
            <a:noAutofit/>
          </a:bodyPr>
          <a:lstStyle/>
          <a:p>
            <a:pPr algn="r">
              <a:lnSpc>
                <a:spcPct val="100000"/>
              </a:lnSpc>
            </a:pPr>
            <a:r>
              <a:rPr sz="1050" b="0" i="0">
                <a:solidFill>
                  <a:srgbClr val="A7B2B0"/>
                </a:solidFill>
                <a:latin typeface="Segoe UI"/>
              </a:rPr>
              <a:t>3,259</a:t>
            </a:r>
          </a:p>
        </p:txBody>
      </p:sp>
      <p:sp>
        <p:nvSpPr>
          <p:cNvPr id="41" name="TextBox 40"/>
          <p:cNvSpPr txBox="1"/>
          <p:nvPr/>
        </p:nvSpPr>
        <p:spPr>
          <a:xfrm>
            <a:off x="640080" y="4956047"/>
            <a:ext cx="6930713" cy="233171"/>
          </a:xfrm>
          <a:prstGeom prst="rect">
            <a:avLst/>
          </a:prstGeom>
          <a:noFill/>
        </p:spPr>
        <p:txBody>
          <a:bodyPr wrap="square" lIns="45720" rIns="45720" tIns="27432" bIns="27432" anchor="ctr">
            <a:noAutofit/>
          </a:bodyPr>
          <a:lstStyle/>
          <a:p>
            <a:pPr algn="l">
              <a:lnSpc>
                <a:spcPct val="100000"/>
              </a:lnSpc>
            </a:pPr>
            <a:r>
              <a:rPr sz="1050" b="0" i="0">
                <a:solidFill>
                  <a:srgbClr val="F7F2E8"/>
                </a:solidFill>
                <a:latin typeface="Segoe UI Semibold"/>
              </a:rPr>
              <a:t>Tlamatini/agent/mcp_agent.py</a:t>
            </a:r>
          </a:p>
        </p:txBody>
      </p:sp>
      <p:sp>
        <p:nvSpPr>
          <p:cNvPr id="42" name="TextBox 41"/>
          <p:cNvSpPr txBox="1"/>
          <p:nvPr/>
        </p:nvSpPr>
        <p:spPr>
          <a:xfrm>
            <a:off x="7717097" y="4956047"/>
            <a:ext cx="1844107" cy="233171"/>
          </a:xfrm>
          <a:prstGeom prst="rect">
            <a:avLst/>
          </a:prstGeom>
          <a:noFill/>
        </p:spPr>
        <p:txBody>
          <a:bodyPr wrap="square" lIns="45720" rIns="45720" tIns="27432" bIns="27432" anchor="ctr">
            <a:noAutofit/>
          </a:bodyPr>
          <a:lstStyle/>
          <a:p>
            <a:pPr algn="l">
              <a:lnSpc>
                <a:spcPct val="100000"/>
              </a:lnSpc>
            </a:pPr>
            <a:r>
              <a:rPr sz="1050" b="0" i="0">
                <a:solidFill>
                  <a:srgbClr val="A7B2B0"/>
                </a:solidFill>
                <a:latin typeface="Segoe UI"/>
              </a:rPr>
              <a:t>Python</a:t>
            </a:r>
          </a:p>
        </p:txBody>
      </p:sp>
      <p:sp>
        <p:nvSpPr>
          <p:cNvPr id="43" name="TextBox 42"/>
          <p:cNvSpPr txBox="1"/>
          <p:nvPr/>
        </p:nvSpPr>
        <p:spPr>
          <a:xfrm>
            <a:off x="9707508" y="4956047"/>
            <a:ext cx="1844107" cy="233171"/>
          </a:xfrm>
          <a:prstGeom prst="rect">
            <a:avLst/>
          </a:prstGeom>
          <a:noFill/>
        </p:spPr>
        <p:txBody>
          <a:bodyPr wrap="square" lIns="45720" rIns="45720" tIns="27432" bIns="27432" anchor="ctr">
            <a:noAutofit/>
          </a:bodyPr>
          <a:lstStyle/>
          <a:p>
            <a:pPr algn="r">
              <a:lnSpc>
                <a:spcPct val="100000"/>
              </a:lnSpc>
            </a:pPr>
            <a:r>
              <a:rPr sz="1050" b="0" i="0">
                <a:solidFill>
                  <a:srgbClr val="A7B2B0"/>
                </a:solidFill>
                <a:latin typeface="Segoe UI"/>
              </a:rPr>
              <a:t>2,645</a:t>
            </a:r>
          </a:p>
        </p:txBody>
      </p:sp>
      <p:sp>
        <p:nvSpPr>
          <p:cNvPr id="44" name="Rectangle 43"/>
          <p:cNvSpPr/>
          <p:nvPr/>
        </p:nvSpPr>
        <p:spPr>
          <a:xfrm>
            <a:off x="585216" y="5225795"/>
            <a:ext cx="11021263" cy="306323"/>
          </a:xfrm>
          <a:prstGeom prst="rect">
            <a:avLst/>
          </a:prstGeom>
          <a:solidFill>
            <a:srgbClr val="1824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5" name="TextBox 44"/>
          <p:cNvSpPr txBox="1"/>
          <p:nvPr/>
        </p:nvSpPr>
        <p:spPr>
          <a:xfrm>
            <a:off x="640080" y="5262371"/>
            <a:ext cx="6930713" cy="233171"/>
          </a:xfrm>
          <a:prstGeom prst="rect">
            <a:avLst/>
          </a:prstGeom>
          <a:noFill/>
        </p:spPr>
        <p:txBody>
          <a:bodyPr wrap="square" lIns="45720" rIns="45720" tIns="27432" bIns="27432" anchor="ctr">
            <a:noAutofit/>
          </a:bodyPr>
          <a:lstStyle/>
          <a:p>
            <a:pPr algn="l">
              <a:lnSpc>
                <a:spcPct val="100000"/>
              </a:lnSpc>
            </a:pPr>
            <a:r>
              <a:rPr sz="1050" b="0" i="0">
                <a:solidFill>
                  <a:srgbClr val="F7F2E8"/>
                </a:solidFill>
                <a:latin typeface="Segoe UI Semibold"/>
              </a:rPr>
              <a:t>Tlamatini/agent/doc_generation/dossier_content.py</a:t>
            </a:r>
          </a:p>
        </p:txBody>
      </p:sp>
      <p:sp>
        <p:nvSpPr>
          <p:cNvPr id="46" name="TextBox 45"/>
          <p:cNvSpPr txBox="1"/>
          <p:nvPr/>
        </p:nvSpPr>
        <p:spPr>
          <a:xfrm>
            <a:off x="7717097" y="5262371"/>
            <a:ext cx="1844107" cy="233171"/>
          </a:xfrm>
          <a:prstGeom prst="rect">
            <a:avLst/>
          </a:prstGeom>
          <a:noFill/>
        </p:spPr>
        <p:txBody>
          <a:bodyPr wrap="square" lIns="45720" rIns="45720" tIns="27432" bIns="27432" anchor="ctr">
            <a:noAutofit/>
          </a:bodyPr>
          <a:lstStyle/>
          <a:p>
            <a:pPr algn="l">
              <a:lnSpc>
                <a:spcPct val="100000"/>
              </a:lnSpc>
            </a:pPr>
            <a:r>
              <a:rPr sz="1050" b="0" i="0">
                <a:solidFill>
                  <a:srgbClr val="A7B2B0"/>
                </a:solidFill>
                <a:latin typeface="Segoe UI"/>
              </a:rPr>
              <a:t>Python</a:t>
            </a:r>
          </a:p>
        </p:txBody>
      </p:sp>
      <p:sp>
        <p:nvSpPr>
          <p:cNvPr id="47" name="TextBox 46"/>
          <p:cNvSpPr txBox="1"/>
          <p:nvPr/>
        </p:nvSpPr>
        <p:spPr>
          <a:xfrm>
            <a:off x="9707508" y="5262371"/>
            <a:ext cx="1844107" cy="233171"/>
          </a:xfrm>
          <a:prstGeom prst="rect">
            <a:avLst/>
          </a:prstGeom>
          <a:noFill/>
        </p:spPr>
        <p:txBody>
          <a:bodyPr wrap="square" lIns="45720" rIns="45720" tIns="27432" bIns="27432" anchor="ctr">
            <a:noAutofit/>
          </a:bodyPr>
          <a:lstStyle/>
          <a:p>
            <a:pPr algn="r">
              <a:lnSpc>
                <a:spcPct val="100000"/>
              </a:lnSpc>
            </a:pPr>
            <a:r>
              <a:rPr sz="1050" b="0" i="0">
                <a:solidFill>
                  <a:srgbClr val="A7B2B0"/>
                </a:solidFill>
                <a:latin typeface="Segoe UI"/>
              </a:rPr>
              <a:t>2,559</a:t>
            </a:r>
          </a:p>
        </p:txBody>
      </p:sp>
      <p:sp>
        <p:nvSpPr>
          <p:cNvPr id="48" name="TextBox 47"/>
          <p:cNvSpPr txBox="1"/>
          <p:nvPr/>
        </p:nvSpPr>
        <p:spPr>
          <a:xfrm>
            <a:off x="640080" y="5568695"/>
            <a:ext cx="6930713" cy="233171"/>
          </a:xfrm>
          <a:prstGeom prst="rect">
            <a:avLst/>
          </a:prstGeom>
          <a:noFill/>
        </p:spPr>
        <p:txBody>
          <a:bodyPr wrap="square" lIns="45720" rIns="45720" tIns="27432" bIns="27432" anchor="ctr">
            <a:noAutofit/>
          </a:bodyPr>
          <a:lstStyle/>
          <a:p>
            <a:pPr algn="l">
              <a:lnSpc>
                <a:spcPct val="100000"/>
              </a:lnSpc>
            </a:pPr>
            <a:r>
              <a:rPr sz="1050" b="0" i="0">
                <a:solidFill>
                  <a:srgbClr val="F7F2E8"/>
                </a:solidFill>
                <a:latin typeface="Segoe UI Semibold"/>
              </a:rPr>
              <a:t>scripts/architecture_atlas/gen_architecture.py</a:t>
            </a:r>
          </a:p>
        </p:txBody>
      </p:sp>
      <p:sp>
        <p:nvSpPr>
          <p:cNvPr id="49" name="TextBox 48"/>
          <p:cNvSpPr txBox="1"/>
          <p:nvPr/>
        </p:nvSpPr>
        <p:spPr>
          <a:xfrm>
            <a:off x="7717097" y="5568695"/>
            <a:ext cx="1844107" cy="233171"/>
          </a:xfrm>
          <a:prstGeom prst="rect">
            <a:avLst/>
          </a:prstGeom>
          <a:noFill/>
        </p:spPr>
        <p:txBody>
          <a:bodyPr wrap="square" lIns="45720" rIns="45720" tIns="27432" bIns="27432" anchor="ctr">
            <a:noAutofit/>
          </a:bodyPr>
          <a:lstStyle/>
          <a:p>
            <a:pPr algn="l">
              <a:lnSpc>
                <a:spcPct val="100000"/>
              </a:lnSpc>
            </a:pPr>
            <a:r>
              <a:rPr sz="1050" b="0" i="0">
                <a:solidFill>
                  <a:srgbClr val="A7B2B0"/>
                </a:solidFill>
                <a:latin typeface="Segoe UI"/>
              </a:rPr>
              <a:t>Python</a:t>
            </a:r>
          </a:p>
        </p:txBody>
      </p:sp>
      <p:sp>
        <p:nvSpPr>
          <p:cNvPr id="50" name="TextBox 49"/>
          <p:cNvSpPr txBox="1"/>
          <p:nvPr/>
        </p:nvSpPr>
        <p:spPr>
          <a:xfrm>
            <a:off x="9707508" y="5568695"/>
            <a:ext cx="1844107" cy="233171"/>
          </a:xfrm>
          <a:prstGeom prst="rect">
            <a:avLst/>
          </a:prstGeom>
          <a:noFill/>
        </p:spPr>
        <p:txBody>
          <a:bodyPr wrap="square" lIns="45720" rIns="45720" tIns="27432" bIns="27432" anchor="ctr">
            <a:noAutofit/>
          </a:bodyPr>
          <a:lstStyle/>
          <a:p>
            <a:pPr algn="r">
              <a:lnSpc>
                <a:spcPct val="100000"/>
              </a:lnSpc>
            </a:pPr>
            <a:r>
              <a:rPr sz="1050" b="0" i="0">
                <a:solidFill>
                  <a:srgbClr val="A7B2B0"/>
                </a:solidFill>
                <a:latin typeface="Segoe UI"/>
              </a:rPr>
              <a:t>2,388</a:t>
            </a:r>
          </a:p>
        </p:txBody>
      </p:sp>
      <p:sp>
        <p:nvSpPr>
          <p:cNvPr id="51" name="Rectangle 50"/>
          <p:cNvSpPr/>
          <p:nvPr/>
        </p:nvSpPr>
        <p:spPr>
          <a:xfrm>
            <a:off x="585216" y="5838443"/>
            <a:ext cx="11021263" cy="306323"/>
          </a:xfrm>
          <a:prstGeom prst="rect">
            <a:avLst/>
          </a:prstGeom>
          <a:solidFill>
            <a:srgbClr val="1824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2" name="TextBox 51"/>
          <p:cNvSpPr txBox="1"/>
          <p:nvPr/>
        </p:nvSpPr>
        <p:spPr>
          <a:xfrm>
            <a:off x="640080" y="5875019"/>
            <a:ext cx="6930713" cy="233171"/>
          </a:xfrm>
          <a:prstGeom prst="rect">
            <a:avLst/>
          </a:prstGeom>
          <a:noFill/>
        </p:spPr>
        <p:txBody>
          <a:bodyPr wrap="square" lIns="45720" rIns="45720" tIns="27432" bIns="27432" anchor="ctr">
            <a:noAutofit/>
          </a:bodyPr>
          <a:lstStyle/>
          <a:p>
            <a:pPr algn="l">
              <a:lnSpc>
                <a:spcPct val="100000"/>
              </a:lnSpc>
            </a:pPr>
            <a:r>
              <a:rPr sz="1050" b="0" i="0">
                <a:solidFill>
                  <a:srgbClr val="F7F2E8"/>
                </a:solidFill>
                <a:latin typeface="Segoe UI Semibold"/>
              </a:rPr>
              <a:t>Tlamatini/agent/agents/flowcreator/agentic_skill.md</a:t>
            </a:r>
          </a:p>
        </p:txBody>
      </p:sp>
      <p:sp>
        <p:nvSpPr>
          <p:cNvPr id="53" name="TextBox 52"/>
          <p:cNvSpPr txBox="1"/>
          <p:nvPr/>
        </p:nvSpPr>
        <p:spPr>
          <a:xfrm>
            <a:off x="7717097" y="5875019"/>
            <a:ext cx="1844107" cy="233171"/>
          </a:xfrm>
          <a:prstGeom prst="rect">
            <a:avLst/>
          </a:prstGeom>
          <a:noFill/>
        </p:spPr>
        <p:txBody>
          <a:bodyPr wrap="square" lIns="45720" rIns="45720" tIns="27432" bIns="27432" anchor="ctr">
            <a:noAutofit/>
          </a:bodyPr>
          <a:lstStyle/>
          <a:p>
            <a:pPr algn="l">
              <a:lnSpc>
                <a:spcPct val="100000"/>
              </a:lnSpc>
            </a:pPr>
            <a:r>
              <a:rPr sz="1050" b="0" i="0">
                <a:solidFill>
                  <a:srgbClr val="A7B2B0"/>
                </a:solidFill>
                <a:latin typeface="Segoe UI"/>
              </a:rPr>
              <a:t>Markdown</a:t>
            </a:r>
          </a:p>
        </p:txBody>
      </p:sp>
      <p:sp>
        <p:nvSpPr>
          <p:cNvPr id="54" name="TextBox 53"/>
          <p:cNvSpPr txBox="1"/>
          <p:nvPr/>
        </p:nvSpPr>
        <p:spPr>
          <a:xfrm>
            <a:off x="9707508" y="5875019"/>
            <a:ext cx="1844107" cy="233171"/>
          </a:xfrm>
          <a:prstGeom prst="rect">
            <a:avLst/>
          </a:prstGeom>
          <a:noFill/>
        </p:spPr>
        <p:txBody>
          <a:bodyPr wrap="square" lIns="45720" rIns="45720" tIns="27432" bIns="27432" anchor="ctr">
            <a:noAutofit/>
          </a:bodyPr>
          <a:lstStyle/>
          <a:p>
            <a:pPr algn="r">
              <a:lnSpc>
                <a:spcPct val="100000"/>
              </a:lnSpc>
            </a:pPr>
            <a:r>
              <a:rPr sz="1050" b="0" i="0">
                <a:solidFill>
                  <a:srgbClr val="A7B2B0"/>
                </a:solidFill>
                <a:latin typeface="Segoe UI"/>
              </a:rPr>
              <a:t>2,363</a:t>
            </a:r>
          </a:p>
        </p:txBody>
      </p:sp>
      <p:cxnSp>
        <p:nvCxnSpPr>
          <p:cNvPr id="55" name="Connector 54"/>
          <p:cNvCxnSpPr/>
          <p:nvPr/>
        </p:nvCxnSpPr>
        <p:spPr>
          <a:xfrm>
            <a:off x="566928" y="6373368"/>
            <a:ext cx="11057839" cy="0"/>
          </a:xfrm>
          <a:prstGeom prst="line">
            <a:avLst/>
          </a:prstGeom>
          <a:ln w="7620">
            <a:solidFill>
              <a:srgbClr val="2A3A40"/>
            </a:solidFill>
          </a:ln>
        </p:spPr>
        <p:style>
          <a:lnRef idx="2">
            <a:schemeClr val="accent1"/>
          </a:lnRef>
          <a:fillRef idx="0">
            <a:schemeClr val="accent1"/>
          </a:fillRef>
          <a:effectRef idx="1">
            <a:schemeClr val="accent1"/>
          </a:effectRef>
          <a:fontRef idx="minor">
            <a:schemeClr val="tx1"/>
          </a:fontRef>
        </p:style>
      </p:cxnSp>
      <p:sp>
        <p:nvSpPr>
          <p:cNvPr id="56" name="TextBox 55"/>
          <p:cNvSpPr txBox="1"/>
          <p:nvPr/>
        </p:nvSpPr>
        <p:spPr>
          <a:xfrm>
            <a:off x="566928" y="6419088"/>
            <a:ext cx="6858000" cy="274320"/>
          </a:xfrm>
          <a:prstGeom prst="rect">
            <a:avLst/>
          </a:prstGeom>
          <a:noFill/>
        </p:spPr>
        <p:txBody>
          <a:bodyPr wrap="square" lIns="45720" rIns="45720" tIns="27432" bIns="27432" anchor="t">
            <a:noAutofit/>
          </a:bodyPr>
          <a:lstStyle/>
          <a:p>
            <a:pPr algn="l">
              <a:lnSpc>
                <a:spcPct val="100000"/>
              </a:lnSpc>
            </a:pPr>
            <a:r>
              <a:rPr sz="850" b="0" i="0" spc="120">
                <a:solidFill>
                  <a:srgbClr val="A7B2B0"/>
                </a:solidFill>
                <a:latin typeface="Segoe UI Semibold"/>
              </a:rPr>
              <a:t>TLAMATINI  ·  IX · DATOS DEL REPOSITORIO</a:t>
            </a:r>
          </a:p>
        </p:txBody>
      </p:sp>
      <p:sp>
        <p:nvSpPr>
          <p:cNvPr id="57" name="TextBox 56"/>
          <p:cNvSpPr txBox="1"/>
          <p:nvPr/>
        </p:nvSpPr>
        <p:spPr>
          <a:xfrm>
            <a:off x="8698687" y="6419088"/>
            <a:ext cx="2926080" cy="274320"/>
          </a:xfrm>
          <a:prstGeom prst="rect">
            <a:avLst/>
          </a:prstGeom>
          <a:noFill/>
        </p:spPr>
        <p:txBody>
          <a:bodyPr wrap="square" lIns="45720" rIns="45720" tIns="27432" bIns="27432" anchor="t">
            <a:noAutofit/>
          </a:bodyPr>
          <a:lstStyle/>
          <a:p>
            <a:pPr algn="r">
              <a:lnSpc>
                <a:spcPct val="100000"/>
              </a:lnSpc>
            </a:pPr>
            <a:r>
              <a:rPr sz="850" b="0" i="0" spc="100">
                <a:solidFill>
                  <a:srgbClr val="A7B2B0"/>
                </a:solidFill>
                <a:latin typeface="Segoe UI Semibold"/>
              </a:rPr>
              <a:t>v1.91.1   ·   169</a:t>
            </a:r>
          </a:p>
        </p:txBody>
      </p:sp>
    </p:spTree>
  </p:cSld>
  <p:clrMapOvr>
    <a:masterClrMapping/>
  </p:clrMapOvr>
</p:sld>
</file>

<file path=ppt/slides/slide1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content.png"/>
          <p:cNvPicPr>
            <a:picLocks noChangeAspect="1"/>
          </p:cNvPicPr>
          <p:nvPr/>
        </p:nvPicPr>
        <p:blipFill>
          <a:blip r:embed="rId2"/>
          <a:stretch>
            <a:fillRect/>
          </a:stretch>
        </p:blipFill>
        <p:spPr>
          <a:xfrm>
            <a:off x="0" y="0"/>
            <a:ext cx="12191695" cy="6858000"/>
          </a:xfrm>
          <a:prstGeom prst="rect">
            <a:avLst/>
          </a:prstGeom>
        </p:spPr>
      </p:pic>
      <p:sp>
        <p:nvSpPr>
          <p:cNvPr id="3" name="Diamond 2"/>
          <p:cNvSpPr/>
          <p:nvPr/>
        </p:nvSpPr>
        <p:spPr>
          <a:xfrm>
            <a:off x="566928" y="457200"/>
            <a:ext cx="100584" cy="100584"/>
          </a:xfrm>
          <a:prstGeom prst="diamond">
            <a:avLst/>
          </a:prstGeom>
          <a:solidFill>
            <a:srgbClr val="C984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49808" y="365760"/>
            <a:ext cx="8229600" cy="292608"/>
          </a:xfrm>
          <a:prstGeom prst="rect">
            <a:avLst/>
          </a:prstGeom>
          <a:noFill/>
        </p:spPr>
        <p:txBody>
          <a:bodyPr wrap="square" lIns="45720" rIns="45720" tIns="27432" bIns="27432" anchor="t">
            <a:noAutofit/>
          </a:bodyPr>
          <a:lstStyle/>
          <a:p>
            <a:pPr algn="l">
              <a:lnSpc>
                <a:spcPct val="100000"/>
              </a:lnSpc>
            </a:pPr>
            <a:r>
              <a:rPr sz="1100" b="0" i="0" spc="240">
                <a:solidFill>
                  <a:srgbClr val="C98457"/>
                </a:solidFill>
                <a:latin typeface="Segoe UI Semibold"/>
              </a:rPr>
              <a:t>ARCHIVOS MÁS GRANDES</a:t>
            </a:r>
          </a:p>
        </p:txBody>
      </p:sp>
      <p:sp>
        <p:nvSpPr>
          <p:cNvPr id="5" name="TextBox 4"/>
          <p:cNvSpPr txBox="1"/>
          <p:nvPr/>
        </p:nvSpPr>
        <p:spPr>
          <a:xfrm>
            <a:off x="539496" y="676656"/>
            <a:ext cx="11057839" cy="658368"/>
          </a:xfrm>
          <a:prstGeom prst="rect">
            <a:avLst/>
          </a:prstGeom>
          <a:noFill/>
        </p:spPr>
        <p:txBody>
          <a:bodyPr wrap="square" lIns="45720" rIns="45720" tIns="27432" bIns="27432" anchor="t">
            <a:noAutofit/>
          </a:bodyPr>
          <a:lstStyle/>
          <a:p>
            <a:pPr algn="l">
              <a:lnSpc>
                <a:spcPct val="100000"/>
              </a:lnSpc>
            </a:pPr>
            <a:r>
              <a:rPr sz="3100" b="0" i="0">
                <a:solidFill>
                  <a:srgbClr val="F7F2E8"/>
                </a:solidFill>
                <a:latin typeface="Palatino Linotype"/>
              </a:rPr>
              <a:t>Los archivos de source más grandes  (2/2)</a:t>
            </a:r>
          </a:p>
        </p:txBody>
      </p:sp>
      <p:sp>
        <p:nvSpPr>
          <p:cNvPr id="6" name="Rectangle 5"/>
          <p:cNvSpPr/>
          <p:nvPr/>
        </p:nvSpPr>
        <p:spPr>
          <a:xfrm>
            <a:off x="566928" y="1344168"/>
            <a:ext cx="822960" cy="36576"/>
          </a:xfrm>
          <a:prstGeom prst="rect">
            <a:avLst/>
          </a:prstGeom>
          <a:solidFill>
            <a:srgbClr val="C984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566928" y="1444752"/>
            <a:ext cx="10692079" cy="585216"/>
          </a:xfrm>
          <a:prstGeom prst="rect">
            <a:avLst/>
          </a:prstGeom>
          <a:noFill/>
        </p:spPr>
        <p:txBody>
          <a:bodyPr wrap="square" lIns="45720" rIns="45720" tIns="27432" bIns="27432" anchor="t">
            <a:noAutofit/>
          </a:bodyPr>
          <a:lstStyle/>
          <a:p>
            <a:pPr algn="l">
              <a:lnSpc>
                <a:spcPct val="100000"/>
              </a:lnSpc>
            </a:pPr>
            <a:r>
              <a:rPr sz="1450" b="0" i="0">
                <a:solidFill>
                  <a:srgbClr val="A7B2B0"/>
                </a:solidFill>
                <a:latin typeface="Segoe UI Semilight"/>
              </a:rPr>
              <a:t>Ordenados por líneas efectivas.</a:t>
            </a:r>
          </a:p>
        </p:txBody>
      </p:sp>
      <p:sp>
        <p:nvSpPr>
          <p:cNvPr id="8" name="Rounded Rectangle 7"/>
          <p:cNvSpPr/>
          <p:nvPr/>
        </p:nvSpPr>
        <p:spPr>
          <a:xfrm>
            <a:off x="566928" y="2084831"/>
            <a:ext cx="11057839" cy="2633472"/>
          </a:xfrm>
          <a:prstGeom prst="roundRect">
            <a:avLst>
              <a:gd name="adj" fmla="val 2777"/>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ounded Rectangle 8"/>
          <p:cNvSpPr/>
          <p:nvPr/>
        </p:nvSpPr>
        <p:spPr>
          <a:xfrm>
            <a:off x="566928" y="2084831"/>
            <a:ext cx="11057839" cy="384048"/>
          </a:xfrm>
          <a:prstGeom prst="roundRect">
            <a:avLst>
              <a:gd name="adj" fmla="val 19047"/>
            </a:avLst>
          </a:prstGeom>
          <a:solidFill>
            <a:srgbClr val="151F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640080" y="2121408"/>
            <a:ext cx="6930713" cy="310896"/>
          </a:xfrm>
          <a:prstGeom prst="rect">
            <a:avLst/>
          </a:prstGeom>
          <a:noFill/>
        </p:spPr>
        <p:txBody>
          <a:bodyPr wrap="square" lIns="45720" rIns="45720" tIns="27432" bIns="27432" anchor="ctr">
            <a:noAutofit/>
          </a:bodyPr>
          <a:lstStyle/>
          <a:p>
            <a:pPr algn="l">
              <a:lnSpc>
                <a:spcPct val="100000"/>
              </a:lnSpc>
            </a:pPr>
            <a:r>
              <a:rPr sz="1000" b="0" i="0" spc="120">
                <a:solidFill>
                  <a:srgbClr val="E2B462"/>
                </a:solidFill>
                <a:latin typeface="Segoe UI Semibold"/>
              </a:rPr>
              <a:t>ARCHIVO</a:t>
            </a:r>
          </a:p>
        </p:txBody>
      </p:sp>
      <p:sp>
        <p:nvSpPr>
          <p:cNvPr id="11" name="TextBox 10"/>
          <p:cNvSpPr txBox="1"/>
          <p:nvPr/>
        </p:nvSpPr>
        <p:spPr>
          <a:xfrm>
            <a:off x="7717097" y="2121408"/>
            <a:ext cx="1844107" cy="310896"/>
          </a:xfrm>
          <a:prstGeom prst="rect">
            <a:avLst/>
          </a:prstGeom>
          <a:noFill/>
        </p:spPr>
        <p:txBody>
          <a:bodyPr wrap="square" lIns="45720" rIns="45720" tIns="27432" bIns="27432" anchor="ctr">
            <a:noAutofit/>
          </a:bodyPr>
          <a:lstStyle/>
          <a:p>
            <a:pPr algn="l">
              <a:lnSpc>
                <a:spcPct val="100000"/>
              </a:lnSpc>
            </a:pPr>
            <a:r>
              <a:rPr sz="1000" b="0" i="0" spc="120">
                <a:solidFill>
                  <a:srgbClr val="E2B462"/>
                </a:solidFill>
                <a:latin typeface="Segoe UI Semibold"/>
              </a:rPr>
              <a:t>LENGUAJE</a:t>
            </a:r>
          </a:p>
        </p:txBody>
      </p:sp>
      <p:sp>
        <p:nvSpPr>
          <p:cNvPr id="12" name="TextBox 11"/>
          <p:cNvSpPr txBox="1"/>
          <p:nvPr/>
        </p:nvSpPr>
        <p:spPr>
          <a:xfrm>
            <a:off x="9707508" y="2121408"/>
            <a:ext cx="1844107" cy="310896"/>
          </a:xfrm>
          <a:prstGeom prst="rect">
            <a:avLst/>
          </a:prstGeom>
          <a:noFill/>
        </p:spPr>
        <p:txBody>
          <a:bodyPr wrap="square" lIns="45720" rIns="45720" tIns="27432" bIns="27432" anchor="ctr">
            <a:noAutofit/>
          </a:bodyPr>
          <a:lstStyle/>
          <a:p>
            <a:pPr algn="r">
              <a:lnSpc>
                <a:spcPct val="100000"/>
              </a:lnSpc>
            </a:pPr>
            <a:r>
              <a:rPr sz="1000" b="0" i="0" spc="120">
                <a:solidFill>
                  <a:srgbClr val="E2B462"/>
                </a:solidFill>
                <a:latin typeface="Segoe UI Semibold"/>
              </a:rPr>
              <a:t>EFECTIVAS</a:t>
            </a:r>
          </a:p>
        </p:txBody>
      </p:sp>
      <p:sp>
        <p:nvSpPr>
          <p:cNvPr id="13" name="TextBox 12"/>
          <p:cNvSpPr txBox="1"/>
          <p:nvPr/>
        </p:nvSpPr>
        <p:spPr>
          <a:xfrm>
            <a:off x="640080" y="2505456"/>
            <a:ext cx="6930713" cy="301752"/>
          </a:xfrm>
          <a:prstGeom prst="rect">
            <a:avLst/>
          </a:prstGeom>
          <a:noFill/>
        </p:spPr>
        <p:txBody>
          <a:bodyPr wrap="square" lIns="45720" rIns="45720" tIns="27432" bIns="27432" anchor="ctr">
            <a:noAutofit/>
          </a:bodyPr>
          <a:lstStyle/>
          <a:p>
            <a:pPr algn="l">
              <a:lnSpc>
                <a:spcPct val="100000"/>
              </a:lnSpc>
            </a:pPr>
            <a:r>
              <a:rPr sz="1500" b="0" i="0">
                <a:solidFill>
                  <a:srgbClr val="F7F2E8"/>
                </a:solidFill>
                <a:latin typeface="Segoe UI Semibold"/>
              </a:rPr>
              <a:t>Tlamatini/agent/chat_agent_registry.py</a:t>
            </a:r>
          </a:p>
        </p:txBody>
      </p:sp>
      <p:sp>
        <p:nvSpPr>
          <p:cNvPr id="14" name="TextBox 13"/>
          <p:cNvSpPr txBox="1"/>
          <p:nvPr/>
        </p:nvSpPr>
        <p:spPr>
          <a:xfrm>
            <a:off x="7717097" y="2505456"/>
            <a:ext cx="1844107" cy="301752"/>
          </a:xfrm>
          <a:prstGeom prst="rect">
            <a:avLst/>
          </a:prstGeom>
          <a:noFill/>
        </p:spPr>
        <p:txBody>
          <a:bodyPr wrap="square" lIns="45720" rIns="45720" tIns="27432" bIns="27432" anchor="ctr">
            <a:noAutofit/>
          </a:bodyPr>
          <a:lstStyle/>
          <a:p>
            <a:pPr algn="l">
              <a:lnSpc>
                <a:spcPct val="100000"/>
              </a:lnSpc>
            </a:pPr>
            <a:r>
              <a:rPr sz="1500" b="0" i="0">
                <a:solidFill>
                  <a:srgbClr val="A7B2B0"/>
                </a:solidFill>
                <a:latin typeface="Segoe UI"/>
              </a:rPr>
              <a:t>Python</a:t>
            </a:r>
          </a:p>
        </p:txBody>
      </p:sp>
      <p:sp>
        <p:nvSpPr>
          <p:cNvPr id="15" name="TextBox 14"/>
          <p:cNvSpPr txBox="1"/>
          <p:nvPr/>
        </p:nvSpPr>
        <p:spPr>
          <a:xfrm>
            <a:off x="9707508" y="2505456"/>
            <a:ext cx="1844107" cy="301752"/>
          </a:xfrm>
          <a:prstGeom prst="rect">
            <a:avLst/>
          </a:prstGeom>
          <a:noFill/>
        </p:spPr>
        <p:txBody>
          <a:bodyPr wrap="square" lIns="45720" rIns="45720" tIns="27432" bIns="27432" anchor="ctr">
            <a:noAutofit/>
          </a:bodyPr>
          <a:lstStyle/>
          <a:p>
            <a:pPr algn="r">
              <a:lnSpc>
                <a:spcPct val="100000"/>
              </a:lnSpc>
            </a:pPr>
            <a:r>
              <a:rPr sz="1500" b="0" i="0">
                <a:solidFill>
                  <a:srgbClr val="A7B2B0"/>
                </a:solidFill>
                <a:latin typeface="Segoe UI"/>
              </a:rPr>
              <a:t>2,279</a:t>
            </a:r>
          </a:p>
        </p:txBody>
      </p:sp>
      <p:sp>
        <p:nvSpPr>
          <p:cNvPr id="16" name="Rectangle 15"/>
          <p:cNvSpPr/>
          <p:nvPr/>
        </p:nvSpPr>
        <p:spPr>
          <a:xfrm>
            <a:off x="585216" y="2843784"/>
            <a:ext cx="11021263" cy="374904"/>
          </a:xfrm>
          <a:prstGeom prst="rect">
            <a:avLst/>
          </a:prstGeom>
          <a:solidFill>
            <a:srgbClr val="1824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640080" y="2880360"/>
            <a:ext cx="6930713" cy="301752"/>
          </a:xfrm>
          <a:prstGeom prst="rect">
            <a:avLst/>
          </a:prstGeom>
          <a:noFill/>
        </p:spPr>
        <p:txBody>
          <a:bodyPr wrap="square" lIns="45720" rIns="45720" tIns="27432" bIns="27432" anchor="ctr">
            <a:noAutofit/>
          </a:bodyPr>
          <a:lstStyle/>
          <a:p>
            <a:pPr algn="l">
              <a:lnSpc>
                <a:spcPct val="100000"/>
              </a:lnSpc>
            </a:pPr>
            <a:r>
              <a:rPr sz="1500" b="0" i="0">
                <a:solidFill>
                  <a:srgbClr val="F7F2E8"/>
                </a:solidFill>
                <a:latin typeface="Segoe UI Semibold"/>
              </a:rPr>
              <a:t>Tlamatini/agent/external_mcp_manager.py</a:t>
            </a:r>
          </a:p>
        </p:txBody>
      </p:sp>
      <p:sp>
        <p:nvSpPr>
          <p:cNvPr id="18" name="TextBox 17"/>
          <p:cNvSpPr txBox="1"/>
          <p:nvPr/>
        </p:nvSpPr>
        <p:spPr>
          <a:xfrm>
            <a:off x="7717097" y="2880360"/>
            <a:ext cx="1844107" cy="301752"/>
          </a:xfrm>
          <a:prstGeom prst="rect">
            <a:avLst/>
          </a:prstGeom>
          <a:noFill/>
        </p:spPr>
        <p:txBody>
          <a:bodyPr wrap="square" lIns="45720" rIns="45720" tIns="27432" bIns="27432" anchor="ctr">
            <a:noAutofit/>
          </a:bodyPr>
          <a:lstStyle/>
          <a:p>
            <a:pPr algn="l">
              <a:lnSpc>
                <a:spcPct val="100000"/>
              </a:lnSpc>
            </a:pPr>
            <a:r>
              <a:rPr sz="1500" b="0" i="0">
                <a:solidFill>
                  <a:srgbClr val="A7B2B0"/>
                </a:solidFill>
                <a:latin typeface="Segoe UI"/>
              </a:rPr>
              <a:t>Python</a:t>
            </a:r>
          </a:p>
        </p:txBody>
      </p:sp>
      <p:sp>
        <p:nvSpPr>
          <p:cNvPr id="19" name="TextBox 18"/>
          <p:cNvSpPr txBox="1"/>
          <p:nvPr/>
        </p:nvSpPr>
        <p:spPr>
          <a:xfrm>
            <a:off x="9707508" y="2880360"/>
            <a:ext cx="1844107" cy="301752"/>
          </a:xfrm>
          <a:prstGeom prst="rect">
            <a:avLst/>
          </a:prstGeom>
          <a:noFill/>
        </p:spPr>
        <p:txBody>
          <a:bodyPr wrap="square" lIns="45720" rIns="45720" tIns="27432" bIns="27432" anchor="ctr">
            <a:noAutofit/>
          </a:bodyPr>
          <a:lstStyle/>
          <a:p>
            <a:pPr algn="r">
              <a:lnSpc>
                <a:spcPct val="100000"/>
              </a:lnSpc>
            </a:pPr>
            <a:r>
              <a:rPr sz="1500" b="0" i="0">
                <a:solidFill>
                  <a:srgbClr val="A7B2B0"/>
                </a:solidFill>
                <a:latin typeface="Segoe UI"/>
              </a:rPr>
              <a:t>2,144</a:t>
            </a:r>
          </a:p>
        </p:txBody>
      </p:sp>
      <p:sp>
        <p:nvSpPr>
          <p:cNvPr id="20" name="TextBox 19"/>
          <p:cNvSpPr txBox="1"/>
          <p:nvPr/>
        </p:nvSpPr>
        <p:spPr>
          <a:xfrm>
            <a:off x="640080" y="3255264"/>
            <a:ext cx="6930713" cy="301752"/>
          </a:xfrm>
          <a:prstGeom prst="rect">
            <a:avLst/>
          </a:prstGeom>
          <a:noFill/>
        </p:spPr>
        <p:txBody>
          <a:bodyPr wrap="square" lIns="45720" rIns="45720" tIns="27432" bIns="27432" anchor="ctr">
            <a:noAutofit/>
          </a:bodyPr>
          <a:lstStyle/>
          <a:p>
            <a:pPr algn="l">
              <a:lnSpc>
                <a:spcPct val="100000"/>
              </a:lnSpc>
            </a:pPr>
            <a:r>
              <a:rPr sz="1500" b="0" i="0">
                <a:solidFill>
                  <a:srgbClr val="F7F2E8"/>
                </a:solidFill>
                <a:latin typeface="Segoe UI Semibold"/>
              </a:rPr>
              <a:t>l10n/memoria/Tlamatini/agent/views.py.json</a:t>
            </a:r>
          </a:p>
        </p:txBody>
      </p:sp>
      <p:sp>
        <p:nvSpPr>
          <p:cNvPr id="21" name="TextBox 20"/>
          <p:cNvSpPr txBox="1"/>
          <p:nvPr/>
        </p:nvSpPr>
        <p:spPr>
          <a:xfrm>
            <a:off x="7717097" y="3255264"/>
            <a:ext cx="1844107" cy="301752"/>
          </a:xfrm>
          <a:prstGeom prst="rect">
            <a:avLst/>
          </a:prstGeom>
          <a:noFill/>
        </p:spPr>
        <p:txBody>
          <a:bodyPr wrap="square" lIns="45720" rIns="45720" tIns="27432" bIns="27432" anchor="ctr">
            <a:noAutofit/>
          </a:bodyPr>
          <a:lstStyle/>
          <a:p>
            <a:pPr algn="l">
              <a:lnSpc>
                <a:spcPct val="100000"/>
              </a:lnSpc>
            </a:pPr>
            <a:r>
              <a:rPr sz="1500" b="0" i="0">
                <a:solidFill>
                  <a:srgbClr val="A7B2B0"/>
                </a:solidFill>
                <a:latin typeface="Segoe UI"/>
              </a:rPr>
              <a:t>JSON</a:t>
            </a:r>
          </a:p>
        </p:txBody>
      </p:sp>
      <p:sp>
        <p:nvSpPr>
          <p:cNvPr id="22" name="TextBox 21"/>
          <p:cNvSpPr txBox="1"/>
          <p:nvPr/>
        </p:nvSpPr>
        <p:spPr>
          <a:xfrm>
            <a:off x="9707508" y="3255264"/>
            <a:ext cx="1844107" cy="301752"/>
          </a:xfrm>
          <a:prstGeom prst="rect">
            <a:avLst/>
          </a:prstGeom>
          <a:noFill/>
        </p:spPr>
        <p:txBody>
          <a:bodyPr wrap="square" lIns="45720" rIns="45720" tIns="27432" bIns="27432" anchor="ctr">
            <a:noAutofit/>
          </a:bodyPr>
          <a:lstStyle/>
          <a:p>
            <a:pPr algn="r">
              <a:lnSpc>
                <a:spcPct val="100000"/>
              </a:lnSpc>
            </a:pPr>
            <a:r>
              <a:rPr sz="1500" b="0" i="0">
                <a:solidFill>
                  <a:srgbClr val="A7B2B0"/>
                </a:solidFill>
                <a:latin typeface="Segoe UI"/>
              </a:rPr>
              <a:t>2,083</a:t>
            </a:r>
          </a:p>
        </p:txBody>
      </p:sp>
      <p:sp>
        <p:nvSpPr>
          <p:cNvPr id="23" name="Rectangle 22"/>
          <p:cNvSpPr/>
          <p:nvPr/>
        </p:nvSpPr>
        <p:spPr>
          <a:xfrm>
            <a:off x="585216" y="3593592"/>
            <a:ext cx="11021263" cy="374904"/>
          </a:xfrm>
          <a:prstGeom prst="rect">
            <a:avLst/>
          </a:prstGeom>
          <a:solidFill>
            <a:srgbClr val="1824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640080" y="3630168"/>
            <a:ext cx="6930713" cy="301752"/>
          </a:xfrm>
          <a:prstGeom prst="rect">
            <a:avLst/>
          </a:prstGeom>
          <a:noFill/>
        </p:spPr>
        <p:txBody>
          <a:bodyPr wrap="square" lIns="45720" rIns="45720" tIns="27432" bIns="27432" anchor="ctr">
            <a:noAutofit/>
          </a:bodyPr>
          <a:lstStyle/>
          <a:p>
            <a:pPr algn="l">
              <a:lnSpc>
                <a:spcPct val="100000"/>
              </a:lnSpc>
            </a:pPr>
            <a:r>
              <a:rPr sz="1500" b="0" i="0">
                <a:solidFill>
                  <a:srgbClr val="F7F2E8"/>
                </a:solidFill>
                <a:latin typeface="Segoe UI Semibold"/>
              </a:rPr>
              <a:t>Tlamatini/agent/static/agent/css/agentic_control_panel.css</a:t>
            </a:r>
          </a:p>
        </p:txBody>
      </p:sp>
      <p:sp>
        <p:nvSpPr>
          <p:cNvPr id="25" name="TextBox 24"/>
          <p:cNvSpPr txBox="1"/>
          <p:nvPr/>
        </p:nvSpPr>
        <p:spPr>
          <a:xfrm>
            <a:off x="7717097" y="3630168"/>
            <a:ext cx="1844107" cy="301752"/>
          </a:xfrm>
          <a:prstGeom prst="rect">
            <a:avLst/>
          </a:prstGeom>
          <a:noFill/>
        </p:spPr>
        <p:txBody>
          <a:bodyPr wrap="square" lIns="45720" rIns="45720" tIns="27432" bIns="27432" anchor="ctr">
            <a:noAutofit/>
          </a:bodyPr>
          <a:lstStyle/>
          <a:p>
            <a:pPr algn="l">
              <a:lnSpc>
                <a:spcPct val="100000"/>
              </a:lnSpc>
            </a:pPr>
            <a:r>
              <a:rPr sz="1500" b="0" i="0">
                <a:solidFill>
                  <a:srgbClr val="A7B2B0"/>
                </a:solidFill>
                <a:latin typeface="Segoe UI"/>
              </a:rPr>
              <a:t>CSS</a:t>
            </a:r>
          </a:p>
        </p:txBody>
      </p:sp>
      <p:sp>
        <p:nvSpPr>
          <p:cNvPr id="26" name="TextBox 25"/>
          <p:cNvSpPr txBox="1"/>
          <p:nvPr/>
        </p:nvSpPr>
        <p:spPr>
          <a:xfrm>
            <a:off x="9707508" y="3630168"/>
            <a:ext cx="1844107" cy="301752"/>
          </a:xfrm>
          <a:prstGeom prst="rect">
            <a:avLst/>
          </a:prstGeom>
          <a:noFill/>
        </p:spPr>
        <p:txBody>
          <a:bodyPr wrap="square" lIns="45720" rIns="45720" tIns="27432" bIns="27432" anchor="ctr">
            <a:noAutofit/>
          </a:bodyPr>
          <a:lstStyle/>
          <a:p>
            <a:pPr algn="r">
              <a:lnSpc>
                <a:spcPct val="100000"/>
              </a:lnSpc>
            </a:pPr>
            <a:r>
              <a:rPr sz="1500" b="0" i="0">
                <a:solidFill>
                  <a:srgbClr val="A7B2B0"/>
                </a:solidFill>
                <a:latin typeface="Segoe UI"/>
              </a:rPr>
              <a:t>2,060</a:t>
            </a:r>
          </a:p>
        </p:txBody>
      </p:sp>
      <p:sp>
        <p:nvSpPr>
          <p:cNvPr id="27" name="TextBox 26"/>
          <p:cNvSpPr txBox="1"/>
          <p:nvPr/>
        </p:nvSpPr>
        <p:spPr>
          <a:xfrm>
            <a:off x="640080" y="4005072"/>
            <a:ext cx="6930713" cy="301752"/>
          </a:xfrm>
          <a:prstGeom prst="rect">
            <a:avLst/>
          </a:prstGeom>
          <a:noFill/>
        </p:spPr>
        <p:txBody>
          <a:bodyPr wrap="square" lIns="45720" rIns="45720" tIns="27432" bIns="27432" anchor="ctr">
            <a:noAutofit/>
          </a:bodyPr>
          <a:lstStyle/>
          <a:p>
            <a:pPr algn="l">
              <a:lnSpc>
                <a:spcPct val="100000"/>
              </a:lnSpc>
            </a:pPr>
            <a:r>
              <a:rPr sz="1500" b="0" i="0">
                <a:solidFill>
                  <a:srgbClr val="F7F2E8"/>
                </a:solidFill>
                <a:latin typeface="Segoe UI Semibold"/>
              </a:rPr>
              <a:t>Tlamatini/agent/static/agent/js/agent_page_chat.js</a:t>
            </a:r>
          </a:p>
        </p:txBody>
      </p:sp>
      <p:sp>
        <p:nvSpPr>
          <p:cNvPr id="28" name="TextBox 27"/>
          <p:cNvSpPr txBox="1"/>
          <p:nvPr/>
        </p:nvSpPr>
        <p:spPr>
          <a:xfrm>
            <a:off x="7717097" y="4005072"/>
            <a:ext cx="1844107" cy="301752"/>
          </a:xfrm>
          <a:prstGeom prst="rect">
            <a:avLst/>
          </a:prstGeom>
          <a:noFill/>
        </p:spPr>
        <p:txBody>
          <a:bodyPr wrap="square" lIns="45720" rIns="45720" tIns="27432" bIns="27432" anchor="ctr">
            <a:noAutofit/>
          </a:bodyPr>
          <a:lstStyle/>
          <a:p>
            <a:pPr algn="l">
              <a:lnSpc>
                <a:spcPct val="100000"/>
              </a:lnSpc>
            </a:pPr>
            <a:r>
              <a:rPr sz="1500" b="0" i="0">
                <a:solidFill>
                  <a:srgbClr val="A7B2B0"/>
                </a:solidFill>
                <a:latin typeface="Segoe UI"/>
              </a:rPr>
              <a:t>JavaScript</a:t>
            </a:r>
          </a:p>
        </p:txBody>
      </p:sp>
      <p:sp>
        <p:nvSpPr>
          <p:cNvPr id="29" name="TextBox 28"/>
          <p:cNvSpPr txBox="1"/>
          <p:nvPr/>
        </p:nvSpPr>
        <p:spPr>
          <a:xfrm>
            <a:off x="9707508" y="4005072"/>
            <a:ext cx="1844107" cy="301752"/>
          </a:xfrm>
          <a:prstGeom prst="rect">
            <a:avLst/>
          </a:prstGeom>
          <a:noFill/>
        </p:spPr>
        <p:txBody>
          <a:bodyPr wrap="square" lIns="45720" rIns="45720" tIns="27432" bIns="27432" anchor="ctr">
            <a:noAutofit/>
          </a:bodyPr>
          <a:lstStyle/>
          <a:p>
            <a:pPr algn="r">
              <a:lnSpc>
                <a:spcPct val="100000"/>
              </a:lnSpc>
            </a:pPr>
            <a:r>
              <a:rPr sz="1500" b="0" i="0">
                <a:solidFill>
                  <a:srgbClr val="A7B2B0"/>
                </a:solidFill>
                <a:latin typeface="Segoe UI"/>
              </a:rPr>
              <a:t>2,024</a:t>
            </a:r>
          </a:p>
        </p:txBody>
      </p:sp>
      <p:sp>
        <p:nvSpPr>
          <p:cNvPr id="30" name="Rectangle 29"/>
          <p:cNvSpPr/>
          <p:nvPr/>
        </p:nvSpPr>
        <p:spPr>
          <a:xfrm>
            <a:off x="585216" y="4343400"/>
            <a:ext cx="11021263" cy="374904"/>
          </a:xfrm>
          <a:prstGeom prst="rect">
            <a:avLst/>
          </a:prstGeom>
          <a:solidFill>
            <a:srgbClr val="1824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TextBox 30"/>
          <p:cNvSpPr txBox="1"/>
          <p:nvPr/>
        </p:nvSpPr>
        <p:spPr>
          <a:xfrm>
            <a:off x="640080" y="4379976"/>
            <a:ext cx="6930713" cy="301752"/>
          </a:xfrm>
          <a:prstGeom prst="rect">
            <a:avLst/>
          </a:prstGeom>
          <a:noFill/>
        </p:spPr>
        <p:txBody>
          <a:bodyPr wrap="square" lIns="45720" rIns="45720" tIns="27432" bIns="27432" anchor="ctr">
            <a:noAutofit/>
          </a:bodyPr>
          <a:lstStyle/>
          <a:p>
            <a:pPr algn="l">
              <a:lnSpc>
                <a:spcPct val="100000"/>
              </a:lnSpc>
            </a:pPr>
            <a:r>
              <a:rPr sz="1500" b="0" i="0">
                <a:solidFill>
                  <a:srgbClr val="F7F2E8"/>
                </a:solidFill>
                <a:latin typeface="Segoe UI Semibold"/>
              </a:rPr>
              <a:t>Tlamatini/agent/agents/stm32er/stm32er.py</a:t>
            </a:r>
          </a:p>
        </p:txBody>
      </p:sp>
      <p:sp>
        <p:nvSpPr>
          <p:cNvPr id="32" name="TextBox 31"/>
          <p:cNvSpPr txBox="1"/>
          <p:nvPr/>
        </p:nvSpPr>
        <p:spPr>
          <a:xfrm>
            <a:off x="7717097" y="4379976"/>
            <a:ext cx="1844107" cy="301752"/>
          </a:xfrm>
          <a:prstGeom prst="rect">
            <a:avLst/>
          </a:prstGeom>
          <a:noFill/>
        </p:spPr>
        <p:txBody>
          <a:bodyPr wrap="square" lIns="45720" rIns="45720" tIns="27432" bIns="27432" anchor="ctr">
            <a:noAutofit/>
          </a:bodyPr>
          <a:lstStyle/>
          <a:p>
            <a:pPr algn="l">
              <a:lnSpc>
                <a:spcPct val="100000"/>
              </a:lnSpc>
            </a:pPr>
            <a:r>
              <a:rPr sz="1500" b="0" i="0">
                <a:solidFill>
                  <a:srgbClr val="A7B2B0"/>
                </a:solidFill>
                <a:latin typeface="Segoe UI"/>
              </a:rPr>
              <a:t>Python</a:t>
            </a:r>
          </a:p>
        </p:txBody>
      </p:sp>
      <p:sp>
        <p:nvSpPr>
          <p:cNvPr id="33" name="TextBox 32"/>
          <p:cNvSpPr txBox="1"/>
          <p:nvPr/>
        </p:nvSpPr>
        <p:spPr>
          <a:xfrm>
            <a:off x="9707508" y="4379976"/>
            <a:ext cx="1844107" cy="301752"/>
          </a:xfrm>
          <a:prstGeom prst="rect">
            <a:avLst/>
          </a:prstGeom>
          <a:noFill/>
        </p:spPr>
        <p:txBody>
          <a:bodyPr wrap="square" lIns="45720" rIns="45720" tIns="27432" bIns="27432" anchor="ctr">
            <a:noAutofit/>
          </a:bodyPr>
          <a:lstStyle/>
          <a:p>
            <a:pPr algn="r">
              <a:lnSpc>
                <a:spcPct val="100000"/>
              </a:lnSpc>
            </a:pPr>
            <a:r>
              <a:rPr sz="1500" b="0" i="0">
                <a:solidFill>
                  <a:srgbClr val="A7B2B0"/>
                </a:solidFill>
                <a:latin typeface="Segoe UI"/>
              </a:rPr>
              <a:t>1,983</a:t>
            </a:r>
          </a:p>
        </p:txBody>
      </p:sp>
      <p:cxnSp>
        <p:nvCxnSpPr>
          <p:cNvPr id="34" name="Connector 33"/>
          <p:cNvCxnSpPr/>
          <p:nvPr/>
        </p:nvCxnSpPr>
        <p:spPr>
          <a:xfrm>
            <a:off x="566928" y="6373368"/>
            <a:ext cx="11057839" cy="0"/>
          </a:xfrm>
          <a:prstGeom prst="line">
            <a:avLst/>
          </a:prstGeom>
          <a:ln w="7620">
            <a:solidFill>
              <a:srgbClr val="2A3A40"/>
            </a:solidFill>
          </a:ln>
        </p:spPr>
        <p:style>
          <a:lnRef idx="2">
            <a:schemeClr val="accent1"/>
          </a:lnRef>
          <a:fillRef idx="0">
            <a:schemeClr val="accent1"/>
          </a:fillRef>
          <a:effectRef idx="1">
            <a:schemeClr val="accent1"/>
          </a:effectRef>
          <a:fontRef idx="minor">
            <a:schemeClr val="tx1"/>
          </a:fontRef>
        </p:style>
      </p:cxnSp>
      <p:sp>
        <p:nvSpPr>
          <p:cNvPr id="35" name="TextBox 34"/>
          <p:cNvSpPr txBox="1"/>
          <p:nvPr/>
        </p:nvSpPr>
        <p:spPr>
          <a:xfrm>
            <a:off x="566928" y="6419088"/>
            <a:ext cx="6858000" cy="274320"/>
          </a:xfrm>
          <a:prstGeom prst="rect">
            <a:avLst/>
          </a:prstGeom>
          <a:noFill/>
        </p:spPr>
        <p:txBody>
          <a:bodyPr wrap="square" lIns="45720" rIns="45720" tIns="27432" bIns="27432" anchor="t">
            <a:noAutofit/>
          </a:bodyPr>
          <a:lstStyle/>
          <a:p>
            <a:pPr algn="l">
              <a:lnSpc>
                <a:spcPct val="100000"/>
              </a:lnSpc>
            </a:pPr>
            <a:r>
              <a:rPr sz="850" b="0" i="0" spc="120">
                <a:solidFill>
                  <a:srgbClr val="A7B2B0"/>
                </a:solidFill>
                <a:latin typeface="Segoe UI Semibold"/>
              </a:rPr>
              <a:t>TLAMATINI  ·  IX · DATOS DEL REPOSITORIO</a:t>
            </a:r>
          </a:p>
        </p:txBody>
      </p:sp>
      <p:sp>
        <p:nvSpPr>
          <p:cNvPr id="36" name="TextBox 35"/>
          <p:cNvSpPr txBox="1"/>
          <p:nvPr/>
        </p:nvSpPr>
        <p:spPr>
          <a:xfrm>
            <a:off x="8698687" y="6419088"/>
            <a:ext cx="2926080" cy="274320"/>
          </a:xfrm>
          <a:prstGeom prst="rect">
            <a:avLst/>
          </a:prstGeom>
          <a:noFill/>
        </p:spPr>
        <p:txBody>
          <a:bodyPr wrap="square" lIns="45720" rIns="45720" tIns="27432" bIns="27432" anchor="t">
            <a:noAutofit/>
          </a:bodyPr>
          <a:lstStyle/>
          <a:p>
            <a:pPr algn="r">
              <a:lnSpc>
                <a:spcPct val="100000"/>
              </a:lnSpc>
            </a:pPr>
            <a:r>
              <a:rPr sz="850" b="0" i="0" spc="100">
                <a:solidFill>
                  <a:srgbClr val="A7B2B0"/>
                </a:solidFill>
                <a:latin typeface="Segoe UI Semibold"/>
              </a:rPr>
              <a:t>v1.91.1   ·   170</a:t>
            </a:r>
          </a:p>
        </p:txBody>
      </p:sp>
    </p:spTree>
  </p:cSld>
  <p:clrMapOvr>
    <a:masterClrMapping/>
  </p:clrMapOvr>
</p:sld>
</file>

<file path=ppt/slides/slide1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content.png"/>
          <p:cNvPicPr>
            <a:picLocks noChangeAspect="1"/>
          </p:cNvPicPr>
          <p:nvPr/>
        </p:nvPicPr>
        <p:blipFill>
          <a:blip r:embed="rId2"/>
          <a:stretch>
            <a:fillRect/>
          </a:stretch>
        </p:blipFill>
        <p:spPr>
          <a:xfrm>
            <a:off x="0" y="0"/>
            <a:ext cx="12191695" cy="6858000"/>
          </a:xfrm>
          <a:prstGeom prst="rect">
            <a:avLst/>
          </a:prstGeom>
        </p:spPr>
      </p:pic>
      <p:sp>
        <p:nvSpPr>
          <p:cNvPr id="3" name="Diamond 2"/>
          <p:cNvSpPr/>
          <p:nvPr/>
        </p:nvSpPr>
        <p:spPr>
          <a:xfrm>
            <a:off x="566928" y="457200"/>
            <a:ext cx="100584" cy="100584"/>
          </a:xfrm>
          <a:prstGeom prst="diamond">
            <a:avLst/>
          </a:prstGeom>
          <a:solidFill>
            <a:srgbClr val="C984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49808" y="365760"/>
            <a:ext cx="8229600" cy="292608"/>
          </a:xfrm>
          <a:prstGeom prst="rect">
            <a:avLst/>
          </a:prstGeom>
          <a:noFill/>
        </p:spPr>
        <p:txBody>
          <a:bodyPr wrap="square" lIns="45720" rIns="45720" tIns="27432" bIns="27432" anchor="t">
            <a:noAutofit/>
          </a:bodyPr>
          <a:lstStyle/>
          <a:p>
            <a:pPr algn="l">
              <a:lnSpc>
                <a:spcPct val="100000"/>
              </a:lnSpc>
            </a:pPr>
            <a:r>
              <a:rPr sz="1100" b="0" i="0" spc="240">
                <a:solidFill>
                  <a:srgbClr val="C98457"/>
                </a:solidFill>
                <a:latin typeface="Segoe UI Semibold"/>
              </a:rPr>
              <a:t>HISTORIA</a:t>
            </a:r>
          </a:p>
        </p:txBody>
      </p:sp>
      <p:sp>
        <p:nvSpPr>
          <p:cNvPr id="5" name="TextBox 4"/>
          <p:cNvSpPr txBox="1"/>
          <p:nvPr/>
        </p:nvSpPr>
        <p:spPr>
          <a:xfrm>
            <a:off x="539496" y="676656"/>
            <a:ext cx="11057839" cy="658368"/>
          </a:xfrm>
          <a:prstGeom prst="rect">
            <a:avLst/>
          </a:prstGeom>
          <a:noFill/>
        </p:spPr>
        <p:txBody>
          <a:bodyPr wrap="square" lIns="45720" rIns="45720" tIns="27432" bIns="27432" anchor="t">
            <a:noAutofit/>
          </a:bodyPr>
          <a:lstStyle/>
          <a:p>
            <a:pPr algn="l">
              <a:lnSpc>
                <a:spcPct val="100000"/>
              </a:lnSpc>
            </a:pPr>
            <a:r>
              <a:rPr sz="3100" b="0" i="0">
                <a:solidFill>
                  <a:srgbClr val="F7F2E8"/>
                </a:solidFill>
                <a:latin typeface="Palatino Linotype"/>
              </a:rPr>
              <a:t>Commits recientes  (1/2)</a:t>
            </a:r>
          </a:p>
        </p:txBody>
      </p:sp>
      <p:sp>
        <p:nvSpPr>
          <p:cNvPr id="6" name="Rectangle 5"/>
          <p:cNvSpPr/>
          <p:nvPr/>
        </p:nvSpPr>
        <p:spPr>
          <a:xfrm>
            <a:off x="566928" y="1344168"/>
            <a:ext cx="822960" cy="36576"/>
          </a:xfrm>
          <a:prstGeom prst="rect">
            <a:avLst/>
          </a:prstGeom>
          <a:solidFill>
            <a:srgbClr val="C984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566928" y="1444752"/>
            <a:ext cx="10692079" cy="585216"/>
          </a:xfrm>
          <a:prstGeom prst="rect">
            <a:avLst/>
          </a:prstGeom>
          <a:noFill/>
        </p:spPr>
        <p:txBody>
          <a:bodyPr wrap="square" lIns="45720" rIns="45720" tIns="27432" bIns="27432" anchor="t">
            <a:noAutofit/>
          </a:bodyPr>
          <a:lstStyle/>
          <a:p>
            <a:pPr algn="l">
              <a:lnSpc>
                <a:spcPct val="100000"/>
              </a:lnSpc>
            </a:pPr>
            <a:r>
              <a:rPr sz="1450" b="0" i="0">
                <a:solidFill>
                  <a:srgbClr val="A7B2B0"/>
                </a:solidFill>
                <a:latin typeface="Segoe UI Semilight"/>
              </a:rPr>
              <a:t>Los commits más recientes en la branch inspeccionada, del más nuevo al más viejo.</a:t>
            </a:r>
          </a:p>
        </p:txBody>
      </p:sp>
      <p:sp>
        <p:nvSpPr>
          <p:cNvPr id="8" name="Rounded Rectangle 7"/>
          <p:cNvSpPr/>
          <p:nvPr/>
        </p:nvSpPr>
        <p:spPr>
          <a:xfrm>
            <a:off x="566928" y="2084831"/>
            <a:ext cx="11057839" cy="4096512"/>
          </a:xfrm>
          <a:prstGeom prst="roundRect">
            <a:avLst>
              <a:gd name="adj" fmla="val 1785"/>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ounded Rectangle 8"/>
          <p:cNvSpPr/>
          <p:nvPr/>
        </p:nvSpPr>
        <p:spPr>
          <a:xfrm>
            <a:off x="566928" y="2084831"/>
            <a:ext cx="11057839" cy="384048"/>
          </a:xfrm>
          <a:prstGeom prst="roundRect">
            <a:avLst>
              <a:gd name="adj" fmla="val 19047"/>
            </a:avLst>
          </a:prstGeom>
          <a:solidFill>
            <a:srgbClr val="151F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640080" y="2121408"/>
            <a:ext cx="1180636" cy="310896"/>
          </a:xfrm>
          <a:prstGeom prst="rect">
            <a:avLst/>
          </a:prstGeom>
          <a:noFill/>
        </p:spPr>
        <p:txBody>
          <a:bodyPr wrap="square" lIns="45720" rIns="45720" tIns="27432" bIns="27432" anchor="ctr">
            <a:noAutofit/>
          </a:bodyPr>
          <a:lstStyle/>
          <a:p>
            <a:pPr algn="l">
              <a:lnSpc>
                <a:spcPct val="100000"/>
              </a:lnSpc>
            </a:pPr>
            <a:r>
              <a:rPr sz="1000" b="0" i="0" spc="120">
                <a:solidFill>
                  <a:srgbClr val="E2B462"/>
                </a:solidFill>
                <a:latin typeface="Segoe UI Semibold"/>
              </a:rPr>
              <a:t>COMMIT</a:t>
            </a:r>
          </a:p>
        </p:txBody>
      </p:sp>
      <p:sp>
        <p:nvSpPr>
          <p:cNvPr id="11" name="TextBox 10"/>
          <p:cNvSpPr txBox="1"/>
          <p:nvPr/>
        </p:nvSpPr>
        <p:spPr>
          <a:xfrm>
            <a:off x="1967020" y="2121408"/>
            <a:ext cx="1401793" cy="310896"/>
          </a:xfrm>
          <a:prstGeom prst="rect">
            <a:avLst/>
          </a:prstGeom>
          <a:noFill/>
        </p:spPr>
        <p:txBody>
          <a:bodyPr wrap="square" lIns="45720" rIns="45720" tIns="27432" bIns="27432" anchor="ctr">
            <a:noAutofit/>
          </a:bodyPr>
          <a:lstStyle/>
          <a:p>
            <a:pPr algn="l">
              <a:lnSpc>
                <a:spcPct val="100000"/>
              </a:lnSpc>
            </a:pPr>
            <a:r>
              <a:rPr sz="1000" b="0" i="0" spc="120">
                <a:solidFill>
                  <a:srgbClr val="E2B462"/>
                </a:solidFill>
                <a:latin typeface="Segoe UI Semibold"/>
              </a:rPr>
              <a:t>FECHA</a:t>
            </a:r>
          </a:p>
        </p:txBody>
      </p:sp>
      <p:sp>
        <p:nvSpPr>
          <p:cNvPr id="12" name="TextBox 11"/>
          <p:cNvSpPr txBox="1"/>
          <p:nvPr/>
        </p:nvSpPr>
        <p:spPr>
          <a:xfrm>
            <a:off x="3515118" y="2121408"/>
            <a:ext cx="8036497" cy="310896"/>
          </a:xfrm>
          <a:prstGeom prst="rect">
            <a:avLst/>
          </a:prstGeom>
          <a:noFill/>
        </p:spPr>
        <p:txBody>
          <a:bodyPr wrap="square" lIns="45720" rIns="45720" tIns="27432" bIns="27432" anchor="ctr">
            <a:noAutofit/>
          </a:bodyPr>
          <a:lstStyle/>
          <a:p>
            <a:pPr algn="l">
              <a:lnSpc>
                <a:spcPct val="100000"/>
              </a:lnSpc>
            </a:pPr>
            <a:r>
              <a:rPr sz="1000" b="0" i="0" spc="120">
                <a:solidFill>
                  <a:srgbClr val="E2B462"/>
                </a:solidFill>
                <a:latin typeface="Segoe UI Semibold"/>
              </a:rPr>
              <a:t>ASUNTO</a:t>
            </a:r>
          </a:p>
        </p:txBody>
      </p:sp>
      <p:sp>
        <p:nvSpPr>
          <p:cNvPr id="13" name="TextBox 12"/>
          <p:cNvSpPr txBox="1"/>
          <p:nvPr/>
        </p:nvSpPr>
        <p:spPr>
          <a:xfrm>
            <a:off x="640080" y="2505456"/>
            <a:ext cx="1180636" cy="248412"/>
          </a:xfrm>
          <a:prstGeom prst="rect">
            <a:avLst/>
          </a:prstGeom>
          <a:noFill/>
        </p:spPr>
        <p:txBody>
          <a:bodyPr wrap="square" lIns="45720" rIns="45720" tIns="27432" bIns="27432" anchor="ctr">
            <a:noAutofit/>
          </a:bodyPr>
          <a:lstStyle/>
          <a:p>
            <a:pPr algn="l">
              <a:lnSpc>
                <a:spcPct val="100000"/>
              </a:lnSpc>
            </a:pPr>
            <a:r>
              <a:rPr sz="1150" b="0" i="0">
                <a:solidFill>
                  <a:srgbClr val="F7F2E8"/>
                </a:solidFill>
                <a:latin typeface="Segoe UI Semibold"/>
              </a:rPr>
              <a:t>21b0a5c</a:t>
            </a:r>
          </a:p>
        </p:txBody>
      </p:sp>
      <p:sp>
        <p:nvSpPr>
          <p:cNvPr id="14" name="TextBox 13"/>
          <p:cNvSpPr txBox="1"/>
          <p:nvPr/>
        </p:nvSpPr>
        <p:spPr>
          <a:xfrm>
            <a:off x="1967020" y="2505456"/>
            <a:ext cx="1401793" cy="248412"/>
          </a:xfrm>
          <a:prstGeom prst="rect">
            <a:avLst/>
          </a:prstGeom>
          <a:noFill/>
        </p:spPr>
        <p:txBody>
          <a:bodyPr wrap="square" lIns="45720" rIns="45720" tIns="27432" bIns="27432" anchor="ctr">
            <a:noAutofit/>
          </a:bodyPr>
          <a:lstStyle/>
          <a:p>
            <a:pPr algn="l">
              <a:lnSpc>
                <a:spcPct val="100000"/>
              </a:lnSpc>
            </a:pPr>
            <a:r>
              <a:rPr sz="1150" b="0" i="0">
                <a:solidFill>
                  <a:srgbClr val="A7B2B0"/>
                </a:solidFill>
                <a:latin typeface="Segoe UI"/>
              </a:rPr>
              <a:t>2026-10-27</a:t>
            </a:r>
          </a:p>
        </p:txBody>
      </p:sp>
      <p:sp>
        <p:nvSpPr>
          <p:cNvPr id="15" name="TextBox 14"/>
          <p:cNvSpPr txBox="1"/>
          <p:nvPr/>
        </p:nvSpPr>
        <p:spPr>
          <a:xfrm>
            <a:off x="3515118" y="2505456"/>
            <a:ext cx="8036497" cy="248412"/>
          </a:xfrm>
          <a:prstGeom prst="rect">
            <a:avLst/>
          </a:prstGeom>
          <a:noFill/>
        </p:spPr>
        <p:txBody>
          <a:bodyPr wrap="square" lIns="45720" rIns="45720" tIns="27432" bIns="27432" anchor="ctr">
            <a:noAutofit/>
          </a:bodyPr>
          <a:lstStyle/>
          <a:p>
            <a:pPr algn="l">
              <a:lnSpc>
                <a:spcPct val="100000"/>
              </a:lnSpc>
            </a:pPr>
            <a:r>
              <a:rPr sz="1150" b="0" i="0">
                <a:solidFill>
                  <a:srgbClr val="A7B2B0"/>
                </a:solidFill>
                <a:latin typeface="Segoe UI"/>
              </a:rPr>
              <a:t>Skip flow_catalog.json and 3 Terminater/canvas tests in the public scrubber</a:t>
            </a:r>
          </a:p>
        </p:txBody>
      </p:sp>
      <p:sp>
        <p:nvSpPr>
          <p:cNvPr id="16" name="Rectangle 15"/>
          <p:cNvSpPr/>
          <p:nvPr/>
        </p:nvSpPr>
        <p:spPr>
          <a:xfrm>
            <a:off x="585216" y="2790443"/>
            <a:ext cx="11021263" cy="496824"/>
          </a:xfrm>
          <a:prstGeom prst="rect">
            <a:avLst/>
          </a:prstGeom>
          <a:solidFill>
            <a:srgbClr val="1824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640080" y="2827019"/>
            <a:ext cx="1180636" cy="423672"/>
          </a:xfrm>
          <a:prstGeom prst="rect">
            <a:avLst/>
          </a:prstGeom>
          <a:noFill/>
        </p:spPr>
        <p:txBody>
          <a:bodyPr wrap="square" lIns="45720" rIns="45720" tIns="27432" bIns="27432" anchor="ctr">
            <a:noAutofit/>
          </a:bodyPr>
          <a:lstStyle/>
          <a:p>
            <a:pPr algn="l">
              <a:lnSpc>
                <a:spcPct val="100000"/>
              </a:lnSpc>
            </a:pPr>
            <a:r>
              <a:rPr sz="1150" b="0" i="0">
                <a:solidFill>
                  <a:srgbClr val="F7F2E8"/>
                </a:solidFill>
                <a:latin typeface="Segoe UI Semibold"/>
              </a:rPr>
              <a:t>170122b</a:t>
            </a:r>
          </a:p>
        </p:txBody>
      </p:sp>
      <p:sp>
        <p:nvSpPr>
          <p:cNvPr id="18" name="TextBox 17"/>
          <p:cNvSpPr txBox="1"/>
          <p:nvPr/>
        </p:nvSpPr>
        <p:spPr>
          <a:xfrm>
            <a:off x="1967020" y="2827019"/>
            <a:ext cx="1401793" cy="423672"/>
          </a:xfrm>
          <a:prstGeom prst="rect">
            <a:avLst/>
          </a:prstGeom>
          <a:noFill/>
        </p:spPr>
        <p:txBody>
          <a:bodyPr wrap="square" lIns="45720" rIns="45720" tIns="27432" bIns="27432" anchor="ctr">
            <a:noAutofit/>
          </a:bodyPr>
          <a:lstStyle/>
          <a:p>
            <a:pPr algn="l">
              <a:lnSpc>
                <a:spcPct val="100000"/>
              </a:lnSpc>
            </a:pPr>
            <a:r>
              <a:rPr sz="1150" b="0" i="0">
                <a:solidFill>
                  <a:srgbClr val="A7B2B0"/>
                </a:solidFill>
                <a:latin typeface="Segoe UI"/>
              </a:rPr>
              <a:t>2026-10-27</a:t>
            </a:r>
          </a:p>
        </p:txBody>
      </p:sp>
      <p:sp>
        <p:nvSpPr>
          <p:cNvPr id="19" name="TextBox 18"/>
          <p:cNvSpPr txBox="1"/>
          <p:nvPr/>
        </p:nvSpPr>
        <p:spPr>
          <a:xfrm>
            <a:off x="3515118" y="2827019"/>
            <a:ext cx="8036497" cy="423672"/>
          </a:xfrm>
          <a:prstGeom prst="rect">
            <a:avLst/>
          </a:prstGeom>
          <a:noFill/>
        </p:spPr>
        <p:txBody>
          <a:bodyPr wrap="square" lIns="45720" rIns="45720" tIns="27432" bIns="27432" anchor="ctr">
            <a:noAutofit/>
          </a:bodyPr>
          <a:lstStyle/>
          <a:p>
            <a:pPr algn="l">
              <a:lnSpc>
                <a:spcPct val="100000"/>
              </a:lnSpc>
            </a:pPr>
            <a:r>
              <a:rPr sz="1150" b="0" i="0">
                <a:solidFill>
                  <a:srgbClr val="A7B2B0"/>
                </a:solidFill>
                <a:latin typeface="Segoe UI"/>
              </a:rPr>
              <a:t>Fix on prompting flow correction with conversation_user_id, and answering handling, and some additional GUI fixes (from Tlamatini english), by Tlamatini's-AutoBot.</a:t>
            </a:r>
          </a:p>
        </p:txBody>
      </p:sp>
      <p:sp>
        <p:nvSpPr>
          <p:cNvPr id="20" name="TextBox 19"/>
          <p:cNvSpPr txBox="1"/>
          <p:nvPr/>
        </p:nvSpPr>
        <p:spPr>
          <a:xfrm>
            <a:off x="640080" y="3323844"/>
            <a:ext cx="1180636" cy="248412"/>
          </a:xfrm>
          <a:prstGeom prst="rect">
            <a:avLst/>
          </a:prstGeom>
          <a:noFill/>
        </p:spPr>
        <p:txBody>
          <a:bodyPr wrap="square" lIns="45720" rIns="45720" tIns="27432" bIns="27432" anchor="ctr">
            <a:noAutofit/>
          </a:bodyPr>
          <a:lstStyle/>
          <a:p>
            <a:pPr algn="l">
              <a:lnSpc>
                <a:spcPct val="100000"/>
              </a:lnSpc>
            </a:pPr>
            <a:r>
              <a:rPr sz="1150" b="0" i="0">
                <a:solidFill>
                  <a:srgbClr val="F7F2E8"/>
                </a:solidFill>
                <a:latin typeface="Segoe UI Semibold"/>
              </a:rPr>
              <a:t>74a53b9</a:t>
            </a:r>
          </a:p>
        </p:txBody>
      </p:sp>
      <p:sp>
        <p:nvSpPr>
          <p:cNvPr id="21" name="TextBox 20"/>
          <p:cNvSpPr txBox="1"/>
          <p:nvPr/>
        </p:nvSpPr>
        <p:spPr>
          <a:xfrm>
            <a:off x="1967020" y="3323844"/>
            <a:ext cx="1401793" cy="248412"/>
          </a:xfrm>
          <a:prstGeom prst="rect">
            <a:avLst/>
          </a:prstGeom>
          <a:noFill/>
        </p:spPr>
        <p:txBody>
          <a:bodyPr wrap="square" lIns="45720" rIns="45720" tIns="27432" bIns="27432" anchor="ctr">
            <a:noAutofit/>
          </a:bodyPr>
          <a:lstStyle/>
          <a:p>
            <a:pPr algn="l">
              <a:lnSpc>
                <a:spcPct val="100000"/>
              </a:lnSpc>
            </a:pPr>
            <a:r>
              <a:rPr sz="1150" b="0" i="0">
                <a:solidFill>
                  <a:srgbClr val="A7B2B0"/>
                </a:solidFill>
                <a:latin typeface="Segoe UI"/>
              </a:rPr>
              <a:t>2026-10-25</a:t>
            </a:r>
          </a:p>
        </p:txBody>
      </p:sp>
      <p:sp>
        <p:nvSpPr>
          <p:cNvPr id="22" name="TextBox 21"/>
          <p:cNvSpPr txBox="1"/>
          <p:nvPr/>
        </p:nvSpPr>
        <p:spPr>
          <a:xfrm>
            <a:off x="3515118" y="3323844"/>
            <a:ext cx="8036497" cy="248412"/>
          </a:xfrm>
          <a:prstGeom prst="rect">
            <a:avLst/>
          </a:prstGeom>
          <a:noFill/>
        </p:spPr>
        <p:txBody>
          <a:bodyPr wrap="square" lIns="45720" rIns="45720" tIns="27432" bIns="27432" anchor="ctr">
            <a:noAutofit/>
          </a:bodyPr>
          <a:lstStyle/>
          <a:p>
            <a:pPr algn="l">
              <a:lnSpc>
                <a:spcPct val="100000"/>
              </a:lnSpc>
            </a:pPr>
            <a:r>
              <a:rPr sz="1150" b="0" i="0">
                <a:solidFill>
                  <a:srgbClr val="A7B2B0"/>
                </a:solidFill>
                <a:latin typeface="Segoe UI"/>
              </a:rPr>
              <a:t>Make it compatible with the simultaneous installation with Tlamatini (english), by angelahack1</a:t>
            </a:r>
          </a:p>
        </p:txBody>
      </p:sp>
      <p:sp>
        <p:nvSpPr>
          <p:cNvPr id="23" name="Rectangle 22"/>
          <p:cNvSpPr/>
          <p:nvPr/>
        </p:nvSpPr>
        <p:spPr>
          <a:xfrm>
            <a:off x="585216" y="3608831"/>
            <a:ext cx="11021263" cy="321564"/>
          </a:xfrm>
          <a:prstGeom prst="rect">
            <a:avLst/>
          </a:prstGeom>
          <a:solidFill>
            <a:srgbClr val="1824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640080" y="3645407"/>
            <a:ext cx="1180636" cy="248412"/>
          </a:xfrm>
          <a:prstGeom prst="rect">
            <a:avLst/>
          </a:prstGeom>
          <a:noFill/>
        </p:spPr>
        <p:txBody>
          <a:bodyPr wrap="square" lIns="45720" rIns="45720" tIns="27432" bIns="27432" anchor="ctr">
            <a:noAutofit/>
          </a:bodyPr>
          <a:lstStyle/>
          <a:p>
            <a:pPr algn="l">
              <a:lnSpc>
                <a:spcPct val="100000"/>
              </a:lnSpc>
            </a:pPr>
            <a:r>
              <a:rPr sz="1150" b="0" i="0">
                <a:solidFill>
                  <a:srgbClr val="F7F2E8"/>
                </a:solidFill>
                <a:latin typeface="Segoe UI Semibold"/>
              </a:rPr>
              <a:t>35273a0</a:t>
            </a:r>
          </a:p>
        </p:txBody>
      </p:sp>
      <p:sp>
        <p:nvSpPr>
          <p:cNvPr id="25" name="TextBox 24"/>
          <p:cNvSpPr txBox="1"/>
          <p:nvPr/>
        </p:nvSpPr>
        <p:spPr>
          <a:xfrm>
            <a:off x="1967020" y="3645407"/>
            <a:ext cx="1401793" cy="248412"/>
          </a:xfrm>
          <a:prstGeom prst="rect">
            <a:avLst/>
          </a:prstGeom>
          <a:noFill/>
        </p:spPr>
        <p:txBody>
          <a:bodyPr wrap="square" lIns="45720" rIns="45720" tIns="27432" bIns="27432" anchor="ctr">
            <a:noAutofit/>
          </a:bodyPr>
          <a:lstStyle/>
          <a:p>
            <a:pPr algn="l">
              <a:lnSpc>
                <a:spcPct val="100000"/>
              </a:lnSpc>
            </a:pPr>
            <a:r>
              <a:rPr sz="1150" b="0" i="0">
                <a:solidFill>
                  <a:srgbClr val="A7B2B0"/>
                </a:solidFill>
                <a:latin typeface="Segoe UI"/>
              </a:rPr>
              <a:t>2026-10-25</a:t>
            </a:r>
          </a:p>
        </p:txBody>
      </p:sp>
      <p:sp>
        <p:nvSpPr>
          <p:cNvPr id="26" name="TextBox 25"/>
          <p:cNvSpPr txBox="1"/>
          <p:nvPr/>
        </p:nvSpPr>
        <p:spPr>
          <a:xfrm>
            <a:off x="3515118" y="3645407"/>
            <a:ext cx="8036497" cy="248412"/>
          </a:xfrm>
          <a:prstGeom prst="rect">
            <a:avLst/>
          </a:prstGeom>
          <a:noFill/>
        </p:spPr>
        <p:txBody>
          <a:bodyPr wrap="square" lIns="45720" rIns="45720" tIns="27432" bIns="27432" anchor="ctr">
            <a:noAutofit/>
          </a:bodyPr>
          <a:lstStyle/>
          <a:p>
            <a:pPr algn="l">
              <a:lnSpc>
                <a:spcPct val="100000"/>
              </a:lnSpc>
            </a:pPr>
            <a:r>
              <a:rPr sz="1150" b="0" i="0">
                <a:solidFill>
                  <a:srgbClr val="A7B2B0"/>
                </a:solidFill>
                <a:latin typeface="Segoe UI"/>
              </a:rPr>
              <a:t>ReCommit Tlamatini-Spanish for the brand new version!!, by angelahack1</a:t>
            </a:r>
          </a:p>
        </p:txBody>
      </p:sp>
      <p:sp>
        <p:nvSpPr>
          <p:cNvPr id="27" name="TextBox 26"/>
          <p:cNvSpPr txBox="1"/>
          <p:nvPr/>
        </p:nvSpPr>
        <p:spPr>
          <a:xfrm>
            <a:off x="640080" y="3966971"/>
            <a:ext cx="1180636" cy="248412"/>
          </a:xfrm>
          <a:prstGeom prst="rect">
            <a:avLst/>
          </a:prstGeom>
          <a:noFill/>
        </p:spPr>
        <p:txBody>
          <a:bodyPr wrap="square" lIns="45720" rIns="45720" tIns="27432" bIns="27432" anchor="ctr">
            <a:noAutofit/>
          </a:bodyPr>
          <a:lstStyle/>
          <a:p>
            <a:pPr algn="l">
              <a:lnSpc>
                <a:spcPct val="100000"/>
              </a:lnSpc>
            </a:pPr>
            <a:r>
              <a:rPr sz="1150" b="0" i="0">
                <a:solidFill>
                  <a:srgbClr val="F7F2E8"/>
                </a:solidFill>
                <a:latin typeface="Segoe UI Semibold"/>
              </a:rPr>
              <a:t>6811cb3</a:t>
            </a:r>
          </a:p>
        </p:txBody>
      </p:sp>
      <p:sp>
        <p:nvSpPr>
          <p:cNvPr id="28" name="TextBox 27"/>
          <p:cNvSpPr txBox="1"/>
          <p:nvPr/>
        </p:nvSpPr>
        <p:spPr>
          <a:xfrm>
            <a:off x="1967020" y="3966971"/>
            <a:ext cx="1401793" cy="248412"/>
          </a:xfrm>
          <a:prstGeom prst="rect">
            <a:avLst/>
          </a:prstGeom>
          <a:noFill/>
        </p:spPr>
        <p:txBody>
          <a:bodyPr wrap="square" lIns="45720" rIns="45720" tIns="27432" bIns="27432" anchor="ctr">
            <a:noAutofit/>
          </a:bodyPr>
          <a:lstStyle/>
          <a:p>
            <a:pPr algn="l">
              <a:lnSpc>
                <a:spcPct val="100000"/>
              </a:lnSpc>
            </a:pPr>
            <a:r>
              <a:rPr sz="1150" b="0" i="0">
                <a:solidFill>
                  <a:srgbClr val="A7B2B0"/>
                </a:solidFill>
                <a:latin typeface="Segoe UI"/>
              </a:rPr>
              <a:t>2026-10-25</a:t>
            </a:r>
          </a:p>
        </p:txBody>
      </p:sp>
      <p:sp>
        <p:nvSpPr>
          <p:cNvPr id="29" name="TextBox 28"/>
          <p:cNvSpPr txBox="1"/>
          <p:nvPr/>
        </p:nvSpPr>
        <p:spPr>
          <a:xfrm>
            <a:off x="3515118" y="3966971"/>
            <a:ext cx="8036497" cy="248412"/>
          </a:xfrm>
          <a:prstGeom prst="rect">
            <a:avLst/>
          </a:prstGeom>
          <a:noFill/>
        </p:spPr>
        <p:txBody>
          <a:bodyPr wrap="square" lIns="45720" rIns="45720" tIns="27432" bIns="27432" anchor="ctr">
            <a:noAutofit/>
          </a:bodyPr>
          <a:lstStyle/>
          <a:p>
            <a:pPr algn="l">
              <a:lnSpc>
                <a:spcPct val="100000"/>
              </a:lnSpc>
            </a:pPr>
            <a:r>
              <a:rPr sz="1150" b="0" i="0">
                <a:solidFill>
                  <a:srgbClr val="A7B2B0"/>
                </a:solidFill>
                <a:latin typeface="Segoe UI"/>
              </a:rPr>
              <a:t>Cleaning to previous latest Tlamatini-Spanish from Tlamatini (english) version 1.91.0, by angelahack1</a:t>
            </a:r>
          </a:p>
        </p:txBody>
      </p:sp>
      <p:sp>
        <p:nvSpPr>
          <p:cNvPr id="30" name="Rectangle 29"/>
          <p:cNvSpPr/>
          <p:nvPr/>
        </p:nvSpPr>
        <p:spPr>
          <a:xfrm>
            <a:off x="585216" y="4251959"/>
            <a:ext cx="11021263" cy="321564"/>
          </a:xfrm>
          <a:prstGeom prst="rect">
            <a:avLst/>
          </a:prstGeom>
          <a:solidFill>
            <a:srgbClr val="1824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TextBox 30"/>
          <p:cNvSpPr txBox="1"/>
          <p:nvPr/>
        </p:nvSpPr>
        <p:spPr>
          <a:xfrm>
            <a:off x="640080" y="4288536"/>
            <a:ext cx="1180636" cy="248412"/>
          </a:xfrm>
          <a:prstGeom prst="rect">
            <a:avLst/>
          </a:prstGeom>
          <a:noFill/>
        </p:spPr>
        <p:txBody>
          <a:bodyPr wrap="square" lIns="45720" rIns="45720" tIns="27432" bIns="27432" anchor="ctr">
            <a:noAutofit/>
          </a:bodyPr>
          <a:lstStyle/>
          <a:p>
            <a:pPr algn="l">
              <a:lnSpc>
                <a:spcPct val="100000"/>
              </a:lnSpc>
            </a:pPr>
            <a:r>
              <a:rPr sz="1150" b="0" i="0">
                <a:solidFill>
                  <a:srgbClr val="F7F2E8"/>
                </a:solidFill>
                <a:latin typeface="Segoe UI Semibold"/>
              </a:rPr>
              <a:t>11f7b6d</a:t>
            </a:r>
          </a:p>
        </p:txBody>
      </p:sp>
      <p:sp>
        <p:nvSpPr>
          <p:cNvPr id="32" name="TextBox 31"/>
          <p:cNvSpPr txBox="1"/>
          <p:nvPr/>
        </p:nvSpPr>
        <p:spPr>
          <a:xfrm>
            <a:off x="1967020" y="4288536"/>
            <a:ext cx="1401793" cy="248412"/>
          </a:xfrm>
          <a:prstGeom prst="rect">
            <a:avLst/>
          </a:prstGeom>
          <a:noFill/>
        </p:spPr>
        <p:txBody>
          <a:bodyPr wrap="square" lIns="45720" rIns="45720" tIns="27432" bIns="27432" anchor="ctr">
            <a:noAutofit/>
          </a:bodyPr>
          <a:lstStyle/>
          <a:p>
            <a:pPr algn="l">
              <a:lnSpc>
                <a:spcPct val="100000"/>
              </a:lnSpc>
            </a:pPr>
            <a:r>
              <a:rPr sz="1150" b="0" i="0">
                <a:solidFill>
                  <a:srgbClr val="A7B2B0"/>
                </a:solidFill>
                <a:latin typeface="Segoe UI"/>
              </a:rPr>
              <a:t>2026-09-09</a:t>
            </a:r>
          </a:p>
        </p:txBody>
      </p:sp>
      <p:sp>
        <p:nvSpPr>
          <p:cNvPr id="33" name="TextBox 32"/>
          <p:cNvSpPr txBox="1"/>
          <p:nvPr/>
        </p:nvSpPr>
        <p:spPr>
          <a:xfrm>
            <a:off x="3515118" y="4288536"/>
            <a:ext cx="8036497" cy="248412"/>
          </a:xfrm>
          <a:prstGeom prst="rect">
            <a:avLst/>
          </a:prstGeom>
          <a:noFill/>
        </p:spPr>
        <p:txBody>
          <a:bodyPr wrap="square" lIns="45720" rIns="45720" tIns="27432" bIns="27432" anchor="ctr">
            <a:noAutofit/>
          </a:bodyPr>
          <a:lstStyle/>
          <a:p>
            <a:pPr algn="l">
              <a:lnSpc>
                <a:spcPct val="100000"/>
              </a:lnSpc>
            </a:pPr>
            <a:r>
              <a:rPr sz="1150" b="0" i="0">
                <a:solidFill>
                  <a:srgbClr val="A7B2B0"/>
                </a:solidFill>
                <a:latin typeface="Segoe UI"/>
              </a:rPr>
              <a:t>Teaching the pairing guard to see inside a function, by angelahack1.</a:t>
            </a:r>
          </a:p>
        </p:txBody>
      </p:sp>
      <p:sp>
        <p:nvSpPr>
          <p:cNvPr id="34" name="TextBox 33"/>
          <p:cNvSpPr txBox="1"/>
          <p:nvPr/>
        </p:nvSpPr>
        <p:spPr>
          <a:xfrm>
            <a:off x="640080" y="4610099"/>
            <a:ext cx="1180636" cy="248412"/>
          </a:xfrm>
          <a:prstGeom prst="rect">
            <a:avLst/>
          </a:prstGeom>
          <a:noFill/>
        </p:spPr>
        <p:txBody>
          <a:bodyPr wrap="square" lIns="45720" rIns="45720" tIns="27432" bIns="27432" anchor="ctr">
            <a:noAutofit/>
          </a:bodyPr>
          <a:lstStyle/>
          <a:p>
            <a:pPr algn="l">
              <a:lnSpc>
                <a:spcPct val="100000"/>
              </a:lnSpc>
            </a:pPr>
            <a:r>
              <a:rPr sz="1150" b="0" i="0">
                <a:solidFill>
                  <a:srgbClr val="F7F2E8"/>
                </a:solidFill>
                <a:latin typeface="Segoe UI Semibold"/>
              </a:rPr>
              <a:t>ac3a98a</a:t>
            </a:r>
          </a:p>
        </p:txBody>
      </p:sp>
      <p:sp>
        <p:nvSpPr>
          <p:cNvPr id="35" name="TextBox 34"/>
          <p:cNvSpPr txBox="1"/>
          <p:nvPr/>
        </p:nvSpPr>
        <p:spPr>
          <a:xfrm>
            <a:off x="1967020" y="4610099"/>
            <a:ext cx="1401793" cy="248412"/>
          </a:xfrm>
          <a:prstGeom prst="rect">
            <a:avLst/>
          </a:prstGeom>
          <a:noFill/>
        </p:spPr>
        <p:txBody>
          <a:bodyPr wrap="square" lIns="45720" rIns="45720" tIns="27432" bIns="27432" anchor="ctr">
            <a:noAutofit/>
          </a:bodyPr>
          <a:lstStyle/>
          <a:p>
            <a:pPr algn="l">
              <a:lnSpc>
                <a:spcPct val="100000"/>
              </a:lnSpc>
            </a:pPr>
            <a:r>
              <a:rPr sz="1150" b="0" i="0">
                <a:solidFill>
                  <a:srgbClr val="A7B2B0"/>
                </a:solidFill>
                <a:latin typeface="Segoe UI"/>
              </a:rPr>
              <a:t>2026-09-09</a:t>
            </a:r>
          </a:p>
        </p:txBody>
      </p:sp>
      <p:sp>
        <p:nvSpPr>
          <p:cNvPr id="36" name="TextBox 35"/>
          <p:cNvSpPr txBox="1"/>
          <p:nvPr/>
        </p:nvSpPr>
        <p:spPr>
          <a:xfrm>
            <a:off x="3515118" y="4610099"/>
            <a:ext cx="8036497" cy="248412"/>
          </a:xfrm>
          <a:prstGeom prst="rect">
            <a:avLst/>
          </a:prstGeom>
          <a:noFill/>
        </p:spPr>
        <p:txBody>
          <a:bodyPr wrap="square" lIns="45720" rIns="45720" tIns="27432" bIns="27432" anchor="ctr">
            <a:noAutofit/>
          </a:bodyPr>
          <a:lstStyle/>
          <a:p>
            <a:pPr algn="l">
              <a:lnSpc>
                <a:spcPct val="100000"/>
              </a:lnSpc>
            </a:pPr>
            <a:r>
              <a:rPr sz="1150" b="0" i="0">
                <a:solidFill>
                  <a:srgbClr val="A7B2B0"/>
                </a:solidFill>
                <a:latin typeface="Segoe UI"/>
              </a:rPr>
              <a:t>Stopping a live key from ever reaching a commit, by angelahack1.</a:t>
            </a:r>
          </a:p>
        </p:txBody>
      </p:sp>
      <p:sp>
        <p:nvSpPr>
          <p:cNvPr id="37" name="Rectangle 36"/>
          <p:cNvSpPr/>
          <p:nvPr/>
        </p:nvSpPr>
        <p:spPr>
          <a:xfrm>
            <a:off x="585216" y="4895087"/>
            <a:ext cx="11021263" cy="321564"/>
          </a:xfrm>
          <a:prstGeom prst="rect">
            <a:avLst/>
          </a:prstGeom>
          <a:solidFill>
            <a:srgbClr val="1824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8" name="TextBox 37"/>
          <p:cNvSpPr txBox="1"/>
          <p:nvPr/>
        </p:nvSpPr>
        <p:spPr>
          <a:xfrm>
            <a:off x="640080" y="4931663"/>
            <a:ext cx="1180636" cy="248412"/>
          </a:xfrm>
          <a:prstGeom prst="rect">
            <a:avLst/>
          </a:prstGeom>
          <a:noFill/>
        </p:spPr>
        <p:txBody>
          <a:bodyPr wrap="square" lIns="45720" rIns="45720" tIns="27432" bIns="27432" anchor="ctr">
            <a:noAutofit/>
          </a:bodyPr>
          <a:lstStyle/>
          <a:p>
            <a:pPr algn="l">
              <a:lnSpc>
                <a:spcPct val="100000"/>
              </a:lnSpc>
            </a:pPr>
            <a:r>
              <a:rPr sz="1150" b="0" i="0">
                <a:solidFill>
                  <a:srgbClr val="F7F2E8"/>
                </a:solidFill>
                <a:latin typeface="Segoe UI Semibold"/>
              </a:rPr>
              <a:t>4f1ac5a</a:t>
            </a:r>
          </a:p>
        </p:txBody>
      </p:sp>
      <p:sp>
        <p:nvSpPr>
          <p:cNvPr id="39" name="TextBox 38"/>
          <p:cNvSpPr txBox="1"/>
          <p:nvPr/>
        </p:nvSpPr>
        <p:spPr>
          <a:xfrm>
            <a:off x="1967020" y="4931663"/>
            <a:ext cx="1401793" cy="248412"/>
          </a:xfrm>
          <a:prstGeom prst="rect">
            <a:avLst/>
          </a:prstGeom>
          <a:noFill/>
        </p:spPr>
        <p:txBody>
          <a:bodyPr wrap="square" lIns="45720" rIns="45720" tIns="27432" bIns="27432" anchor="ctr">
            <a:noAutofit/>
          </a:bodyPr>
          <a:lstStyle/>
          <a:p>
            <a:pPr algn="l">
              <a:lnSpc>
                <a:spcPct val="100000"/>
              </a:lnSpc>
            </a:pPr>
            <a:r>
              <a:rPr sz="1150" b="0" i="0">
                <a:solidFill>
                  <a:srgbClr val="A7B2B0"/>
                </a:solidFill>
                <a:latin typeface="Segoe UI"/>
              </a:rPr>
              <a:t>2026-09-09</a:t>
            </a:r>
          </a:p>
        </p:txBody>
      </p:sp>
      <p:sp>
        <p:nvSpPr>
          <p:cNvPr id="40" name="TextBox 39"/>
          <p:cNvSpPr txBox="1"/>
          <p:nvPr/>
        </p:nvSpPr>
        <p:spPr>
          <a:xfrm>
            <a:off x="3515118" y="4931663"/>
            <a:ext cx="8036497" cy="248412"/>
          </a:xfrm>
          <a:prstGeom prst="rect">
            <a:avLst/>
          </a:prstGeom>
          <a:noFill/>
        </p:spPr>
        <p:txBody>
          <a:bodyPr wrap="square" lIns="45720" rIns="45720" tIns="27432" bIns="27432" anchor="ctr">
            <a:noAutofit/>
          </a:bodyPr>
          <a:lstStyle/>
          <a:p>
            <a:pPr algn="l">
              <a:lnSpc>
                <a:spcPct val="100000"/>
              </a:lnSpc>
            </a:pPr>
            <a:r>
              <a:rPr sz="1150" b="0" i="0">
                <a:solidFill>
                  <a:srgbClr val="A7B2B0"/>
                </a:solidFill>
                <a:latin typeface="Segoe UI"/>
              </a:rPr>
              <a:t>Making a missing config seed fail loudly instead of silently, by angelahack1.</a:t>
            </a:r>
          </a:p>
        </p:txBody>
      </p:sp>
      <p:sp>
        <p:nvSpPr>
          <p:cNvPr id="41" name="TextBox 40"/>
          <p:cNvSpPr txBox="1"/>
          <p:nvPr/>
        </p:nvSpPr>
        <p:spPr>
          <a:xfrm>
            <a:off x="640080" y="5253227"/>
            <a:ext cx="1180636" cy="248412"/>
          </a:xfrm>
          <a:prstGeom prst="rect">
            <a:avLst/>
          </a:prstGeom>
          <a:noFill/>
        </p:spPr>
        <p:txBody>
          <a:bodyPr wrap="square" lIns="45720" rIns="45720" tIns="27432" bIns="27432" anchor="ctr">
            <a:noAutofit/>
          </a:bodyPr>
          <a:lstStyle/>
          <a:p>
            <a:pPr algn="l">
              <a:lnSpc>
                <a:spcPct val="100000"/>
              </a:lnSpc>
            </a:pPr>
            <a:r>
              <a:rPr sz="1150" b="0" i="0">
                <a:solidFill>
                  <a:srgbClr val="F7F2E8"/>
                </a:solidFill>
                <a:latin typeface="Segoe UI Semibold"/>
              </a:rPr>
              <a:t>8d48b9e</a:t>
            </a:r>
          </a:p>
        </p:txBody>
      </p:sp>
      <p:sp>
        <p:nvSpPr>
          <p:cNvPr id="42" name="TextBox 41"/>
          <p:cNvSpPr txBox="1"/>
          <p:nvPr/>
        </p:nvSpPr>
        <p:spPr>
          <a:xfrm>
            <a:off x="1967020" y="5253227"/>
            <a:ext cx="1401793" cy="248412"/>
          </a:xfrm>
          <a:prstGeom prst="rect">
            <a:avLst/>
          </a:prstGeom>
          <a:noFill/>
        </p:spPr>
        <p:txBody>
          <a:bodyPr wrap="square" lIns="45720" rIns="45720" tIns="27432" bIns="27432" anchor="ctr">
            <a:noAutofit/>
          </a:bodyPr>
          <a:lstStyle/>
          <a:p>
            <a:pPr algn="l">
              <a:lnSpc>
                <a:spcPct val="100000"/>
              </a:lnSpc>
            </a:pPr>
            <a:r>
              <a:rPr sz="1150" b="0" i="0">
                <a:solidFill>
                  <a:srgbClr val="A7B2B0"/>
                </a:solidFill>
                <a:latin typeface="Segoe UI"/>
              </a:rPr>
              <a:t>2026-09-09</a:t>
            </a:r>
          </a:p>
        </p:txBody>
      </p:sp>
      <p:sp>
        <p:nvSpPr>
          <p:cNvPr id="43" name="TextBox 42"/>
          <p:cNvSpPr txBox="1"/>
          <p:nvPr/>
        </p:nvSpPr>
        <p:spPr>
          <a:xfrm>
            <a:off x="3515118" y="5253227"/>
            <a:ext cx="8036497" cy="248412"/>
          </a:xfrm>
          <a:prstGeom prst="rect">
            <a:avLst/>
          </a:prstGeom>
          <a:noFill/>
        </p:spPr>
        <p:txBody>
          <a:bodyPr wrap="square" lIns="45720" rIns="45720" tIns="27432" bIns="27432" anchor="ctr">
            <a:noAutofit/>
          </a:bodyPr>
          <a:lstStyle/>
          <a:p>
            <a:pPr algn="l">
              <a:lnSpc>
                <a:spcPct val="100000"/>
              </a:lnSpc>
            </a:pPr>
            <a:r>
              <a:rPr sz="1150" b="0" i="0">
                <a:solidFill>
                  <a:srgbClr val="A7B2B0"/>
                </a:solidFill>
                <a:latin typeface="Segoe UI"/>
              </a:rPr>
              <a:t>Checking committing and pushing, by angelahack1</a:t>
            </a:r>
          </a:p>
        </p:txBody>
      </p:sp>
      <p:sp>
        <p:nvSpPr>
          <p:cNvPr id="44" name="Rectangle 43"/>
          <p:cNvSpPr/>
          <p:nvPr/>
        </p:nvSpPr>
        <p:spPr>
          <a:xfrm>
            <a:off x="585216" y="5538215"/>
            <a:ext cx="11021263" cy="321564"/>
          </a:xfrm>
          <a:prstGeom prst="rect">
            <a:avLst/>
          </a:prstGeom>
          <a:solidFill>
            <a:srgbClr val="1824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5" name="TextBox 44"/>
          <p:cNvSpPr txBox="1"/>
          <p:nvPr/>
        </p:nvSpPr>
        <p:spPr>
          <a:xfrm>
            <a:off x="640080" y="5574791"/>
            <a:ext cx="1180636" cy="248412"/>
          </a:xfrm>
          <a:prstGeom prst="rect">
            <a:avLst/>
          </a:prstGeom>
          <a:noFill/>
        </p:spPr>
        <p:txBody>
          <a:bodyPr wrap="square" lIns="45720" rIns="45720" tIns="27432" bIns="27432" anchor="ctr">
            <a:noAutofit/>
          </a:bodyPr>
          <a:lstStyle/>
          <a:p>
            <a:pPr algn="l">
              <a:lnSpc>
                <a:spcPct val="100000"/>
              </a:lnSpc>
            </a:pPr>
            <a:r>
              <a:rPr sz="1150" b="0" i="0">
                <a:solidFill>
                  <a:srgbClr val="F7F2E8"/>
                </a:solidFill>
                <a:latin typeface="Segoe UI Semibold"/>
              </a:rPr>
              <a:t>d75670b</a:t>
            </a:r>
          </a:p>
        </p:txBody>
      </p:sp>
      <p:sp>
        <p:nvSpPr>
          <p:cNvPr id="46" name="TextBox 45"/>
          <p:cNvSpPr txBox="1"/>
          <p:nvPr/>
        </p:nvSpPr>
        <p:spPr>
          <a:xfrm>
            <a:off x="1967020" y="5574791"/>
            <a:ext cx="1401793" cy="248412"/>
          </a:xfrm>
          <a:prstGeom prst="rect">
            <a:avLst/>
          </a:prstGeom>
          <a:noFill/>
        </p:spPr>
        <p:txBody>
          <a:bodyPr wrap="square" lIns="45720" rIns="45720" tIns="27432" bIns="27432" anchor="ctr">
            <a:noAutofit/>
          </a:bodyPr>
          <a:lstStyle/>
          <a:p>
            <a:pPr algn="l">
              <a:lnSpc>
                <a:spcPct val="100000"/>
              </a:lnSpc>
            </a:pPr>
            <a:r>
              <a:rPr sz="1150" b="0" i="0">
                <a:solidFill>
                  <a:srgbClr val="A7B2B0"/>
                </a:solidFill>
                <a:latin typeface="Segoe UI"/>
              </a:rPr>
              <a:t>2026-09-09</a:t>
            </a:r>
          </a:p>
        </p:txBody>
      </p:sp>
      <p:sp>
        <p:nvSpPr>
          <p:cNvPr id="47" name="TextBox 46"/>
          <p:cNvSpPr txBox="1"/>
          <p:nvPr/>
        </p:nvSpPr>
        <p:spPr>
          <a:xfrm>
            <a:off x="3515118" y="5574791"/>
            <a:ext cx="8036497" cy="248412"/>
          </a:xfrm>
          <a:prstGeom prst="rect">
            <a:avLst/>
          </a:prstGeom>
          <a:noFill/>
        </p:spPr>
        <p:txBody>
          <a:bodyPr wrap="square" lIns="45720" rIns="45720" tIns="27432" bIns="27432" anchor="ctr">
            <a:noAutofit/>
          </a:bodyPr>
          <a:lstStyle/>
          <a:p>
            <a:pPr algn="l">
              <a:lnSpc>
                <a:spcPct val="100000"/>
              </a:lnSpc>
            </a:pPr>
            <a:r>
              <a:rPr sz="1150" b="0" i="0">
                <a:solidFill>
                  <a:srgbClr val="A7B2B0"/>
                </a:solidFill>
                <a:latin typeface="Segoe UI"/>
              </a:rPr>
              <a:t>Porting five capabilities that were paired on paper and missing in the code, by angelahack1.</a:t>
            </a:r>
          </a:p>
        </p:txBody>
      </p:sp>
      <p:sp>
        <p:nvSpPr>
          <p:cNvPr id="48" name="TextBox 47"/>
          <p:cNvSpPr txBox="1"/>
          <p:nvPr/>
        </p:nvSpPr>
        <p:spPr>
          <a:xfrm>
            <a:off x="640080" y="5896355"/>
            <a:ext cx="1180636" cy="248412"/>
          </a:xfrm>
          <a:prstGeom prst="rect">
            <a:avLst/>
          </a:prstGeom>
          <a:noFill/>
        </p:spPr>
        <p:txBody>
          <a:bodyPr wrap="square" lIns="45720" rIns="45720" tIns="27432" bIns="27432" anchor="ctr">
            <a:noAutofit/>
          </a:bodyPr>
          <a:lstStyle/>
          <a:p>
            <a:pPr algn="l">
              <a:lnSpc>
                <a:spcPct val="100000"/>
              </a:lnSpc>
            </a:pPr>
            <a:r>
              <a:rPr sz="1150" b="0" i="0">
                <a:solidFill>
                  <a:srgbClr val="F7F2E8"/>
                </a:solidFill>
                <a:latin typeface="Segoe UI Semibold"/>
              </a:rPr>
              <a:t>5c2e7de</a:t>
            </a:r>
          </a:p>
        </p:txBody>
      </p:sp>
      <p:sp>
        <p:nvSpPr>
          <p:cNvPr id="49" name="TextBox 48"/>
          <p:cNvSpPr txBox="1"/>
          <p:nvPr/>
        </p:nvSpPr>
        <p:spPr>
          <a:xfrm>
            <a:off x="1967020" y="5896355"/>
            <a:ext cx="1401793" cy="248412"/>
          </a:xfrm>
          <a:prstGeom prst="rect">
            <a:avLst/>
          </a:prstGeom>
          <a:noFill/>
        </p:spPr>
        <p:txBody>
          <a:bodyPr wrap="square" lIns="45720" rIns="45720" tIns="27432" bIns="27432" anchor="ctr">
            <a:noAutofit/>
          </a:bodyPr>
          <a:lstStyle/>
          <a:p>
            <a:pPr algn="l">
              <a:lnSpc>
                <a:spcPct val="100000"/>
              </a:lnSpc>
            </a:pPr>
            <a:r>
              <a:rPr sz="1150" b="0" i="0">
                <a:solidFill>
                  <a:srgbClr val="A7B2B0"/>
                </a:solidFill>
                <a:latin typeface="Segoe UI"/>
              </a:rPr>
              <a:t>2026-09-08</a:t>
            </a:r>
          </a:p>
        </p:txBody>
      </p:sp>
      <p:sp>
        <p:nvSpPr>
          <p:cNvPr id="50" name="TextBox 49"/>
          <p:cNvSpPr txBox="1"/>
          <p:nvPr/>
        </p:nvSpPr>
        <p:spPr>
          <a:xfrm>
            <a:off x="3515118" y="5896355"/>
            <a:ext cx="8036497" cy="248412"/>
          </a:xfrm>
          <a:prstGeom prst="rect">
            <a:avLst/>
          </a:prstGeom>
          <a:noFill/>
        </p:spPr>
        <p:txBody>
          <a:bodyPr wrap="square" lIns="45720" rIns="45720" tIns="27432" bIns="27432" anchor="ctr">
            <a:noAutofit/>
          </a:bodyPr>
          <a:lstStyle/>
          <a:p>
            <a:pPr algn="l">
              <a:lnSpc>
                <a:spcPct val="100000"/>
              </a:lnSpc>
            </a:pPr>
            <a:r>
              <a:rPr sz="1150" b="0" i="0">
                <a:solidFill>
                  <a:srgbClr val="A7B2B0"/>
                </a:solidFill>
                <a:latin typeface="Segoe UI"/>
              </a:rPr>
              <a:t>Teaching the prompts, skills and self-knowledge what v1.51.3s actually shipped, by angelahack1.</a:t>
            </a:r>
          </a:p>
        </p:txBody>
      </p:sp>
      <p:cxnSp>
        <p:nvCxnSpPr>
          <p:cNvPr id="51" name="Connector 50"/>
          <p:cNvCxnSpPr/>
          <p:nvPr/>
        </p:nvCxnSpPr>
        <p:spPr>
          <a:xfrm>
            <a:off x="566928" y="6373368"/>
            <a:ext cx="11057839" cy="0"/>
          </a:xfrm>
          <a:prstGeom prst="line">
            <a:avLst/>
          </a:prstGeom>
          <a:ln w="7620">
            <a:solidFill>
              <a:srgbClr val="2A3A40"/>
            </a:solidFill>
          </a:ln>
        </p:spPr>
        <p:style>
          <a:lnRef idx="2">
            <a:schemeClr val="accent1"/>
          </a:lnRef>
          <a:fillRef idx="0">
            <a:schemeClr val="accent1"/>
          </a:fillRef>
          <a:effectRef idx="1">
            <a:schemeClr val="accent1"/>
          </a:effectRef>
          <a:fontRef idx="minor">
            <a:schemeClr val="tx1"/>
          </a:fontRef>
        </p:style>
      </p:cxnSp>
      <p:sp>
        <p:nvSpPr>
          <p:cNvPr id="52" name="TextBox 51"/>
          <p:cNvSpPr txBox="1"/>
          <p:nvPr/>
        </p:nvSpPr>
        <p:spPr>
          <a:xfrm>
            <a:off x="566928" y="6419088"/>
            <a:ext cx="6858000" cy="274320"/>
          </a:xfrm>
          <a:prstGeom prst="rect">
            <a:avLst/>
          </a:prstGeom>
          <a:noFill/>
        </p:spPr>
        <p:txBody>
          <a:bodyPr wrap="square" lIns="45720" rIns="45720" tIns="27432" bIns="27432" anchor="t">
            <a:noAutofit/>
          </a:bodyPr>
          <a:lstStyle/>
          <a:p>
            <a:pPr algn="l">
              <a:lnSpc>
                <a:spcPct val="100000"/>
              </a:lnSpc>
            </a:pPr>
            <a:r>
              <a:rPr sz="850" b="0" i="0" spc="120">
                <a:solidFill>
                  <a:srgbClr val="A7B2B0"/>
                </a:solidFill>
                <a:latin typeface="Segoe UI Semibold"/>
              </a:rPr>
              <a:t>TLAMATINI  ·  IX · DATOS DEL REPOSITORIO</a:t>
            </a:r>
          </a:p>
        </p:txBody>
      </p:sp>
      <p:sp>
        <p:nvSpPr>
          <p:cNvPr id="53" name="TextBox 52"/>
          <p:cNvSpPr txBox="1"/>
          <p:nvPr/>
        </p:nvSpPr>
        <p:spPr>
          <a:xfrm>
            <a:off x="8698687" y="6419088"/>
            <a:ext cx="2926080" cy="274320"/>
          </a:xfrm>
          <a:prstGeom prst="rect">
            <a:avLst/>
          </a:prstGeom>
          <a:noFill/>
        </p:spPr>
        <p:txBody>
          <a:bodyPr wrap="square" lIns="45720" rIns="45720" tIns="27432" bIns="27432" anchor="t">
            <a:noAutofit/>
          </a:bodyPr>
          <a:lstStyle/>
          <a:p>
            <a:pPr algn="r">
              <a:lnSpc>
                <a:spcPct val="100000"/>
              </a:lnSpc>
            </a:pPr>
            <a:r>
              <a:rPr sz="850" b="0" i="0" spc="100">
                <a:solidFill>
                  <a:srgbClr val="A7B2B0"/>
                </a:solidFill>
                <a:latin typeface="Segoe UI Semibold"/>
              </a:rPr>
              <a:t>v1.91.1   ·   171</a:t>
            </a:r>
          </a:p>
        </p:txBody>
      </p:sp>
    </p:spTree>
  </p:cSld>
  <p:clrMapOvr>
    <a:masterClrMapping/>
  </p:clrMapOvr>
</p:sld>
</file>

<file path=ppt/slides/slide1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content.png"/>
          <p:cNvPicPr>
            <a:picLocks noChangeAspect="1"/>
          </p:cNvPicPr>
          <p:nvPr/>
        </p:nvPicPr>
        <p:blipFill>
          <a:blip r:embed="rId2"/>
          <a:stretch>
            <a:fillRect/>
          </a:stretch>
        </p:blipFill>
        <p:spPr>
          <a:xfrm>
            <a:off x="0" y="0"/>
            <a:ext cx="12191695" cy="6858000"/>
          </a:xfrm>
          <a:prstGeom prst="rect">
            <a:avLst/>
          </a:prstGeom>
        </p:spPr>
      </p:pic>
      <p:sp>
        <p:nvSpPr>
          <p:cNvPr id="3" name="Diamond 2"/>
          <p:cNvSpPr/>
          <p:nvPr/>
        </p:nvSpPr>
        <p:spPr>
          <a:xfrm>
            <a:off x="566928" y="457200"/>
            <a:ext cx="100584" cy="100584"/>
          </a:xfrm>
          <a:prstGeom prst="diamond">
            <a:avLst/>
          </a:prstGeom>
          <a:solidFill>
            <a:srgbClr val="C984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49808" y="365760"/>
            <a:ext cx="8229600" cy="292608"/>
          </a:xfrm>
          <a:prstGeom prst="rect">
            <a:avLst/>
          </a:prstGeom>
          <a:noFill/>
        </p:spPr>
        <p:txBody>
          <a:bodyPr wrap="square" lIns="45720" rIns="45720" tIns="27432" bIns="27432" anchor="t">
            <a:noAutofit/>
          </a:bodyPr>
          <a:lstStyle/>
          <a:p>
            <a:pPr algn="l">
              <a:lnSpc>
                <a:spcPct val="100000"/>
              </a:lnSpc>
            </a:pPr>
            <a:r>
              <a:rPr sz="1100" b="0" i="0" spc="240">
                <a:solidFill>
                  <a:srgbClr val="C98457"/>
                </a:solidFill>
                <a:latin typeface="Segoe UI Semibold"/>
              </a:rPr>
              <a:t>HISTORIA</a:t>
            </a:r>
          </a:p>
        </p:txBody>
      </p:sp>
      <p:sp>
        <p:nvSpPr>
          <p:cNvPr id="5" name="TextBox 4"/>
          <p:cNvSpPr txBox="1"/>
          <p:nvPr/>
        </p:nvSpPr>
        <p:spPr>
          <a:xfrm>
            <a:off x="539496" y="676656"/>
            <a:ext cx="11057839" cy="658368"/>
          </a:xfrm>
          <a:prstGeom prst="rect">
            <a:avLst/>
          </a:prstGeom>
          <a:noFill/>
        </p:spPr>
        <p:txBody>
          <a:bodyPr wrap="square" lIns="45720" rIns="45720" tIns="27432" bIns="27432" anchor="t">
            <a:noAutofit/>
          </a:bodyPr>
          <a:lstStyle/>
          <a:p>
            <a:pPr algn="l">
              <a:lnSpc>
                <a:spcPct val="100000"/>
              </a:lnSpc>
            </a:pPr>
            <a:r>
              <a:rPr sz="3100" b="0" i="0">
                <a:solidFill>
                  <a:srgbClr val="F7F2E8"/>
                </a:solidFill>
                <a:latin typeface="Palatino Linotype"/>
              </a:rPr>
              <a:t>Commits recientes  (2/2)</a:t>
            </a:r>
          </a:p>
        </p:txBody>
      </p:sp>
      <p:sp>
        <p:nvSpPr>
          <p:cNvPr id="6" name="Rectangle 5"/>
          <p:cNvSpPr/>
          <p:nvPr/>
        </p:nvSpPr>
        <p:spPr>
          <a:xfrm>
            <a:off x="566928" y="1344168"/>
            <a:ext cx="822960" cy="36576"/>
          </a:xfrm>
          <a:prstGeom prst="rect">
            <a:avLst/>
          </a:prstGeom>
          <a:solidFill>
            <a:srgbClr val="C984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566928" y="1444752"/>
            <a:ext cx="10692079" cy="585216"/>
          </a:xfrm>
          <a:prstGeom prst="rect">
            <a:avLst/>
          </a:prstGeom>
          <a:noFill/>
        </p:spPr>
        <p:txBody>
          <a:bodyPr wrap="square" lIns="45720" rIns="45720" tIns="27432" bIns="27432" anchor="t">
            <a:noAutofit/>
          </a:bodyPr>
          <a:lstStyle/>
          <a:p>
            <a:pPr algn="l">
              <a:lnSpc>
                <a:spcPct val="100000"/>
              </a:lnSpc>
            </a:pPr>
            <a:r>
              <a:rPr sz="1450" b="0" i="0">
                <a:solidFill>
                  <a:srgbClr val="A7B2B0"/>
                </a:solidFill>
                <a:latin typeface="Segoe UI Semilight"/>
              </a:rPr>
              <a:t>Los commits más recientes en la branch inspeccionada, del más nuevo al más viejo.</a:t>
            </a:r>
          </a:p>
        </p:txBody>
      </p:sp>
      <p:sp>
        <p:nvSpPr>
          <p:cNvPr id="8" name="Rounded Rectangle 7"/>
          <p:cNvSpPr/>
          <p:nvPr/>
        </p:nvSpPr>
        <p:spPr>
          <a:xfrm>
            <a:off x="566928" y="2084831"/>
            <a:ext cx="11057839" cy="758952"/>
          </a:xfrm>
          <a:prstGeom prst="roundRect">
            <a:avLst>
              <a:gd name="adj" fmla="val 9638"/>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ounded Rectangle 8"/>
          <p:cNvSpPr/>
          <p:nvPr/>
        </p:nvSpPr>
        <p:spPr>
          <a:xfrm>
            <a:off x="566928" y="2084831"/>
            <a:ext cx="11057839" cy="384048"/>
          </a:xfrm>
          <a:prstGeom prst="roundRect">
            <a:avLst>
              <a:gd name="adj" fmla="val 19047"/>
            </a:avLst>
          </a:prstGeom>
          <a:solidFill>
            <a:srgbClr val="151F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640080" y="2121408"/>
            <a:ext cx="1180636" cy="310896"/>
          </a:xfrm>
          <a:prstGeom prst="rect">
            <a:avLst/>
          </a:prstGeom>
          <a:noFill/>
        </p:spPr>
        <p:txBody>
          <a:bodyPr wrap="square" lIns="45720" rIns="45720" tIns="27432" bIns="27432" anchor="ctr">
            <a:noAutofit/>
          </a:bodyPr>
          <a:lstStyle/>
          <a:p>
            <a:pPr algn="l">
              <a:lnSpc>
                <a:spcPct val="100000"/>
              </a:lnSpc>
            </a:pPr>
            <a:r>
              <a:rPr sz="1000" b="0" i="0" spc="120">
                <a:solidFill>
                  <a:srgbClr val="E2B462"/>
                </a:solidFill>
                <a:latin typeface="Segoe UI Semibold"/>
              </a:rPr>
              <a:t>COMMIT</a:t>
            </a:r>
          </a:p>
        </p:txBody>
      </p:sp>
      <p:sp>
        <p:nvSpPr>
          <p:cNvPr id="11" name="TextBox 10"/>
          <p:cNvSpPr txBox="1"/>
          <p:nvPr/>
        </p:nvSpPr>
        <p:spPr>
          <a:xfrm>
            <a:off x="1967020" y="2121408"/>
            <a:ext cx="1401793" cy="310896"/>
          </a:xfrm>
          <a:prstGeom prst="rect">
            <a:avLst/>
          </a:prstGeom>
          <a:noFill/>
        </p:spPr>
        <p:txBody>
          <a:bodyPr wrap="square" lIns="45720" rIns="45720" tIns="27432" bIns="27432" anchor="ctr">
            <a:noAutofit/>
          </a:bodyPr>
          <a:lstStyle/>
          <a:p>
            <a:pPr algn="l">
              <a:lnSpc>
                <a:spcPct val="100000"/>
              </a:lnSpc>
            </a:pPr>
            <a:r>
              <a:rPr sz="1000" b="0" i="0" spc="120">
                <a:solidFill>
                  <a:srgbClr val="E2B462"/>
                </a:solidFill>
                <a:latin typeface="Segoe UI Semibold"/>
              </a:rPr>
              <a:t>FECHA</a:t>
            </a:r>
          </a:p>
        </p:txBody>
      </p:sp>
      <p:sp>
        <p:nvSpPr>
          <p:cNvPr id="12" name="TextBox 11"/>
          <p:cNvSpPr txBox="1"/>
          <p:nvPr/>
        </p:nvSpPr>
        <p:spPr>
          <a:xfrm>
            <a:off x="3515118" y="2121408"/>
            <a:ext cx="8036497" cy="310896"/>
          </a:xfrm>
          <a:prstGeom prst="rect">
            <a:avLst/>
          </a:prstGeom>
          <a:noFill/>
        </p:spPr>
        <p:txBody>
          <a:bodyPr wrap="square" lIns="45720" rIns="45720" tIns="27432" bIns="27432" anchor="ctr">
            <a:noAutofit/>
          </a:bodyPr>
          <a:lstStyle/>
          <a:p>
            <a:pPr algn="l">
              <a:lnSpc>
                <a:spcPct val="100000"/>
              </a:lnSpc>
            </a:pPr>
            <a:r>
              <a:rPr sz="1000" b="0" i="0" spc="120">
                <a:solidFill>
                  <a:srgbClr val="E2B462"/>
                </a:solidFill>
                <a:latin typeface="Segoe UI Semibold"/>
              </a:rPr>
              <a:t>ASUNTO</a:t>
            </a:r>
          </a:p>
        </p:txBody>
      </p:sp>
      <p:sp>
        <p:nvSpPr>
          <p:cNvPr id="13" name="TextBox 12"/>
          <p:cNvSpPr txBox="1"/>
          <p:nvPr/>
        </p:nvSpPr>
        <p:spPr>
          <a:xfrm>
            <a:off x="640080" y="2505456"/>
            <a:ext cx="1180636" cy="301752"/>
          </a:xfrm>
          <a:prstGeom prst="rect">
            <a:avLst/>
          </a:prstGeom>
          <a:noFill/>
        </p:spPr>
        <p:txBody>
          <a:bodyPr wrap="square" lIns="45720" rIns="45720" tIns="27432" bIns="27432" anchor="ctr">
            <a:noAutofit/>
          </a:bodyPr>
          <a:lstStyle/>
          <a:p>
            <a:pPr algn="l">
              <a:lnSpc>
                <a:spcPct val="100000"/>
              </a:lnSpc>
            </a:pPr>
            <a:r>
              <a:rPr sz="1500" b="0" i="0">
                <a:solidFill>
                  <a:srgbClr val="F7F2E8"/>
                </a:solidFill>
                <a:latin typeface="Segoe UI Semibold"/>
              </a:rPr>
              <a:t>862531d</a:t>
            </a:r>
          </a:p>
        </p:txBody>
      </p:sp>
      <p:sp>
        <p:nvSpPr>
          <p:cNvPr id="14" name="TextBox 13"/>
          <p:cNvSpPr txBox="1"/>
          <p:nvPr/>
        </p:nvSpPr>
        <p:spPr>
          <a:xfrm>
            <a:off x="1967020" y="2505456"/>
            <a:ext cx="1401793" cy="301752"/>
          </a:xfrm>
          <a:prstGeom prst="rect">
            <a:avLst/>
          </a:prstGeom>
          <a:noFill/>
        </p:spPr>
        <p:txBody>
          <a:bodyPr wrap="square" lIns="45720" rIns="45720" tIns="27432" bIns="27432" anchor="ctr">
            <a:noAutofit/>
          </a:bodyPr>
          <a:lstStyle/>
          <a:p>
            <a:pPr algn="l">
              <a:lnSpc>
                <a:spcPct val="100000"/>
              </a:lnSpc>
            </a:pPr>
            <a:r>
              <a:rPr sz="1500" b="0" i="0">
                <a:solidFill>
                  <a:srgbClr val="A7B2B0"/>
                </a:solidFill>
                <a:latin typeface="Segoe UI"/>
              </a:rPr>
              <a:t>2026-09-08</a:t>
            </a:r>
          </a:p>
        </p:txBody>
      </p:sp>
      <p:sp>
        <p:nvSpPr>
          <p:cNvPr id="15" name="TextBox 14"/>
          <p:cNvSpPr txBox="1"/>
          <p:nvPr/>
        </p:nvSpPr>
        <p:spPr>
          <a:xfrm>
            <a:off x="3515118" y="2505456"/>
            <a:ext cx="8036497" cy="301752"/>
          </a:xfrm>
          <a:prstGeom prst="rect">
            <a:avLst/>
          </a:prstGeom>
          <a:noFill/>
        </p:spPr>
        <p:txBody>
          <a:bodyPr wrap="square" lIns="45720" rIns="45720" tIns="27432" bIns="27432" anchor="ctr">
            <a:noAutofit/>
          </a:bodyPr>
          <a:lstStyle/>
          <a:p>
            <a:pPr algn="l">
              <a:lnSpc>
                <a:spcPct val="100000"/>
              </a:lnSpc>
            </a:pPr>
            <a:r>
              <a:rPr sz="1500" b="0" i="0">
                <a:solidFill>
                  <a:srgbClr val="A7B2B0"/>
                </a:solidFill>
                <a:latin typeface="Segoe UI"/>
              </a:rPr>
              <a:t>Turning the English-tree pairing sweep into a guard that can fail, by angelahack1.</a:t>
            </a:r>
          </a:p>
        </p:txBody>
      </p:sp>
      <p:cxnSp>
        <p:nvCxnSpPr>
          <p:cNvPr id="16" name="Connector 15"/>
          <p:cNvCxnSpPr/>
          <p:nvPr/>
        </p:nvCxnSpPr>
        <p:spPr>
          <a:xfrm>
            <a:off x="566928" y="6373368"/>
            <a:ext cx="11057839" cy="0"/>
          </a:xfrm>
          <a:prstGeom prst="line">
            <a:avLst/>
          </a:prstGeom>
          <a:ln w="7620">
            <a:solidFill>
              <a:srgbClr val="2A3A40"/>
            </a:solidFill>
          </a:ln>
        </p:spPr>
        <p:style>
          <a:lnRef idx="2">
            <a:schemeClr val="accent1"/>
          </a:lnRef>
          <a:fillRef idx="0">
            <a:schemeClr val="accent1"/>
          </a:fillRef>
          <a:effectRef idx="1">
            <a:schemeClr val="accent1"/>
          </a:effectRef>
          <a:fontRef idx="minor">
            <a:schemeClr val="tx1"/>
          </a:fontRef>
        </p:style>
      </p:cxnSp>
      <p:sp>
        <p:nvSpPr>
          <p:cNvPr id="17" name="TextBox 16"/>
          <p:cNvSpPr txBox="1"/>
          <p:nvPr/>
        </p:nvSpPr>
        <p:spPr>
          <a:xfrm>
            <a:off x="566928" y="6419088"/>
            <a:ext cx="6858000" cy="274320"/>
          </a:xfrm>
          <a:prstGeom prst="rect">
            <a:avLst/>
          </a:prstGeom>
          <a:noFill/>
        </p:spPr>
        <p:txBody>
          <a:bodyPr wrap="square" lIns="45720" rIns="45720" tIns="27432" bIns="27432" anchor="t">
            <a:noAutofit/>
          </a:bodyPr>
          <a:lstStyle/>
          <a:p>
            <a:pPr algn="l">
              <a:lnSpc>
                <a:spcPct val="100000"/>
              </a:lnSpc>
            </a:pPr>
            <a:r>
              <a:rPr sz="850" b="0" i="0" spc="120">
                <a:solidFill>
                  <a:srgbClr val="A7B2B0"/>
                </a:solidFill>
                <a:latin typeface="Segoe UI Semibold"/>
              </a:rPr>
              <a:t>TLAMATINI  ·  IX · DATOS DEL REPOSITORIO</a:t>
            </a:r>
          </a:p>
        </p:txBody>
      </p:sp>
      <p:sp>
        <p:nvSpPr>
          <p:cNvPr id="18" name="TextBox 17"/>
          <p:cNvSpPr txBox="1"/>
          <p:nvPr/>
        </p:nvSpPr>
        <p:spPr>
          <a:xfrm>
            <a:off x="8698687" y="6419088"/>
            <a:ext cx="2926080" cy="274320"/>
          </a:xfrm>
          <a:prstGeom prst="rect">
            <a:avLst/>
          </a:prstGeom>
          <a:noFill/>
        </p:spPr>
        <p:txBody>
          <a:bodyPr wrap="square" lIns="45720" rIns="45720" tIns="27432" bIns="27432" anchor="t">
            <a:noAutofit/>
          </a:bodyPr>
          <a:lstStyle/>
          <a:p>
            <a:pPr algn="r">
              <a:lnSpc>
                <a:spcPct val="100000"/>
              </a:lnSpc>
            </a:pPr>
            <a:r>
              <a:rPr sz="850" b="0" i="0" spc="100">
                <a:solidFill>
                  <a:srgbClr val="A7B2B0"/>
                </a:solidFill>
                <a:latin typeface="Segoe UI Semibold"/>
              </a:rPr>
              <a:t>v1.91.1   ·   172</a:t>
            </a:r>
          </a:p>
        </p:txBody>
      </p:sp>
    </p:spTree>
  </p:cSld>
  <p:clrMapOvr>
    <a:masterClrMapping/>
  </p:clrMapOvr>
</p:sld>
</file>

<file path=ppt/slides/slide1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content.png"/>
          <p:cNvPicPr>
            <a:picLocks noChangeAspect="1"/>
          </p:cNvPicPr>
          <p:nvPr/>
        </p:nvPicPr>
        <p:blipFill>
          <a:blip r:embed="rId2"/>
          <a:stretch>
            <a:fillRect/>
          </a:stretch>
        </p:blipFill>
        <p:spPr>
          <a:xfrm>
            <a:off x="0" y="0"/>
            <a:ext cx="12191695" cy="6858000"/>
          </a:xfrm>
          <a:prstGeom prst="rect">
            <a:avLst/>
          </a:prstGeom>
        </p:spPr>
      </p:pic>
      <p:sp>
        <p:nvSpPr>
          <p:cNvPr id="3" name="Diamond 2"/>
          <p:cNvSpPr/>
          <p:nvPr/>
        </p:nvSpPr>
        <p:spPr>
          <a:xfrm>
            <a:off x="566928" y="457200"/>
            <a:ext cx="100584" cy="100584"/>
          </a:xfrm>
          <a:prstGeom prst="diamond">
            <a:avLst/>
          </a:prstGeom>
          <a:solidFill>
            <a:srgbClr val="C984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49808" y="365760"/>
            <a:ext cx="8229600" cy="292608"/>
          </a:xfrm>
          <a:prstGeom prst="rect">
            <a:avLst/>
          </a:prstGeom>
          <a:noFill/>
        </p:spPr>
        <p:txBody>
          <a:bodyPr wrap="square" lIns="45720" rIns="45720" tIns="27432" bIns="27432" anchor="t">
            <a:noAutofit/>
          </a:bodyPr>
          <a:lstStyle/>
          <a:p>
            <a:pPr algn="l">
              <a:lnSpc>
                <a:spcPct val="100000"/>
              </a:lnSpc>
            </a:pPr>
            <a:r>
              <a:rPr sz="1100" b="0" i="0" spc="240">
                <a:solidFill>
                  <a:srgbClr val="C98457"/>
                </a:solidFill>
                <a:latin typeface="Segoe UI Semibold"/>
              </a:rPr>
              <a:t>MÉTODO</a:t>
            </a:r>
          </a:p>
        </p:txBody>
      </p:sp>
      <p:sp>
        <p:nvSpPr>
          <p:cNvPr id="5" name="TextBox 4"/>
          <p:cNvSpPr txBox="1"/>
          <p:nvPr/>
        </p:nvSpPr>
        <p:spPr>
          <a:xfrm>
            <a:off x="539496" y="676656"/>
            <a:ext cx="11057839" cy="658368"/>
          </a:xfrm>
          <a:prstGeom prst="rect">
            <a:avLst/>
          </a:prstGeom>
          <a:noFill/>
        </p:spPr>
        <p:txBody>
          <a:bodyPr wrap="square" lIns="45720" rIns="45720" tIns="27432" bIns="27432" anchor="t">
            <a:noAutofit/>
          </a:bodyPr>
          <a:lstStyle/>
          <a:p>
            <a:pPr algn="l">
              <a:lnSpc>
                <a:spcPct val="100000"/>
              </a:lnSpc>
            </a:pPr>
            <a:r>
              <a:rPr sz="3100" b="0" i="0">
                <a:solidFill>
                  <a:srgbClr val="F7F2E8"/>
                </a:solidFill>
                <a:latin typeface="Palatino Linotype"/>
              </a:rPr>
              <a:t>Cómo se produjeron estos números</a:t>
            </a:r>
          </a:p>
        </p:txBody>
      </p:sp>
      <p:sp>
        <p:nvSpPr>
          <p:cNvPr id="6" name="Rectangle 5"/>
          <p:cNvSpPr/>
          <p:nvPr/>
        </p:nvSpPr>
        <p:spPr>
          <a:xfrm>
            <a:off x="566928" y="1344168"/>
            <a:ext cx="822960" cy="36576"/>
          </a:xfrm>
          <a:prstGeom prst="rect">
            <a:avLst/>
          </a:prstGeom>
          <a:solidFill>
            <a:srgbClr val="C984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566928" y="1444752"/>
            <a:ext cx="10692079" cy="585216"/>
          </a:xfrm>
          <a:prstGeom prst="rect">
            <a:avLst/>
          </a:prstGeom>
          <a:noFill/>
        </p:spPr>
        <p:txBody>
          <a:bodyPr wrap="square" lIns="45720" rIns="45720" tIns="27432" bIns="27432" anchor="t">
            <a:noAutofit/>
          </a:bodyPr>
          <a:lstStyle/>
          <a:p>
            <a:pPr algn="l">
              <a:lnSpc>
                <a:spcPct val="100000"/>
              </a:lnSpc>
            </a:pPr>
            <a:r>
              <a:rPr sz="1450" b="0" i="0">
                <a:solidFill>
                  <a:srgbClr val="A7B2B0"/>
                </a:solidFill>
                <a:latin typeface="Segoe UI Semilight"/>
              </a:rPr>
              <a:t>El inventario es reproducible: vuelve a correr el generador y el mismo árbol da los mismos conteos.</a:t>
            </a:r>
          </a:p>
        </p:txBody>
      </p:sp>
      <p:sp>
        <p:nvSpPr>
          <p:cNvPr id="8" name="Rounded Rectangle 7"/>
          <p:cNvSpPr/>
          <p:nvPr/>
        </p:nvSpPr>
        <p:spPr>
          <a:xfrm>
            <a:off x="566928" y="2084831"/>
            <a:ext cx="3551834" cy="1956816"/>
          </a:xfrm>
          <a:prstGeom prst="roundRect">
            <a:avLst>
              <a:gd name="adj" fmla="val 5607"/>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ectangle 8"/>
          <p:cNvSpPr/>
          <p:nvPr/>
        </p:nvSpPr>
        <p:spPr>
          <a:xfrm>
            <a:off x="731520" y="2212848"/>
            <a:ext cx="502920" cy="45720"/>
          </a:xfrm>
          <a:prstGeom prst="rect">
            <a:avLst/>
          </a:prstGeom>
          <a:solidFill>
            <a:srgbClr val="3BBE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694944" y="2304287"/>
            <a:ext cx="3295802" cy="353568"/>
          </a:xfrm>
          <a:prstGeom prst="rect">
            <a:avLst/>
          </a:prstGeom>
          <a:noFill/>
        </p:spPr>
        <p:txBody>
          <a:bodyPr wrap="square" lIns="45720" rIns="45720" tIns="27432" bIns="27432" anchor="t">
            <a:noAutofit/>
          </a:bodyPr>
          <a:lstStyle/>
          <a:p>
            <a:pPr algn="l">
              <a:lnSpc>
                <a:spcPct val="100000"/>
              </a:lnSpc>
            </a:pPr>
            <a:r>
              <a:rPr sz="1600" b="0" i="0">
                <a:solidFill>
                  <a:srgbClr val="F7F2E8"/>
                </a:solidFill>
                <a:latin typeface="Segoe UI Semibold"/>
              </a:rPr>
              <a:t>Alcance</a:t>
            </a:r>
          </a:p>
        </p:txBody>
      </p:sp>
      <p:sp>
        <p:nvSpPr>
          <p:cNvPr id="11" name="TextBox 10"/>
          <p:cNvSpPr txBox="1"/>
          <p:nvPr/>
        </p:nvSpPr>
        <p:spPr>
          <a:xfrm>
            <a:off x="694944" y="2657855"/>
            <a:ext cx="3295802" cy="1292352"/>
          </a:xfrm>
          <a:prstGeom prst="rect">
            <a:avLst/>
          </a:prstGeom>
          <a:noFill/>
        </p:spPr>
        <p:txBody>
          <a:bodyPr wrap="square" lIns="45720" rIns="45720" tIns="27432" bIns="27432" anchor="t">
            <a:noAutofit/>
          </a:bodyPr>
          <a:lstStyle/>
          <a:p>
            <a:pPr algn="l">
              <a:lnSpc>
                <a:spcPct val="100000"/>
              </a:lnSpc>
            </a:pPr>
            <a:r>
              <a:rPr sz="1300" b="0" i="0">
                <a:solidFill>
                  <a:srgbClr val="A7B2B0"/>
                </a:solidFill>
                <a:latin typeface="Segoe UI"/>
              </a:rPr>
              <a:t>Cada archivo con seguimiento en Git más las adiciones no ignoradas del árbol de trabajo; se excluyen el output ignorado del build, los cachés y el estado del runtime.</a:t>
            </a:r>
          </a:p>
        </p:txBody>
      </p:sp>
      <p:sp>
        <p:nvSpPr>
          <p:cNvPr id="12" name="Rounded Rectangle 11"/>
          <p:cNvSpPr/>
          <p:nvPr/>
        </p:nvSpPr>
        <p:spPr>
          <a:xfrm>
            <a:off x="4319930" y="2084831"/>
            <a:ext cx="3551834" cy="1956816"/>
          </a:xfrm>
          <a:prstGeom prst="roundRect">
            <a:avLst>
              <a:gd name="adj" fmla="val 5607"/>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4484522" y="2212848"/>
            <a:ext cx="502920" cy="45720"/>
          </a:xfrm>
          <a:prstGeom prst="rect">
            <a:avLst/>
          </a:prstGeom>
          <a:solidFill>
            <a:srgbClr val="C984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4447946" y="2304287"/>
            <a:ext cx="3295802" cy="353568"/>
          </a:xfrm>
          <a:prstGeom prst="rect">
            <a:avLst/>
          </a:prstGeom>
          <a:noFill/>
        </p:spPr>
        <p:txBody>
          <a:bodyPr wrap="square" lIns="45720" rIns="45720" tIns="27432" bIns="27432" anchor="t">
            <a:noAutofit/>
          </a:bodyPr>
          <a:lstStyle/>
          <a:p>
            <a:pPr algn="l">
              <a:lnSpc>
                <a:spcPct val="100000"/>
              </a:lnSpc>
            </a:pPr>
            <a:r>
              <a:rPr sz="1600" b="0" i="0">
                <a:solidFill>
                  <a:srgbClr val="F7F2E8"/>
                </a:solidFill>
                <a:latin typeface="Segoe UI Semibold"/>
              </a:rPr>
              <a:t>Sólo texto</a:t>
            </a:r>
          </a:p>
        </p:txBody>
      </p:sp>
      <p:sp>
        <p:nvSpPr>
          <p:cNvPr id="15" name="TextBox 14"/>
          <p:cNvSpPr txBox="1"/>
          <p:nvPr/>
        </p:nvSpPr>
        <p:spPr>
          <a:xfrm>
            <a:off x="4447946" y="2657855"/>
            <a:ext cx="3295802" cy="1292352"/>
          </a:xfrm>
          <a:prstGeom prst="rect">
            <a:avLst/>
          </a:prstGeom>
          <a:noFill/>
        </p:spPr>
        <p:txBody>
          <a:bodyPr wrap="square" lIns="45720" rIns="45720" tIns="27432" bIns="27432" anchor="t">
            <a:noAutofit/>
          </a:bodyPr>
          <a:lstStyle/>
          <a:p>
            <a:pPr algn="l">
              <a:lnSpc>
                <a:spcPct val="100000"/>
              </a:lnSpc>
            </a:pPr>
            <a:r>
              <a:rPr sz="1300" b="0" i="0">
                <a:solidFill>
                  <a:srgbClr val="A7B2B0"/>
                </a:solidFill>
                <a:latin typeface="Segoe UI"/>
              </a:rPr>
              <a:t>Los assets binarios como imágenes, fuentes y archivos comprimidos se cuentan como archivos, nunca como líneas.</a:t>
            </a:r>
          </a:p>
        </p:txBody>
      </p:sp>
      <p:sp>
        <p:nvSpPr>
          <p:cNvPr id="16" name="Rounded Rectangle 15"/>
          <p:cNvSpPr/>
          <p:nvPr/>
        </p:nvSpPr>
        <p:spPr>
          <a:xfrm>
            <a:off x="8072932" y="2084831"/>
            <a:ext cx="3551834" cy="1956816"/>
          </a:xfrm>
          <a:prstGeom prst="roundRect">
            <a:avLst>
              <a:gd name="adj" fmla="val 5607"/>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8237524" y="2212848"/>
            <a:ext cx="502920" cy="45720"/>
          </a:xfrm>
          <a:prstGeom prst="rect">
            <a:avLst/>
          </a:prstGeom>
          <a:solidFill>
            <a:srgbClr val="E2B4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200948" y="2304287"/>
            <a:ext cx="3295802" cy="353568"/>
          </a:xfrm>
          <a:prstGeom prst="rect">
            <a:avLst/>
          </a:prstGeom>
          <a:noFill/>
        </p:spPr>
        <p:txBody>
          <a:bodyPr wrap="square" lIns="45720" rIns="45720" tIns="27432" bIns="27432" anchor="t">
            <a:noAutofit/>
          </a:bodyPr>
          <a:lstStyle/>
          <a:p>
            <a:pPr algn="l">
              <a:lnSpc>
                <a:spcPct val="100000"/>
              </a:lnSpc>
            </a:pPr>
            <a:r>
              <a:rPr sz="1600" b="0" i="0">
                <a:solidFill>
                  <a:srgbClr val="F7F2E8"/>
                </a:solidFill>
                <a:latin typeface="Segoe UI Semibold"/>
              </a:rPr>
              <a:t>Python</a:t>
            </a:r>
          </a:p>
        </p:txBody>
      </p:sp>
      <p:sp>
        <p:nvSpPr>
          <p:cNvPr id="19" name="TextBox 18"/>
          <p:cNvSpPr txBox="1"/>
          <p:nvPr/>
        </p:nvSpPr>
        <p:spPr>
          <a:xfrm>
            <a:off x="8200948" y="2657855"/>
            <a:ext cx="3295802" cy="1292352"/>
          </a:xfrm>
          <a:prstGeom prst="rect">
            <a:avLst/>
          </a:prstGeom>
          <a:noFill/>
        </p:spPr>
        <p:txBody>
          <a:bodyPr wrap="square" lIns="45720" rIns="45720" tIns="27432" bIns="27432" anchor="t">
            <a:noAutofit/>
          </a:bodyPr>
          <a:lstStyle/>
          <a:p>
            <a:pPr algn="l">
              <a:lnSpc>
                <a:spcPct val="100000"/>
              </a:lnSpc>
            </a:pPr>
            <a:r>
              <a:rPr sz="1300" b="0" i="0">
                <a:solidFill>
                  <a:srgbClr val="A7B2B0"/>
                </a:solidFill>
                <a:latin typeface="Segoe UI"/>
              </a:rPr>
              <a:t>Tokenizado: se excluyen los comentarios, las líneas en blanco y los docstrings de módulos, clases y funciones.</a:t>
            </a:r>
          </a:p>
        </p:txBody>
      </p:sp>
      <p:sp>
        <p:nvSpPr>
          <p:cNvPr id="20" name="Rounded Rectangle 19"/>
          <p:cNvSpPr/>
          <p:nvPr/>
        </p:nvSpPr>
        <p:spPr>
          <a:xfrm>
            <a:off x="566928" y="4242816"/>
            <a:ext cx="3551834" cy="1956816"/>
          </a:xfrm>
          <a:prstGeom prst="roundRect">
            <a:avLst>
              <a:gd name="adj" fmla="val 5607"/>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ectangle 20"/>
          <p:cNvSpPr/>
          <p:nvPr/>
        </p:nvSpPr>
        <p:spPr>
          <a:xfrm>
            <a:off x="731520" y="4370832"/>
            <a:ext cx="502920" cy="45720"/>
          </a:xfrm>
          <a:prstGeom prst="rect">
            <a:avLst/>
          </a:prstGeom>
          <a:solidFill>
            <a:srgbClr val="46D2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694944" y="4462272"/>
            <a:ext cx="3295802" cy="353568"/>
          </a:xfrm>
          <a:prstGeom prst="rect">
            <a:avLst/>
          </a:prstGeom>
          <a:noFill/>
        </p:spPr>
        <p:txBody>
          <a:bodyPr wrap="square" lIns="45720" rIns="45720" tIns="27432" bIns="27432" anchor="t">
            <a:noAutofit/>
          </a:bodyPr>
          <a:lstStyle/>
          <a:p>
            <a:pPr algn="l">
              <a:lnSpc>
                <a:spcPct val="100000"/>
              </a:lnSpc>
            </a:pPr>
            <a:r>
              <a:rPr sz="1600" b="0" i="0">
                <a:solidFill>
                  <a:srgbClr val="F7F2E8"/>
                </a:solidFill>
                <a:latin typeface="Segoe UI Semibold"/>
              </a:rPr>
              <a:t>Otros lenguajes</a:t>
            </a:r>
          </a:p>
        </p:txBody>
      </p:sp>
      <p:sp>
        <p:nvSpPr>
          <p:cNvPr id="23" name="TextBox 22"/>
          <p:cNvSpPr txBox="1"/>
          <p:nvPr/>
        </p:nvSpPr>
        <p:spPr>
          <a:xfrm>
            <a:off x="694944" y="4815840"/>
            <a:ext cx="3295802" cy="1292352"/>
          </a:xfrm>
          <a:prstGeom prst="rect">
            <a:avLst/>
          </a:prstGeom>
          <a:noFill/>
        </p:spPr>
        <p:txBody>
          <a:bodyPr wrap="square" lIns="45720" rIns="45720" tIns="27432" bIns="27432" anchor="t">
            <a:noAutofit/>
          </a:bodyPr>
          <a:lstStyle/>
          <a:p>
            <a:pPr algn="l">
              <a:lnSpc>
                <a:spcPct val="100000"/>
              </a:lnSpc>
            </a:pPr>
            <a:r>
              <a:rPr sz="1300" b="0" i="0">
                <a:solidFill>
                  <a:srgbClr val="A7B2B0"/>
                </a:solidFill>
                <a:latin typeface="Segoe UI"/>
              </a:rPr>
              <a:t>Se quitan los comentarios de bloque y de línea, y luego se cuentan las líneas que no están en blanco.</a:t>
            </a:r>
          </a:p>
        </p:txBody>
      </p:sp>
      <p:sp>
        <p:nvSpPr>
          <p:cNvPr id="24" name="Rounded Rectangle 23"/>
          <p:cNvSpPr/>
          <p:nvPr/>
        </p:nvSpPr>
        <p:spPr>
          <a:xfrm>
            <a:off x="4319930" y="4242816"/>
            <a:ext cx="3551834" cy="1956816"/>
          </a:xfrm>
          <a:prstGeom prst="roundRect">
            <a:avLst>
              <a:gd name="adj" fmla="val 5607"/>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ectangle 24"/>
          <p:cNvSpPr/>
          <p:nvPr/>
        </p:nvSpPr>
        <p:spPr>
          <a:xfrm>
            <a:off x="4484522" y="4370832"/>
            <a:ext cx="502920" cy="45720"/>
          </a:xfrm>
          <a:prstGeom prst="rect">
            <a:avLst/>
          </a:prstGeom>
          <a:solidFill>
            <a:srgbClr val="D25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4447946" y="4462272"/>
            <a:ext cx="3295802" cy="353568"/>
          </a:xfrm>
          <a:prstGeom prst="rect">
            <a:avLst/>
          </a:prstGeom>
          <a:noFill/>
        </p:spPr>
        <p:txBody>
          <a:bodyPr wrap="square" lIns="45720" rIns="45720" tIns="27432" bIns="27432" anchor="t">
            <a:noAutofit/>
          </a:bodyPr>
          <a:lstStyle/>
          <a:p>
            <a:pPr algn="l">
              <a:lnSpc>
                <a:spcPct val="100000"/>
              </a:lnSpc>
            </a:pPr>
            <a:r>
              <a:rPr sz="1600" b="0" i="0">
                <a:solidFill>
                  <a:srgbClr val="F7F2E8"/>
                </a:solidFill>
                <a:latin typeface="Segoe UI Semibold"/>
              </a:rPr>
              <a:t>Sin valores privados</a:t>
            </a:r>
          </a:p>
        </p:txBody>
      </p:sp>
      <p:sp>
        <p:nvSpPr>
          <p:cNvPr id="27" name="TextBox 26"/>
          <p:cNvSpPr txBox="1"/>
          <p:nvPr/>
        </p:nvSpPr>
        <p:spPr>
          <a:xfrm>
            <a:off x="4447946" y="4815840"/>
            <a:ext cx="3295802" cy="1292352"/>
          </a:xfrm>
          <a:prstGeom prst="rect">
            <a:avLst/>
          </a:prstGeom>
          <a:noFill/>
        </p:spPr>
        <p:txBody>
          <a:bodyPr wrap="square" lIns="45720" rIns="45720" tIns="27432" bIns="27432" anchor="t">
            <a:noAutofit/>
          </a:bodyPr>
          <a:lstStyle/>
          <a:p>
            <a:pPr algn="l">
              <a:lnSpc>
                <a:spcPct val="100000"/>
              </a:lnSpc>
            </a:pPr>
            <a:r>
              <a:rPr sz="1300" b="0" i="0">
                <a:solidFill>
                  <a:srgbClr val="A7B2B0"/>
                </a:solidFill>
                <a:latin typeface="Segoe UI"/>
              </a:rPr>
              <a:t>Los valores de configuración, las credenciales y las direcciones nunca se reproducen.</a:t>
            </a:r>
          </a:p>
        </p:txBody>
      </p:sp>
      <p:sp>
        <p:nvSpPr>
          <p:cNvPr id="28" name="Rounded Rectangle 27"/>
          <p:cNvSpPr/>
          <p:nvPr/>
        </p:nvSpPr>
        <p:spPr>
          <a:xfrm>
            <a:off x="8072932" y="4242816"/>
            <a:ext cx="3551834" cy="1956816"/>
          </a:xfrm>
          <a:prstGeom prst="roundRect">
            <a:avLst>
              <a:gd name="adj" fmla="val 5607"/>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Rectangle 28"/>
          <p:cNvSpPr/>
          <p:nvPr/>
        </p:nvSpPr>
        <p:spPr>
          <a:xfrm>
            <a:off x="8237524" y="4370832"/>
            <a:ext cx="502920" cy="45720"/>
          </a:xfrm>
          <a:prstGeom prst="rect">
            <a:avLst/>
          </a:prstGeom>
          <a:solidFill>
            <a:srgbClr val="D957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8200948" y="4462272"/>
            <a:ext cx="3295802" cy="353568"/>
          </a:xfrm>
          <a:prstGeom prst="rect">
            <a:avLst/>
          </a:prstGeom>
          <a:noFill/>
        </p:spPr>
        <p:txBody>
          <a:bodyPr wrap="square" lIns="45720" rIns="45720" tIns="27432" bIns="27432" anchor="t">
            <a:noAutofit/>
          </a:bodyPr>
          <a:lstStyle/>
          <a:p>
            <a:pPr algn="l">
              <a:lnSpc>
                <a:spcPct val="100000"/>
              </a:lnSpc>
            </a:pPr>
            <a:r>
              <a:rPr sz="1600" b="0" i="0">
                <a:solidFill>
                  <a:srgbClr val="F7F2E8"/>
                </a:solidFill>
                <a:latin typeface="Segoe UI Semibold"/>
              </a:rPr>
              <a:t>Regenerar</a:t>
            </a:r>
          </a:p>
        </p:txBody>
      </p:sp>
      <p:sp>
        <p:nvSpPr>
          <p:cNvPr id="31" name="TextBox 30"/>
          <p:cNvSpPr txBox="1"/>
          <p:nvPr/>
        </p:nvSpPr>
        <p:spPr>
          <a:xfrm>
            <a:off x="8200948" y="4815840"/>
            <a:ext cx="3295802" cy="1292352"/>
          </a:xfrm>
          <a:prstGeom prst="rect">
            <a:avLst/>
          </a:prstGeom>
          <a:noFill/>
        </p:spPr>
        <p:txBody>
          <a:bodyPr wrap="square" lIns="45720" rIns="45720" tIns="27432" bIns="27432" anchor="t">
            <a:noAutofit/>
          </a:bodyPr>
          <a:lstStyle/>
          <a:p>
            <a:pPr algn="l">
              <a:lnSpc>
                <a:spcPct val="100000"/>
              </a:lnSpc>
            </a:pPr>
            <a:r>
              <a:rPr sz="1200" b="0" i="0">
                <a:solidFill>
                  <a:srgbClr val="E2B462"/>
                </a:solidFill>
                <a:latin typeface="Consolas"/>
              </a:rPr>
              <a:t>python Tlamatini\agent\doc_generation\refresh_project_docs.py</a:t>
            </a:r>
          </a:p>
        </p:txBody>
      </p:sp>
      <p:cxnSp>
        <p:nvCxnSpPr>
          <p:cNvPr id="32" name="Connector 31"/>
          <p:cNvCxnSpPr/>
          <p:nvPr/>
        </p:nvCxnSpPr>
        <p:spPr>
          <a:xfrm>
            <a:off x="566928" y="6373368"/>
            <a:ext cx="11057839" cy="0"/>
          </a:xfrm>
          <a:prstGeom prst="line">
            <a:avLst/>
          </a:prstGeom>
          <a:ln w="7620">
            <a:solidFill>
              <a:srgbClr val="2A3A40"/>
            </a:solidFill>
          </a:ln>
        </p:spPr>
        <p:style>
          <a:lnRef idx="2">
            <a:schemeClr val="accent1"/>
          </a:lnRef>
          <a:fillRef idx="0">
            <a:schemeClr val="accent1"/>
          </a:fillRef>
          <a:effectRef idx="1">
            <a:schemeClr val="accent1"/>
          </a:effectRef>
          <a:fontRef idx="minor">
            <a:schemeClr val="tx1"/>
          </a:fontRef>
        </p:style>
      </p:cxnSp>
      <p:sp>
        <p:nvSpPr>
          <p:cNvPr id="33" name="TextBox 32"/>
          <p:cNvSpPr txBox="1"/>
          <p:nvPr/>
        </p:nvSpPr>
        <p:spPr>
          <a:xfrm>
            <a:off x="566928" y="6419088"/>
            <a:ext cx="6858000" cy="274320"/>
          </a:xfrm>
          <a:prstGeom prst="rect">
            <a:avLst/>
          </a:prstGeom>
          <a:noFill/>
        </p:spPr>
        <p:txBody>
          <a:bodyPr wrap="square" lIns="45720" rIns="45720" tIns="27432" bIns="27432" anchor="t">
            <a:noAutofit/>
          </a:bodyPr>
          <a:lstStyle/>
          <a:p>
            <a:pPr algn="l">
              <a:lnSpc>
                <a:spcPct val="100000"/>
              </a:lnSpc>
            </a:pPr>
            <a:r>
              <a:rPr sz="850" b="0" i="0" spc="120">
                <a:solidFill>
                  <a:srgbClr val="A7B2B0"/>
                </a:solidFill>
                <a:latin typeface="Segoe UI Semibold"/>
              </a:rPr>
              <a:t>TLAMATINI  ·  IX · DATOS DEL REPOSITORIO</a:t>
            </a:r>
          </a:p>
        </p:txBody>
      </p:sp>
      <p:sp>
        <p:nvSpPr>
          <p:cNvPr id="34" name="TextBox 33"/>
          <p:cNvSpPr txBox="1"/>
          <p:nvPr/>
        </p:nvSpPr>
        <p:spPr>
          <a:xfrm>
            <a:off x="8698687" y="6419088"/>
            <a:ext cx="2926080" cy="274320"/>
          </a:xfrm>
          <a:prstGeom prst="rect">
            <a:avLst/>
          </a:prstGeom>
          <a:noFill/>
        </p:spPr>
        <p:txBody>
          <a:bodyPr wrap="square" lIns="45720" rIns="45720" tIns="27432" bIns="27432" anchor="t">
            <a:noAutofit/>
          </a:bodyPr>
          <a:lstStyle/>
          <a:p>
            <a:pPr algn="r">
              <a:lnSpc>
                <a:spcPct val="100000"/>
              </a:lnSpc>
            </a:pPr>
            <a:r>
              <a:rPr sz="850" b="0" i="0" spc="100">
                <a:solidFill>
                  <a:srgbClr val="A7B2B0"/>
                </a:solidFill>
                <a:latin typeface="Segoe UI Semibold"/>
              </a:rPr>
              <a:t>v1.91.1   ·   173</a:t>
            </a:r>
          </a:p>
        </p:txBody>
      </p:sp>
    </p:spTree>
  </p:cSld>
  <p:clrMapOvr>
    <a:masterClrMapping/>
  </p:clrMapOvr>
</p:sld>
</file>

<file path=ppt/slides/slide1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divider.png"/>
          <p:cNvPicPr>
            <a:picLocks noChangeAspect="1"/>
          </p:cNvPicPr>
          <p:nvPr/>
        </p:nvPicPr>
        <p:blipFill>
          <a:blip r:embed="rId2"/>
          <a:stretch>
            <a:fillRect/>
          </a:stretch>
        </p:blipFill>
        <p:spPr>
          <a:xfrm>
            <a:off x="0" y="0"/>
            <a:ext cx="12191695" cy="6858000"/>
          </a:xfrm>
          <a:prstGeom prst="rect">
            <a:avLst/>
          </a:prstGeom>
        </p:spPr>
      </p:pic>
      <p:sp>
        <p:nvSpPr>
          <p:cNvPr id="3" name="TextBox 2"/>
          <p:cNvSpPr txBox="1"/>
          <p:nvPr/>
        </p:nvSpPr>
        <p:spPr>
          <a:xfrm>
            <a:off x="822960" y="868680"/>
            <a:ext cx="4572000" cy="365760"/>
          </a:xfrm>
          <a:prstGeom prst="rect">
            <a:avLst/>
          </a:prstGeom>
          <a:noFill/>
        </p:spPr>
        <p:txBody>
          <a:bodyPr wrap="square" lIns="45720" rIns="45720" tIns="27432" bIns="27432" anchor="t">
            <a:noAutofit/>
          </a:bodyPr>
          <a:lstStyle/>
          <a:p>
            <a:pPr algn="l">
              <a:lnSpc>
                <a:spcPct val="100000"/>
              </a:lnSpc>
            </a:pPr>
            <a:r>
              <a:rPr sz="1300" b="0" i="0" spc="340">
                <a:solidFill>
                  <a:srgbClr val="E2B462"/>
                </a:solidFill>
                <a:latin typeface="Segoe UI Semibold"/>
              </a:rPr>
              <a:t>APPENDIX</a:t>
            </a:r>
          </a:p>
        </p:txBody>
      </p:sp>
      <p:sp>
        <p:nvSpPr>
          <p:cNvPr id="4" name="TextBox 3"/>
          <p:cNvSpPr txBox="1"/>
          <p:nvPr/>
        </p:nvSpPr>
        <p:spPr>
          <a:xfrm>
            <a:off x="749808" y="1261872"/>
            <a:ext cx="5029200" cy="1691640"/>
          </a:xfrm>
          <a:prstGeom prst="rect">
            <a:avLst/>
          </a:prstGeom>
          <a:noFill/>
        </p:spPr>
        <p:txBody>
          <a:bodyPr wrap="square" lIns="45720" rIns="45720" tIns="27432" bIns="27432" anchor="t">
            <a:noAutofit/>
          </a:bodyPr>
          <a:lstStyle/>
          <a:p>
            <a:pPr algn="l">
              <a:lnSpc>
                <a:spcPct val="100000"/>
              </a:lnSpc>
            </a:pPr>
            <a:r>
              <a:rPr sz="10550" b="0" i="0">
                <a:solidFill>
                  <a:srgbClr val="C98457"/>
                </a:solidFill>
                <a:latin typeface="Palatino Linotype"/>
              </a:rPr>
              <a:t>A</a:t>
            </a:r>
          </a:p>
        </p:txBody>
      </p:sp>
      <p:sp>
        <p:nvSpPr>
          <p:cNvPr id="5" name="TextBox 4"/>
          <p:cNvSpPr txBox="1"/>
          <p:nvPr/>
        </p:nvSpPr>
        <p:spPr>
          <a:xfrm>
            <a:off x="822960" y="2971800"/>
            <a:ext cx="6766560" cy="1280160"/>
          </a:xfrm>
          <a:prstGeom prst="rect">
            <a:avLst/>
          </a:prstGeom>
          <a:noFill/>
        </p:spPr>
        <p:txBody>
          <a:bodyPr wrap="square" lIns="45720" rIns="45720" tIns="27432" bIns="27432" anchor="t">
            <a:noAutofit/>
          </a:bodyPr>
          <a:lstStyle/>
          <a:p>
            <a:pPr algn="l">
              <a:lnSpc>
                <a:spcPct val="100000"/>
              </a:lnSpc>
            </a:pPr>
            <a:r>
              <a:rPr sz="3950" b="0" i="0">
                <a:solidFill>
                  <a:srgbClr val="F7F2E8"/>
                </a:solidFill>
                <a:latin typeface="Palatino Linotype"/>
              </a:rPr>
              <a:t>El árbol de archivos de la aplicación</a:t>
            </a:r>
          </a:p>
        </p:txBody>
      </p:sp>
      <p:sp>
        <p:nvSpPr>
          <p:cNvPr id="6" name="Rectangle 5"/>
          <p:cNvSpPr/>
          <p:nvPr/>
        </p:nvSpPr>
        <p:spPr>
          <a:xfrm>
            <a:off x="841248" y="4315968"/>
            <a:ext cx="1005840" cy="45720"/>
          </a:xfrm>
          <a:prstGeom prst="rect">
            <a:avLst/>
          </a:prstGeom>
          <a:solidFill>
            <a:srgbClr val="E2B4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822960" y="4443984"/>
            <a:ext cx="6400800" cy="731520"/>
          </a:xfrm>
          <a:prstGeom prst="rect">
            <a:avLst/>
          </a:prstGeom>
          <a:noFill/>
        </p:spPr>
        <p:txBody>
          <a:bodyPr wrap="square" lIns="45720" rIns="45720" tIns="27432" bIns="27432" anchor="t">
            <a:noAutofit/>
          </a:bodyPr>
          <a:lstStyle/>
          <a:p>
            <a:pPr algn="l">
              <a:lnSpc>
                <a:spcPct val="100000"/>
              </a:lnSpc>
            </a:pPr>
            <a:r>
              <a:rPr sz="1800" b="0" i="0">
                <a:solidFill>
                  <a:srgbClr val="ECE7DC"/>
                </a:solidFill>
                <a:latin typeface="Segoe UI Light"/>
              </a:rPr>
              <a:t>1,898 archivos de la aplicación, con 221 archivos de la historia de la base de datos resumidos.</a:t>
            </a:r>
          </a:p>
        </p:txBody>
      </p:sp>
      <p:cxnSp>
        <p:nvCxnSpPr>
          <p:cNvPr id="8" name="Connector 7"/>
          <p:cNvCxnSpPr/>
          <p:nvPr/>
        </p:nvCxnSpPr>
        <p:spPr>
          <a:xfrm>
            <a:off x="566928" y="6373368"/>
            <a:ext cx="11057839" cy="0"/>
          </a:xfrm>
          <a:prstGeom prst="line">
            <a:avLst/>
          </a:prstGeom>
          <a:ln w="7620">
            <a:solidFill>
              <a:srgbClr val="2A3A40"/>
            </a:solidFill>
          </a:ln>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566928" y="6419088"/>
            <a:ext cx="6858000" cy="274320"/>
          </a:xfrm>
          <a:prstGeom prst="rect">
            <a:avLst/>
          </a:prstGeom>
          <a:noFill/>
        </p:spPr>
        <p:txBody>
          <a:bodyPr wrap="square" lIns="45720" rIns="45720" tIns="27432" bIns="27432" anchor="t">
            <a:noAutofit/>
          </a:bodyPr>
          <a:lstStyle/>
          <a:p>
            <a:pPr algn="l">
              <a:lnSpc>
                <a:spcPct val="100000"/>
              </a:lnSpc>
            </a:pPr>
            <a:r>
              <a:rPr sz="850" b="0" i="0" spc="120">
                <a:solidFill>
                  <a:srgbClr val="A7B2B0"/>
                </a:solidFill>
                <a:latin typeface="Segoe UI Semibold"/>
              </a:rPr>
              <a:t>TLAMATINI  ·  APÉNDICE A</a:t>
            </a:r>
          </a:p>
        </p:txBody>
      </p:sp>
      <p:sp>
        <p:nvSpPr>
          <p:cNvPr id="10" name="TextBox 9"/>
          <p:cNvSpPr txBox="1"/>
          <p:nvPr/>
        </p:nvSpPr>
        <p:spPr>
          <a:xfrm>
            <a:off x="8698687" y="6419088"/>
            <a:ext cx="2926080" cy="274320"/>
          </a:xfrm>
          <a:prstGeom prst="rect">
            <a:avLst/>
          </a:prstGeom>
          <a:noFill/>
        </p:spPr>
        <p:txBody>
          <a:bodyPr wrap="square" lIns="45720" rIns="45720" tIns="27432" bIns="27432" anchor="t">
            <a:noAutofit/>
          </a:bodyPr>
          <a:lstStyle/>
          <a:p>
            <a:pPr algn="r">
              <a:lnSpc>
                <a:spcPct val="100000"/>
              </a:lnSpc>
            </a:pPr>
            <a:r>
              <a:rPr sz="850" b="0" i="0" spc="100">
                <a:solidFill>
                  <a:srgbClr val="A7B2B0"/>
                </a:solidFill>
                <a:latin typeface="Segoe UI Semibold"/>
              </a:rPr>
              <a:t>v1.91.1   ·   174</a:t>
            </a:r>
          </a:p>
        </p:txBody>
      </p:sp>
    </p:spTree>
  </p:cSld>
  <p:clrMapOvr>
    <a:masterClrMapping/>
  </p:clrMapOvr>
</p:sld>
</file>

<file path=ppt/slides/slide1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appendix.png"/>
          <p:cNvPicPr>
            <a:picLocks noChangeAspect="1"/>
          </p:cNvPicPr>
          <p:nvPr/>
        </p:nvPicPr>
        <p:blipFill>
          <a:blip r:embed="rId2"/>
          <a:stretch>
            <a:fillRect/>
          </a:stretch>
        </p:blipFill>
        <p:spPr>
          <a:xfrm>
            <a:off x="0" y="0"/>
            <a:ext cx="12191695" cy="6858000"/>
          </a:xfrm>
          <a:prstGeom prst="rect">
            <a:avLst/>
          </a:prstGeom>
        </p:spPr>
      </p:pic>
      <p:sp>
        <p:nvSpPr>
          <p:cNvPr id="3" name="TextBox 2"/>
          <p:cNvSpPr txBox="1"/>
          <p:nvPr/>
        </p:nvSpPr>
        <p:spPr>
          <a:xfrm>
            <a:off x="566928" y="384048"/>
            <a:ext cx="8686800" cy="329184"/>
          </a:xfrm>
          <a:prstGeom prst="rect">
            <a:avLst/>
          </a:prstGeom>
          <a:noFill/>
        </p:spPr>
        <p:txBody>
          <a:bodyPr wrap="square" lIns="45720" rIns="45720" tIns="27432" bIns="27432" anchor="t">
            <a:noAutofit/>
          </a:bodyPr>
          <a:lstStyle/>
          <a:p>
            <a:pPr algn="l">
              <a:lnSpc>
                <a:spcPct val="100000"/>
              </a:lnSpc>
            </a:pPr>
            <a:r>
              <a:rPr sz="1100" b="0" i="0" spc="200">
                <a:solidFill>
                  <a:srgbClr val="C98457"/>
                </a:solidFill>
                <a:latin typeface="Segoe UI Semibold"/>
              </a:rPr>
              <a:t>APÉNDICE A  ·  ÁRBOL DE ARCHIVOS DE LA APLICACIÓN  ·  1 / 20</a:t>
            </a:r>
          </a:p>
        </p:txBody>
      </p:sp>
      <p:sp>
        <p:nvSpPr>
          <p:cNvPr id="4" name="TextBox 3"/>
          <p:cNvSpPr txBox="1"/>
          <p:nvPr/>
        </p:nvSpPr>
        <p:spPr>
          <a:xfrm>
            <a:off x="566928" y="731520"/>
            <a:ext cx="11057839" cy="384048"/>
          </a:xfrm>
          <a:prstGeom prst="rect">
            <a:avLst/>
          </a:prstGeom>
          <a:noFill/>
        </p:spPr>
        <p:txBody>
          <a:bodyPr wrap="square" lIns="45720" rIns="45720" tIns="27432" bIns="27432" anchor="t">
            <a:noAutofit/>
          </a:bodyPr>
          <a:lstStyle/>
          <a:p>
            <a:pPr algn="l">
              <a:lnSpc>
                <a:spcPct val="100000"/>
              </a:lnSpc>
            </a:pPr>
            <a:r>
              <a:rPr sz="1300" b="0" i="0">
                <a:solidFill>
                  <a:srgbClr val="A7B2B0"/>
                </a:solidFill>
                <a:latin typeface="Segoe UI"/>
              </a:rPr>
              <a:t>1,898 archivos listados en el commit 21b0a5c; 221 archivos de la historia de la base de datos resumidos.</a:t>
            </a:r>
          </a:p>
        </p:txBody>
      </p:sp>
      <p:sp>
        <p:nvSpPr>
          <p:cNvPr id="5" name="TextBox 4"/>
          <p:cNvSpPr txBox="1"/>
          <p:nvPr/>
        </p:nvSpPr>
        <p:spPr>
          <a:xfrm>
            <a:off x="566928" y="1170432"/>
            <a:ext cx="3515258" cy="5084064"/>
          </a:xfrm>
          <a:prstGeom prst="rect">
            <a:avLst/>
          </a:prstGeom>
          <a:noFill/>
        </p:spPr>
        <p:txBody>
          <a:bodyPr wrap="none" lIns="45720" rIns="45720" tIns="27432" bIns="27432" anchor="t">
            <a:noAutofit/>
          </a:bodyPr>
          <a:lstStyle/>
          <a:p>
            <a:pPr algn="l">
              <a:lnSpc>
                <a:spcPct val="100000"/>
              </a:lnSpc>
            </a:pPr>
            <a:r>
              <a:rPr sz="800" b="0" i="0">
                <a:solidFill>
                  <a:srgbClr val="3BBE93"/>
                </a:solidFill>
                <a:latin typeface="Consolas"/>
              </a:rPr>
              <a:t>Tlamatini/</a:t>
            </a:r>
          </a:p>
          <a:p>
            <a:pPr algn="l">
              <a:lnSpc>
                <a:spcPct val="100000"/>
              </a:lnSpc>
            </a:pPr>
            <a:r>
              <a:rPr sz="800" b="0" i="0">
                <a:solidFill>
                  <a:srgbClr val="ECE7DC"/>
                </a:solidFill>
                <a:latin typeface="Consolas"/>
              </a:rPr>
              <a:t>├── .gitattributes</a:t>
            </a:r>
          </a:p>
          <a:p>
            <a:pPr algn="l">
              <a:lnSpc>
                <a:spcPct val="100000"/>
              </a:lnSpc>
            </a:pPr>
            <a:r>
              <a:rPr sz="800" b="0" i="0">
                <a:solidFill>
                  <a:srgbClr val="ECE7DC"/>
                </a:solidFill>
                <a:latin typeface="Consolas"/>
              </a:rPr>
              <a:t>├── .gitignore</a:t>
            </a:r>
          </a:p>
          <a:p>
            <a:pPr algn="l">
              <a:lnSpc>
                <a:spcPct val="100000"/>
              </a:lnSpc>
            </a:pPr>
            <a:r>
              <a:rPr sz="800" b="0" i="0">
                <a:solidFill>
                  <a:srgbClr val="ECE7DC"/>
                </a:solidFill>
                <a:latin typeface="Consolas"/>
              </a:rPr>
              <a:t>├── .mcp.json</a:t>
            </a:r>
          </a:p>
          <a:p>
            <a:pPr algn="l">
              <a:lnSpc>
                <a:spcPct val="100000"/>
              </a:lnSpc>
            </a:pPr>
            <a:r>
              <a:rPr sz="800" b="0" i="0">
                <a:solidFill>
                  <a:srgbClr val="ECE7DC"/>
                </a:solidFill>
                <a:latin typeface="Consolas"/>
              </a:rPr>
              <a:t>├── _acpx_pipeline_demo_report.md</a:t>
            </a:r>
          </a:p>
          <a:p>
            <a:pPr algn="l">
              <a:lnSpc>
                <a:spcPct val="100000"/>
              </a:lnSpc>
            </a:pPr>
            <a:r>
              <a:rPr sz="800" b="0" i="0">
                <a:solidFill>
                  <a:srgbClr val="ECE7DC"/>
                </a:solidFill>
                <a:latin typeface="Consolas"/>
              </a:rPr>
              <a:t>├── ACPX.md</a:t>
            </a:r>
          </a:p>
          <a:p>
            <a:pPr algn="l">
              <a:lnSpc>
                <a:spcPct val="100000"/>
              </a:lnSpc>
            </a:pPr>
            <a:r>
              <a:rPr sz="800" b="0" i="0">
                <a:solidFill>
                  <a:srgbClr val="ECE7DC"/>
                </a:solidFill>
                <a:latin typeface="Consolas"/>
              </a:rPr>
              <a:t>├── AGENTS.md</a:t>
            </a:r>
          </a:p>
          <a:p>
            <a:pPr algn="l">
              <a:lnSpc>
                <a:spcPct val="100000"/>
              </a:lnSpc>
            </a:pPr>
            <a:r>
              <a:rPr sz="800" b="0" i="0">
                <a:solidFill>
                  <a:srgbClr val="ECE7DC"/>
                </a:solidFill>
                <a:latin typeface="Consolas"/>
              </a:rPr>
              <a:t>├── agents_descriptions.md</a:t>
            </a:r>
          </a:p>
          <a:p>
            <a:pPr algn="l">
              <a:lnSpc>
                <a:spcPct val="100000"/>
              </a:lnSpc>
            </a:pPr>
            <a:r>
              <a:rPr sz="800" b="0" i="0">
                <a:solidFill>
                  <a:srgbClr val="ECE7DC"/>
                </a:solidFill>
                <a:latin typeface="Consolas"/>
              </a:rPr>
              <a:t>├── apply_update.ps1</a:t>
            </a:r>
          </a:p>
          <a:p>
            <a:pPr algn="l">
              <a:lnSpc>
                <a:spcPct val="100000"/>
              </a:lnSpc>
            </a:pPr>
            <a:r>
              <a:rPr sz="800" b="0" i="0">
                <a:solidFill>
                  <a:srgbClr val="ECE7DC"/>
                </a:solidFill>
                <a:latin typeface="Consolas"/>
              </a:rPr>
              <a:t>├── audit_dependencies.py</a:t>
            </a:r>
          </a:p>
          <a:p>
            <a:pPr algn="l">
              <a:lnSpc>
                <a:spcPct val="100000"/>
              </a:lnSpc>
            </a:pPr>
            <a:r>
              <a:rPr sz="800" b="0" i="0">
                <a:solidFill>
                  <a:srgbClr val="ECE7DC"/>
                </a:solidFill>
                <a:latin typeface="Consolas"/>
              </a:rPr>
              <a:t>├── AvatarImprovementByClaude.md</a:t>
            </a:r>
          </a:p>
          <a:p>
            <a:pPr algn="l">
              <a:lnSpc>
                <a:spcPct val="100000"/>
              </a:lnSpc>
            </a:pPr>
            <a:r>
              <a:rPr sz="800" b="0" i="0">
                <a:solidFill>
                  <a:srgbClr val="ECE7DC"/>
                </a:solidFill>
                <a:latin typeface="Consolas"/>
              </a:rPr>
              <a:t>├── backup_db.py</a:t>
            </a:r>
          </a:p>
          <a:p>
            <a:pPr algn="l">
              <a:lnSpc>
                <a:spcPct val="100000"/>
              </a:lnSpc>
            </a:pPr>
            <a:r>
              <a:rPr sz="800" b="0" i="0">
                <a:solidFill>
                  <a:srgbClr val="ECE7DC"/>
                </a:solidFill>
                <a:latin typeface="Consolas"/>
              </a:rPr>
              <a:t>├── BookOfTlamatini.md</a:t>
            </a:r>
          </a:p>
          <a:p>
            <a:pPr algn="l">
              <a:lnSpc>
                <a:spcPct val="100000"/>
              </a:lnSpc>
            </a:pPr>
            <a:r>
              <a:rPr sz="800" b="0" i="0">
                <a:solidFill>
                  <a:srgbClr val="ECE7DC"/>
                </a:solidFill>
                <a:latin typeface="Consolas"/>
              </a:rPr>
              <a:t>├── build.py</a:t>
            </a:r>
          </a:p>
          <a:p>
            <a:pPr algn="l">
              <a:lnSpc>
                <a:spcPct val="100000"/>
              </a:lnSpc>
            </a:pPr>
            <a:r>
              <a:rPr sz="800" b="0" i="0">
                <a:solidFill>
                  <a:srgbClr val="ECE7DC"/>
                </a:solidFill>
                <a:latin typeface="Consolas"/>
              </a:rPr>
              <a:t>├── build_all.cmd</a:t>
            </a:r>
          </a:p>
          <a:p>
            <a:pPr algn="l">
              <a:lnSpc>
                <a:spcPct val="100000"/>
              </a:lnSpc>
            </a:pPr>
            <a:r>
              <a:rPr sz="800" b="0" i="0">
                <a:solidFill>
                  <a:srgbClr val="ECE7DC"/>
                </a:solidFill>
                <a:latin typeface="Consolas"/>
              </a:rPr>
              <a:t>├── build_complete_private_release.py</a:t>
            </a:r>
          </a:p>
          <a:p>
            <a:pPr algn="l">
              <a:lnSpc>
                <a:spcPct val="100000"/>
              </a:lnSpc>
            </a:pPr>
            <a:r>
              <a:rPr sz="800" b="0" i="0">
                <a:solidFill>
                  <a:srgbClr val="ECE7DC"/>
                </a:solidFill>
                <a:latin typeface="Consolas"/>
              </a:rPr>
              <a:t>├── build_complete_public_release.py</a:t>
            </a:r>
          </a:p>
          <a:p>
            <a:pPr algn="l">
              <a:lnSpc>
                <a:spcPct val="100000"/>
              </a:lnSpc>
            </a:pPr>
            <a:r>
              <a:rPr sz="800" b="0" i="0">
                <a:solidFill>
                  <a:srgbClr val="ECE7DC"/>
                </a:solidFill>
                <a:latin typeface="Consolas"/>
              </a:rPr>
              <a:t>├── build_env.py</a:t>
            </a:r>
          </a:p>
          <a:p>
            <a:pPr algn="l">
              <a:lnSpc>
                <a:spcPct val="100000"/>
              </a:lnSpc>
            </a:pPr>
            <a:r>
              <a:rPr sz="800" b="0" i="0">
                <a:solidFill>
                  <a:srgbClr val="ECE7DC"/>
                </a:solidFill>
                <a:latin typeface="Consolas"/>
              </a:rPr>
              <a:t>├── build_installer.py</a:t>
            </a:r>
          </a:p>
          <a:p>
            <a:pPr algn="l">
              <a:lnSpc>
                <a:spcPct val="100000"/>
              </a:lnSpc>
            </a:pPr>
            <a:r>
              <a:rPr sz="800" b="0" i="0">
                <a:solidFill>
                  <a:srgbClr val="ECE7DC"/>
                </a:solidFill>
                <a:latin typeface="Consolas"/>
              </a:rPr>
              <a:t>├── build_runtime_assets.py</a:t>
            </a:r>
          </a:p>
          <a:p>
            <a:pPr algn="l">
              <a:lnSpc>
                <a:spcPct val="100000"/>
              </a:lnSpc>
            </a:pPr>
            <a:r>
              <a:rPr sz="800" b="0" i="0">
                <a:solidFill>
                  <a:srgbClr val="ECE7DC"/>
                </a:solidFill>
                <a:latin typeface="Consolas"/>
              </a:rPr>
              <a:t>├── build_uninstaller.py</a:t>
            </a:r>
          </a:p>
          <a:p>
            <a:pPr algn="l">
              <a:lnSpc>
                <a:spcPct val="100000"/>
              </a:lnSpc>
            </a:pPr>
            <a:r>
              <a:rPr sz="800" b="0" i="0">
                <a:solidFill>
                  <a:srgbClr val="ECE7DC"/>
                </a:solidFill>
                <a:latin typeface="Consolas"/>
              </a:rPr>
              <a:t>├── check_private_data.py</a:t>
            </a:r>
          </a:p>
          <a:p>
            <a:pPr algn="l">
              <a:lnSpc>
                <a:spcPct val="100000"/>
              </a:lnSpc>
            </a:pPr>
            <a:r>
              <a:rPr sz="800" b="0" i="0">
                <a:solidFill>
                  <a:srgbClr val="ECE7DC"/>
                </a:solidFill>
                <a:latin typeface="Consolas"/>
              </a:rPr>
              <a:t>├── Claude-Desktop-KALI-MCP-Session.md</a:t>
            </a:r>
          </a:p>
          <a:p>
            <a:pPr algn="l">
              <a:lnSpc>
                <a:spcPct val="100000"/>
              </a:lnSpc>
            </a:pPr>
            <a:r>
              <a:rPr sz="800" b="0" i="0">
                <a:solidFill>
                  <a:srgbClr val="ECE7DC"/>
                </a:solidFill>
                <a:latin typeface="Consolas"/>
              </a:rPr>
              <a:t>├── CLAUDE.md</a:t>
            </a:r>
          </a:p>
          <a:p>
            <a:pPr algn="l">
              <a:lnSpc>
                <a:spcPct val="100000"/>
              </a:lnSpc>
            </a:pPr>
            <a:r>
              <a:rPr sz="800" b="0" i="0">
                <a:solidFill>
                  <a:srgbClr val="ECE7DC"/>
                </a:solidFill>
                <a:latin typeface="Consolas"/>
              </a:rPr>
              <a:t>├── Codex2ClaudeRecommendations.md</a:t>
            </a:r>
          </a:p>
          <a:p>
            <a:pPr algn="l">
              <a:lnSpc>
                <a:spcPct val="100000"/>
              </a:lnSpc>
            </a:pPr>
            <a:r>
              <a:rPr sz="800" b="0" i="0">
                <a:solidFill>
                  <a:srgbClr val="ECE7DC"/>
                </a:solidFill>
                <a:latin typeface="Consolas"/>
              </a:rPr>
              <a:t>├── ConfigureModels.png</a:t>
            </a:r>
          </a:p>
          <a:p>
            <a:pPr algn="l">
              <a:lnSpc>
                <a:spcPct val="100000"/>
              </a:lnSpc>
            </a:pPr>
            <a:r>
              <a:rPr sz="800" b="0" i="0">
                <a:solidFill>
                  <a:srgbClr val="ECE7DC"/>
                </a:solidFill>
                <a:latin typeface="Consolas"/>
              </a:rPr>
              <a:t>├── copy_source_assets.py</a:t>
            </a:r>
          </a:p>
          <a:p>
            <a:pPr algn="l">
              <a:lnSpc>
                <a:spcPct val="100000"/>
              </a:lnSpc>
            </a:pPr>
            <a:r>
              <a:rPr sz="800" b="0" i="0">
                <a:solidFill>
                  <a:srgbClr val="ECE7DC"/>
                </a:solidFill>
                <a:latin typeface="Consolas"/>
              </a:rPr>
              <a:t>├── CreateShortcut.json</a:t>
            </a:r>
          </a:p>
          <a:p>
            <a:pPr algn="l">
              <a:lnSpc>
                <a:spcPct val="100000"/>
              </a:lnSpc>
            </a:pPr>
            <a:r>
              <a:rPr sz="800" b="0" i="0">
                <a:solidFill>
                  <a:srgbClr val="ECE7DC"/>
                </a:solidFill>
                <a:latin typeface="Consolas"/>
              </a:rPr>
              <a:t>├── CreateShortcut.ps1</a:t>
            </a:r>
          </a:p>
          <a:p>
            <a:pPr algn="l">
              <a:lnSpc>
                <a:spcPct val="100000"/>
              </a:lnSpc>
            </a:pPr>
            <a:r>
              <a:rPr sz="800" b="0" i="0">
                <a:solidFill>
                  <a:srgbClr val="ECE7DC"/>
                </a:solidFill>
                <a:latin typeface="Consolas"/>
              </a:rPr>
              <a:t>├── DesignOfIncludingMemoryMCPS.txt</a:t>
            </a:r>
          </a:p>
          <a:p>
            <a:pPr algn="l">
              <a:lnSpc>
                <a:spcPct val="100000"/>
              </a:lnSpc>
            </a:pPr>
            <a:r>
              <a:rPr sz="800" b="0" i="0">
                <a:solidFill>
                  <a:srgbClr val="ECE7DC"/>
                </a:solidFill>
                <a:latin typeface="Consolas"/>
              </a:rPr>
              <a:t>├── Discoverier-new-agent.md</a:t>
            </a:r>
          </a:p>
          <a:p>
            <a:pPr algn="l">
              <a:lnSpc>
                <a:spcPct val="100000"/>
              </a:lnSpc>
            </a:pPr>
            <a:r>
              <a:rPr sz="800" b="0" i="0">
                <a:solidFill>
                  <a:srgbClr val="ECE7DC"/>
                </a:solidFill>
                <a:latin typeface="Consolas"/>
              </a:rPr>
              <a:t>├── eslint.config.mjs</a:t>
            </a:r>
          </a:p>
          <a:p>
            <a:pPr algn="l">
              <a:lnSpc>
                <a:spcPct val="100000"/>
              </a:lnSpc>
            </a:pPr>
            <a:r>
              <a:rPr sz="800" b="0" i="0">
                <a:solidFill>
                  <a:srgbClr val="ECE7DC"/>
                </a:solidFill>
                <a:latin typeface="Consolas"/>
              </a:rPr>
              <a:t>├── example_of_prompt_to_make_de-compresser_agent.txt</a:t>
            </a:r>
          </a:p>
          <a:p>
            <a:pPr algn="l">
              <a:lnSpc>
                <a:spcPct val="100000"/>
              </a:lnSpc>
            </a:pPr>
            <a:r>
              <a:rPr sz="800" b="0" i="0">
                <a:solidFill>
                  <a:srgbClr val="ECE7DC"/>
                </a:solidFill>
                <a:latin typeface="Consolas"/>
              </a:rPr>
              <a:t>├── FirstFinalPlanToSpeedUp.md</a:t>
            </a:r>
          </a:p>
          <a:p>
            <a:pPr algn="l">
              <a:lnSpc>
                <a:spcPct val="100000"/>
              </a:lnSpc>
            </a:pPr>
            <a:r>
              <a:rPr sz="800" b="0" i="0">
                <a:solidFill>
                  <a:srgbClr val="ECE7DC"/>
                </a:solidFill>
                <a:latin typeface="Consolas"/>
              </a:rPr>
              <a:t>├── flow_file_associations.ps1</a:t>
            </a:r>
          </a:p>
          <a:p>
            <a:pPr algn="l">
              <a:lnSpc>
                <a:spcPct val="100000"/>
              </a:lnSpc>
            </a:pPr>
            <a:r>
              <a:rPr sz="800" b="0" i="0">
                <a:solidFill>
                  <a:srgbClr val="ECE7DC"/>
                </a:solidFill>
                <a:latin typeface="Consolas"/>
              </a:rPr>
              <a:t>├── freeingport8000.ps1</a:t>
            </a:r>
          </a:p>
          <a:p>
            <a:pPr algn="l">
              <a:lnSpc>
                <a:spcPct val="100000"/>
              </a:lnSpc>
            </a:pPr>
            <a:r>
              <a:rPr sz="800" b="0" i="0">
                <a:solidFill>
                  <a:srgbClr val="ECE7DC"/>
                </a:solidFill>
                <a:latin typeface="Consolas"/>
              </a:rPr>
              <a:t>├── GEMINI.md</a:t>
            </a:r>
          </a:p>
          <a:p>
            <a:pPr algn="l">
              <a:lnSpc>
                <a:spcPct val="100000"/>
              </a:lnSpc>
            </a:pPr>
            <a:r>
              <a:rPr sz="800" b="0" i="0">
                <a:solidFill>
                  <a:srgbClr val="ECE7DC"/>
                </a:solidFill>
                <a:latin typeface="Consolas"/>
              </a:rPr>
              <a:t>├── git_deny_go.py</a:t>
            </a:r>
          </a:p>
          <a:p>
            <a:pPr algn="l">
              <a:lnSpc>
                <a:spcPct val="100000"/>
              </a:lnSpc>
            </a:pPr>
            <a:r>
              <a:rPr sz="800" b="0" i="0">
                <a:solidFill>
                  <a:srgbClr val="ECE7DC"/>
                </a:solidFill>
                <a:latin typeface="Consolas"/>
              </a:rPr>
              <a:t>├── install.py</a:t>
            </a:r>
          </a:p>
          <a:p>
            <a:pPr algn="l">
              <a:lnSpc>
                <a:spcPct val="100000"/>
              </a:lnSpc>
            </a:pPr>
            <a:r>
              <a:rPr sz="800" b="0" i="0">
                <a:solidFill>
                  <a:srgbClr val="ECE7DC"/>
                </a:solidFill>
                <a:latin typeface="Consolas"/>
              </a:rPr>
              <a:t>├── KIMI.md</a:t>
            </a:r>
          </a:p>
          <a:p>
            <a:pPr algn="l">
              <a:lnSpc>
                <a:spcPct val="100000"/>
              </a:lnSpc>
            </a:pPr>
            <a:r>
              <a:rPr sz="800" b="0" i="0">
                <a:solidFill>
                  <a:srgbClr val="ECE7DC"/>
                </a:solidFill>
                <a:latin typeface="Consolas"/>
              </a:rPr>
              <a:t>├── latest-folding-context-session.md</a:t>
            </a:r>
          </a:p>
        </p:txBody>
      </p:sp>
      <p:sp>
        <p:nvSpPr>
          <p:cNvPr id="6" name="TextBox 5"/>
          <p:cNvSpPr txBox="1"/>
          <p:nvPr/>
        </p:nvSpPr>
        <p:spPr>
          <a:xfrm>
            <a:off x="4338218" y="1170432"/>
            <a:ext cx="3515258" cy="5084064"/>
          </a:xfrm>
          <a:prstGeom prst="rect">
            <a:avLst/>
          </a:prstGeom>
          <a:noFill/>
        </p:spPr>
        <p:txBody>
          <a:bodyPr wrap="none" lIns="45720" rIns="45720" tIns="27432" bIns="27432" anchor="t">
            <a:noAutofit/>
          </a:bodyPr>
          <a:lstStyle/>
          <a:p>
            <a:pPr algn="l">
              <a:lnSpc>
                <a:spcPct val="100000"/>
              </a:lnSpc>
            </a:pPr>
            <a:r>
              <a:rPr sz="800" b="0" i="0">
                <a:solidFill>
                  <a:srgbClr val="ECE7DC"/>
                </a:solidFill>
                <a:latin typeface="Consolas"/>
              </a:rPr>
              <a:t>├── LICENSE</a:t>
            </a:r>
          </a:p>
          <a:p>
            <a:pPr algn="l">
              <a:lnSpc>
                <a:spcPct val="100000"/>
              </a:lnSpc>
            </a:pPr>
            <a:r>
              <a:rPr sz="800" b="0" i="0">
                <a:solidFill>
                  <a:srgbClr val="ECE7DC"/>
                </a:solidFill>
                <a:latin typeface="Consolas"/>
              </a:rPr>
              <a:t>├── MCPMemoriesFlowCreation.flw</a:t>
            </a:r>
          </a:p>
          <a:p>
            <a:pPr algn="l">
              <a:lnSpc>
                <a:spcPct val="100000"/>
              </a:lnSpc>
            </a:pPr>
            <a:r>
              <a:rPr sz="800" b="0" i="0">
                <a:solidFill>
                  <a:srgbClr val="ECE7DC"/>
                </a:solidFill>
                <a:latin typeface="Consolas"/>
              </a:rPr>
              <a:t>├── MessagingConnectorAssistant_Design.md</a:t>
            </a:r>
          </a:p>
          <a:p>
            <a:pPr algn="l">
              <a:lnSpc>
                <a:spcPct val="100000"/>
              </a:lnSpc>
            </a:pPr>
            <a:r>
              <a:rPr sz="800" b="0" i="0">
                <a:solidFill>
                  <a:srgbClr val="ECE7DC"/>
                </a:solidFill>
                <a:latin typeface="Consolas"/>
              </a:rPr>
              <a:t>├── ollama_credits.py</a:t>
            </a:r>
          </a:p>
          <a:p>
            <a:pPr algn="l">
              <a:lnSpc>
                <a:spcPct val="100000"/>
              </a:lnSpc>
            </a:pPr>
            <a:r>
              <a:rPr sz="800" b="0" i="0">
                <a:solidFill>
                  <a:srgbClr val="ECE7DC"/>
                </a:solidFill>
                <a:latin typeface="Consolas"/>
              </a:rPr>
              <a:t>├── OllamaPricing.png</a:t>
            </a:r>
          </a:p>
          <a:p>
            <a:pPr algn="l">
              <a:lnSpc>
                <a:spcPct val="100000"/>
              </a:lnSpc>
            </a:pPr>
            <a:r>
              <a:rPr sz="800" b="0" i="0">
                <a:solidFill>
                  <a:srgbClr val="ECE7DC"/>
                </a:solidFill>
                <a:latin typeface="Consolas"/>
              </a:rPr>
              <a:t>├── OOB_shift_reaper-and-NAMU-Design.pdf</a:t>
            </a:r>
          </a:p>
          <a:p>
            <a:pPr algn="l">
              <a:lnSpc>
                <a:spcPct val="100000"/>
              </a:lnSpc>
            </a:pPr>
            <a:r>
              <a:rPr sz="800" b="0" i="0">
                <a:solidFill>
                  <a:srgbClr val="ECE7DC"/>
                </a:solidFill>
                <a:latin typeface="Consolas"/>
              </a:rPr>
              <a:t>├── package.json</a:t>
            </a:r>
          </a:p>
          <a:p>
            <a:pPr algn="l">
              <a:lnSpc>
                <a:spcPct val="100000"/>
              </a:lnSpc>
            </a:pPr>
            <a:r>
              <a:rPr sz="800" b="0" i="0">
                <a:solidFill>
                  <a:srgbClr val="ECE7DC"/>
                </a:solidFill>
                <a:latin typeface="Consolas"/>
              </a:rPr>
              <a:t>├── PIVOT_CHANGES.md</a:t>
            </a:r>
          </a:p>
          <a:p>
            <a:pPr algn="l">
              <a:lnSpc>
                <a:spcPct val="100000"/>
              </a:lnSpc>
            </a:pPr>
            <a:r>
              <a:rPr sz="800" b="0" i="0">
                <a:solidFill>
                  <a:srgbClr val="ECE7DC"/>
                </a:solidFill>
                <a:latin typeface="Consolas"/>
              </a:rPr>
              <a:t>├── pnpm-lock.yaml</a:t>
            </a:r>
          </a:p>
          <a:p>
            <a:pPr algn="l">
              <a:lnSpc>
                <a:spcPct val="100000"/>
              </a:lnSpc>
            </a:pPr>
            <a:r>
              <a:rPr sz="800" b="0" i="0">
                <a:solidFill>
                  <a:srgbClr val="ECE7DC"/>
                </a:solidFill>
                <a:latin typeface="Consolas"/>
              </a:rPr>
              <a:t>├── preserved_user_state.json</a:t>
            </a:r>
          </a:p>
          <a:p>
            <a:pPr algn="l">
              <a:lnSpc>
                <a:spcPct val="100000"/>
              </a:lnSpc>
            </a:pPr>
            <a:r>
              <a:rPr sz="800" b="0" i="0">
                <a:solidFill>
                  <a:srgbClr val="ECE7DC"/>
                </a:solidFill>
                <a:latin typeface="Consolas"/>
              </a:rPr>
              <a:t>├── private_targets.example.json</a:t>
            </a:r>
          </a:p>
          <a:p>
            <a:pPr algn="l">
              <a:lnSpc>
                <a:spcPct val="100000"/>
              </a:lnSpc>
            </a:pPr>
            <a:r>
              <a:rPr sz="800" b="0" i="0">
                <a:solidFill>
                  <a:srgbClr val="ECE7DC"/>
                </a:solidFill>
                <a:latin typeface="Consolas"/>
              </a:rPr>
              <a:t>├── PromptDesigner.jpg</a:t>
            </a:r>
          </a:p>
          <a:p>
            <a:pPr algn="l">
              <a:lnSpc>
                <a:spcPct val="100000"/>
              </a:lnSpc>
            </a:pPr>
            <a:r>
              <a:rPr sz="800" b="0" i="0">
                <a:solidFill>
                  <a:srgbClr val="ECE7DC"/>
                </a:solidFill>
                <a:latin typeface="Consolas"/>
              </a:rPr>
              <a:t>├── pyinstaller_guard.py</a:t>
            </a:r>
          </a:p>
          <a:p>
            <a:pPr algn="l">
              <a:lnSpc>
                <a:spcPct val="100000"/>
              </a:lnSpc>
            </a:pPr>
            <a:r>
              <a:rPr sz="800" b="0" i="0">
                <a:solidFill>
                  <a:srgbClr val="ECE7DC"/>
                </a:solidFill>
                <a:latin typeface="Consolas"/>
              </a:rPr>
              <a:t>├── README.md</a:t>
            </a:r>
          </a:p>
          <a:p>
            <a:pPr algn="l">
              <a:lnSpc>
                <a:spcPct val="100000"/>
              </a:lnSpc>
            </a:pPr>
            <a:r>
              <a:rPr sz="800" b="0" i="0">
                <a:solidFill>
                  <a:srgbClr val="ECE7DC"/>
                </a:solidFill>
                <a:latin typeface="Consolas"/>
              </a:rPr>
              <a:t>├── regen_secrets.py</a:t>
            </a:r>
          </a:p>
          <a:p>
            <a:pPr algn="l">
              <a:lnSpc>
                <a:spcPct val="100000"/>
              </a:lnSpc>
            </a:pPr>
            <a:r>
              <a:rPr sz="800" b="0" i="0">
                <a:solidFill>
                  <a:srgbClr val="ECE7DC"/>
                </a:solidFill>
                <a:latin typeface="Consolas"/>
              </a:rPr>
              <a:t>├── register_flw.ps1</a:t>
            </a:r>
          </a:p>
          <a:p>
            <a:pPr algn="l">
              <a:lnSpc>
                <a:spcPct val="100000"/>
              </a:lnSpc>
            </a:pPr>
            <a:r>
              <a:rPr sz="800" b="0" i="0">
                <a:solidFill>
                  <a:srgbClr val="ECE7DC"/>
                </a:solidFill>
                <a:latin typeface="Consolas"/>
              </a:rPr>
              <a:t>├── register_fpmt.ps1</a:t>
            </a:r>
          </a:p>
          <a:p>
            <a:pPr algn="l">
              <a:lnSpc>
                <a:spcPct val="100000"/>
              </a:lnSpc>
            </a:pPr>
            <a:r>
              <a:rPr sz="800" b="0" i="0">
                <a:solidFill>
                  <a:srgbClr val="ECE7DC"/>
                </a:solidFill>
                <a:latin typeface="Consolas"/>
              </a:rPr>
              <a:t>├── RemoveShortcut.ps1</a:t>
            </a:r>
          </a:p>
          <a:p>
            <a:pPr algn="l">
              <a:lnSpc>
                <a:spcPct val="100000"/>
              </a:lnSpc>
            </a:pPr>
            <a:r>
              <a:rPr sz="800" b="0" i="0">
                <a:solidFill>
                  <a:srgbClr val="ECE7DC"/>
                </a:solidFill>
                <a:latin typeface="Consolas"/>
              </a:rPr>
              <a:t>├── requirements-esphome.txt</a:t>
            </a:r>
          </a:p>
          <a:p>
            <a:pPr algn="l">
              <a:lnSpc>
                <a:spcPct val="100000"/>
              </a:lnSpc>
            </a:pPr>
            <a:r>
              <a:rPr sz="800" b="0" i="0">
                <a:solidFill>
                  <a:srgbClr val="ECE7DC"/>
                </a:solidFill>
                <a:latin typeface="Consolas"/>
              </a:rPr>
              <a:t>├── requirements.txt</a:t>
            </a:r>
          </a:p>
          <a:p>
            <a:pPr algn="l">
              <a:lnSpc>
                <a:spcPct val="100000"/>
              </a:lnSpc>
            </a:pPr>
            <a:r>
              <a:rPr sz="800" b="0" i="0">
                <a:solidFill>
                  <a:srgbClr val="ECE7DC"/>
                </a:solidFill>
                <a:latin typeface="Consolas"/>
              </a:rPr>
              <a:t>├── setup_logging.py</a:t>
            </a:r>
          </a:p>
          <a:p>
            <a:pPr algn="l">
              <a:lnSpc>
                <a:spcPct val="100000"/>
              </a:lnSpc>
            </a:pPr>
            <a:r>
              <a:rPr sz="800" b="0" i="0">
                <a:solidFill>
                  <a:srgbClr val="ECE7DC"/>
                </a:solidFill>
                <a:latin typeface="Consolas"/>
              </a:rPr>
              <a:t>├── setup_recovery.py</a:t>
            </a:r>
          </a:p>
          <a:p>
            <a:pPr algn="l">
              <a:lnSpc>
                <a:spcPct val="100000"/>
              </a:lnSpc>
            </a:pPr>
            <a:r>
              <a:rPr sz="800" b="0" i="0">
                <a:solidFill>
                  <a:srgbClr val="ECE7DC"/>
                </a:solidFill>
                <a:latin typeface="Consolas"/>
              </a:rPr>
              <a:t>├── setup_windows.py</a:t>
            </a:r>
          </a:p>
          <a:p>
            <a:pPr algn="l">
              <a:lnSpc>
                <a:spcPct val="100000"/>
              </a:lnSpc>
            </a:pPr>
            <a:r>
              <a:rPr sz="800" b="0" i="0">
                <a:solidFill>
                  <a:srgbClr val="ECE7DC"/>
                </a:solidFill>
                <a:latin typeface="Consolas"/>
              </a:rPr>
              <a:t>├── setup_wizard.py</a:t>
            </a:r>
          </a:p>
          <a:p>
            <a:pPr algn="l">
              <a:lnSpc>
                <a:spcPct val="100000"/>
              </a:lnSpc>
            </a:pPr>
            <a:r>
              <a:rPr sz="800" b="0" i="0">
                <a:solidFill>
                  <a:srgbClr val="ECE7DC"/>
                </a:solidFill>
                <a:latin typeface="Consolas"/>
              </a:rPr>
              <a:t>├── test-reloaded-session.md</a:t>
            </a:r>
          </a:p>
          <a:p>
            <a:pPr algn="l">
              <a:lnSpc>
                <a:spcPct val="100000"/>
              </a:lnSpc>
            </a:pPr>
            <a:r>
              <a:rPr sz="800" b="0" i="0">
                <a:solidFill>
                  <a:srgbClr val="ECE7DC"/>
                </a:solidFill>
                <a:latin typeface="Consolas"/>
              </a:rPr>
              <a:t>├── test_author_banner.py</a:t>
            </a:r>
          </a:p>
          <a:p>
            <a:pPr algn="l">
              <a:lnSpc>
                <a:spcPct val="100000"/>
              </a:lnSpc>
            </a:pPr>
            <a:r>
              <a:rPr sz="800" b="0" i="0">
                <a:solidFill>
                  <a:srgbClr val="ECE7DC"/>
                </a:solidFill>
                <a:latin typeface="Consolas"/>
              </a:rPr>
              <a:t>├── test_check_private_data.py</a:t>
            </a:r>
          </a:p>
          <a:p>
            <a:pPr algn="l">
              <a:lnSpc>
                <a:spcPct val="100000"/>
              </a:lnSpc>
            </a:pPr>
            <a:r>
              <a:rPr sz="800" b="0" i="0">
                <a:solidFill>
                  <a:srgbClr val="ECE7DC"/>
                </a:solidFill>
                <a:latin typeface="Consolas"/>
              </a:rPr>
              <a:t>├── test_perf_3x_visual.py</a:t>
            </a:r>
          </a:p>
          <a:p>
            <a:pPr algn="l">
              <a:lnSpc>
                <a:spcPct val="100000"/>
              </a:lnSpc>
            </a:pPr>
            <a:r>
              <a:rPr sz="800" b="0" i="0">
                <a:solidFill>
                  <a:srgbClr val="ECE7DC"/>
                </a:solidFill>
                <a:latin typeface="Consolas"/>
              </a:rPr>
              <a:t>├── test_private_data_guard.py</a:t>
            </a:r>
          </a:p>
          <a:p>
            <a:pPr algn="l">
              <a:lnSpc>
                <a:spcPct val="100000"/>
              </a:lnSpc>
            </a:pPr>
            <a:r>
              <a:rPr sz="800" b="0" i="0">
                <a:solidFill>
                  <a:srgbClr val="ECE7DC"/>
                </a:solidFill>
                <a:latin typeface="Consolas"/>
              </a:rPr>
              <a:t>├── TestsVisiblesAndVisibleExecutionFromClaude2Codex.md</a:t>
            </a:r>
          </a:p>
          <a:p>
            <a:pPr algn="l">
              <a:lnSpc>
                <a:spcPct val="100000"/>
              </a:lnSpc>
            </a:pPr>
            <a:r>
              <a:rPr sz="800" b="0" i="0">
                <a:solidFill>
                  <a:srgbClr val="ECE7DC"/>
                </a:solidFill>
                <a:latin typeface="Consolas"/>
              </a:rPr>
              <a:t>├── Tlamatini-Architecture.pdf</a:t>
            </a:r>
          </a:p>
          <a:p>
            <a:pPr algn="l">
              <a:lnSpc>
                <a:spcPct val="100000"/>
              </a:lnSpc>
            </a:pPr>
            <a:r>
              <a:rPr sz="800" b="0" i="0">
                <a:solidFill>
                  <a:srgbClr val="ECE7DC"/>
                </a:solidFill>
                <a:latin typeface="Consolas"/>
              </a:rPr>
              <a:t>├── Tlamatini-Kali-Setup.md</a:t>
            </a:r>
          </a:p>
          <a:p>
            <a:pPr algn="l">
              <a:lnSpc>
                <a:spcPct val="100000"/>
              </a:lnSpc>
            </a:pPr>
            <a:r>
              <a:rPr sz="800" b="0" i="0">
                <a:solidFill>
                  <a:srgbClr val="ECE7DC"/>
                </a:solidFill>
                <a:latin typeface="Consolas"/>
              </a:rPr>
              <a:t>├── Tlamatini.ico</a:t>
            </a:r>
          </a:p>
          <a:p>
            <a:pPr algn="l">
              <a:lnSpc>
                <a:spcPct val="100000"/>
              </a:lnSpc>
            </a:pPr>
            <a:r>
              <a:rPr sz="800" b="0" i="0">
                <a:solidFill>
                  <a:srgbClr val="ECE7DC"/>
                </a:solidFill>
                <a:latin typeface="Consolas"/>
              </a:rPr>
              <a:t>├── Tlamatini.jpg</a:t>
            </a:r>
          </a:p>
          <a:p>
            <a:pPr algn="l">
              <a:lnSpc>
                <a:spcPct val="100000"/>
              </a:lnSpc>
            </a:pPr>
            <a:r>
              <a:rPr sz="800" b="0" i="0">
                <a:solidFill>
                  <a:srgbClr val="ECE7DC"/>
                </a:solidFill>
                <a:latin typeface="Consolas"/>
              </a:rPr>
              <a:t>├── Tlamatini.ps1</a:t>
            </a:r>
          </a:p>
          <a:p>
            <a:pPr algn="l">
              <a:lnSpc>
                <a:spcPct val="100000"/>
              </a:lnSpc>
            </a:pPr>
            <a:r>
              <a:rPr sz="800" b="0" i="0">
                <a:solidFill>
                  <a:srgbClr val="ECE7DC"/>
                </a:solidFill>
                <a:latin typeface="Consolas"/>
              </a:rPr>
              <a:t>├── tlamatini_acpx.py</a:t>
            </a:r>
          </a:p>
          <a:p>
            <a:pPr algn="l">
              <a:lnSpc>
                <a:spcPct val="100000"/>
              </a:lnSpc>
            </a:pPr>
            <a:r>
              <a:rPr sz="800" b="0" i="0">
                <a:solidFill>
                  <a:srgbClr val="ECE7DC"/>
                </a:solidFill>
                <a:latin typeface="Consolas"/>
              </a:rPr>
              <a:t>├── tlamatini_app_summary.pdf</a:t>
            </a:r>
          </a:p>
          <a:p>
            <a:pPr algn="l">
              <a:lnSpc>
                <a:spcPct val="100000"/>
              </a:lnSpc>
            </a:pPr>
            <a:r>
              <a:rPr sz="800" b="0" i="0">
                <a:solidFill>
                  <a:srgbClr val="ECE7DC"/>
                </a:solidFill>
                <a:latin typeface="Consolas"/>
              </a:rPr>
              <a:t>├── Tlamatini_eXtended_Artificial_Intelligence_Humanly_T</a:t>
            </a:r>
          </a:p>
          <a:p>
            <a:pPr algn="l">
              <a:lnSpc>
                <a:spcPct val="100000"/>
              </a:lnSpc>
            </a:pPr>
            <a:r>
              <a:rPr sz="800" b="0" i="0">
                <a:solidFill>
                  <a:srgbClr val="ECE7DC"/>
                </a:solidFill>
                <a:latin typeface="Consolas"/>
              </a:rPr>
              <a:t>│     » empered.pptx</a:t>
            </a:r>
          </a:p>
          <a:p>
            <a:pPr algn="l">
              <a:lnSpc>
                <a:spcPct val="100000"/>
              </a:lnSpc>
            </a:pPr>
            <a:r>
              <a:rPr sz="800" b="0" i="0">
                <a:solidFill>
                  <a:srgbClr val="ECE7DC"/>
                </a:solidFill>
                <a:latin typeface="Consolas"/>
              </a:rPr>
              <a:t>├── TLAMATINI_MCP.md</a:t>
            </a:r>
          </a:p>
          <a:p>
            <a:pPr algn="l">
              <a:lnSpc>
                <a:spcPct val="100000"/>
              </a:lnSpc>
            </a:pPr>
            <a:r>
              <a:rPr sz="800" b="0" i="0">
                <a:solidFill>
                  <a:srgbClr val="ECE7DC"/>
                </a:solidFill>
                <a:latin typeface="Consolas"/>
              </a:rPr>
              <a:t>├── tlamatini_mcp_server.py</a:t>
            </a:r>
          </a:p>
        </p:txBody>
      </p:sp>
      <p:sp>
        <p:nvSpPr>
          <p:cNvPr id="7" name="TextBox 6"/>
          <p:cNvSpPr txBox="1"/>
          <p:nvPr/>
        </p:nvSpPr>
        <p:spPr>
          <a:xfrm>
            <a:off x="8109508" y="1170432"/>
            <a:ext cx="3515258" cy="5084064"/>
          </a:xfrm>
          <a:prstGeom prst="rect">
            <a:avLst/>
          </a:prstGeom>
          <a:noFill/>
        </p:spPr>
        <p:txBody>
          <a:bodyPr wrap="none" lIns="45720" rIns="45720" tIns="27432" bIns="27432" anchor="t">
            <a:noAutofit/>
          </a:bodyPr>
          <a:lstStyle/>
          <a:p>
            <a:pPr algn="l">
              <a:lnSpc>
                <a:spcPct val="100000"/>
              </a:lnSpc>
            </a:pPr>
            <a:r>
              <a:rPr sz="800" b="0" i="0">
                <a:solidFill>
                  <a:srgbClr val="ECE7DC"/>
                </a:solidFill>
                <a:latin typeface="Consolas"/>
              </a:rPr>
              <a:t>├── uncommit-keys.bat</a:t>
            </a:r>
          </a:p>
          <a:p>
            <a:pPr algn="l">
              <a:lnSpc>
                <a:spcPct val="100000"/>
              </a:lnSpc>
            </a:pPr>
            <a:r>
              <a:rPr sz="800" b="0" i="0">
                <a:solidFill>
                  <a:srgbClr val="ECE7DC"/>
                </a:solidFill>
                <a:latin typeface="Consolas"/>
              </a:rPr>
              <a:t>├── uninstall.py</a:t>
            </a:r>
          </a:p>
          <a:p>
            <a:pPr algn="l">
              <a:lnSpc>
                <a:spcPct val="100000"/>
              </a:lnSpc>
            </a:pPr>
            <a:r>
              <a:rPr sz="800" b="0" i="0">
                <a:solidFill>
                  <a:srgbClr val="ECE7DC"/>
                </a:solidFill>
                <a:latin typeface="Consolas"/>
              </a:rPr>
              <a:t>├── uninstall_processes.py</a:t>
            </a:r>
          </a:p>
          <a:p>
            <a:pPr algn="l">
              <a:lnSpc>
                <a:spcPct val="100000"/>
              </a:lnSpc>
            </a:pPr>
            <a:r>
              <a:rPr sz="800" b="0" i="0">
                <a:solidFill>
                  <a:srgbClr val="ECE7DC"/>
                </a:solidFill>
                <a:latin typeface="Consolas"/>
              </a:rPr>
              <a:t>├── unregister_flw.ps1</a:t>
            </a:r>
          </a:p>
          <a:p>
            <a:pPr algn="l">
              <a:lnSpc>
                <a:spcPct val="100000"/>
              </a:lnSpc>
            </a:pPr>
            <a:r>
              <a:rPr sz="800" b="0" i="0">
                <a:solidFill>
                  <a:srgbClr val="ECE7DC"/>
                </a:solidFill>
                <a:latin typeface="Consolas"/>
              </a:rPr>
              <a:t>├── unregister_fpmt.ps1</a:t>
            </a:r>
          </a:p>
          <a:p>
            <a:pPr algn="l">
              <a:lnSpc>
                <a:spcPct val="100000"/>
              </a:lnSpc>
            </a:pPr>
            <a:r>
              <a:rPr sz="800" b="0" i="0">
                <a:solidFill>
                  <a:srgbClr val="ECE7DC"/>
                </a:solidFill>
                <a:latin typeface="Consolas"/>
              </a:rPr>
              <a:t>├── VERSIONING.md</a:t>
            </a:r>
          </a:p>
          <a:p>
            <a:pPr algn="l">
              <a:lnSpc>
                <a:spcPct val="100000"/>
              </a:lnSpc>
            </a:pPr>
            <a:r>
              <a:rPr sz="800" b="0" i="0">
                <a:solidFill>
                  <a:srgbClr val="ECE7DC"/>
                </a:solidFill>
                <a:latin typeface="Consolas"/>
              </a:rPr>
              <a:t>├── versioning.py</a:t>
            </a:r>
          </a:p>
          <a:p>
            <a:pPr algn="l">
              <a:lnSpc>
                <a:spcPct val="100000"/>
              </a:lnSpc>
            </a:pPr>
            <a:r>
              <a:rPr sz="800" b="0" i="0">
                <a:solidFill>
                  <a:srgbClr val="3BBE93"/>
                </a:solidFill>
                <a:latin typeface="Consolas"/>
              </a:rPr>
              <a:t>├── .claude/</a:t>
            </a:r>
          </a:p>
          <a:p>
            <a:pPr algn="l">
              <a:lnSpc>
                <a:spcPct val="100000"/>
              </a:lnSpc>
            </a:pPr>
            <a:r>
              <a:rPr sz="800" b="0" i="0">
                <a:solidFill>
                  <a:srgbClr val="ECE7DC"/>
                </a:solidFill>
                <a:latin typeface="Consolas"/>
              </a:rPr>
              <a:t>│   ├── settings.json</a:t>
            </a:r>
          </a:p>
          <a:p>
            <a:pPr algn="l">
              <a:lnSpc>
                <a:spcPct val="100000"/>
              </a:lnSpc>
            </a:pPr>
            <a:r>
              <a:rPr sz="800" b="0" i="0">
                <a:solidFill>
                  <a:srgbClr val="3BBE93"/>
                </a:solidFill>
                <a:latin typeface="Consolas"/>
              </a:rPr>
              <a:t>│   ├── hooks/</a:t>
            </a:r>
          </a:p>
          <a:p>
            <a:pPr algn="l">
              <a:lnSpc>
                <a:spcPct val="100000"/>
              </a:lnSpc>
            </a:pPr>
            <a:r>
              <a:rPr sz="800" b="0" i="0">
                <a:solidFill>
                  <a:srgbClr val="ECE7DC"/>
                </a:solidFill>
                <a:latin typeface="Consolas"/>
              </a:rPr>
              <a:t>│   │   ├── announce_skills.py</a:t>
            </a:r>
          </a:p>
          <a:p>
            <a:pPr algn="l">
              <a:lnSpc>
                <a:spcPct val="100000"/>
              </a:lnSpc>
            </a:pPr>
            <a:r>
              <a:rPr sz="800" b="0" i="0">
                <a:solidFill>
                  <a:srgbClr val="ECE7DC"/>
                </a:solidFill>
                <a:latin typeface="Consolas"/>
              </a:rPr>
              <a:t>│   │   └── test_announce_skills.py</a:t>
            </a:r>
          </a:p>
          <a:p>
            <a:pPr algn="l">
              <a:lnSpc>
                <a:spcPct val="100000"/>
              </a:lnSpc>
            </a:pPr>
            <a:r>
              <a:rPr sz="800" b="0" i="0">
                <a:solidFill>
                  <a:srgbClr val="3BBE93"/>
                </a:solidFill>
                <a:latin typeface="Consolas"/>
              </a:rPr>
              <a:t>│   ├── memory/</a:t>
            </a:r>
          </a:p>
          <a:p>
            <a:pPr algn="l">
              <a:lnSpc>
                <a:spcPct val="100000"/>
              </a:lnSpc>
            </a:pPr>
            <a:r>
              <a:rPr sz="800" b="0" i="0">
                <a:solidFill>
                  <a:srgbClr val="ECE7DC"/>
                </a:solidFill>
                <a:latin typeface="Consolas"/>
              </a:rPr>
              <a:t>│   │   ├── feedback_agent_naming_conventions.md</a:t>
            </a:r>
          </a:p>
          <a:p>
            <a:pPr algn="l">
              <a:lnSpc>
                <a:spcPct val="100000"/>
              </a:lnSpc>
            </a:pPr>
            <a:r>
              <a:rPr sz="800" b="0" i="0">
                <a:solidFill>
                  <a:srgbClr val="ECE7DC"/>
                </a:solidFill>
                <a:latin typeface="Consolas"/>
              </a:rPr>
              <a:t>│   │   ├── feedback_developer_product_boundary.md</a:t>
            </a:r>
          </a:p>
          <a:p>
            <a:pPr algn="l">
              <a:lnSpc>
                <a:spcPct val="100000"/>
              </a:lnSpc>
            </a:pPr>
            <a:r>
              <a:rPr sz="800" b="0" i="0">
                <a:solidFill>
                  <a:srgbClr val="ECE7DC"/>
                </a:solidFill>
                <a:latin typeface="Consolas"/>
              </a:rPr>
              <a:t>│   │   ├── feedback_dont_overbuild_exec_safety.md</a:t>
            </a:r>
          </a:p>
          <a:p>
            <a:pPr algn="l">
              <a:lnSpc>
                <a:spcPct val="100000"/>
              </a:lnSpc>
            </a:pPr>
            <a:r>
              <a:rPr sz="800" b="0" i="0">
                <a:solidFill>
                  <a:srgbClr val="ECE7DC"/>
                </a:solidFill>
                <a:latin typeface="Consolas"/>
              </a:rPr>
              <a:t>│   │   ├── feedback_forbidden_headless_visible_tests.md</a:t>
            </a:r>
          </a:p>
          <a:p>
            <a:pPr algn="l">
              <a:lnSpc>
                <a:spcPct val="100000"/>
              </a:lnSpc>
            </a:pPr>
            <a:r>
              <a:rPr sz="800" b="0" i="0">
                <a:solidFill>
                  <a:srgbClr val="ECE7DC"/>
                </a:solidFill>
                <a:latin typeface="Consolas"/>
              </a:rPr>
              <a:t>│   │   ├── feedback_foreground_visible_windows.md</a:t>
            </a:r>
          </a:p>
          <a:p>
            <a:pPr algn="l">
              <a:lnSpc>
                <a:spcPct val="100000"/>
              </a:lnSpc>
            </a:pPr>
            <a:r>
              <a:rPr sz="800" b="0" i="0">
                <a:solidFill>
                  <a:srgbClr val="ECE7DC"/>
                </a:solidFill>
                <a:latin typeface="Consolas"/>
              </a:rPr>
              <a:t>│   │   ├── feedback_hard_real_scenario_tests.md</a:t>
            </a:r>
          </a:p>
          <a:p>
            <a:pPr algn="l">
              <a:lnSpc>
                <a:spcPct val="100000"/>
              </a:lnSpc>
            </a:pPr>
            <a:r>
              <a:rPr sz="800" b="0" i="0">
                <a:solidFill>
                  <a:srgbClr val="ECE7DC"/>
                </a:solidFill>
                <a:latin typeface="Consolas"/>
              </a:rPr>
              <a:t>│   │   ├── feedback_main_branch_only.md</a:t>
            </a:r>
          </a:p>
          <a:p>
            <a:pPr algn="l">
              <a:lnSpc>
                <a:spcPct val="100000"/>
              </a:lnSpc>
            </a:pPr>
            <a:r>
              <a:rPr sz="800" b="0" i="0">
                <a:solidFill>
                  <a:srgbClr val="ECE7DC"/>
                </a:solidFill>
                <a:latin typeface="Consolas"/>
              </a:rPr>
              <a:t>│   │   ├── feedback_package_json_version_bump.md</a:t>
            </a:r>
          </a:p>
          <a:p>
            <a:pPr algn="l">
              <a:lnSpc>
                <a:spcPct val="100000"/>
              </a:lnSpc>
            </a:pPr>
            <a:r>
              <a:rPr sz="800" b="0" i="0">
                <a:solidFill>
                  <a:srgbClr val="ECE7DC"/>
                </a:solidFill>
                <a:latin typeface="Consolas"/>
              </a:rPr>
              <a:t>│   │   ├── feedback_run_tlamatini_agents_visible.md</a:t>
            </a:r>
          </a:p>
          <a:p>
            <a:pPr algn="l">
              <a:lnSpc>
                <a:spcPct val="100000"/>
              </a:lnSpc>
            </a:pPr>
            <a:r>
              <a:rPr sz="800" b="0" i="0">
                <a:solidFill>
                  <a:srgbClr val="ECE7DC"/>
                </a:solidFill>
                <a:latin typeface="Consolas"/>
              </a:rPr>
              <a:t>│   │   ├── feedback_state_constraints_upfront.md</a:t>
            </a:r>
          </a:p>
          <a:p>
            <a:pPr algn="l">
              <a:lnSpc>
                <a:spcPct val="100000"/>
              </a:lnSpc>
            </a:pPr>
            <a:r>
              <a:rPr sz="800" b="0" i="0">
                <a:solidFill>
                  <a:srgbClr val="ECE7DC"/>
                </a:solidFill>
                <a:latin typeface="Consolas"/>
              </a:rPr>
              <a:t>│   │   ├── feedback_track_changes_pivot_file.md</a:t>
            </a:r>
          </a:p>
          <a:p>
            <a:pPr algn="l">
              <a:lnSpc>
                <a:spcPct val="100000"/>
              </a:lnSpc>
            </a:pPr>
            <a:r>
              <a:rPr sz="800" b="0" i="0">
                <a:solidFill>
                  <a:srgbClr val="ECE7DC"/>
                </a:solidFill>
                <a:latin typeface="Consolas"/>
              </a:rPr>
              <a:t>│   │   ├── feedback_update_agent_docs.md</a:t>
            </a:r>
          </a:p>
          <a:p>
            <a:pPr algn="l">
              <a:lnSpc>
                <a:spcPct val="100000"/>
              </a:lnSpc>
            </a:pPr>
            <a:r>
              <a:rPr sz="800" b="0" i="0">
                <a:solidFill>
                  <a:srgbClr val="ECE7DC"/>
                </a:solidFill>
                <a:latin typeface="Consolas"/>
              </a:rPr>
              <a:t>│   │   ├── feedback_user_owns_git.md</a:t>
            </a:r>
          </a:p>
          <a:p>
            <a:pPr algn="l">
              <a:lnSpc>
                <a:spcPct val="100000"/>
              </a:lnSpc>
            </a:pPr>
            <a:r>
              <a:rPr sz="800" b="0" i="0">
                <a:solidFill>
                  <a:srgbClr val="ECE7DC"/>
                </a:solidFill>
                <a:latin typeface="Consolas"/>
              </a:rPr>
              <a:t>│   │   ├── MEMORY.md</a:t>
            </a:r>
          </a:p>
          <a:p>
            <a:pPr algn="l">
              <a:lnSpc>
                <a:spcPct val="100000"/>
              </a:lnSpc>
            </a:pPr>
            <a:r>
              <a:rPr sz="800" b="0" i="0">
                <a:solidFill>
                  <a:srgbClr val="ECE7DC"/>
                </a:solidFill>
                <a:latin typeface="Consolas"/>
              </a:rPr>
              <a:t>│   │   ├── project_acpx_oneshot_prompt.md</a:t>
            </a:r>
          </a:p>
          <a:p>
            <a:pPr algn="l">
              <a:lnSpc>
                <a:spcPct val="100000"/>
              </a:lnSpc>
            </a:pPr>
            <a:r>
              <a:rPr sz="800" b="0" i="0">
                <a:solidFill>
                  <a:srgbClr val="ECE7DC"/>
                </a:solidFill>
                <a:latin typeface="Consolas"/>
              </a:rPr>
              <a:t>│   │   ├── project_acpx_skills_menu.md</a:t>
            </a:r>
          </a:p>
          <a:p>
            <a:pPr algn="l">
              <a:lnSpc>
                <a:spcPct val="100000"/>
              </a:lnSpc>
            </a:pPr>
            <a:r>
              <a:rPr sz="800" b="0" i="0">
                <a:solidFill>
                  <a:srgbClr val="ECE7DC"/>
                </a:solidFill>
                <a:latin typeface="Consolas"/>
              </a:rPr>
              <a:t>│   │   ├── project_acpx_toggle_skills.md</a:t>
            </a:r>
          </a:p>
          <a:p>
            <a:pPr algn="l">
              <a:lnSpc>
                <a:spcPct val="100000"/>
              </a:lnSpc>
            </a:pPr>
            <a:r>
              <a:rPr sz="800" b="0" i="0">
                <a:solidFill>
                  <a:srgbClr val="ECE7DC"/>
                </a:solidFill>
                <a:latin typeface="Consolas"/>
              </a:rPr>
              <a:t>│   │   ├── project_acpxer_added.md</a:t>
            </a:r>
          </a:p>
          <a:p>
            <a:pPr algn="l">
              <a:lnSpc>
                <a:spcPct val="100000"/>
              </a:lnSpc>
            </a:pPr>
            <a:r>
              <a:rPr sz="800" b="0" i="0">
                <a:solidFill>
                  <a:srgbClr val="ECE7DC"/>
                </a:solidFill>
                <a:latin typeface="Consolas"/>
              </a:rPr>
              <a:t>│   │   ├── project_agent_table_wiped_on_boot.md</a:t>
            </a:r>
          </a:p>
          <a:p>
            <a:pPr algn="l">
              <a:lnSpc>
                <a:spcPct val="100000"/>
              </a:lnSpc>
            </a:pPr>
            <a:r>
              <a:rPr sz="800" b="0" i="0">
                <a:solidFill>
                  <a:srgbClr val="ECE7DC"/>
                </a:solidFill>
                <a:latin typeface="Consolas"/>
              </a:rPr>
              <a:t>│   │   ├── project_arduiner_agent.md</a:t>
            </a:r>
          </a:p>
          <a:p>
            <a:pPr algn="l">
              <a:lnSpc>
                <a:spcPct val="100000"/>
              </a:lnSpc>
            </a:pPr>
            <a:r>
              <a:rPr sz="800" b="0" i="0">
                <a:solidFill>
                  <a:srgbClr val="ECE7DC"/>
                </a:solidFill>
                <a:latin typeface="Consolas"/>
              </a:rPr>
              <a:t>│   │   ├── project_ask_execs_feature.md</a:t>
            </a:r>
          </a:p>
          <a:p>
            <a:pPr algn="l">
              <a:lnSpc>
                <a:spcPct val="100000"/>
              </a:lnSpc>
            </a:pPr>
            <a:r>
              <a:rPr sz="800" b="0" i="0">
                <a:solidFill>
                  <a:srgbClr val="ECE7DC"/>
                </a:solidFill>
                <a:latin typeface="Consolas"/>
              </a:rPr>
              <a:t>│   │   ├── project_audioplayer_agent.md</a:t>
            </a:r>
          </a:p>
          <a:p>
            <a:pPr algn="l">
              <a:lnSpc>
                <a:spcPct val="100000"/>
              </a:lnSpc>
            </a:pPr>
            <a:r>
              <a:rPr sz="800" b="0" i="0">
                <a:solidFill>
                  <a:srgbClr val="ECE7DC"/>
                </a:solidFill>
                <a:latin typeface="Consolas"/>
              </a:rPr>
              <a:t>│   │   ├── project_build_concurrency_guard.md</a:t>
            </a:r>
          </a:p>
          <a:p>
            <a:pPr algn="l">
              <a:lnSpc>
                <a:spcPct val="100000"/>
              </a:lnSpc>
            </a:pPr>
            <a:r>
              <a:rPr sz="800" b="0" i="0">
                <a:solidFill>
                  <a:srgbClr val="ECE7DC"/>
                </a:solidFill>
                <a:latin typeface="Consolas"/>
              </a:rPr>
              <a:t>│   │   ├── project_build_tests_and_installer_enterkey.m</a:t>
            </a:r>
          </a:p>
          <a:p>
            <a:pPr algn="l">
              <a:lnSpc>
                <a:spcPct val="100000"/>
              </a:lnSpc>
            </a:pPr>
            <a:r>
              <a:rPr sz="800" b="0" i="0">
                <a:solidFill>
                  <a:srgbClr val="ECE7DC"/>
                </a:solidFill>
                <a:latin typeface="Consolas"/>
              </a:rPr>
              <a:t>│   │   │     » d</a:t>
            </a:r>
          </a:p>
          <a:p>
            <a:pPr algn="l">
              <a:lnSpc>
                <a:spcPct val="100000"/>
              </a:lnSpc>
            </a:pPr>
            <a:r>
              <a:rPr sz="800" b="0" i="0">
                <a:solidFill>
                  <a:srgbClr val="ECE7DC"/>
                </a:solidFill>
                <a:latin typeface="Consolas"/>
              </a:rPr>
              <a:t>│   │   ├── project_camcorder_agent.md</a:t>
            </a:r>
          </a:p>
          <a:p>
            <a:pPr algn="l">
              <a:lnSpc>
                <a:spcPct val="100000"/>
              </a:lnSpc>
            </a:pPr>
            <a:r>
              <a:rPr sz="800" b="0" i="0">
                <a:solidFill>
                  <a:srgbClr val="ECE7DC"/>
                </a:solidFill>
                <a:latin typeface="Consolas"/>
              </a:rPr>
              <a:t>│   │   ├── project_carried_python_for_agents.md</a:t>
            </a:r>
          </a:p>
          <a:p>
            <a:pPr algn="l">
              <a:lnSpc>
                <a:spcPct val="100000"/>
              </a:lnSpc>
            </a:pPr>
            <a:r>
              <a:rPr sz="800" b="0" i="0">
                <a:solidFill>
                  <a:srgbClr val="ECE7DC"/>
                </a:solidFill>
                <a:latin typeface="Consolas"/>
              </a:rPr>
              <a:t>│   │   ├── project_conjunction_parser_fix.md</a:t>
            </a:r>
          </a:p>
        </p:txBody>
      </p:sp>
      <p:cxnSp>
        <p:nvCxnSpPr>
          <p:cNvPr id="8" name="Connector 7"/>
          <p:cNvCxnSpPr/>
          <p:nvPr/>
        </p:nvCxnSpPr>
        <p:spPr>
          <a:xfrm>
            <a:off x="566928" y="6373368"/>
            <a:ext cx="11057839" cy="0"/>
          </a:xfrm>
          <a:prstGeom prst="line">
            <a:avLst/>
          </a:prstGeom>
          <a:ln w="7620">
            <a:solidFill>
              <a:srgbClr val="2A3A40"/>
            </a:solidFill>
          </a:ln>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566928" y="6419088"/>
            <a:ext cx="6858000" cy="274320"/>
          </a:xfrm>
          <a:prstGeom prst="rect">
            <a:avLst/>
          </a:prstGeom>
          <a:noFill/>
        </p:spPr>
        <p:txBody>
          <a:bodyPr wrap="square" lIns="45720" rIns="45720" tIns="27432" bIns="27432" anchor="t">
            <a:noAutofit/>
          </a:bodyPr>
          <a:lstStyle/>
          <a:p>
            <a:pPr algn="l">
              <a:lnSpc>
                <a:spcPct val="100000"/>
              </a:lnSpc>
            </a:pPr>
            <a:r>
              <a:rPr sz="850" b="0" i="0" spc="120">
                <a:solidFill>
                  <a:srgbClr val="A7B2B0"/>
                </a:solidFill>
                <a:latin typeface="Segoe UI Semibold"/>
              </a:rPr>
              <a:t>TLAMATINI  ·  APÉNDICE A · ÁRBOL DE ARCHIVOS</a:t>
            </a:r>
          </a:p>
        </p:txBody>
      </p:sp>
      <p:sp>
        <p:nvSpPr>
          <p:cNvPr id="10" name="TextBox 9"/>
          <p:cNvSpPr txBox="1"/>
          <p:nvPr/>
        </p:nvSpPr>
        <p:spPr>
          <a:xfrm>
            <a:off x="8698687" y="6419088"/>
            <a:ext cx="2926080" cy="274320"/>
          </a:xfrm>
          <a:prstGeom prst="rect">
            <a:avLst/>
          </a:prstGeom>
          <a:noFill/>
        </p:spPr>
        <p:txBody>
          <a:bodyPr wrap="square" lIns="45720" rIns="45720" tIns="27432" bIns="27432" anchor="t">
            <a:noAutofit/>
          </a:bodyPr>
          <a:lstStyle/>
          <a:p>
            <a:pPr algn="r">
              <a:lnSpc>
                <a:spcPct val="100000"/>
              </a:lnSpc>
            </a:pPr>
            <a:r>
              <a:rPr sz="850" b="0" i="0" spc="100">
                <a:solidFill>
                  <a:srgbClr val="A7B2B0"/>
                </a:solidFill>
                <a:latin typeface="Segoe UI Semibold"/>
              </a:rPr>
              <a:t>v1.91.1   ·   175</a:t>
            </a:r>
          </a:p>
        </p:txBody>
      </p:sp>
    </p:spTree>
  </p:cSld>
  <p:clrMapOvr>
    <a:masterClrMapping/>
  </p:clrMapOvr>
</p:sld>
</file>

<file path=ppt/slides/slide17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appendix.png"/>
          <p:cNvPicPr>
            <a:picLocks noChangeAspect="1"/>
          </p:cNvPicPr>
          <p:nvPr/>
        </p:nvPicPr>
        <p:blipFill>
          <a:blip r:embed="rId2"/>
          <a:stretch>
            <a:fillRect/>
          </a:stretch>
        </p:blipFill>
        <p:spPr>
          <a:xfrm>
            <a:off x="0" y="0"/>
            <a:ext cx="12191695" cy="6858000"/>
          </a:xfrm>
          <a:prstGeom prst="rect">
            <a:avLst/>
          </a:prstGeom>
        </p:spPr>
      </p:pic>
      <p:sp>
        <p:nvSpPr>
          <p:cNvPr id="3" name="TextBox 2"/>
          <p:cNvSpPr txBox="1"/>
          <p:nvPr/>
        </p:nvSpPr>
        <p:spPr>
          <a:xfrm>
            <a:off x="566928" y="384048"/>
            <a:ext cx="8686800" cy="329184"/>
          </a:xfrm>
          <a:prstGeom prst="rect">
            <a:avLst/>
          </a:prstGeom>
          <a:noFill/>
        </p:spPr>
        <p:txBody>
          <a:bodyPr wrap="square" lIns="45720" rIns="45720" tIns="27432" bIns="27432" anchor="t">
            <a:noAutofit/>
          </a:bodyPr>
          <a:lstStyle/>
          <a:p>
            <a:pPr algn="l">
              <a:lnSpc>
                <a:spcPct val="100000"/>
              </a:lnSpc>
            </a:pPr>
            <a:r>
              <a:rPr sz="1100" b="0" i="0" spc="200">
                <a:solidFill>
                  <a:srgbClr val="C98457"/>
                </a:solidFill>
                <a:latin typeface="Segoe UI Semibold"/>
              </a:rPr>
              <a:t>APÉNDICE A  ·  ÁRBOL DE ARCHIVOS DE LA APLICACIÓN  ·  2 / 20</a:t>
            </a:r>
          </a:p>
        </p:txBody>
      </p:sp>
      <p:sp>
        <p:nvSpPr>
          <p:cNvPr id="4" name="TextBox 3"/>
          <p:cNvSpPr txBox="1"/>
          <p:nvPr/>
        </p:nvSpPr>
        <p:spPr>
          <a:xfrm>
            <a:off x="566928" y="731520"/>
            <a:ext cx="11057839" cy="384048"/>
          </a:xfrm>
          <a:prstGeom prst="rect">
            <a:avLst/>
          </a:prstGeom>
          <a:noFill/>
        </p:spPr>
        <p:txBody>
          <a:bodyPr wrap="square" lIns="45720" rIns="45720" tIns="27432" bIns="27432" anchor="t">
            <a:noAutofit/>
          </a:bodyPr>
          <a:lstStyle/>
          <a:p>
            <a:pPr algn="l">
              <a:lnSpc>
                <a:spcPct val="100000"/>
              </a:lnSpc>
            </a:pPr>
            <a:r>
              <a:rPr sz="1300" b="0" i="0">
                <a:solidFill>
                  <a:srgbClr val="A7B2B0"/>
                </a:solidFill>
                <a:latin typeface="Segoe UI"/>
              </a:rPr>
              <a:t>1,898 archivos listados en el commit 21b0a5c; 221 archivos de la historia de la base de datos resumidos.</a:t>
            </a:r>
          </a:p>
        </p:txBody>
      </p:sp>
      <p:sp>
        <p:nvSpPr>
          <p:cNvPr id="5" name="TextBox 4"/>
          <p:cNvSpPr txBox="1"/>
          <p:nvPr/>
        </p:nvSpPr>
        <p:spPr>
          <a:xfrm>
            <a:off x="566928" y="1170432"/>
            <a:ext cx="3515258" cy="5084064"/>
          </a:xfrm>
          <a:prstGeom prst="rect">
            <a:avLst/>
          </a:prstGeom>
          <a:noFill/>
        </p:spPr>
        <p:txBody>
          <a:bodyPr wrap="none" lIns="45720" rIns="45720" tIns="27432" bIns="27432" anchor="t">
            <a:noAutofit/>
          </a:bodyPr>
          <a:lstStyle/>
          <a:p>
            <a:pPr algn="l">
              <a:lnSpc>
                <a:spcPct val="100000"/>
              </a:lnSpc>
            </a:pPr>
            <a:r>
              <a:rPr sz="800" b="0" i="0">
                <a:solidFill>
                  <a:srgbClr val="ECE7DC"/>
                </a:solidFill>
                <a:latin typeface="Consolas"/>
              </a:rPr>
              <a:t>│   │   ├── project_daily_chat_test_skill.md</a:t>
            </a:r>
          </a:p>
          <a:p>
            <a:pPr algn="l">
              <a:lnSpc>
                <a:spcPct val="100000"/>
              </a:lnSpc>
            </a:pPr>
            <a:r>
              <a:rPr sz="800" b="0" i="0">
                <a:solidFill>
                  <a:srgbClr val="ECE7DC"/>
                </a:solidFill>
                <a:latin typeface="Consolas"/>
              </a:rPr>
              <a:t>│   │   ├── project_desktop_ui_lifecycle.md</a:t>
            </a:r>
          </a:p>
          <a:p>
            <a:pPr algn="l">
              <a:lnSpc>
                <a:spcPct val="100000"/>
              </a:lnSpc>
            </a:pPr>
            <a:r>
              <a:rPr sz="800" b="0" i="0">
                <a:solidFill>
                  <a:srgbClr val="ECE7DC"/>
                </a:solidFill>
                <a:latin typeface="Consolas"/>
              </a:rPr>
              <a:t>│   │   ├── project_director_virtuoso_demo_prompts.md</a:t>
            </a:r>
          </a:p>
          <a:p>
            <a:pPr algn="l">
              <a:lnSpc>
                <a:spcPct val="100000"/>
              </a:lnSpc>
            </a:pPr>
            <a:r>
              <a:rPr sz="800" b="0" i="0">
                <a:solidFill>
                  <a:srgbClr val="ECE7DC"/>
                </a:solidFill>
                <a:latin typeface="Consolas"/>
              </a:rPr>
              <a:t>│   │   ├── project_doc_refresh_2026_05_06.md</a:t>
            </a:r>
          </a:p>
          <a:p>
            <a:pPr algn="l">
              <a:lnSpc>
                <a:spcPct val="100000"/>
              </a:lnSpc>
            </a:pPr>
            <a:r>
              <a:rPr sz="800" b="0" i="0">
                <a:solidFill>
                  <a:srgbClr val="ECE7DC"/>
                </a:solidFill>
                <a:latin typeface="Consolas"/>
              </a:rPr>
              <a:t>│   │   ├── project_doc_refresh_2026_05_08.md</a:t>
            </a:r>
          </a:p>
          <a:p>
            <a:pPr algn="l">
              <a:lnSpc>
                <a:spcPct val="100000"/>
              </a:lnSpc>
            </a:pPr>
            <a:r>
              <a:rPr sz="800" b="0" i="0">
                <a:solidFill>
                  <a:srgbClr val="ECE7DC"/>
                </a:solidFill>
                <a:latin typeface="Consolas"/>
              </a:rPr>
              <a:t>│   │   ├── project_doc_refresh_2026_05_09.md</a:t>
            </a:r>
          </a:p>
          <a:p>
            <a:pPr algn="l">
              <a:lnSpc>
                <a:spcPct val="100000"/>
              </a:lnSpc>
            </a:pPr>
            <a:r>
              <a:rPr sz="800" b="0" i="0">
                <a:solidFill>
                  <a:srgbClr val="ECE7DC"/>
                </a:solidFill>
                <a:latin typeface="Consolas"/>
              </a:rPr>
              <a:t>│   │   ├── project_eight_fixes_2026_05_07.md</a:t>
            </a:r>
          </a:p>
          <a:p>
            <a:pPr algn="l">
              <a:lnSpc>
                <a:spcPct val="100000"/>
              </a:lnSpc>
            </a:pPr>
            <a:r>
              <a:rPr sz="800" b="0" i="0">
                <a:solidFill>
                  <a:srgbClr val="ECE7DC"/>
                </a:solidFill>
                <a:latin typeface="Consolas"/>
              </a:rPr>
              <a:t>│   │   ├── project_emailer_recmailer_oneshot.md</a:t>
            </a:r>
          </a:p>
          <a:p>
            <a:pPr algn="l">
              <a:lnSpc>
                <a:spcPct val="100000"/>
              </a:lnSpc>
            </a:pPr>
            <a:r>
              <a:rPr sz="800" b="0" i="0">
                <a:solidFill>
                  <a:srgbClr val="ECE7DC"/>
                </a:solidFill>
                <a:latin typeface="Consolas"/>
              </a:rPr>
              <a:t>│   │   ├── project_embedding_memory_guard.md</a:t>
            </a:r>
          </a:p>
          <a:p>
            <a:pPr algn="l">
              <a:lnSpc>
                <a:spcPct val="100000"/>
              </a:lnSpc>
            </a:pPr>
            <a:r>
              <a:rPr sz="800" b="0" i="0">
                <a:solidFill>
                  <a:srgbClr val="ECE7DC"/>
                </a:solidFill>
                <a:latin typeface="Consolas"/>
              </a:rPr>
              <a:t>│   │   ├── project_esp32er_agent.md</a:t>
            </a:r>
          </a:p>
          <a:p>
            <a:pPr algn="l">
              <a:lnSpc>
                <a:spcPct val="100000"/>
              </a:lnSpc>
            </a:pPr>
            <a:r>
              <a:rPr sz="800" b="0" i="0">
                <a:solidFill>
                  <a:srgbClr val="ECE7DC"/>
                </a:solidFill>
                <a:latin typeface="Consolas"/>
              </a:rPr>
              <a:t>│   │   ├── project_execute_command_bounded_fix.md</a:t>
            </a:r>
          </a:p>
          <a:p>
            <a:pPr algn="l">
              <a:lnSpc>
                <a:spcPct val="100000"/>
              </a:lnSpc>
            </a:pPr>
            <a:r>
              <a:rPr sz="800" b="0" i="0">
                <a:solidFill>
                  <a:srgbClr val="ECE7DC"/>
                </a:solidFill>
                <a:latin typeface="Consolas"/>
              </a:rPr>
              <a:t>│   │   ├── project_execute_file_foreground_fix.md</a:t>
            </a:r>
          </a:p>
          <a:p>
            <a:pPr algn="l">
              <a:lnSpc>
                <a:spcPct val="100000"/>
              </a:lnSpc>
            </a:pPr>
            <a:r>
              <a:rPr sz="800" b="0" i="0">
                <a:solidFill>
                  <a:srgbClr val="ECE7DC"/>
                </a:solidFill>
                <a:latin typeface="Consolas"/>
              </a:rPr>
              <a:t>│   │   ├── project_external_exec_safety_layer.md</a:t>
            </a:r>
          </a:p>
          <a:p>
            <a:pPr algn="l">
              <a:lnSpc>
                <a:spcPct val="100000"/>
              </a:lnSpc>
            </a:pPr>
            <a:r>
              <a:rPr sz="800" b="0" i="0">
                <a:solidFill>
                  <a:srgbClr val="ECE7DC"/>
                </a:solidFill>
                <a:latin typeface="Consolas"/>
              </a:rPr>
              <a:t>│   │   ├── project_flow_compiler_dialog_wins.md</a:t>
            </a:r>
          </a:p>
          <a:p>
            <a:pPr algn="l">
              <a:lnSpc>
                <a:spcPct val="100000"/>
              </a:lnSpc>
            </a:pPr>
            <a:r>
              <a:rPr sz="800" b="0" i="0">
                <a:solidFill>
                  <a:srgbClr val="ECE7DC"/>
                </a:solidFill>
                <a:latin typeface="Consolas"/>
              </a:rPr>
              <a:t>│   │   ├── project_ghost_distinfo_dependency_audit.md</a:t>
            </a:r>
          </a:p>
          <a:p>
            <a:pPr algn="l">
              <a:lnSpc>
                <a:spcPct val="100000"/>
              </a:lnSpc>
            </a:pPr>
            <a:r>
              <a:rPr sz="800" b="0" i="0">
                <a:solidFill>
                  <a:srgbClr val="ECE7DC"/>
                </a:solidFill>
                <a:latin typeface="Consolas"/>
              </a:rPr>
              <a:t>│   │   ├── project_kalier_agent.md</a:t>
            </a:r>
          </a:p>
          <a:p>
            <a:pPr algn="l">
              <a:lnSpc>
                <a:spcPct val="100000"/>
              </a:lnSpc>
            </a:pPr>
            <a:r>
              <a:rPr sz="800" b="0" i="0">
                <a:solidFill>
                  <a:srgbClr val="ECE7DC"/>
                </a:solidFill>
                <a:latin typeface="Consolas"/>
              </a:rPr>
              <a:t>│   │   ├── project_keyboarder_wrapped_2026_05_07.md</a:t>
            </a:r>
          </a:p>
          <a:p>
            <a:pPr algn="l">
              <a:lnSpc>
                <a:spcPct val="100000"/>
              </a:lnSpc>
            </a:pPr>
            <a:r>
              <a:rPr sz="800" b="0" i="0">
                <a:solidFill>
                  <a:srgbClr val="ECE7DC"/>
                </a:solidFill>
                <a:latin typeface="Consolas"/>
              </a:rPr>
              <a:t>│   │   ├── project_latexer_agent.md</a:t>
            </a:r>
          </a:p>
          <a:p>
            <a:pPr algn="l">
              <a:lnSpc>
                <a:spcPct val="100000"/>
              </a:lnSpc>
            </a:pPr>
            <a:r>
              <a:rPr sz="800" b="0" i="0">
                <a:solidFill>
                  <a:srgbClr val="ECE7DC"/>
                </a:solidFill>
                <a:latin typeface="Consolas"/>
              </a:rPr>
              <a:t>│   │   ├── project_living_canvas_dropped.md</a:t>
            </a:r>
          </a:p>
          <a:p>
            <a:pPr algn="l">
              <a:lnSpc>
                <a:spcPct val="100000"/>
              </a:lnSpc>
            </a:pPr>
            <a:r>
              <a:rPr sz="800" b="0" i="0">
                <a:solidFill>
                  <a:srgbClr val="ECE7DC"/>
                </a:solidFill>
                <a:latin typeface="Consolas"/>
              </a:rPr>
              <a:t>│   │   ├── project_mouser_wrapped_2026_05_07.md</a:t>
            </a:r>
          </a:p>
          <a:p>
            <a:pPr algn="l">
              <a:lnSpc>
                <a:spcPct val="100000"/>
              </a:lnSpc>
            </a:pPr>
            <a:r>
              <a:rPr sz="800" b="0" i="0">
                <a:solidFill>
                  <a:srgbClr val="ECE7DC"/>
                </a:solidFill>
                <a:latin typeface="Consolas"/>
              </a:rPr>
              <a:t>│   │   ├── project_native_picker_tcltk_fix.md</a:t>
            </a:r>
          </a:p>
          <a:p>
            <a:pPr algn="l">
              <a:lnSpc>
                <a:spcPct val="100000"/>
              </a:lnSpc>
            </a:pPr>
            <a:r>
              <a:rPr sz="800" b="0" i="0">
                <a:solidFill>
                  <a:srgbClr val="ECE7DC"/>
                </a:solidFill>
                <a:latin typeface="Consolas"/>
              </a:rPr>
              <a:t>│   │   ├── project_native_toast.md</a:t>
            </a:r>
          </a:p>
          <a:p>
            <a:pPr algn="l">
              <a:lnSpc>
                <a:spcPct val="100000"/>
              </a:lnSpc>
            </a:pPr>
            <a:r>
              <a:rPr sz="800" b="0" i="0">
                <a:solidFill>
                  <a:srgbClr val="ECE7DC"/>
                </a:solidFill>
                <a:latin typeface="Consolas"/>
              </a:rPr>
              <a:t>│   │   ├── project_netspeed_calculator_agent.md</a:t>
            </a:r>
          </a:p>
          <a:p>
            <a:pPr algn="l">
              <a:lnSpc>
                <a:spcPct val="100000"/>
              </a:lnSpc>
            </a:pPr>
            <a:r>
              <a:rPr sz="800" b="0" i="0">
                <a:solidFill>
                  <a:srgbClr val="ECE7DC"/>
                </a:solidFill>
                <a:latin typeface="Consolas"/>
              </a:rPr>
              <a:t>│   │   ├── project_numpy_pyinstaller.md</a:t>
            </a:r>
          </a:p>
          <a:p>
            <a:pPr algn="l">
              <a:lnSpc>
                <a:spcPct val="100000"/>
              </a:lnSpc>
            </a:pPr>
            <a:r>
              <a:rPr sz="800" b="0" i="0">
                <a:solidFill>
                  <a:srgbClr val="ECE7DC"/>
                </a:solidFill>
                <a:latin typeface="Consolas"/>
              </a:rPr>
              <a:t>│   │   ├── project_ollama_source_build_breaks_embedding</a:t>
            </a:r>
          </a:p>
          <a:p>
            <a:pPr algn="l">
              <a:lnSpc>
                <a:spcPct val="100000"/>
              </a:lnSpc>
            </a:pPr>
            <a:r>
              <a:rPr sz="800" b="0" i="0">
                <a:solidFill>
                  <a:srgbClr val="ECE7DC"/>
                </a:solidFill>
                <a:latin typeface="Consolas"/>
              </a:rPr>
              <a:t>│   │   │     » s.md</a:t>
            </a:r>
          </a:p>
          <a:p>
            <a:pPr algn="l">
              <a:lnSpc>
                <a:spcPct val="100000"/>
              </a:lnSpc>
            </a:pPr>
            <a:r>
              <a:rPr sz="800" b="0" i="0">
                <a:solidFill>
                  <a:srgbClr val="ECE7DC"/>
                </a:solidFill>
                <a:latin typeface="Consolas"/>
              </a:rPr>
              <a:t>│   │   ├── project_pdfer_agent.md</a:t>
            </a:r>
          </a:p>
          <a:p>
            <a:pPr algn="l">
              <a:lnSpc>
                <a:spcPct val="100000"/>
              </a:lnSpc>
            </a:pPr>
            <a:r>
              <a:rPr sz="800" b="0" i="0">
                <a:solidFill>
                  <a:srgbClr val="ECE7DC"/>
                </a:solidFill>
                <a:latin typeface="Consolas"/>
              </a:rPr>
              <a:t>│   │   ├── project_planner_followup.md</a:t>
            </a:r>
          </a:p>
          <a:p>
            <a:pPr algn="l">
              <a:lnSpc>
                <a:spcPct val="100000"/>
              </a:lnSpc>
            </a:pPr>
            <a:r>
              <a:rPr sz="800" b="0" i="0">
                <a:solidFill>
                  <a:srgbClr val="ECE7DC"/>
                </a:solidFill>
                <a:latin typeface="Consolas"/>
              </a:rPr>
              <a:t>│   │   ├── project_playwrighter_agent.md</a:t>
            </a:r>
          </a:p>
          <a:p>
            <a:pPr algn="l">
              <a:lnSpc>
                <a:spcPct val="100000"/>
              </a:lnSpc>
            </a:pPr>
            <a:r>
              <a:rPr sz="800" b="0" i="0">
                <a:solidFill>
                  <a:srgbClr val="ECE7DC"/>
                </a:solidFill>
                <a:latin typeface="Consolas"/>
              </a:rPr>
              <a:t>│   │   ├── project_playwrighter_hold_open.md</a:t>
            </a:r>
          </a:p>
          <a:p>
            <a:pPr algn="l">
              <a:lnSpc>
                <a:spcPct val="100000"/>
              </a:lnSpc>
            </a:pPr>
            <a:r>
              <a:rPr sz="800" b="0" i="0">
                <a:solidFill>
                  <a:srgbClr val="ECE7DC"/>
                </a:solidFill>
                <a:latin typeface="Consolas"/>
              </a:rPr>
              <a:t>│   │   ├── project_prompt_catalog_mode_badges.md</a:t>
            </a:r>
          </a:p>
          <a:p>
            <a:pPr algn="l">
              <a:lnSpc>
                <a:spcPct val="100000"/>
              </a:lnSpc>
            </a:pPr>
            <a:r>
              <a:rPr sz="800" b="0" i="0">
                <a:solidFill>
                  <a:srgbClr val="ECE7DC"/>
                </a:solidFill>
                <a:latin typeface="Consolas"/>
              </a:rPr>
              <a:t>│   │   ├── project_prompt_flow_commentary_input.md</a:t>
            </a:r>
          </a:p>
          <a:p>
            <a:pPr algn="l">
              <a:lnSpc>
                <a:spcPct val="100000"/>
              </a:lnSpc>
            </a:pPr>
            <a:r>
              <a:rPr sz="800" b="0" i="0">
                <a:solidFill>
                  <a:srgbClr val="ECE7DC"/>
                </a:solidFill>
                <a:latin typeface="Consolas"/>
              </a:rPr>
              <a:t>│   │   ├── project_pythonxer_forkbomb_fix.md</a:t>
            </a:r>
          </a:p>
          <a:p>
            <a:pPr algn="l">
              <a:lnSpc>
                <a:spcPct val="100000"/>
              </a:lnSpc>
            </a:pPr>
            <a:r>
              <a:rPr sz="800" b="0" i="0">
                <a:solidFill>
                  <a:srgbClr val="ECE7DC"/>
                </a:solidFill>
                <a:latin typeface="Consolas"/>
              </a:rPr>
              <a:t>│   │   ├── project_pythonxer_strict_ruff_gate.md</a:t>
            </a:r>
          </a:p>
          <a:p>
            <a:pPr algn="l">
              <a:lnSpc>
                <a:spcPct val="100000"/>
              </a:lnSpc>
            </a:pPr>
            <a:r>
              <a:rPr sz="800" b="0" i="0">
                <a:solidFill>
                  <a:srgbClr val="ECE7DC"/>
                </a:solidFill>
                <a:latin typeface="Consolas"/>
              </a:rPr>
              <a:t>│   │   ├── project_quote_apostrophe_fix_2026_05_07.md</a:t>
            </a:r>
          </a:p>
          <a:p>
            <a:pPr algn="l">
              <a:lnSpc>
                <a:spcPct val="100000"/>
              </a:lnSpc>
            </a:pPr>
            <a:r>
              <a:rPr sz="800" b="0" i="0">
                <a:solidFill>
                  <a:srgbClr val="ECE7DC"/>
                </a:solidFill>
                <a:latin typeface="Consolas"/>
              </a:rPr>
              <a:t>│   │   ├── project_reaper_console_window_fix.md</a:t>
            </a:r>
          </a:p>
          <a:p>
            <a:pPr algn="l">
              <a:lnSpc>
                <a:spcPct val="100000"/>
              </a:lnSpc>
            </a:pPr>
            <a:r>
              <a:rPr sz="800" b="0" i="0">
                <a:solidFill>
                  <a:srgbClr val="ECE7DC"/>
                </a:solidFill>
                <a:latin typeface="Consolas"/>
              </a:rPr>
              <a:t>│   │   ├── project_recorder_agent.md</a:t>
            </a:r>
          </a:p>
          <a:p>
            <a:pPr algn="l">
              <a:lnSpc>
                <a:spcPct val="100000"/>
              </a:lnSpc>
            </a:pPr>
            <a:r>
              <a:rPr sz="800" b="0" i="0">
                <a:solidFill>
                  <a:srgbClr val="ECE7DC"/>
                </a:solidFill>
                <a:latin typeface="Consolas"/>
              </a:rPr>
              <a:t>│   │   ├── project_reviewer_analyzer_agents.md</a:t>
            </a:r>
          </a:p>
          <a:p>
            <a:pPr algn="l">
              <a:lnSpc>
                <a:spcPct val="100000"/>
              </a:lnSpc>
            </a:pPr>
            <a:r>
              <a:rPr sz="800" b="0" i="0">
                <a:solidFill>
                  <a:srgbClr val="ECE7DC"/>
                </a:solidFill>
                <a:latin typeface="Consolas"/>
              </a:rPr>
              <a:t>│   │   ├── project_reviewer_analyzer_demo_prompts.md</a:t>
            </a:r>
          </a:p>
          <a:p>
            <a:pPr algn="l">
              <a:lnSpc>
                <a:spcPct val="100000"/>
              </a:lnSpc>
            </a:pPr>
            <a:r>
              <a:rPr sz="800" b="0" i="0">
                <a:solidFill>
                  <a:srgbClr val="ECE7DC"/>
                </a:solidFill>
                <a:latin typeface="Consolas"/>
              </a:rPr>
              <a:t>│   │   ├── project_reviewer_committed_secrets_falsepos.</a:t>
            </a:r>
          </a:p>
          <a:p>
            <a:pPr algn="l">
              <a:lnSpc>
                <a:spcPct val="100000"/>
              </a:lnSpc>
            </a:pPr>
            <a:r>
              <a:rPr sz="800" b="0" i="0">
                <a:solidFill>
                  <a:srgbClr val="ECE7DC"/>
                </a:solidFill>
                <a:latin typeface="Consolas"/>
              </a:rPr>
              <a:t>│   │   │     » md</a:t>
            </a:r>
          </a:p>
        </p:txBody>
      </p:sp>
      <p:sp>
        <p:nvSpPr>
          <p:cNvPr id="6" name="TextBox 5"/>
          <p:cNvSpPr txBox="1"/>
          <p:nvPr/>
        </p:nvSpPr>
        <p:spPr>
          <a:xfrm>
            <a:off x="4338218" y="1170432"/>
            <a:ext cx="3515258" cy="5084064"/>
          </a:xfrm>
          <a:prstGeom prst="rect">
            <a:avLst/>
          </a:prstGeom>
          <a:noFill/>
        </p:spPr>
        <p:txBody>
          <a:bodyPr wrap="none" lIns="45720" rIns="45720" tIns="27432" bIns="27432" anchor="t">
            <a:noAutofit/>
          </a:bodyPr>
          <a:lstStyle/>
          <a:p>
            <a:pPr algn="l">
              <a:lnSpc>
                <a:spcPct val="100000"/>
              </a:lnSpc>
            </a:pPr>
            <a:r>
              <a:rPr sz="800" b="0" i="0">
                <a:solidFill>
                  <a:srgbClr val="ECE7DC"/>
                </a:solidFill>
                <a:latin typeface="Consolas"/>
              </a:rPr>
              <a:t>│   │   ├── project_secret_leak_recovery.md</a:t>
            </a:r>
          </a:p>
          <a:p>
            <a:pPr algn="l">
              <a:lnSpc>
                <a:spcPct val="100000"/>
              </a:lnSpc>
            </a:pPr>
            <a:r>
              <a:rPr sz="800" b="0" i="0">
                <a:solidFill>
                  <a:srgbClr val="ECE7DC"/>
                </a:solidFill>
                <a:latin typeface="Consolas"/>
              </a:rPr>
              <a:t>│   │   ├── project_stm32er_agent.md</a:t>
            </a:r>
          </a:p>
          <a:p>
            <a:pPr algn="l">
              <a:lnSpc>
                <a:spcPct val="100000"/>
              </a:lnSpc>
            </a:pPr>
            <a:r>
              <a:rPr sz="800" b="0" i="0">
                <a:solidFill>
                  <a:srgbClr val="ECE7DC"/>
                </a:solidFill>
                <a:latin typeface="Consolas"/>
              </a:rPr>
              <a:t>│   │   ├── project_stm32er_bootstrap_preflight.md</a:t>
            </a:r>
          </a:p>
          <a:p>
            <a:pPr algn="l">
              <a:lnSpc>
                <a:spcPct val="100000"/>
              </a:lnSpc>
            </a:pPr>
            <a:r>
              <a:rPr sz="800" b="0" i="0">
                <a:solidFill>
                  <a:srgbClr val="ECE7DC"/>
                </a:solidFill>
                <a:latin typeface="Consolas"/>
              </a:rPr>
              <a:t>│   │   ├── project_stm32er_demo_prompts.md</a:t>
            </a:r>
          </a:p>
          <a:p>
            <a:pPr algn="l">
              <a:lnSpc>
                <a:spcPct val="100000"/>
              </a:lnSpc>
            </a:pPr>
            <a:r>
              <a:rPr sz="800" b="0" i="0">
                <a:solidFill>
                  <a:srgbClr val="ECE7DC"/>
                </a:solidFill>
                <a:latin typeface="Consolas"/>
              </a:rPr>
              <a:t>│   │   ├── project_stm32er_docs_libs_parametrizer.md</a:t>
            </a:r>
          </a:p>
          <a:p>
            <a:pPr algn="l">
              <a:lnSpc>
                <a:spcPct val="100000"/>
              </a:lnSpc>
            </a:pPr>
            <a:r>
              <a:rPr sz="800" b="0" i="0">
                <a:solidFill>
                  <a:srgbClr val="ECE7DC"/>
                </a:solidFill>
                <a:latin typeface="Consolas"/>
              </a:rPr>
              <a:t>│   │   ├── project_stm32er_hil_serial_proof_fix.md</a:t>
            </a:r>
          </a:p>
          <a:p>
            <a:pPr algn="l">
              <a:lnSpc>
                <a:spcPct val="100000"/>
              </a:lnSpc>
            </a:pPr>
            <a:r>
              <a:rPr sz="800" b="0" i="0">
                <a:solidFill>
                  <a:srgbClr val="ECE7DC"/>
                </a:solidFill>
                <a:latin typeface="Consolas"/>
              </a:rPr>
              <a:t>│   │   ├── project_stm32er_tests.md</a:t>
            </a:r>
          </a:p>
          <a:p>
            <a:pPr algn="l">
              <a:lnSpc>
                <a:spcPct val="100000"/>
              </a:lnSpc>
            </a:pPr>
            <a:r>
              <a:rPr sz="800" b="0" i="0">
                <a:solidFill>
                  <a:srgbClr val="ECE7DC"/>
                </a:solidFill>
                <a:latin typeface="Consolas"/>
              </a:rPr>
              <a:t>│   │   ├── project_summarizer_oneshot_mode.md</a:t>
            </a:r>
          </a:p>
          <a:p>
            <a:pPr algn="l">
              <a:lnSpc>
                <a:spcPct val="100000"/>
              </a:lnSpc>
            </a:pPr>
            <a:r>
              <a:rPr sz="800" b="0" i="0">
                <a:solidFill>
                  <a:srgbClr val="ECE7DC"/>
                </a:solidFill>
                <a:latin typeface="Consolas"/>
              </a:rPr>
              <a:t>│   │   ├── project_taskbar_flash_attention.md</a:t>
            </a:r>
          </a:p>
          <a:p>
            <a:pPr algn="l">
              <a:lnSpc>
                <a:spcPct val="100000"/>
              </a:lnSpc>
            </a:pPr>
            <a:r>
              <a:rPr sz="800" b="0" i="0">
                <a:solidFill>
                  <a:srgbClr val="ECE7DC"/>
                </a:solidFill>
                <a:latin typeface="Consolas"/>
              </a:rPr>
              <a:t>│   │   ├── project_teletlamatini_acpx.md</a:t>
            </a:r>
          </a:p>
          <a:p>
            <a:pPr algn="l">
              <a:lnSpc>
                <a:spcPct val="100000"/>
              </a:lnSpc>
            </a:pPr>
            <a:r>
              <a:rPr sz="800" b="0" i="0">
                <a:solidFill>
                  <a:srgbClr val="ECE7DC"/>
                </a:solidFill>
                <a:latin typeface="Consolas"/>
              </a:rPr>
              <a:t>│   │   ├── project_temp_templates_policy.md</a:t>
            </a:r>
          </a:p>
          <a:p>
            <a:pPr algn="l">
              <a:lnSpc>
                <a:spcPct val="100000"/>
              </a:lnSpc>
            </a:pPr>
            <a:r>
              <a:rPr sz="800" b="0" i="0">
                <a:solidFill>
                  <a:srgbClr val="ECE7DC"/>
                </a:solidFill>
                <a:latin typeface="Consolas"/>
              </a:rPr>
              <a:t>│   │   ├── project_unity_mcp_declined.md</a:t>
            </a:r>
          </a:p>
          <a:p>
            <a:pPr algn="l">
              <a:lnSpc>
                <a:spcPct val="100000"/>
              </a:lnSpc>
            </a:pPr>
            <a:r>
              <a:rPr sz="800" b="0" i="0">
                <a:solidFill>
                  <a:srgbClr val="ECE7DC"/>
                </a:solidFill>
                <a:latin typeface="Consolas"/>
              </a:rPr>
              <a:t>│   │   ├── project_unrealer_expanded_surface.md</a:t>
            </a:r>
          </a:p>
          <a:p>
            <a:pPr algn="l">
              <a:lnSpc>
                <a:spcPct val="100000"/>
              </a:lnSpc>
            </a:pPr>
            <a:r>
              <a:rPr sz="800" b="0" i="0">
                <a:solidFill>
                  <a:srgbClr val="ECE7DC"/>
                </a:solidFill>
                <a:latin typeface="Consolas"/>
              </a:rPr>
              <a:t>│   │   ├── project_versioning_2026_05_15.md</a:t>
            </a:r>
          </a:p>
          <a:p>
            <a:pPr algn="l">
              <a:lnSpc>
                <a:spcPct val="100000"/>
              </a:lnSpc>
            </a:pPr>
            <a:r>
              <a:rPr sz="800" b="0" i="0">
                <a:solidFill>
                  <a:srgbClr val="ECE7DC"/>
                </a:solidFill>
                <a:latin typeface="Consolas"/>
              </a:rPr>
              <a:t>│   │   ├── project_videoplayer_agent.md</a:t>
            </a:r>
          </a:p>
          <a:p>
            <a:pPr algn="l">
              <a:lnSpc>
                <a:spcPct val="100000"/>
              </a:lnSpc>
            </a:pPr>
            <a:r>
              <a:rPr sz="800" b="0" i="0">
                <a:solidFill>
                  <a:srgbClr val="ECE7DC"/>
                </a:solidFill>
                <a:latin typeface="Consolas"/>
              </a:rPr>
              <a:t>│   │   ├── project_windower_agent.md</a:t>
            </a:r>
          </a:p>
          <a:p>
            <a:pPr algn="l">
              <a:lnSpc>
                <a:spcPct val="100000"/>
              </a:lnSpc>
            </a:pPr>
            <a:r>
              <a:rPr sz="800" b="0" i="0">
                <a:solidFill>
                  <a:srgbClr val="ECE7DC"/>
                </a:solidFill>
                <a:latin typeface="Consolas"/>
              </a:rPr>
              <a:t>│   │   └── user_profile.md</a:t>
            </a:r>
          </a:p>
          <a:p>
            <a:pPr algn="l">
              <a:lnSpc>
                <a:spcPct val="100000"/>
              </a:lnSpc>
            </a:pPr>
            <a:r>
              <a:rPr sz="800" b="0" i="0">
                <a:solidFill>
                  <a:srgbClr val="3BBE93"/>
                </a:solidFill>
                <a:latin typeface="Consolas"/>
              </a:rPr>
              <a:t>│   └── skills/</a:t>
            </a:r>
          </a:p>
          <a:p>
            <a:pPr algn="l">
              <a:lnSpc>
                <a:spcPct val="100000"/>
              </a:lnSpc>
            </a:pPr>
            <a:r>
              <a:rPr sz="800" b="0" i="0">
                <a:solidFill>
                  <a:srgbClr val="3BBE93"/>
                </a:solidFill>
                <a:latin typeface="Consolas"/>
              </a:rPr>
              <a:t>│       ├── tlamatini-agent-creation/</a:t>
            </a:r>
          </a:p>
          <a:p>
            <a:pPr algn="l">
              <a:lnSpc>
                <a:spcPct val="100000"/>
              </a:lnSpc>
            </a:pPr>
            <a:r>
              <a:rPr sz="800" b="0" i="0">
                <a:solidFill>
                  <a:srgbClr val="ECE7DC"/>
                </a:solidFill>
                <a:latin typeface="Consolas"/>
              </a:rPr>
              <a:t>│       │   └── SKILL.md</a:t>
            </a:r>
          </a:p>
          <a:p>
            <a:pPr algn="l">
              <a:lnSpc>
                <a:spcPct val="100000"/>
              </a:lnSpc>
            </a:pPr>
            <a:r>
              <a:rPr sz="800" b="0" i="0">
                <a:solidFill>
                  <a:srgbClr val="3BBE93"/>
                </a:solidFill>
                <a:latin typeface="Consolas"/>
              </a:rPr>
              <a:t>│       ├── tlamatini-agent-naming/</a:t>
            </a:r>
          </a:p>
          <a:p>
            <a:pPr algn="l">
              <a:lnSpc>
                <a:spcPct val="100000"/>
              </a:lnSpc>
            </a:pPr>
            <a:r>
              <a:rPr sz="800" b="0" i="0">
                <a:solidFill>
                  <a:srgbClr val="ECE7DC"/>
                </a:solidFill>
                <a:latin typeface="Consolas"/>
              </a:rPr>
              <a:t>│       │   └── SKILL.md</a:t>
            </a:r>
          </a:p>
          <a:p>
            <a:pPr algn="l">
              <a:lnSpc>
                <a:spcPct val="100000"/>
              </a:lnSpc>
            </a:pPr>
            <a:r>
              <a:rPr sz="800" b="0" i="0">
                <a:solidFill>
                  <a:srgbClr val="3BBE93"/>
                </a:solidFill>
                <a:latin typeface="Consolas"/>
              </a:rPr>
              <a:t>│       ├── tlamatini-daily-chat-test/</a:t>
            </a:r>
          </a:p>
          <a:p>
            <a:pPr algn="l">
              <a:lnSpc>
                <a:spcPct val="100000"/>
              </a:lnSpc>
            </a:pPr>
            <a:r>
              <a:rPr sz="800" b="0" i="0">
                <a:solidFill>
                  <a:srgbClr val="ECE7DC"/>
                </a:solidFill>
                <a:latin typeface="Consolas"/>
              </a:rPr>
              <a:t>│       │   ├── .gitignore</a:t>
            </a:r>
          </a:p>
          <a:p>
            <a:pPr algn="l">
              <a:lnSpc>
                <a:spcPct val="100000"/>
              </a:lnSpc>
            </a:pPr>
            <a:r>
              <a:rPr sz="800" b="0" i="0">
                <a:solidFill>
                  <a:srgbClr val="ECE7DC"/>
                </a:solidFill>
                <a:latin typeface="Consolas"/>
              </a:rPr>
              <a:t>│       │   ├── SKILL.md</a:t>
            </a:r>
          </a:p>
          <a:p>
            <a:pPr algn="l">
              <a:lnSpc>
                <a:spcPct val="100000"/>
              </a:lnSpc>
            </a:pPr>
            <a:r>
              <a:rPr sz="800" b="0" i="0">
                <a:solidFill>
                  <a:srgbClr val="3BBE93"/>
                </a:solidFill>
                <a:latin typeface="Consolas"/>
              </a:rPr>
              <a:t>│       │   └── harness/</a:t>
            </a:r>
          </a:p>
          <a:p>
            <a:pPr algn="l">
              <a:lnSpc>
                <a:spcPct val="100000"/>
              </a:lnSpc>
            </a:pPr>
            <a:r>
              <a:rPr sz="800" b="0" i="0">
                <a:solidFill>
                  <a:srgbClr val="ECE7DC"/>
                </a:solidFill>
                <a:latin typeface="Consolas"/>
              </a:rPr>
              <a:t>│       │       ├── _peek.py</a:t>
            </a:r>
          </a:p>
          <a:p>
            <a:pPr algn="l">
              <a:lnSpc>
                <a:spcPct val="100000"/>
              </a:lnSpc>
            </a:pPr>
            <a:r>
              <a:rPr sz="800" b="0" i="0">
                <a:solidFill>
                  <a:srgbClr val="ECE7DC"/>
                </a:solidFill>
                <a:latin typeface="Consolas"/>
              </a:rPr>
              <a:t>│       │       ├── _stage.ps1</a:t>
            </a:r>
          </a:p>
          <a:p>
            <a:pPr algn="l">
              <a:lnSpc>
                <a:spcPct val="100000"/>
              </a:lnSpc>
            </a:pPr>
            <a:r>
              <a:rPr sz="800" b="0" i="0">
                <a:solidFill>
                  <a:srgbClr val="ECE7DC"/>
                </a:solidFill>
                <a:latin typeface="Consolas"/>
              </a:rPr>
              <a:t>│       │       ├── acp_backend_banner_test.py</a:t>
            </a:r>
          </a:p>
          <a:p>
            <a:pPr algn="l">
              <a:lnSpc>
                <a:spcPct val="100000"/>
              </a:lnSpc>
            </a:pPr>
            <a:r>
              <a:rPr sz="800" b="0" i="0">
                <a:solidFill>
                  <a:srgbClr val="ECE7DC"/>
                </a:solidFill>
                <a:latin typeface="Consolas"/>
              </a:rPr>
              <a:t>│       │       ├── acp_backend_banner_test.py.antes_sho</a:t>
            </a:r>
          </a:p>
          <a:p>
            <a:pPr algn="l">
              <a:lnSpc>
                <a:spcPct val="100000"/>
              </a:lnSpc>
            </a:pPr>
            <a:r>
              <a:rPr sz="800" b="0" i="0">
                <a:solidFill>
                  <a:srgbClr val="ECE7DC"/>
                </a:solidFill>
                <a:latin typeface="Consolas"/>
              </a:rPr>
              <a:t>│       │       │     » ter</a:t>
            </a:r>
          </a:p>
          <a:p>
            <a:pPr algn="l">
              <a:lnSpc>
                <a:spcPct val="100000"/>
              </a:lnSpc>
            </a:pPr>
            <a:r>
              <a:rPr sz="800" b="0" i="0">
                <a:solidFill>
                  <a:srgbClr val="ECE7DC"/>
                </a:solidFill>
                <a:latin typeface="Consolas"/>
              </a:rPr>
              <a:t>│       │       ├── acp_dialog_full_sweep.py</a:t>
            </a:r>
          </a:p>
          <a:p>
            <a:pPr algn="l">
              <a:lnSpc>
                <a:spcPct val="100000"/>
              </a:lnSpc>
            </a:pPr>
            <a:r>
              <a:rPr sz="800" b="0" i="0">
                <a:solidFill>
                  <a:srgbClr val="ECE7DC"/>
                </a:solidFill>
                <a:latin typeface="Consolas"/>
              </a:rPr>
              <a:t>│       │       ├── acp_dialog_theme_visible.py</a:t>
            </a:r>
          </a:p>
          <a:p>
            <a:pPr algn="l">
              <a:lnSpc>
                <a:spcPct val="100000"/>
              </a:lnSpc>
            </a:pPr>
            <a:r>
              <a:rPr sz="800" b="0" i="0">
                <a:solidFill>
                  <a:srgbClr val="ECE7DC"/>
                </a:solidFill>
                <a:latin typeface="Consolas"/>
              </a:rPr>
              <a:t>│       │       ├── ask_execs_regression.py</a:t>
            </a:r>
          </a:p>
          <a:p>
            <a:pPr algn="l">
              <a:lnSpc>
                <a:spcPct val="100000"/>
              </a:lnSpc>
            </a:pPr>
            <a:r>
              <a:rPr sz="800" b="0" i="0">
                <a:solidFill>
                  <a:srgbClr val="ECE7DC"/>
                </a:solidFill>
                <a:latin typeface="Consolas"/>
              </a:rPr>
              <a:t>│       │       ├── ask_execs_regression.py.antes_shoter</a:t>
            </a:r>
          </a:p>
          <a:p>
            <a:pPr algn="l">
              <a:lnSpc>
                <a:spcPct val="100000"/>
              </a:lnSpc>
            </a:pPr>
            <a:r>
              <a:rPr sz="800" b="0" i="0">
                <a:solidFill>
                  <a:srgbClr val="ECE7DC"/>
                </a:solidFill>
                <a:latin typeface="Consolas"/>
              </a:rPr>
              <a:t>│       │       ├── bulk_toggle_behaviour.py</a:t>
            </a:r>
          </a:p>
          <a:p>
            <a:pPr algn="l">
              <a:lnSpc>
                <a:spcPct val="100000"/>
              </a:lnSpc>
            </a:pPr>
            <a:r>
              <a:rPr sz="800" b="0" i="0">
                <a:solidFill>
                  <a:srgbClr val="ECE7DC"/>
                </a:solidFill>
                <a:latin typeface="Consolas"/>
              </a:rPr>
              <a:t>│       │       ├── bulk_toggle_visible.py</a:t>
            </a:r>
          </a:p>
          <a:p>
            <a:pPr algn="l">
              <a:lnSpc>
                <a:spcPct val="100000"/>
              </a:lnSpc>
            </a:pPr>
            <a:r>
              <a:rPr sz="800" b="0" i="0">
                <a:solidFill>
                  <a:srgbClr val="ECE7DC"/>
                </a:solidFill>
                <a:latin typeface="Consolas"/>
              </a:rPr>
              <a:t>│       │       ├── cancel_regression.py</a:t>
            </a:r>
          </a:p>
          <a:p>
            <a:pPr algn="l">
              <a:lnSpc>
                <a:spcPct val="100000"/>
              </a:lnSpc>
            </a:pPr>
            <a:r>
              <a:rPr sz="800" b="0" i="0">
                <a:solidFill>
                  <a:srgbClr val="ECE7DC"/>
                </a:solidFill>
                <a:latin typeface="Consolas"/>
              </a:rPr>
              <a:t>│       │       ├── cancel_regression.py.antes_shoter</a:t>
            </a:r>
          </a:p>
          <a:p>
            <a:pPr algn="l">
              <a:lnSpc>
                <a:spcPct val="100000"/>
              </a:lnSpc>
            </a:pPr>
            <a:r>
              <a:rPr sz="800" b="0" i="0">
                <a:solidFill>
                  <a:srgbClr val="ECE7DC"/>
                </a:solidFill>
                <a:latin typeface="Consolas"/>
              </a:rPr>
              <a:t>│       │       ├── compact_mode_visible.py</a:t>
            </a:r>
          </a:p>
          <a:p>
            <a:pPr algn="l">
              <a:lnSpc>
                <a:spcPct val="100000"/>
              </a:lnSpc>
            </a:pPr>
            <a:r>
              <a:rPr sz="800" b="0" i="0">
                <a:solidFill>
                  <a:srgbClr val="ECE7DC"/>
                </a:solidFill>
                <a:latin typeface="Consolas"/>
              </a:rPr>
              <a:t>│       │       ├── compact_pingpong_visible.py</a:t>
            </a:r>
          </a:p>
        </p:txBody>
      </p:sp>
      <p:sp>
        <p:nvSpPr>
          <p:cNvPr id="7" name="TextBox 6"/>
          <p:cNvSpPr txBox="1"/>
          <p:nvPr/>
        </p:nvSpPr>
        <p:spPr>
          <a:xfrm>
            <a:off x="8109508" y="1170432"/>
            <a:ext cx="3515258" cy="5084064"/>
          </a:xfrm>
          <a:prstGeom prst="rect">
            <a:avLst/>
          </a:prstGeom>
          <a:noFill/>
        </p:spPr>
        <p:txBody>
          <a:bodyPr wrap="none" lIns="45720" rIns="45720" tIns="27432" bIns="27432" anchor="t">
            <a:noAutofit/>
          </a:bodyPr>
          <a:lstStyle/>
          <a:p>
            <a:pPr algn="l">
              <a:lnSpc>
                <a:spcPct val="100000"/>
              </a:lnSpc>
            </a:pPr>
            <a:r>
              <a:rPr sz="800" b="0" i="0">
                <a:solidFill>
                  <a:srgbClr val="ECE7DC"/>
                </a:solidFill>
                <a:latin typeface="Consolas"/>
              </a:rPr>
              <a:t>│       │       ├── compact_switch_visible.py</a:t>
            </a:r>
          </a:p>
          <a:p>
            <a:pPr algn="l">
              <a:lnSpc>
                <a:spcPct val="100000"/>
              </a:lnSpc>
            </a:pPr>
            <a:r>
              <a:rPr sz="800" b="0" i="0">
                <a:solidFill>
                  <a:srgbClr val="ECE7DC"/>
                </a:solidFill>
                <a:latin typeface="Consolas"/>
              </a:rPr>
              <a:t>│       │       ├── config.py</a:t>
            </a:r>
          </a:p>
          <a:p>
            <a:pPr algn="l">
              <a:lnSpc>
                <a:spcPct val="100000"/>
              </a:lnSpc>
            </a:pPr>
            <a:r>
              <a:rPr sz="800" b="0" i="0">
                <a:solidFill>
                  <a:srgbClr val="ECE7DC"/>
                </a:solidFill>
                <a:latin typeface="Consolas"/>
              </a:rPr>
              <a:t>│       │       ├── context_gauge_100.py</a:t>
            </a:r>
          </a:p>
          <a:p>
            <a:pPr algn="l">
              <a:lnSpc>
                <a:spcPct val="100000"/>
              </a:lnSpc>
            </a:pPr>
            <a:r>
              <a:rPr sz="800" b="0" i="0">
                <a:solidFill>
                  <a:srgbClr val="ECE7DC"/>
                </a:solidFill>
                <a:latin typeface="Consolas"/>
              </a:rPr>
              <a:t>│       │       ├── context_gauge_real_lab.py</a:t>
            </a:r>
          </a:p>
          <a:p>
            <a:pPr algn="l">
              <a:lnSpc>
                <a:spcPct val="100000"/>
              </a:lnSpc>
            </a:pPr>
            <a:r>
              <a:rPr sz="800" b="0" i="0">
                <a:solidFill>
                  <a:srgbClr val="ECE7DC"/>
                </a:solidFill>
                <a:latin typeface="Consolas"/>
              </a:rPr>
              <a:t>│       │       ├── context_gauge_visible.py</a:t>
            </a:r>
          </a:p>
          <a:p>
            <a:pPr algn="l">
              <a:lnSpc>
                <a:spcPct val="100000"/>
              </a:lnSpc>
            </a:pPr>
            <a:r>
              <a:rPr sz="800" b="0" i="0">
                <a:solidFill>
                  <a:srgbClr val="ECE7DC"/>
                </a:solidFill>
                <a:latin typeface="Consolas"/>
              </a:rPr>
              <a:t>│       │       ├── context_restore_spinner_visible.py</a:t>
            </a:r>
          </a:p>
          <a:p>
            <a:pPr algn="l">
              <a:lnSpc>
                <a:spcPct val="100000"/>
              </a:lnSpc>
            </a:pPr>
            <a:r>
              <a:rPr sz="800" b="0" i="0">
                <a:solidFill>
                  <a:srgbClr val="ECE7DC"/>
                </a:solidFill>
                <a:latin typeface="Consolas"/>
              </a:rPr>
              <a:t>│       │       ├── cyber_watchdog_test.py</a:t>
            </a:r>
          </a:p>
          <a:p>
            <a:pPr algn="l">
              <a:lnSpc>
                <a:spcPct val="100000"/>
              </a:lnSpc>
            </a:pPr>
            <a:r>
              <a:rPr sz="800" b="0" i="0">
                <a:solidFill>
                  <a:srgbClr val="ECE7DC"/>
                </a:solidFill>
                <a:latin typeface="Consolas"/>
              </a:rPr>
              <a:t>│       │       ├── deepseek_remote_chat_visible.py</a:t>
            </a:r>
          </a:p>
          <a:p>
            <a:pPr algn="l">
              <a:lnSpc>
                <a:spcPct val="100000"/>
              </a:lnSpc>
            </a:pPr>
            <a:r>
              <a:rPr sz="800" b="0" i="0">
                <a:solidFill>
                  <a:srgbClr val="ECE7DC"/>
                </a:solidFill>
                <a:latin typeface="Consolas"/>
              </a:rPr>
              <a:t>│       │       ├── dialog_policy_visible.py</a:t>
            </a:r>
          </a:p>
          <a:p>
            <a:pPr algn="l">
              <a:lnSpc>
                <a:spcPct val="100000"/>
              </a:lnSpc>
            </a:pPr>
            <a:r>
              <a:rPr sz="800" b="0" i="0">
                <a:solidFill>
                  <a:srgbClr val="ECE7DC"/>
                </a:solidFill>
                <a:latin typeface="Consolas"/>
              </a:rPr>
              <a:t>│       │       ├── dialog_theme_visible.py</a:t>
            </a:r>
          </a:p>
          <a:p>
            <a:pPr algn="l">
              <a:lnSpc>
                <a:spcPct val="100000"/>
              </a:lnSpc>
            </a:pPr>
            <a:r>
              <a:rPr sz="800" b="0" i="0">
                <a:solidFill>
                  <a:srgbClr val="ECE7DC"/>
                </a:solidFill>
                <a:latin typeface="Consolas"/>
              </a:rPr>
              <a:t>│       │       ├── discoverer_1000.py</a:t>
            </a:r>
          </a:p>
          <a:p>
            <a:pPr algn="l">
              <a:lnSpc>
                <a:spcPct val="100000"/>
              </a:lnSpc>
            </a:pPr>
            <a:r>
              <a:rPr sz="800" b="0" i="0">
                <a:solidFill>
                  <a:srgbClr val="ECE7DC"/>
                </a:solidFill>
                <a:latin typeface="Consolas"/>
              </a:rPr>
              <a:t>│       │       ├── discoverer_1000.py.antes_shoter</a:t>
            </a:r>
          </a:p>
          <a:p>
            <a:pPr algn="l">
              <a:lnSpc>
                <a:spcPct val="100000"/>
              </a:lnSpc>
            </a:pPr>
            <a:r>
              <a:rPr sz="800" b="0" i="0">
                <a:solidFill>
                  <a:srgbClr val="ECE7DC"/>
                </a:solidFill>
                <a:latin typeface="Consolas"/>
              </a:rPr>
              <a:t>│       │       ├── drop_message_visible.py</a:t>
            </a:r>
          </a:p>
          <a:p>
            <a:pPr algn="l">
              <a:lnSpc>
                <a:spcPct val="100000"/>
              </a:lnSpc>
            </a:pPr>
            <a:r>
              <a:rPr sz="800" b="0" i="0">
                <a:solidFill>
                  <a:srgbClr val="ECE7DC"/>
                </a:solidFill>
                <a:latin typeface="Consolas"/>
              </a:rPr>
              <a:t>│       │       ├── file_drop_visible.py</a:t>
            </a:r>
          </a:p>
          <a:p>
            <a:pPr algn="l">
              <a:lnSpc>
                <a:spcPct val="100000"/>
              </a:lnSpc>
            </a:pPr>
            <a:r>
              <a:rPr sz="800" b="0" i="0">
                <a:solidFill>
                  <a:srgbClr val="ECE7DC"/>
                </a:solidFill>
                <a:latin typeface="Consolas"/>
              </a:rPr>
              <a:t>│       │       ├── flowcreator_wizard_e2e.py</a:t>
            </a:r>
          </a:p>
          <a:p>
            <a:pPr algn="l">
              <a:lnSpc>
                <a:spcPct val="100000"/>
              </a:lnSpc>
            </a:pPr>
            <a:r>
              <a:rPr sz="800" b="0" i="0">
                <a:solidFill>
                  <a:srgbClr val="ECE7DC"/>
                </a:solidFill>
                <a:latin typeface="Consolas"/>
              </a:rPr>
              <a:t>│       │       ├── full_mode_visible.py</a:t>
            </a:r>
          </a:p>
          <a:p>
            <a:pPr algn="l">
              <a:lnSpc>
                <a:spcPct val="100000"/>
              </a:lnSpc>
            </a:pPr>
            <a:r>
              <a:rPr sz="800" b="0" i="0">
                <a:solidFill>
                  <a:srgbClr val="ECE7DC"/>
                </a:solidFill>
                <a:latin typeface="Consolas"/>
              </a:rPr>
              <a:t>│       │       ├── googler_dork_hunt.py</a:t>
            </a:r>
          </a:p>
          <a:p>
            <a:pPr algn="l">
              <a:lnSpc>
                <a:spcPct val="100000"/>
              </a:lnSpc>
            </a:pPr>
            <a:r>
              <a:rPr sz="800" b="0" i="0">
                <a:solidFill>
                  <a:srgbClr val="ECE7DC"/>
                </a:solidFill>
                <a:latin typeface="Consolas"/>
              </a:rPr>
              <a:t>│       │       ├── grepper_lines_visible.py</a:t>
            </a:r>
          </a:p>
          <a:p>
            <a:pPr algn="l">
              <a:lnSpc>
                <a:spcPct val="100000"/>
              </a:lnSpc>
            </a:pPr>
            <a:r>
              <a:rPr sz="800" b="0" i="0">
                <a:solidFill>
                  <a:srgbClr val="ECE7DC"/>
                </a:solidFill>
                <a:latin typeface="Consolas"/>
              </a:rPr>
              <a:t>│       │       ├── grepper_login_probe.py</a:t>
            </a:r>
          </a:p>
          <a:p>
            <a:pPr algn="l">
              <a:lnSpc>
                <a:spcPct val="100000"/>
              </a:lnSpc>
            </a:pPr>
            <a:r>
              <a:rPr sz="800" b="0" i="0">
                <a:solidFill>
                  <a:srgbClr val="ECE7DC"/>
                </a:solidFill>
                <a:latin typeface="Consolas"/>
              </a:rPr>
              <a:t>│       │       ├── latexer_openmp_e2e.py</a:t>
            </a:r>
          </a:p>
          <a:p>
            <a:pPr algn="l">
              <a:lnSpc>
                <a:spcPct val="100000"/>
              </a:lnSpc>
            </a:pPr>
            <a:r>
              <a:rPr sz="800" b="0" i="0">
                <a:solidFill>
                  <a:srgbClr val="ECE7DC"/>
                </a:solidFill>
                <a:latin typeface="Consolas"/>
              </a:rPr>
              <a:t>│       │       ├── latexer_stepbystep_5.py</a:t>
            </a:r>
          </a:p>
          <a:p>
            <a:pPr algn="l">
              <a:lnSpc>
                <a:spcPct val="100000"/>
              </a:lnSpc>
            </a:pPr>
            <a:r>
              <a:rPr sz="800" b="0" i="0">
                <a:solidFill>
                  <a:srgbClr val="ECE7DC"/>
                </a:solidFill>
                <a:latin typeface="Consolas"/>
              </a:rPr>
              <a:t>│       │       ├── mcp_playwright_suite.py</a:t>
            </a:r>
          </a:p>
          <a:p>
            <a:pPr algn="l">
              <a:lnSpc>
                <a:spcPct val="100000"/>
              </a:lnSpc>
            </a:pPr>
            <a:r>
              <a:rPr sz="800" b="0" i="0">
                <a:solidFill>
                  <a:srgbClr val="ECE7DC"/>
                </a:solidFill>
                <a:latin typeface="Consolas"/>
              </a:rPr>
              <a:t>│       │       ├── model_brain_visible.py</a:t>
            </a:r>
          </a:p>
          <a:p>
            <a:pPr algn="l">
              <a:lnSpc>
                <a:spcPct val="100000"/>
              </a:lnSpc>
            </a:pPr>
            <a:r>
              <a:rPr sz="800" b="0" i="0">
                <a:solidFill>
                  <a:srgbClr val="ECE7DC"/>
                </a:solidFill>
                <a:latin typeface="Consolas"/>
              </a:rPr>
              <a:t>│       │       ├── monitor.py</a:t>
            </a:r>
          </a:p>
          <a:p>
            <a:pPr algn="l">
              <a:lnSpc>
                <a:spcPct val="100000"/>
              </a:lnSpc>
            </a:pPr>
            <a:r>
              <a:rPr sz="800" b="0" i="0">
                <a:solidFill>
                  <a:srgbClr val="ECE7DC"/>
                </a:solidFill>
                <a:latin typeface="Consolas"/>
              </a:rPr>
              <a:t>│       │       ├── ollama_remote_catalog_visible.py</a:t>
            </a:r>
          </a:p>
          <a:p>
            <a:pPr algn="l">
              <a:lnSpc>
                <a:spcPct val="100000"/>
              </a:lnSpc>
            </a:pPr>
            <a:r>
              <a:rPr sz="800" b="0" i="0">
                <a:solidFill>
                  <a:srgbClr val="ECE7DC"/>
                </a:solidFill>
                <a:latin typeface="Consolas"/>
              </a:rPr>
              <a:t>│       │       ├── pdf_context_visible.py</a:t>
            </a:r>
          </a:p>
          <a:p>
            <a:pPr algn="l">
              <a:lnSpc>
                <a:spcPct val="100000"/>
              </a:lnSpc>
            </a:pPr>
            <a:r>
              <a:rPr sz="800" b="0" i="0">
                <a:solidFill>
                  <a:srgbClr val="ECE7DC"/>
                </a:solidFill>
                <a:latin typeface="Consolas"/>
              </a:rPr>
              <a:t>│       │       ├── pdfer_nuance_visible.py</a:t>
            </a:r>
          </a:p>
          <a:p>
            <a:pPr algn="l">
              <a:lnSpc>
                <a:spcPct val="100000"/>
              </a:lnSpc>
            </a:pPr>
            <a:r>
              <a:rPr sz="800" b="0" i="0">
                <a:solidFill>
                  <a:srgbClr val="ECE7DC"/>
                </a:solidFill>
                <a:latin typeface="Consolas"/>
              </a:rPr>
              <a:t>│       │       ├── playwrighter_run.py</a:t>
            </a:r>
          </a:p>
          <a:p>
            <a:pPr algn="l">
              <a:lnSpc>
                <a:spcPct val="100000"/>
              </a:lnSpc>
            </a:pPr>
            <a:r>
              <a:rPr sz="800" b="0" i="0">
                <a:solidFill>
                  <a:srgbClr val="ECE7DC"/>
                </a:solidFill>
                <a:latin typeface="Consolas"/>
              </a:rPr>
              <a:t>│       │       ├── pptxer_visible.py</a:t>
            </a:r>
          </a:p>
          <a:p>
            <a:pPr algn="l">
              <a:lnSpc>
                <a:spcPct val="100000"/>
              </a:lnSpc>
            </a:pPr>
            <a:r>
              <a:rPr sz="800" b="0" i="0">
                <a:solidFill>
                  <a:srgbClr val="ECE7DC"/>
                </a:solidFill>
                <a:latin typeface="Consolas"/>
              </a:rPr>
              <a:t>│       │       ├── preflight.py</a:t>
            </a:r>
          </a:p>
          <a:p>
            <a:pPr algn="l">
              <a:lnSpc>
                <a:spcPct val="100000"/>
              </a:lnSpc>
            </a:pPr>
            <a:r>
              <a:rPr sz="800" b="0" i="0">
                <a:solidFill>
                  <a:srgbClr val="ECE7DC"/>
                </a:solidFill>
                <a:latin typeface="Consolas"/>
              </a:rPr>
              <a:t>│       │       ├── qualify.py</a:t>
            </a:r>
          </a:p>
          <a:p>
            <a:pPr algn="l">
              <a:lnSpc>
                <a:spcPct val="100000"/>
              </a:lnSpc>
            </a:pPr>
            <a:r>
              <a:rPr sz="800" b="0" i="0">
                <a:solidFill>
                  <a:srgbClr val="ECE7DC"/>
                </a:solidFill>
                <a:latin typeface="Consolas"/>
              </a:rPr>
              <a:t>│       │       ├── questions.py</a:t>
            </a:r>
          </a:p>
          <a:p>
            <a:pPr algn="l">
              <a:lnSpc>
                <a:spcPct val="100000"/>
              </a:lnSpc>
            </a:pPr>
            <a:r>
              <a:rPr sz="800" b="0" i="0">
                <a:solidFill>
                  <a:srgbClr val="ECE7DC"/>
                </a:solidFill>
                <a:latin typeface="Consolas"/>
              </a:rPr>
              <a:t>│       │       ├── README.md</a:t>
            </a:r>
          </a:p>
          <a:p>
            <a:pPr algn="l">
              <a:lnSpc>
                <a:spcPct val="100000"/>
              </a:lnSpc>
            </a:pPr>
            <a:r>
              <a:rPr sz="800" b="0" i="0">
                <a:solidFill>
                  <a:srgbClr val="ECE7DC"/>
                </a:solidFill>
                <a:latin typeface="Consolas"/>
              </a:rPr>
              <a:t>│       │       ├── requirements.txt</a:t>
            </a:r>
          </a:p>
          <a:p>
            <a:pPr algn="l">
              <a:lnSpc>
                <a:spcPct val="100000"/>
              </a:lnSpc>
            </a:pPr>
            <a:r>
              <a:rPr sz="800" b="0" i="0">
                <a:solidFill>
                  <a:srgbClr val="ECE7DC"/>
                </a:solidFill>
                <a:latin typeface="Consolas"/>
              </a:rPr>
              <a:t>│       │       ├── run_test.py</a:t>
            </a:r>
          </a:p>
          <a:p>
            <a:pPr algn="l">
              <a:lnSpc>
                <a:spcPct val="100000"/>
              </a:lnSpc>
            </a:pPr>
            <a:r>
              <a:rPr sz="800" b="0" i="0">
                <a:solidFill>
                  <a:srgbClr val="ECE7DC"/>
                </a:solidFill>
                <a:latin typeface="Consolas"/>
              </a:rPr>
              <a:t>│       │       ├── self_modify_visible.py</a:t>
            </a:r>
          </a:p>
          <a:p>
            <a:pPr algn="l">
              <a:lnSpc>
                <a:spcPct val="100000"/>
              </a:lnSpc>
            </a:pPr>
            <a:r>
              <a:rPr sz="800" b="0" i="0">
                <a:solidFill>
                  <a:srgbClr val="ECE7DC"/>
                </a:solidFill>
                <a:latin typeface="Consolas"/>
              </a:rPr>
              <a:t>│       │       ├── shoter_shot.py</a:t>
            </a:r>
          </a:p>
          <a:p>
            <a:pPr algn="l">
              <a:lnSpc>
                <a:spcPct val="100000"/>
              </a:lnSpc>
            </a:pPr>
            <a:r>
              <a:rPr sz="800" b="0" i="0">
                <a:solidFill>
                  <a:srgbClr val="ECE7DC"/>
                </a:solidFill>
                <a:latin typeface="Consolas"/>
              </a:rPr>
              <a:t>│       │       ├── step_by_step_catalog.py</a:t>
            </a:r>
          </a:p>
          <a:p>
            <a:pPr algn="l">
              <a:lnSpc>
                <a:spcPct val="100000"/>
              </a:lnSpc>
            </a:pPr>
            <a:r>
              <a:rPr sz="800" b="0" i="0">
                <a:solidFill>
                  <a:srgbClr val="ECE7DC"/>
                </a:solidFill>
                <a:latin typeface="Consolas"/>
              </a:rPr>
              <a:t>│       │       ├── step_by_step_catalog.py.antes_shoter</a:t>
            </a:r>
          </a:p>
          <a:p>
            <a:pPr algn="l">
              <a:lnSpc>
                <a:spcPct val="100000"/>
              </a:lnSpc>
            </a:pPr>
            <a:r>
              <a:rPr sz="800" b="0" i="0">
                <a:solidFill>
                  <a:srgbClr val="ECE7DC"/>
                </a:solidFill>
                <a:latin typeface="Consolas"/>
              </a:rPr>
              <a:t>│       │       ├── stop_sequence_visible.py</a:t>
            </a:r>
          </a:p>
          <a:p>
            <a:pPr algn="l">
              <a:lnSpc>
                <a:spcPct val="100000"/>
              </a:lnSpc>
            </a:pPr>
            <a:r>
              <a:rPr sz="800" b="0" i="0">
                <a:solidFill>
                  <a:srgbClr val="ECE7DC"/>
                </a:solidFill>
                <a:latin typeface="Consolas"/>
              </a:rPr>
              <a:t>│       │       ├── talk_test.py</a:t>
            </a:r>
          </a:p>
        </p:txBody>
      </p:sp>
      <p:cxnSp>
        <p:nvCxnSpPr>
          <p:cNvPr id="8" name="Connector 7"/>
          <p:cNvCxnSpPr/>
          <p:nvPr/>
        </p:nvCxnSpPr>
        <p:spPr>
          <a:xfrm>
            <a:off x="566928" y="6373368"/>
            <a:ext cx="11057839" cy="0"/>
          </a:xfrm>
          <a:prstGeom prst="line">
            <a:avLst/>
          </a:prstGeom>
          <a:ln w="7620">
            <a:solidFill>
              <a:srgbClr val="2A3A40"/>
            </a:solidFill>
          </a:ln>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566928" y="6419088"/>
            <a:ext cx="6858000" cy="274320"/>
          </a:xfrm>
          <a:prstGeom prst="rect">
            <a:avLst/>
          </a:prstGeom>
          <a:noFill/>
        </p:spPr>
        <p:txBody>
          <a:bodyPr wrap="square" lIns="45720" rIns="45720" tIns="27432" bIns="27432" anchor="t">
            <a:noAutofit/>
          </a:bodyPr>
          <a:lstStyle/>
          <a:p>
            <a:pPr algn="l">
              <a:lnSpc>
                <a:spcPct val="100000"/>
              </a:lnSpc>
            </a:pPr>
            <a:r>
              <a:rPr sz="850" b="0" i="0" spc="120">
                <a:solidFill>
                  <a:srgbClr val="A7B2B0"/>
                </a:solidFill>
                <a:latin typeface="Segoe UI Semibold"/>
              </a:rPr>
              <a:t>TLAMATINI  ·  APÉNDICE A · ÁRBOL DE ARCHIVOS</a:t>
            </a:r>
          </a:p>
        </p:txBody>
      </p:sp>
      <p:sp>
        <p:nvSpPr>
          <p:cNvPr id="10" name="TextBox 9"/>
          <p:cNvSpPr txBox="1"/>
          <p:nvPr/>
        </p:nvSpPr>
        <p:spPr>
          <a:xfrm>
            <a:off x="8698687" y="6419088"/>
            <a:ext cx="2926080" cy="274320"/>
          </a:xfrm>
          <a:prstGeom prst="rect">
            <a:avLst/>
          </a:prstGeom>
          <a:noFill/>
        </p:spPr>
        <p:txBody>
          <a:bodyPr wrap="square" lIns="45720" rIns="45720" tIns="27432" bIns="27432" anchor="t">
            <a:noAutofit/>
          </a:bodyPr>
          <a:lstStyle/>
          <a:p>
            <a:pPr algn="r">
              <a:lnSpc>
                <a:spcPct val="100000"/>
              </a:lnSpc>
            </a:pPr>
            <a:r>
              <a:rPr sz="850" b="0" i="0" spc="100">
                <a:solidFill>
                  <a:srgbClr val="A7B2B0"/>
                </a:solidFill>
                <a:latin typeface="Segoe UI Semibold"/>
              </a:rPr>
              <a:t>v1.91.1   ·   176</a:t>
            </a:r>
          </a:p>
        </p:txBody>
      </p:sp>
    </p:spTree>
  </p:cSld>
  <p:clrMapOvr>
    <a:masterClrMapping/>
  </p:clrMapOvr>
</p:sld>
</file>

<file path=ppt/slides/slide17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appendix.png"/>
          <p:cNvPicPr>
            <a:picLocks noChangeAspect="1"/>
          </p:cNvPicPr>
          <p:nvPr/>
        </p:nvPicPr>
        <p:blipFill>
          <a:blip r:embed="rId2"/>
          <a:stretch>
            <a:fillRect/>
          </a:stretch>
        </p:blipFill>
        <p:spPr>
          <a:xfrm>
            <a:off x="0" y="0"/>
            <a:ext cx="12191695" cy="6858000"/>
          </a:xfrm>
          <a:prstGeom prst="rect">
            <a:avLst/>
          </a:prstGeom>
        </p:spPr>
      </p:pic>
      <p:sp>
        <p:nvSpPr>
          <p:cNvPr id="3" name="TextBox 2"/>
          <p:cNvSpPr txBox="1"/>
          <p:nvPr/>
        </p:nvSpPr>
        <p:spPr>
          <a:xfrm>
            <a:off x="566928" y="384048"/>
            <a:ext cx="8686800" cy="329184"/>
          </a:xfrm>
          <a:prstGeom prst="rect">
            <a:avLst/>
          </a:prstGeom>
          <a:noFill/>
        </p:spPr>
        <p:txBody>
          <a:bodyPr wrap="square" lIns="45720" rIns="45720" tIns="27432" bIns="27432" anchor="t">
            <a:noAutofit/>
          </a:bodyPr>
          <a:lstStyle/>
          <a:p>
            <a:pPr algn="l">
              <a:lnSpc>
                <a:spcPct val="100000"/>
              </a:lnSpc>
            </a:pPr>
            <a:r>
              <a:rPr sz="1100" b="0" i="0" spc="200">
                <a:solidFill>
                  <a:srgbClr val="C98457"/>
                </a:solidFill>
                <a:latin typeface="Segoe UI Semibold"/>
              </a:rPr>
              <a:t>APÉNDICE A  ·  ÁRBOL DE ARCHIVOS DE LA APLICACIÓN  ·  3 / 20</a:t>
            </a:r>
          </a:p>
        </p:txBody>
      </p:sp>
      <p:sp>
        <p:nvSpPr>
          <p:cNvPr id="4" name="TextBox 3"/>
          <p:cNvSpPr txBox="1"/>
          <p:nvPr/>
        </p:nvSpPr>
        <p:spPr>
          <a:xfrm>
            <a:off x="566928" y="731520"/>
            <a:ext cx="11057839" cy="384048"/>
          </a:xfrm>
          <a:prstGeom prst="rect">
            <a:avLst/>
          </a:prstGeom>
          <a:noFill/>
        </p:spPr>
        <p:txBody>
          <a:bodyPr wrap="square" lIns="45720" rIns="45720" tIns="27432" bIns="27432" anchor="t">
            <a:noAutofit/>
          </a:bodyPr>
          <a:lstStyle/>
          <a:p>
            <a:pPr algn="l">
              <a:lnSpc>
                <a:spcPct val="100000"/>
              </a:lnSpc>
            </a:pPr>
            <a:r>
              <a:rPr sz="1300" b="0" i="0">
                <a:solidFill>
                  <a:srgbClr val="A7B2B0"/>
                </a:solidFill>
                <a:latin typeface="Segoe UI"/>
              </a:rPr>
              <a:t>1,898 archivos listados en el commit 21b0a5c; 221 archivos de la historia de la base de datos resumidos.</a:t>
            </a:r>
          </a:p>
        </p:txBody>
      </p:sp>
      <p:sp>
        <p:nvSpPr>
          <p:cNvPr id="5" name="TextBox 4"/>
          <p:cNvSpPr txBox="1"/>
          <p:nvPr/>
        </p:nvSpPr>
        <p:spPr>
          <a:xfrm>
            <a:off x="566928" y="1170432"/>
            <a:ext cx="3515258" cy="5084064"/>
          </a:xfrm>
          <a:prstGeom prst="rect">
            <a:avLst/>
          </a:prstGeom>
          <a:noFill/>
        </p:spPr>
        <p:txBody>
          <a:bodyPr wrap="none" lIns="45720" rIns="45720" tIns="27432" bIns="27432" anchor="t">
            <a:noAutofit/>
          </a:bodyPr>
          <a:lstStyle/>
          <a:p>
            <a:pPr algn="l">
              <a:lnSpc>
                <a:spcPct val="100000"/>
              </a:lnSpc>
            </a:pPr>
            <a:r>
              <a:rPr sz="800" b="0" i="0">
                <a:solidFill>
                  <a:srgbClr val="ECE7DC"/>
                </a:solidFill>
                <a:latin typeface="Consolas"/>
              </a:rPr>
              <a:t>│       │       ├── uninstaller_visible.py</a:t>
            </a:r>
          </a:p>
          <a:p>
            <a:pPr algn="l">
              <a:lnSpc>
                <a:spcPct val="100000"/>
              </a:lnSpc>
            </a:pPr>
            <a:r>
              <a:rPr sz="800" b="0" i="0">
                <a:solidFill>
                  <a:srgbClr val="ECE7DC"/>
                </a:solidFill>
                <a:latin typeface="Consolas"/>
              </a:rPr>
              <a:t>│       │       ├── video_link_visible.py</a:t>
            </a:r>
          </a:p>
          <a:p>
            <a:pPr algn="l">
              <a:lnSpc>
                <a:spcPct val="100000"/>
              </a:lnSpc>
            </a:pPr>
            <a:r>
              <a:rPr sz="800" b="0" i="0">
                <a:solidFill>
                  <a:srgbClr val="ECE7DC"/>
                </a:solidFill>
                <a:latin typeface="Consolas"/>
              </a:rPr>
              <a:t>│       │       ├── voice_commands_visible.py</a:t>
            </a:r>
          </a:p>
          <a:p>
            <a:pPr algn="l">
              <a:lnSpc>
                <a:spcPct val="100000"/>
              </a:lnSpc>
            </a:pPr>
            <a:r>
              <a:rPr sz="800" b="0" i="0">
                <a:solidFill>
                  <a:srgbClr val="ECE7DC"/>
                </a:solidFill>
                <a:latin typeface="Consolas"/>
              </a:rPr>
              <a:t>│       │       ├── window-test-screen.py</a:t>
            </a:r>
          </a:p>
          <a:p>
            <a:pPr algn="l">
              <a:lnSpc>
                <a:spcPct val="100000"/>
              </a:lnSpc>
            </a:pPr>
            <a:r>
              <a:rPr sz="800" b="0" i="0">
                <a:solidFill>
                  <a:srgbClr val="ECE7DC"/>
                </a:solidFill>
                <a:latin typeface="Consolas"/>
              </a:rPr>
              <a:t>│       │       ├── windower_focus.py</a:t>
            </a:r>
          </a:p>
          <a:p>
            <a:pPr algn="l">
              <a:lnSpc>
                <a:spcPct val="100000"/>
              </a:lnSpc>
            </a:pPr>
            <a:r>
              <a:rPr sz="800" b="0" i="0">
                <a:solidFill>
                  <a:srgbClr val="ECE7DC"/>
                </a:solidFill>
                <a:latin typeface="Consolas"/>
              </a:rPr>
              <a:t>│       │       └── wrapped_questions.py</a:t>
            </a:r>
          </a:p>
          <a:p>
            <a:pPr algn="l">
              <a:lnSpc>
                <a:spcPct val="100000"/>
              </a:lnSpc>
            </a:pPr>
            <a:r>
              <a:rPr sz="800" b="0" i="0">
                <a:solidFill>
                  <a:srgbClr val="3BBE93"/>
                </a:solidFill>
                <a:latin typeface="Consolas"/>
              </a:rPr>
              <a:t>│       ├── tlamatini-self-modify-inclusion/</a:t>
            </a:r>
          </a:p>
          <a:p>
            <a:pPr algn="l">
              <a:lnSpc>
                <a:spcPct val="100000"/>
              </a:lnSpc>
            </a:pPr>
            <a:r>
              <a:rPr sz="800" b="0" i="0">
                <a:solidFill>
                  <a:srgbClr val="ECE7DC"/>
                </a:solidFill>
                <a:latin typeface="Consolas"/>
              </a:rPr>
              <a:t>│       │   ├── SKILL.md</a:t>
            </a:r>
          </a:p>
          <a:p>
            <a:pPr algn="l">
              <a:lnSpc>
                <a:spcPct val="100000"/>
              </a:lnSpc>
            </a:pPr>
            <a:r>
              <a:rPr sz="800" b="0" i="0">
                <a:solidFill>
                  <a:srgbClr val="3BBE93"/>
                </a:solidFill>
                <a:latin typeface="Consolas"/>
              </a:rPr>
              <a:t>│       │   └── scripts/</a:t>
            </a:r>
          </a:p>
          <a:p>
            <a:pPr algn="l">
              <a:lnSpc>
                <a:spcPct val="100000"/>
              </a:lnSpc>
            </a:pPr>
            <a:r>
              <a:rPr sz="800" b="0" i="0">
                <a:solidFill>
                  <a:srgbClr val="ECE7DC"/>
                </a:solidFill>
                <a:latin typeface="Consolas"/>
              </a:rPr>
              <a:t>│       │       └── sweep_self_modify.py</a:t>
            </a:r>
          </a:p>
          <a:p>
            <a:pPr algn="l">
              <a:lnSpc>
                <a:spcPct val="100000"/>
              </a:lnSpc>
            </a:pPr>
            <a:r>
              <a:rPr sz="800" b="0" i="0">
                <a:solidFill>
                  <a:srgbClr val="3BBE93"/>
                </a:solidFill>
                <a:latin typeface="Consolas"/>
              </a:rPr>
              <a:t>│       └── tlamatini-self-update-inclusion/</a:t>
            </a:r>
          </a:p>
          <a:p>
            <a:pPr algn="l">
              <a:lnSpc>
                <a:spcPct val="100000"/>
              </a:lnSpc>
            </a:pPr>
            <a:r>
              <a:rPr sz="800" b="0" i="0">
                <a:solidFill>
                  <a:srgbClr val="ECE7DC"/>
                </a:solidFill>
                <a:latin typeface="Consolas"/>
              </a:rPr>
              <a:t>│           ├── SKILL.md</a:t>
            </a:r>
          </a:p>
          <a:p>
            <a:pPr algn="l">
              <a:lnSpc>
                <a:spcPct val="100000"/>
              </a:lnSpc>
            </a:pPr>
            <a:r>
              <a:rPr sz="800" b="0" i="0">
                <a:solidFill>
                  <a:srgbClr val="3BBE93"/>
                </a:solidFill>
                <a:latin typeface="Consolas"/>
              </a:rPr>
              <a:t>│           └── scripts/</a:t>
            </a:r>
          </a:p>
          <a:p>
            <a:pPr algn="l">
              <a:lnSpc>
                <a:spcPct val="100000"/>
              </a:lnSpc>
            </a:pPr>
            <a:r>
              <a:rPr sz="800" b="0" i="0">
                <a:solidFill>
                  <a:srgbClr val="ECE7DC"/>
                </a:solidFill>
                <a:latin typeface="Consolas"/>
              </a:rPr>
              <a:t>│               └── sweep_self_update.py</a:t>
            </a:r>
          </a:p>
          <a:p>
            <a:pPr algn="l">
              <a:lnSpc>
                <a:spcPct val="100000"/>
              </a:lnSpc>
            </a:pPr>
            <a:r>
              <a:rPr sz="800" b="0" i="0">
                <a:solidFill>
                  <a:srgbClr val="3BBE93"/>
                </a:solidFill>
                <a:latin typeface="Consolas"/>
              </a:rPr>
              <a:t>├── .codex/</a:t>
            </a:r>
          </a:p>
          <a:p>
            <a:pPr algn="l">
              <a:lnSpc>
                <a:spcPct val="100000"/>
              </a:lnSpc>
            </a:pPr>
            <a:r>
              <a:rPr sz="800" b="0" i="0">
                <a:solidFill>
                  <a:srgbClr val="3BBE93"/>
                </a:solidFill>
                <a:latin typeface="Consolas"/>
              </a:rPr>
              <a:t>│   └── skills/</a:t>
            </a:r>
          </a:p>
          <a:p>
            <a:pPr algn="l">
              <a:lnSpc>
                <a:spcPct val="100000"/>
              </a:lnSpc>
            </a:pPr>
            <a:r>
              <a:rPr sz="800" b="0" i="0">
                <a:solidFill>
                  <a:srgbClr val="3BBE93"/>
                </a:solidFill>
                <a:latin typeface="Consolas"/>
              </a:rPr>
              <a:t>│       └── tlamatini-release-validation/</a:t>
            </a:r>
          </a:p>
          <a:p>
            <a:pPr algn="l">
              <a:lnSpc>
                <a:spcPct val="100000"/>
              </a:lnSpc>
            </a:pPr>
            <a:r>
              <a:rPr sz="800" b="0" i="0">
                <a:solidFill>
                  <a:srgbClr val="ECE7DC"/>
                </a:solidFill>
                <a:latin typeface="Consolas"/>
              </a:rPr>
              <a:t>│           ├── SKILL.md</a:t>
            </a:r>
          </a:p>
          <a:p>
            <a:pPr algn="l">
              <a:lnSpc>
                <a:spcPct val="100000"/>
              </a:lnSpc>
            </a:pPr>
            <a:r>
              <a:rPr sz="800" b="0" i="0">
                <a:solidFill>
                  <a:srgbClr val="3BBE93"/>
                </a:solidFill>
                <a:latin typeface="Consolas"/>
              </a:rPr>
              <a:t>│           ├── agents/</a:t>
            </a:r>
          </a:p>
          <a:p>
            <a:pPr algn="l">
              <a:lnSpc>
                <a:spcPct val="100000"/>
              </a:lnSpc>
            </a:pPr>
            <a:r>
              <a:rPr sz="800" b="0" i="0">
                <a:solidFill>
                  <a:srgbClr val="ECE7DC"/>
                </a:solidFill>
                <a:latin typeface="Consolas"/>
              </a:rPr>
              <a:t>│           │   └── openai.yaml</a:t>
            </a:r>
          </a:p>
          <a:p>
            <a:pPr algn="l">
              <a:lnSpc>
                <a:spcPct val="100000"/>
              </a:lnSpc>
            </a:pPr>
            <a:r>
              <a:rPr sz="800" b="0" i="0">
                <a:solidFill>
                  <a:srgbClr val="3BBE93"/>
                </a:solidFill>
                <a:latin typeface="Consolas"/>
              </a:rPr>
              <a:t>│           └── references/</a:t>
            </a:r>
          </a:p>
          <a:p>
            <a:pPr algn="l">
              <a:lnSpc>
                <a:spcPct val="100000"/>
              </a:lnSpc>
            </a:pPr>
            <a:r>
              <a:rPr sz="800" b="0" i="0">
                <a:solidFill>
                  <a:srgbClr val="ECE7DC"/>
                </a:solidFill>
                <a:latin typeface="Consolas"/>
              </a:rPr>
              <a:t>│               └── acceptance-matrix.md</a:t>
            </a:r>
          </a:p>
          <a:p>
            <a:pPr algn="l">
              <a:lnSpc>
                <a:spcPct val="100000"/>
              </a:lnSpc>
            </a:pPr>
            <a:r>
              <a:rPr sz="800" b="0" i="0">
                <a:solidFill>
                  <a:srgbClr val="3BBE93"/>
                </a:solidFill>
                <a:latin typeface="Consolas"/>
              </a:rPr>
              <a:t>├── .gemini/</a:t>
            </a:r>
          </a:p>
          <a:p>
            <a:pPr algn="l">
              <a:lnSpc>
                <a:spcPct val="100000"/>
              </a:lnSpc>
            </a:pPr>
            <a:r>
              <a:rPr sz="800" b="0" i="0">
                <a:solidFill>
                  <a:srgbClr val="3BBE93"/>
                </a:solidFill>
                <a:latin typeface="Consolas"/>
              </a:rPr>
              <a:t>│   └── skills/</a:t>
            </a:r>
          </a:p>
          <a:p>
            <a:pPr algn="l">
              <a:lnSpc>
                <a:spcPct val="100000"/>
              </a:lnSpc>
            </a:pPr>
            <a:r>
              <a:rPr sz="800" b="0" i="0">
                <a:solidFill>
                  <a:srgbClr val="3BBE93"/>
                </a:solidFill>
                <a:latin typeface="Consolas"/>
              </a:rPr>
              <a:t>│       ├── tlamatini-agent-creation/</a:t>
            </a:r>
          </a:p>
          <a:p>
            <a:pPr algn="l">
              <a:lnSpc>
                <a:spcPct val="100000"/>
              </a:lnSpc>
            </a:pPr>
            <a:r>
              <a:rPr sz="800" b="0" i="0">
                <a:solidFill>
                  <a:srgbClr val="ECE7DC"/>
                </a:solidFill>
                <a:latin typeface="Consolas"/>
              </a:rPr>
              <a:t>│       │   └── SKILL.md</a:t>
            </a:r>
          </a:p>
          <a:p>
            <a:pPr algn="l">
              <a:lnSpc>
                <a:spcPct val="100000"/>
              </a:lnSpc>
            </a:pPr>
            <a:r>
              <a:rPr sz="800" b="0" i="0">
                <a:solidFill>
                  <a:srgbClr val="3BBE93"/>
                </a:solidFill>
                <a:latin typeface="Consolas"/>
              </a:rPr>
              <a:t>│       ├── tlamatini-agent-naming/</a:t>
            </a:r>
          </a:p>
          <a:p>
            <a:pPr algn="l">
              <a:lnSpc>
                <a:spcPct val="100000"/>
              </a:lnSpc>
            </a:pPr>
            <a:r>
              <a:rPr sz="800" b="0" i="0">
                <a:solidFill>
                  <a:srgbClr val="ECE7DC"/>
                </a:solidFill>
                <a:latin typeface="Consolas"/>
              </a:rPr>
              <a:t>│       │   └── SKILL.md</a:t>
            </a:r>
          </a:p>
          <a:p>
            <a:pPr algn="l">
              <a:lnSpc>
                <a:spcPct val="100000"/>
              </a:lnSpc>
            </a:pPr>
            <a:r>
              <a:rPr sz="800" b="0" i="0">
                <a:solidFill>
                  <a:srgbClr val="3BBE93"/>
                </a:solidFill>
                <a:latin typeface="Consolas"/>
              </a:rPr>
              <a:t>│       ├── tlamatini-daily-chat-test/</a:t>
            </a:r>
          </a:p>
          <a:p>
            <a:pPr algn="l">
              <a:lnSpc>
                <a:spcPct val="100000"/>
              </a:lnSpc>
            </a:pPr>
            <a:r>
              <a:rPr sz="800" b="0" i="0">
                <a:solidFill>
                  <a:srgbClr val="ECE7DC"/>
                </a:solidFill>
                <a:latin typeface="Consolas"/>
              </a:rPr>
              <a:t>│       │   ├── .gitignore</a:t>
            </a:r>
          </a:p>
          <a:p>
            <a:pPr algn="l">
              <a:lnSpc>
                <a:spcPct val="100000"/>
              </a:lnSpc>
            </a:pPr>
            <a:r>
              <a:rPr sz="800" b="0" i="0">
                <a:solidFill>
                  <a:srgbClr val="ECE7DC"/>
                </a:solidFill>
                <a:latin typeface="Consolas"/>
              </a:rPr>
              <a:t>│       │   ├── SKILL.md</a:t>
            </a:r>
          </a:p>
          <a:p>
            <a:pPr algn="l">
              <a:lnSpc>
                <a:spcPct val="100000"/>
              </a:lnSpc>
            </a:pPr>
            <a:r>
              <a:rPr sz="800" b="0" i="0">
                <a:solidFill>
                  <a:srgbClr val="3BBE93"/>
                </a:solidFill>
                <a:latin typeface="Consolas"/>
              </a:rPr>
              <a:t>│       │   └── harness/</a:t>
            </a:r>
          </a:p>
          <a:p>
            <a:pPr algn="l">
              <a:lnSpc>
                <a:spcPct val="100000"/>
              </a:lnSpc>
            </a:pPr>
            <a:r>
              <a:rPr sz="800" b="0" i="0">
                <a:solidFill>
                  <a:srgbClr val="ECE7DC"/>
                </a:solidFill>
                <a:latin typeface="Consolas"/>
              </a:rPr>
              <a:t>│       │       ├── acp_backend_banner_test.py</a:t>
            </a:r>
          </a:p>
          <a:p>
            <a:pPr algn="l">
              <a:lnSpc>
                <a:spcPct val="100000"/>
              </a:lnSpc>
            </a:pPr>
            <a:r>
              <a:rPr sz="800" b="0" i="0">
                <a:solidFill>
                  <a:srgbClr val="ECE7DC"/>
                </a:solidFill>
                <a:latin typeface="Consolas"/>
              </a:rPr>
              <a:t>│       │       ├── acp_backend_banner_test.py.antes_sho</a:t>
            </a:r>
          </a:p>
          <a:p>
            <a:pPr algn="l">
              <a:lnSpc>
                <a:spcPct val="100000"/>
              </a:lnSpc>
            </a:pPr>
            <a:r>
              <a:rPr sz="800" b="0" i="0">
                <a:solidFill>
                  <a:srgbClr val="ECE7DC"/>
                </a:solidFill>
                <a:latin typeface="Consolas"/>
              </a:rPr>
              <a:t>│       │       │     » ter</a:t>
            </a:r>
          </a:p>
          <a:p>
            <a:pPr algn="l">
              <a:lnSpc>
                <a:spcPct val="100000"/>
              </a:lnSpc>
            </a:pPr>
            <a:r>
              <a:rPr sz="800" b="0" i="0">
                <a:solidFill>
                  <a:srgbClr val="ECE7DC"/>
                </a:solidFill>
                <a:latin typeface="Consolas"/>
              </a:rPr>
              <a:t>│       │       ├── acp_dialog_full_sweep.py</a:t>
            </a:r>
          </a:p>
          <a:p>
            <a:pPr algn="l">
              <a:lnSpc>
                <a:spcPct val="100000"/>
              </a:lnSpc>
            </a:pPr>
            <a:r>
              <a:rPr sz="800" b="0" i="0">
                <a:solidFill>
                  <a:srgbClr val="ECE7DC"/>
                </a:solidFill>
                <a:latin typeface="Consolas"/>
              </a:rPr>
              <a:t>│       │       ├── acp_dialog_theme_visible.py</a:t>
            </a:r>
          </a:p>
          <a:p>
            <a:pPr algn="l">
              <a:lnSpc>
                <a:spcPct val="100000"/>
              </a:lnSpc>
            </a:pPr>
            <a:r>
              <a:rPr sz="800" b="0" i="0">
                <a:solidFill>
                  <a:srgbClr val="ECE7DC"/>
                </a:solidFill>
                <a:latin typeface="Consolas"/>
              </a:rPr>
              <a:t>│       │       ├── ask_execs_regression.py</a:t>
            </a:r>
          </a:p>
          <a:p>
            <a:pPr algn="l">
              <a:lnSpc>
                <a:spcPct val="100000"/>
              </a:lnSpc>
            </a:pPr>
            <a:r>
              <a:rPr sz="800" b="0" i="0">
                <a:solidFill>
                  <a:srgbClr val="ECE7DC"/>
                </a:solidFill>
                <a:latin typeface="Consolas"/>
              </a:rPr>
              <a:t>│       │       ├── ask_execs_regression.py.antes_shoter</a:t>
            </a:r>
          </a:p>
          <a:p>
            <a:pPr algn="l">
              <a:lnSpc>
                <a:spcPct val="100000"/>
              </a:lnSpc>
            </a:pPr>
            <a:r>
              <a:rPr sz="800" b="0" i="0">
                <a:solidFill>
                  <a:srgbClr val="ECE7DC"/>
                </a:solidFill>
                <a:latin typeface="Consolas"/>
              </a:rPr>
              <a:t>│       │       ├── bulk_toggle_behaviour.py</a:t>
            </a:r>
          </a:p>
          <a:p>
            <a:pPr algn="l">
              <a:lnSpc>
                <a:spcPct val="100000"/>
              </a:lnSpc>
            </a:pPr>
            <a:r>
              <a:rPr sz="800" b="0" i="0">
                <a:solidFill>
                  <a:srgbClr val="ECE7DC"/>
                </a:solidFill>
                <a:latin typeface="Consolas"/>
              </a:rPr>
              <a:t>│       │       ├── bulk_toggle_visible.py</a:t>
            </a:r>
          </a:p>
        </p:txBody>
      </p:sp>
      <p:sp>
        <p:nvSpPr>
          <p:cNvPr id="6" name="TextBox 5"/>
          <p:cNvSpPr txBox="1"/>
          <p:nvPr/>
        </p:nvSpPr>
        <p:spPr>
          <a:xfrm>
            <a:off x="4338218" y="1170432"/>
            <a:ext cx="3515258" cy="5084064"/>
          </a:xfrm>
          <a:prstGeom prst="rect">
            <a:avLst/>
          </a:prstGeom>
          <a:noFill/>
        </p:spPr>
        <p:txBody>
          <a:bodyPr wrap="none" lIns="45720" rIns="45720" tIns="27432" bIns="27432" anchor="t">
            <a:noAutofit/>
          </a:bodyPr>
          <a:lstStyle/>
          <a:p>
            <a:pPr algn="l">
              <a:lnSpc>
                <a:spcPct val="100000"/>
              </a:lnSpc>
            </a:pPr>
            <a:r>
              <a:rPr sz="800" b="0" i="0">
                <a:solidFill>
                  <a:srgbClr val="ECE7DC"/>
                </a:solidFill>
                <a:latin typeface="Consolas"/>
              </a:rPr>
              <a:t>│       │       ├── cancel_regression.py</a:t>
            </a:r>
          </a:p>
          <a:p>
            <a:pPr algn="l">
              <a:lnSpc>
                <a:spcPct val="100000"/>
              </a:lnSpc>
            </a:pPr>
            <a:r>
              <a:rPr sz="800" b="0" i="0">
                <a:solidFill>
                  <a:srgbClr val="ECE7DC"/>
                </a:solidFill>
                <a:latin typeface="Consolas"/>
              </a:rPr>
              <a:t>│       │       ├── cancel_regression.py.antes_shoter</a:t>
            </a:r>
          </a:p>
          <a:p>
            <a:pPr algn="l">
              <a:lnSpc>
                <a:spcPct val="100000"/>
              </a:lnSpc>
            </a:pPr>
            <a:r>
              <a:rPr sz="800" b="0" i="0">
                <a:solidFill>
                  <a:srgbClr val="ECE7DC"/>
                </a:solidFill>
                <a:latin typeface="Consolas"/>
              </a:rPr>
              <a:t>│       │       ├── config.py</a:t>
            </a:r>
          </a:p>
          <a:p>
            <a:pPr algn="l">
              <a:lnSpc>
                <a:spcPct val="100000"/>
              </a:lnSpc>
            </a:pPr>
            <a:r>
              <a:rPr sz="800" b="0" i="0">
                <a:solidFill>
                  <a:srgbClr val="ECE7DC"/>
                </a:solidFill>
                <a:latin typeface="Consolas"/>
              </a:rPr>
              <a:t>│       │       ├── cyber_watchdog_test.py</a:t>
            </a:r>
          </a:p>
          <a:p>
            <a:pPr algn="l">
              <a:lnSpc>
                <a:spcPct val="100000"/>
              </a:lnSpc>
            </a:pPr>
            <a:r>
              <a:rPr sz="800" b="0" i="0">
                <a:solidFill>
                  <a:srgbClr val="ECE7DC"/>
                </a:solidFill>
                <a:latin typeface="Consolas"/>
              </a:rPr>
              <a:t>│       │       ├── dialog_policy_visible.py</a:t>
            </a:r>
          </a:p>
          <a:p>
            <a:pPr algn="l">
              <a:lnSpc>
                <a:spcPct val="100000"/>
              </a:lnSpc>
            </a:pPr>
            <a:r>
              <a:rPr sz="800" b="0" i="0">
                <a:solidFill>
                  <a:srgbClr val="ECE7DC"/>
                </a:solidFill>
                <a:latin typeface="Consolas"/>
              </a:rPr>
              <a:t>│       │       ├── dialog_theme_visible.py</a:t>
            </a:r>
          </a:p>
          <a:p>
            <a:pPr algn="l">
              <a:lnSpc>
                <a:spcPct val="100000"/>
              </a:lnSpc>
            </a:pPr>
            <a:r>
              <a:rPr sz="800" b="0" i="0">
                <a:solidFill>
                  <a:srgbClr val="ECE7DC"/>
                </a:solidFill>
                <a:latin typeface="Consolas"/>
              </a:rPr>
              <a:t>│       │       ├── discoverer_1000.py</a:t>
            </a:r>
          </a:p>
          <a:p>
            <a:pPr algn="l">
              <a:lnSpc>
                <a:spcPct val="100000"/>
              </a:lnSpc>
            </a:pPr>
            <a:r>
              <a:rPr sz="800" b="0" i="0">
                <a:solidFill>
                  <a:srgbClr val="ECE7DC"/>
                </a:solidFill>
                <a:latin typeface="Consolas"/>
              </a:rPr>
              <a:t>│       │       ├── discoverer_1000.py.antes_shoter</a:t>
            </a:r>
          </a:p>
          <a:p>
            <a:pPr algn="l">
              <a:lnSpc>
                <a:spcPct val="100000"/>
              </a:lnSpc>
            </a:pPr>
            <a:r>
              <a:rPr sz="800" b="0" i="0">
                <a:solidFill>
                  <a:srgbClr val="ECE7DC"/>
                </a:solidFill>
                <a:latin typeface="Consolas"/>
              </a:rPr>
              <a:t>│       │       ├── flowcreator_wizard_e2e.py</a:t>
            </a:r>
          </a:p>
          <a:p>
            <a:pPr algn="l">
              <a:lnSpc>
                <a:spcPct val="100000"/>
              </a:lnSpc>
            </a:pPr>
            <a:r>
              <a:rPr sz="800" b="0" i="0">
                <a:solidFill>
                  <a:srgbClr val="ECE7DC"/>
                </a:solidFill>
                <a:latin typeface="Consolas"/>
              </a:rPr>
              <a:t>│       │       ├── googler_dork_hunt.py</a:t>
            </a:r>
          </a:p>
          <a:p>
            <a:pPr algn="l">
              <a:lnSpc>
                <a:spcPct val="100000"/>
              </a:lnSpc>
            </a:pPr>
            <a:r>
              <a:rPr sz="800" b="0" i="0">
                <a:solidFill>
                  <a:srgbClr val="ECE7DC"/>
                </a:solidFill>
                <a:latin typeface="Consolas"/>
              </a:rPr>
              <a:t>│       │       ├── latexer_openmp_e2e.py</a:t>
            </a:r>
          </a:p>
          <a:p>
            <a:pPr algn="l">
              <a:lnSpc>
                <a:spcPct val="100000"/>
              </a:lnSpc>
            </a:pPr>
            <a:r>
              <a:rPr sz="800" b="0" i="0">
                <a:solidFill>
                  <a:srgbClr val="ECE7DC"/>
                </a:solidFill>
                <a:latin typeface="Consolas"/>
              </a:rPr>
              <a:t>│       │       ├── latexer_stepbystep_5.py</a:t>
            </a:r>
          </a:p>
          <a:p>
            <a:pPr algn="l">
              <a:lnSpc>
                <a:spcPct val="100000"/>
              </a:lnSpc>
            </a:pPr>
            <a:r>
              <a:rPr sz="800" b="0" i="0">
                <a:solidFill>
                  <a:srgbClr val="ECE7DC"/>
                </a:solidFill>
                <a:latin typeface="Consolas"/>
              </a:rPr>
              <a:t>│       │       ├── mcp_playwright_suite.py</a:t>
            </a:r>
          </a:p>
          <a:p>
            <a:pPr algn="l">
              <a:lnSpc>
                <a:spcPct val="100000"/>
              </a:lnSpc>
            </a:pPr>
            <a:r>
              <a:rPr sz="800" b="0" i="0">
                <a:solidFill>
                  <a:srgbClr val="ECE7DC"/>
                </a:solidFill>
                <a:latin typeface="Consolas"/>
              </a:rPr>
              <a:t>│       │       ├── playwrighter_run.py</a:t>
            </a:r>
          </a:p>
          <a:p>
            <a:pPr algn="l">
              <a:lnSpc>
                <a:spcPct val="100000"/>
              </a:lnSpc>
            </a:pPr>
            <a:r>
              <a:rPr sz="800" b="0" i="0">
                <a:solidFill>
                  <a:srgbClr val="ECE7DC"/>
                </a:solidFill>
                <a:latin typeface="Consolas"/>
              </a:rPr>
              <a:t>│       │       ├── qualify.py</a:t>
            </a:r>
          </a:p>
          <a:p>
            <a:pPr algn="l">
              <a:lnSpc>
                <a:spcPct val="100000"/>
              </a:lnSpc>
            </a:pPr>
            <a:r>
              <a:rPr sz="800" b="0" i="0">
                <a:solidFill>
                  <a:srgbClr val="ECE7DC"/>
                </a:solidFill>
                <a:latin typeface="Consolas"/>
              </a:rPr>
              <a:t>│       │       ├── questions.py</a:t>
            </a:r>
          </a:p>
          <a:p>
            <a:pPr algn="l">
              <a:lnSpc>
                <a:spcPct val="100000"/>
              </a:lnSpc>
            </a:pPr>
            <a:r>
              <a:rPr sz="800" b="0" i="0">
                <a:solidFill>
                  <a:srgbClr val="ECE7DC"/>
                </a:solidFill>
                <a:latin typeface="Consolas"/>
              </a:rPr>
              <a:t>│       │       ├── README.md</a:t>
            </a:r>
          </a:p>
          <a:p>
            <a:pPr algn="l">
              <a:lnSpc>
                <a:spcPct val="100000"/>
              </a:lnSpc>
            </a:pPr>
            <a:r>
              <a:rPr sz="800" b="0" i="0">
                <a:solidFill>
                  <a:srgbClr val="ECE7DC"/>
                </a:solidFill>
                <a:latin typeface="Consolas"/>
              </a:rPr>
              <a:t>│       │       ├── requirements.txt</a:t>
            </a:r>
          </a:p>
          <a:p>
            <a:pPr algn="l">
              <a:lnSpc>
                <a:spcPct val="100000"/>
              </a:lnSpc>
            </a:pPr>
            <a:r>
              <a:rPr sz="800" b="0" i="0">
                <a:solidFill>
                  <a:srgbClr val="ECE7DC"/>
                </a:solidFill>
                <a:latin typeface="Consolas"/>
              </a:rPr>
              <a:t>│       │       ├── run_test.py</a:t>
            </a:r>
          </a:p>
          <a:p>
            <a:pPr algn="l">
              <a:lnSpc>
                <a:spcPct val="100000"/>
              </a:lnSpc>
            </a:pPr>
            <a:r>
              <a:rPr sz="800" b="0" i="0">
                <a:solidFill>
                  <a:srgbClr val="ECE7DC"/>
                </a:solidFill>
                <a:latin typeface="Consolas"/>
              </a:rPr>
              <a:t>│       │       ├── shoter_shot.py</a:t>
            </a:r>
          </a:p>
          <a:p>
            <a:pPr algn="l">
              <a:lnSpc>
                <a:spcPct val="100000"/>
              </a:lnSpc>
            </a:pPr>
            <a:r>
              <a:rPr sz="800" b="0" i="0">
                <a:solidFill>
                  <a:srgbClr val="ECE7DC"/>
                </a:solidFill>
                <a:latin typeface="Consolas"/>
              </a:rPr>
              <a:t>│       │       ├── step_by_step_catalog.py</a:t>
            </a:r>
          </a:p>
          <a:p>
            <a:pPr algn="l">
              <a:lnSpc>
                <a:spcPct val="100000"/>
              </a:lnSpc>
            </a:pPr>
            <a:r>
              <a:rPr sz="800" b="0" i="0">
                <a:solidFill>
                  <a:srgbClr val="ECE7DC"/>
                </a:solidFill>
                <a:latin typeface="Consolas"/>
              </a:rPr>
              <a:t>│       │       ├── step_by_step_catalog.py.antes_shoter</a:t>
            </a:r>
          </a:p>
          <a:p>
            <a:pPr algn="l">
              <a:lnSpc>
                <a:spcPct val="100000"/>
              </a:lnSpc>
            </a:pPr>
            <a:r>
              <a:rPr sz="800" b="0" i="0">
                <a:solidFill>
                  <a:srgbClr val="ECE7DC"/>
                </a:solidFill>
                <a:latin typeface="Consolas"/>
              </a:rPr>
              <a:t>│       │       ├── talk_test.py</a:t>
            </a:r>
          </a:p>
          <a:p>
            <a:pPr algn="l">
              <a:lnSpc>
                <a:spcPct val="100000"/>
              </a:lnSpc>
            </a:pPr>
            <a:r>
              <a:rPr sz="800" b="0" i="0">
                <a:solidFill>
                  <a:srgbClr val="ECE7DC"/>
                </a:solidFill>
                <a:latin typeface="Consolas"/>
              </a:rPr>
              <a:t>│       │       └── wrapped_questions.py</a:t>
            </a:r>
          </a:p>
          <a:p>
            <a:pPr algn="l">
              <a:lnSpc>
                <a:spcPct val="100000"/>
              </a:lnSpc>
            </a:pPr>
            <a:r>
              <a:rPr sz="800" b="0" i="0">
                <a:solidFill>
                  <a:srgbClr val="3BBE93"/>
                </a:solidFill>
                <a:latin typeface="Consolas"/>
              </a:rPr>
              <a:t>│       ├── tlamatini-self-modify-inclusion/</a:t>
            </a:r>
          </a:p>
          <a:p>
            <a:pPr algn="l">
              <a:lnSpc>
                <a:spcPct val="100000"/>
              </a:lnSpc>
            </a:pPr>
            <a:r>
              <a:rPr sz="800" b="0" i="0">
                <a:solidFill>
                  <a:srgbClr val="ECE7DC"/>
                </a:solidFill>
                <a:latin typeface="Consolas"/>
              </a:rPr>
              <a:t>│       │   ├── SKILL.md</a:t>
            </a:r>
          </a:p>
          <a:p>
            <a:pPr algn="l">
              <a:lnSpc>
                <a:spcPct val="100000"/>
              </a:lnSpc>
            </a:pPr>
            <a:r>
              <a:rPr sz="800" b="0" i="0">
                <a:solidFill>
                  <a:srgbClr val="3BBE93"/>
                </a:solidFill>
                <a:latin typeface="Consolas"/>
              </a:rPr>
              <a:t>│       │   └── scripts/</a:t>
            </a:r>
          </a:p>
          <a:p>
            <a:pPr algn="l">
              <a:lnSpc>
                <a:spcPct val="100000"/>
              </a:lnSpc>
            </a:pPr>
            <a:r>
              <a:rPr sz="800" b="0" i="0">
                <a:solidFill>
                  <a:srgbClr val="ECE7DC"/>
                </a:solidFill>
                <a:latin typeface="Consolas"/>
              </a:rPr>
              <a:t>│       │       └── sweep_self_modify.py</a:t>
            </a:r>
          </a:p>
          <a:p>
            <a:pPr algn="l">
              <a:lnSpc>
                <a:spcPct val="100000"/>
              </a:lnSpc>
            </a:pPr>
            <a:r>
              <a:rPr sz="800" b="0" i="0">
                <a:solidFill>
                  <a:srgbClr val="3BBE93"/>
                </a:solidFill>
                <a:latin typeface="Consolas"/>
              </a:rPr>
              <a:t>│       └── tlamatini-self-update-inclusion/</a:t>
            </a:r>
          </a:p>
          <a:p>
            <a:pPr algn="l">
              <a:lnSpc>
                <a:spcPct val="100000"/>
              </a:lnSpc>
            </a:pPr>
            <a:r>
              <a:rPr sz="800" b="0" i="0">
                <a:solidFill>
                  <a:srgbClr val="ECE7DC"/>
                </a:solidFill>
                <a:latin typeface="Consolas"/>
              </a:rPr>
              <a:t>│           ├── SKILL.md</a:t>
            </a:r>
          </a:p>
          <a:p>
            <a:pPr algn="l">
              <a:lnSpc>
                <a:spcPct val="100000"/>
              </a:lnSpc>
            </a:pPr>
            <a:r>
              <a:rPr sz="800" b="0" i="0">
                <a:solidFill>
                  <a:srgbClr val="3BBE93"/>
                </a:solidFill>
                <a:latin typeface="Consolas"/>
              </a:rPr>
              <a:t>│           └── scripts/</a:t>
            </a:r>
          </a:p>
          <a:p>
            <a:pPr algn="l">
              <a:lnSpc>
                <a:spcPct val="100000"/>
              </a:lnSpc>
            </a:pPr>
            <a:r>
              <a:rPr sz="800" b="0" i="0">
                <a:solidFill>
                  <a:srgbClr val="ECE7DC"/>
                </a:solidFill>
                <a:latin typeface="Consolas"/>
              </a:rPr>
              <a:t>│               └── sweep_self_update.py</a:t>
            </a:r>
          </a:p>
          <a:p>
            <a:pPr algn="l">
              <a:lnSpc>
                <a:spcPct val="100000"/>
              </a:lnSpc>
            </a:pPr>
            <a:r>
              <a:rPr sz="800" b="0" i="0">
                <a:solidFill>
                  <a:srgbClr val="3BBE93"/>
                </a:solidFill>
                <a:latin typeface="Consolas"/>
              </a:rPr>
              <a:t>├── .github/</a:t>
            </a:r>
          </a:p>
          <a:p>
            <a:pPr algn="l">
              <a:lnSpc>
                <a:spcPct val="100000"/>
              </a:lnSpc>
            </a:pPr>
            <a:r>
              <a:rPr sz="800" b="0" i="0">
                <a:solidFill>
                  <a:srgbClr val="3BBE93"/>
                </a:solidFill>
                <a:latin typeface="Consolas"/>
              </a:rPr>
              <a:t>│   └── workflows/</a:t>
            </a:r>
          </a:p>
          <a:p>
            <a:pPr algn="l">
              <a:lnSpc>
                <a:spcPct val="100000"/>
              </a:lnSpc>
            </a:pPr>
            <a:r>
              <a:rPr sz="800" b="0" i="0">
                <a:solidFill>
                  <a:srgbClr val="ECE7DC"/>
                </a:solidFill>
                <a:latin typeface="Consolas"/>
              </a:rPr>
              <a:t>│       └── name-guard.yml</a:t>
            </a:r>
          </a:p>
          <a:p>
            <a:pPr algn="l">
              <a:lnSpc>
                <a:spcPct val="100000"/>
              </a:lnSpc>
            </a:pPr>
            <a:r>
              <a:rPr sz="800" b="0" i="0">
                <a:solidFill>
                  <a:srgbClr val="3BBE93"/>
                </a:solidFill>
                <a:latin typeface="Consolas"/>
              </a:rPr>
              <a:t>├── .scanning/</a:t>
            </a:r>
          </a:p>
          <a:p>
            <a:pPr algn="l">
              <a:lnSpc>
                <a:spcPct val="100000"/>
              </a:lnSpc>
            </a:pPr>
            <a:r>
              <a:rPr sz="800" b="0" i="0">
                <a:solidFill>
                  <a:srgbClr val="ECE7DC"/>
                </a:solidFill>
                <a:latin typeface="Consolas"/>
              </a:rPr>
              <a:t>│   └── finding-policy.json</a:t>
            </a:r>
          </a:p>
          <a:p>
            <a:pPr algn="l">
              <a:lnSpc>
                <a:spcPct val="100000"/>
              </a:lnSpc>
            </a:pPr>
            <a:r>
              <a:rPr sz="800" b="0" i="0">
                <a:solidFill>
                  <a:srgbClr val="3BBE93"/>
                </a:solidFill>
                <a:latin typeface="Consolas"/>
              </a:rPr>
              <a:t>├── AuxTests/</a:t>
            </a:r>
          </a:p>
          <a:p>
            <a:pPr algn="l">
              <a:lnSpc>
                <a:spcPct val="100000"/>
              </a:lnSpc>
            </a:pPr>
            <a:r>
              <a:rPr sz="800" b="0" i="0">
                <a:solidFill>
                  <a:srgbClr val="ECE7DC"/>
                </a:solidFill>
                <a:latin typeface="Consolas"/>
              </a:rPr>
              <a:t>│   └── mypdf2.py</a:t>
            </a:r>
          </a:p>
          <a:p>
            <a:pPr algn="l">
              <a:lnSpc>
                <a:spcPct val="100000"/>
              </a:lnSpc>
            </a:pPr>
            <a:r>
              <a:rPr sz="800" b="0" i="0">
                <a:solidFill>
                  <a:srgbClr val="3BBE93"/>
                </a:solidFill>
                <a:latin typeface="Consolas"/>
              </a:rPr>
              <a:t>├── docs/</a:t>
            </a:r>
          </a:p>
          <a:p>
            <a:pPr algn="l">
              <a:lnSpc>
                <a:spcPct val="100000"/>
              </a:lnSpc>
            </a:pPr>
            <a:r>
              <a:rPr sz="800" b="0" i="0">
                <a:solidFill>
                  <a:srgbClr val="ECE7DC"/>
                </a:solidFill>
                <a:latin typeface="Consolas"/>
              </a:rPr>
              <a:t>│   ├── agent-coverage.md</a:t>
            </a:r>
          </a:p>
        </p:txBody>
      </p:sp>
      <p:sp>
        <p:nvSpPr>
          <p:cNvPr id="7" name="TextBox 6"/>
          <p:cNvSpPr txBox="1"/>
          <p:nvPr/>
        </p:nvSpPr>
        <p:spPr>
          <a:xfrm>
            <a:off x="8109508" y="1170432"/>
            <a:ext cx="3515258" cy="5084064"/>
          </a:xfrm>
          <a:prstGeom prst="rect">
            <a:avLst/>
          </a:prstGeom>
          <a:noFill/>
        </p:spPr>
        <p:txBody>
          <a:bodyPr wrap="none" lIns="45720" rIns="45720" tIns="27432" bIns="27432" anchor="t">
            <a:noAutofit/>
          </a:bodyPr>
          <a:lstStyle/>
          <a:p>
            <a:pPr algn="l">
              <a:lnSpc>
                <a:spcPct val="100000"/>
              </a:lnSpc>
            </a:pPr>
            <a:r>
              <a:rPr sz="800" b="0" i="0">
                <a:solidFill>
                  <a:srgbClr val="ECE7DC"/>
                </a:solidFill>
                <a:latin typeface="Consolas"/>
              </a:rPr>
              <a:t>│   ├── build-root-assets-verification.md</a:t>
            </a:r>
          </a:p>
          <a:p>
            <a:pPr algn="l">
              <a:lnSpc>
                <a:spcPct val="100000"/>
              </a:lnSpc>
            </a:pPr>
            <a:r>
              <a:rPr sz="800" b="0" i="0">
                <a:solidFill>
                  <a:srgbClr val="ECE7DC"/>
                </a:solidFill>
                <a:latin typeface="Consolas"/>
              </a:rPr>
              <a:t>│   ├── canvas-and-interactor-quick-reference.txt</a:t>
            </a:r>
          </a:p>
          <a:p>
            <a:pPr algn="l">
              <a:lnSpc>
                <a:spcPct val="100000"/>
              </a:lnSpc>
            </a:pPr>
            <a:r>
              <a:rPr sz="800" b="0" i="0">
                <a:solidFill>
                  <a:srgbClr val="ECE7DC"/>
                </a:solidFill>
                <a:latin typeface="Consolas"/>
              </a:rPr>
              <a:t>│   ├── canvas-editing.md</a:t>
            </a:r>
          </a:p>
          <a:p>
            <a:pPr algn="l">
              <a:lnSpc>
                <a:spcPct val="100000"/>
              </a:lnSpc>
            </a:pPr>
            <a:r>
              <a:rPr sz="800" b="0" i="0">
                <a:solidFill>
                  <a:srgbClr val="ECE7DC"/>
                </a:solidFill>
                <a:latin typeface="Consolas"/>
              </a:rPr>
              <a:t>│   ├── canvas-refresh.md</a:t>
            </a:r>
          </a:p>
          <a:p>
            <a:pPr algn="l">
              <a:lnSpc>
                <a:spcPct val="100000"/>
              </a:lnSpc>
            </a:pPr>
            <a:r>
              <a:rPr sz="800" b="0" i="0">
                <a:solidFill>
                  <a:srgbClr val="ECE7DC"/>
                </a:solidFill>
                <a:latin typeface="Consolas"/>
              </a:rPr>
              <a:t>│   ├── chat-microphone-design.md</a:t>
            </a:r>
          </a:p>
          <a:p>
            <a:pPr algn="l">
              <a:lnSpc>
                <a:spcPct val="100000"/>
              </a:lnSpc>
            </a:pPr>
            <a:r>
              <a:rPr sz="800" b="0" i="0">
                <a:solidFill>
                  <a:srgbClr val="ECE7DC"/>
                </a:solidFill>
                <a:latin typeface="Consolas"/>
              </a:rPr>
              <a:t>│   ├── companion-app-discovery.md</a:t>
            </a:r>
          </a:p>
          <a:p>
            <a:pPr algn="l">
              <a:lnSpc>
                <a:spcPct val="100000"/>
              </a:lnSpc>
            </a:pPr>
            <a:r>
              <a:rPr sz="800" b="0" i="0">
                <a:solidFill>
                  <a:srgbClr val="ECE7DC"/>
                </a:solidFill>
                <a:latin typeface="Consolas"/>
              </a:rPr>
              <a:t>│   ├── dependency-coverage-audit.md</a:t>
            </a:r>
          </a:p>
          <a:p>
            <a:pPr algn="l">
              <a:lnSpc>
                <a:spcPct val="100000"/>
              </a:lnSpc>
            </a:pPr>
            <a:r>
              <a:rPr sz="800" b="0" i="0">
                <a:solidFill>
                  <a:srgbClr val="ECE7DC"/>
                </a:solidFill>
                <a:latin typeface="Consolas"/>
              </a:rPr>
              <a:t>│   ├── desktop-input-and-flow-contracts.md</a:t>
            </a:r>
          </a:p>
          <a:p>
            <a:pPr algn="l">
              <a:lnSpc>
                <a:spcPct val="100000"/>
              </a:lnSpc>
            </a:pPr>
            <a:r>
              <a:rPr sz="800" b="0" i="0">
                <a:solidFill>
                  <a:srgbClr val="ECE7DC"/>
                </a:solidFill>
                <a:latin typeface="Consolas"/>
              </a:rPr>
              <a:t>│   ├── external_mcp_bulletproof_architecture.md</a:t>
            </a:r>
          </a:p>
          <a:p>
            <a:pPr algn="l">
              <a:lnSpc>
                <a:spcPct val="100000"/>
              </a:lnSpc>
            </a:pPr>
            <a:r>
              <a:rPr sz="800" b="0" i="0">
                <a:solidFill>
                  <a:srgbClr val="ECE7DC"/>
                </a:solidFill>
                <a:latin typeface="Consolas"/>
              </a:rPr>
              <a:t>│   ├── GUI-Manager-design.md</a:t>
            </a:r>
          </a:p>
          <a:p>
            <a:pPr algn="l">
              <a:lnSpc>
                <a:spcPct val="100000"/>
              </a:lnSpc>
            </a:pPr>
            <a:r>
              <a:rPr sz="800" b="0" i="0">
                <a:solidFill>
                  <a:srgbClr val="ECE7DC"/>
                </a:solidFill>
                <a:latin typeface="Consolas"/>
              </a:rPr>
              <a:t>│   ├── interaction-settings.md</a:t>
            </a:r>
          </a:p>
          <a:p>
            <a:pPr algn="l">
              <a:lnSpc>
                <a:spcPct val="100000"/>
              </a:lnSpc>
            </a:pPr>
            <a:r>
              <a:rPr sz="800" b="0" i="0">
                <a:solidFill>
                  <a:srgbClr val="ECE7DC"/>
                </a:solidFill>
                <a:latin typeface="Consolas"/>
              </a:rPr>
              <a:t>│   ├── interactor.md</a:t>
            </a:r>
          </a:p>
          <a:p>
            <a:pPr algn="l">
              <a:lnSpc>
                <a:spcPct val="100000"/>
              </a:lnSpc>
            </a:pPr>
            <a:r>
              <a:rPr sz="800" b="0" i="0">
                <a:solidFill>
                  <a:srgbClr val="ECE7DC"/>
                </a:solidFill>
                <a:latin typeface="Consolas"/>
              </a:rPr>
              <a:t>│   ├── markdown-canvas.md</a:t>
            </a:r>
          </a:p>
          <a:p>
            <a:pPr algn="l">
              <a:lnSpc>
                <a:spcPct val="100000"/>
              </a:lnSpc>
            </a:pPr>
            <a:r>
              <a:rPr sz="800" b="0" i="0">
                <a:solidFill>
                  <a:srgbClr val="ECE7DC"/>
                </a:solidFill>
                <a:latin typeface="Consolas"/>
              </a:rPr>
              <a:t>│   ├── model-configuration-verification.md</a:t>
            </a:r>
          </a:p>
          <a:p>
            <a:pPr algn="l">
              <a:lnSpc>
                <a:spcPct val="100000"/>
              </a:lnSpc>
            </a:pPr>
            <a:r>
              <a:rPr sz="800" b="0" i="0">
                <a:solidFill>
                  <a:srgbClr val="ECE7DC"/>
                </a:solidFill>
                <a:latin typeface="Consolas"/>
              </a:rPr>
              <a:t>│   ├── model_configuration.md</a:t>
            </a:r>
          </a:p>
          <a:p>
            <a:pPr algn="l">
              <a:lnSpc>
                <a:spcPct val="100000"/>
              </a:lnSpc>
            </a:pPr>
            <a:r>
              <a:rPr sz="800" b="0" i="0">
                <a:solidFill>
                  <a:srgbClr val="ECE7DC"/>
                </a:solidFill>
                <a:latin typeface="Consolas"/>
              </a:rPr>
              <a:t>│   ├── oob-namu-lifecycle.md</a:t>
            </a:r>
          </a:p>
          <a:p>
            <a:pPr algn="l">
              <a:lnSpc>
                <a:spcPct val="100000"/>
              </a:lnSpc>
            </a:pPr>
            <a:r>
              <a:rPr sz="800" b="0" i="0">
                <a:solidFill>
                  <a:srgbClr val="ECE7DC"/>
                </a:solidFill>
                <a:latin typeface="Consolas"/>
              </a:rPr>
              <a:t>│   ├── pdf-canvas.md</a:t>
            </a:r>
          </a:p>
          <a:p>
            <a:pPr algn="l">
              <a:lnSpc>
                <a:spcPct val="100000"/>
              </a:lnSpc>
            </a:pPr>
            <a:r>
              <a:rPr sz="800" b="0" i="0">
                <a:solidFill>
                  <a:srgbClr val="ECE7DC"/>
                </a:solidFill>
                <a:latin typeface="Consolas"/>
              </a:rPr>
              <a:t>│   ├── prompting-flow-designer.md</a:t>
            </a:r>
          </a:p>
          <a:p>
            <a:pPr algn="l">
              <a:lnSpc>
                <a:spcPct val="100000"/>
              </a:lnSpc>
            </a:pPr>
            <a:r>
              <a:rPr sz="800" b="0" i="0">
                <a:solidFill>
                  <a:srgbClr val="ECE7DC"/>
                </a:solidFill>
                <a:latin typeface="Consolas"/>
              </a:rPr>
              <a:t>│   ├── self-management-carriage.md</a:t>
            </a:r>
          </a:p>
          <a:p>
            <a:pPr algn="l">
              <a:lnSpc>
                <a:spcPct val="100000"/>
              </a:lnSpc>
            </a:pPr>
            <a:r>
              <a:rPr sz="800" b="0" i="0">
                <a:solidFill>
                  <a:srgbClr val="ECE7DC"/>
                </a:solidFill>
                <a:latin typeface="Consolas"/>
              </a:rPr>
              <a:t>│   ├── setup-lifecycle-research.md</a:t>
            </a:r>
          </a:p>
          <a:p>
            <a:pPr algn="l">
              <a:lnSpc>
                <a:spcPct val="100000"/>
              </a:lnSpc>
            </a:pPr>
            <a:r>
              <a:rPr sz="800" b="0" i="0">
                <a:solidFill>
                  <a:srgbClr val="ECE7DC"/>
                </a:solidFill>
                <a:latin typeface="Consolas"/>
              </a:rPr>
              <a:t>│   ├── setup-wizards.md</a:t>
            </a:r>
          </a:p>
          <a:p>
            <a:pPr algn="l">
              <a:lnSpc>
                <a:spcPct val="100000"/>
              </a:lnSpc>
            </a:pPr>
            <a:r>
              <a:rPr sz="800" b="0" i="0">
                <a:solidFill>
                  <a:srgbClr val="ECE7DC"/>
                </a:solidFill>
                <a:latin typeface="Consolas"/>
              </a:rPr>
              <a:t>│   ├── stm32er_all_families_proposal.md</a:t>
            </a:r>
          </a:p>
          <a:p>
            <a:pPr algn="l">
              <a:lnSpc>
                <a:spcPct val="100000"/>
              </a:lnSpc>
            </a:pPr>
            <a:r>
              <a:rPr sz="800" b="0" i="0">
                <a:solidFill>
                  <a:srgbClr val="ECE7DC"/>
                </a:solidFill>
                <a:latin typeface="Consolas"/>
              </a:rPr>
              <a:t>│   ├── terminater.md</a:t>
            </a:r>
          </a:p>
          <a:p>
            <a:pPr algn="l">
              <a:lnSpc>
                <a:spcPct val="100000"/>
              </a:lnSpc>
            </a:pPr>
            <a:r>
              <a:rPr sz="800" b="0" i="0">
                <a:solidFill>
                  <a:srgbClr val="ECE7DC"/>
                </a:solidFill>
                <a:latin typeface="Consolas"/>
              </a:rPr>
              <a:t>│   ├── usage-dashboard.md</a:t>
            </a:r>
          </a:p>
          <a:p>
            <a:pPr algn="l">
              <a:lnSpc>
                <a:spcPct val="100000"/>
              </a:lnSpc>
            </a:pPr>
            <a:r>
              <a:rPr sz="800" b="0" i="0">
                <a:solidFill>
                  <a:srgbClr val="ECE7DC"/>
                </a:solidFill>
                <a:latin typeface="Consolas"/>
              </a:rPr>
              <a:t>│   ├── user-creation-wizard.md</a:t>
            </a:r>
          </a:p>
          <a:p>
            <a:pPr algn="l">
              <a:lnSpc>
                <a:spcPct val="100000"/>
              </a:lnSpc>
            </a:pPr>
            <a:r>
              <a:rPr sz="800" b="0" i="0">
                <a:solidFill>
                  <a:srgbClr val="ECE7DC"/>
                </a:solidFill>
                <a:latin typeface="Consolas"/>
              </a:rPr>
              <a:t>│   ├── visual-analysis-errors.md</a:t>
            </a:r>
          </a:p>
          <a:p>
            <a:pPr algn="l">
              <a:lnSpc>
                <a:spcPct val="100000"/>
              </a:lnSpc>
            </a:pPr>
            <a:r>
              <a:rPr sz="800" b="0" i="0">
                <a:solidFill>
                  <a:srgbClr val="ECE7DC"/>
                </a:solidFill>
                <a:latin typeface="Consolas"/>
              </a:rPr>
              <a:t>│   ├── windows-flow-files.md</a:t>
            </a:r>
          </a:p>
          <a:p>
            <a:pPr algn="l">
              <a:lnSpc>
                <a:spcPct val="100000"/>
              </a:lnSpc>
            </a:pPr>
            <a:r>
              <a:rPr sz="800" b="0" i="0">
                <a:solidFill>
                  <a:srgbClr val="3BBE93"/>
                </a:solidFill>
                <a:latin typeface="Consolas"/>
              </a:rPr>
              <a:t>│   ├── assets/</a:t>
            </a:r>
          </a:p>
          <a:p>
            <a:pPr algn="l">
              <a:lnSpc>
                <a:spcPct val="100000"/>
              </a:lnSpc>
            </a:pPr>
            <a:r>
              <a:rPr sz="800" b="0" i="0">
                <a:solidFill>
                  <a:srgbClr val="ECE7DC"/>
                </a:solidFill>
                <a:latin typeface="Consolas"/>
              </a:rPr>
              <a:t>│   │   └── readme-hero.svg</a:t>
            </a:r>
          </a:p>
          <a:p>
            <a:pPr algn="l">
              <a:lnSpc>
                <a:spcPct val="100000"/>
              </a:lnSpc>
            </a:pPr>
            <a:r>
              <a:rPr sz="800" b="0" i="0">
                <a:solidFill>
                  <a:srgbClr val="3BBE93"/>
                </a:solidFill>
                <a:latin typeface="Consolas"/>
              </a:rPr>
              <a:t>│   ├── changes/</a:t>
            </a:r>
          </a:p>
          <a:p>
            <a:pPr algn="l">
              <a:lnSpc>
                <a:spcPct val="100000"/>
              </a:lnSpc>
            </a:pPr>
            <a:r>
              <a:rPr sz="800" b="0" i="0">
                <a:solidFill>
                  <a:srgbClr val="ECE7DC"/>
                </a:solidFill>
                <a:latin typeface="Consolas"/>
              </a:rPr>
              <a:t>│   │   ├── 2026-10-03-prompt-commentary-input.md</a:t>
            </a:r>
          </a:p>
          <a:p>
            <a:pPr algn="l">
              <a:lnSpc>
                <a:spcPct val="100000"/>
              </a:lnSpc>
            </a:pPr>
            <a:r>
              <a:rPr sz="800" b="0" i="0">
                <a:solidFill>
                  <a:srgbClr val="ECE7DC"/>
                </a:solidFill>
                <a:latin typeface="Consolas"/>
              </a:rPr>
              <a:t>│   │   ├── 2026-10-03-prompt-commentary-input.patch</a:t>
            </a:r>
          </a:p>
          <a:p>
            <a:pPr algn="l">
              <a:lnSpc>
                <a:spcPct val="100000"/>
              </a:lnSpc>
            </a:pPr>
            <a:r>
              <a:rPr sz="800" b="0" i="0">
                <a:solidFill>
                  <a:srgbClr val="ECE7DC"/>
                </a:solidFill>
                <a:latin typeface="Consolas"/>
              </a:rPr>
              <a:t>│   │   ├── 2026-10-03-prompt-flow-documentation.md</a:t>
            </a:r>
          </a:p>
          <a:p>
            <a:pPr algn="l">
              <a:lnSpc>
                <a:spcPct val="100000"/>
              </a:lnSpc>
            </a:pPr>
            <a:r>
              <a:rPr sz="800" b="0" i="0">
                <a:solidFill>
                  <a:srgbClr val="ECE7DC"/>
                </a:solidFill>
                <a:latin typeface="Consolas"/>
              </a:rPr>
              <a:t>│   │   ├── 2026-10-03-prompt-flow-documentation.patch</a:t>
            </a:r>
          </a:p>
          <a:p>
            <a:pPr algn="l">
              <a:lnSpc>
                <a:spcPct val="100000"/>
              </a:lnSpc>
            </a:pPr>
            <a:r>
              <a:rPr sz="800" b="0" i="0">
                <a:solidFill>
                  <a:srgbClr val="ECE7DC"/>
                </a:solidFill>
                <a:latin typeface="Consolas"/>
              </a:rPr>
              <a:t>│   │   ├── 2026-10-04-commentary-graphical-redesign.md</a:t>
            </a:r>
          </a:p>
          <a:p>
            <a:pPr algn="l">
              <a:lnSpc>
                <a:spcPct val="100000"/>
              </a:lnSpc>
            </a:pPr>
            <a:r>
              <a:rPr sz="800" b="0" i="0">
                <a:solidFill>
                  <a:srgbClr val="ECE7DC"/>
                </a:solidFill>
                <a:latin typeface="Consolas"/>
              </a:rPr>
              <a:t>│   │   ├── 2026-10-04-commentary-graphical-redesign.pat</a:t>
            </a:r>
          </a:p>
          <a:p>
            <a:pPr algn="l">
              <a:lnSpc>
                <a:spcPct val="100000"/>
              </a:lnSpc>
            </a:pPr>
            <a:r>
              <a:rPr sz="800" b="0" i="0">
                <a:solidFill>
                  <a:srgbClr val="ECE7DC"/>
                </a:solidFill>
                <a:latin typeface="Consolas"/>
              </a:rPr>
              <a:t>│   │   │     » ch</a:t>
            </a:r>
          </a:p>
          <a:p>
            <a:pPr algn="l">
              <a:lnSpc>
                <a:spcPct val="100000"/>
              </a:lnSpc>
            </a:pPr>
            <a:r>
              <a:rPr sz="800" b="0" i="0">
                <a:solidFill>
                  <a:srgbClr val="ECE7DC"/>
                </a:solidFill>
                <a:latin typeface="Consolas"/>
              </a:rPr>
              <a:t>│   │   ├── 2026-10-04-prompt-flow-documentation.md</a:t>
            </a:r>
          </a:p>
          <a:p>
            <a:pPr algn="l">
              <a:lnSpc>
                <a:spcPct val="100000"/>
              </a:lnSpc>
            </a:pPr>
            <a:r>
              <a:rPr sz="800" b="0" i="0">
                <a:solidFill>
                  <a:srgbClr val="ECE7DC"/>
                </a:solidFill>
                <a:latin typeface="Consolas"/>
              </a:rPr>
              <a:t>│   │   ├── 2026-10-04-release-validation.md</a:t>
            </a:r>
          </a:p>
          <a:p>
            <a:pPr algn="l">
              <a:lnSpc>
                <a:spcPct val="100000"/>
              </a:lnSpc>
            </a:pPr>
            <a:r>
              <a:rPr sz="800" b="0" i="0">
                <a:solidFill>
                  <a:srgbClr val="ECE7DC"/>
                </a:solidFill>
                <a:latin typeface="Consolas"/>
              </a:rPr>
              <a:t>│   │   ├── 2026-10-04-run-output-resize.md</a:t>
            </a:r>
          </a:p>
          <a:p>
            <a:pPr algn="l">
              <a:lnSpc>
                <a:spcPct val="100000"/>
              </a:lnSpc>
            </a:pPr>
            <a:r>
              <a:rPr sz="800" b="0" i="0">
                <a:solidFill>
                  <a:srgbClr val="ECE7DC"/>
                </a:solidFill>
                <a:latin typeface="Consolas"/>
              </a:rPr>
              <a:t>│   │   ├── 2026-10-04-run-output-resize.patch</a:t>
            </a:r>
          </a:p>
        </p:txBody>
      </p:sp>
      <p:cxnSp>
        <p:nvCxnSpPr>
          <p:cNvPr id="8" name="Connector 7"/>
          <p:cNvCxnSpPr/>
          <p:nvPr/>
        </p:nvCxnSpPr>
        <p:spPr>
          <a:xfrm>
            <a:off x="566928" y="6373368"/>
            <a:ext cx="11057839" cy="0"/>
          </a:xfrm>
          <a:prstGeom prst="line">
            <a:avLst/>
          </a:prstGeom>
          <a:ln w="7620">
            <a:solidFill>
              <a:srgbClr val="2A3A40"/>
            </a:solidFill>
          </a:ln>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566928" y="6419088"/>
            <a:ext cx="6858000" cy="274320"/>
          </a:xfrm>
          <a:prstGeom prst="rect">
            <a:avLst/>
          </a:prstGeom>
          <a:noFill/>
        </p:spPr>
        <p:txBody>
          <a:bodyPr wrap="square" lIns="45720" rIns="45720" tIns="27432" bIns="27432" anchor="t">
            <a:noAutofit/>
          </a:bodyPr>
          <a:lstStyle/>
          <a:p>
            <a:pPr algn="l">
              <a:lnSpc>
                <a:spcPct val="100000"/>
              </a:lnSpc>
            </a:pPr>
            <a:r>
              <a:rPr sz="850" b="0" i="0" spc="120">
                <a:solidFill>
                  <a:srgbClr val="A7B2B0"/>
                </a:solidFill>
                <a:latin typeface="Segoe UI Semibold"/>
              </a:rPr>
              <a:t>TLAMATINI  ·  APÉNDICE A · ÁRBOL DE ARCHIVOS</a:t>
            </a:r>
          </a:p>
        </p:txBody>
      </p:sp>
      <p:sp>
        <p:nvSpPr>
          <p:cNvPr id="10" name="TextBox 9"/>
          <p:cNvSpPr txBox="1"/>
          <p:nvPr/>
        </p:nvSpPr>
        <p:spPr>
          <a:xfrm>
            <a:off x="8698687" y="6419088"/>
            <a:ext cx="2926080" cy="274320"/>
          </a:xfrm>
          <a:prstGeom prst="rect">
            <a:avLst/>
          </a:prstGeom>
          <a:noFill/>
        </p:spPr>
        <p:txBody>
          <a:bodyPr wrap="square" lIns="45720" rIns="45720" tIns="27432" bIns="27432" anchor="t">
            <a:noAutofit/>
          </a:bodyPr>
          <a:lstStyle/>
          <a:p>
            <a:pPr algn="r">
              <a:lnSpc>
                <a:spcPct val="100000"/>
              </a:lnSpc>
            </a:pPr>
            <a:r>
              <a:rPr sz="850" b="0" i="0" spc="100">
                <a:solidFill>
                  <a:srgbClr val="A7B2B0"/>
                </a:solidFill>
                <a:latin typeface="Segoe UI Semibold"/>
              </a:rPr>
              <a:t>v1.91.1   ·   177</a:t>
            </a:r>
          </a:p>
        </p:txBody>
      </p:sp>
    </p:spTree>
  </p:cSld>
  <p:clrMapOvr>
    <a:masterClrMapping/>
  </p:clrMapOvr>
</p:sld>
</file>

<file path=ppt/slides/slide17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appendix.png"/>
          <p:cNvPicPr>
            <a:picLocks noChangeAspect="1"/>
          </p:cNvPicPr>
          <p:nvPr/>
        </p:nvPicPr>
        <p:blipFill>
          <a:blip r:embed="rId2"/>
          <a:stretch>
            <a:fillRect/>
          </a:stretch>
        </p:blipFill>
        <p:spPr>
          <a:xfrm>
            <a:off x="0" y="0"/>
            <a:ext cx="12191695" cy="6858000"/>
          </a:xfrm>
          <a:prstGeom prst="rect">
            <a:avLst/>
          </a:prstGeom>
        </p:spPr>
      </p:pic>
      <p:sp>
        <p:nvSpPr>
          <p:cNvPr id="3" name="TextBox 2"/>
          <p:cNvSpPr txBox="1"/>
          <p:nvPr/>
        </p:nvSpPr>
        <p:spPr>
          <a:xfrm>
            <a:off x="566928" y="384048"/>
            <a:ext cx="8686800" cy="329184"/>
          </a:xfrm>
          <a:prstGeom prst="rect">
            <a:avLst/>
          </a:prstGeom>
          <a:noFill/>
        </p:spPr>
        <p:txBody>
          <a:bodyPr wrap="square" lIns="45720" rIns="45720" tIns="27432" bIns="27432" anchor="t">
            <a:noAutofit/>
          </a:bodyPr>
          <a:lstStyle/>
          <a:p>
            <a:pPr algn="l">
              <a:lnSpc>
                <a:spcPct val="100000"/>
              </a:lnSpc>
            </a:pPr>
            <a:r>
              <a:rPr sz="1100" b="0" i="0" spc="200">
                <a:solidFill>
                  <a:srgbClr val="C98457"/>
                </a:solidFill>
                <a:latin typeface="Segoe UI Semibold"/>
              </a:rPr>
              <a:t>APÉNDICE A  ·  ÁRBOL DE ARCHIVOS DE LA APLICACIÓN  ·  4 / 20</a:t>
            </a:r>
          </a:p>
        </p:txBody>
      </p:sp>
      <p:sp>
        <p:nvSpPr>
          <p:cNvPr id="4" name="TextBox 3"/>
          <p:cNvSpPr txBox="1"/>
          <p:nvPr/>
        </p:nvSpPr>
        <p:spPr>
          <a:xfrm>
            <a:off x="566928" y="731520"/>
            <a:ext cx="11057839" cy="384048"/>
          </a:xfrm>
          <a:prstGeom prst="rect">
            <a:avLst/>
          </a:prstGeom>
          <a:noFill/>
        </p:spPr>
        <p:txBody>
          <a:bodyPr wrap="square" lIns="45720" rIns="45720" tIns="27432" bIns="27432" anchor="t">
            <a:noAutofit/>
          </a:bodyPr>
          <a:lstStyle/>
          <a:p>
            <a:pPr algn="l">
              <a:lnSpc>
                <a:spcPct val="100000"/>
              </a:lnSpc>
            </a:pPr>
            <a:r>
              <a:rPr sz="1300" b="0" i="0">
                <a:solidFill>
                  <a:srgbClr val="A7B2B0"/>
                </a:solidFill>
                <a:latin typeface="Segoe UI"/>
              </a:rPr>
              <a:t>1,898 archivos listados en el commit 21b0a5c; 221 archivos de la historia de la base de datos resumidos.</a:t>
            </a:r>
          </a:p>
        </p:txBody>
      </p:sp>
      <p:sp>
        <p:nvSpPr>
          <p:cNvPr id="5" name="TextBox 4"/>
          <p:cNvSpPr txBox="1"/>
          <p:nvPr/>
        </p:nvSpPr>
        <p:spPr>
          <a:xfrm>
            <a:off x="566928" y="1170432"/>
            <a:ext cx="3515258" cy="5084064"/>
          </a:xfrm>
          <a:prstGeom prst="rect">
            <a:avLst/>
          </a:prstGeom>
          <a:noFill/>
        </p:spPr>
        <p:txBody>
          <a:bodyPr wrap="none" lIns="45720" rIns="45720" tIns="27432" bIns="27432" anchor="t">
            <a:noAutofit/>
          </a:bodyPr>
          <a:lstStyle/>
          <a:p>
            <a:pPr algn="l">
              <a:lnSpc>
                <a:spcPct val="100000"/>
              </a:lnSpc>
            </a:pPr>
            <a:r>
              <a:rPr sz="800" b="0" i="0">
                <a:solidFill>
                  <a:srgbClr val="ECE7DC"/>
                </a:solidFill>
                <a:latin typeface="Consolas"/>
              </a:rPr>
              <a:t>│   │   ├── 2026-10-04-windows-flow-files.md</a:t>
            </a:r>
          </a:p>
          <a:p>
            <a:pPr algn="l">
              <a:lnSpc>
                <a:spcPct val="100000"/>
              </a:lnSpc>
            </a:pPr>
            <a:r>
              <a:rPr sz="800" b="0" i="0">
                <a:solidFill>
                  <a:srgbClr val="ECE7DC"/>
                </a:solidFill>
                <a:latin typeface="Consolas"/>
              </a:rPr>
              <a:t>│   │   ├── 2026-10-07-latexer-verification.md</a:t>
            </a:r>
          </a:p>
          <a:p>
            <a:pPr algn="l">
              <a:lnSpc>
                <a:spcPct val="100000"/>
              </a:lnSpc>
            </a:pPr>
            <a:r>
              <a:rPr sz="800" b="0" i="0">
                <a:solidFill>
                  <a:srgbClr val="ECE7DC"/>
                </a:solidFill>
                <a:latin typeface="Consolas"/>
              </a:rPr>
              <a:t>│   │   ├── 2026-10-07-pdf-mover-incident.md</a:t>
            </a:r>
          </a:p>
          <a:p>
            <a:pPr algn="l">
              <a:lnSpc>
                <a:spcPct val="100000"/>
              </a:lnSpc>
            </a:pPr>
            <a:r>
              <a:rPr sz="800" b="0" i="0">
                <a:solidFill>
                  <a:srgbClr val="ECE7DC"/>
                </a:solidFill>
                <a:latin typeface="Consolas"/>
              </a:rPr>
              <a:t>│   │   ├── 2026-10-07-windows-access-verification.md</a:t>
            </a:r>
          </a:p>
          <a:p>
            <a:pPr algn="l">
              <a:lnSpc>
                <a:spcPct val="100000"/>
              </a:lnSpc>
            </a:pPr>
            <a:r>
              <a:rPr sz="800" b="0" i="0">
                <a:solidFill>
                  <a:srgbClr val="ECE7DC"/>
                </a:solidFill>
                <a:latin typeface="Consolas"/>
              </a:rPr>
              <a:t>│   │   ├── 2026-10-10-composer-resize.md</a:t>
            </a:r>
          </a:p>
          <a:p>
            <a:pPr algn="l">
              <a:lnSpc>
                <a:spcPct val="100000"/>
              </a:lnSpc>
            </a:pPr>
            <a:r>
              <a:rPr sz="800" b="0" i="0">
                <a:solidFill>
                  <a:srgbClr val="ECE7DC"/>
                </a:solidFill>
                <a:latin typeface="Consolas"/>
              </a:rPr>
              <a:t>│   │   ├── 2026-10-11-ui-sweep.md</a:t>
            </a:r>
          </a:p>
          <a:p>
            <a:pPr algn="l">
              <a:lnSpc>
                <a:spcPct val="100000"/>
              </a:lnSpc>
            </a:pPr>
            <a:r>
              <a:rPr sz="800" b="0" i="0">
                <a:solidFill>
                  <a:srgbClr val="ECE7DC"/>
                </a:solidFill>
                <a:latin typeface="Consolas"/>
              </a:rPr>
              <a:t>│   │   ├── 2026-10-13-docked-avatar-divider.md</a:t>
            </a:r>
          </a:p>
          <a:p>
            <a:pPr algn="l">
              <a:lnSpc>
                <a:spcPct val="100000"/>
              </a:lnSpc>
            </a:pPr>
            <a:r>
              <a:rPr sz="800" b="0" i="0">
                <a:solidFill>
                  <a:srgbClr val="ECE7DC"/>
                </a:solidFill>
                <a:latin typeface="Consolas"/>
              </a:rPr>
              <a:t>│   │   ├── 2026-10-16-v1.85.0.md</a:t>
            </a:r>
          </a:p>
          <a:p>
            <a:pPr algn="l">
              <a:lnSpc>
                <a:spcPct val="100000"/>
              </a:lnSpc>
            </a:pPr>
            <a:r>
              <a:rPr sz="800" b="0" i="0">
                <a:solidFill>
                  <a:srgbClr val="ECE7DC"/>
                </a:solidFill>
                <a:latin typeface="Consolas"/>
              </a:rPr>
              <a:t>│   │   ├── 2026-10-18-v1.87.0.md</a:t>
            </a:r>
          </a:p>
          <a:p>
            <a:pPr algn="l">
              <a:lnSpc>
                <a:spcPct val="100000"/>
              </a:lnSpc>
            </a:pPr>
            <a:r>
              <a:rPr sz="800" b="0" i="0">
                <a:solidFill>
                  <a:srgbClr val="ECE7DC"/>
                </a:solidFill>
                <a:latin typeface="Consolas"/>
              </a:rPr>
              <a:t>│   │   ├── 2026-10-19-private-release-data.md</a:t>
            </a:r>
          </a:p>
          <a:p>
            <a:pPr algn="l">
              <a:lnSpc>
                <a:spcPct val="100000"/>
              </a:lnSpc>
            </a:pPr>
            <a:r>
              <a:rPr sz="800" b="0" i="0">
                <a:solidFill>
                  <a:srgbClr val="ECE7DC"/>
                </a:solidFill>
                <a:latin typeface="Consolas"/>
              </a:rPr>
              <a:t>│   │   ├── 2026-10-19-terminater.md</a:t>
            </a:r>
          </a:p>
          <a:p>
            <a:pPr algn="l">
              <a:lnSpc>
                <a:spcPct val="100000"/>
              </a:lnSpc>
            </a:pPr>
            <a:r>
              <a:rPr sz="800" b="0" i="0">
                <a:solidFill>
                  <a:srgbClr val="ECE7DC"/>
                </a:solidFill>
                <a:latin typeface="Consolas"/>
              </a:rPr>
              <a:t>│   │   ├── 2026-10-20-terminater-audit.md</a:t>
            </a:r>
          </a:p>
          <a:p>
            <a:pPr algn="l">
              <a:lnSpc>
                <a:spcPct val="100000"/>
              </a:lnSpc>
            </a:pPr>
            <a:r>
              <a:rPr sz="800" b="0" i="0">
                <a:solidFill>
                  <a:srgbClr val="ECE7DC"/>
                </a:solidFill>
                <a:latin typeface="Consolas"/>
              </a:rPr>
              <a:t>│   │   ├── 2026-10-20-v1.88.0.md</a:t>
            </a:r>
          </a:p>
          <a:p>
            <a:pPr algn="l">
              <a:lnSpc>
                <a:spcPct val="100000"/>
              </a:lnSpc>
            </a:pPr>
            <a:r>
              <a:rPr sz="800" b="0" i="0">
                <a:solidFill>
                  <a:srgbClr val="ECE7DC"/>
                </a:solidFill>
                <a:latin typeface="Consolas"/>
              </a:rPr>
              <a:t>│   │   ├── 2026-10-22-documentation-refresh.md</a:t>
            </a:r>
          </a:p>
          <a:p>
            <a:pPr algn="l">
              <a:lnSpc>
                <a:spcPct val="100000"/>
              </a:lnSpc>
            </a:pPr>
            <a:r>
              <a:rPr sz="800" b="0" i="0">
                <a:solidFill>
                  <a:srgbClr val="ECE7DC"/>
                </a:solidFill>
                <a:latin typeface="Consolas"/>
              </a:rPr>
              <a:t>│   │   ├── 2026-10-22-release-version-pinning.md</a:t>
            </a:r>
          </a:p>
          <a:p>
            <a:pPr algn="l">
              <a:lnSpc>
                <a:spcPct val="100000"/>
              </a:lnSpc>
            </a:pPr>
            <a:r>
              <a:rPr sz="800" b="0" i="0">
                <a:solidFill>
                  <a:srgbClr val="ECE7DC"/>
                </a:solidFill>
                <a:latin typeface="Consolas"/>
              </a:rPr>
              <a:t>│   │   ├── 2026-10-22-v1.90.0.md</a:t>
            </a:r>
          </a:p>
          <a:p>
            <a:pPr algn="l">
              <a:lnSpc>
                <a:spcPct val="100000"/>
              </a:lnSpc>
            </a:pPr>
            <a:r>
              <a:rPr sz="800" b="0" i="0">
                <a:solidFill>
                  <a:srgbClr val="ECE7DC"/>
                </a:solidFill>
                <a:latin typeface="Consolas"/>
              </a:rPr>
              <a:t>│   │   └── 2026-10-23-v1.91.0.md</a:t>
            </a:r>
          </a:p>
          <a:p>
            <a:pPr algn="l">
              <a:lnSpc>
                <a:spcPct val="100000"/>
              </a:lnSpc>
            </a:pPr>
            <a:r>
              <a:rPr sz="800" b="0" i="0">
                <a:solidFill>
                  <a:srgbClr val="3BBE93"/>
                </a:solidFill>
                <a:latin typeface="Consolas"/>
              </a:rPr>
              <a:t>│   ├── claude/</a:t>
            </a:r>
          </a:p>
          <a:p>
            <a:pPr algn="l">
              <a:lnSpc>
                <a:spcPct val="100000"/>
              </a:lnSpc>
            </a:pPr>
            <a:r>
              <a:rPr sz="800" b="0" i="0">
                <a:solidFill>
                  <a:srgbClr val="ECE7DC"/>
                </a:solidFill>
                <a:latin typeface="Consolas"/>
              </a:rPr>
              <a:t>│   │   ├── acpx.md</a:t>
            </a:r>
          </a:p>
          <a:p>
            <a:pPr algn="l">
              <a:lnSpc>
                <a:spcPct val="100000"/>
              </a:lnSpc>
            </a:pPr>
            <a:r>
              <a:rPr sz="800" b="0" i="0">
                <a:solidFill>
                  <a:srgbClr val="ECE7DC"/>
                </a:solidFill>
                <a:latin typeface="Consolas"/>
              </a:rPr>
              <a:t>│   │   ├── agents.md</a:t>
            </a:r>
          </a:p>
          <a:p>
            <a:pPr algn="l">
              <a:lnSpc>
                <a:spcPct val="100000"/>
              </a:lnSpc>
            </a:pPr>
            <a:r>
              <a:rPr sz="800" b="0" i="0">
                <a:solidFill>
                  <a:srgbClr val="ECE7DC"/>
                </a:solidFill>
                <a:latin typeface="Consolas"/>
              </a:rPr>
              <a:t>│   │   ├── architecture.md</a:t>
            </a:r>
          </a:p>
          <a:p>
            <a:pPr algn="l">
              <a:lnSpc>
                <a:spcPct val="100000"/>
              </a:lnSpc>
            </a:pPr>
            <a:r>
              <a:rPr sz="800" b="0" i="0">
                <a:solidFill>
                  <a:srgbClr val="ECE7DC"/>
                </a:solidFill>
                <a:latin typeface="Consolas"/>
              </a:rPr>
              <a:t>│   │   ├── exec-report.md</a:t>
            </a:r>
          </a:p>
          <a:p>
            <a:pPr algn="l">
              <a:lnSpc>
                <a:spcPct val="100000"/>
              </a:lnSpc>
            </a:pPr>
            <a:r>
              <a:rPr sz="800" b="0" i="0">
                <a:solidFill>
                  <a:srgbClr val="ECE7DC"/>
                </a:solidFill>
                <a:latin typeface="Consolas"/>
              </a:rPr>
              <a:t>│   │   ├── frontend.md</a:t>
            </a:r>
          </a:p>
          <a:p>
            <a:pPr algn="l">
              <a:lnSpc>
                <a:spcPct val="100000"/>
              </a:lnSpc>
            </a:pPr>
            <a:r>
              <a:rPr sz="800" b="0" i="0">
                <a:solidFill>
                  <a:srgbClr val="ECE7DC"/>
                </a:solidFill>
                <a:latin typeface="Consolas"/>
              </a:rPr>
              <a:t>│   │   ├── gotchas.md</a:t>
            </a:r>
          </a:p>
          <a:p>
            <a:pPr algn="l">
              <a:lnSpc>
                <a:spcPct val="100000"/>
              </a:lnSpc>
            </a:pPr>
            <a:r>
              <a:rPr sz="800" b="0" i="0">
                <a:solidFill>
                  <a:srgbClr val="ECE7DC"/>
                </a:solidFill>
                <a:latin typeface="Consolas"/>
              </a:rPr>
              <a:t>│   │   ├── INDEX.md</a:t>
            </a:r>
          </a:p>
          <a:p>
            <a:pPr algn="l">
              <a:lnSpc>
                <a:spcPct val="100000"/>
              </a:lnSpc>
            </a:pPr>
            <a:r>
              <a:rPr sz="800" b="0" i="0">
                <a:solidFill>
                  <a:srgbClr val="ECE7DC"/>
                </a:solidFill>
                <a:latin typeface="Consolas"/>
              </a:rPr>
              <a:t>│   │   ├── mcp-tools.md</a:t>
            </a:r>
          </a:p>
          <a:p>
            <a:pPr algn="l">
              <a:lnSpc>
                <a:spcPct val="100000"/>
              </a:lnSpc>
            </a:pPr>
            <a:r>
              <a:rPr sz="800" b="0" i="0">
                <a:solidFill>
                  <a:srgbClr val="ECE7DC"/>
                </a:solidFill>
                <a:latin typeface="Consolas"/>
              </a:rPr>
              <a:t>│   │   ├── multi-turn.md</a:t>
            </a:r>
          </a:p>
          <a:p>
            <a:pPr algn="l">
              <a:lnSpc>
                <a:spcPct val="100000"/>
              </a:lnSpc>
            </a:pPr>
            <a:r>
              <a:rPr sz="800" b="0" i="0">
                <a:solidFill>
                  <a:srgbClr val="ECE7DC"/>
                </a:solidFill>
                <a:latin typeface="Consolas"/>
              </a:rPr>
              <a:t>│   │   └── recent-fixes.md</a:t>
            </a:r>
          </a:p>
          <a:p>
            <a:pPr algn="l">
              <a:lnSpc>
                <a:spcPct val="100000"/>
              </a:lnSpc>
            </a:pPr>
            <a:r>
              <a:rPr sz="800" b="0" i="0">
                <a:solidFill>
                  <a:srgbClr val="3BBE93"/>
                </a:solidFill>
                <a:latin typeface="Consolas"/>
              </a:rPr>
              <a:t>│   └── examples/</a:t>
            </a:r>
          </a:p>
          <a:p>
            <a:pPr algn="l">
              <a:lnSpc>
                <a:spcPct val="100000"/>
              </a:lnSpc>
            </a:pPr>
            <a:r>
              <a:rPr sz="800" b="0" i="0">
                <a:solidFill>
                  <a:srgbClr val="ECE7DC"/>
                </a:solidFill>
                <a:latin typeface="Consolas"/>
              </a:rPr>
              <a:t>│       └── prompting-kickoff.fpmt</a:t>
            </a:r>
          </a:p>
          <a:p>
            <a:pPr algn="l">
              <a:lnSpc>
                <a:spcPct val="100000"/>
              </a:lnSpc>
            </a:pPr>
            <a:r>
              <a:rPr sz="800" b="0" i="0">
                <a:solidFill>
                  <a:srgbClr val="3BBE93"/>
                </a:solidFill>
                <a:latin typeface="Consolas"/>
              </a:rPr>
              <a:t>├── l10n/</a:t>
            </a:r>
          </a:p>
          <a:p>
            <a:pPr algn="l">
              <a:lnSpc>
                <a:spcPct val="100000"/>
              </a:lnSpc>
            </a:pPr>
            <a:r>
              <a:rPr sz="800" b="0" i="0">
                <a:solidFill>
                  <a:srgbClr val="ECE7DC"/>
                </a:solidFill>
                <a:latin typeface="Consolas"/>
              </a:rPr>
              <a:t>│   ├── BASE_INGLES.json</a:t>
            </a:r>
          </a:p>
          <a:p>
            <a:pPr algn="l">
              <a:lnSpc>
                <a:spcPct val="100000"/>
              </a:lnSpc>
            </a:pPr>
            <a:r>
              <a:rPr sz="800" b="0" i="0">
                <a:solidFill>
                  <a:srgbClr val="ECE7DC"/>
                </a:solidFill>
                <a:latin typeface="Consolas"/>
              </a:rPr>
              <a:t>│   ├── GLOSARIO.md</a:t>
            </a:r>
          </a:p>
          <a:p>
            <a:pPr algn="l">
              <a:lnSpc>
                <a:spcPct val="100000"/>
              </a:lnSpc>
            </a:pPr>
            <a:r>
              <a:rPr sz="800" b="0" i="0">
                <a:solidFill>
                  <a:srgbClr val="ECE7DC"/>
                </a:solidFill>
                <a:latin typeface="Consolas"/>
              </a:rPr>
              <a:t>│   ├── GUIA_DE_PORTEO.md</a:t>
            </a:r>
          </a:p>
          <a:p>
            <a:pPr algn="l">
              <a:lnSpc>
                <a:spcPct val="100000"/>
              </a:lnSpc>
            </a:pPr>
            <a:r>
              <a:rPr sz="800" b="0" i="0">
                <a:solidFill>
                  <a:srgbClr val="ECE7DC"/>
                </a:solidFill>
                <a:latin typeface="Consolas"/>
              </a:rPr>
              <a:t>│   ├── portar.py</a:t>
            </a:r>
          </a:p>
          <a:p>
            <a:pPr algn="l">
              <a:lnSpc>
                <a:spcPct val="100000"/>
              </a:lnSpc>
            </a:pPr>
            <a:r>
              <a:rPr sz="800" b="0" i="0">
                <a:solidFill>
                  <a:srgbClr val="ECE7DC"/>
                </a:solidFill>
                <a:latin typeface="Consolas"/>
              </a:rPr>
              <a:t>│   ├── prueba_visible.py</a:t>
            </a:r>
          </a:p>
          <a:p>
            <a:pPr algn="l">
              <a:lnSpc>
                <a:spcPct val="100000"/>
              </a:lnSpc>
            </a:pPr>
            <a:r>
              <a:rPr sz="800" b="0" i="0">
                <a:solidFill>
                  <a:srgbClr val="ECE7DC"/>
                </a:solidFill>
                <a:latin typeface="Consolas"/>
              </a:rPr>
              <a:t>│   ├── verificacion.json</a:t>
            </a:r>
          </a:p>
          <a:p>
            <a:pPr algn="l">
              <a:lnSpc>
                <a:spcPct val="100000"/>
              </a:lnSpc>
            </a:pPr>
            <a:r>
              <a:rPr sz="800" b="0" i="0">
                <a:solidFill>
                  <a:srgbClr val="3BBE93"/>
                </a:solidFill>
                <a:latin typeface="Consolas"/>
              </a:rPr>
              <a:t>│   ├── herramientas/</a:t>
            </a:r>
          </a:p>
          <a:p>
            <a:pPr algn="l">
              <a:lnSpc>
                <a:spcPct val="100000"/>
              </a:lnSpc>
            </a:pPr>
            <a:r>
              <a:rPr sz="800" b="0" i="0">
                <a:solidFill>
                  <a:srgbClr val="ECE7DC"/>
                </a:solidFill>
                <a:latin typeface="Consolas"/>
              </a:rPr>
              <a:t>│   │   ├── acoples.py</a:t>
            </a:r>
          </a:p>
          <a:p>
            <a:pPr algn="l">
              <a:lnSpc>
                <a:spcPct val="100000"/>
              </a:lnSpc>
            </a:pPr>
            <a:r>
              <a:rPr sz="800" b="0" i="0">
                <a:solidFill>
                  <a:srgbClr val="ECE7DC"/>
                </a:solidFill>
                <a:latin typeface="Consolas"/>
              </a:rPr>
              <a:t>│   │   ├── base_ingles.py</a:t>
            </a:r>
          </a:p>
          <a:p>
            <a:pPr algn="l">
              <a:lnSpc>
                <a:spcPct val="100000"/>
              </a:lnSpc>
            </a:pPr>
            <a:r>
              <a:rPr sz="800" b="0" i="0">
                <a:solidFill>
                  <a:srgbClr val="ECE7DC"/>
                </a:solidFill>
                <a:latin typeface="Consolas"/>
              </a:rPr>
              <a:t>│   │   ├── decidir.py</a:t>
            </a:r>
          </a:p>
        </p:txBody>
      </p:sp>
      <p:sp>
        <p:nvSpPr>
          <p:cNvPr id="6" name="TextBox 5"/>
          <p:cNvSpPr txBox="1"/>
          <p:nvPr/>
        </p:nvSpPr>
        <p:spPr>
          <a:xfrm>
            <a:off x="4338218" y="1170432"/>
            <a:ext cx="3515258" cy="5084064"/>
          </a:xfrm>
          <a:prstGeom prst="rect">
            <a:avLst/>
          </a:prstGeom>
          <a:noFill/>
        </p:spPr>
        <p:txBody>
          <a:bodyPr wrap="none" lIns="45720" rIns="45720" tIns="27432" bIns="27432" anchor="t">
            <a:noAutofit/>
          </a:bodyPr>
          <a:lstStyle/>
          <a:p>
            <a:pPr algn="l">
              <a:lnSpc>
                <a:spcPct val="100000"/>
              </a:lnSpc>
            </a:pPr>
            <a:r>
              <a:rPr sz="800" b="0" i="0">
                <a:solidFill>
                  <a:srgbClr val="ECE7DC"/>
                </a:solidFill>
                <a:latin typeface="Consolas"/>
              </a:rPr>
              <a:t>│   │   ├── estructura.py</a:t>
            </a:r>
          </a:p>
          <a:p>
            <a:pPr algn="l">
              <a:lnSpc>
                <a:spcPct val="100000"/>
              </a:lnSpc>
            </a:pPr>
            <a:r>
              <a:rPr sz="800" b="0" i="0">
                <a:solidFill>
                  <a:srgbClr val="ECE7DC"/>
                </a:solidFill>
                <a:latin typeface="Consolas"/>
              </a:rPr>
              <a:t>│   │   ├── extraer.py</a:t>
            </a:r>
          </a:p>
          <a:p>
            <a:pPr algn="l">
              <a:lnSpc>
                <a:spcPct val="100000"/>
              </a:lnSpc>
            </a:pPr>
            <a:r>
              <a:rPr sz="800" b="0" i="0">
                <a:solidFill>
                  <a:srgbClr val="ECE7DC"/>
                </a:solidFill>
                <a:latin typeface="Consolas"/>
              </a:rPr>
              <a:t>│   │   ├── html_segmentos.py</a:t>
            </a:r>
          </a:p>
          <a:p>
            <a:pPr algn="l">
              <a:lnSpc>
                <a:spcPct val="100000"/>
              </a:lnSpc>
            </a:pPr>
            <a:r>
              <a:rPr sz="800" b="0" i="0">
                <a:solidFill>
                  <a:srgbClr val="ECE7DC"/>
                </a:solidFill>
                <a:latin typeface="Consolas"/>
              </a:rPr>
              <a:t>│   │   ├── identidad_es.py</a:t>
            </a:r>
          </a:p>
          <a:p>
            <a:pPr algn="l">
              <a:lnSpc>
                <a:spcPct val="100000"/>
              </a:lnSpc>
            </a:pPr>
            <a:r>
              <a:rPr sz="800" b="0" i="0">
                <a:solidFill>
                  <a:srgbClr val="ECE7DC"/>
                </a:solidFill>
                <a:latin typeface="Consolas"/>
              </a:rPr>
              <a:t>│   │   ├── js_cadenas.cjs</a:t>
            </a:r>
          </a:p>
          <a:p>
            <a:pPr algn="l">
              <a:lnSpc>
                <a:spcPct val="100000"/>
              </a:lnSpc>
            </a:pPr>
            <a:r>
              <a:rPr sz="800" b="0" i="0">
                <a:solidFill>
                  <a:srgbClr val="ECE7DC"/>
                </a:solidFill>
                <a:latin typeface="Consolas"/>
              </a:rPr>
              <a:t>│   │   ├── js_tokens.cjs</a:t>
            </a:r>
          </a:p>
          <a:p>
            <a:pPr algn="l">
              <a:lnSpc>
                <a:spcPct val="100000"/>
              </a:lnSpc>
            </a:pPr>
            <a:r>
              <a:rPr sz="800" b="0" i="0">
                <a:solidFill>
                  <a:srgbClr val="ECE7DC"/>
                </a:solidFill>
                <a:latin typeface="Consolas"/>
              </a:rPr>
              <a:t>│   │   ├── memoria.py</a:t>
            </a:r>
          </a:p>
          <a:p>
            <a:pPr algn="l">
              <a:lnSpc>
                <a:spcPct val="100000"/>
              </a:lnSpc>
            </a:pPr>
            <a:r>
              <a:rPr sz="800" b="0" i="0">
                <a:solidFill>
                  <a:srgbClr val="ECE7DC"/>
                </a:solidFill>
                <a:latin typeface="Consolas"/>
              </a:rPr>
              <a:t>│   │   ├── memorizar.py</a:t>
            </a:r>
          </a:p>
          <a:p>
            <a:pPr algn="l">
              <a:lnSpc>
                <a:spcPct val="100000"/>
              </a:lnSpc>
            </a:pPr>
            <a:r>
              <a:rPr sz="800" b="0" i="0">
                <a:solidFill>
                  <a:srgbClr val="ECE7DC"/>
                </a:solidFill>
                <a:latin typeface="Consolas"/>
              </a:rPr>
              <a:t>│   │   ├── pendientes.py</a:t>
            </a:r>
          </a:p>
          <a:p>
            <a:pPr algn="l">
              <a:lnSpc>
                <a:spcPct val="100000"/>
              </a:lnSpc>
            </a:pPr>
            <a:r>
              <a:rPr sz="800" b="0" i="0">
                <a:solidFill>
                  <a:srgbClr val="ECE7DC"/>
                </a:solidFill>
                <a:latin typeface="Consolas"/>
              </a:rPr>
              <a:t>│   │   ├── py_cadenas.py</a:t>
            </a:r>
          </a:p>
          <a:p>
            <a:pPr algn="l">
              <a:lnSpc>
                <a:spcPct val="100000"/>
              </a:lnSpc>
            </a:pPr>
            <a:r>
              <a:rPr sz="800" b="0" i="0">
                <a:solidFill>
                  <a:srgbClr val="ECE7DC"/>
                </a:solidFill>
                <a:latin typeface="Consolas"/>
              </a:rPr>
              <a:t>│   │   ├── revisar.py</a:t>
            </a:r>
          </a:p>
          <a:p>
            <a:pPr algn="l">
              <a:lnSpc>
                <a:spcPct val="100000"/>
              </a:lnSpc>
            </a:pPr>
            <a:r>
              <a:rPr sz="800" b="0" i="0">
                <a:solidFill>
                  <a:srgbClr val="ECE7DC"/>
                </a:solidFill>
                <a:latin typeface="Consolas"/>
              </a:rPr>
              <a:t>│   │   └── verificar.py</a:t>
            </a:r>
          </a:p>
          <a:p>
            <a:pPr algn="l">
              <a:lnSpc>
                <a:spcPct val="100000"/>
              </a:lnSpc>
            </a:pPr>
            <a:r>
              <a:rPr sz="800" b="0" i="0">
                <a:solidFill>
                  <a:srgbClr val="3BBE93"/>
                </a:solidFill>
                <a:latin typeface="Consolas"/>
              </a:rPr>
              <a:t>│   ├── memoria/</a:t>
            </a:r>
          </a:p>
          <a:p>
            <a:pPr algn="l">
              <a:lnSpc>
                <a:spcPct val="100000"/>
              </a:lnSpc>
            </a:pPr>
            <a:r>
              <a:rPr sz="800" b="0" i="0">
                <a:solidFill>
                  <a:srgbClr val="ECE7DC"/>
                </a:solidFill>
                <a:latin typeface="Consolas"/>
              </a:rPr>
              <a:t>│   │   ├── agents_descriptions.md.json</a:t>
            </a:r>
          </a:p>
          <a:p>
            <a:pPr algn="l">
              <a:lnSpc>
                <a:spcPct val="100000"/>
              </a:lnSpc>
            </a:pPr>
            <a:r>
              <a:rPr sz="800" b="0" i="0">
                <a:solidFill>
                  <a:srgbClr val="ECE7DC"/>
                </a:solidFill>
                <a:latin typeface="Consolas"/>
              </a:rPr>
              <a:t>│   │   ├── apply_update.ps1.json</a:t>
            </a:r>
          </a:p>
          <a:p>
            <a:pPr algn="l">
              <a:lnSpc>
                <a:spcPct val="100000"/>
              </a:lnSpc>
            </a:pPr>
            <a:r>
              <a:rPr sz="800" b="0" i="0">
                <a:solidFill>
                  <a:srgbClr val="ECE7DC"/>
                </a:solidFill>
                <a:latin typeface="Consolas"/>
              </a:rPr>
              <a:t>│   │   ├── build.py.json</a:t>
            </a:r>
          </a:p>
          <a:p>
            <a:pPr algn="l">
              <a:lnSpc>
                <a:spcPct val="100000"/>
              </a:lnSpc>
            </a:pPr>
            <a:r>
              <a:rPr sz="800" b="0" i="0">
                <a:solidFill>
                  <a:srgbClr val="ECE7DC"/>
                </a:solidFill>
                <a:latin typeface="Consolas"/>
              </a:rPr>
              <a:t>│   │   ├── build_complete_private_release.py.json</a:t>
            </a:r>
          </a:p>
          <a:p>
            <a:pPr algn="l">
              <a:lnSpc>
                <a:spcPct val="100000"/>
              </a:lnSpc>
            </a:pPr>
            <a:r>
              <a:rPr sz="800" b="0" i="0">
                <a:solidFill>
                  <a:srgbClr val="ECE7DC"/>
                </a:solidFill>
                <a:latin typeface="Consolas"/>
              </a:rPr>
              <a:t>│   │   ├── build_complete_public_release.py.json</a:t>
            </a:r>
          </a:p>
          <a:p>
            <a:pPr algn="l">
              <a:lnSpc>
                <a:spcPct val="100000"/>
              </a:lnSpc>
            </a:pPr>
            <a:r>
              <a:rPr sz="800" b="0" i="0">
                <a:solidFill>
                  <a:srgbClr val="ECE7DC"/>
                </a:solidFill>
                <a:latin typeface="Consolas"/>
              </a:rPr>
              <a:t>│   │   ├── build_installer.py.json</a:t>
            </a:r>
          </a:p>
          <a:p>
            <a:pPr algn="l">
              <a:lnSpc>
                <a:spcPct val="100000"/>
              </a:lnSpc>
            </a:pPr>
            <a:r>
              <a:rPr sz="800" b="0" i="0">
                <a:solidFill>
                  <a:srgbClr val="ECE7DC"/>
                </a:solidFill>
                <a:latin typeface="Consolas"/>
              </a:rPr>
              <a:t>│   │   ├── build_runtime_assets.py.json</a:t>
            </a:r>
          </a:p>
          <a:p>
            <a:pPr algn="l">
              <a:lnSpc>
                <a:spcPct val="100000"/>
              </a:lnSpc>
            </a:pPr>
            <a:r>
              <a:rPr sz="800" b="0" i="0">
                <a:solidFill>
                  <a:srgbClr val="ECE7DC"/>
                </a:solidFill>
                <a:latin typeface="Consolas"/>
              </a:rPr>
              <a:t>│   │   ├── build_uninstaller.py.json</a:t>
            </a:r>
          </a:p>
          <a:p>
            <a:pPr algn="l">
              <a:lnSpc>
                <a:spcPct val="100000"/>
              </a:lnSpc>
            </a:pPr>
            <a:r>
              <a:rPr sz="800" b="0" i="0">
                <a:solidFill>
                  <a:srgbClr val="ECE7DC"/>
                </a:solidFill>
                <a:latin typeface="Consolas"/>
              </a:rPr>
              <a:t>│   │   ├── CreateShortcut.ps1.json</a:t>
            </a:r>
          </a:p>
          <a:p>
            <a:pPr algn="l">
              <a:lnSpc>
                <a:spcPct val="100000"/>
              </a:lnSpc>
            </a:pPr>
            <a:r>
              <a:rPr sz="800" b="0" i="0">
                <a:solidFill>
                  <a:srgbClr val="ECE7DC"/>
                </a:solidFill>
                <a:latin typeface="Consolas"/>
              </a:rPr>
              <a:t>│   │   ├── flow_file_associations.ps1.json</a:t>
            </a:r>
          </a:p>
          <a:p>
            <a:pPr algn="l">
              <a:lnSpc>
                <a:spcPct val="100000"/>
              </a:lnSpc>
            </a:pPr>
            <a:r>
              <a:rPr sz="800" b="0" i="0">
                <a:solidFill>
                  <a:srgbClr val="ECE7DC"/>
                </a:solidFill>
                <a:latin typeface="Consolas"/>
              </a:rPr>
              <a:t>│   │   ├── freeingport8000.ps1.json</a:t>
            </a:r>
          </a:p>
          <a:p>
            <a:pPr algn="l">
              <a:lnSpc>
                <a:spcPct val="100000"/>
              </a:lnSpc>
            </a:pPr>
            <a:r>
              <a:rPr sz="800" b="0" i="0">
                <a:solidFill>
                  <a:srgbClr val="ECE7DC"/>
                </a:solidFill>
                <a:latin typeface="Consolas"/>
              </a:rPr>
              <a:t>│   │   ├── install.py.json</a:t>
            </a:r>
          </a:p>
          <a:p>
            <a:pPr algn="l">
              <a:lnSpc>
                <a:spcPct val="100000"/>
              </a:lnSpc>
            </a:pPr>
            <a:r>
              <a:rPr sz="800" b="0" i="0">
                <a:solidFill>
                  <a:srgbClr val="ECE7DC"/>
                </a:solidFill>
                <a:latin typeface="Consolas"/>
              </a:rPr>
              <a:t>│   │   ├── README.md.json</a:t>
            </a:r>
          </a:p>
          <a:p>
            <a:pPr algn="l">
              <a:lnSpc>
                <a:spcPct val="100000"/>
              </a:lnSpc>
            </a:pPr>
            <a:r>
              <a:rPr sz="800" b="0" i="0">
                <a:solidFill>
                  <a:srgbClr val="ECE7DC"/>
                </a:solidFill>
                <a:latin typeface="Consolas"/>
              </a:rPr>
              <a:t>│   │   ├── RemoveShortcut.ps1.json</a:t>
            </a:r>
          </a:p>
          <a:p>
            <a:pPr algn="l">
              <a:lnSpc>
                <a:spcPct val="100000"/>
              </a:lnSpc>
            </a:pPr>
            <a:r>
              <a:rPr sz="800" b="0" i="0">
                <a:solidFill>
                  <a:srgbClr val="ECE7DC"/>
                </a:solidFill>
                <a:latin typeface="Consolas"/>
              </a:rPr>
              <a:t>│   │   ├── setup_logging.py.json</a:t>
            </a:r>
          </a:p>
          <a:p>
            <a:pPr algn="l">
              <a:lnSpc>
                <a:spcPct val="100000"/>
              </a:lnSpc>
            </a:pPr>
            <a:r>
              <a:rPr sz="800" b="0" i="0">
                <a:solidFill>
                  <a:srgbClr val="ECE7DC"/>
                </a:solidFill>
                <a:latin typeface="Consolas"/>
              </a:rPr>
              <a:t>│   │   ├── setup_recovery.py.json</a:t>
            </a:r>
          </a:p>
          <a:p>
            <a:pPr algn="l">
              <a:lnSpc>
                <a:spcPct val="100000"/>
              </a:lnSpc>
            </a:pPr>
            <a:r>
              <a:rPr sz="800" b="0" i="0">
                <a:solidFill>
                  <a:srgbClr val="ECE7DC"/>
                </a:solidFill>
                <a:latin typeface="Consolas"/>
              </a:rPr>
              <a:t>│   │   ├── setup_windows.py.json</a:t>
            </a:r>
          </a:p>
          <a:p>
            <a:pPr algn="l">
              <a:lnSpc>
                <a:spcPct val="100000"/>
              </a:lnSpc>
            </a:pPr>
            <a:r>
              <a:rPr sz="800" b="0" i="0">
                <a:solidFill>
                  <a:srgbClr val="ECE7DC"/>
                </a:solidFill>
                <a:latin typeface="Consolas"/>
              </a:rPr>
              <a:t>│   │   ├── setup_wizard.py.json</a:t>
            </a:r>
          </a:p>
          <a:p>
            <a:pPr algn="l">
              <a:lnSpc>
                <a:spcPct val="100000"/>
              </a:lnSpc>
            </a:pPr>
            <a:r>
              <a:rPr sz="800" b="0" i="0">
                <a:solidFill>
                  <a:srgbClr val="ECE7DC"/>
                </a:solidFill>
                <a:latin typeface="Consolas"/>
              </a:rPr>
              <a:t>│   │   ├── Tlamatini.ps1.json</a:t>
            </a:r>
          </a:p>
          <a:p>
            <a:pPr algn="l">
              <a:lnSpc>
                <a:spcPct val="100000"/>
              </a:lnSpc>
            </a:pPr>
            <a:r>
              <a:rPr sz="800" b="0" i="0">
                <a:solidFill>
                  <a:srgbClr val="ECE7DC"/>
                </a:solidFill>
                <a:latin typeface="Consolas"/>
              </a:rPr>
              <a:t>│   │   ├── uninstall.py.json</a:t>
            </a:r>
          </a:p>
          <a:p>
            <a:pPr algn="l">
              <a:lnSpc>
                <a:spcPct val="100000"/>
              </a:lnSpc>
            </a:pPr>
            <a:r>
              <a:rPr sz="800" b="0" i="0">
                <a:solidFill>
                  <a:srgbClr val="ECE7DC"/>
                </a:solidFill>
                <a:latin typeface="Consolas"/>
              </a:rPr>
              <a:t>│   │   ├── uninstall_processes.py.json</a:t>
            </a:r>
          </a:p>
          <a:p>
            <a:pPr algn="l">
              <a:lnSpc>
                <a:spcPct val="100000"/>
              </a:lnSpc>
            </a:pPr>
            <a:r>
              <a:rPr sz="800" b="0" i="0">
                <a:solidFill>
                  <a:srgbClr val="ECE7DC"/>
                </a:solidFill>
                <a:latin typeface="Consolas"/>
              </a:rPr>
              <a:t>│   │   ├── versioning.py.json</a:t>
            </a:r>
          </a:p>
          <a:p>
            <a:pPr algn="l">
              <a:lnSpc>
                <a:spcPct val="100000"/>
              </a:lnSpc>
            </a:pPr>
            <a:r>
              <a:rPr sz="800" b="0" i="0">
                <a:solidFill>
                  <a:srgbClr val="3BBE93"/>
                </a:solidFill>
                <a:latin typeface="Consolas"/>
              </a:rPr>
              <a:t>│   │   ├── .claude/</a:t>
            </a:r>
          </a:p>
          <a:p>
            <a:pPr algn="l">
              <a:lnSpc>
                <a:spcPct val="100000"/>
              </a:lnSpc>
            </a:pPr>
            <a:r>
              <a:rPr sz="800" b="0" i="0">
                <a:solidFill>
                  <a:srgbClr val="3BBE93"/>
                </a:solidFill>
                <a:latin typeface="Consolas"/>
              </a:rPr>
              <a:t>│   │   │   └── skills/</a:t>
            </a:r>
          </a:p>
          <a:p>
            <a:pPr algn="l">
              <a:lnSpc>
                <a:spcPct val="100000"/>
              </a:lnSpc>
            </a:pPr>
            <a:r>
              <a:rPr sz="800" b="0" i="0">
                <a:solidFill>
                  <a:srgbClr val="3BBE93"/>
                </a:solidFill>
                <a:latin typeface="Consolas"/>
              </a:rPr>
              <a:t>│   │   │       └── tlamatini-daily-chat-test/</a:t>
            </a:r>
          </a:p>
          <a:p>
            <a:pPr algn="l">
              <a:lnSpc>
                <a:spcPct val="100000"/>
              </a:lnSpc>
            </a:pPr>
            <a:r>
              <a:rPr sz="800" b="0" i="0">
                <a:solidFill>
                  <a:srgbClr val="3BBE93"/>
                </a:solidFill>
                <a:latin typeface="Consolas"/>
              </a:rPr>
              <a:t>│   │   │           └── harness/</a:t>
            </a:r>
          </a:p>
          <a:p>
            <a:pPr algn="l">
              <a:lnSpc>
                <a:spcPct val="100000"/>
              </a:lnSpc>
            </a:pPr>
            <a:r>
              <a:rPr sz="800" b="0" i="0">
                <a:solidFill>
                  <a:srgbClr val="ECE7DC"/>
                </a:solidFill>
                <a:latin typeface="Consolas"/>
              </a:rPr>
              <a:t>│   │   │               └── config.py.json</a:t>
            </a:r>
          </a:p>
          <a:p>
            <a:pPr algn="l">
              <a:lnSpc>
                <a:spcPct val="100000"/>
              </a:lnSpc>
            </a:pPr>
            <a:r>
              <a:rPr sz="800" b="0" i="0">
                <a:solidFill>
                  <a:srgbClr val="3BBE93"/>
                </a:solidFill>
                <a:latin typeface="Consolas"/>
              </a:rPr>
              <a:t>│   │   ├── .gemini/</a:t>
            </a:r>
          </a:p>
        </p:txBody>
      </p:sp>
      <p:sp>
        <p:nvSpPr>
          <p:cNvPr id="7" name="TextBox 6"/>
          <p:cNvSpPr txBox="1"/>
          <p:nvPr/>
        </p:nvSpPr>
        <p:spPr>
          <a:xfrm>
            <a:off x="8109508" y="1170432"/>
            <a:ext cx="3515258" cy="5084064"/>
          </a:xfrm>
          <a:prstGeom prst="rect">
            <a:avLst/>
          </a:prstGeom>
          <a:noFill/>
        </p:spPr>
        <p:txBody>
          <a:bodyPr wrap="none" lIns="45720" rIns="45720" tIns="27432" bIns="27432" anchor="t">
            <a:noAutofit/>
          </a:bodyPr>
          <a:lstStyle/>
          <a:p>
            <a:pPr algn="l">
              <a:lnSpc>
                <a:spcPct val="100000"/>
              </a:lnSpc>
            </a:pPr>
            <a:r>
              <a:rPr sz="800" b="0" i="0">
                <a:solidFill>
                  <a:srgbClr val="3BBE93"/>
                </a:solidFill>
                <a:latin typeface="Consolas"/>
              </a:rPr>
              <a:t>│   │   │   └── skills/</a:t>
            </a:r>
          </a:p>
          <a:p>
            <a:pPr algn="l">
              <a:lnSpc>
                <a:spcPct val="100000"/>
              </a:lnSpc>
            </a:pPr>
            <a:r>
              <a:rPr sz="800" b="0" i="0">
                <a:solidFill>
                  <a:srgbClr val="3BBE93"/>
                </a:solidFill>
                <a:latin typeface="Consolas"/>
              </a:rPr>
              <a:t>│   │   │       └── tlamatini-daily-chat-test/</a:t>
            </a:r>
          </a:p>
          <a:p>
            <a:pPr algn="l">
              <a:lnSpc>
                <a:spcPct val="100000"/>
              </a:lnSpc>
            </a:pPr>
            <a:r>
              <a:rPr sz="800" b="0" i="0">
                <a:solidFill>
                  <a:srgbClr val="3BBE93"/>
                </a:solidFill>
                <a:latin typeface="Consolas"/>
              </a:rPr>
              <a:t>│   │   │           └── harness/</a:t>
            </a:r>
          </a:p>
          <a:p>
            <a:pPr algn="l">
              <a:lnSpc>
                <a:spcPct val="100000"/>
              </a:lnSpc>
            </a:pPr>
            <a:r>
              <a:rPr sz="800" b="0" i="0">
                <a:solidFill>
                  <a:srgbClr val="ECE7DC"/>
                </a:solidFill>
                <a:latin typeface="Consolas"/>
              </a:rPr>
              <a:t>│   │   │               └── config.py.json</a:t>
            </a:r>
          </a:p>
          <a:p>
            <a:pPr algn="l">
              <a:lnSpc>
                <a:spcPct val="100000"/>
              </a:lnSpc>
            </a:pPr>
            <a:r>
              <a:rPr sz="800" b="0" i="0">
                <a:solidFill>
                  <a:srgbClr val="3BBE93"/>
                </a:solidFill>
                <a:latin typeface="Consolas"/>
              </a:rPr>
              <a:t>│   │   ├── scripts/</a:t>
            </a:r>
          </a:p>
          <a:p>
            <a:pPr algn="l">
              <a:lnSpc>
                <a:spcPct val="100000"/>
              </a:lnSpc>
            </a:pPr>
            <a:r>
              <a:rPr sz="800" b="0" i="0">
                <a:solidFill>
                  <a:srgbClr val="ECE7DC"/>
                </a:solidFill>
                <a:latin typeface="Consolas"/>
              </a:rPr>
              <a:t>│   │   │   └── flow_file_associations_test.ps1.json</a:t>
            </a:r>
          </a:p>
          <a:p>
            <a:pPr algn="l">
              <a:lnSpc>
                <a:spcPct val="100000"/>
              </a:lnSpc>
            </a:pPr>
            <a:r>
              <a:rPr sz="800" b="0" i="0">
                <a:solidFill>
                  <a:srgbClr val="3BBE93"/>
                </a:solidFill>
                <a:latin typeface="Consolas"/>
              </a:rPr>
              <a:t>│   │   ├── security/</a:t>
            </a:r>
          </a:p>
          <a:p>
            <a:pPr algn="l">
              <a:lnSpc>
                <a:spcPct val="100000"/>
              </a:lnSpc>
            </a:pPr>
            <a:r>
              <a:rPr sz="800" b="0" i="0">
                <a:solidFill>
                  <a:srgbClr val="ECE7DC"/>
                </a:solidFill>
                <a:latin typeface="Consolas"/>
              </a:rPr>
              <a:t>│   │   │   ├── enable_tlamatini_v2.bat.json</a:t>
            </a:r>
          </a:p>
          <a:p>
            <a:pPr algn="l">
              <a:lnSpc>
                <a:spcPct val="100000"/>
              </a:lnSpc>
            </a:pPr>
            <a:r>
              <a:rPr sz="800" b="0" i="0">
                <a:solidFill>
                  <a:srgbClr val="ECE7DC"/>
                </a:solidFill>
                <a:latin typeface="Consolas"/>
              </a:rPr>
              <a:t>│   │   │   ├── tlamatini_defender.ps1.json</a:t>
            </a:r>
          </a:p>
          <a:p>
            <a:pPr algn="l">
              <a:lnSpc>
                <a:spcPct val="100000"/>
              </a:lnSpc>
            </a:pPr>
            <a:r>
              <a:rPr sz="800" b="0" i="0">
                <a:solidFill>
                  <a:srgbClr val="ECE7DC"/>
                </a:solidFill>
                <a:latin typeface="Consolas"/>
              </a:rPr>
              <a:t>│   │   │   └── tlamatini_whitelist_v2.ps1.json</a:t>
            </a:r>
          </a:p>
          <a:p>
            <a:pPr algn="l">
              <a:lnSpc>
                <a:spcPct val="100000"/>
              </a:lnSpc>
            </a:pPr>
            <a:r>
              <a:rPr sz="800" b="0" i="0">
                <a:solidFill>
                  <a:srgbClr val="3BBE93"/>
                </a:solidFill>
                <a:latin typeface="Consolas"/>
              </a:rPr>
              <a:t>│   │   └── Tlamatini/</a:t>
            </a:r>
          </a:p>
          <a:p>
            <a:pPr algn="l">
              <a:lnSpc>
                <a:spcPct val="100000"/>
              </a:lnSpc>
            </a:pPr>
            <a:r>
              <a:rPr sz="800" b="0" i="0">
                <a:solidFill>
                  <a:srgbClr val="ECE7DC"/>
                </a:solidFill>
                <a:latin typeface="Consolas"/>
              </a:rPr>
              <a:t>│   │       ├── manage.py.json</a:t>
            </a:r>
          </a:p>
          <a:p>
            <a:pPr algn="l">
              <a:lnSpc>
                <a:spcPct val="100000"/>
              </a:lnSpc>
            </a:pPr>
            <a:r>
              <a:rPr sz="800" b="0" i="0">
                <a:solidFill>
                  <a:srgbClr val="3BBE93"/>
                </a:solidFill>
                <a:latin typeface="Consolas"/>
              </a:rPr>
              <a:t>│   │       ├── agent/</a:t>
            </a:r>
          </a:p>
          <a:p>
            <a:pPr algn="l">
              <a:lnSpc>
                <a:spcPct val="100000"/>
              </a:lnSpc>
            </a:pPr>
            <a:r>
              <a:rPr sz="800" b="0" i="0">
                <a:solidFill>
                  <a:srgbClr val="ECE7DC"/>
                </a:solidFill>
                <a:latin typeface="Consolas"/>
              </a:rPr>
              <a:t>│   │       │   ├── access_key_wizard.py.json</a:t>
            </a:r>
          </a:p>
          <a:p>
            <a:pPr algn="l">
              <a:lnSpc>
                <a:spcPct val="100000"/>
              </a:lnSpc>
            </a:pPr>
            <a:r>
              <a:rPr sz="800" b="0" i="0">
                <a:solidFill>
                  <a:srgbClr val="ECE7DC"/>
                </a:solidFill>
                <a:latin typeface="Consolas"/>
              </a:rPr>
              <a:t>│   │       │   ├── canvas_file_views.py.json</a:t>
            </a:r>
          </a:p>
          <a:p>
            <a:pPr algn="l">
              <a:lnSpc>
                <a:spcPct val="100000"/>
              </a:lnSpc>
            </a:pPr>
            <a:r>
              <a:rPr sz="800" b="0" i="0">
                <a:solidFill>
                  <a:srgbClr val="ECE7DC"/>
                </a:solidFill>
                <a:latin typeface="Consolas"/>
              </a:rPr>
              <a:t>│   │       │   ├── chain_files_search_lcel.py.json</a:t>
            </a:r>
          </a:p>
          <a:p>
            <a:pPr algn="l">
              <a:lnSpc>
                <a:spcPct val="100000"/>
              </a:lnSpc>
            </a:pPr>
            <a:r>
              <a:rPr sz="800" b="0" i="0">
                <a:solidFill>
                  <a:srgbClr val="ECE7DC"/>
                </a:solidFill>
                <a:latin typeface="Consolas"/>
              </a:rPr>
              <a:t>│   │       │   ├── chain_system_lcel.py.json</a:t>
            </a:r>
          </a:p>
          <a:p>
            <a:pPr algn="l">
              <a:lnSpc>
                <a:spcPct val="100000"/>
              </a:lnSpc>
            </a:pPr>
            <a:r>
              <a:rPr sz="800" b="0" i="0">
                <a:solidFill>
                  <a:srgbClr val="ECE7DC"/>
                </a:solidFill>
                <a:latin typeface="Consolas"/>
              </a:rPr>
              <a:t>│   │       │   ├── chat_voice_settings.py.json</a:t>
            </a:r>
          </a:p>
          <a:p>
            <a:pPr algn="l">
              <a:lnSpc>
                <a:spcPct val="100000"/>
              </a:lnSpc>
            </a:pPr>
            <a:r>
              <a:rPr sz="800" b="0" i="0">
                <a:solidFill>
                  <a:srgbClr val="ECE7DC"/>
                </a:solidFill>
                <a:latin typeface="Consolas"/>
              </a:rPr>
              <a:t>│   │       │   ├── compact_mode.py.json</a:t>
            </a:r>
          </a:p>
          <a:p>
            <a:pPr algn="l">
              <a:lnSpc>
                <a:spcPct val="100000"/>
              </a:lnSpc>
            </a:pPr>
            <a:r>
              <a:rPr sz="800" b="0" i="0">
                <a:solidFill>
                  <a:srgbClr val="ECE7DC"/>
                </a:solidFill>
                <a:latin typeface="Consolas"/>
              </a:rPr>
              <a:t>│   │       │   ├── config.json.json</a:t>
            </a:r>
          </a:p>
          <a:p>
            <a:pPr algn="l">
              <a:lnSpc>
                <a:spcPct val="100000"/>
              </a:lnSpc>
            </a:pPr>
            <a:r>
              <a:rPr sz="800" b="0" i="0">
                <a:solidFill>
                  <a:srgbClr val="ECE7DC"/>
                </a:solidFill>
                <a:latin typeface="Consolas"/>
              </a:rPr>
              <a:t>│   │       │   ├── config_loader.py.json</a:t>
            </a:r>
          </a:p>
          <a:p>
            <a:pPr algn="l">
              <a:lnSpc>
                <a:spcPct val="100000"/>
              </a:lnSpc>
            </a:pPr>
            <a:r>
              <a:rPr sz="800" b="0" i="0">
                <a:solidFill>
                  <a:srgbClr val="ECE7DC"/>
                </a:solidFill>
                <a:latin typeface="Consolas"/>
              </a:rPr>
              <a:t>│   │       │   ├── constants.py.json</a:t>
            </a:r>
          </a:p>
          <a:p>
            <a:pPr algn="l">
              <a:lnSpc>
                <a:spcPct val="100000"/>
              </a:lnSpc>
            </a:pPr>
            <a:r>
              <a:rPr sz="800" b="0" i="0">
                <a:solidFill>
                  <a:srgbClr val="ECE7DC"/>
                </a:solidFill>
                <a:latin typeface="Consolas"/>
              </a:rPr>
              <a:t>│   │       │   ├── consumers.py.json</a:t>
            </a:r>
          </a:p>
          <a:p>
            <a:pPr algn="l">
              <a:lnSpc>
                <a:spcPct val="100000"/>
              </a:lnSpc>
            </a:pPr>
            <a:r>
              <a:rPr sz="800" b="0" i="0">
                <a:solidFill>
                  <a:srgbClr val="ECE7DC"/>
                </a:solidFill>
                <a:latin typeface="Consolas"/>
              </a:rPr>
              <a:t>│   │       │   ├── contacts.py.json</a:t>
            </a:r>
          </a:p>
          <a:p>
            <a:pPr algn="l">
              <a:lnSpc>
                <a:spcPct val="100000"/>
              </a:lnSpc>
            </a:pPr>
            <a:r>
              <a:rPr sz="800" b="0" i="0">
                <a:solidFill>
                  <a:srgbClr val="ECE7DC"/>
                </a:solidFill>
                <a:latin typeface="Consolas"/>
              </a:rPr>
              <a:t>│   │       │   ├── context_baseline.py.json</a:t>
            </a:r>
          </a:p>
          <a:p>
            <a:pPr algn="l">
              <a:lnSpc>
                <a:spcPct val="100000"/>
              </a:lnSpc>
            </a:pPr>
            <a:r>
              <a:rPr sz="800" b="0" i="0">
                <a:solidFill>
                  <a:srgbClr val="ECE7DC"/>
                </a:solidFill>
                <a:latin typeface="Consolas"/>
              </a:rPr>
              <a:t>│   │       │   ├── context_governor.py.json</a:t>
            </a:r>
          </a:p>
          <a:p>
            <a:pPr algn="l">
              <a:lnSpc>
                <a:spcPct val="100000"/>
              </a:lnSpc>
            </a:pPr>
            <a:r>
              <a:rPr sz="800" b="0" i="0">
                <a:solidFill>
                  <a:srgbClr val="ECE7DC"/>
                </a:solidFill>
                <a:latin typeface="Consolas"/>
              </a:rPr>
              <a:t>│   │       │   ├── embedding_memory_guard.py.json</a:t>
            </a:r>
          </a:p>
          <a:p>
            <a:pPr algn="l">
              <a:lnSpc>
                <a:spcPct val="100000"/>
              </a:lnSpc>
            </a:pPr>
            <a:r>
              <a:rPr sz="800" b="0" i="0">
                <a:solidFill>
                  <a:srgbClr val="ECE7DC"/>
                </a:solidFill>
                <a:latin typeface="Consolas"/>
              </a:rPr>
              <a:t>│   │       │   ├── external_mcp_defaults.py.json</a:t>
            </a:r>
          </a:p>
          <a:p>
            <a:pPr algn="l">
              <a:lnSpc>
                <a:spcPct val="100000"/>
              </a:lnSpc>
            </a:pPr>
            <a:r>
              <a:rPr sz="800" b="0" i="0">
                <a:solidFill>
                  <a:srgbClr val="ECE7DC"/>
                </a:solidFill>
                <a:latin typeface="Consolas"/>
              </a:rPr>
              <a:t>│   │       │   ├── external_mcp_manager.py.json</a:t>
            </a:r>
          </a:p>
          <a:p>
            <a:pPr algn="l">
              <a:lnSpc>
                <a:spcPct val="100000"/>
              </a:lnSpc>
            </a:pPr>
            <a:r>
              <a:rPr sz="800" b="0" i="0">
                <a:solidFill>
                  <a:srgbClr val="ECE7DC"/>
                </a:solidFill>
                <a:latin typeface="Consolas"/>
              </a:rPr>
              <a:t>│   │       │   ├── external_mcps.json.json</a:t>
            </a:r>
          </a:p>
          <a:p>
            <a:pPr algn="l">
              <a:lnSpc>
                <a:spcPct val="100000"/>
              </a:lnSpc>
            </a:pPr>
            <a:r>
              <a:rPr sz="800" b="0" i="0">
                <a:solidFill>
                  <a:srgbClr val="ECE7DC"/>
                </a:solidFill>
                <a:latin typeface="Consolas"/>
              </a:rPr>
              <a:t>│   │       │   ├── flow_file_open.py.json</a:t>
            </a:r>
          </a:p>
          <a:p>
            <a:pPr algn="l">
              <a:lnSpc>
                <a:spcPct val="100000"/>
              </a:lnSpc>
            </a:pPr>
            <a:r>
              <a:rPr sz="800" b="0" i="0">
                <a:solidFill>
                  <a:srgbClr val="ECE7DC"/>
                </a:solidFill>
                <a:latin typeface="Consolas"/>
              </a:rPr>
              <a:t>│   │       │   ├── flow_file_views.py.json</a:t>
            </a:r>
          </a:p>
          <a:p>
            <a:pPr algn="l">
              <a:lnSpc>
                <a:spcPct val="100000"/>
              </a:lnSpc>
            </a:pPr>
            <a:r>
              <a:rPr sz="800" b="0" i="0">
                <a:solidFill>
                  <a:srgbClr val="ECE7DC"/>
                </a:solidFill>
                <a:latin typeface="Consolas"/>
              </a:rPr>
              <a:t>│   │       │   ├── interaction_settings.py.json</a:t>
            </a:r>
          </a:p>
          <a:p>
            <a:pPr algn="l">
              <a:lnSpc>
                <a:spcPct val="100000"/>
              </a:lnSpc>
            </a:pPr>
            <a:r>
              <a:rPr sz="800" b="0" i="0">
                <a:solidFill>
                  <a:srgbClr val="ECE7DC"/>
                </a:solidFill>
                <a:latin typeface="Consolas"/>
              </a:rPr>
              <a:t>│   │       │   ├── mcp_agent.py.json</a:t>
            </a:r>
          </a:p>
          <a:p>
            <a:pPr algn="l">
              <a:lnSpc>
                <a:spcPct val="100000"/>
              </a:lnSpc>
            </a:pPr>
            <a:r>
              <a:rPr sz="800" b="0" i="0">
                <a:solidFill>
                  <a:srgbClr val="ECE7DC"/>
                </a:solidFill>
                <a:latin typeface="Consolas"/>
              </a:rPr>
              <a:t>│   │       │   ├── mcp_files_search_client.py.json</a:t>
            </a:r>
          </a:p>
          <a:p>
            <a:pPr algn="l">
              <a:lnSpc>
                <a:spcPct val="100000"/>
              </a:lnSpc>
            </a:pPr>
            <a:r>
              <a:rPr sz="800" b="0" i="0">
                <a:solidFill>
                  <a:srgbClr val="ECE7DC"/>
                </a:solidFill>
                <a:latin typeface="Consolas"/>
              </a:rPr>
              <a:t>│   │       │   ├── mcp_files_search_server.py.json</a:t>
            </a:r>
          </a:p>
          <a:p>
            <a:pPr algn="l">
              <a:lnSpc>
                <a:spcPct val="100000"/>
              </a:lnSpc>
            </a:pPr>
            <a:r>
              <a:rPr sz="800" b="0" i="0">
                <a:solidFill>
                  <a:srgbClr val="ECE7DC"/>
                </a:solidFill>
                <a:latin typeface="Consolas"/>
              </a:rPr>
              <a:t>│   │       │   ├── mcp_system_client.py.json</a:t>
            </a:r>
          </a:p>
          <a:p>
            <a:pPr algn="l">
              <a:lnSpc>
                <a:spcPct val="100000"/>
              </a:lnSpc>
            </a:pPr>
            <a:r>
              <a:rPr sz="800" b="0" i="0">
                <a:solidFill>
                  <a:srgbClr val="ECE7DC"/>
                </a:solidFill>
                <a:latin typeface="Consolas"/>
              </a:rPr>
              <a:t>│   │       │   ├── mcp_system_server.py.json</a:t>
            </a:r>
          </a:p>
          <a:p>
            <a:pPr algn="l">
              <a:lnSpc>
                <a:spcPct val="100000"/>
              </a:lnSpc>
            </a:pPr>
            <a:r>
              <a:rPr sz="800" b="0" i="0">
                <a:solidFill>
                  <a:srgbClr val="ECE7DC"/>
                </a:solidFill>
                <a:latin typeface="Consolas"/>
              </a:rPr>
              <a:t>│   │       │   ├── model_brain.py.json</a:t>
            </a:r>
          </a:p>
          <a:p>
            <a:pPr algn="l">
              <a:lnSpc>
                <a:spcPct val="100000"/>
              </a:lnSpc>
            </a:pPr>
            <a:r>
              <a:rPr sz="800" b="0" i="0">
                <a:solidFill>
                  <a:srgbClr val="ECE7DC"/>
                </a:solidFill>
                <a:latin typeface="Consolas"/>
              </a:rPr>
              <a:t>│   │       │   ├── native_dialogs.py.json</a:t>
            </a:r>
          </a:p>
          <a:p>
            <a:pPr algn="l">
              <a:lnSpc>
                <a:spcPct val="100000"/>
              </a:lnSpc>
            </a:pPr>
            <a:r>
              <a:rPr sz="800" b="0" i="0">
                <a:solidFill>
                  <a:srgbClr val="ECE7DC"/>
                </a:solidFill>
                <a:latin typeface="Consolas"/>
              </a:rPr>
              <a:t>│   │       │   ├── path_guard.py.json</a:t>
            </a:r>
          </a:p>
        </p:txBody>
      </p:sp>
      <p:cxnSp>
        <p:nvCxnSpPr>
          <p:cNvPr id="8" name="Connector 7"/>
          <p:cNvCxnSpPr/>
          <p:nvPr/>
        </p:nvCxnSpPr>
        <p:spPr>
          <a:xfrm>
            <a:off x="566928" y="6373368"/>
            <a:ext cx="11057839" cy="0"/>
          </a:xfrm>
          <a:prstGeom prst="line">
            <a:avLst/>
          </a:prstGeom>
          <a:ln w="7620">
            <a:solidFill>
              <a:srgbClr val="2A3A40"/>
            </a:solidFill>
          </a:ln>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566928" y="6419088"/>
            <a:ext cx="6858000" cy="274320"/>
          </a:xfrm>
          <a:prstGeom prst="rect">
            <a:avLst/>
          </a:prstGeom>
          <a:noFill/>
        </p:spPr>
        <p:txBody>
          <a:bodyPr wrap="square" lIns="45720" rIns="45720" tIns="27432" bIns="27432" anchor="t">
            <a:noAutofit/>
          </a:bodyPr>
          <a:lstStyle/>
          <a:p>
            <a:pPr algn="l">
              <a:lnSpc>
                <a:spcPct val="100000"/>
              </a:lnSpc>
            </a:pPr>
            <a:r>
              <a:rPr sz="850" b="0" i="0" spc="120">
                <a:solidFill>
                  <a:srgbClr val="A7B2B0"/>
                </a:solidFill>
                <a:latin typeface="Segoe UI Semibold"/>
              </a:rPr>
              <a:t>TLAMATINI  ·  APÉNDICE A · ÁRBOL DE ARCHIVOS</a:t>
            </a:r>
          </a:p>
        </p:txBody>
      </p:sp>
      <p:sp>
        <p:nvSpPr>
          <p:cNvPr id="10" name="TextBox 9"/>
          <p:cNvSpPr txBox="1"/>
          <p:nvPr/>
        </p:nvSpPr>
        <p:spPr>
          <a:xfrm>
            <a:off x="8698687" y="6419088"/>
            <a:ext cx="2926080" cy="274320"/>
          </a:xfrm>
          <a:prstGeom prst="rect">
            <a:avLst/>
          </a:prstGeom>
          <a:noFill/>
        </p:spPr>
        <p:txBody>
          <a:bodyPr wrap="square" lIns="45720" rIns="45720" tIns="27432" bIns="27432" anchor="t">
            <a:noAutofit/>
          </a:bodyPr>
          <a:lstStyle/>
          <a:p>
            <a:pPr algn="r">
              <a:lnSpc>
                <a:spcPct val="100000"/>
              </a:lnSpc>
            </a:pPr>
            <a:r>
              <a:rPr sz="850" b="0" i="0" spc="100">
                <a:solidFill>
                  <a:srgbClr val="A7B2B0"/>
                </a:solidFill>
                <a:latin typeface="Segoe UI Semibold"/>
              </a:rPr>
              <a:t>v1.91.1   ·   178</a:t>
            </a:r>
          </a:p>
        </p:txBody>
      </p:sp>
    </p:spTree>
  </p:cSld>
  <p:clrMapOvr>
    <a:masterClrMapping/>
  </p:clrMapOvr>
</p:sld>
</file>

<file path=ppt/slides/slide17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appendix.png"/>
          <p:cNvPicPr>
            <a:picLocks noChangeAspect="1"/>
          </p:cNvPicPr>
          <p:nvPr/>
        </p:nvPicPr>
        <p:blipFill>
          <a:blip r:embed="rId2"/>
          <a:stretch>
            <a:fillRect/>
          </a:stretch>
        </p:blipFill>
        <p:spPr>
          <a:xfrm>
            <a:off x="0" y="0"/>
            <a:ext cx="12191695" cy="6858000"/>
          </a:xfrm>
          <a:prstGeom prst="rect">
            <a:avLst/>
          </a:prstGeom>
        </p:spPr>
      </p:pic>
      <p:sp>
        <p:nvSpPr>
          <p:cNvPr id="3" name="TextBox 2"/>
          <p:cNvSpPr txBox="1"/>
          <p:nvPr/>
        </p:nvSpPr>
        <p:spPr>
          <a:xfrm>
            <a:off x="566928" y="384048"/>
            <a:ext cx="8686800" cy="329184"/>
          </a:xfrm>
          <a:prstGeom prst="rect">
            <a:avLst/>
          </a:prstGeom>
          <a:noFill/>
        </p:spPr>
        <p:txBody>
          <a:bodyPr wrap="square" lIns="45720" rIns="45720" tIns="27432" bIns="27432" anchor="t">
            <a:noAutofit/>
          </a:bodyPr>
          <a:lstStyle/>
          <a:p>
            <a:pPr algn="l">
              <a:lnSpc>
                <a:spcPct val="100000"/>
              </a:lnSpc>
            </a:pPr>
            <a:r>
              <a:rPr sz="1100" b="0" i="0" spc="200">
                <a:solidFill>
                  <a:srgbClr val="C98457"/>
                </a:solidFill>
                <a:latin typeface="Segoe UI Semibold"/>
              </a:rPr>
              <a:t>APÉNDICE A  ·  ÁRBOL DE ARCHIVOS DE LA APLICACIÓN  ·  5 / 20</a:t>
            </a:r>
          </a:p>
        </p:txBody>
      </p:sp>
      <p:sp>
        <p:nvSpPr>
          <p:cNvPr id="4" name="TextBox 3"/>
          <p:cNvSpPr txBox="1"/>
          <p:nvPr/>
        </p:nvSpPr>
        <p:spPr>
          <a:xfrm>
            <a:off x="566928" y="731520"/>
            <a:ext cx="11057839" cy="384048"/>
          </a:xfrm>
          <a:prstGeom prst="rect">
            <a:avLst/>
          </a:prstGeom>
          <a:noFill/>
        </p:spPr>
        <p:txBody>
          <a:bodyPr wrap="square" lIns="45720" rIns="45720" tIns="27432" bIns="27432" anchor="t">
            <a:noAutofit/>
          </a:bodyPr>
          <a:lstStyle/>
          <a:p>
            <a:pPr algn="l">
              <a:lnSpc>
                <a:spcPct val="100000"/>
              </a:lnSpc>
            </a:pPr>
            <a:r>
              <a:rPr sz="1300" b="0" i="0">
                <a:solidFill>
                  <a:srgbClr val="A7B2B0"/>
                </a:solidFill>
                <a:latin typeface="Segoe UI"/>
              </a:rPr>
              <a:t>1,898 archivos listados en el commit 21b0a5c; 221 archivos de la historia de la base de datos resumidos.</a:t>
            </a:r>
          </a:p>
        </p:txBody>
      </p:sp>
      <p:sp>
        <p:nvSpPr>
          <p:cNvPr id="5" name="TextBox 4"/>
          <p:cNvSpPr txBox="1"/>
          <p:nvPr/>
        </p:nvSpPr>
        <p:spPr>
          <a:xfrm>
            <a:off x="566928" y="1170432"/>
            <a:ext cx="3515258" cy="5084064"/>
          </a:xfrm>
          <a:prstGeom prst="rect">
            <a:avLst/>
          </a:prstGeom>
          <a:noFill/>
        </p:spPr>
        <p:txBody>
          <a:bodyPr wrap="none" lIns="45720" rIns="45720" tIns="27432" bIns="27432" anchor="t">
            <a:noAutofit/>
          </a:bodyPr>
          <a:lstStyle/>
          <a:p>
            <a:pPr algn="l">
              <a:lnSpc>
                <a:spcPct val="100000"/>
              </a:lnSpc>
            </a:pPr>
            <a:r>
              <a:rPr sz="800" b="0" i="0">
                <a:solidFill>
                  <a:srgbClr val="ECE7DC"/>
                </a:solidFill>
                <a:latin typeface="Consolas"/>
              </a:rPr>
              <a:t>│   │       │   ├── pdf_context.py.json</a:t>
            </a:r>
          </a:p>
          <a:p>
            <a:pPr algn="l">
              <a:lnSpc>
                <a:spcPct val="100000"/>
              </a:lnSpc>
            </a:pPr>
            <a:r>
              <a:rPr sz="800" b="0" i="0">
                <a:solidFill>
                  <a:srgbClr val="ECE7DC"/>
                </a:solidFill>
                <a:latin typeface="Consolas"/>
              </a:rPr>
              <a:t>│   │       │   ├── pdf_context_jobs.py.json</a:t>
            </a:r>
          </a:p>
          <a:p>
            <a:pPr algn="l">
              <a:lnSpc>
                <a:spcPct val="100000"/>
              </a:lnSpc>
            </a:pPr>
            <a:r>
              <a:rPr sz="800" b="0" i="0">
                <a:solidFill>
                  <a:srgbClr val="ECE7DC"/>
                </a:solidFill>
                <a:latin typeface="Consolas"/>
              </a:rPr>
              <a:t>│   │       │   ├── pdf_context_views.py.json</a:t>
            </a:r>
          </a:p>
          <a:p>
            <a:pPr algn="l">
              <a:lnSpc>
                <a:spcPct val="100000"/>
              </a:lnSpc>
            </a:pPr>
            <a:r>
              <a:rPr sz="800" b="0" i="0">
                <a:solidFill>
                  <a:srgbClr val="ECE7DC"/>
                </a:solidFill>
                <a:latin typeface="Consolas"/>
              </a:rPr>
              <a:t>│   │       │   ├── prompt.pmt.json</a:t>
            </a:r>
          </a:p>
          <a:p>
            <a:pPr algn="l">
              <a:lnSpc>
                <a:spcPct val="100000"/>
              </a:lnSpc>
            </a:pPr>
            <a:r>
              <a:rPr sz="800" b="0" i="0">
                <a:solidFill>
                  <a:srgbClr val="ECE7DC"/>
                </a:solidFill>
                <a:latin typeface="Consolas"/>
              </a:rPr>
              <a:t>│   │       │   ├── prompt_flow_panel_consumer.py.json</a:t>
            </a:r>
          </a:p>
          <a:p>
            <a:pPr algn="l">
              <a:lnSpc>
                <a:spcPct val="100000"/>
              </a:lnSpc>
            </a:pPr>
            <a:r>
              <a:rPr sz="800" b="0" i="0">
                <a:solidFill>
                  <a:srgbClr val="ECE7DC"/>
                </a:solidFill>
                <a:latin typeface="Consolas"/>
              </a:rPr>
              <a:t>│   │       │   ├── runtime_provisioner.py.json</a:t>
            </a:r>
          </a:p>
          <a:p>
            <a:pPr algn="l">
              <a:lnSpc>
                <a:spcPct val="100000"/>
              </a:lnSpc>
            </a:pPr>
            <a:r>
              <a:rPr sz="800" b="0" i="0">
                <a:solidFill>
                  <a:srgbClr val="ECE7DC"/>
                </a:solidFill>
                <a:latin typeface="Consolas"/>
              </a:rPr>
              <a:t>│   │       │   ├── self_healing.py.json</a:t>
            </a:r>
          </a:p>
          <a:p>
            <a:pPr algn="l">
              <a:lnSpc>
                <a:spcPct val="100000"/>
              </a:lnSpc>
            </a:pPr>
            <a:r>
              <a:rPr sz="800" b="0" i="0">
                <a:solidFill>
                  <a:srgbClr val="ECE7DC"/>
                </a:solidFill>
                <a:latin typeface="Consolas"/>
              </a:rPr>
              <a:t>│   │       │   ├── self_update.py.json</a:t>
            </a:r>
          </a:p>
          <a:p>
            <a:pPr algn="l">
              <a:lnSpc>
                <a:spcPct val="100000"/>
              </a:lnSpc>
            </a:pPr>
            <a:r>
              <a:rPr sz="800" b="0" i="0">
                <a:solidFill>
                  <a:srgbClr val="ECE7DC"/>
                </a:solidFill>
                <a:latin typeface="Consolas"/>
              </a:rPr>
              <a:t>│   │       │   ├── terminal_consumer.py.json</a:t>
            </a:r>
          </a:p>
          <a:p>
            <a:pPr algn="l">
              <a:lnSpc>
                <a:spcPct val="100000"/>
              </a:lnSpc>
            </a:pPr>
            <a:r>
              <a:rPr sz="800" b="0" i="0">
                <a:solidFill>
                  <a:srgbClr val="ECE7DC"/>
                </a:solidFill>
                <a:latin typeface="Consolas"/>
              </a:rPr>
              <a:t>│   │       │   ├── terminal_hub.py.json</a:t>
            </a:r>
          </a:p>
          <a:p>
            <a:pPr algn="l">
              <a:lnSpc>
                <a:spcPct val="100000"/>
              </a:lnSpc>
            </a:pPr>
            <a:r>
              <a:rPr sz="800" b="0" i="0">
                <a:solidFill>
                  <a:srgbClr val="ECE7DC"/>
                </a:solidFill>
                <a:latin typeface="Consolas"/>
              </a:rPr>
              <a:t>│   │       │   ├── terminal_views.py.json</a:t>
            </a:r>
          </a:p>
          <a:p>
            <a:pPr algn="l">
              <a:lnSpc>
                <a:spcPct val="100000"/>
              </a:lnSpc>
            </a:pPr>
            <a:r>
              <a:rPr sz="800" b="0" i="0">
                <a:solidFill>
                  <a:srgbClr val="ECE7DC"/>
                </a:solidFill>
                <a:latin typeface="Consolas"/>
              </a:rPr>
              <a:t>│   │       │   ├── terminater_tool.py.json</a:t>
            </a:r>
          </a:p>
          <a:p>
            <a:pPr algn="l">
              <a:lnSpc>
                <a:spcPct val="100000"/>
              </a:lnSpc>
            </a:pPr>
            <a:r>
              <a:rPr sz="800" b="0" i="0">
                <a:solidFill>
                  <a:srgbClr val="ECE7DC"/>
                </a:solidFill>
                <a:latin typeface="Consolas"/>
              </a:rPr>
              <a:t>│   │       │   ├── test_agent_manifest.py.json</a:t>
            </a:r>
          </a:p>
          <a:p>
            <a:pPr algn="l">
              <a:lnSpc>
                <a:spcPct val="100000"/>
              </a:lnSpc>
            </a:pPr>
            <a:r>
              <a:rPr sz="800" b="0" i="0">
                <a:solidFill>
                  <a:srgbClr val="ECE7DC"/>
                </a:solidFill>
                <a:latin typeface="Consolas"/>
              </a:rPr>
              <a:t>│   │       │   ├── test_build_root_assets.py.json</a:t>
            </a:r>
          </a:p>
          <a:p>
            <a:pPr algn="l">
              <a:lnSpc>
                <a:spcPct val="100000"/>
              </a:lnSpc>
            </a:pPr>
            <a:r>
              <a:rPr sz="800" b="0" i="0">
                <a:solidFill>
                  <a:srgbClr val="ECE7DC"/>
                </a:solidFill>
                <a:latin typeface="Consolas"/>
              </a:rPr>
              <a:t>│   │       │   ├── test_createsuperuser_wizard.py.json</a:t>
            </a:r>
          </a:p>
          <a:p>
            <a:pPr algn="l">
              <a:lnSpc>
                <a:spcPct val="100000"/>
              </a:lnSpc>
            </a:pPr>
            <a:r>
              <a:rPr sz="800" b="0" i="0">
                <a:solidFill>
                  <a:srgbClr val="ECE7DC"/>
                </a:solidFill>
                <a:latin typeface="Consolas"/>
              </a:rPr>
              <a:t>│   │       │   ├── test_deep_research_prompt.py.json</a:t>
            </a:r>
          </a:p>
          <a:p>
            <a:pPr algn="l">
              <a:lnSpc>
                <a:spcPct val="100000"/>
              </a:lnSpc>
            </a:pPr>
            <a:r>
              <a:rPr sz="800" b="0" i="0">
                <a:solidFill>
                  <a:srgbClr val="ECE7DC"/>
                </a:solidFill>
                <a:latin typeface="Consolas"/>
              </a:rPr>
              <a:t>│   │       │   ├── test_django_port_config.py.json</a:t>
            </a:r>
          </a:p>
          <a:p>
            <a:pPr algn="l">
              <a:lnSpc>
                <a:spcPct val="100000"/>
              </a:lnSpc>
            </a:pPr>
            <a:r>
              <a:rPr sz="800" b="0" i="0">
                <a:solidFill>
                  <a:srgbClr val="ECE7DC"/>
                </a:solidFill>
                <a:latin typeface="Consolas"/>
              </a:rPr>
              <a:t>│   │       │   ├── test_frontend_mutable_state.py.json</a:t>
            </a:r>
          </a:p>
          <a:p>
            <a:pPr algn="l">
              <a:lnSpc>
                <a:spcPct val="100000"/>
              </a:lnSpc>
            </a:pPr>
            <a:r>
              <a:rPr sz="800" b="0" i="0">
                <a:solidFill>
                  <a:srgbClr val="ECE7DC"/>
                </a:solidFill>
                <a:latin typeface="Consolas"/>
              </a:rPr>
              <a:t>│   │       │   ├── test_mcp_configured_endpoints.py.jso</a:t>
            </a:r>
          </a:p>
          <a:p>
            <a:pPr algn="l">
              <a:lnSpc>
                <a:spcPct val="100000"/>
              </a:lnSpc>
            </a:pPr>
            <a:r>
              <a:rPr sz="800" b="0" i="0">
                <a:solidFill>
                  <a:srgbClr val="ECE7DC"/>
                </a:solidFill>
                <a:latin typeface="Consolas"/>
              </a:rPr>
              <a:t>│   │       │   │     » n</a:t>
            </a:r>
          </a:p>
          <a:p>
            <a:pPr algn="l">
              <a:lnSpc>
                <a:spcPct val="100000"/>
              </a:lnSpc>
            </a:pPr>
            <a:r>
              <a:rPr sz="800" b="0" i="0">
                <a:solidFill>
                  <a:srgbClr val="ECE7DC"/>
                </a:solidFill>
                <a:latin typeface="Consolas"/>
              </a:rPr>
              <a:t>│   │       │   ├── test_model_brain.py.json</a:t>
            </a:r>
          </a:p>
          <a:p>
            <a:pPr algn="l">
              <a:lnSpc>
                <a:spcPct val="100000"/>
              </a:lnSpc>
            </a:pPr>
            <a:r>
              <a:rPr sz="800" b="0" i="0">
                <a:solidFill>
                  <a:srgbClr val="ECE7DC"/>
                </a:solidFill>
                <a:latin typeface="Consolas"/>
              </a:rPr>
              <a:t>│   │       │   ├── test_prompt_catalog_contiguous.py.js</a:t>
            </a:r>
          </a:p>
          <a:p>
            <a:pPr algn="l">
              <a:lnSpc>
                <a:spcPct val="100000"/>
              </a:lnSpc>
            </a:pPr>
            <a:r>
              <a:rPr sz="800" b="0" i="0">
                <a:solidFill>
                  <a:srgbClr val="ECE7DC"/>
                </a:solidFill>
                <a:latin typeface="Consolas"/>
              </a:rPr>
              <a:t>│   │       │   │     » on</a:t>
            </a:r>
          </a:p>
          <a:p>
            <a:pPr algn="l">
              <a:lnSpc>
                <a:spcPct val="100000"/>
              </a:lnSpc>
            </a:pPr>
            <a:r>
              <a:rPr sz="800" b="0" i="0">
                <a:solidFill>
                  <a:srgbClr val="ECE7DC"/>
                </a:solidFill>
                <a:latin typeface="Consolas"/>
              </a:rPr>
              <a:t>│   │       │   ├── test_prompt_flow_panel_carriage.py.j</a:t>
            </a:r>
          </a:p>
          <a:p>
            <a:pPr algn="l">
              <a:lnSpc>
                <a:spcPct val="100000"/>
              </a:lnSpc>
            </a:pPr>
            <a:r>
              <a:rPr sz="800" b="0" i="0">
                <a:solidFill>
                  <a:srgbClr val="ECE7DC"/>
                </a:solidFill>
                <a:latin typeface="Consolas"/>
              </a:rPr>
              <a:t>│   │       │   │     » son</a:t>
            </a:r>
          </a:p>
          <a:p>
            <a:pPr algn="l">
              <a:lnSpc>
                <a:spcPct val="100000"/>
              </a:lnSpc>
            </a:pPr>
            <a:r>
              <a:rPr sz="800" b="0" i="0">
                <a:solidFill>
                  <a:srgbClr val="ECE7DC"/>
                </a:solidFill>
                <a:latin typeface="Consolas"/>
              </a:rPr>
              <a:t>│   │       │   ├── test_self_update.py.json</a:t>
            </a:r>
          </a:p>
          <a:p>
            <a:pPr algn="l">
              <a:lnSpc>
                <a:spcPct val="100000"/>
              </a:lnSpc>
            </a:pPr>
            <a:r>
              <a:rPr sz="800" b="0" i="0">
                <a:solidFill>
                  <a:srgbClr val="ECE7DC"/>
                </a:solidFill>
                <a:latin typeface="Consolas"/>
              </a:rPr>
              <a:t>│   │       │   ├── test_uninstaller_lifecycle.py.json</a:t>
            </a:r>
          </a:p>
          <a:p>
            <a:pPr algn="l">
              <a:lnSpc>
                <a:spcPct val="100000"/>
              </a:lnSpc>
            </a:pPr>
            <a:r>
              <a:rPr sz="800" b="0" i="0">
                <a:solidFill>
                  <a:srgbClr val="ECE7DC"/>
                </a:solidFill>
                <a:latin typeface="Consolas"/>
              </a:rPr>
              <a:t>│   │       │   ├── test_voice_commands_catalog.py.json</a:t>
            </a:r>
          </a:p>
          <a:p>
            <a:pPr algn="l">
              <a:lnSpc>
                <a:spcPct val="100000"/>
              </a:lnSpc>
            </a:pPr>
            <a:r>
              <a:rPr sz="800" b="0" i="0">
                <a:solidFill>
                  <a:srgbClr val="ECE7DC"/>
                </a:solidFill>
                <a:latin typeface="Consolas"/>
              </a:rPr>
              <a:t>│   │       │   ├── test_windows_app_registration.py.jso</a:t>
            </a:r>
          </a:p>
          <a:p>
            <a:pPr algn="l">
              <a:lnSpc>
                <a:spcPct val="100000"/>
              </a:lnSpc>
            </a:pPr>
            <a:r>
              <a:rPr sz="800" b="0" i="0">
                <a:solidFill>
                  <a:srgbClr val="ECE7DC"/>
                </a:solidFill>
                <a:latin typeface="Consolas"/>
              </a:rPr>
              <a:t>│   │       │   │     » n</a:t>
            </a:r>
          </a:p>
          <a:p>
            <a:pPr algn="l">
              <a:lnSpc>
                <a:spcPct val="100000"/>
              </a:lnSpc>
            </a:pPr>
            <a:r>
              <a:rPr sz="800" b="0" i="0">
                <a:solidFill>
                  <a:srgbClr val="ECE7DC"/>
                </a:solidFill>
                <a:latin typeface="Consolas"/>
              </a:rPr>
              <a:t>│   │       │   ├── test_wizard_intent_guards.py.json</a:t>
            </a:r>
          </a:p>
          <a:p>
            <a:pPr algn="l">
              <a:lnSpc>
                <a:spcPct val="100000"/>
              </a:lnSpc>
            </a:pPr>
            <a:r>
              <a:rPr sz="800" b="0" i="0">
                <a:solidFill>
                  <a:srgbClr val="ECE7DC"/>
                </a:solidFill>
                <a:latin typeface="Consolas"/>
              </a:rPr>
              <a:t>│   │       │   ├── tools.py.json</a:t>
            </a:r>
          </a:p>
          <a:p>
            <a:pPr algn="l">
              <a:lnSpc>
                <a:spcPct val="100000"/>
              </a:lnSpc>
            </a:pPr>
            <a:r>
              <a:rPr sz="800" b="0" i="0">
                <a:solidFill>
                  <a:srgbClr val="ECE7DC"/>
                </a:solidFill>
                <a:latin typeface="Consolas"/>
              </a:rPr>
              <a:t>│   │       │   ├── usage_provider.py.json</a:t>
            </a:r>
          </a:p>
          <a:p>
            <a:pPr algn="l">
              <a:lnSpc>
                <a:spcPct val="100000"/>
              </a:lnSpc>
            </a:pPr>
            <a:r>
              <a:rPr sz="800" b="0" i="0">
                <a:solidFill>
                  <a:srgbClr val="ECE7DC"/>
                </a:solidFill>
                <a:latin typeface="Consolas"/>
              </a:rPr>
              <a:t>│   │       │   ├── usage_views.py.json</a:t>
            </a:r>
          </a:p>
          <a:p>
            <a:pPr algn="l">
              <a:lnSpc>
                <a:spcPct val="100000"/>
              </a:lnSpc>
            </a:pPr>
            <a:r>
              <a:rPr sz="800" b="0" i="0">
                <a:solidFill>
                  <a:srgbClr val="ECE7DC"/>
                </a:solidFill>
                <a:latin typeface="Consolas"/>
              </a:rPr>
              <a:t>│   │       │   ├── version.py.json</a:t>
            </a:r>
          </a:p>
          <a:p>
            <a:pPr algn="l">
              <a:lnSpc>
                <a:spcPct val="100000"/>
              </a:lnSpc>
            </a:pPr>
            <a:r>
              <a:rPr sz="800" b="0" i="0">
                <a:solidFill>
                  <a:srgbClr val="ECE7DC"/>
                </a:solidFill>
                <a:latin typeface="Consolas"/>
              </a:rPr>
              <a:t>│   │       │   ├── views.py.json</a:t>
            </a:r>
          </a:p>
          <a:p>
            <a:pPr algn="l">
              <a:lnSpc>
                <a:spcPct val="100000"/>
              </a:lnSpc>
            </a:pPr>
            <a:r>
              <a:rPr sz="800" b="0" i="0">
                <a:solidFill>
                  <a:srgbClr val="ECE7DC"/>
                </a:solidFill>
                <a:latin typeface="Consolas"/>
              </a:rPr>
              <a:t>│   │       │   ├── visual_error_reporting.py.json</a:t>
            </a:r>
          </a:p>
          <a:p>
            <a:pPr algn="l">
              <a:lnSpc>
                <a:spcPct val="100000"/>
              </a:lnSpc>
            </a:pPr>
            <a:r>
              <a:rPr sz="800" b="0" i="0">
                <a:solidFill>
                  <a:srgbClr val="ECE7DC"/>
                </a:solidFill>
                <a:latin typeface="Consolas"/>
              </a:rPr>
              <a:t>│   │       │   ├── windows_app_registration.py.json</a:t>
            </a:r>
          </a:p>
          <a:p>
            <a:pPr algn="l">
              <a:lnSpc>
                <a:spcPct val="100000"/>
              </a:lnSpc>
            </a:pPr>
            <a:r>
              <a:rPr sz="800" b="0" i="0">
                <a:solidFill>
                  <a:srgbClr val="3BBE93"/>
                </a:solidFill>
                <a:latin typeface="Consolas"/>
              </a:rPr>
              <a:t>│   │       │   ├── agents/</a:t>
            </a:r>
          </a:p>
          <a:p>
            <a:pPr algn="l">
              <a:lnSpc>
                <a:spcPct val="100000"/>
              </a:lnSpc>
            </a:pPr>
            <a:r>
              <a:rPr sz="800" b="0" i="0">
                <a:solidFill>
                  <a:srgbClr val="ECE7DC"/>
                </a:solidFill>
                <a:latin typeface="Consolas"/>
              </a:rPr>
              <a:t>│   │       │   │   ├── model_settings.py.json</a:t>
            </a:r>
          </a:p>
          <a:p>
            <a:pPr algn="l">
              <a:lnSpc>
                <a:spcPct val="100000"/>
              </a:lnSpc>
            </a:pPr>
            <a:r>
              <a:rPr sz="800" b="0" i="0">
                <a:solidFill>
                  <a:srgbClr val="3BBE93"/>
                </a:solidFill>
                <a:latin typeface="Consolas"/>
              </a:rPr>
              <a:t>│   │       │   │   ├── arduiner/</a:t>
            </a:r>
          </a:p>
        </p:txBody>
      </p:sp>
      <p:sp>
        <p:nvSpPr>
          <p:cNvPr id="6" name="TextBox 5"/>
          <p:cNvSpPr txBox="1"/>
          <p:nvPr/>
        </p:nvSpPr>
        <p:spPr>
          <a:xfrm>
            <a:off x="4338218" y="1170432"/>
            <a:ext cx="3515258" cy="5084064"/>
          </a:xfrm>
          <a:prstGeom prst="rect">
            <a:avLst/>
          </a:prstGeom>
          <a:noFill/>
        </p:spPr>
        <p:txBody>
          <a:bodyPr wrap="none" lIns="45720" rIns="45720" tIns="27432" bIns="27432" anchor="t">
            <a:noAutofit/>
          </a:bodyPr>
          <a:lstStyle/>
          <a:p>
            <a:pPr algn="l">
              <a:lnSpc>
                <a:spcPct val="100000"/>
              </a:lnSpc>
            </a:pPr>
            <a:r>
              <a:rPr sz="800" b="0" i="0">
                <a:solidFill>
                  <a:srgbClr val="ECE7DC"/>
                </a:solidFill>
                <a:latin typeface="Consolas"/>
              </a:rPr>
              <a:t>│   │       │   │   │   └── arduiner.py.json</a:t>
            </a:r>
          </a:p>
          <a:p>
            <a:pPr algn="l">
              <a:lnSpc>
                <a:spcPct val="100000"/>
              </a:lnSpc>
            </a:pPr>
            <a:r>
              <a:rPr sz="800" b="0" i="0">
                <a:solidFill>
                  <a:srgbClr val="3BBE93"/>
                </a:solidFill>
                <a:latin typeface="Consolas"/>
              </a:rPr>
              <a:t>│   │       │   │   ├── camcorder/</a:t>
            </a:r>
          </a:p>
          <a:p>
            <a:pPr algn="l">
              <a:lnSpc>
                <a:spcPct val="100000"/>
              </a:lnSpc>
            </a:pPr>
            <a:r>
              <a:rPr sz="800" b="0" i="0">
                <a:solidFill>
                  <a:srgbClr val="ECE7DC"/>
                </a:solidFill>
                <a:latin typeface="Consolas"/>
              </a:rPr>
              <a:t>│   │       │   │   │   └── camcorder.py.json</a:t>
            </a:r>
          </a:p>
          <a:p>
            <a:pPr algn="l">
              <a:lnSpc>
                <a:spcPct val="100000"/>
              </a:lnSpc>
            </a:pPr>
            <a:r>
              <a:rPr sz="800" b="0" i="0">
                <a:solidFill>
                  <a:srgbClr val="3BBE93"/>
                </a:solidFill>
                <a:latin typeface="Consolas"/>
              </a:rPr>
              <a:t>│   │       │   │   ├── discoverer/</a:t>
            </a:r>
          </a:p>
          <a:p>
            <a:pPr algn="l">
              <a:lnSpc>
                <a:spcPct val="100000"/>
              </a:lnSpc>
            </a:pPr>
            <a:r>
              <a:rPr sz="800" b="0" i="0">
                <a:solidFill>
                  <a:srgbClr val="ECE7DC"/>
                </a:solidFill>
                <a:latin typeface="Consolas"/>
              </a:rPr>
              <a:t>│   │       │   │   │   └── discoverer.py.json</a:t>
            </a:r>
          </a:p>
          <a:p>
            <a:pPr algn="l">
              <a:lnSpc>
                <a:spcPct val="100000"/>
              </a:lnSpc>
            </a:pPr>
            <a:r>
              <a:rPr sz="800" b="0" i="0">
                <a:solidFill>
                  <a:srgbClr val="3BBE93"/>
                </a:solidFill>
                <a:latin typeface="Consolas"/>
              </a:rPr>
              <a:t>│   │       │   │   ├── esp32er/</a:t>
            </a:r>
          </a:p>
          <a:p>
            <a:pPr algn="l">
              <a:lnSpc>
                <a:spcPct val="100000"/>
              </a:lnSpc>
            </a:pPr>
            <a:r>
              <a:rPr sz="800" b="0" i="0">
                <a:solidFill>
                  <a:srgbClr val="ECE7DC"/>
                </a:solidFill>
                <a:latin typeface="Consolas"/>
              </a:rPr>
              <a:t>│   │       │   │   │   └── esp32er.py.json</a:t>
            </a:r>
          </a:p>
          <a:p>
            <a:pPr algn="l">
              <a:lnSpc>
                <a:spcPct val="100000"/>
              </a:lnSpc>
            </a:pPr>
            <a:r>
              <a:rPr sz="800" b="0" i="0">
                <a:solidFill>
                  <a:srgbClr val="3BBE93"/>
                </a:solidFill>
                <a:latin typeface="Consolas"/>
              </a:rPr>
              <a:t>│   │       │   │   ├── esphomer/</a:t>
            </a:r>
          </a:p>
          <a:p>
            <a:pPr algn="l">
              <a:lnSpc>
                <a:spcPct val="100000"/>
              </a:lnSpc>
            </a:pPr>
            <a:r>
              <a:rPr sz="800" b="0" i="0">
                <a:solidFill>
                  <a:srgbClr val="ECE7DC"/>
                </a:solidFill>
                <a:latin typeface="Consolas"/>
              </a:rPr>
              <a:t>│   │       │   │   │   └── esphomer.py.json</a:t>
            </a:r>
          </a:p>
          <a:p>
            <a:pPr algn="l">
              <a:lnSpc>
                <a:spcPct val="100000"/>
              </a:lnSpc>
            </a:pPr>
            <a:r>
              <a:rPr sz="800" b="0" i="0">
                <a:solidFill>
                  <a:srgbClr val="3BBE93"/>
                </a:solidFill>
                <a:latin typeface="Consolas"/>
              </a:rPr>
              <a:t>│   │       │   │   ├── googler/</a:t>
            </a:r>
          </a:p>
          <a:p>
            <a:pPr algn="l">
              <a:lnSpc>
                <a:spcPct val="100000"/>
              </a:lnSpc>
            </a:pPr>
            <a:r>
              <a:rPr sz="800" b="0" i="0">
                <a:solidFill>
                  <a:srgbClr val="ECE7DC"/>
                </a:solidFill>
                <a:latin typeface="Consolas"/>
              </a:rPr>
              <a:t>│   │       │   │   │   └── googler_engines.py.json</a:t>
            </a:r>
          </a:p>
          <a:p>
            <a:pPr algn="l">
              <a:lnSpc>
                <a:spcPct val="100000"/>
              </a:lnSpc>
            </a:pPr>
            <a:r>
              <a:rPr sz="800" b="0" i="0">
                <a:solidFill>
                  <a:srgbClr val="3BBE93"/>
                </a:solidFill>
                <a:latin typeface="Consolas"/>
              </a:rPr>
              <a:t>│   │       │   │   ├── latexer/</a:t>
            </a:r>
          </a:p>
          <a:p>
            <a:pPr algn="l">
              <a:lnSpc>
                <a:spcPct val="100000"/>
              </a:lnSpc>
            </a:pPr>
            <a:r>
              <a:rPr sz="800" b="0" i="0">
                <a:solidFill>
                  <a:srgbClr val="ECE7DC"/>
                </a:solidFill>
                <a:latin typeface="Consolas"/>
              </a:rPr>
              <a:t>│   │       │   │   │   └── latexer.py.json</a:t>
            </a:r>
          </a:p>
          <a:p>
            <a:pPr algn="l">
              <a:lnSpc>
                <a:spcPct val="100000"/>
              </a:lnSpc>
            </a:pPr>
            <a:r>
              <a:rPr sz="800" b="0" i="0">
                <a:solidFill>
                  <a:srgbClr val="3BBE93"/>
                </a:solidFill>
                <a:latin typeface="Consolas"/>
              </a:rPr>
              <a:t>│   │       │   │   ├── mcp_doctor/</a:t>
            </a:r>
          </a:p>
          <a:p>
            <a:pPr algn="l">
              <a:lnSpc>
                <a:spcPct val="100000"/>
              </a:lnSpc>
            </a:pPr>
            <a:r>
              <a:rPr sz="800" b="0" i="0">
                <a:solidFill>
                  <a:srgbClr val="ECE7DC"/>
                </a:solidFill>
                <a:latin typeface="Consolas"/>
              </a:rPr>
              <a:t>│   │       │   │   │   └── mcp_doctor.py.json</a:t>
            </a:r>
          </a:p>
          <a:p>
            <a:pPr algn="l">
              <a:lnSpc>
                <a:spcPct val="100000"/>
              </a:lnSpc>
            </a:pPr>
            <a:r>
              <a:rPr sz="800" b="0" i="0">
                <a:solidFill>
                  <a:srgbClr val="3BBE93"/>
                </a:solidFill>
                <a:latin typeface="Consolas"/>
              </a:rPr>
              <a:t>│   │       │   │   ├── netspeed_calculator/</a:t>
            </a:r>
          </a:p>
          <a:p>
            <a:pPr algn="l">
              <a:lnSpc>
                <a:spcPct val="100000"/>
              </a:lnSpc>
            </a:pPr>
            <a:r>
              <a:rPr sz="800" b="0" i="0">
                <a:solidFill>
                  <a:srgbClr val="ECE7DC"/>
                </a:solidFill>
                <a:latin typeface="Consolas"/>
              </a:rPr>
              <a:t>│   │       │   │   │   └── netspeed_calculator.py.json</a:t>
            </a:r>
          </a:p>
          <a:p>
            <a:pPr algn="l">
              <a:lnSpc>
                <a:spcPct val="100000"/>
              </a:lnSpc>
            </a:pPr>
            <a:r>
              <a:rPr sz="800" b="0" i="0">
                <a:solidFill>
                  <a:srgbClr val="3BBE93"/>
                </a:solidFill>
                <a:latin typeface="Consolas"/>
              </a:rPr>
              <a:t>│   │       │   │   ├── nmapper/</a:t>
            </a:r>
          </a:p>
          <a:p>
            <a:pPr algn="l">
              <a:lnSpc>
                <a:spcPct val="100000"/>
              </a:lnSpc>
            </a:pPr>
            <a:r>
              <a:rPr sz="800" b="0" i="0">
                <a:solidFill>
                  <a:srgbClr val="ECE7DC"/>
                </a:solidFill>
                <a:latin typeface="Consolas"/>
              </a:rPr>
              <a:t>│   │       │   │   │   └── nmapper.py.json</a:t>
            </a:r>
          </a:p>
          <a:p>
            <a:pPr algn="l">
              <a:lnSpc>
                <a:spcPct val="100000"/>
              </a:lnSpc>
            </a:pPr>
            <a:r>
              <a:rPr sz="800" b="0" i="0">
                <a:solidFill>
                  <a:srgbClr val="3BBE93"/>
                </a:solidFill>
                <a:latin typeface="Consolas"/>
              </a:rPr>
              <a:t>│   │       │   │   ├── stm32er/</a:t>
            </a:r>
          </a:p>
          <a:p>
            <a:pPr algn="l">
              <a:lnSpc>
                <a:spcPct val="100000"/>
              </a:lnSpc>
            </a:pPr>
            <a:r>
              <a:rPr sz="800" b="0" i="0">
                <a:solidFill>
                  <a:srgbClr val="ECE7DC"/>
                </a:solidFill>
                <a:latin typeface="Consolas"/>
              </a:rPr>
              <a:t>│   │       │   │   │   └── stm32er.py.json</a:t>
            </a:r>
          </a:p>
          <a:p>
            <a:pPr algn="l">
              <a:lnSpc>
                <a:spcPct val="100000"/>
              </a:lnSpc>
            </a:pPr>
            <a:r>
              <a:rPr sz="800" b="0" i="0">
                <a:solidFill>
                  <a:srgbClr val="3BBE93"/>
                </a:solidFill>
                <a:latin typeface="Consolas"/>
              </a:rPr>
              <a:t>│   │       │   │   ├── talker/</a:t>
            </a:r>
          </a:p>
          <a:p>
            <a:pPr algn="l">
              <a:lnSpc>
                <a:spcPct val="100000"/>
              </a:lnSpc>
            </a:pPr>
            <a:r>
              <a:rPr sz="800" b="0" i="0">
                <a:solidFill>
                  <a:srgbClr val="ECE7DC"/>
                </a:solidFill>
                <a:latin typeface="Consolas"/>
              </a:rPr>
              <a:t>│   │       │   │   │   ├── config.yaml.json</a:t>
            </a:r>
          </a:p>
          <a:p>
            <a:pPr algn="l">
              <a:lnSpc>
                <a:spcPct val="100000"/>
              </a:lnSpc>
            </a:pPr>
            <a:r>
              <a:rPr sz="800" b="0" i="0">
                <a:solidFill>
                  <a:srgbClr val="ECE7DC"/>
                </a:solidFill>
                <a:latin typeface="Consolas"/>
              </a:rPr>
              <a:t>│   │       │   │   │   └── talker.py.json</a:t>
            </a:r>
          </a:p>
          <a:p>
            <a:pPr algn="l">
              <a:lnSpc>
                <a:spcPct val="100000"/>
              </a:lnSpc>
            </a:pPr>
            <a:r>
              <a:rPr sz="800" b="0" i="0">
                <a:solidFill>
                  <a:srgbClr val="3BBE93"/>
                </a:solidFill>
                <a:latin typeface="Consolas"/>
              </a:rPr>
              <a:t>│   │       │   │   ├── teletlamatini/</a:t>
            </a:r>
          </a:p>
          <a:p>
            <a:pPr algn="l">
              <a:lnSpc>
                <a:spcPct val="100000"/>
              </a:lnSpc>
            </a:pPr>
            <a:r>
              <a:rPr sz="800" b="0" i="0">
                <a:solidFill>
                  <a:srgbClr val="ECE7DC"/>
                </a:solidFill>
                <a:latin typeface="Consolas"/>
              </a:rPr>
              <a:t>│   │       │   │   │   ├── config.yaml.json</a:t>
            </a:r>
          </a:p>
          <a:p>
            <a:pPr algn="l">
              <a:lnSpc>
                <a:spcPct val="100000"/>
              </a:lnSpc>
            </a:pPr>
            <a:r>
              <a:rPr sz="800" b="0" i="0">
                <a:solidFill>
                  <a:srgbClr val="ECE7DC"/>
                </a:solidFill>
                <a:latin typeface="Consolas"/>
              </a:rPr>
              <a:t>│   │       │   │   │   └── teletlamatini.py.json</a:t>
            </a:r>
          </a:p>
          <a:p>
            <a:pPr algn="l">
              <a:lnSpc>
                <a:spcPct val="100000"/>
              </a:lnSpc>
            </a:pPr>
            <a:r>
              <a:rPr sz="800" b="0" i="0">
                <a:solidFill>
                  <a:srgbClr val="3BBE93"/>
                </a:solidFill>
                <a:latin typeface="Consolas"/>
              </a:rPr>
              <a:t>│   │       │   │   ├── terminater/</a:t>
            </a:r>
          </a:p>
          <a:p>
            <a:pPr algn="l">
              <a:lnSpc>
                <a:spcPct val="100000"/>
              </a:lnSpc>
            </a:pPr>
            <a:r>
              <a:rPr sz="800" b="0" i="0">
                <a:solidFill>
                  <a:srgbClr val="ECE7DC"/>
                </a:solidFill>
                <a:latin typeface="Consolas"/>
              </a:rPr>
              <a:t>│   │       │   │   │   └── terminater_engine.py.json</a:t>
            </a:r>
          </a:p>
          <a:p>
            <a:pPr algn="l">
              <a:lnSpc>
                <a:spcPct val="100000"/>
              </a:lnSpc>
            </a:pPr>
            <a:r>
              <a:rPr sz="800" b="0" i="0">
                <a:solidFill>
                  <a:srgbClr val="3BBE93"/>
                </a:solidFill>
                <a:latin typeface="Consolas"/>
              </a:rPr>
              <a:t>│   │       │   │   ├── video_analyzer/</a:t>
            </a:r>
          </a:p>
          <a:p>
            <a:pPr algn="l">
              <a:lnSpc>
                <a:spcPct val="100000"/>
              </a:lnSpc>
            </a:pPr>
            <a:r>
              <a:rPr sz="800" b="0" i="0">
                <a:solidFill>
                  <a:srgbClr val="ECE7DC"/>
                </a:solidFill>
                <a:latin typeface="Consolas"/>
              </a:rPr>
              <a:t>│   │       │   │   │   └── video_fetch.py.json</a:t>
            </a:r>
          </a:p>
          <a:p>
            <a:pPr algn="l">
              <a:lnSpc>
                <a:spcPct val="100000"/>
              </a:lnSpc>
            </a:pPr>
            <a:r>
              <a:rPr sz="800" b="0" i="0">
                <a:solidFill>
                  <a:srgbClr val="3BBE93"/>
                </a:solidFill>
                <a:latin typeface="Consolas"/>
              </a:rPr>
              <a:t>│   │       │   │   └── whisperer/</a:t>
            </a:r>
          </a:p>
          <a:p>
            <a:pPr algn="l">
              <a:lnSpc>
                <a:spcPct val="100000"/>
              </a:lnSpc>
            </a:pPr>
            <a:r>
              <a:rPr sz="800" b="0" i="0">
                <a:solidFill>
                  <a:srgbClr val="ECE7DC"/>
                </a:solidFill>
                <a:latin typeface="Consolas"/>
              </a:rPr>
              <a:t>│   │       │   │       └── config.yaml.json</a:t>
            </a:r>
          </a:p>
          <a:p>
            <a:pPr algn="l">
              <a:lnSpc>
                <a:spcPct val="100000"/>
              </a:lnSpc>
            </a:pPr>
            <a:r>
              <a:rPr sz="800" b="0" i="0">
                <a:solidFill>
                  <a:srgbClr val="3BBE93"/>
                </a:solidFill>
                <a:latin typeface="Consolas"/>
              </a:rPr>
              <a:t>│   │       │   ├── interactor/</a:t>
            </a:r>
          </a:p>
          <a:p>
            <a:pPr algn="l">
              <a:lnSpc>
                <a:spcPct val="100000"/>
              </a:lnSpc>
            </a:pPr>
            <a:r>
              <a:rPr sz="800" b="0" i="0">
                <a:solidFill>
                  <a:srgbClr val="ECE7DC"/>
                </a:solidFill>
                <a:latin typeface="Consolas"/>
              </a:rPr>
              <a:t>│   │       │   │   ├── consumer.py.json</a:t>
            </a:r>
          </a:p>
          <a:p>
            <a:pPr algn="l">
              <a:lnSpc>
                <a:spcPct val="100000"/>
              </a:lnSpc>
            </a:pPr>
            <a:r>
              <a:rPr sz="800" b="0" i="0">
                <a:solidFill>
                  <a:srgbClr val="ECE7DC"/>
                </a:solidFill>
                <a:latin typeface="Consolas"/>
              </a:rPr>
              <a:t>│   │       │   │   ├── editor.mjs.json</a:t>
            </a:r>
          </a:p>
          <a:p>
            <a:pPr algn="l">
              <a:lnSpc>
                <a:spcPct val="100000"/>
              </a:lnSpc>
            </a:pPr>
            <a:r>
              <a:rPr sz="800" b="0" i="0">
                <a:solidFill>
                  <a:srgbClr val="ECE7DC"/>
                </a:solidFill>
                <a:latin typeface="Consolas"/>
              </a:rPr>
              <a:t>│   │       │   │   └── protocol.py.json</a:t>
            </a:r>
          </a:p>
          <a:p>
            <a:pPr algn="l">
              <a:lnSpc>
                <a:spcPct val="100000"/>
              </a:lnSpc>
            </a:pPr>
            <a:r>
              <a:rPr sz="800" b="0" i="0">
                <a:solidFill>
                  <a:srgbClr val="3BBE93"/>
                </a:solidFill>
                <a:latin typeface="Consolas"/>
              </a:rPr>
              <a:t>│   │       │   ├── management/</a:t>
            </a:r>
          </a:p>
          <a:p>
            <a:pPr algn="l">
              <a:lnSpc>
                <a:spcPct val="100000"/>
              </a:lnSpc>
            </a:pPr>
            <a:r>
              <a:rPr sz="800" b="0" i="0">
                <a:solidFill>
                  <a:srgbClr val="3BBE93"/>
                </a:solidFill>
                <a:latin typeface="Consolas"/>
              </a:rPr>
              <a:t>│   │       │   │   └── commands/</a:t>
            </a:r>
          </a:p>
          <a:p>
            <a:pPr algn="l">
              <a:lnSpc>
                <a:spcPct val="100000"/>
              </a:lnSpc>
            </a:pPr>
            <a:r>
              <a:rPr sz="800" b="0" i="0">
                <a:solidFill>
                  <a:srgbClr val="ECE7DC"/>
                </a:solidFill>
                <a:latin typeface="Consolas"/>
              </a:rPr>
              <a:t>│   │       │   │       └── check_prompt_flow_panel.py.j</a:t>
            </a:r>
          </a:p>
          <a:p>
            <a:pPr algn="l">
              <a:lnSpc>
                <a:spcPct val="100000"/>
              </a:lnSpc>
            </a:pPr>
            <a:r>
              <a:rPr sz="800" b="0" i="0">
                <a:solidFill>
                  <a:srgbClr val="ECE7DC"/>
                </a:solidFill>
                <a:latin typeface="Consolas"/>
              </a:rPr>
              <a:t>│   │       │   │             » son</a:t>
            </a:r>
          </a:p>
        </p:txBody>
      </p:sp>
      <p:sp>
        <p:nvSpPr>
          <p:cNvPr id="7" name="TextBox 6"/>
          <p:cNvSpPr txBox="1"/>
          <p:nvPr/>
        </p:nvSpPr>
        <p:spPr>
          <a:xfrm>
            <a:off x="8109508" y="1170432"/>
            <a:ext cx="3515258" cy="5084064"/>
          </a:xfrm>
          <a:prstGeom prst="rect">
            <a:avLst/>
          </a:prstGeom>
          <a:noFill/>
        </p:spPr>
        <p:txBody>
          <a:bodyPr wrap="none" lIns="45720" rIns="45720" tIns="27432" bIns="27432" anchor="t">
            <a:noAutofit/>
          </a:bodyPr>
          <a:lstStyle/>
          <a:p>
            <a:pPr algn="l">
              <a:lnSpc>
                <a:spcPct val="100000"/>
              </a:lnSpc>
            </a:pPr>
            <a:r>
              <a:rPr sz="800" b="0" i="0">
                <a:solidFill>
                  <a:srgbClr val="3BBE93"/>
                </a:solidFill>
                <a:latin typeface="Consolas"/>
              </a:rPr>
              <a:t>│   │       │   ├── migrations/</a:t>
            </a:r>
          </a:p>
          <a:p>
            <a:pPr algn="l">
              <a:lnSpc>
                <a:spcPct val="100000"/>
              </a:lnSpc>
            </a:pPr>
            <a:r>
              <a:rPr sz="800" b="0" i="0">
                <a:solidFill>
                  <a:srgbClr val="ECE7DC"/>
                </a:solidFill>
                <a:latin typeface="Consolas"/>
              </a:rPr>
              <a:t>│   │       │   │   ├── 0001_initial.py.json</a:t>
            </a:r>
          </a:p>
          <a:p>
            <a:pPr algn="l">
              <a:lnSpc>
                <a:spcPct val="100000"/>
              </a:lnSpc>
            </a:pPr>
            <a:r>
              <a:rPr sz="800" b="0" i="0">
                <a:solidFill>
                  <a:srgbClr val="ECE7DC"/>
                </a:solidFill>
                <a:latin typeface="Consolas"/>
              </a:rPr>
              <a:t>│   │       │   │   ├── 0002_populate_db.py.json</a:t>
            </a:r>
          </a:p>
          <a:p>
            <a:pPr algn="l">
              <a:lnSpc>
                <a:spcPct val="100000"/>
              </a:lnSpc>
            </a:pPr>
            <a:r>
              <a:rPr sz="800" b="0" i="0">
                <a:solidFill>
                  <a:srgbClr val="ECE7DC"/>
                </a:solidFill>
                <a:latin typeface="Consolas"/>
              </a:rPr>
              <a:t>│   │       │   │   ├── 0062_sync_agent_control_tools_an</a:t>
            </a:r>
          </a:p>
          <a:p>
            <a:pPr algn="l">
              <a:lnSpc>
                <a:spcPct val="100000"/>
              </a:lnSpc>
            </a:pPr>
            <a:r>
              <a:rPr sz="800" b="0" i="0">
                <a:solidFill>
                  <a:srgbClr val="ECE7DC"/>
                </a:solidFill>
                <a:latin typeface="Consolas"/>
              </a:rPr>
              <a:t>│   │       │   │   │     » d_prompts.py.json</a:t>
            </a:r>
          </a:p>
          <a:p>
            <a:pPr algn="l">
              <a:lnSpc>
                <a:spcPct val="100000"/>
              </a:lnSpc>
            </a:pPr>
            <a:r>
              <a:rPr sz="800" b="0" i="0">
                <a:solidFill>
                  <a:srgbClr val="ECE7DC"/>
                </a:solidFill>
                <a:latin typeface="Consolas"/>
              </a:rPr>
              <a:t>│   │       │   │   ├── 0063_add_agent_parametrizer_prom</a:t>
            </a:r>
          </a:p>
          <a:p>
            <a:pPr algn="l">
              <a:lnSpc>
                <a:spcPct val="100000"/>
              </a:lnSpc>
            </a:pPr>
            <a:r>
              <a:rPr sz="800" b="0" i="0">
                <a:solidFill>
                  <a:srgbClr val="ECE7DC"/>
                </a:solidFill>
                <a:latin typeface="Consolas"/>
              </a:rPr>
              <a:t>│   │       │   │   │     » pt.py.json</a:t>
            </a:r>
          </a:p>
          <a:p>
            <a:pPr algn="l">
              <a:lnSpc>
                <a:spcPct val="100000"/>
              </a:lnSpc>
            </a:pPr>
            <a:r>
              <a:rPr sz="800" b="0" i="0">
                <a:solidFill>
                  <a:srgbClr val="ECE7DC"/>
                </a:solidFill>
                <a:latin typeface="Consolas"/>
              </a:rPr>
              <a:t>│   │       │   │   ├── 0072_add_acpx_demo_prompts.py.js</a:t>
            </a:r>
          </a:p>
          <a:p>
            <a:pPr algn="l">
              <a:lnSpc>
                <a:spcPct val="100000"/>
              </a:lnSpc>
            </a:pPr>
            <a:r>
              <a:rPr sz="800" b="0" i="0">
                <a:solidFill>
                  <a:srgbClr val="ECE7DC"/>
                </a:solidFill>
                <a:latin typeface="Consolas"/>
              </a:rPr>
              <a:t>│   │       │   │   │     » on</a:t>
            </a:r>
          </a:p>
          <a:p>
            <a:pPr algn="l">
              <a:lnSpc>
                <a:spcPct val="100000"/>
              </a:lnSpc>
            </a:pPr>
            <a:r>
              <a:rPr sz="800" b="0" i="0">
                <a:solidFill>
                  <a:srgbClr val="ECE7DC"/>
                </a:solidFill>
                <a:latin typeface="Consolas"/>
              </a:rPr>
              <a:t>│   │       │   │   ├── 0073_acpx_demo_gemini_uplift.py.</a:t>
            </a:r>
          </a:p>
          <a:p>
            <a:pPr algn="l">
              <a:lnSpc>
                <a:spcPct val="100000"/>
              </a:lnSpc>
            </a:pPr>
            <a:r>
              <a:rPr sz="800" b="0" i="0">
                <a:solidFill>
                  <a:srgbClr val="ECE7DC"/>
                </a:solidFill>
                <a:latin typeface="Consolas"/>
              </a:rPr>
              <a:t>│   │       │   │   │     » json</a:t>
            </a:r>
          </a:p>
          <a:p>
            <a:pPr algn="l">
              <a:lnSpc>
                <a:spcPct val="100000"/>
              </a:lnSpc>
            </a:pPr>
            <a:r>
              <a:rPr sz="800" b="0" i="0">
                <a:solidFill>
                  <a:srgbClr val="ECE7DC"/>
                </a:solidFill>
                <a:latin typeface="Consolas"/>
              </a:rPr>
              <a:t>│   │       │   │   ├── 0074_simplify_demo_prompts.py.js</a:t>
            </a:r>
          </a:p>
          <a:p>
            <a:pPr algn="l">
              <a:lnSpc>
                <a:spcPct val="100000"/>
              </a:lnSpc>
            </a:pPr>
            <a:r>
              <a:rPr sz="800" b="0" i="0">
                <a:solidFill>
                  <a:srgbClr val="ECE7DC"/>
                </a:solidFill>
                <a:latin typeface="Consolas"/>
              </a:rPr>
              <a:t>│   │       │   │   │     » on</a:t>
            </a:r>
          </a:p>
          <a:p>
            <a:pPr algn="l">
              <a:lnSpc>
                <a:spcPct val="100000"/>
              </a:lnSpc>
            </a:pPr>
            <a:r>
              <a:rPr sz="800" b="0" i="0">
                <a:solidFill>
                  <a:srgbClr val="ECE7DC"/>
                </a:solidFill>
                <a:latin typeface="Consolas"/>
              </a:rPr>
              <a:t>│   │       │   │   ├── 0087_add_unrealer_demo_prompt.py</a:t>
            </a:r>
          </a:p>
          <a:p>
            <a:pPr algn="l">
              <a:lnSpc>
                <a:spcPct val="100000"/>
              </a:lnSpc>
            </a:pPr>
            <a:r>
              <a:rPr sz="800" b="0" i="0">
                <a:solidFill>
                  <a:srgbClr val="ECE7DC"/>
                </a:solidFill>
                <a:latin typeface="Consolas"/>
              </a:rPr>
              <a:t>│   │       │   │   │     » .json</a:t>
            </a:r>
          </a:p>
          <a:p>
            <a:pPr algn="l">
              <a:lnSpc>
                <a:spcPct val="100000"/>
              </a:lnSpc>
            </a:pPr>
            <a:r>
              <a:rPr sz="800" b="0" i="0">
                <a:solidFill>
                  <a:srgbClr val="ECE7DC"/>
                </a:solidFill>
                <a:latin typeface="Consolas"/>
              </a:rPr>
              <a:t>│   │       │   │   ├── 0090_add_reviewer_analyzer_demo_</a:t>
            </a:r>
          </a:p>
          <a:p>
            <a:pPr algn="l">
              <a:lnSpc>
                <a:spcPct val="100000"/>
              </a:lnSpc>
            </a:pPr>
            <a:r>
              <a:rPr sz="800" b="0" i="0">
                <a:solidFill>
                  <a:srgbClr val="ECE7DC"/>
                </a:solidFill>
                <a:latin typeface="Consolas"/>
              </a:rPr>
              <a:t>│   │       │   │   │     » prompts.py.json</a:t>
            </a:r>
          </a:p>
          <a:p>
            <a:pPr algn="l">
              <a:lnSpc>
                <a:spcPct val="100000"/>
              </a:lnSpc>
            </a:pPr>
            <a:r>
              <a:rPr sz="800" b="0" i="0">
                <a:solidFill>
                  <a:srgbClr val="ECE7DC"/>
                </a:solidFill>
                <a:latin typeface="Consolas"/>
              </a:rPr>
              <a:t>│   │       │   │   ├── 0095_add_windower_playwrighter_d</a:t>
            </a:r>
          </a:p>
          <a:p>
            <a:pPr algn="l">
              <a:lnSpc>
                <a:spcPct val="100000"/>
              </a:lnSpc>
            </a:pPr>
            <a:r>
              <a:rPr sz="800" b="0" i="0">
                <a:solidFill>
                  <a:srgbClr val="ECE7DC"/>
                </a:solidFill>
                <a:latin typeface="Consolas"/>
              </a:rPr>
              <a:t>│   │       │   │   │     » emo_prompts.py.json</a:t>
            </a:r>
          </a:p>
          <a:p>
            <a:pPr algn="l">
              <a:lnSpc>
                <a:spcPct val="100000"/>
              </a:lnSpc>
            </a:pPr>
            <a:r>
              <a:rPr sz="800" b="0" i="0">
                <a:solidFill>
                  <a:srgbClr val="ECE7DC"/>
                </a:solidFill>
                <a:latin typeface="Consolas"/>
              </a:rPr>
              <a:t>│   │       │   │   ├── 0096_add_director_virtuoso_demo_</a:t>
            </a:r>
          </a:p>
          <a:p>
            <a:pPr algn="l">
              <a:lnSpc>
                <a:spcPct val="100000"/>
              </a:lnSpc>
            </a:pPr>
            <a:r>
              <a:rPr sz="800" b="0" i="0">
                <a:solidFill>
                  <a:srgbClr val="ECE7DC"/>
                </a:solidFill>
                <a:latin typeface="Consolas"/>
              </a:rPr>
              <a:t>│   │       │   │   │     » prompts.py.json</a:t>
            </a:r>
          </a:p>
          <a:p>
            <a:pPr algn="l">
              <a:lnSpc>
                <a:spcPct val="100000"/>
              </a:lnSpc>
            </a:pPr>
            <a:r>
              <a:rPr sz="800" b="0" i="0">
                <a:solidFill>
                  <a:srgbClr val="ECE7DC"/>
                </a:solidFill>
                <a:latin typeface="Consolas"/>
              </a:rPr>
              <a:t>│   │       │   │   ├── 0099_add_kalier_demo_prompts.py.</a:t>
            </a:r>
          </a:p>
          <a:p>
            <a:pPr algn="l">
              <a:lnSpc>
                <a:spcPct val="100000"/>
              </a:lnSpc>
            </a:pPr>
            <a:r>
              <a:rPr sz="800" b="0" i="0">
                <a:solidFill>
                  <a:srgbClr val="ECE7DC"/>
                </a:solidFill>
                <a:latin typeface="Consolas"/>
              </a:rPr>
              <a:t>│   │       │   │   │     » json</a:t>
            </a:r>
          </a:p>
          <a:p>
            <a:pPr algn="l">
              <a:lnSpc>
                <a:spcPct val="100000"/>
              </a:lnSpc>
            </a:pPr>
            <a:r>
              <a:rPr sz="800" b="0" i="0">
                <a:solidFill>
                  <a:srgbClr val="ECE7DC"/>
                </a:solidFill>
                <a:latin typeface="Consolas"/>
              </a:rPr>
              <a:t>│   │       │   │   ├── 0100_add_unrealer_extended_demo_</a:t>
            </a:r>
          </a:p>
          <a:p>
            <a:pPr algn="l">
              <a:lnSpc>
                <a:spcPct val="100000"/>
              </a:lnSpc>
            </a:pPr>
            <a:r>
              <a:rPr sz="800" b="0" i="0">
                <a:solidFill>
                  <a:srgbClr val="ECE7DC"/>
                </a:solidFill>
                <a:latin typeface="Consolas"/>
              </a:rPr>
              <a:t>│   │       │   │   │     » prompts.py.json</a:t>
            </a:r>
          </a:p>
          <a:p>
            <a:pPr algn="l">
              <a:lnSpc>
                <a:spcPct val="100000"/>
              </a:lnSpc>
            </a:pPr>
            <a:r>
              <a:rPr sz="800" b="0" i="0">
                <a:solidFill>
                  <a:srgbClr val="ECE7DC"/>
                </a:solidFill>
                <a:latin typeface="Consolas"/>
              </a:rPr>
              <a:t>│   │       │   │   ├── 0103_add_stm32er_demo_prompts.py</a:t>
            </a:r>
          </a:p>
          <a:p>
            <a:pPr algn="l">
              <a:lnSpc>
                <a:spcPct val="100000"/>
              </a:lnSpc>
            </a:pPr>
            <a:r>
              <a:rPr sz="800" b="0" i="0">
                <a:solidFill>
                  <a:srgbClr val="ECE7DC"/>
                </a:solidFill>
                <a:latin typeface="Consolas"/>
              </a:rPr>
              <a:t>│   │       │   │   │     » .json</a:t>
            </a:r>
          </a:p>
          <a:p>
            <a:pPr algn="l">
              <a:lnSpc>
                <a:spcPct val="100000"/>
              </a:lnSpc>
            </a:pPr>
            <a:r>
              <a:rPr sz="800" b="0" i="0">
                <a:solidFill>
                  <a:srgbClr val="ECE7DC"/>
                </a:solidFill>
                <a:latin typeface="Consolas"/>
              </a:rPr>
              <a:t>│   │       │   │   ├── 0104_fix_stm32er_hil_serial_proo</a:t>
            </a:r>
          </a:p>
          <a:p>
            <a:pPr algn="l">
              <a:lnSpc>
                <a:spcPct val="100000"/>
              </a:lnSpc>
            </a:pPr>
            <a:r>
              <a:rPr sz="800" b="0" i="0">
                <a:solidFill>
                  <a:srgbClr val="ECE7DC"/>
                </a:solidFill>
                <a:latin typeface="Consolas"/>
              </a:rPr>
              <a:t>│   │       │   │   │     » f.py.json</a:t>
            </a:r>
          </a:p>
          <a:p>
            <a:pPr algn="l">
              <a:lnSpc>
                <a:spcPct val="100000"/>
              </a:lnSpc>
            </a:pPr>
            <a:r>
              <a:rPr sz="800" b="0" i="0">
                <a:solidFill>
                  <a:srgbClr val="ECE7DC"/>
                </a:solidFill>
                <a:latin typeface="Consolas"/>
              </a:rPr>
              <a:t>│   │       │   │   ├── 0107_add_esp32er_demo_prompts.py</a:t>
            </a:r>
          </a:p>
          <a:p>
            <a:pPr algn="l">
              <a:lnSpc>
                <a:spcPct val="100000"/>
              </a:lnSpc>
            </a:pPr>
            <a:r>
              <a:rPr sz="800" b="0" i="0">
                <a:solidFill>
                  <a:srgbClr val="ECE7DC"/>
                </a:solidFill>
                <a:latin typeface="Consolas"/>
              </a:rPr>
              <a:t>│   │       │   │   │     » .json</a:t>
            </a:r>
          </a:p>
          <a:p>
            <a:pPr algn="l">
              <a:lnSpc>
                <a:spcPct val="100000"/>
              </a:lnSpc>
            </a:pPr>
            <a:r>
              <a:rPr sz="800" b="0" i="0">
                <a:solidFill>
                  <a:srgbClr val="ECE7DC"/>
                </a:solidFill>
                <a:latin typeface="Consolas"/>
              </a:rPr>
              <a:t>│   │       │   │   ├── 0108_add_flow_making_demo_prompt</a:t>
            </a:r>
          </a:p>
          <a:p>
            <a:pPr algn="l">
              <a:lnSpc>
                <a:spcPct val="100000"/>
              </a:lnSpc>
            </a:pPr>
            <a:r>
              <a:rPr sz="800" b="0" i="0">
                <a:solidFill>
                  <a:srgbClr val="ECE7DC"/>
                </a:solidFill>
                <a:latin typeface="Consolas"/>
              </a:rPr>
              <a:t>│   │       │   │   │     » .py.json</a:t>
            </a:r>
          </a:p>
          <a:p>
            <a:pPr algn="l">
              <a:lnSpc>
                <a:spcPct val="100000"/>
              </a:lnSpc>
            </a:pPr>
            <a:r>
              <a:rPr sz="800" b="0" i="0">
                <a:solidFill>
                  <a:srgbClr val="ECE7DC"/>
                </a:solidFill>
                <a:latin typeface="Consolas"/>
              </a:rPr>
              <a:t>│   │       │   │   ├── 0111_add_arduiner_demo_prompts.p</a:t>
            </a:r>
          </a:p>
          <a:p>
            <a:pPr algn="l">
              <a:lnSpc>
                <a:spcPct val="100000"/>
              </a:lnSpc>
            </a:pPr>
            <a:r>
              <a:rPr sz="800" b="0" i="0">
                <a:solidFill>
                  <a:srgbClr val="ECE7DC"/>
                </a:solidFill>
                <a:latin typeface="Consolas"/>
              </a:rPr>
              <a:t>│   │       │   │   │     » y.json</a:t>
            </a:r>
          </a:p>
          <a:p>
            <a:pPr algn="l">
              <a:lnSpc>
                <a:spcPct val="100000"/>
              </a:lnSpc>
            </a:pPr>
            <a:r>
              <a:rPr sz="800" b="0" i="0">
                <a:solidFill>
                  <a:srgbClr val="ECE7DC"/>
                </a:solidFill>
                <a:latin typeface="Consolas"/>
              </a:rPr>
              <a:t>│   │       │   │   ├── 0122_add_talker_demo_prompt.py.j</a:t>
            </a:r>
          </a:p>
          <a:p>
            <a:pPr algn="l">
              <a:lnSpc>
                <a:spcPct val="100000"/>
              </a:lnSpc>
            </a:pPr>
            <a:r>
              <a:rPr sz="800" b="0" i="0">
                <a:solidFill>
                  <a:srgbClr val="ECE7DC"/>
                </a:solidFill>
                <a:latin typeface="Consolas"/>
              </a:rPr>
              <a:t>│   │       │   │   │     » son</a:t>
            </a:r>
          </a:p>
          <a:p>
            <a:pPr algn="l">
              <a:lnSpc>
                <a:spcPct val="100000"/>
              </a:lnSpc>
            </a:pPr>
            <a:r>
              <a:rPr sz="800" b="0" i="0">
                <a:solidFill>
                  <a:srgbClr val="ECE7DC"/>
                </a:solidFill>
                <a:latin typeface="Consolas"/>
              </a:rPr>
              <a:t>│   │       │   │   ├── 0125_add_whisperer_demo_prompt.p</a:t>
            </a:r>
          </a:p>
          <a:p>
            <a:pPr algn="l">
              <a:lnSpc>
                <a:spcPct val="100000"/>
              </a:lnSpc>
            </a:pPr>
            <a:r>
              <a:rPr sz="800" b="0" i="0">
                <a:solidFill>
                  <a:srgbClr val="ECE7DC"/>
                </a:solidFill>
                <a:latin typeface="Consolas"/>
              </a:rPr>
              <a:t>│   │       │   │   │     » y.json</a:t>
            </a:r>
          </a:p>
          <a:p>
            <a:pPr algn="l">
              <a:lnSpc>
                <a:spcPct val="100000"/>
              </a:lnSpc>
            </a:pPr>
            <a:r>
              <a:rPr sz="800" b="0" i="0">
                <a:solidFill>
                  <a:srgbClr val="ECE7DC"/>
                </a:solidFill>
                <a:latin typeface="Consolas"/>
              </a:rPr>
              <a:t>│   │       │   │   ├── 0128_add_blenderer_demo_prompts.</a:t>
            </a:r>
          </a:p>
          <a:p>
            <a:pPr algn="l">
              <a:lnSpc>
                <a:spcPct val="100000"/>
              </a:lnSpc>
            </a:pPr>
            <a:r>
              <a:rPr sz="800" b="0" i="0">
                <a:solidFill>
                  <a:srgbClr val="ECE7DC"/>
                </a:solidFill>
                <a:latin typeface="Consolas"/>
              </a:rPr>
              <a:t>│   │       │   │   │     » py.json</a:t>
            </a:r>
          </a:p>
        </p:txBody>
      </p:sp>
      <p:cxnSp>
        <p:nvCxnSpPr>
          <p:cNvPr id="8" name="Connector 7"/>
          <p:cNvCxnSpPr/>
          <p:nvPr/>
        </p:nvCxnSpPr>
        <p:spPr>
          <a:xfrm>
            <a:off x="566928" y="6373368"/>
            <a:ext cx="11057839" cy="0"/>
          </a:xfrm>
          <a:prstGeom prst="line">
            <a:avLst/>
          </a:prstGeom>
          <a:ln w="7620">
            <a:solidFill>
              <a:srgbClr val="2A3A40"/>
            </a:solidFill>
          </a:ln>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566928" y="6419088"/>
            <a:ext cx="6858000" cy="274320"/>
          </a:xfrm>
          <a:prstGeom prst="rect">
            <a:avLst/>
          </a:prstGeom>
          <a:noFill/>
        </p:spPr>
        <p:txBody>
          <a:bodyPr wrap="square" lIns="45720" rIns="45720" tIns="27432" bIns="27432" anchor="t">
            <a:noAutofit/>
          </a:bodyPr>
          <a:lstStyle/>
          <a:p>
            <a:pPr algn="l">
              <a:lnSpc>
                <a:spcPct val="100000"/>
              </a:lnSpc>
            </a:pPr>
            <a:r>
              <a:rPr sz="850" b="0" i="0" spc="120">
                <a:solidFill>
                  <a:srgbClr val="A7B2B0"/>
                </a:solidFill>
                <a:latin typeface="Segoe UI Semibold"/>
              </a:rPr>
              <a:t>TLAMATINI  ·  APÉNDICE A · ÁRBOL DE ARCHIVOS</a:t>
            </a:r>
          </a:p>
        </p:txBody>
      </p:sp>
      <p:sp>
        <p:nvSpPr>
          <p:cNvPr id="10" name="TextBox 9"/>
          <p:cNvSpPr txBox="1"/>
          <p:nvPr/>
        </p:nvSpPr>
        <p:spPr>
          <a:xfrm>
            <a:off x="8698687" y="6419088"/>
            <a:ext cx="2926080" cy="274320"/>
          </a:xfrm>
          <a:prstGeom prst="rect">
            <a:avLst/>
          </a:prstGeom>
          <a:noFill/>
        </p:spPr>
        <p:txBody>
          <a:bodyPr wrap="square" lIns="45720" rIns="45720" tIns="27432" bIns="27432" anchor="t">
            <a:noAutofit/>
          </a:bodyPr>
          <a:lstStyle/>
          <a:p>
            <a:pPr algn="r">
              <a:lnSpc>
                <a:spcPct val="100000"/>
              </a:lnSpc>
            </a:pPr>
            <a:r>
              <a:rPr sz="850" b="0" i="0" spc="100">
                <a:solidFill>
                  <a:srgbClr val="A7B2B0"/>
                </a:solidFill>
                <a:latin typeface="Segoe UI Semibold"/>
              </a:rPr>
              <a:t>v1.91.1   ·   179</a:t>
            </a:r>
          </a:p>
        </p:txBody>
      </p:sp>
    </p:spTree>
  </p:cSld>
  <p:clrMapOvr>
    <a:masterClrMapping/>
  </p:clrMapOvr>
</p:sld>
</file>

<file path=ppt/slides/slide18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appendix.png"/>
          <p:cNvPicPr>
            <a:picLocks noChangeAspect="1"/>
          </p:cNvPicPr>
          <p:nvPr/>
        </p:nvPicPr>
        <p:blipFill>
          <a:blip r:embed="rId2"/>
          <a:stretch>
            <a:fillRect/>
          </a:stretch>
        </p:blipFill>
        <p:spPr>
          <a:xfrm>
            <a:off x="0" y="0"/>
            <a:ext cx="12191695" cy="6858000"/>
          </a:xfrm>
          <a:prstGeom prst="rect">
            <a:avLst/>
          </a:prstGeom>
        </p:spPr>
      </p:pic>
      <p:sp>
        <p:nvSpPr>
          <p:cNvPr id="3" name="TextBox 2"/>
          <p:cNvSpPr txBox="1"/>
          <p:nvPr/>
        </p:nvSpPr>
        <p:spPr>
          <a:xfrm>
            <a:off x="566928" y="384048"/>
            <a:ext cx="8686800" cy="329184"/>
          </a:xfrm>
          <a:prstGeom prst="rect">
            <a:avLst/>
          </a:prstGeom>
          <a:noFill/>
        </p:spPr>
        <p:txBody>
          <a:bodyPr wrap="square" lIns="45720" rIns="45720" tIns="27432" bIns="27432" anchor="t">
            <a:noAutofit/>
          </a:bodyPr>
          <a:lstStyle/>
          <a:p>
            <a:pPr algn="l">
              <a:lnSpc>
                <a:spcPct val="100000"/>
              </a:lnSpc>
            </a:pPr>
            <a:r>
              <a:rPr sz="1100" b="0" i="0" spc="200">
                <a:solidFill>
                  <a:srgbClr val="C98457"/>
                </a:solidFill>
                <a:latin typeface="Segoe UI Semibold"/>
              </a:rPr>
              <a:t>APÉNDICE A  ·  ÁRBOL DE ARCHIVOS DE LA APLICACIÓN  ·  6 / 20</a:t>
            </a:r>
          </a:p>
        </p:txBody>
      </p:sp>
      <p:sp>
        <p:nvSpPr>
          <p:cNvPr id="4" name="TextBox 3"/>
          <p:cNvSpPr txBox="1"/>
          <p:nvPr/>
        </p:nvSpPr>
        <p:spPr>
          <a:xfrm>
            <a:off x="566928" y="731520"/>
            <a:ext cx="11057839" cy="384048"/>
          </a:xfrm>
          <a:prstGeom prst="rect">
            <a:avLst/>
          </a:prstGeom>
          <a:noFill/>
        </p:spPr>
        <p:txBody>
          <a:bodyPr wrap="square" lIns="45720" rIns="45720" tIns="27432" bIns="27432" anchor="t">
            <a:noAutofit/>
          </a:bodyPr>
          <a:lstStyle/>
          <a:p>
            <a:pPr algn="l">
              <a:lnSpc>
                <a:spcPct val="100000"/>
              </a:lnSpc>
            </a:pPr>
            <a:r>
              <a:rPr sz="1300" b="0" i="0">
                <a:solidFill>
                  <a:srgbClr val="A7B2B0"/>
                </a:solidFill>
                <a:latin typeface="Segoe UI"/>
              </a:rPr>
              <a:t>1,898 archivos listados en el commit 21b0a5c; 221 archivos de la historia de la base de datos resumidos.</a:t>
            </a:r>
          </a:p>
        </p:txBody>
      </p:sp>
      <p:sp>
        <p:nvSpPr>
          <p:cNvPr id="5" name="TextBox 4"/>
          <p:cNvSpPr txBox="1"/>
          <p:nvPr/>
        </p:nvSpPr>
        <p:spPr>
          <a:xfrm>
            <a:off x="566928" y="1170432"/>
            <a:ext cx="3515258" cy="5084064"/>
          </a:xfrm>
          <a:prstGeom prst="rect">
            <a:avLst/>
          </a:prstGeom>
          <a:noFill/>
        </p:spPr>
        <p:txBody>
          <a:bodyPr wrap="none" lIns="45720" rIns="45720" tIns="27432" bIns="27432" anchor="t">
            <a:noAutofit/>
          </a:bodyPr>
          <a:lstStyle/>
          <a:p>
            <a:pPr algn="l">
              <a:lnSpc>
                <a:spcPct val="100000"/>
              </a:lnSpc>
            </a:pPr>
            <a:r>
              <a:rPr sz="800" b="0" i="0">
                <a:solidFill>
                  <a:srgbClr val="ECE7DC"/>
                </a:solidFill>
                <a:latin typeface="Consolas"/>
              </a:rPr>
              <a:t>│   │       │   │   ├── 0131_add_editor_demo_prompts.py.</a:t>
            </a:r>
          </a:p>
          <a:p>
            <a:pPr algn="l">
              <a:lnSpc>
                <a:spcPct val="100000"/>
              </a:lnSpc>
            </a:pPr>
            <a:r>
              <a:rPr sz="800" b="0" i="0">
                <a:solidFill>
                  <a:srgbClr val="ECE7DC"/>
                </a:solidFill>
                <a:latin typeface="Consolas"/>
              </a:rPr>
              <a:t>│   │       │   │   │     » json</a:t>
            </a:r>
          </a:p>
          <a:p>
            <a:pPr algn="l">
              <a:lnSpc>
                <a:spcPct val="100000"/>
              </a:lnSpc>
            </a:pPr>
            <a:r>
              <a:rPr sz="800" b="0" i="0">
                <a:solidFill>
                  <a:srgbClr val="ECE7DC"/>
                </a:solidFill>
                <a:latin typeface="Consolas"/>
              </a:rPr>
              <a:t>│   │       │   │   ├── 0134_add_grepper_demo_prompts.py</a:t>
            </a:r>
          </a:p>
          <a:p>
            <a:pPr algn="l">
              <a:lnSpc>
                <a:spcPct val="100000"/>
              </a:lnSpc>
            </a:pPr>
            <a:r>
              <a:rPr sz="800" b="0" i="0">
                <a:solidFill>
                  <a:srgbClr val="ECE7DC"/>
                </a:solidFill>
                <a:latin typeface="Consolas"/>
              </a:rPr>
              <a:t>│   │       │   │   │     » .json</a:t>
            </a:r>
          </a:p>
          <a:p>
            <a:pPr algn="l">
              <a:lnSpc>
                <a:spcPct val="100000"/>
              </a:lnSpc>
            </a:pPr>
            <a:r>
              <a:rPr sz="800" b="0" i="0">
                <a:solidFill>
                  <a:srgbClr val="ECE7DC"/>
                </a:solidFill>
                <a:latin typeface="Consolas"/>
              </a:rPr>
              <a:t>│   │       │   │   ├── 0137_add_globber_demo_prompts.py</a:t>
            </a:r>
          </a:p>
          <a:p>
            <a:pPr algn="l">
              <a:lnSpc>
                <a:spcPct val="100000"/>
              </a:lnSpc>
            </a:pPr>
            <a:r>
              <a:rPr sz="800" b="0" i="0">
                <a:solidFill>
                  <a:srgbClr val="ECE7DC"/>
                </a:solidFill>
                <a:latin typeface="Consolas"/>
              </a:rPr>
              <a:t>│   │       │   │   │     » .json</a:t>
            </a:r>
          </a:p>
          <a:p>
            <a:pPr algn="l">
              <a:lnSpc>
                <a:spcPct val="100000"/>
              </a:lnSpc>
            </a:pPr>
            <a:r>
              <a:rPr sz="800" b="0" i="0">
                <a:solidFill>
                  <a:srgbClr val="ECE7DC"/>
                </a:solidFill>
                <a:latin typeface="Consolas"/>
              </a:rPr>
              <a:t>│   │       │   │   ├── 0140_add_esphomer_demo_prompts.p</a:t>
            </a:r>
          </a:p>
          <a:p>
            <a:pPr algn="l">
              <a:lnSpc>
                <a:spcPct val="100000"/>
              </a:lnSpc>
            </a:pPr>
            <a:r>
              <a:rPr sz="800" b="0" i="0">
                <a:solidFill>
                  <a:srgbClr val="ECE7DC"/>
                </a:solidFill>
                <a:latin typeface="Consolas"/>
              </a:rPr>
              <a:t>│   │       │   │   │     » y.json</a:t>
            </a:r>
          </a:p>
          <a:p>
            <a:pPr algn="l">
              <a:lnSpc>
                <a:spcPct val="100000"/>
              </a:lnSpc>
            </a:pPr>
            <a:r>
              <a:rPr sz="800" b="0" i="0">
                <a:solidFill>
                  <a:srgbClr val="ECE7DC"/>
                </a:solidFill>
                <a:latin typeface="Consolas"/>
              </a:rPr>
              <a:t>│   │       │   │   ├── 0143_add_mcp_doctor_demo_prompt.</a:t>
            </a:r>
          </a:p>
          <a:p>
            <a:pPr algn="l">
              <a:lnSpc>
                <a:spcPct val="100000"/>
              </a:lnSpc>
            </a:pPr>
            <a:r>
              <a:rPr sz="800" b="0" i="0">
                <a:solidFill>
                  <a:srgbClr val="ECE7DC"/>
                </a:solidFill>
                <a:latin typeface="Consolas"/>
              </a:rPr>
              <a:t>│   │       │   │   │     » py.json</a:t>
            </a:r>
          </a:p>
          <a:p>
            <a:pPr algn="l">
              <a:lnSpc>
                <a:spcPct val="100000"/>
              </a:lnSpc>
            </a:pPr>
            <a:r>
              <a:rPr sz="800" b="0" i="0">
                <a:solidFill>
                  <a:srgbClr val="ECE7DC"/>
                </a:solidFill>
                <a:latin typeface="Consolas"/>
              </a:rPr>
              <a:t>│   │       │   │   ├── 0144_insert_java17_maven_demo_pr</a:t>
            </a:r>
          </a:p>
          <a:p>
            <a:pPr algn="l">
              <a:lnSpc>
                <a:spcPct val="100000"/>
              </a:lnSpc>
            </a:pPr>
            <a:r>
              <a:rPr sz="800" b="0" i="0">
                <a:solidFill>
                  <a:srgbClr val="ECE7DC"/>
                </a:solidFill>
                <a:latin typeface="Consolas"/>
              </a:rPr>
              <a:t>│   │       │   │   │     » ompt_at_5.py.json</a:t>
            </a:r>
          </a:p>
          <a:p>
            <a:pPr algn="l">
              <a:lnSpc>
                <a:spcPct val="100000"/>
              </a:lnSpc>
            </a:pPr>
            <a:r>
              <a:rPr sz="800" b="0" i="0">
                <a:solidFill>
                  <a:srgbClr val="ECE7DC"/>
                </a:solidFill>
                <a:latin typeface="Consolas"/>
              </a:rPr>
              <a:t>│   │       │   │   ├── 0145_insert_createsuperuser_wiza</a:t>
            </a:r>
          </a:p>
          <a:p>
            <a:pPr algn="l">
              <a:lnSpc>
                <a:spcPct val="100000"/>
              </a:lnSpc>
            </a:pPr>
            <a:r>
              <a:rPr sz="800" b="0" i="0">
                <a:solidFill>
                  <a:srgbClr val="ECE7DC"/>
                </a:solidFill>
                <a:latin typeface="Consolas"/>
              </a:rPr>
              <a:t>│   │       │   │   │     » rd_prompt_at_1.py.json</a:t>
            </a:r>
          </a:p>
          <a:p>
            <a:pPr algn="l">
              <a:lnSpc>
                <a:spcPct val="100000"/>
              </a:lnSpc>
            </a:pPr>
            <a:r>
              <a:rPr sz="800" b="0" i="0">
                <a:solidFill>
                  <a:srgbClr val="ECE7DC"/>
                </a:solidFill>
                <a:latin typeface="Consolas"/>
              </a:rPr>
              <a:t>│   │       │   │   ├── 0146_update_createsuperuser_wiza</a:t>
            </a:r>
          </a:p>
          <a:p>
            <a:pPr algn="l">
              <a:lnSpc>
                <a:spcPct val="100000"/>
              </a:lnSpc>
            </a:pPr>
            <a:r>
              <a:rPr sz="800" b="0" i="0">
                <a:solidFill>
                  <a:srgbClr val="ECE7DC"/>
                </a:solidFill>
                <a:latin typeface="Consolas"/>
              </a:rPr>
              <a:t>│   │       │   │   │     » rd_continuation.py.json</a:t>
            </a:r>
          </a:p>
          <a:p>
            <a:pPr algn="l">
              <a:lnSpc>
                <a:spcPct val="100000"/>
              </a:lnSpc>
            </a:pPr>
            <a:r>
              <a:rPr sz="800" b="0" i="0">
                <a:solidFill>
                  <a:srgbClr val="ECE7DC"/>
                </a:solidFill>
                <a:latin typeface="Consolas"/>
              </a:rPr>
              <a:t>│   │       │   │   ├── 0147_add_unreal_game_demo_prompt</a:t>
            </a:r>
          </a:p>
          <a:p>
            <a:pPr algn="l">
              <a:lnSpc>
                <a:spcPct val="100000"/>
              </a:lnSpc>
            </a:pPr>
            <a:r>
              <a:rPr sz="800" b="0" i="0">
                <a:solidFill>
                  <a:srgbClr val="ECE7DC"/>
                </a:solidFill>
                <a:latin typeface="Consolas"/>
              </a:rPr>
              <a:t>│   │       │   │   │     » s.py.json</a:t>
            </a:r>
          </a:p>
          <a:p>
            <a:pPr algn="l">
              <a:lnSpc>
                <a:spcPct val="100000"/>
              </a:lnSpc>
            </a:pPr>
            <a:r>
              <a:rPr sz="800" b="0" i="0">
                <a:solidFill>
                  <a:srgbClr val="ECE7DC"/>
                </a:solidFill>
                <a:latin typeface="Consolas"/>
              </a:rPr>
              <a:t>│   │       │   │   ├── 0148_add_discoverer_demo_prompts</a:t>
            </a:r>
          </a:p>
          <a:p>
            <a:pPr algn="l">
              <a:lnSpc>
                <a:spcPct val="100000"/>
              </a:lnSpc>
            </a:pPr>
            <a:r>
              <a:rPr sz="800" b="0" i="0">
                <a:solidFill>
                  <a:srgbClr val="ECE7DC"/>
                </a:solidFill>
                <a:latin typeface="Consolas"/>
              </a:rPr>
              <a:t>│   │       │   │   │     » .py.json</a:t>
            </a:r>
          </a:p>
          <a:p>
            <a:pPr algn="l">
              <a:lnSpc>
                <a:spcPct val="100000"/>
              </a:lnSpc>
            </a:pPr>
            <a:r>
              <a:rPr sz="800" b="0" i="0">
                <a:solidFill>
                  <a:srgbClr val="ECE7DC"/>
                </a:solidFill>
                <a:latin typeface="Consolas"/>
              </a:rPr>
              <a:t>│   │       │   │   ├── 0151_retire_old_messaging_add_te</a:t>
            </a:r>
          </a:p>
          <a:p>
            <a:pPr algn="l">
              <a:lnSpc>
                <a:spcPct val="100000"/>
              </a:lnSpc>
            </a:pPr>
            <a:r>
              <a:rPr sz="800" b="0" i="0">
                <a:solidFill>
                  <a:srgbClr val="ECE7DC"/>
                </a:solidFill>
                <a:latin typeface="Consolas"/>
              </a:rPr>
              <a:t>│   │       │   │   │     » legrammer.py.json</a:t>
            </a:r>
          </a:p>
          <a:p>
            <a:pPr algn="l">
              <a:lnSpc>
                <a:spcPct val="100000"/>
              </a:lnSpc>
            </a:pPr>
            <a:r>
              <a:rPr sz="800" b="0" i="0">
                <a:solidFill>
                  <a:srgbClr val="ECE7DC"/>
                </a:solidFill>
                <a:latin typeface="Consolas"/>
              </a:rPr>
              <a:t>│   │       │   │   ├── 0154_add_instant_messaging_docto</a:t>
            </a:r>
          </a:p>
          <a:p>
            <a:pPr algn="l">
              <a:lnSpc>
                <a:spcPct val="100000"/>
              </a:lnSpc>
            </a:pPr>
            <a:r>
              <a:rPr sz="800" b="0" i="0">
                <a:solidFill>
                  <a:srgbClr val="ECE7DC"/>
                </a:solidFill>
                <a:latin typeface="Consolas"/>
              </a:rPr>
              <a:t>│   │       │   │   │     » r_demo_prompt.py.json</a:t>
            </a:r>
          </a:p>
          <a:p>
            <a:pPr algn="l">
              <a:lnSpc>
                <a:spcPct val="100000"/>
              </a:lnSpc>
            </a:pPr>
            <a:r>
              <a:rPr sz="800" b="0" i="0">
                <a:solidFill>
                  <a:srgbClr val="ECE7DC"/>
                </a:solidFill>
                <a:latin typeface="Consolas"/>
              </a:rPr>
              <a:t>│   │       │   │   ├── 0155_add_contact_scaffold_demo_p</a:t>
            </a:r>
          </a:p>
          <a:p>
            <a:pPr algn="l">
              <a:lnSpc>
                <a:spcPct val="100000"/>
              </a:lnSpc>
            </a:pPr>
            <a:r>
              <a:rPr sz="800" b="0" i="0">
                <a:solidFill>
                  <a:srgbClr val="ECE7DC"/>
                </a:solidFill>
                <a:latin typeface="Consolas"/>
              </a:rPr>
              <a:t>│   │       │   │   │     » rompt.py.json</a:t>
            </a:r>
          </a:p>
          <a:p>
            <a:pPr algn="l">
              <a:lnSpc>
                <a:spcPct val="100000"/>
              </a:lnSpc>
            </a:pPr>
            <a:r>
              <a:rPr sz="800" b="0" i="0">
                <a:solidFill>
                  <a:srgbClr val="ECE7DC"/>
                </a:solidFill>
                <a:latin typeface="Consolas"/>
              </a:rPr>
              <a:t>│   │       │   │   ├── 0156_add_telegrammer_identity_de</a:t>
            </a:r>
          </a:p>
          <a:p>
            <a:pPr algn="l">
              <a:lnSpc>
                <a:spcPct val="100000"/>
              </a:lnSpc>
            </a:pPr>
            <a:r>
              <a:rPr sz="800" b="0" i="0">
                <a:solidFill>
                  <a:srgbClr val="ECE7DC"/>
                </a:solidFill>
                <a:latin typeface="Consolas"/>
              </a:rPr>
              <a:t>│   │       │   │   │     » mo_prompts.py.json</a:t>
            </a:r>
          </a:p>
          <a:p>
            <a:pPr algn="l">
              <a:lnSpc>
                <a:spcPct val="100000"/>
              </a:lnSpc>
            </a:pPr>
            <a:r>
              <a:rPr sz="800" b="0" i="0">
                <a:solidFill>
                  <a:srgbClr val="ECE7DC"/>
                </a:solidFill>
                <a:latin typeface="Consolas"/>
              </a:rPr>
              <a:t>│   │       │   │   ├── 0157_add_whatsapper_identity_dem</a:t>
            </a:r>
          </a:p>
          <a:p>
            <a:pPr algn="l">
              <a:lnSpc>
                <a:spcPct val="100000"/>
              </a:lnSpc>
            </a:pPr>
            <a:r>
              <a:rPr sz="800" b="0" i="0">
                <a:solidFill>
                  <a:srgbClr val="ECE7DC"/>
                </a:solidFill>
                <a:latin typeface="Consolas"/>
              </a:rPr>
              <a:t>│   │       │   │   │     » o_prompt.py.json</a:t>
            </a:r>
          </a:p>
          <a:p>
            <a:pPr algn="l">
              <a:lnSpc>
                <a:spcPct val="100000"/>
              </a:lnSpc>
            </a:pPr>
            <a:r>
              <a:rPr sz="800" b="0" i="0">
                <a:solidFill>
                  <a:srgbClr val="ECE7DC"/>
                </a:solidFill>
                <a:latin typeface="Consolas"/>
              </a:rPr>
              <a:t>│   │       │   │   ├── 0158_redesign_messaging_demo_pro</a:t>
            </a:r>
          </a:p>
          <a:p>
            <a:pPr algn="l">
              <a:lnSpc>
                <a:spcPct val="100000"/>
              </a:lnSpc>
            </a:pPr>
            <a:r>
              <a:rPr sz="800" b="0" i="0">
                <a:solidFill>
                  <a:srgbClr val="ECE7DC"/>
                </a:solidFill>
                <a:latin typeface="Consolas"/>
              </a:rPr>
              <a:t>│   │       │   │   │     » mpts.py.json</a:t>
            </a:r>
          </a:p>
          <a:p>
            <a:pPr algn="l">
              <a:lnSpc>
                <a:spcPct val="100000"/>
              </a:lnSpc>
            </a:pPr>
            <a:r>
              <a:rPr sz="800" b="0" i="0">
                <a:solidFill>
                  <a:srgbClr val="ECE7DC"/>
                </a:solidFill>
                <a:latin typeface="Consolas"/>
              </a:rPr>
              <a:t>│   │       │   │   ├── 0161_add_zavuerer_demo_prompts.p</a:t>
            </a:r>
          </a:p>
          <a:p>
            <a:pPr algn="l">
              <a:lnSpc>
                <a:spcPct val="100000"/>
              </a:lnSpc>
            </a:pPr>
            <a:r>
              <a:rPr sz="800" b="0" i="0">
                <a:solidFill>
                  <a:srgbClr val="ECE7DC"/>
                </a:solidFill>
                <a:latin typeface="Consolas"/>
              </a:rPr>
              <a:t>│   │       │   │   │     » y.json</a:t>
            </a:r>
          </a:p>
          <a:p>
            <a:pPr algn="l">
              <a:lnSpc>
                <a:spcPct val="100000"/>
              </a:lnSpc>
            </a:pPr>
            <a:r>
              <a:rPr sz="800" b="0" i="0">
                <a:solidFill>
                  <a:srgbClr val="ECE7DC"/>
                </a:solidFill>
                <a:latin typeface="Consolas"/>
              </a:rPr>
              <a:t>│   │       │   │   ├── 0162_add_zavuerer_catalog_prompt</a:t>
            </a:r>
          </a:p>
          <a:p>
            <a:pPr algn="l">
              <a:lnSpc>
                <a:spcPct val="100000"/>
              </a:lnSpc>
            </a:pPr>
            <a:r>
              <a:rPr sz="800" b="0" i="0">
                <a:solidFill>
                  <a:srgbClr val="ECE7DC"/>
                </a:solidFill>
                <a:latin typeface="Consolas"/>
              </a:rPr>
              <a:t>│   │       │   │   │     » s.py.json</a:t>
            </a:r>
          </a:p>
          <a:p>
            <a:pPr algn="l">
              <a:lnSpc>
                <a:spcPct val="100000"/>
              </a:lnSpc>
            </a:pPr>
            <a:r>
              <a:rPr sz="800" b="0" i="0">
                <a:solidFill>
                  <a:srgbClr val="ECE7DC"/>
                </a:solidFill>
                <a:latin typeface="Consolas"/>
              </a:rPr>
              <a:t>│   │       │   │   ├── 0163_add_zavuerer_get_key_wizard</a:t>
            </a:r>
          </a:p>
          <a:p>
            <a:pPr algn="l">
              <a:lnSpc>
                <a:spcPct val="100000"/>
              </a:lnSpc>
            </a:pPr>
            <a:r>
              <a:rPr sz="800" b="0" i="0">
                <a:solidFill>
                  <a:srgbClr val="ECE7DC"/>
                </a:solidFill>
                <a:latin typeface="Consolas"/>
              </a:rPr>
              <a:t>│   │       │   │   │     » _prompt.py.json</a:t>
            </a:r>
          </a:p>
          <a:p>
            <a:pPr algn="l">
              <a:lnSpc>
                <a:spcPct val="100000"/>
              </a:lnSpc>
            </a:pPr>
            <a:r>
              <a:rPr sz="800" b="0" i="0">
                <a:solidFill>
                  <a:srgbClr val="ECE7DC"/>
                </a:solidFill>
                <a:latin typeface="Consolas"/>
              </a:rPr>
              <a:t>│   │       │   │   ├── 0164_dedup_zavuerer_setup_wizard</a:t>
            </a:r>
          </a:p>
          <a:p>
            <a:pPr algn="l">
              <a:lnSpc>
                <a:spcPct val="100000"/>
              </a:lnSpc>
            </a:pPr>
            <a:r>
              <a:rPr sz="800" b="0" i="0">
                <a:solidFill>
                  <a:srgbClr val="ECE7DC"/>
                </a:solidFill>
                <a:latin typeface="Consolas"/>
              </a:rPr>
              <a:t>│   │       │   │   │     » s.py.json</a:t>
            </a:r>
          </a:p>
          <a:p>
            <a:pPr algn="l">
              <a:lnSpc>
                <a:spcPct val="100000"/>
              </a:lnSpc>
            </a:pPr>
            <a:r>
              <a:rPr sz="800" b="0" i="0">
                <a:solidFill>
                  <a:srgbClr val="ECE7DC"/>
                </a:solidFill>
                <a:latin typeface="Consolas"/>
              </a:rPr>
              <a:t>│   │       │   │   ├── 0165_add_image_interpreter_tripl</a:t>
            </a:r>
          </a:p>
        </p:txBody>
      </p:sp>
      <p:sp>
        <p:nvSpPr>
          <p:cNvPr id="6" name="TextBox 5"/>
          <p:cNvSpPr txBox="1"/>
          <p:nvPr/>
        </p:nvSpPr>
        <p:spPr>
          <a:xfrm>
            <a:off x="4338218" y="1170432"/>
            <a:ext cx="3515258" cy="5084064"/>
          </a:xfrm>
          <a:prstGeom prst="rect">
            <a:avLst/>
          </a:prstGeom>
          <a:noFill/>
        </p:spPr>
        <p:txBody>
          <a:bodyPr wrap="none" lIns="45720" rIns="45720" tIns="27432" bIns="27432" anchor="t">
            <a:noAutofit/>
          </a:bodyPr>
          <a:lstStyle/>
          <a:p>
            <a:pPr algn="l">
              <a:lnSpc>
                <a:spcPct val="100000"/>
              </a:lnSpc>
            </a:pPr>
            <a:r>
              <a:rPr sz="800" b="0" i="0">
                <a:solidFill>
                  <a:srgbClr val="ECE7DC"/>
                </a:solidFill>
                <a:latin typeface="Consolas"/>
              </a:rPr>
              <a:t>│   │       │   │   │     » e_model_demo_prompt.py.json</a:t>
            </a:r>
          </a:p>
          <a:p>
            <a:pPr algn="l">
              <a:lnSpc>
                <a:spcPct val="100000"/>
              </a:lnSpc>
            </a:pPr>
            <a:r>
              <a:rPr sz="800" b="0" i="0">
                <a:solidFill>
                  <a:srgbClr val="ECE7DC"/>
                </a:solidFill>
                <a:latin typeface="Consolas"/>
              </a:rPr>
              <a:t>│   │       │   │   ├── 0168_add_video_analyzer_demo_pro</a:t>
            </a:r>
          </a:p>
          <a:p>
            <a:pPr algn="l">
              <a:lnSpc>
                <a:spcPct val="100000"/>
              </a:lnSpc>
            </a:pPr>
            <a:r>
              <a:rPr sz="800" b="0" i="0">
                <a:solidFill>
                  <a:srgbClr val="ECE7DC"/>
                </a:solidFill>
                <a:latin typeface="Consolas"/>
              </a:rPr>
              <a:t>│   │       │   │   │     » mpt.py.json</a:t>
            </a:r>
          </a:p>
          <a:p>
            <a:pPr algn="l">
              <a:lnSpc>
                <a:spcPct val="100000"/>
              </a:lnSpc>
            </a:pPr>
            <a:r>
              <a:rPr sz="800" b="0" i="0">
                <a:solidFill>
                  <a:srgbClr val="ECE7DC"/>
                </a:solidFill>
                <a:latin typeface="Consolas"/>
              </a:rPr>
              <a:t>│   │       │   │   ├── 0169_add_discoverer_cvemap_lates</a:t>
            </a:r>
          </a:p>
          <a:p>
            <a:pPr algn="l">
              <a:lnSpc>
                <a:spcPct val="100000"/>
              </a:lnSpc>
            </a:pPr>
            <a:r>
              <a:rPr sz="800" b="0" i="0">
                <a:solidFill>
                  <a:srgbClr val="ECE7DC"/>
                </a:solidFill>
                <a:latin typeface="Consolas"/>
              </a:rPr>
              <a:t>│   │       │   │   │     » t_demo_prompt.py.json</a:t>
            </a:r>
          </a:p>
          <a:p>
            <a:pPr algn="l">
              <a:lnSpc>
                <a:spcPct val="100000"/>
              </a:lnSpc>
            </a:pPr>
            <a:r>
              <a:rPr sz="800" b="0" i="0">
                <a:solidFill>
                  <a:srgbClr val="ECE7DC"/>
                </a:solidFill>
                <a:latin typeface="Consolas"/>
              </a:rPr>
              <a:t>│   │       │   │   ├── 0172_add_nmapper_demo_prompts.py</a:t>
            </a:r>
          </a:p>
          <a:p>
            <a:pPr algn="l">
              <a:lnSpc>
                <a:spcPct val="100000"/>
              </a:lnSpc>
            </a:pPr>
            <a:r>
              <a:rPr sz="800" b="0" i="0">
                <a:solidFill>
                  <a:srgbClr val="ECE7DC"/>
                </a:solidFill>
                <a:latin typeface="Consolas"/>
              </a:rPr>
              <a:t>│   │       │   │   │     » .json</a:t>
            </a:r>
          </a:p>
          <a:p>
            <a:pPr algn="l">
              <a:lnSpc>
                <a:spcPct val="100000"/>
              </a:lnSpc>
            </a:pPr>
            <a:r>
              <a:rPr sz="800" b="0" i="0">
                <a:solidFill>
                  <a:srgbClr val="ECE7DC"/>
                </a:solidFill>
                <a:latin typeface="Consolas"/>
              </a:rPr>
              <a:t>│   │       │   │   ├── 0173_add_unreal_scaffold_demo_pr</a:t>
            </a:r>
          </a:p>
          <a:p>
            <a:pPr algn="l">
              <a:lnSpc>
                <a:spcPct val="100000"/>
              </a:lnSpc>
            </a:pPr>
            <a:r>
              <a:rPr sz="800" b="0" i="0">
                <a:solidFill>
                  <a:srgbClr val="ECE7DC"/>
                </a:solidFill>
                <a:latin typeface="Consolas"/>
              </a:rPr>
              <a:t>│   │       │   │   │     » ompt.py.json</a:t>
            </a:r>
          </a:p>
          <a:p>
            <a:pPr algn="l">
              <a:lnSpc>
                <a:spcPct val="100000"/>
              </a:lnSpc>
            </a:pPr>
            <a:r>
              <a:rPr sz="800" b="0" i="0">
                <a:solidFill>
                  <a:srgbClr val="ECE7DC"/>
                </a:solidFill>
                <a:latin typeface="Consolas"/>
              </a:rPr>
              <a:t>│   │       │   │   ├── 0174_unreal_scaffold_build_proje</a:t>
            </a:r>
          </a:p>
          <a:p>
            <a:pPr algn="l">
              <a:lnSpc>
                <a:spcPct val="100000"/>
              </a:lnSpc>
            </a:pPr>
            <a:r>
              <a:rPr sz="800" b="0" i="0">
                <a:solidFill>
                  <a:srgbClr val="ECE7DC"/>
                </a:solidFill>
                <a:latin typeface="Consolas"/>
              </a:rPr>
              <a:t>│   │       │   │   │     » ct_tip.py.json</a:t>
            </a:r>
          </a:p>
          <a:p>
            <a:pPr algn="l">
              <a:lnSpc>
                <a:spcPct val="100000"/>
              </a:lnSpc>
            </a:pPr>
            <a:r>
              <a:rPr sz="800" b="0" i="0">
                <a:solidFill>
                  <a:srgbClr val="ECE7DC"/>
                </a:solidFill>
                <a:latin typeface="Consolas"/>
              </a:rPr>
              <a:t>│   │       │   │   ├── 0175_prompt_category_and_dedup.p</a:t>
            </a:r>
          </a:p>
          <a:p>
            <a:pPr algn="l">
              <a:lnSpc>
                <a:spcPct val="100000"/>
              </a:lnSpc>
            </a:pPr>
            <a:r>
              <a:rPr sz="800" b="0" i="0">
                <a:solidFill>
                  <a:srgbClr val="ECE7DC"/>
                </a:solidFill>
                <a:latin typeface="Consolas"/>
              </a:rPr>
              <a:t>│   │       │   │   │     » y.json</a:t>
            </a:r>
          </a:p>
          <a:p>
            <a:pPr algn="l">
              <a:lnSpc>
                <a:spcPct val="100000"/>
              </a:lnSpc>
            </a:pPr>
            <a:r>
              <a:rPr sz="800" b="0" i="0">
                <a:solidFill>
                  <a:srgbClr val="ECE7DC"/>
                </a:solidFill>
                <a:latin typeface="Consolas"/>
              </a:rPr>
              <a:t>│   │       │   │   ├── 0176_delete_duplicate_acpx_promp</a:t>
            </a:r>
          </a:p>
          <a:p>
            <a:pPr algn="l">
              <a:lnSpc>
                <a:spcPct val="100000"/>
              </a:lnSpc>
            </a:pPr>
            <a:r>
              <a:rPr sz="800" b="0" i="0">
                <a:solidFill>
                  <a:srgbClr val="ECE7DC"/>
                </a:solidFill>
                <a:latin typeface="Consolas"/>
              </a:rPr>
              <a:t>│   │       │   │   │     » ts.py.json</a:t>
            </a:r>
          </a:p>
          <a:p>
            <a:pPr algn="l">
              <a:lnSpc>
                <a:spcPct val="100000"/>
              </a:lnSpc>
            </a:pPr>
            <a:r>
              <a:rPr sz="800" b="0" i="0">
                <a:solidFill>
                  <a:srgbClr val="ECE7DC"/>
                </a:solidFill>
                <a:latin typeface="Consolas"/>
              </a:rPr>
              <a:t>│   │       │   │   ├── 0177_add_stm32er_platformio_demo</a:t>
            </a:r>
          </a:p>
          <a:p>
            <a:pPr algn="l">
              <a:lnSpc>
                <a:spcPct val="100000"/>
              </a:lnSpc>
            </a:pPr>
            <a:r>
              <a:rPr sz="800" b="0" i="0">
                <a:solidFill>
                  <a:srgbClr val="ECE7DC"/>
                </a:solidFill>
                <a:latin typeface="Consolas"/>
              </a:rPr>
              <a:t>│   │       │   │   │     » _prompt.py.json</a:t>
            </a:r>
          </a:p>
          <a:p>
            <a:pPr algn="l">
              <a:lnSpc>
                <a:spcPct val="100000"/>
              </a:lnSpc>
            </a:pPr>
            <a:r>
              <a:rPr sz="800" b="0" i="0">
                <a:solidFill>
                  <a:srgbClr val="ECE7DC"/>
                </a:solidFill>
                <a:latin typeface="Consolas"/>
              </a:rPr>
              <a:t>│   │       │   │   ├── 0178_add_stm32_stepwise_blink_ca</a:t>
            </a:r>
          </a:p>
          <a:p>
            <a:pPr algn="l">
              <a:lnSpc>
                <a:spcPct val="100000"/>
              </a:lnSpc>
            </a:pPr>
            <a:r>
              <a:rPr sz="800" b="0" i="0">
                <a:solidFill>
                  <a:srgbClr val="ECE7DC"/>
                </a:solidFill>
                <a:latin typeface="Consolas"/>
              </a:rPr>
              <a:t>│   │       │   │   │     » mera_prompts.py.json</a:t>
            </a:r>
          </a:p>
          <a:p>
            <a:pPr algn="l">
              <a:lnSpc>
                <a:spcPct val="100000"/>
              </a:lnSpc>
            </a:pPr>
            <a:r>
              <a:rPr sz="800" b="0" i="0">
                <a:solidFill>
                  <a:srgbClr val="ECE7DC"/>
                </a:solidFill>
                <a:latin typeface="Consolas"/>
              </a:rPr>
              <a:t>│   │       │   │   ├── 0179_regroup_resort_prompts_no_g</a:t>
            </a:r>
          </a:p>
          <a:p>
            <a:pPr algn="l">
              <a:lnSpc>
                <a:spcPct val="100000"/>
              </a:lnSpc>
            </a:pPr>
            <a:r>
              <a:rPr sz="800" b="0" i="0">
                <a:solidFill>
                  <a:srgbClr val="ECE7DC"/>
                </a:solidFill>
                <a:latin typeface="Consolas"/>
              </a:rPr>
              <a:t>│   │       │   │   │     » aps.py.json</a:t>
            </a:r>
          </a:p>
          <a:p>
            <a:pPr algn="l">
              <a:lnSpc>
                <a:spcPct val="100000"/>
              </a:lnSpc>
            </a:pPr>
            <a:r>
              <a:rPr sz="800" b="0" i="0">
                <a:solidFill>
                  <a:srgbClr val="ECE7DC"/>
                </a:solidFill>
                <a:latin typeface="Consolas"/>
              </a:rPr>
              <a:t>│   │       │   │   ├── 0180_add_kalier_setup_wizard_pro</a:t>
            </a:r>
          </a:p>
          <a:p>
            <a:pPr algn="l">
              <a:lnSpc>
                <a:spcPct val="100000"/>
              </a:lnSpc>
            </a:pPr>
            <a:r>
              <a:rPr sz="800" b="0" i="0">
                <a:solidFill>
                  <a:srgbClr val="ECE7DC"/>
                </a:solidFill>
                <a:latin typeface="Consolas"/>
              </a:rPr>
              <a:t>│   │       │   │   │     » mpt.py.json</a:t>
            </a:r>
          </a:p>
          <a:p>
            <a:pPr algn="l">
              <a:lnSpc>
                <a:spcPct val="100000"/>
              </a:lnSpc>
            </a:pPr>
            <a:r>
              <a:rPr sz="800" b="0" i="0">
                <a:solidFill>
                  <a:srgbClr val="ECE7DC"/>
                </a:solidFill>
                <a:latin typeface="Consolas"/>
              </a:rPr>
              <a:t>│   │       │   │   ├── 0181_prompt_sort_rank.py.json</a:t>
            </a:r>
          </a:p>
          <a:p>
            <a:pPr algn="l">
              <a:lnSpc>
                <a:spcPct val="100000"/>
              </a:lnSpc>
            </a:pPr>
            <a:r>
              <a:rPr sz="800" b="0" i="0">
                <a:solidFill>
                  <a:srgbClr val="ECE7DC"/>
                </a:solidFill>
                <a:latin typeface="Consolas"/>
              </a:rPr>
              <a:t>│   │       │   │   ├── 0182_add_step_by_step_section_op</a:t>
            </a:r>
          </a:p>
          <a:p>
            <a:pPr algn="l">
              <a:lnSpc>
                <a:spcPct val="100000"/>
              </a:lnSpc>
            </a:pPr>
            <a:r>
              <a:rPr sz="800" b="0" i="0">
                <a:solidFill>
                  <a:srgbClr val="ECE7DC"/>
                </a:solidFill>
                <a:latin typeface="Consolas"/>
              </a:rPr>
              <a:t>│   │       │   │   │     » eners.py.json</a:t>
            </a:r>
          </a:p>
          <a:p>
            <a:pPr algn="l">
              <a:lnSpc>
                <a:spcPct val="100000"/>
              </a:lnSpc>
            </a:pPr>
            <a:r>
              <a:rPr sz="800" b="0" i="0">
                <a:solidFill>
                  <a:srgbClr val="ECE7DC"/>
                </a:solidFill>
                <a:latin typeface="Consolas"/>
              </a:rPr>
              <a:t>│   │       │   │   ├── 0183_standardize_security_recon_</a:t>
            </a:r>
          </a:p>
          <a:p>
            <a:pPr algn="l">
              <a:lnSpc>
                <a:spcPct val="100000"/>
              </a:lnSpc>
            </a:pPr>
            <a:r>
              <a:rPr sz="800" b="0" i="0">
                <a:solidFill>
                  <a:srgbClr val="ECE7DC"/>
                </a:solidFill>
                <a:latin typeface="Consolas"/>
              </a:rPr>
              <a:t>│   │       │   │   │     » prompts.py.json</a:t>
            </a:r>
          </a:p>
          <a:p>
            <a:pPr algn="l">
              <a:lnSpc>
                <a:spcPct val="100000"/>
              </a:lnSpc>
            </a:pPr>
            <a:r>
              <a:rPr sz="800" b="0" i="0">
                <a:solidFill>
                  <a:srgbClr val="ECE7DC"/>
                </a:solidFill>
                <a:latin typeface="Consolas"/>
              </a:rPr>
              <a:t>│   │       │   │   ├── 0184_standardize_prompt_params_b</a:t>
            </a:r>
          </a:p>
          <a:p>
            <a:pPr algn="l">
              <a:lnSpc>
                <a:spcPct val="100000"/>
              </a:lnSpc>
            </a:pPr>
            <a:r>
              <a:rPr sz="800" b="0" i="0">
                <a:solidFill>
                  <a:srgbClr val="ECE7DC"/>
                </a:solidFill>
                <a:latin typeface="Consolas"/>
              </a:rPr>
              <a:t>│   │       │   │   │     » atch2.py.json</a:t>
            </a:r>
          </a:p>
          <a:p>
            <a:pPr algn="l">
              <a:lnSpc>
                <a:spcPct val="100000"/>
              </a:lnSpc>
            </a:pPr>
            <a:r>
              <a:rPr sz="800" b="0" i="0">
                <a:solidFill>
                  <a:srgbClr val="ECE7DC"/>
                </a:solidFill>
                <a:latin typeface="Consolas"/>
              </a:rPr>
              <a:t>│   │       │   │   ├── 0185_standardize_prompt_params_b</a:t>
            </a:r>
          </a:p>
          <a:p>
            <a:pPr algn="l">
              <a:lnSpc>
                <a:spcPct val="100000"/>
              </a:lnSpc>
            </a:pPr>
            <a:r>
              <a:rPr sz="800" b="0" i="0">
                <a:solidFill>
                  <a:srgbClr val="ECE7DC"/>
                </a:solidFill>
                <a:latin typeface="Consolas"/>
              </a:rPr>
              <a:t>│   │       │   │   │     » atch3.py.json</a:t>
            </a:r>
          </a:p>
          <a:p>
            <a:pPr algn="l">
              <a:lnSpc>
                <a:spcPct val="100000"/>
              </a:lnSpc>
            </a:pPr>
            <a:r>
              <a:rPr sz="800" b="0" i="0">
                <a:solidFill>
                  <a:srgbClr val="ECE7DC"/>
                </a:solidFill>
                <a:latin typeface="Consolas"/>
              </a:rPr>
              <a:t>│   │       │   │   ├── 0186_add_chat_agent_flowcreator.</a:t>
            </a:r>
          </a:p>
          <a:p>
            <a:pPr algn="l">
              <a:lnSpc>
                <a:spcPct val="100000"/>
              </a:lnSpc>
            </a:pPr>
            <a:r>
              <a:rPr sz="800" b="0" i="0">
                <a:solidFill>
                  <a:srgbClr val="ECE7DC"/>
                </a:solidFill>
                <a:latin typeface="Consolas"/>
              </a:rPr>
              <a:t>│   │       │   │   │     » py.json</a:t>
            </a:r>
          </a:p>
          <a:p>
            <a:pPr algn="l">
              <a:lnSpc>
                <a:spcPct val="100000"/>
              </a:lnSpc>
            </a:pPr>
            <a:r>
              <a:rPr sz="800" b="0" i="0">
                <a:solidFill>
                  <a:srgbClr val="ECE7DC"/>
                </a:solidFill>
                <a:latin typeface="Consolas"/>
              </a:rPr>
              <a:t>│   │       │   │   ├── 0187_add_flowcreator_end_to_end_</a:t>
            </a:r>
          </a:p>
          <a:p>
            <a:pPr algn="l">
              <a:lnSpc>
                <a:spcPct val="100000"/>
              </a:lnSpc>
            </a:pPr>
            <a:r>
              <a:rPr sz="800" b="0" i="0">
                <a:solidFill>
                  <a:srgbClr val="ECE7DC"/>
                </a:solidFill>
                <a:latin typeface="Consolas"/>
              </a:rPr>
              <a:t>│   │       │   │   │     » wizard_prompt.py.json</a:t>
            </a:r>
          </a:p>
          <a:p>
            <a:pPr algn="l">
              <a:lnSpc>
                <a:spcPct val="100000"/>
              </a:lnSpc>
            </a:pPr>
            <a:r>
              <a:rPr sz="800" b="0" i="0">
                <a:solidFill>
                  <a:srgbClr val="ECE7DC"/>
                </a:solidFill>
                <a:latin typeface="Consolas"/>
              </a:rPr>
              <a:t>│   │       │   │   ├── 0190_add_pdfer_demo_prompts.py.j</a:t>
            </a:r>
          </a:p>
          <a:p>
            <a:pPr algn="l">
              <a:lnSpc>
                <a:spcPct val="100000"/>
              </a:lnSpc>
            </a:pPr>
            <a:r>
              <a:rPr sz="800" b="0" i="0">
                <a:solidFill>
                  <a:srgbClr val="ECE7DC"/>
                </a:solidFill>
                <a:latin typeface="Consolas"/>
              </a:rPr>
              <a:t>│   │       │   │   │     » son</a:t>
            </a:r>
          </a:p>
          <a:p>
            <a:pPr algn="l">
              <a:lnSpc>
                <a:spcPct val="100000"/>
              </a:lnSpc>
            </a:pPr>
            <a:r>
              <a:rPr sz="800" b="0" i="0">
                <a:solidFill>
                  <a:srgbClr val="ECE7DC"/>
                </a:solidFill>
                <a:latin typeface="Consolas"/>
              </a:rPr>
              <a:t>│   │       │   │   ├── 0193_add_latexer_demo_prompts.py</a:t>
            </a:r>
          </a:p>
          <a:p>
            <a:pPr algn="l">
              <a:lnSpc>
                <a:spcPct val="100000"/>
              </a:lnSpc>
            </a:pPr>
            <a:r>
              <a:rPr sz="800" b="0" i="0">
                <a:solidFill>
                  <a:srgbClr val="ECE7DC"/>
                </a:solidFill>
                <a:latin typeface="Consolas"/>
              </a:rPr>
              <a:t>│   │       │   │   │     » .json</a:t>
            </a:r>
          </a:p>
          <a:p>
            <a:pPr algn="l">
              <a:lnSpc>
                <a:spcPct val="100000"/>
              </a:lnSpc>
            </a:pPr>
            <a:r>
              <a:rPr sz="800" b="0" i="0">
                <a:solidFill>
                  <a:srgbClr val="ECE7DC"/>
                </a:solidFill>
                <a:latin typeface="Consolas"/>
              </a:rPr>
              <a:t>│   │       │   │   ├── 0194_add_deep_research_demo_prom</a:t>
            </a:r>
          </a:p>
        </p:txBody>
      </p:sp>
      <p:sp>
        <p:nvSpPr>
          <p:cNvPr id="7" name="TextBox 6"/>
          <p:cNvSpPr txBox="1"/>
          <p:nvPr/>
        </p:nvSpPr>
        <p:spPr>
          <a:xfrm>
            <a:off x="8109508" y="1170432"/>
            <a:ext cx="3515258" cy="5084064"/>
          </a:xfrm>
          <a:prstGeom prst="rect">
            <a:avLst/>
          </a:prstGeom>
          <a:noFill/>
        </p:spPr>
        <p:txBody>
          <a:bodyPr wrap="none" lIns="45720" rIns="45720" tIns="27432" bIns="27432" anchor="t">
            <a:noAutofit/>
          </a:bodyPr>
          <a:lstStyle/>
          <a:p>
            <a:pPr algn="l">
              <a:lnSpc>
                <a:spcPct val="100000"/>
              </a:lnSpc>
            </a:pPr>
            <a:r>
              <a:rPr sz="800" b="0" i="0">
                <a:solidFill>
                  <a:srgbClr val="ECE7DC"/>
                </a:solidFill>
                <a:latin typeface="Consolas"/>
              </a:rPr>
              <a:t>│   │       │   │   │     » pt.py.json</a:t>
            </a:r>
          </a:p>
          <a:p>
            <a:pPr algn="l">
              <a:lnSpc>
                <a:spcPct val="100000"/>
              </a:lnSpc>
            </a:pPr>
            <a:r>
              <a:rPr sz="800" b="0" i="0">
                <a:solidFill>
                  <a:srgbClr val="ECE7DC"/>
                </a:solidFill>
                <a:latin typeface="Consolas"/>
              </a:rPr>
              <a:t>│   │       │   │   ├── 0197_add_netspeed_calculator_dem</a:t>
            </a:r>
          </a:p>
          <a:p>
            <a:pPr algn="l">
              <a:lnSpc>
                <a:spcPct val="100000"/>
              </a:lnSpc>
            </a:pPr>
            <a:r>
              <a:rPr sz="800" b="0" i="0">
                <a:solidFill>
                  <a:srgbClr val="ECE7DC"/>
                </a:solidFill>
                <a:latin typeface="Consolas"/>
              </a:rPr>
              <a:t>│   │       │   │   │     » o_prompt.py.json</a:t>
            </a:r>
          </a:p>
          <a:p>
            <a:pPr algn="l">
              <a:lnSpc>
                <a:spcPct val="100000"/>
              </a:lnSpc>
            </a:pPr>
            <a:r>
              <a:rPr sz="800" b="0" i="0">
                <a:solidFill>
                  <a:srgbClr val="ECE7DC"/>
                </a:solidFill>
                <a:latin typeface="Consolas"/>
              </a:rPr>
              <a:t>│   │       │   │   ├── 0198_add_pdfer_nuance_demo_promp</a:t>
            </a:r>
          </a:p>
          <a:p>
            <a:pPr algn="l">
              <a:lnSpc>
                <a:spcPct val="100000"/>
              </a:lnSpc>
            </a:pPr>
            <a:r>
              <a:rPr sz="800" b="0" i="0">
                <a:solidFill>
                  <a:srgbClr val="ECE7DC"/>
                </a:solidFill>
                <a:latin typeface="Consolas"/>
              </a:rPr>
              <a:t>│   │       │   │   │     » t.py.json</a:t>
            </a:r>
          </a:p>
          <a:p>
            <a:pPr algn="l">
              <a:lnSpc>
                <a:spcPct val="100000"/>
              </a:lnSpc>
            </a:pPr>
            <a:r>
              <a:rPr sz="800" b="0" i="0">
                <a:solidFill>
                  <a:srgbClr val="ECE7DC"/>
                </a:solidFill>
                <a:latin typeface="Consolas"/>
              </a:rPr>
              <a:t>│   │       │   │   ├── 0200_whisperer_demo_prompt_sound</a:t>
            </a:r>
          </a:p>
          <a:p>
            <a:pPr algn="l">
              <a:lnSpc>
                <a:spcPct val="100000"/>
              </a:lnSpc>
            </a:pPr>
            <a:r>
              <a:rPr sz="800" b="0" i="0">
                <a:solidFill>
                  <a:srgbClr val="ECE7DC"/>
                </a:solidFill>
                <a:latin typeface="Consolas"/>
              </a:rPr>
              <a:t>│   │       │   │   │     » _gate.py.json</a:t>
            </a:r>
          </a:p>
          <a:p>
            <a:pPr algn="l">
              <a:lnSpc>
                <a:spcPct val="100000"/>
              </a:lnSpc>
            </a:pPr>
            <a:r>
              <a:rPr sz="800" b="0" i="0">
                <a:solidFill>
                  <a:srgbClr val="ECE7DC"/>
                </a:solidFill>
                <a:latin typeface="Consolas"/>
              </a:rPr>
              <a:t>│   │       │   │   ├── 0201_add_voice_commands_section.</a:t>
            </a:r>
          </a:p>
          <a:p>
            <a:pPr algn="l">
              <a:lnSpc>
                <a:spcPct val="100000"/>
              </a:lnSpc>
            </a:pPr>
            <a:r>
              <a:rPr sz="800" b="0" i="0">
                <a:solidFill>
                  <a:srgbClr val="ECE7DC"/>
                </a:solidFill>
                <a:latin typeface="Consolas"/>
              </a:rPr>
              <a:t>│   │       │   │   │     » py.json</a:t>
            </a:r>
          </a:p>
          <a:p>
            <a:pPr algn="l">
              <a:lnSpc>
                <a:spcPct val="100000"/>
              </a:lnSpc>
            </a:pPr>
            <a:r>
              <a:rPr sz="800" b="0" i="0">
                <a:solidFill>
                  <a:srgbClr val="ECE7DC"/>
                </a:solidFill>
                <a:latin typeface="Consolas"/>
              </a:rPr>
              <a:t>│   │       │   │   ├── 0204_add_pptxer_demo_prompts.py.</a:t>
            </a:r>
          </a:p>
          <a:p>
            <a:pPr algn="l">
              <a:lnSpc>
                <a:spcPct val="100000"/>
              </a:lnSpc>
            </a:pPr>
            <a:r>
              <a:rPr sz="800" b="0" i="0">
                <a:solidFill>
                  <a:srgbClr val="ECE7DC"/>
                </a:solidFill>
                <a:latin typeface="Consolas"/>
              </a:rPr>
              <a:t>│   │       │   │   │     » json</a:t>
            </a:r>
          </a:p>
          <a:p>
            <a:pPr algn="l">
              <a:lnSpc>
                <a:spcPct val="100000"/>
              </a:lnSpc>
            </a:pPr>
            <a:r>
              <a:rPr sz="800" b="0" i="0">
                <a:solidFill>
                  <a:srgbClr val="ECE7DC"/>
                </a:solidFill>
                <a:latin typeface="Consolas"/>
              </a:rPr>
              <a:t>│   │       │   │   ├── 0205_silence_window_default_3_5_</a:t>
            </a:r>
          </a:p>
          <a:p>
            <a:pPr algn="l">
              <a:lnSpc>
                <a:spcPct val="100000"/>
              </a:lnSpc>
            </a:pPr>
            <a:r>
              <a:rPr sz="800" b="0" i="0">
                <a:solidFill>
                  <a:srgbClr val="ECE7DC"/>
                </a:solidFill>
                <a:latin typeface="Consolas"/>
              </a:rPr>
              <a:t>│   │       │   │   │     » seconds.py.json</a:t>
            </a:r>
          </a:p>
          <a:p>
            <a:pPr algn="l">
              <a:lnSpc>
                <a:spcPct val="100000"/>
              </a:lnSpc>
            </a:pPr>
            <a:r>
              <a:rPr sz="800" b="0" i="0">
                <a:solidFill>
                  <a:srgbClr val="ECE7DC"/>
                </a:solidFill>
                <a:latin typeface="Consolas"/>
              </a:rPr>
              <a:t>│   │       │   │   ├── 0206_qwen35_cloud_model_tag_rena</a:t>
            </a:r>
          </a:p>
          <a:p>
            <a:pPr algn="l">
              <a:lnSpc>
                <a:spcPct val="100000"/>
              </a:lnSpc>
            </a:pPr>
            <a:r>
              <a:rPr sz="800" b="0" i="0">
                <a:solidFill>
                  <a:srgbClr val="ECE7DC"/>
                </a:solidFill>
                <a:latin typeface="Consolas"/>
              </a:rPr>
              <a:t>│   │       │   │   │     » me.py.json</a:t>
            </a:r>
          </a:p>
          <a:p>
            <a:pPr algn="l">
              <a:lnSpc>
                <a:spcPct val="100000"/>
              </a:lnSpc>
            </a:pPr>
            <a:r>
              <a:rPr sz="800" b="0" i="0">
                <a:solidFill>
                  <a:srgbClr val="ECE7DC"/>
                </a:solidFill>
                <a:latin typeface="Consolas"/>
              </a:rPr>
              <a:t>│   │       │   │   ├── 0207_video_analyzer_content_prom</a:t>
            </a:r>
          </a:p>
          <a:p>
            <a:pPr algn="l">
              <a:lnSpc>
                <a:spcPct val="100000"/>
              </a:lnSpc>
            </a:pPr>
            <a:r>
              <a:rPr sz="800" b="0" i="0">
                <a:solidFill>
                  <a:srgbClr val="ECE7DC"/>
                </a:solidFill>
                <a:latin typeface="Consolas"/>
              </a:rPr>
              <a:t>│   │       │   │   │     » pts.py.json</a:t>
            </a:r>
          </a:p>
          <a:p>
            <a:pPr algn="l">
              <a:lnSpc>
                <a:spcPct val="100000"/>
              </a:lnSpc>
            </a:pPr>
            <a:r>
              <a:rPr sz="800" b="0" i="0">
                <a:solidFill>
                  <a:srgbClr val="ECE7DC"/>
                </a:solidFill>
                <a:latin typeface="Consolas"/>
              </a:rPr>
              <a:t>│   │       │   │   ├── 0208_video_demo_config_models.py</a:t>
            </a:r>
          </a:p>
          <a:p>
            <a:pPr algn="l">
              <a:lnSpc>
                <a:spcPct val="100000"/>
              </a:lnSpc>
            </a:pPr>
            <a:r>
              <a:rPr sz="800" b="0" i="0">
                <a:solidFill>
                  <a:srgbClr val="ECE7DC"/>
                </a:solidFill>
                <a:latin typeface="Consolas"/>
              </a:rPr>
              <a:t>│   │       │   │   │     » .json</a:t>
            </a:r>
          </a:p>
          <a:p>
            <a:pPr algn="l">
              <a:lnSpc>
                <a:spcPct val="100000"/>
              </a:lnSpc>
            </a:pPr>
            <a:r>
              <a:rPr sz="800" b="0" i="0">
                <a:solidFill>
                  <a:srgbClr val="ECE7DC"/>
                </a:solidFill>
                <a:latin typeface="Consolas"/>
              </a:rPr>
              <a:t>│   │       │   │   ├── 0209_retire_qwen35_vision_model.</a:t>
            </a:r>
          </a:p>
          <a:p>
            <a:pPr algn="l">
              <a:lnSpc>
                <a:spcPct val="100000"/>
              </a:lnSpc>
            </a:pPr>
            <a:r>
              <a:rPr sz="800" b="0" i="0">
                <a:solidFill>
                  <a:srgbClr val="ECE7DC"/>
                </a:solidFill>
                <a:latin typeface="Consolas"/>
              </a:rPr>
              <a:t>│   │       │   │   │     » py.json</a:t>
            </a:r>
          </a:p>
          <a:p>
            <a:pPr algn="l">
              <a:lnSpc>
                <a:spcPct val="100000"/>
              </a:lnSpc>
            </a:pPr>
            <a:r>
              <a:rPr sz="800" b="0" i="0">
                <a:solidFill>
                  <a:srgbClr val="ECE7DC"/>
                </a:solidFill>
                <a:latin typeface="Consolas"/>
              </a:rPr>
              <a:t>│   │       │   │   ├── 0210_strict_visual_analysis_prom</a:t>
            </a:r>
          </a:p>
          <a:p>
            <a:pPr algn="l">
              <a:lnSpc>
                <a:spcPct val="100000"/>
              </a:lnSpc>
            </a:pPr>
            <a:r>
              <a:rPr sz="800" b="0" i="0">
                <a:solidFill>
                  <a:srgbClr val="ECE7DC"/>
                </a:solidFill>
                <a:latin typeface="Consolas"/>
              </a:rPr>
              <a:t>│   │       │   │   │     » pt_contract.py.json</a:t>
            </a:r>
          </a:p>
          <a:p>
            <a:pPr algn="l">
              <a:lnSpc>
                <a:spcPct val="100000"/>
              </a:lnSpc>
            </a:pPr>
            <a:r>
              <a:rPr sz="800" b="0" i="0">
                <a:solidFill>
                  <a:srgbClr val="ECE7DC"/>
                </a:solidFill>
                <a:latin typeface="Consolas"/>
              </a:rPr>
              <a:t>│   │       │   │   ├── 0214_prune_agent_catalog.py.json</a:t>
            </a:r>
          </a:p>
          <a:p>
            <a:pPr algn="l">
              <a:lnSpc>
                <a:spcPct val="100000"/>
              </a:lnSpc>
            </a:pPr>
            <a:r>
              <a:rPr sz="800" b="0" i="0">
                <a:solidFill>
                  <a:srgbClr val="ECE7DC"/>
                </a:solidFill>
                <a:latin typeface="Consolas"/>
              </a:rPr>
              <a:t>│   │       │   │   ├── 0217_add_terminater_demo_prompts</a:t>
            </a:r>
          </a:p>
          <a:p>
            <a:pPr algn="l">
              <a:lnSpc>
                <a:spcPct val="100000"/>
              </a:lnSpc>
            </a:pPr>
            <a:r>
              <a:rPr sz="800" b="0" i="0">
                <a:solidFill>
                  <a:srgbClr val="ECE7DC"/>
                </a:solidFill>
                <a:latin typeface="Consolas"/>
              </a:rPr>
              <a:t>│   │       │   │   │     » .py.json</a:t>
            </a:r>
          </a:p>
          <a:p>
            <a:pPr algn="l">
              <a:lnSpc>
                <a:spcPct val="100000"/>
              </a:lnSpc>
            </a:pPr>
            <a:r>
              <a:rPr sz="800" b="0" i="0">
                <a:solidFill>
                  <a:srgbClr val="ECE7DC"/>
                </a:solidFill>
                <a:latin typeface="Consolas"/>
              </a:rPr>
              <a:t>│   │       │   │   ├── 0218_add_interactor_tool.py.json</a:t>
            </a:r>
          </a:p>
          <a:p>
            <a:pPr algn="l">
              <a:lnSpc>
                <a:spcPct val="100000"/>
              </a:lnSpc>
            </a:pPr>
            <a:r>
              <a:rPr sz="800" b="0" i="0">
                <a:solidFill>
                  <a:srgbClr val="ECE7DC"/>
                </a:solidFill>
                <a:latin typeface="Consolas"/>
              </a:rPr>
              <a:t>│   │       │   │   └── 0219_user_wizard_graphical_notif</a:t>
            </a:r>
          </a:p>
          <a:p>
            <a:pPr algn="l">
              <a:lnSpc>
                <a:spcPct val="100000"/>
              </a:lnSpc>
            </a:pPr>
            <a:r>
              <a:rPr sz="800" b="0" i="0">
                <a:solidFill>
                  <a:srgbClr val="ECE7DC"/>
                </a:solidFill>
                <a:latin typeface="Consolas"/>
              </a:rPr>
              <a:t>│   │       │   │         » ications.py.json</a:t>
            </a:r>
          </a:p>
          <a:p>
            <a:pPr algn="l">
              <a:lnSpc>
                <a:spcPct val="100000"/>
              </a:lnSpc>
            </a:pPr>
            <a:r>
              <a:rPr sz="800" b="0" i="0">
                <a:solidFill>
                  <a:srgbClr val="3BBE93"/>
                </a:solidFill>
                <a:latin typeface="Consolas"/>
              </a:rPr>
              <a:t>│   │       │   ├── rag/</a:t>
            </a:r>
          </a:p>
          <a:p>
            <a:pPr algn="l">
              <a:lnSpc>
                <a:spcPct val="100000"/>
              </a:lnSpc>
            </a:pPr>
            <a:r>
              <a:rPr sz="800" b="0" i="0">
                <a:solidFill>
                  <a:srgbClr val="ECE7DC"/>
                </a:solidFill>
                <a:latin typeface="Consolas"/>
              </a:rPr>
              <a:t>│   │       │   │   ├── binary_guard.py.json</a:t>
            </a:r>
          </a:p>
          <a:p>
            <a:pPr algn="l">
              <a:lnSpc>
                <a:spcPct val="100000"/>
              </a:lnSpc>
            </a:pPr>
            <a:r>
              <a:rPr sz="800" b="0" i="0">
                <a:solidFill>
                  <a:srgbClr val="ECE7DC"/>
                </a:solidFill>
                <a:latin typeface="Consolas"/>
              </a:rPr>
              <a:t>│   │       │   │   ├── factory.py.json</a:t>
            </a:r>
          </a:p>
          <a:p>
            <a:pPr algn="l">
              <a:lnSpc>
                <a:spcPct val="100000"/>
              </a:lnSpc>
            </a:pPr>
            <a:r>
              <a:rPr sz="800" b="0" i="0">
                <a:solidFill>
                  <a:srgbClr val="ECE7DC"/>
                </a:solidFill>
                <a:latin typeface="Consolas"/>
              </a:rPr>
              <a:t>│   │       │   │   ├── interface.py.json</a:t>
            </a:r>
          </a:p>
          <a:p>
            <a:pPr algn="l">
              <a:lnSpc>
                <a:spcPct val="100000"/>
              </a:lnSpc>
            </a:pPr>
            <a:r>
              <a:rPr sz="800" b="0" i="0">
                <a:solidFill>
                  <a:srgbClr val="3BBE93"/>
                </a:solidFill>
                <a:latin typeface="Consolas"/>
              </a:rPr>
              <a:t>│   │       │   │   └── chains/</a:t>
            </a:r>
          </a:p>
          <a:p>
            <a:pPr algn="l">
              <a:lnSpc>
                <a:spcPct val="100000"/>
              </a:lnSpc>
            </a:pPr>
            <a:r>
              <a:rPr sz="800" b="0" i="0">
                <a:solidFill>
                  <a:srgbClr val="ECE7DC"/>
                </a:solidFill>
                <a:latin typeface="Consolas"/>
              </a:rPr>
              <a:t>│   │       │   │       ├── base.py.json</a:t>
            </a:r>
          </a:p>
          <a:p>
            <a:pPr algn="l">
              <a:lnSpc>
                <a:spcPct val="100000"/>
              </a:lnSpc>
            </a:pPr>
            <a:r>
              <a:rPr sz="800" b="0" i="0">
                <a:solidFill>
                  <a:srgbClr val="ECE7DC"/>
                </a:solidFill>
                <a:latin typeface="Consolas"/>
              </a:rPr>
              <a:t>│   │       │   │       ├── history_aware.py.json</a:t>
            </a:r>
          </a:p>
          <a:p>
            <a:pPr algn="l">
              <a:lnSpc>
                <a:spcPct val="100000"/>
              </a:lnSpc>
            </a:pPr>
            <a:r>
              <a:rPr sz="800" b="0" i="0">
                <a:solidFill>
                  <a:srgbClr val="ECE7DC"/>
                </a:solidFill>
                <a:latin typeface="Consolas"/>
              </a:rPr>
              <a:t>│   │       │   │       └── unified.py.json</a:t>
            </a:r>
          </a:p>
          <a:p>
            <a:pPr algn="l">
              <a:lnSpc>
                <a:spcPct val="100000"/>
              </a:lnSpc>
            </a:pPr>
            <a:r>
              <a:rPr sz="800" b="0" i="0">
                <a:solidFill>
                  <a:srgbClr val="3BBE93"/>
                </a:solidFill>
                <a:latin typeface="Consolas"/>
              </a:rPr>
              <a:t>│   │       │   ├── services/</a:t>
            </a:r>
          </a:p>
          <a:p>
            <a:pPr algn="l">
              <a:lnSpc>
                <a:spcPct val="100000"/>
              </a:lnSpc>
            </a:pPr>
            <a:r>
              <a:rPr sz="800" b="0" i="0">
                <a:solidFill>
                  <a:srgbClr val="ECE7DC"/>
                </a:solidFill>
                <a:latin typeface="Consolas"/>
              </a:rPr>
              <a:t>│   │       │   │   ├── filesystem.py.json</a:t>
            </a:r>
          </a:p>
          <a:p>
            <a:pPr algn="l">
              <a:lnSpc>
                <a:spcPct val="100000"/>
              </a:lnSpc>
            </a:pPr>
            <a:r>
              <a:rPr sz="800" b="0" i="0">
                <a:solidFill>
                  <a:srgbClr val="ECE7DC"/>
                </a:solidFill>
                <a:latin typeface="Consolas"/>
              </a:rPr>
              <a:t>│   │       │   │   ├── flow_compiler.py.json</a:t>
            </a:r>
          </a:p>
          <a:p>
            <a:pPr algn="l">
              <a:lnSpc>
                <a:spcPct val="100000"/>
              </a:lnSpc>
            </a:pPr>
            <a:r>
              <a:rPr sz="800" b="0" i="0">
                <a:solidFill>
                  <a:srgbClr val="ECE7DC"/>
                </a:solidFill>
                <a:latin typeface="Consolas"/>
              </a:rPr>
              <a:t>│   │       │   │   ├── prompt_flow_panel.py.json</a:t>
            </a:r>
          </a:p>
        </p:txBody>
      </p:sp>
      <p:cxnSp>
        <p:nvCxnSpPr>
          <p:cNvPr id="8" name="Connector 7"/>
          <p:cNvCxnSpPr/>
          <p:nvPr/>
        </p:nvCxnSpPr>
        <p:spPr>
          <a:xfrm>
            <a:off x="566928" y="6373368"/>
            <a:ext cx="11057839" cy="0"/>
          </a:xfrm>
          <a:prstGeom prst="line">
            <a:avLst/>
          </a:prstGeom>
          <a:ln w="7620">
            <a:solidFill>
              <a:srgbClr val="2A3A40"/>
            </a:solidFill>
          </a:ln>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566928" y="6419088"/>
            <a:ext cx="6858000" cy="274320"/>
          </a:xfrm>
          <a:prstGeom prst="rect">
            <a:avLst/>
          </a:prstGeom>
          <a:noFill/>
        </p:spPr>
        <p:txBody>
          <a:bodyPr wrap="square" lIns="45720" rIns="45720" tIns="27432" bIns="27432" anchor="t">
            <a:noAutofit/>
          </a:bodyPr>
          <a:lstStyle/>
          <a:p>
            <a:pPr algn="l">
              <a:lnSpc>
                <a:spcPct val="100000"/>
              </a:lnSpc>
            </a:pPr>
            <a:r>
              <a:rPr sz="850" b="0" i="0" spc="120">
                <a:solidFill>
                  <a:srgbClr val="A7B2B0"/>
                </a:solidFill>
                <a:latin typeface="Segoe UI Semibold"/>
              </a:rPr>
              <a:t>TLAMATINI  ·  APÉNDICE A · ÁRBOL DE ARCHIVOS</a:t>
            </a:r>
          </a:p>
        </p:txBody>
      </p:sp>
      <p:sp>
        <p:nvSpPr>
          <p:cNvPr id="10" name="TextBox 9"/>
          <p:cNvSpPr txBox="1"/>
          <p:nvPr/>
        </p:nvSpPr>
        <p:spPr>
          <a:xfrm>
            <a:off x="8698687" y="6419088"/>
            <a:ext cx="2926080" cy="274320"/>
          </a:xfrm>
          <a:prstGeom prst="rect">
            <a:avLst/>
          </a:prstGeom>
          <a:noFill/>
        </p:spPr>
        <p:txBody>
          <a:bodyPr wrap="square" lIns="45720" rIns="45720" tIns="27432" bIns="27432" anchor="t">
            <a:noAutofit/>
          </a:bodyPr>
          <a:lstStyle/>
          <a:p>
            <a:pPr algn="r">
              <a:lnSpc>
                <a:spcPct val="100000"/>
              </a:lnSpc>
            </a:pPr>
            <a:r>
              <a:rPr sz="850" b="0" i="0" spc="100">
                <a:solidFill>
                  <a:srgbClr val="A7B2B0"/>
                </a:solidFill>
                <a:latin typeface="Segoe UI Semibold"/>
              </a:rPr>
              <a:t>v1.91.1   ·   180</a:t>
            </a:r>
          </a:p>
        </p:txBody>
      </p:sp>
    </p:spTree>
  </p:cSld>
  <p:clrMapOvr>
    <a:masterClrMapping/>
  </p:clrMapOvr>
</p:sld>
</file>

<file path=ppt/slides/slide18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appendix.png"/>
          <p:cNvPicPr>
            <a:picLocks noChangeAspect="1"/>
          </p:cNvPicPr>
          <p:nvPr/>
        </p:nvPicPr>
        <p:blipFill>
          <a:blip r:embed="rId2"/>
          <a:stretch>
            <a:fillRect/>
          </a:stretch>
        </p:blipFill>
        <p:spPr>
          <a:xfrm>
            <a:off x="0" y="0"/>
            <a:ext cx="12191695" cy="6858000"/>
          </a:xfrm>
          <a:prstGeom prst="rect">
            <a:avLst/>
          </a:prstGeom>
        </p:spPr>
      </p:pic>
      <p:sp>
        <p:nvSpPr>
          <p:cNvPr id="3" name="TextBox 2"/>
          <p:cNvSpPr txBox="1"/>
          <p:nvPr/>
        </p:nvSpPr>
        <p:spPr>
          <a:xfrm>
            <a:off x="566928" y="384048"/>
            <a:ext cx="8686800" cy="329184"/>
          </a:xfrm>
          <a:prstGeom prst="rect">
            <a:avLst/>
          </a:prstGeom>
          <a:noFill/>
        </p:spPr>
        <p:txBody>
          <a:bodyPr wrap="square" lIns="45720" rIns="45720" tIns="27432" bIns="27432" anchor="t">
            <a:noAutofit/>
          </a:bodyPr>
          <a:lstStyle/>
          <a:p>
            <a:pPr algn="l">
              <a:lnSpc>
                <a:spcPct val="100000"/>
              </a:lnSpc>
            </a:pPr>
            <a:r>
              <a:rPr sz="1100" b="0" i="0" spc="200">
                <a:solidFill>
                  <a:srgbClr val="C98457"/>
                </a:solidFill>
                <a:latin typeface="Segoe UI Semibold"/>
              </a:rPr>
              <a:t>APÉNDICE A  ·  ÁRBOL DE ARCHIVOS DE LA APLICACIÓN  ·  7 / 20</a:t>
            </a:r>
          </a:p>
        </p:txBody>
      </p:sp>
      <p:sp>
        <p:nvSpPr>
          <p:cNvPr id="4" name="TextBox 3"/>
          <p:cNvSpPr txBox="1"/>
          <p:nvPr/>
        </p:nvSpPr>
        <p:spPr>
          <a:xfrm>
            <a:off x="566928" y="731520"/>
            <a:ext cx="11057839" cy="384048"/>
          </a:xfrm>
          <a:prstGeom prst="rect">
            <a:avLst/>
          </a:prstGeom>
          <a:noFill/>
        </p:spPr>
        <p:txBody>
          <a:bodyPr wrap="square" lIns="45720" rIns="45720" tIns="27432" bIns="27432" anchor="t">
            <a:noAutofit/>
          </a:bodyPr>
          <a:lstStyle/>
          <a:p>
            <a:pPr algn="l">
              <a:lnSpc>
                <a:spcPct val="100000"/>
              </a:lnSpc>
            </a:pPr>
            <a:r>
              <a:rPr sz="1300" b="0" i="0">
                <a:solidFill>
                  <a:srgbClr val="A7B2B0"/>
                </a:solidFill>
                <a:latin typeface="Segoe UI"/>
              </a:rPr>
              <a:t>1,898 archivos listados en el commit 21b0a5c; 221 archivos de la historia de la base de datos resumidos.</a:t>
            </a:r>
          </a:p>
        </p:txBody>
      </p:sp>
      <p:sp>
        <p:nvSpPr>
          <p:cNvPr id="5" name="TextBox 4"/>
          <p:cNvSpPr txBox="1"/>
          <p:nvPr/>
        </p:nvSpPr>
        <p:spPr>
          <a:xfrm>
            <a:off x="566928" y="1170432"/>
            <a:ext cx="3515258" cy="5084064"/>
          </a:xfrm>
          <a:prstGeom prst="rect">
            <a:avLst/>
          </a:prstGeom>
          <a:noFill/>
        </p:spPr>
        <p:txBody>
          <a:bodyPr wrap="none" lIns="45720" rIns="45720" tIns="27432" bIns="27432" anchor="t">
            <a:noAutofit/>
          </a:bodyPr>
          <a:lstStyle/>
          <a:p>
            <a:pPr algn="l">
              <a:lnSpc>
                <a:spcPct val="100000"/>
              </a:lnSpc>
            </a:pPr>
            <a:r>
              <a:rPr sz="800" b="0" i="0">
                <a:solidFill>
                  <a:srgbClr val="ECE7DC"/>
                </a:solidFill>
                <a:latin typeface="Consolas"/>
              </a:rPr>
              <a:t>│   │       │   │   └── response_parser.py.json</a:t>
            </a:r>
          </a:p>
          <a:p>
            <a:pPr algn="l">
              <a:lnSpc>
                <a:spcPct val="100000"/>
              </a:lnSpc>
            </a:pPr>
            <a:r>
              <a:rPr sz="800" b="0" i="0">
                <a:solidFill>
                  <a:srgbClr val="3BBE93"/>
                </a:solidFill>
                <a:latin typeface="Consolas"/>
              </a:rPr>
              <a:t>│   │       │   ├── static/</a:t>
            </a:r>
          </a:p>
          <a:p>
            <a:pPr algn="l">
              <a:lnSpc>
                <a:spcPct val="100000"/>
              </a:lnSpc>
            </a:pPr>
            <a:r>
              <a:rPr sz="800" b="0" i="0">
                <a:solidFill>
                  <a:srgbClr val="3BBE93"/>
                </a:solidFill>
                <a:latin typeface="Consolas"/>
              </a:rPr>
              <a:t>│   │       │   │   └── agent/</a:t>
            </a:r>
          </a:p>
          <a:p>
            <a:pPr algn="l">
              <a:lnSpc>
                <a:spcPct val="100000"/>
              </a:lnSpc>
            </a:pPr>
            <a:r>
              <a:rPr sz="800" b="0" i="0">
                <a:solidFill>
                  <a:srgbClr val="3BBE93"/>
                </a:solidFill>
                <a:latin typeface="Consolas"/>
              </a:rPr>
              <a:t>│   │       │   │       ├── interactor/</a:t>
            </a:r>
          </a:p>
          <a:p>
            <a:pPr algn="l">
              <a:lnSpc>
                <a:spcPct val="100000"/>
              </a:lnSpc>
            </a:pPr>
            <a:r>
              <a:rPr sz="800" b="0" i="0">
                <a:solidFill>
                  <a:srgbClr val="ECE7DC"/>
                </a:solidFill>
                <a:latin typeface="Consolas"/>
              </a:rPr>
              <a:t>│   │       │   │       │   └── bridge.js.json</a:t>
            </a:r>
          </a:p>
          <a:p>
            <a:pPr algn="l">
              <a:lnSpc>
                <a:spcPct val="100000"/>
              </a:lnSpc>
            </a:pPr>
            <a:r>
              <a:rPr sz="800" b="0" i="0">
                <a:solidFill>
                  <a:srgbClr val="3BBE93"/>
                </a:solidFill>
                <a:latin typeface="Consolas"/>
              </a:rPr>
              <a:t>│   │       │   │       ├── js/</a:t>
            </a:r>
          </a:p>
          <a:p>
            <a:pPr algn="l">
              <a:lnSpc>
                <a:spcPct val="100000"/>
              </a:lnSpc>
            </a:pPr>
            <a:r>
              <a:rPr sz="800" b="0" i="0">
                <a:solidFill>
                  <a:srgbClr val="ECE7DC"/>
                </a:solidFill>
                <a:latin typeface="Consolas"/>
              </a:rPr>
              <a:t>│   │       │   │       │   ├── access_keys_wizard.js.js</a:t>
            </a:r>
          </a:p>
          <a:p>
            <a:pPr algn="l">
              <a:lnSpc>
                <a:spcPct val="100000"/>
              </a:lnSpc>
            </a:pPr>
            <a:r>
              <a:rPr sz="800" b="0" i="0">
                <a:solidFill>
                  <a:srgbClr val="ECE7DC"/>
                </a:solidFill>
                <a:latin typeface="Consolas"/>
              </a:rPr>
              <a:t>│   │       │   │       │   │     » on</a:t>
            </a:r>
          </a:p>
          <a:p>
            <a:pPr algn="l">
              <a:lnSpc>
                <a:spcPct val="100000"/>
              </a:lnSpc>
            </a:pPr>
            <a:r>
              <a:rPr sz="800" b="0" i="0">
                <a:solidFill>
                  <a:srgbClr val="ECE7DC"/>
                </a:solidFill>
                <a:latin typeface="Consolas"/>
              </a:rPr>
              <a:t>│   │       │   │       │   ├── acp-canvas-core.js.json</a:t>
            </a:r>
          </a:p>
          <a:p>
            <a:pPr algn="l">
              <a:lnSpc>
                <a:spcPct val="100000"/>
              </a:lnSpc>
            </a:pPr>
            <a:r>
              <a:rPr sz="800" b="0" i="0">
                <a:solidFill>
                  <a:srgbClr val="ECE7DC"/>
                </a:solidFill>
                <a:latin typeface="Consolas"/>
              </a:rPr>
              <a:t>│   │       │   │       │   ├── acp-canvas-undo.js.json</a:t>
            </a:r>
          </a:p>
          <a:p>
            <a:pPr algn="l">
              <a:lnSpc>
                <a:spcPct val="100000"/>
              </a:lnSpc>
            </a:pPr>
            <a:r>
              <a:rPr sz="800" b="0" i="0">
                <a:solidFill>
                  <a:srgbClr val="ECE7DC"/>
                </a:solidFill>
                <a:latin typeface="Consolas"/>
              </a:rPr>
              <a:t>│   │       │   │       │   ├── acp-connection-status.js</a:t>
            </a:r>
          </a:p>
          <a:p>
            <a:pPr algn="l">
              <a:lnSpc>
                <a:spcPct val="100000"/>
              </a:lnSpc>
            </a:pPr>
            <a:r>
              <a:rPr sz="800" b="0" i="0">
                <a:solidFill>
                  <a:srgbClr val="ECE7DC"/>
                </a:solidFill>
                <a:latin typeface="Consolas"/>
              </a:rPr>
              <a:t>│   │       │   │       │   │     » .json</a:t>
            </a:r>
          </a:p>
          <a:p>
            <a:pPr algn="l">
              <a:lnSpc>
                <a:spcPct val="100000"/>
              </a:lnSpc>
            </a:pPr>
            <a:r>
              <a:rPr sz="800" b="0" i="0">
                <a:solidFill>
                  <a:srgbClr val="ECE7DC"/>
                </a:solidFill>
                <a:latin typeface="Consolas"/>
              </a:rPr>
              <a:t>│   │       │   │       │   ├── acp-control-buttons.js.j</a:t>
            </a:r>
          </a:p>
          <a:p>
            <a:pPr algn="l">
              <a:lnSpc>
                <a:spcPct val="100000"/>
              </a:lnSpc>
            </a:pPr>
            <a:r>
              <a:rPr sz="800" b="0" i="0">
                <a:solidFill>
                  <a:srgbClr val="ECE7DC"/>
                </a:solidFill>
                <a:latin typeface="Consolas"/>
              </a:rPr>
              <a:t>│   │       │   │       │   │     » son</a:t>
            </a:r>
          </a:p>
          <a:p>
            <a:pPr algn="l">
              <a:lnSpc>
                <a:spcPct val="100000"/>
              </a:lnSpc>
            </a:pPr>
            <a:r>
              <a:rPr sz="800" b="0" i="0">
                <a:solidFill>
                  <a:srgbClr val="ECE7DC"/>
                </a:solidFill>
                <a:latin typeface="Consolas"/>
              </a:rPr>
              <a:t>│   │       │   │       │   ├── acp-editor-tools.js.json</a:t>
            </a:r>
          </a:p>
          <a:p>
            <a:pPr algn="l">
              <a:lnSpc>
                <a:spcPct val="100000"/>
              </a:lnSpc>
            </a:pPr>
            <a:r>
              <a:rPr sz="800" b="0" i="0">
                <a:solidFill>
                  <a:srgbClr val="ECE7DC"/>
                </a:solidFill>
                <a:latin typeface="Consolas"/>
              </a:rPr>
              <a:t>│   │       │   │       │   ├── acp-file-io.js.json</a:t>
            </a:r>
          </a:p>
          <a:p>
            <a:pPr algn="l">
              <a:lnSpc>
                <a:spcPct val="100000"/>
              </a:lnSpc>
            </a:pPr>
            <a:r>
              <a:rPr sz="800" b="0" i="0">
                <a:solidFill>
                  <a:srgbClr val="ECE7DC"/>
                </a:solidFill>
                <a:latin typeface="Consolas"/>
              </a:rPr>
              <a:t>│   │       │   │       │   ├── acp-flow-snapshot.js.jso</a:t>
            </a:r>
          </a:p>
          <a:p>
            <a:pPr algn="l">
              <a:lnSpc>
                <a:spcPct val="100000"/>
              </a:lnSpc>
            </a:pPr>
            <a:r>
              <a:rPr sz="800" b="0" i="0">
                <a:solidFill>
                  <a:srgbClr val="ECE7DC"/>
                </a:solidFill>
                <a:latin typeface="Consolas"/>
              </a:rPr>
              <a:t>│   │       │   │       │   │     » n</a:t>
            </a:r>
          </a:p>
          <a:p>
            <a:pPr algn="l">
              <a:lnSpc>
                <a:spcPct val="100000"/>
              </a:lnSpc>
            </a:pPr>
            <a:r>
              <a:rPr sz="800" b="0" i="0">
                <a:solidFill>
                  <a:srgbClr val="ECE7DC"/>
                </a:solidFill>
                <a:latin typeface="Consolas"/>
              </a:rPr>
              <a:t>│   │       │   │       │   ├── acp-globals.js.json</a:t>
            </a:r>
          </a:p>
          <a:p>
            <a:pPr algn="l">
              <a:lnSpc>
                <a:spcPct val="100000"/>
              </a:lnSpc>
            </a:pPr>
            <a:r>
              <a:rPr sz="800" b="0" i="0">
                <a:solidFill>
                  <a:srgbClr val="ECE7DC"/>
                </a:solidFill>
                <a:latin typeface="Consolas"/>
              </a:rPr>
              <a:t>│   │       │   │       │   ├── acp-layout.js.json</a:t>
            </a:r>
          </a:p>
          <a:p>
            <a:pPr algn="l">
              <a:lnSpc>
                <a:spcPct val="100000"/>
              </a:lnSpc>
            </a:pPr>
            <a:r>
              <a:rPr sz="800" b="0" i="0">
                <a:solidFill>
                  <a:srgbClr val="ECE7DC"/>
                </a:solidFill>
                <a:latin typeface="Consolas"/>
              </a:rPr>
              <a:t>│   │       │   │       │   ├── acp-parametrizer-dialog.</a:t>
            </a:r>
          </a:p>
          <a:p>
            <a:pPr algn="l">
              <a:lnSpc>
                <a:spcPct val="100000"/>
              </a:lnSpc>
            </a:pPr>
            <a:r>
              <a:rPr sz="800" b="0" i="0">
                <a:solidFill>
                  <a:srgbClr val="ECE7DC"/>
                </a:solidFill>
                <a:latin typeface="Consolas"/>
              </a:rPr>
              <a:t>│   │       │   │       │   │     » js.json</a:t>
            </a:r>
          </a:p>
          <a:p>
            <a:pPr algn="l">
              <a:lnSpc>
                <a:spcPct val="100000"/>
              </a:lnSpc>
            </a:pPr>
            <a:r>
              <a:rPr sz="800" b="0" i="0">
                <a:solidFill>
                  <a:srgbClr val="ECE7DC"/>
                </a:solidFill>
                <a:latin typeface="Consolas"/>
              </a:rPr>
              <a:t>│   │       │   │       │   ├── acp-validate.js.json</a:t>
            </a:r>
          </a:p>
          <a:p>
            <a:pPr algn="l">
              <a:lnSpc>
                <a:spcPct val="100000"/>
              </a:lnSpc>
            </a:pPr>
            <a:r>
              <a:rPr sz="800" b="0" i="0">
                <a:solidFill>
                  <a:srgbClr val="ECE7DC"/>
                </a:solidFill>
                <a:latin typeface="Consolas"/>
              </a:rPr>
              <a:t>│   │       │   │       │   ├── agent_page_canvas.js.jso</a:t>
            </a:r>
          </a:p>
          <a:p>
            <a:pPr algn="l">
              <a:lnSpc>
                <a:spcPct val="100000"/>
              </a:lnSpc>
            </a:pPr>
            <a:r>
              <a:rPr sz="800" b="0" i="0">
                <a:solidFill>
                  <a:srgbClr val="ECE7DC"/>
                </a:solidFill>
                <a:latin typeface="Consolas"/>
              </a:rPr>
              <a:t>│   │       │   │       │   │     » n</a:t>
            </a:r>
          </a:p>
          <a:p>
            <a:pPr algn="l">
              <a:lnSpc>
                <a:spcPct val="100000"/>
              </a:lnSpc>
            </a:pPr>
            <a:r>
              <a:rPr sz="800" b="0" i="0">
                <a:solidFill>
                  <a:srgbClr val="ECE7DC"/>
                </a:solidFill>
                <a:latin typeface="Consolas"/>
              </a:rPr>
              <a:t>│   │       │   │       │   ├── agent_page_chat.js.json</a:t>
            </a:r>
          </a:p>
          <a:p>
            <a:pPr algn="l">
              <a:lnSpc>
                <a:spcPct val="100000"/>
              </a:lnSpc>
            </a:pPr>
            <a:r>
              <a:rPr sz="800" b="0" i="0">
                <a:solidFill>
                  <a:srgbClr val="ECE7DC"/>
                </a:solidFill>
                <a:latin typeface="Consolas"/>
              </a:rPr>
              <a:t>│   │       │   │       │   ├── agent_page_context.js.js</a:t>
            </a:r>
          </a:p>
          <a:p>
            <a:pPr algn="l">
              <a:lnSpc>
                <a:spcPct val="100000"/>
              </a:lnSpc>
            </a:pPr>
            <a:r>
              <a:rPr sz="800" b="0" i="0">
                <a:solidFill>
                  <a:srgbClr val="ECE7DC"/>
                </a:solidFill>
                <a:latin typeface="Consolas"/>
              </a:rPr>
              <a:t>│   │       │   │       │   │     » on</a:t>
            </a:r>
          </a:p>
          <a:p>
            <a:pPr algn="l">
              <a:lnSpc>
                <a:spcPct val="100000"/>
              </a:lnSpc>
            </a:pPr>
            <a:r>
              <a:rPr sz="800" b="0" i="0">
                <a:solidFill>
                  <a:srgbClr val="ECE7DC"/>
                </a:solidFill>
                <a:latin typeface="Consolas"/>
              </a:rPr>
              <a:t>│   │       │   │       │   ├── agent_page_dialogs.js.js</a:t>
            </a:r>
          </a:p>
          <a:p>
            <a:pPr algn="l">
              <a:lnSpc>
                <a:spcPct val="100000"/>
              </a:lnSpc>
            </a:pPr>
            <a:r>
              <a:rPr sz="800" b="0" i="0">
                <a:solidFill>
                  <a:srgbClr val="ECE7DC"/>
                </a:solidFill>
                <a:latin typeface="Consolas"/>
              </a:rPr>
              <a:t>│   │       │   │       │   │     » on</a:t>
            </a:r>
          </a:p>
          <a:p>
            <a:pPr algn="l">
              <a:lnSpc>
                <a:spcPct val="100000"/>
              </a:lnSpc>
            </a:pPr>
            <a:r>
              <a:rPr sz="800" b="0" i="0">
                <a:solidFill>
                  <a:srgbClr val="ECE7DC"/>
                </a:solidFill>
                <a:latin typeface="Consolas"/>
              </a:rPr>
              <a:t>│   │       │   │       │   ├── agent_page_editing.js.js</a:t>
            </a:r>
          </a:p>
          <a:p>
            <a:pPr algn="l">
              <a:lnSpc>
                <a:spcPct val="100000"/>
              </a:lnSpc>
            </a:pPr>
            <a:r>
              <a:rPr sz="800" b="0" i="0">
                <a:solidFill>
                  <a:srgbClr val="ECE7DC"/>
                </a:solidFill>
                <a:latin typeface="Consolas"/>
              </a:rPr>
              <a:t>│   │       │   │       │   │     » on</a:t>
            </a:r>
          </a:p>
          <a:p>
            <a:pPr algn="l">
              <a:lnSpc>
                <a:spcPct val="100000"/>
              </a:lnSpc>
            </a:pPr>
            <a:r>
              <a:rPr sz="800" b="0" i="0">
                <a:solidFill>
                  <a:srgbClr val="ECE7DC"/>
                </a:solidFill>
                <a:latin typeface="Consolas"/>
              </a:rPr>
              <a:t>│   │       │   │       │   ├── agent_page_init.js.json</a:t>
            </a:r>
          </a:p>
          <a:p>
            <a:pPr algn="l">
              <a:lnSpc>
                <a:spcPct val="100000"/>
              </a:lnSpc>
            </a:pPr>
            <a:r>
              <a:rPr sz="800" b="0" i="0">
                <a:solidFill>
                  <a:srgbClr val="ECE7DC"/>
                </a:solidFill>
                <a:latin typeface="Consolas"/>
              </a:rPr>
              <a:t>│   │       │   │       │   ├── agent_page_layout.js.jso</a:t>
            </a:r>
          </a:p>
          <a:p>
            <a:pPr algn="l">
              <a:lnSpc>
                <a:spcPct val="100000"/>
              </a:lnSpc>
            </a:pPr>
            <a:r>
              <a:rPr sz="800" b="0" i="0">
                <a:solidFill>
                  <a:srgbClr val="ECE7DC"/>
                </a:solidFill>
                <a:latin typeface="Consolas"/>
              </a:rPr>
              <a:t>│   │       │   │       │   │     » n</a:t>
            </a:r>
          </a:p>
          <a:p>
            <a:pPr algn="l">
              <a:lnSpc>
                <a:spcPct val="100000"/>
              </a:lnSpc>
            </a:pPr>
            <a:r>
              <a:rPr sz="800" b="0" i="0">
                <a:solidFill>
                  <a:srgbClr val="ECE7DC"/>
                </a:solidFill>
                <a:latin typeface="Consolas"/>
              </a:rPr>
              <a:t>│   │       │   │       │   ├── agent_page_markdown.js.j</a:t>
            </a:r>
          </a:p>
          <a:p>
            <a:pPr algn="l">
              <a:lnSpc>
                <a:spcPct val="100000"/>
              </a:lnSpc>
            </a:pPr>
            <a:r>
              <a:rPr sz="800" b="0" i="0">
                <a:solidFill>
                  <a:srgbClr val="ECE7DC"/>
                </a:solidFill>
                <a:latin typeface="Consolas"/>
              </a:rPr>
              <a:t>│   │       │   │       │   │     » son</a:t>
            </a:r>
          </a:p>
          <a:p>
            <a:pPr algn="l">
              <a:lnSpc>
                <a:spcPct val="100000"/>
              </a:lnSpc>
            </a:pPr>
            <a:r>
              <a:rPr sz="800" b="0" i="0">
                <a:solidFill>
                  <a:srgbClr val="ECE7DC"/>
                </a:solidFill>
                <a:latin typeface="Consolas"/>
              </a:rPr>
              <a:t>│   │       │   │       │   ├── agent_page_pdf.js.json</a:t>
            </a:r>
          </a:p>
          <a:p>
            <a:pPr algn="l">
              <a:lnSpc>
                <a:spcPct val="100000"/>
              </a:lnSpc>
            </a:pPr>
            <a:r>
              <a:rPr sz="800" b="0" i="0">
                <a:solidFill>
                  <a:srgbClr val="ECE7DC"/>
                </a:solidFill>
                <a:latin typeface="Consolas"/>
              </a:rPr>
              <a:t>│   │       │   │       │   ├── agent_page_state.js.json</a:t>
            </a:r>
          </a:p>
          <a:p>
            <a:pPr algn="l">
              <a:lnSpc>
                <a:spcPct val="100000"/>
              </a:lnSpc>
            </a:pPr>
            <a:r>
              <a:rPr sz="800" b="0" i="0">
                <a:solidFill>
                  <a:srgbClr val="ECE7DC"/>
                </a:solidFill>
                <a:latin typeface="Consolas"/>
              </a:rPr>
              <a:t>│   │       │   │       │   ├── agent_page_ui.js.json</a:t>
            </a:r>
          </a:p>
          <a:p>
            <a:pPr algn="l">
              <a:lnSpc>
                <a:spcPct val="100000"/>
              </a:lnSpc>
            </a:pPr>
            <a:r>
              <a:rPr sz="800" b="0" i="0">
                <a:solidFill>
                  <a:srgbClr val="ECE7DC"/>
                </a:solidFill>
                <a:latin typeface="Consolas"/>
              </a:rPr>
              <a:t>│   │       │   │       │   ├── avatar.js.json</a:t>
            </a:r>
          </a:p>
        </p:txBody>
      </p:sp>
      <p:sp>
        <p:nvSpPr>
          <p:cNvPr id="6" name="TextBox 5"/>
          <p:cNvSpPr txBox="1"/>
          <p:nvPr/>
        </p:nvSpPr>
        <p:spPr>
          <a:xfrm>
            <a:off x="4338218" y="1170432"/>
            <a:ext cx="3515258" cy="5084064"/>
          </a:xfrm>
          <a:prstGeom prst="rect">
            <a:avLst/>
          </a:prstGeom>
          <a:noFill/>
        </p:spPr>
        <p:txBody>
          <a:bodyPr wrap="none" lIns="45720" rIns="45720" tIns="27432" bIns="27432" anchor="t">
            <a:noAutofit/>
          </a:bodyPr>
          <a:lstStyle/>
          <a:p>
            <a:pPr algn="l">
              <a:lnSpc>
                <a:spcPct val="100000"/>
              </a:lnSpc>
            </a:pPr>
            <a:r>
              <a:rPr sz="800" b="0" i="0">
                <a:solidFill>
                  <a:srgbClr val="ECE7DC"/>
                </a:solidFill>
                <a:latin typeface="Consolas"/>
              </a:rPr>
              <a:t>│   │       │   │       │   ├── avatar_size.js.json</a:t>
            </a:r>
          </a:p>
          <a:p>
            <a:pPr algn="l">
              <a:lnSpc>
                <a:spcPct val="100000"/>
              </a:lnSpc>
            </a:pPr>
            <a:r>
              <a:rPr sz="800" b="0" i="0">
                <a:solidFill>
                  <a:srgbClr val="ECE7DC"/>
                </a:solidFill>
                <a:latin typeface="Consolas"/>
              </a:rPr>
              <a:t>│   │       │   │       │   ├── canvas_item_dialog.js.js</a:t>
            </a:r>
          </a:p>
          <a:p>
            <a:pPr algn="l">
              <a:lnSpc>
                <a:spcPct val="100000"/>
              </a:lnSpc>
            </a:pPr>
            <a:r>
              <a:rPr sz="800" b="0" i="0">
                <a:solidFill>
                  <a:srgbClr val="ECE7DC"/>
                </a:solidFill>
                <a:latin typeface="Consolas"/>
              </a:rPr>
              <a:t>│   │       │   │       │   │     » on</a:t>
            </a:r>
          </a:p>
          <a:p>
            <a:pPr algn="l">
              <a:lnSpc>
                <a:spcPct val="100000"/>
              </a:lnSpc>
            </a:pPr>
            <a:r>
              <a:rPr sz="800" b="0" i="0">
                <a:solidFill>
                  <a:srgbClr val="ECE7DC"/>
                </a:solidFill>
                <a:latin typeface="Consolas"/>
              </a:rPr>
              <a:t>│   │       │   │       │   ├── chat_dictation.js.json</a:t>
            </a:r>
          </a:p>
          <a:p>
            <a:pPr algn="l">
              <a:lnSpc>
                <a:spcPct val="100000"/>
              </a:lnSpc>
            </a:pPr>
            <a:r>
              <a:rPr sz="800" b="0" i="0">
                <a:solidFill>
                  <a:srgbClr val="ECE7DC"/>
                </a:solidFill>
                <a:latin typeface="Consolas"/>
              </a:rPr>
              <a:t>│   │       │   │       │   ├── chat_image_paste.js.json</a:t>
            </a:r>
          </a:p>
          <a:p>
            <a:pPr algn="l">
              <a:lnSpc>
                <a:spcPct val="100000"/>
              </a:lnSpc>
            </a:pPr>
            <a:r>
              <a:rPr sz="800" b="0" i="0">
                <a:solidFill>
                  <a:srgbClr val="ECE7DC"/>
                </a:solidFill>
                <a:latin typeface="Consolas"/>
              </a:rPr>
              <a:t>│   │       │   │       │   ├── chat_table_contrast.js.j</a:t>
            </a:r>
          </a:p>
          <a:p>
            <a:pPr algn="l">
              <a:lnSpc>
                <a:spcPct val="100000"/>
              </a:lnSpc>
            </a:pPr>
            <a:r>
              <a:rPr sz="800" b="0" i="0">
                <a:solidFill>
                  <a:srgbClr val="ECE7DC"/>
                </a:solidFill>
                <a:latin typeface="Consolas"/>
              </a:rPr>
              <a:t>│   │       │   │       │   │     » son</a:t>
            </a:r>
          </a:p>
          <a:p>
            <a:pPr algn="l">
              <a:lnSpc>
                <a:spcPct val="100000"/>
              </a:lnSpc>
            </a:pPr>
            <a:r>
              <a:rPr sz="800" b="0" i="0">
                <a:solidFill>
                  <a:srgbClr val="ECE7DC"/>
                </a:solidFill>
                <a:latin typeface="Consolas"/>
              </a:rPr>
              <a:t>│   │       │   │       │   ├── checkbox_bulk_toggle.js.</a:t>
            </a:r>
          </a:p>
          <a:p>
            <a:pPr algn="l">
              <a:lnSpc>
                <a:spcPct val="100000"/>
              </a:lnSpc>
            </a:pPr>
            <a:r>
              <a:rPr sz="800" b="0" i="0">
                <a:solidFill>
                  <a:srgbClr val="ECE7DC"/>
                </a:solidFill>
                <a:latin typeface="Consolas"/>
              </a:rPr>
              <a:t>│   │       │   │       │   │     » json</a:t>
            </a:r>
          </a:p>
          <a:p>
            <a:pPr algn="l">
              <a:lnSpc>
                <a:spcPct val="100000"/>
              </a:lnSpc>
            </a:pPr>
            <a:r>
              <a:rPr sz="800" b="0" i="0">
                <a:solidFill>
                  <a:srgbClr val="ECE7DC"/>
                </a:solidFill>
                <a:latin typeface="Consolas"/>
              </a:rPr>
              <a:t>│   │       │   │       │   ├── compact_costs.js.json</a:t>
            </a:r>
          </a:p>
          <a:p>
            <a:pPr algn="l">
              <a:lnSpc>
                <a:spcPct val="100000"/>
              </a:lnSpc>
            </a:pPr>
            <a:r>
              <a:rPr sz="800" b="0" i="0">
                <a:solidFill>
                  <a:srgbClr val="ECE7DC"/>
                </a:solidFill>
                <a:latin typeface="Consolas"/>
              </a:rPr>
              <a:t>│   │       │   │       │   ├── contacts_dialog.js.json</a:t>
            </a:r>
          </a:p>
          <a:p>
            <a:pPr algn="l">
              <a:lnSpc>
                <a:spcPct val="100000"/>
              </a:lnSpc>
            </a:pPr>
            <a:r>
              <a:rPr sz="800" b="0" i="0">
                <a:solidFill>
                  <a:srgbClr val="ECE7DC"/>
                </a:solidFill>
                <a:latin typeface="Consolas"/>
              </a:rPr>
              <a:t>│   │       │   │       │   ├── context_gauge.js.json</a:t>
            </a:r>
          </a:p>
          <a:p>
            <a:pPr algn="l">
              <a:lnSpc>
                <a:spcPct val="100000"/>
              </a:lnSpc>
            </a:pPr>
            <a:r>
              <a:rPr sz="800" b="0" i="0">
                <a:solidFill>
                  <a:srgbClr val="ECE7DC"/>
                </a:solidFill>
                <a:latin typeface="Consolas"/>
              </a:rPr>
              <a:t>│   │       │   │       │   ├── contextual_menus.js.json</a:t>
            </a:r>
          </a:p>
          <a:p>
            <a:pPr algn="l">
              <a:lnSpc>
                <a:spcPct val="100000"/>
              </a:lnSpc>
            </a:pPr>
            <a:r>
              <a:rPr sz="800" b="0" i="0">
                <a:solidFill>
                  <a:srgbClr val="ECE7DC"/>
                </a:solidFill>
                <a:latin typeface="Consolas"/>
              </a:rPr>
              <a:t>│   │       │   │       │   ├── dialog_policy.js.json</a:t>
            </a:r>
          </a:p>
          <a:p>
            <a:pPr algn="l">
              <a:lnSpc>
                <a:spcPct val="100000"/>
              </a:lnSpc>
            </a:pPr>
            <a:r>
              <a:rPr sz="800" b="0" i="0">
                <a:solidFill>
                  <a:srgbClr val="ECE7DC"/>
                </a:solidFill>
                <a:latin typeface="Consolas"/>
              </a:rPr>
              <a:t>│   │       │   │       │   ├── external_mcps_dialog.js.</a:t>
            </a:r>
          </a:p>
          <a:p>
            <a:pPr algn="l">
              <a:lnSpc>
                <a:spcPct val="100000"/>
              </a:lnSpc>
            </a:pPr>
            <a:r>
              <a:rPr sz="800" b="0" i="0">
                <a:solidFill>
                  <a:srgbClr val="ECE7DC"/>
                </a:solidFill>
                <a:latin typeface="Consolas"/>
              </a:rPr>
              <a:t>│   │       │   │       │   │     » json</a:t>
            </a:r>
          </a:p>
          <a:p>
            <a:pPr algn="l">
              <a:lnSpc>
                <a:spcPct val="100000"/>
              </a:lnSpc>
            </a:pPr>
            <a:r>
              <a:rPr sz="800" b="0" i="0">
                <a:solidFill>
                  <a:srgbClr val="ECE7DC"/>
                </a:solidFill>
                <a:latin typeface="Consolas"/>
              </a:rPr>
              <a:t>│   │       │   │       │   ├── file_drop_router.js.json</a:t>
            </a:r>
          </a:p>
          <a:p>
            <a:pPr algn="l">
              <a:lnSpc>
                <a:spcPct val="100000"/>
              </a:lnSpc>
            </a:pPr>
            <a:r>
              <a:rPr sz="800" b="0" i="0">
                <a:solidFill>
                  <a:srgbClr val="ECE7DC"/>
                </a:solidFill>
                <a:latin typeface="Consolas"/>
              </a:rPr>
              <a:t>│   │       │   │       │   ├── interaction_settings.js.</a:t>
            </a:r>
          </a:p>
          <a:p>
            <a:pPr algn="l">
              <a:lnSpc>
                <a:spcPct val="100000"/>
              </a:lnSpc>
            </a:pPr>
            <a:r>
              <a:rPr sz="800" b="0" i="0">
                <a:solidFill>
                  <a:srgbClr val="ECE7DC"/>
                </a:solidFill>
                <a:latin typeface="Consolas"/>
              </a:rPr>
              <a:t>│   │       │   │       │   │     » json</a:t>
            </a:r>
          </a:p>
          <a:p>
            <a:pPr algn="l">
              <a:lnSpc>
                <a:spcPct val="100000"/>
              </a:lnSpc>
            </a:pPr>
            <a:r>
              <a:rPr sz="800" b="0" i="0">
                <a:solidFill>
                  <a:srgbClr val="ECE7DC"/>
                </a:solidFill>
                <a:latin typeface="Consolas"/>
              </a:rPr>
              <a:t>│   │       │   │       │   ├── mic_settings.js.json</a:t>
            </a:r>
          </a:p>
          <a:p>
            <a:pPr algn="l">
              <a:lnSpc>
                <a:spcPct val="100000"/>
              </a:lnSpc>
            </a:pPr>
            <a:r>
              <a:rPr sz="800" b="0" i="0">
                <a:solidFill>
                  <a:srgbClr val="ECE7DC"/>
                </a:solidFill>
                <a:latin typeface="Consolas"/>
              </a:rPr>
              <a:t>│   │       │   │       │   ├── model_brain_tuning.js.js</a:t>
            </a:r>
          </a:p>
          <a:p>
            <a:pPr algn="l">
              <a:lnSpc>
                <a:spcPct val="100000"/>
              </a:lnSpc>
            </a:pPr>
            <a:r>
              <a:rPr sz="800" b="0" i="0">
                <a:solidFill>
                  <a:srgbClr val="ECE7DC"/>
                </a:solidFill>
                <a:latin typeface="Consolas"/>
              </a:rPr>
              <a:t>│   │       │   │       │   │     » on</a:t>
            </a:r>
          </a:p>
          <a:p>
            <a:pPr algn="l">
              <a:lnSpc>
                <a:spcPct val="100000"/>
              </a:lnSpc>
            </a:pPr>
            <a:r>
              <a:rPr sz="800" b="0" i="0">
                <a:solidFill>
                  <a:srgbClr val="ECE7DC"/>
                </a:solidFill>
                <a:latin typeface="Consolas"/>
              </a:rPr>
              <a:t>│   │       │   │       │   ├── model_capacity.js.json</a:t>
            </a:r>
          </a:p>
          <a:p>
            <a:pPr algn="l">
              <a:lnSpc>
                <a:spcPct val="100000"/>
              </a:lnSpc>
            </a:pPr>
            <a:r>
              <a:rPr sz="800" b="0" i="0">
                <a:solidFill>
                  <a:srgbClr val="ECE7DC"/>
                </a:solidFill>
                <a:latin typeface="Consolas"/>
              </a:rPr>
              <a:t>│   │       │   │       │   ├── pdf_canvas_viewer.js.jso</a:t>
            </a:r>
          </a:p>
          <a:p>
            <a:pPr algn="l">
              <a:lnSpc>
                <a:spcPct val="100000"/>
              </a:lnSpc>
            </a:pPr>
            <a:r>
              <a:rPr sz="800" b="0" i="0">
                <a:solidFill>
                  <a:srgbClr val="ECE7DC"/>
                </a:solidFill>
                <a:latin typeface="Consolas"/>
              </a:rPr>
              <a:t>│   │       │   │       │   │     » n</a:t>
            </a:r>
          </a:p>
          <a:p>
            <a:pPr algn="l">
              <a:lnSpc>
                <a:spcPct val="100000"/>
              </a:lnSpc>
            </a:pPr>
            <a:r>
              <a:rPr sz="800" b="0" i="0">
                <a:solidFill>
                  <a:srgbClr val="ECE7DC"/>
                </a:solidFill>
                <a:latin typeface="Consolas"/>
              </a:rPr>
              <a:t>│   │       │   │       │   ├── pdf_context_progress.js.</a:t>
            </a:r>
          </a:p>
          <a:p>
            <a:pPr algn="l">
              <a:lnSpc>
                <a:spcPct val="100000"/>
              </a:lnSpc>
            </a:pPr>
            <a:r>
              <a:rPr sz="800" b="0" i="0">
                <a:solidFill>
                  <a:srgbClr val="ECE7DC"/>
                </a:solidFill>
                <a:latin typeface="Consolas"/>
              </a:rPr>
              <a:t>│   │       │   │       │   │     » json</a:t>
            </a:r>
          </a:p>
          <a:p>
            <a:pPr algn="l">
              <a:lnSpc>
                <a:spcPct val="100000"/>
              </a:lnSpc>
            </a:pPr>
            <a:r>
              <a:rPr sz="800" b="0" i="0">
                <a:solidFill>
                  <a:srgbClr val="ECE7DC"/>
                </a:solidFill>
                <a:latin typeface="Consolas"/>
              </a:rPr>
              <a:t>│   │       │   │       │   ├── prompt-flow-panel-model.</a:t>
            </a:r>
          </a:p>
          <a:p>
            <a:pPr algn="l">
              <a:lnSpc>
                <a:spcPct val="100000"/>
              </a:lnSpc>
            </a:pPr>
            <a:r>
              <a:rPr sz="800" b="0" i="0">
                <a:solidFill>
                  <a:srgbClr val="ECE7DC"/>
                </a:solidFill>
                <a:latin typeface="Consolas"/>
              </a:rPr>
              <a:t>│   │       │   │       │   │     » js.json</a:t>
            </a:r>
          </a:p>
          <a:p>
            <a:pPr algn="l">
              <a:lnSpc>
                <a:spcPct val="100000"/>
              </a:lnSpc>
            </a:pPr>
            <a:r>
              <a:rPr sz="800" b="0" i="0">
                <a:solidFill>
                  <a:srgbClr val="ECE7DC"/>
                </a:solidFill>
                <a:latin typeface="Consolas"/>
              </a:rPr>
              <a:t>│   │       │   │       │   ├── prompt-flow-panel.js.jso</a:t>
            </a:r>
          </a:p>
          <a:p>
            <a:pPr algn="l">
              <a:lnSpc>
                <a:spcPct val="100000"/>
              </a:lnSpc>
            </a:pPr>
            <a:r>
              <a:rPr sz="800" b="0" i="0">
                <a:solidFill>
                  <a:srgbClr val="ECE7DC"/>
                </a:solidFill>
                <a:latin typeface="Consolas"/>
              </a:rPr>
              <a:t>│   │       │   │       │   │     » n</a:t>
            </a:r>
          </a:p>
          <a:p>
            <a:pPr algn="l">
              <a:lnSpc>
                <a:spcPct val="100000"/>
              </a:lnSpc>
            </a:pPr>
            <a:r>
              <a:rPr sz="800" b="0" i="0">
                <a:solidFill>
                  <a:srgbClr val="ECE7DC"/>
                </a:solidFill>
                <a:latin typeface="Consolas"/>
              </a:rPr>
              <a:t>│   │       │   │       │   ├── release_notes_renderer.j</a:t>
            </a:r>
          </a:p>
          <a:p>
            <a:pPr algn="l">
              <a:lnSpc>
                <a:spcPct val="100000"/>
              </a:lnSpc>
            </a:pPr>
            <a:r>
              <a:rPr sz="800" b="0" i="0">
                <a:solidFill>
                  <a:srgbClr val="ECE7DC"/>
                </a:solidFill>
                <a:latin typeface="Consolas"/>
              </a:rPr>
              <a:t>│   │       │   │       │   │     » s.json</a:t>
            </a:r>
          </a:p>
          <a:p>
            <a:pPr algn="l">
              <a:lnSpc>
                <a:spcPct val="100000"/>
              </a:lnSpc>
            </a:pPr>
            <a:r>
              <a:rPr sz="800" b="0" i="0">
                <a:solidFill>
                  <a:srgbClr val="ECE7DC"/>
                </a:solidFill>
                <a:latin typeface="Consolas"/>
              </a:rPr>
              <a:t>│   │       │   │       │   ├── self_modify_switch.js.js</a:t>
            </a:r>
          </a:p>
          <a:p>
            <a:pPr algn="l">
              <a:lnSpc>
                <a:spcPct val="100000"/>
              </a:lnSpc>
            </a:pPr>
            <a:r>
              <a:rPr sz="800" b="0" i="0">
                <a:solidFill>
                  <a:srgbClr val="ECE7DC"/>
                </a:solidFill>
                <a:latin typeface="Consolas"/>
              </a:rPr>
              <a:t>│   │       │   │       │   │     » on</a:t>
            </a:r>
          </a:p>
          <a:p>
            <a:pPr algn="l">
              <a:lnSpc>
                <a:spcPct val="100000"/>
              </a:lnSpc>
            </a:pPr>
            <a:r>
              <a:rPr sz="800" b="0" i="0">
                <a:solidFill>
                  <a:srgbClr val="ECE7DC"/>
                </a:solidFill>
                <a:latin typeface="Consolas"/>
              </a:rPr>
              <a:t>│   │       │   │       │   ├── shared-runtime-dialogs.j</a:t>
            </a:r>
          </a:p>
          <a:p>
            <a:pPr algn="l">
              <a:lnSpc>
                <a:spcPct val="100000"/>
              </a:lnSpc>
            </a:pPr>
            <a:r>
              <a:rPr sz="800" b="0" i="0">
                <a:solidFill>
                  <a:srgbClr val="ECE7DC"/>
                </a:solidFill>
                <a:latin typeface="Consolas"/>
              </a:rPr>
              <a:t>│   │       │   │       │   │     » s.json</a:t>
            </a:r>
          </a:p>
          <a:p>
            <a:pPr algn="l">
              <a:lnSpc>
                <a:spcPct val="100000"/>
              </a:lnSpc>
            </a:pPr>
            <a:r>
              <a:rPr sz="800" b="0" i="0">
                <a:solidFill>
                  <a:srgbClr val="ECE7DC"/>
                </a:solidFill>
                <a:latin typeface="Consolas"/>
              </a:rPr>
              <a:t>│   │       │   │       │   ├── skills_dialog.js.json</a:t>
            </a:r>
          </a:p>
          <a:p>
            <a:pPr algn="l">
              <a:lnSpc>
                <a:spcPct val="100000"/>
              </a:lnSpc>
            </a:pPr>
            <a:r>
              <a:rPr sz="800" b="0" i="0">
                <a:solidFill>
                  <a:srgbClr val="ECE7DC"/>
                </a:solidFill>
                <a:latin typeface="Consolas"/>
              </a:rPr>
              <a:t>│   │       │   │       │   ├── terminater_dock.js.json</a:t>
            </a:r>
          </a:p>
          <a:p>
            <a:pPr algn="l">
              <a:lnSpc>
                <a:spcPct val="100000"/>
              </a:lnSpc>
            </a:pPr>
            <a:r>
              <a:rPr sz="800" b="0" i="0">
                <a:solidFill>
                  <a:srgbClr val="ECE7DC"/>
                </a:solidFill>
                <a:latin typeface="Consolas"/>
              </a:rPr>
              <a:t>│   │       │   │       │   ├── tools_dialog.js.json</a:t>
            </a:r>
          </a:p>
          <a:p>
            <a:pPr algn="l">
              <a:lnSpc>
                <a:spcPct val="100000"/>
              </a:lnSpc>
            </a:pPr>
            <a:r>
              <a:rPr sz="800" b="0" i="0">
                <a:solidFill>
                  <a:srgbClr val="ECE7DC"/>
                </a:solidFill>
                <a:latin typeface="Consolas"/>
              </a:rPr>
              <a:t>│   │       │   │       │   ├── usage_dashboard.js.json</a:t>
            </a:r>
          </a:p>
        </p:txBody>
      </p:sp>
      <p:sp>
        <p:nvSpPr>
          <p:cNvPr id="7" name="TextBox 6"/>
          <p:cNvSpPr txBox="1"/>
          <p:nvPr/>
        </p:nvSpPr>
        <p:spPr>
          <a:xfrm>
            <a:off x="8109508" y="1170432"/>
            <a:ext cx="3515258" cy="5084064"/>
          </a:xfrm>
          <a:prstGeom prst="rect">
            <a:avLst/>
          </a:prstGeom>
          <a:noFill/>
        </p:spPr>
        <p:txBody>
          <a:bodyPr wrap="none" lIns="45720" rIns="45720" tIns="27432" bIns="27432" anchor="t">
            <a:noAutofit/>
          </a:bodyPr>
          <a:lstStyle/>
          <a:p>
            <a:pPr algn="l">
              <a:lnSpc>
                <a:spcPct val="100000"/>
              </a:lnSpc>
            </a:pPr>
            <a:r>
              <a:rPr sz="800" b="0" i="0">
                <a:solidFill>
                  <a:srgbClr val="ECE7DC"/>
                </a:solidFill>
                <a:latin typeface="Consolas"/>
              </a:rPr>
              <a:t>│   │       │   │       │   ├── voice_runtime.js.json</a:t>
            </a:r>
          </a:p>
          <a:p>
            <a:pPr algn="l">
              <a:lnSpc>
                <a:spcPct val="100000"/>
              </a:lnSpc>
            </a:pPr>
            <a:r>
              <a:rPr sz="800" b="0" i="0">
                <a:solidFill>
                  <a:srgbClr val="ECE7DC"/>
                </a:solidFill>
                <a:latin typeface="Consolas"/>
              </a:rPr>
              <a:t>│   │       │   │       │   └── welcome_enter_default.js</a:t>
            </a:r>
          </a:p>
          <a:p>
            <a:pPr algn="l">
              <a:lnSpc>
                <a:spcPct val="100000"/>
              </a:lnSpc>
            </a:pPr>
            <a:r>
              <a:rPr sz="800" b="0" i="0">
                <a:solidFill>
                  <a:srgbClr val="ECE7DC"/>
                </a:solidFill>
                <a:latin typeface="Consolas"/>
              </a:rPr>
              <a:t>│   │       │   │       │         » .json</a:t>
            </a:r>
          </a:p>
          <a:p>
            <a:pPr algn="l">
              <a:lnSpc>
                <a:spcPct val="100000"/>
              </a:lnSpc>
            </a:pPr>
            <a:r>
              <a:rPr sz="800" b="0" i="0">
                <a:solidFill>
                  <a:srgbClr val="3BBE93"/>
                </a:solidFill>
                <a:latin typeface="Consolas"/>
              </a:rPr>
              <a:t>│   │       │   │       ├── pdf/</a:t>
            </a:r>
          </a:p>
          <a:p>
            <a:pPr algn="l">
              <a:lnSpc>
                <a:spcPct val="100000"/>
              </a:lnSpc>
            </a:pPr>
            <a:r>
              <a:rPr sz="800" b="0" i="0">
                <a:solidFill>
                  <a:srgbClr val="ECE7DC"/>
                </a:solidFill>
                <a:latin typeface="Consolas"/>
              </a:rPr>
              <a:t>│   │       │   │       │   └── canvas.html.json</a:t>
            </a:r>
          </a:p>
          <a:p>
            <a:pPr algn="l">
              <a:lnSpc>
                <a:spcPct val="100000"/>
              </a:lnSpc>
            </a:pPr>
            <a:r>
              <a:rPr sz="800" b="0" i="0">
                <a:solidFill>
                  <a:srgbClr val="3BBE93"/>
                </a:solidFill>
                <a:latin typeface="Consolas"/>
              </a:rPr>
              <a:t>│   │       │   │       └── vendor/</a:t>
            </a:r>
          </a:p>
          <a:p>
            <a:pPr algn="l">
              <a:lnSpc>
                <a:spcPct val="100000"/>
              </a:lnSpc>
            </a:pPr>
            <a:r>
              <a:rPr sz="800" b="0" i="0">
                <a:solidFill>
                  <a:srgbClr val="3BBE93"/>
                </a:solidFill>
                <a:latin typeface="Consolas"/>
              </a:rPr>
              <a:t>│   │       │   │           └── canvas-editor/</a:t>
            </a:r>
          </a:p>
          <a:p>
            <a:pPr algn="l">
              <a:lnSpc>
                <a:spcPct val="100000"/>
              </a:lnSpc>
            </a:pPr>
            <a:r>
              <a:rPr sz="800" b="0" i="0">
                <a:solidFill>
                  <a:srgbClr val="ECE7DC"/>
                </a:solidFill>
                <a:latin typeface="Consolas"/>
              </a:rPr>
              <a:t>│   │       │   │               ├── editor.js.json</a:t>
            </a:r>
          </a:p>
          <a:p>
            <a:pPr algn="l">
              <a:lnSpc>
                <a:spcPct val="100000"/>
              </a:lnSpc>
            </a:pPr>
            <a:r>
              <a:rPr sz="800" b="0" i="0">
                <a:solidFill>
                  <a:srgbClr val="ECE7DC"/>
                </a:solidFill>
                <a:latin typeface="Consolas"/>
              </a:rPr>
              <a:t>│   │       │   │               └── manifest.json.json</a:t>
            </a:r>
          </a:p>
          <a:p>
            <a:pPr algn="l">
              <a:lnSpc>
                <a:spcPct val="100000"/>
              </a:lnSpc>
            </a:pPr>
            <a:r>
              <a:rPr sz="800" b="0" i="0">
                <a:solidFill>
                  <a:srgbClr val="3BBE93"/>
                </a:solidFill>
                <a:latin typeface="Consolas"/>
              </a:rPr>
              <a:t>│   │       │   └── templates/</a:t>
            </a:r>
          </a:p>
          <a:p>
            <a:pPr algn="l">
              <a:lnSpc>
                <a:spcPct val="100000"/>
              </a:lnSpc>
            </a:pPr>
            <a:r>
              <a:rPr sz="800" b="0" i="0">
                <a:solidFill>
                  <a:srgbClr val="3BBE93"/>
                </a:solidFill>
                <a:latin typeface="Consolas"/>
              </a:rPr>
              <a:t>│   │       │       ├── admin/</a:t>
            </a:r>
          </a:p>
          <a:p>
            <a:pPr algn="l">
              <a:lnSpc>
                <a:spcPct val="100000"/>
              </a:lnSpc>
            </a:pPr>
            <a:r>
              <a:rPr sz="800" b="0" i="0">
                <a:solidFill>
                  <a:srgbClr val="ECE7DC"/>
                </a:solidFill>
                <a:latin typeface="Consolas"/>
              </a:rPr>
              <a:t>│   │       │       │   └── base_site.html.json</a:t>
            </a:r>
          </a:p>
          <a:p>
            <a:pPr algn="l">
              <a:lnSpc>
                <a:spcPct val="100000"/>
              </a:lnSpc>
            </a:pPr>
            <a:r>
              <a:rPr sz="800" b="0" i="0">
                <a:solidFill>
                  <a:srgbClr val="3BBE93"/>
                </a:solidFill>
                <a:latin typeface="Consolas"/>
              </a:rPr>
              <a:t>│   │       │       └── agent/</a:t>
            </a:r>
          </a:p>
          <a:p>
            <a:pPr algn="l">
              <a:lnSpc>
                <a:spcPct val="100000"/>
              </a:lnSpc>
            </a:pPr>
            <a:r>
              <a:rPr sz="800" b="0" i="0">
                <a:solidFill>
                  <a:srgbClr val="ECE7DC"/>
                </a:solidFill>
                <a:latin typeface="Consolas"/>
              </a:rPr>
              <a:t>│   │       │           ├── agent_page.html.json</a:t>
            </a:r>
          </a:p>
          <a:p>
            <a:pPr algn="l">
              <a:lnSpc>
                <a:spcPct val="100000"/>
              </a:lnSpc>
            </a:pPr>
            <a:r>
              <a:rPr sz="800" b="0" i="0">
                <a:solidFill>
                  <a:srgbClr val="ECE7DC"/>
                </a:solidFill>
                <a:latin typeface="Consolas"/>
              </a:rPr>
              <a:t>│   │       │           ├── agentic_control_panel.html.j</a:t>
            </a:r>
          </a:p>
          <a:p>
            <a:pPr algn="l">
              <a:lnSpc>
                <a:spcPct val="100000"/>
              </a:lnSpc>
            </a:pPr>
            <a:r>
              <a:rPr sz="800" b="0" i="0">
                <a:solidFill>
                  <a:srgbClr val="ECE7DC"/>
                </a:solidFill>
                <a:latin typeface="Consolas"/>
              </a:rPr>
              <a:t>│   │       │           │     » son</a:t>
            </a:r>
          </a:p>
          <a:p>
            <a:pPr algn="l">
              <a:lnSpc>
                <a:spcPct val="100000"/>
              </a:lnSpc>
            </a:pPr>
            <a:r>
              <a:rPr sz="800" b="0" i="0">
                <a:solidFill>
                  <a:srgbClr val="ECE7DC"/>
                </a:solidFill>
                <a:latin typeface="Consolas"/>
              </a:rPr>
              <a:t>│   │       │           ├── interaction_settings.html.js</a:t>
            </a:r>
          </a:p>
          <a:p>
            <a:pPr algn="l">
              <a:lnSpc>
                <a:spcPct val="100000"/>
              </a:lnSpc>
            </a:pPr>
            <a:r>
              <a:rPr sz="800" b="0" i="0">
                <a:solidFill>
                  <a:srgbClr val="ECE7DC"/>
                </a:solidFill>
                <a:latin typeface="Consolas"/>
              </a:rPr>
              <a:t>│   │       │           │     » on</a:t>
            </a:r>
          </a:p>
          <a:p>
            <a:pPr algn="l">
              <a:lnSpc>
                <a:spcPct val="100000"/>
              </a:lnSpc>
            </a:pPr>
            <a:r>
              <a:rPr sz="800" b="0" i="0">
                <a:solidFill>
                  <a:srgbClr val="ECE7DC"/>
                </a:solidFill>
                <a:latin typeface="Consolas"/>
              </a:rPr>
              <a:t>│   │       │           ├── interactor.html.json</a:t>
            </a:r>
          </a:p>
          <a:p>
            <a:pPr algn="l">
              <a:lnSpc>
                <a:spcPct val="100000"/>
              </a:lnSpc>
            </a:pPr>
            <a:r>
              <a:rPr sz="800" b="0" i="0">
                <a:solidFill>
                  <a:srgbClr val="ECE7DC"/>
                </a:solidFill>
                <a:latin typeface="Consolas"/>
              </a:rPr>
              <a:t>│   │       │           ├── login.html.json</a:t>
            </a:r>
          </a:p>
          <a:p>
            <a:pPr algn="l">
              <a:lnSpc>
                <a:spcPct val="100000"/>
              </a:lnSpc>
            </a:pPr>
            <a:r>
              <a:rPr sz="800" b="0" i="0">
                <a:solidFill>
                  <a:srgbClr val="ECE7DC"/>
                </a:solidFill>
                <a:latin typeface="Consolas"/>
              </a:rPr>
              <a:t>│   │       │           ├── prompt_flow_panel.html.json</a:t>
            </a:r>
          </a:p>
          <a:p>
            <a:pPr algn="l">
              <a:lnSpc>
                <a:spcPct val="100000"/>
              </a:lnSpc>
            </a:pPr>
            <a:r>
              <a:rPr sz="800" b="0" i="0">
                <a:solidFill>
                  <a:srgbClr val="ECE7DC"/>
                </a:solidFill>
                <a:latin typeface="Consolas"/>
              </a:rPr>
              <a:t>│   │       │           ├── usage_dialog.html.json</a:t>
            </a:r>
          </a:p>
          <a:p>
            <a:pPr algn="l">
              <a:lnSpc>
                <a:spcPct val="100000"/>
              </a:lnSpc>
            </a:pPr>
            <a:r>
              <a:rPr sz="800" b="0" i="0">
                <a:solidFill>
                  <a:srgbClr val="ECE7DC"/>
                </a:solidFill>
                <a:latin typeface="Consolas"/>
              </a:rPr>
              <a:t>│   │       │           └── welcome.html.json</a:t>
            </a:r>
          </a:p>
          <a:p>
            <a:pPr algn="l">
              <a:lnSpc>
                <a:spcPct val="100000"/>
              </a:lnSpc>
            </a:pPr>
            <a:r>
              <a:rPr sz="800" b="0" i="0">
                <a:solidFill>
                  <a:srgbClr val="3BBE93"/>
                </a:solidFill>
                <a:latin typeface="Consolas"/>
              </a:rPr>
              <a:t>│   │       └── tlamatini/</a:t>
            </a:r>
          </a:p>
          <a:p>
            <a:pPr algn="l">
              <a:lnSpc>
                <a:spcPct val="100000"/>
              </a:lnSpc>
            </a:pPr>
            <a:r>
              <a:rPr sz="800" b="0" i="0">
                <a:solidFill>
                  <a:srgbClr val="ECE7DC"/>
                </a:solidFill>
                <a:latin typeface="Consolas"/>
              </a:rPr>
              <a:t>│   │           └── settings.py.json</a:t>
            </a:r>
          </a:p>
          <a:p>
            <a:pPr algn="l">
              <a:lnSpc>
                <a:spcPct val="100000"/>
              </a:lnSpc>
            </a:pPr>
            <a:r>
              <a:rPr sz="800" b="0" i="0">
                <a:solidFill>
                  <a:srgbClr val="3BBE93"/>
                </a:solidFill>
                <a:latin typeface="Consolas"/>
              </a:rPr>
              <a:t>│   └── pruebas/</a:t>
            </a:r>
          </a:p>
          <a:p>
            <a:pPr algn="l">
              <a:lnSpc>
                <a:spcPct val="100000"/>
              </a:lnSpc>
            </a:pPr>
            <a:r>
              <a:rPr sz="800" b="0" i="0">
                <a:solidFill>
                  <a:srgbClr val="ECE7DC"/>
                </a:solidFill>
                <a:latin typeface="Consolas"/>
              </a:rPr>
              <a:t>│       ├── identidad_instalacion.py</a:t>
            </a:r>
          </a:p>
          <a:p>
            <a:pPr algn="l">
              <a:lnSpc>
                <a:spcPct val="100000"/>
              </a:lnSpc>
            </a:pPr>
            <a:r>
              <a:rPr sz="800" b="0" i="0">
                <a:solidFill>
                  <a:srgbClr val="ECE7DC"/>
                </a:solidFill>
                <a:latin typeface="Consolas"/>
              </a:rPr>
              <a:t>│       └── preguntas_es.py</a:t>
            </a:r>
          </a:p>
          <a:p>
            <a:pPr algn="l">
              <a:lnSpc>
                <a:spcPct val="100000"/>
              </a:lnSpc>
            </a:pPr>
            <a:r>
              <a:rPr sz="800" b="0" i="0">
                <a:solidFill>
                  <a:srgbClr val="3BBE93"/>
                </a:solidFill>
                <a:latin typeface="Consolas"/>
              </a:rPr>
              <a:t>├── pyinstaller_hooks/</a:t>
            </a:r>
          </a:p>
          <a:p>
            <a:pPr algn="l">
              <a:lnSpc>
                <a:spcPct val="100000"/>
              </a:lnSpc>
            </a:pPr>
            <a:r>
              <a:rPr sz="800" b="0" i="0">
                <a:solidFill>
                  <a:srgbClr val="ECE7DC"/>
                </a:solidFill>
                <a:latin typeface="Consolas"/>
              </a:rPr>
              <a:t>│   ├── hook-numpy.py</a:t>
            </a:r>
          </a:p>
          <a:p>
            <a:pPr algn="l">
              <a:lnSpc>
                <a:spcPct val="100000"/>
              </a:lnSpc>
            </a:pPr>
            <a:r>
              <a:rPr sz="800" b="0" i="0">
                <a:solidFill>
                  <a:srgbClr val="ECE7DC"/>
                </a:solidFill>
                <a:latin typeface="Consolas"/>
              </a:rPr>
              <a:t>│   ├── hook-pymupdf.py</a:t>
            </a:r>
          </a:p>
          <a:p>
            <a:pPr algn="l">
              <a:lnSpc>
                <a:spcPct val="100000"/>
              </a:lnSpc>
            </a:pPr>
            <a:r>
              <a:rPr sz="800" b="0" i="0">
                <a:solidFill>
                  <a:srgbClr val="ECE7DC"/>
                </a:solidFill>
                <a:latin typeface="Consolas"/>
              </a:rPr>
              <a:t>│   └── hook-torch.py</a:t>
            </a:r>
          </a:p>
          <a:p>
            <a:pPr algn="l">
              <a:lnSpc>
                <a:spcPct val="100000"/>
              </a:lnSpc>
            </a:pPr>
            <a:r>
              <a:rPr sz="800" b="0" i="0">
                <a:solidFill>
                  <a:srgbClr val="3BBE93"/>
                </a:solidFill>
                <a:latin typeface="Consolas"/>
              </a:rPr>
              <a:t>├── scripts/</a:t>
            </a:r>
          </a:p>
          <a:p>
            <a:pPr algn="l">
              <a:lnSpc>
                <a:spcPct val="100000"/>
              </a:lnSpc>
            </a:pPr>
            <a:r>
              <a:rPr sz="800" b="0" i="0">
                <a:solidFill>
                  <a:srgbClr val="ECE7DC"/>
                </a:solidFill>
                <a:latin typeface="Consolas"/>
              </a:rPr>
              <a:t>│   ├── acp_editor_visible.py</a:t>
            </a:r>
          </a:p>
          <a:p>
            <a:pPr algn="l">
              <a:lnSpc>
                <a:spcPct val="100000"/>
              </a:lnSpc>
            </a:pPr>
            <a:r>
              <a:rPr sz="800" b="0" i="0">
                <a:solidFill>
                  <a:srgbClr val="ECE7DC"/>
                </a:solidFill>
                <a:latin typeface="Consolas"/>
              </a:rPr>
              <a:t>│   ├── agent_catalog_visible.py</a:t>
            </a:r>
          </a:p>
          <a:p>
            <a:pPr algn="l">
              <a:lnSpc>
                <a:spcPct val="100000"/>
              </a:lnSpc>
            </a:pPr>
            <a:r>
              <a:rPr sz="800" b="0" i="0">
                <a:solidFill>
                  <a:srgbClr val="ECE7DC"/>
                </a:solidFill>
                <a:latin typeface="Consolas"/>
              </a:rPr>
              <a:t>│   ├── build_canvas_editor.mjs</a:t>
            </a:r>
          </a:p>
          <a:p>
            <a:pPr algn="l">
              <a:lnSpc>
                <a:spcPct val="100000"/>
              </a:lnSpc>
            </a:pPr>
            <a:r>
              <a:rPr sz="800" b="0" i="0">
                <a:solidFill>
                  <a:srgbClr val="ECE7DC"/>
                </a:solidFill>
                <a:latin typeface="Consolas"/>
              </a:rPr>
              <a:t>│   ├── build_setup_full_payload.py</a:t>
            </a:r>
          </a:p>
          <a:p>
            <a:pPr algn="l">
              <a:lnSpc>
                <a:spcPct val="100000"/>
              </a:lnSpc>
            </a:pPr>
            <a:r>
              <a:rPr sz="800" b="0" i="0">
                <a:solidFill>
                  <a:srgbClr val="ECE7DC"/>
                </a:solidFill>
                <a:latin typeface="Consolas"/>
              </a:rPr>
              <a:t>│   ├── build_setup_validation.py</a:t>
            </a:r>
          </a:p>
          <a:p>
            <a:pPr algn="l">
              <a:lnSpc>
                <a:spcPct val="100000"/>
              </a:lnSpc>
            </a:pPr>
            <a:r>
              <a:rPr sz="800" b="0" i="0">
                <a:solidFill>
                  <a:srgbClr val="ECE7DC"/>
                </a:solidFill>
                <a:latin typeface="Consolas"/>
              </a:rPr>
              <a:t>│   ├── canvas_editing_visible.py</a:t>
            </a:r>
          </a:p>
          <a:p>
            <a:pPr algn="l">
              <a:lnSpc>
                <a:spcPct val="100000"/>
              </a:lnSpc>
            </a:pPr>
            <a:r>
              <a:rPr sz="800" b="0" i="0">
                <a:solidFill>
                  <a:srgbClr val="ECE7DC"/>
                </a:solidFill>
                <a:latin typeface="Consolas"/>
              </a:rPr>
              <a:t>│   ├── canvas_editor_entry.mjs</a:t>
            </a:r>
          </a:p>
          <a:p>
            <a:pPr algn="l">
              <a:lnSpc>
                <a:spcPct val="100000"/>
              </a:lnSpc>
            </a:pPr>
            <a:r>
              <a:rPr sz="800" b="0" i="0">
                <a:solidFill>
                  <a:srgbClr val="ECE7DC"/>
                </a:solidFill>
                <a:latin typeface="Consolas"/>
              </a:rPr>
              <a:t>│   ├── canvas_refresh_visible.py</a:t>
            </a:r>
          </a:p>
        </p:txBody>
      </p:sp>
      <p:cxnSp>
        <p:nvCxnSpPr>
          <p:cNvPr id="8" name="Connector 7"/>
          <p:cNvCxnSpPr/>
          <p:nvPr/>
        </p:nvCxnSpPr>
        <p:spPr>
          <a:xfrm>
            <a:off x="566928" y="6373368"/>
            <a:ext cx="11057839" cy="0"/>
          </a:xfrm>
          <a:prstGeom prst="line">
            <a:avLst/>
          </a:prstGeom>
          <a:ln w="7620">
            <a:solidFill>
              <a:srgbClr val="2A3A40"/>
            </a:solidFill>
          </a:ln>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566928" y="6419088"/>
            <a:ext cx="6858000" cy="274320"/>
          </a:xfrm>
          <a:prstGeom prst="rect">
            <a:avLst/>
          </a:prstGeom>
          <a:noFill/>
        </p:spPr>
        <p:txBody>
          <a:bodyPr wrap="square" lIns="45720" rIns="45720" tIns="27432" bIns="27432" anchor="t">
            <a:noAutofit/>
          </a:bodyPr>
          <a:lstStyle/>
          <a:p>
            <a:pPr algn="l">
              <a:lnSpc>
                <a:spcPct val="100000"/>
              </a:lnSpc>
            </a:pPr>
            <a:r>
              <a:rPr sz="850" b="0" i="0" spc="120">
                <a:solidFill>
                  <a:srgbClr val="A7B2B0"/>
                </a:solidFill>
                <a:latin typeface="Segoe UI Semibold"/>
              </a:rPr>
              <a:t>TLAMATINI  ·  APÉNDICE A · ÁRBOL DE ARCHIVOS</a:t>
            </a:r>
          </a:p>
        </p:txBody>
      </p:sp>
      <p:sp>
        <p:nvSpPr>
          <p:cNvPr id="10" name="TextBox 9"/>
          <p:cNvSpPr txBox="1"/>
          <p:nvPr/>
        </p:nvSpPr>
        <p:spPr>
          <a:xfrm>
            <a:off x="8698687" y="6419088"/>
            <a:ext cx="2926080" cy="274320"/>
          </a:xfrm>
          <a:prstGeom prst="rect">
            <a:avLst/>
          </a:prstGeom>
          <a:noFill/>
        </p:spPr>
        <p:txBody>
          <a:bodyPr wrap="square" lIns="45720" rIns="45720" tIns="27432" bIns="27432" anchor="t">
            <a:noAutofit/>
          </a:bodyPr>
          <a:lstStyle/>
          <a:p>
            <a:pPr algn="r">
              <a:lnSpc>
                <a:spcPct val="100000"/>
              </a:lnSpc>
            </a:pPr>
            <a:r>
              <a:rPr sz="850" b="0" i="0" spc="100">
                <a:solidFill>
                  <a:srgbClr val="A7B2B0"/>
                </a:solidFill>
                <a:latin typeface="Segoe UI Semibold"/>
              </a:rPr>
              <a:t>v1.91.1   ·   181</a:t>
            </a:r>
          </a:p>
        </p:txBody>
      </p:sp>
    </p:spTree>
  </p:cSld>
  <p:clrMapOvr>
    <a:masterClrMapping/>
  </p:clrMapOvr>
</p:sld>
</file>

<file path=ppt/slides/slide18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appendix.png"/>
          <p:cNvPicPr>
            <a:picLocks noChangeAspect="1"/>
          </p:cNvPicPr>
          <p:nvPr/>
        </p:nvPicPr>
        <p:blipFill>
          <a:blip r:embed="rId2"/>
          <a:stretch>
            <a:fillRect/>
          </a:stretch>
        </p:blipFill>
        <p:spPr>
          <a:xfrm>
            <a:off x="0" y="0"/>
            <a:ext cx="12191695" cy="6858000"/>
          </a:xfrm>
          <a:prstGeom prst="rect">
            <a:avLst/>
          </a:prstGeom>
        </p:spPr>
      </p:pic>
      <p:sp>
        <p:nvSpPr>
          <p:cNvPr id="3" name="TextBox 2"/>
          <p:cNvSpPr txBox="1"/>
          <p:nvPr/>
        </p:nvSpPr>
        <p:spPr>
          <a:xfrm>
            <a:off x="566928" y="384048"/>
            <a:ext cx="8686800" cy="329184"/>
          </a:xfrm>
          <a:prstGeom prst="rect">
            <a:avLst/>
          </a:prstGeom>
          <a:noFill/>
        </p:spPr>
        <p:txBody>
          <a:bodyPr wrap="square" lIns="45720" rIns="45720" tIns="27432" bIns="27432" anchor="t">
            <a:noAutofit/>
          </a:bodyPr>
          <a:lstStyle/>
          <a:p>
            <a:pPr algn="l">
              <a:lnSpc>
                <a:spcPct val="100000"/>
              </a:lnSpc>
            </a:pPr>
            <a:r>
              <a:rPr sz="1100" b="0" i="0" spc="200">
                <a:solidFill>
                  <a:srgbClr val="C98457"/>
                </a:solidFill>
                <a:latin typeface="Segoe UI Semibold"/>
              </a:rPr>
              <a:t>APÉNDICE A  ·  ÁRBOL DE ARCHIVOS DE LA APLICACIÓN  ·  8 / 20</a:t>
            </a:r>
          </a:p>
        </p:txBody>
      </p:sp>
      <p:sp>
        <p:nvSpPr>
          <p:cNvPr id="4" name="TextBox 3"/>
          <p:cNvSpPr txBox="1"/>
          <p:nvPr/>
        </p:nvSpPr>
        <p:spPr>
          <a:xfrm>
            <a:off x="566928" y="731520"/>
            <a:ext cx="11057839" cy="384048"/>
          </a:xfrm>
          <a:prstGeom prst="rect">
            <a:avLst/>
          </a:prstGeom>
          <a:noFill/>
        </p:spPr>
        <p:txBody>
          <a:bodyPr wrap="square" lIns="45720" rIns="45720" tIns="27432" bIns="27432" anchor="t">
            <a:noAutofit/>
          </a:bodyPr>
          <a:lstStyle/>
          <a:p>
            <a:pPr algn="l">
              <a:lnSpc>
                <a:spcPct val="100000"/>
              </a:lnSpc>
            </a:pPr>
            <a:r>
              <a:rPr sz="1300" b="0" i="0">
                <a:solidFill>
                  <a:srgbClr val="A7B2B0"/>
                </a:solidFill>
                <a:latin typeface="Segoe UI"/>
              </a:rPr>
              <a:t>1,898 archivos listados en el commit 21b0a5c; 221 archivos de la historia de la base de datos resumidos.</a:t>
            </a:r>
          </a:p>
        </p:txBody>
      </p:sp>
      <p:sp>
        <p:nvSpPr>
          <p:cNvPr id="5" name="TextBox 4"/>
          <p:cNvSpPr txBox="1"/>
          <p:nvPr/>
        </p:nvSpPr>
        <p:spPr>
          <a:xfrm>
            <a:off x="566928" y="1170432"/>
            <a:ext cx="3515258" cy="5084064"/>
          </a:xfrm>
          <a:prstGeom prst="rect">
            <a:avLst/>
          </a:prstGeom>
          <a:noFill/>
        </p:spPr>
        <p:txBody>
          <a:bodyPr wrap="none" lIns="45720" rIns="45720" tIns="27432" bIns="27432" anchor="t">
            <a:noAutofit/>
          </a:bodyPr>
          <a:lstStyle/>
          <a:p>
            <a:pPr algn="l">
              <a:lnSpc>
                <a:spcPct val="100000"/>
              </a:lnSpc>
            </a:pPr>
            <a:r>
              <a:rPr sz="800" b="0" i="0">
                <a:solidFill>
                  <a:srgbClr val="ECE7DC"/>
                </a:solidFill>
                <a:latin typeface="Consolas"/>
              </a:rPr>
              <a:t>│   ├── chat_composer_resize_checks.py</a:t>
            </a:r>
          </a:p>
          <a:p>
            <a:pPr algn="l">
              <a:lnSpc>
                <a:spcPct val="100000"/>
              </a:lnSpc>
            </a:pPr>
            <a:r>
              <a:rPr sz="800" b="0" i="0">
                <a:solidFill>
                  <a:srgbClr val="ECE7DC"/>
                </a:solidFill>
                <a:latin typeface="Consolas"/>
              </a:rPr>
              <a:t>│   ├── chat_composer_resize_visible.py</a:t>
            </a:r>
          </a:p>
          <a:p>
            <a:pPr algn="l">
              <a:lnSpc>
                <a:spcPct val="100000"/>
              </a:lnSpc>
            </a:pPr>
            <a:r>
              <a:rPr sz="800" b="0" i="0">
                <a:solidFill>
                  <a:srgbClr val="ECE7DC"/>
                </a:solidFill>
                <a:latin typeface="Consolas"/>
              </a:rPr>
              <a:t>│   ├── chat_composer_visible_window.py</a:t>
            </a:r>
          </a:p>
          <a:p>
            <a:pPr algn="l">
              <a:lnSpc>
                <a:spcPct val="100000"/>
              </a:lnSpc>
            </a:pPr>
            <a:r>
              <a:rPr sz="800" b="0" i="0">
                <a:solidFill>
                  <a:srgbClr val="ECE7DC"/>
                </a:solidFill>
                <a:latin typeface="Consolas"/>
              </a:rPr>
              <a:t>│   ├── chat_microphone_visible.py</a:t>
            </a:r>
          </a:p>
          <a:p>
            <a:pPr algn="l">
              <a:lnSpc>
                <a:spcPct val="100000"/>
              </a:lnSpc>
            </a:pPr>
            <a:r>
              <a:rPr sz="800" b="0" i="0">
                <a:solidFill>
                  <a:srgbClr val="ECE7DC"/>
                </a:solidFill>
                <a:latin typeface="Consolas"/>
              </a:rPr>
              <a:t>│   ├── chat_viewport_visible_checks.py</a:t>
            </a:r>
          </a:p>
          <a:p>
            <a:pPr algn="l">
              <a:lnSpc>
                <a:spcPct val="100000"/>
              </a:lnSpc>
            </a:pPr>
            <a:r>
              <a:rPr sz="800" b="0" i="0">
                <a:solidFill>
                  <a:srgbClr val="ECE7DC"/>
                </a:solidFill>
                <a:latin typeface="Consolas"/>
              </a:rPr>
              <a:t>│   ├── chat_views_frozen_visible.py</a:t>
            </a:r>
          </a:p>
          <a:p>
            <a:pPr algn="l">
              <a:lnSpc>
                <a:spcPct val="100000"/>
              </a:lnSpc>
            </a:pPr>
            <a:r>
              <a:rPr sz="800" b="0" i="0">
                <a:solidFill>
                  <a:srgbClr val="ECE7DC"/>
                </a:solidFill>
                <a:latin typeface="Consolas"/>
              </a:rPr>
              <a:t>│   ├── chat_views_visible.py</a:t>
            </a:r>
          </a:p>
          <a:p>
            <a:pPr algn="l">
              <a:lnSpc>
                <a:spcPct val="100000"/>
              </a:lnSpc>
            </a:pPr>
            <a:r>
              <a:rPr sz="800" b="0" i="0">
                <a:solidFill>
                  <a:srgbClr val="ECE7DC"/>
                </a:solidFill>
                <a:latin typeface="Consolas"/>
              </a:rPr>
              <a:t>│   ├── check_js_parse.mjs</a:t>
            </a:r>
          </a:p>
          <a:p>
            <a:pPr algn="l">
              <a:lnSpc>
                <a:spcPct val="100000"/>
              </a:lnSpc>
            </a:pPr>
            <a:r>
              <a:rPr sz="800" b="0" i="0">
                <a:solidFill>
                  <a:srgbClr val="ECE7DC"/>
                </a:solidFill>
                <a:latin typeface="Consolas"/>
              </a:rPr>
              <a:t>│   ├── check_python_quality.py</a:t>
            </a:r>
          </a:p>
          <a:p>
            <a:pPr algn="l">
              <a:lnSpc>
                <a:spcPct val="100000"/>
              </a:lnSpc>
            </a:pPr>
            <a:r>
              <a:rPr sz="800" b="0" i="0">
                <a:solidFill>
                  <a:srgbClr val="ECE7DC"/>
                </a:solidFill>
                <a:latin typeface="Consolas"/>
              </a:rPr>
              <a:t>│   ├── check_requirements_coverage.py</a:t>
            </a:r>
          </a:p>
          <a:p>
            <a:pPr algn="l">
              <a:lnSpc>
                <a:spcPct val="100000"/>
              </a:lnSpc>
            </a:pPr>
            <a:r>
              <a:rPr sz="800" b="0" i="0">
                <a:solidFill>
                  <a:srgbClr val="ECE7DC"/>
                </a:solidFill>
                <a:latin typeface="Consolas"/>
              </a:rPr>
              <a:t>│   ├── docked_avatar_resize_checks.py</a:t>
            </a:r>
          </a:p>
          <a:p>
            <a:pPr algn="l">
              <a:lnSpc>
                <a:spcPct val="100000"/>
              </a:lnSpc>
            </a:pPr>
            <a:r>
              <a:rPr sz="800" b="0" i="0">
                <a:solidFill>
                  <a:srgbClr val="ECE7DC"/>
                </a:solidFill>
                <a:latin typeface="Consolas"/>
              </a:rPr>
              <a:t>│   ├── dossier_visual_walkthrough_visible.py</a:t>
            </a:r>
          </a:p>
          <a:p>
            <a:pPr algn="l">
              <a:lnSpc>
                <a:spcPct val="100000"/>
              </a:lnSpc>
            </a:pPr>
            <a:r>
              <a:rPr sz="800" b="0" i="0">
                <a:solidFill>
                  <a:srgbClr val="ECE7DC"/>
                </a:solidFill>
                <a:latin typeface="Consolas"/>
              </a:rPr>
              <a:t>│   ├── drag_divider_look_visible.py</a:t>
            </a:r>
          </a:p>
          <a:p>
            <a:pPr algn="l">
              <a:lnSpc>
                <a:spcPct val="100000"/>
              </a:lnSpc>
            </a:pPr>
            <a:r>
              <a:rPr sz="800" b="0" i="0">
                <a:solidFill>
                  <a:srgbClr val="ECE7DC"/>
                </a:solidFill>
                <a:latin typeface="Consolas"/>
              </a:rPr>
              <a:t>│   ├── file_drop_router_cases.mjs</a:t>
            </a:r>
          </a:p>
          <a:p>
            <a:pPr algn="l">
              <a:lnSpc>
                <a:spcPct val="100000"/>
              </a:lnSpc>
            </a:pPr>
            <a:r>
              <a:rPr sz="800" b="0" i="0">
                <a:solidFill>
                  <a:srgbClr val="ECE7DC"/>
                </a:solidFill>
                <a:latin typeface="Consolas"/>
              </a:rPr>
              <a:t>│   ├── flow_canvas_mechanics_visible.py</a:t>
            </a:r>
          </a:p>
          <a:p>
            <a:pPr algn="l">
              <a:lnSpc>
                <a:spcPct val="100000"/>
              </a:lnSpc>
            </a:pPr>
            <a:r>
              <a:rPr sz="800" b="0" i="0">
                <a:solidFill>
                  <a:srgbClr val="ECE7DC"/>
                </a:solidFill>
                <a:latin typeface="Consolas"/>
              </a:rPr>
              <a:t>│   ├── flow_file_associations_test.ps1</a:t>
            </a:r>
          </a:p>
          <a:p>
            <a:pPr algn="l">
              <a:lnSpc>
                <a:spcPct val="100000"/>
              </a:lnSpc>
            </a:pPr>
            <a:r>
              <a:rPr sz="800" b="0" i="0">
                <a:solidFill>
                  <a:srgbClr val="ECE7DC"/>
                </a:solidFill>
                <a:latin typeface="Consolas"/>
              </a:rPr>
              <a:t>│   ├── flow_files_visible.py</a:t>
            </a:r>
          </a:p>
          <a:p>
            <a:pPr algn="l">
              <a:lnSpc>
                <a:spcPct val="100000"/>
              </a:lnSpc>
            </a:pPr>
            <a:r>
              <a:rPr sz="800" b="0" i="0">
                <a:solidFill>
                  <a:srgbClr val="ECE7DC"/>
                </a:solidFill>
                <a:latin typeface="Consolas"/>
              </a:rPr>
              <a:t>│   ├── installed_panels_visible.py</a:t>
            </a:r>
          </a:p>
          <a:p>
            <a:pPr algn="l">
              <a:lnSpc>
                <a:spcPct val="100000"/>
              </a:lnSpc>
            </a:pPr>
            <a:r>
              <a:rPr sz="800" b="0" i="0">
                <a:solidFill>
                  <a:srgbClr val="ECE7DC"/>
                </a:solidFill>
                <a:latin typeface="Consolas"/>
              </a:rPr>
              <a:t>│   ├── interaction_settings_visible.py</a:t>
            </a:r>
          </a:p>
          <a:p>
            <a:pPr algn="l">
              <a:lnSpc>
                <a:spcPct val="100000"/>
              </a:lnSpc>
            </a:pPr>
            <a:r>
              <a:rPr sz="800" b="0" i="0">
                <a:solidFill>
                  <a:srgbClr val="ECE7DC"/>
                </a:solidFill>
                <a:latin typeface="Consolas"/>
              </a:rPr>
              <a:t>│   ├── interactor_runtime_server.py</a:t>
            </a:r>
          </a:p>
          <a:p>
            <a:pPr algn="l">
              <a:lnSpc>
                <a:spcPct val="100000"/>
              </a:lnSpc>
            </a:pPr>
            <a:r>
              <a:rPr sz="800" b="0" i="0">
                <a:solidFill>
                  <a:srgbClr val="ECE7DC"/>
                </a:solidFill>
                <a:latin typeface="Consolas"/>
              </a:rPr>
              <a:t>│   ├── interactor_runtime_visible.py</a:t>
            </a:r>
          </a:p>
          <a:p>
            <a:pPr algn="l">
              <a:lnSpc>
                <a:spcPct val="100000"/>
              </a:lnSpc>
            </a:pPr>
            <a:r>
              <a:rPr sz="800" b="0" i="0">
                <a:solidFill>
                  <a:srgbClr val="ECE7DC"/>
                </a:solidFill>
                <a:latin typeface="Consolas"/>
              </a:rPr>
              <a:t>│   ├── interactor_visible.py</a:t>
            </a:r>
          </a:p>
          <a:p>
            <a:pPr algn="l">
              <a:lnSpc>
                <a:spcPct val="100000"/>
              </a:lnSpc>
            </a:pPr>
            <a:r>
              <a:rPr sz="800" b="0" i="0">
                <a:solidFill>
                  <a:srgbClr val="ECE7DC"/>
                </a:solidFill>
                <a:latin typeface="Consolas"/>
              </a:rPr>
              <a:t>│   ├── markdown_canvas_visible.py</a:t>
            </a:r>
          </a:p>
          <a:p>
            <a:pPr algn="l">
              <a:lnSpc>
                <a:spcPct val="100000"/>
              </a:lnSpc>
            </a:pPr>
            <a:r>
              <a:rPr sz="800" b="0" i="0">
                <a:solidFill>
                  <a:srgbClr val="ECE7DC"/>
                </a:solidFill>
                <a:latin typeface="Consolas"/>
              </a:rPr>
              <a:t>│   ├── menu_browser_checks.py</a:t>
            </a:r>
          </a:p>
          <a:p>
            <a:pPr algn="l">
              <a:lnSpc>
                <a:spcPct val="100000"/>
              </a:lnSpc>
            </a:pPr>
            <a:r>
              <a:rPr sz="800" b="0" i="0">
                <a:solidFill>
                  <a:srgbClr val="ECE7DC"/>
                </a:solidFill>
                <a:latin typeface="Consolas"/>
              </a:rPr>
              <a:t>│   ├── menu_live_checks.py</a:t>
            </a:r>
          </a:p>
          <a:p>
            <a:pPr algn="l">
              <a:lnSpc>
                <a:spcPct val="100000"/>
              </a:lnSpc>
            </a:pPr>
            <a:r>
              <a:rPr sz="800" b="0" i="0">
                <a:solidFill>
                  <a:srgbClr val="ECE7DC"/>
                </a:solidFill>
                <a:latin typeface="Consolas"/>
              </a:rPr>
              <a:t>│   ├── menu_reference_graph.mjs</a:t>
            </a:r>
          </a:p>
          <a:p>
            <a:pPr algn="l">
              <a:lnSpc>
                <a:spcPct val="100000"/>
              </a:lnSpc>
            </a:pPr>
            <a:r>
              <a:rPr sz="800" b="0" i="0">
                <a:solidFill>
                  <a:srgbClr val="ECE7DC"/>
                </a:solidFill>
                <a:latin typeface="Consolas"/>
              </a:rPr>
              <a:t>│   ├── panel_search_title_visible.py</a:t>
            </a:r>
          </a:p>
          <a:p>
            <a:pPr algn="l">
              <a:lnSpc>
                <a:spcPct val="100000"/>
              </a:lnSpc>
            </a:pPr>
            <a:r>
              <a:rPr sz="800" b="0" i="0">
                <a:solidFill>
                  <a:srgbClr val="ECE7DC"/>
                </a:solidFill>
                <a:latin typeface="Consolas"/>
              </a:rPr>
              <a:t>│   ├── playwright_real_visibility.cjs</a:t>
            </a:r>
          </a:p>
          <a:p>
            <a:pPr algn="l">
              <a:lnSpc>
                <a:spcPct val="100000"/>
              </a:lnSpc>
            </a:pPr>
            <a:r>
              <a:rPr sz="800" b="0" i="0">
                <a:solidFill>
                  <a:srgbClr val="ECE7DC"/>
                </a:solidFill>
                <a:latin typeface="Consolas"/>
              </a:rPr>
              <a:t>│   ├── pptxer_visibility_gallery.py</a:t>
            </a:r>
          </a:p>
          <a:p>
            <a:pPr algn="l">
              <a:lnSpc>
                <a:spcPct val="100000"/>
              </a:lnSpc>
            </a:pPr>
            <a:r>
              <a:rPr sz="800" b="0" i="0">
                <a:solidFill>
                  <a:srgbClr val="ECE7DC"/>
                </a:solidFill>
                <a:latin typeface="Consolas"/>
              </a:rPr>
              <a:t>│   ├── prompt_flow_commentary_visible.py</a:t>
            </a:r>
          </a:p>
          <a:p>
            <a:pPr algn="l">
              <a:lnSpc>
                <a:spcPct val="100000"/>
              </a:lnSpc>
            </a:pPr>
            <a:r>
              <a:rPr sz="800" b="0" i="0">
                <a:solidFill>
                  <a:srgbClr val="ECE7DC"/>
                </a:solidFill>
                <a:latin typeface="Consolas"/>
              </a:rPr>
              <a:t>│   ├── prompt_flow_connections_visible.py</a:t>
            </a:r>
          </a:p>
          <a:p>
            <a:pPr algn="l">
              <a:lnSpc>
                <a:spcPct val="100000"/>
              </a:lnSpc>
            </a:pPr>
            <a:r>
              <a:rPr sz="800" b="0" i="0">
                <a:solidFill>
                  <a:srgbClr val="ECE7DC"/>
                </a:solidFill>
                <a:latin typeface="Consolas"/>
              </a:rPr>
              <a:t>│   ├── prompt_flow_extension_visible.py</a:t>
            </a:r>
          </a:p>
          <a:p>
            <a:pPr algn="l">
              <a:lnSpc>
                <a:spcPct val="100000"/>
              </a:lnSpc>
            </a:pPr>
            <a:r>
              <a:rPr sz="800" b="0" i="0">
                <a:solidFill>
                  <a:srgbClr val="ECE7DC"/>
                </a:solidFill>
                <a:latin typeface="Consolas"/>
              </a:rPr>
              <a:t>│   ├── prompt_flow_output_resize_visible.py</a:t>
            </a:r>
          </a:p>
          <a:p>
            <a:pPr algn="l">
              <a:lnSpc>
                <a:spcPct val="100000"/>
              </a:lnSpc>
            </a:pPr>
            <a:r>
              <a:rPr sz="800" b="0" i="0">
                <a:solidFill>
                  <a:srgbClr val="ECE7DC"/>
                </a:solidFill>
                <a:latin typeface="Consolas"/>
              </a:rPr>
              <a:t>│   ├── prompt_flow_selection_visible.py</a:t>
            </a:r>
          </a:p>
          <a:p>
            <a:pPr algn="l">
              <a:lnSpc>
                <a:spcPct val="100000"/>
              </a:lnSpc>
            </a:pPr>
            <a:r>
              <a:rPr sz="800" b="0" i="0">
                <a:solidFill>
                  <a:srgbClr val="ECE7DC"/>
                </a:solidFill>
                <a:latin typeface="Consolas"/>
              </a:rPr>
              <a:t>│   ├── refresh_supporting_pdfs.py</a:t>
            </a:r>
          </a:p>
          <a:p>
            <a:pPr algn="l">
              <a:lnSpc>
                <a:spcPct val="100000"/>
              </a:lnSpc>
            </a:pPr>
            <a:r>
              <a:rPr sz="800" b="0" i="0">
                <a:solidFill>
                  <a:srgbClr val="ECE7DC"/>
                </a:solidFill>
                <a:latin typeface="Consolas"/>
              </a:rPr>
              <a:t>│   ├── release_acp_editor_checks.py</a:t>
            </a:r>
          </a:p>
          <a:p>
            <a:pPr algn="l">
              <a:lnSpc>
                <a:spcPct val="100000"/>
              </a:lnSpc>
            </a:pPr>
            <a:r>
              <a:rPr sz="800" b="0" i="0">
                <a:solidFill>
                  <a:srgbClr val="ECE7DC"/>
                </a:solidFill>
                <a:latin typeface="Consolas"/>
              </a:rPr>
              <a:t>│   ├── release_acp_runtime_checks.py</a:t>
            </a:r>
          </a:p>
          <a:p>
            <a:pPr algn="l">
              <a:lnSpc>
                <a:spcPct val="100000"/>
              </a:lnSpc>
            </a:pPr>
            <a:r>
              <a:rPr sz="800" b="0" i="0">
                <a:solidFill>
                  <a:srgbClr val="ECE7DC"/>
                </a:solidFill>
                <a:latin typeface="Consolas"/>
              </a:rPr>
              <a:t>│   ├── release_agent_catalog_checks.py</a:t>
            </a:r>
          </a:p>
          <a:p>
            <a:pPr algn="l">
              <a:lnSpc>
                <a:spcPct val="100000"/>
              </a:lnSpc>
            </a:pPr>
            <a:r>
              <a:rPr sz="800" b="0" i="0">
                <a:solidFill>
                  <a:srgbClr val="ECE7DC"/>
                </a:solidFill>
                <a:latin typeface="Consolas"/>
              </a:rPr>
              <a:t>│   ├── release_auth_checks.py</a:t>
            </a:r>
          </a:p>
          <a:p>
            <a:pPr algn="l">
              <a:lnSpc>
                <a:spcPct val="100000"/>
              </a:lnSpc>
            </a:pPr>
            <a:r>
              <a:rPr sz="800" b="0" i="0">
                <a:solidFill>
                  <a:srgbClr val="ECE7DC"/>
                </a:solidFill>
                <a:latin typeface="Consolas"/>
              </a:rPr>
              <a:t>│   ├── release_commentary_checks.py</a:t>
            </a:r>
          </a:p>
          <a:p>
            <a:pPr algn="l">
              <a:lnSpc>
                <a:spcPct val="100000"/>
              </a:lnSpc>
            </a:pPr>
            <a:r>
              <a:rPr sz="800" b="0" i="0">
                <a:solidFill>
                  <a:srgbClr val="ECE7DC"/>
                </a:solidFill>
                <a:latin typeface="Consolas"/>
              </a:rPr>
              <a:t>│   ├── release_extended_checks.py</a:t>
            </a:r>
          </a:p>
        </p:txBody>
      </p:sp>
      <p:sp>
        <p:nvSpPr>
          <p:cNvPr id="6" name="TextBox 5"/>
          <p:cNvSpPr txBox="1"/>
          <p:nvPr/>
        </p:nvSpPr>
        <p:spPr>
          <a:xfrm>
            <a:off x="4338218" y="1170432"/>
            <a:ext cx="3515258" cy="5084064"/>
          </a:xfrm>
          <a:prstGeom prst="rect">
            <a:avLst/>
          </a:prstGeom>
          <a:noFill/>
        </p:spPr>
        <p:txBody>
          <a:bodyPr wrap="none" lIns="45720" rIns="45720" tIns="27432" bIns="27432" anchor="t">
            <a:noAutofit/>
          </a:bodyPr>
          <a:lstStyle/>
          <a:p>
            <a:pPr algn="l">
              <a:lnSpc>
                <a:spcPct val="100000"/>
              </a:lnSpc>
            </a:pPr>
            <a:r>
              <a:rPr sz="800" b="0" i="0">
                <a:solidFill>
                  <a:srgbClr val="ECE7DC"/>
                </a:solidFill>
                <a:latin typeface="Consolas"/>
              </a:rPr>
              <a:t>│   ├── release_local_agent_checks.py</a:t>
            </a:r>
          </a:p>
          <a:p>
            <a:pPr algn="l">
              <a:lnSpc>
                <a:spcPct val="100000"/>
              </a:lnSpc>
            </a:pPr>
            <a:r>
              <a:rPr sz="800" b="0" i="0">
                <a:solidFill>
                  <a:srgbClr val="ECE7DC"/>
                </a:solidFill>
                <a:latin typeface="Consolas"/>
              </a:rPr>
              <a:t>│   ├── release_mcp_checks.py</a:t>
            </a:r>
          </a:p>
          <a:p>
            <a:pPr algn="l">
              <a:lnSpc>
                <a:spcPct val="100000"/>
              </a:lnSpc>
            </a:pPr>
            <a:r>
              <a:rPr sz="800" b="0" i="0">
                <a:solidFill>
                  <a:srgbClr val="ECE7DC"/>
                </a:solidFill>
                <a:latin typeface="Consolas"/>
              </a:rPr>
              <a:t>│   ├── release_output_resize_checks.py</a:t>
            </a:r>
          </a:p>
          <a:p>
            <a:pPr algn="l">
              <a:lnSpc>
                <a:spcPct val="100000"/>
              </a:lnSpc>
            </a:pPr>
            <a:r>
              <a:rPr sz="800" b="0" i="0">
                <a:solidFill>
                  <a:srgbClr val="ECE7DC"/>
                </a:solidFill>
                <a:latin typeface="Consolas"/>
              </a:rPr>
              <a:t>│   ├── release_prompt_runtime_checks.py</a:t>
            </a:r>
          </a:p>
          <a:p>
            <a:pPr algn="l">
              <a:lnSpc>
                <a:spcPct val="100000"/>
              </a:lnSpc>
            </a:pPr>
            <a:r>
              <a:rPr sz="800" b="0" i="0">
                <a:solidFill>
                  <a:srgbClr val="ECE7DC"/>
                </a:solidFill>
                <a:latin typeface="Consolas"/>
              </a:rPr>
              <a:t>│   ├── release_shell_file_checks.py</a:t>
            </a:r>
          </a:p>
          <a:p>
            <a:pPr algn="l">
              <a:lnSpc>
                <a:spcPct val="100000"/>
              </a:lnSpc>
            </a:pPr>
            <a:r>
              <a:rPr sz="800" b="0" i="0">
                <a:solidFill>
                  <a:srgbClr val="ECE7DC"/>
                </a:solidFill>
                <a:latin typeface="Consolas"/>
              </a:rPr>
              <a:t>│   ├── review_documentation_visuals.py</a:t>
            </a:r>
          </a:p>
          <a:p>
            <a:pPr algn="l">
              <a:lnSpc>
                <a:spcPct val="100000"/>
              </a:lnSpc>
            </a:pPr>
            <a:r>
              <a:rPr sz="800" b="0" i="0">
                <a:solidFill>
                  <a:srgbClr val="ECE7DC"/>
                </a:solidFill>
                <a:latin typeface="Consolas"/>
              </a:rPr>
              <a:t>│   ├── run_menu_state_checks.py</a:t>
            </a:r>
          </a:p>
          <a:p>
            <a:pPr algn="l">
              <a:lnSpc>
                <a:spcPct val="100000"/>
              </a:lnSpc>
            </a:pPr>
            <a:r>
              <a:rPr sz="800" b="0" i="0">
                <a:solidFill>
                  <a:srgbClr val="ECE7DC"/>
                </a:solidFill>
                <a:latin typeface="Consolas"/>
              </a:rPr>
              <a:t>│   ├── setup_crash_agents_visible.py</a:t>
            </a:r>
          </a:p>
          <a:p>
            <a:pPr algn="l">
              <a:lnSpc>
                <a:spcPct val="100000"/>
              </a:lnSpc>
            </a:pPr>
            <a:r>
              <a:rPr sz="800" b="0" i="0">
                <a:solidFill>
                  <a:srgbClr val="ECE7DC"/>
                </a:solidFill>
                <a:latin typeface="Consolas"/>
              </a:rPr>
              <a:t>│   ├── setup_desktop_cycles.py</a:t>
            </a:r>
          </a:p>
          <a:p>
            <a:pPr algn="l">
              <a:lnSpc>
                <a:spcPct val="100000"/>
              </a:lnSpc>
            </a:pPr>
            <a:r>
              <a:rPr sz="800" b="0" i="0">
                <a:solidFill>
                  <a:srgbClr val="ECE7DC"/>
                </a:solidFill>
                <a:latin typeface="Consolas"/>
              </a:rPr>
              <a:t>│   ├── setup_lifecycle_checks.py</a:t>
            </a:r>
          </a:p>
          <a:p>
            <a:pPr algn="l">
              <a:lnSpc>
                <a:spcPct val="100000"/>
              </a:lnSpc>
            </a:pPr>
            <a:r>
              <a:rPr sz="800" b="0" i="0">
                <a:solidFill>
                  <a:srgbClr val="ECE7DC"/>
                </a:solidFill>
                <a:latin typeface="Consolas"/>
              </a:rPr>
              <a:t>│   ├── setup_release_cycles.py</a:t>
            </a:r>
          </a:p>
          <a:p>
            <a:pPr algn="l">
              <a:lnSpc>
                <a:spcPct val="100000"/>
              </a:lnSpc>
            </a:pPr>
            <a:r>
              <a:rPr sz="800" b="0" i="0">
                <a:solidFill>
                  <a:srgbClr val="ECE7DC"/>
                </a:solidFill>
                <a:latin typeface="Consolas"/>
              </a:rPr>
              <a:t>│   ├── setup_wizard_visible.py</a:t>
            </a:r>
          </a:p>
          <a:p>
            <a:pPr algn="l">
              <a:lnSpc>
                <a:spcPct val="100000"/>
              </a:lnSpc>
            </a:pPr>
            <a:r>
              <a:rPr sz="800" b="0" i="0">
                <a:solidFill>
                  <a:srgbClr val="ECE7DC"/>
                </a:solidFill>
                <a:latin typeface="Consolas"/>
              </a:rPr>
              <a:t>│   ├── skill_inventory.py</a:t>
            </a:r>
          </a:p>
          <a:p>
            <a:pPr algn="l">
              <a:lnSpc>
                <a:spcPct val="100000"/>
              </a:lnSpc>
            </a:pPr>
            <a:r>
              <a:rPr sz="800" b="0" i="0">
                <a:solidFill>
                  <a:srgbClr val="ECE7DC"/>
                </a:solidFill>
                <a:latin typeface="Consolas"/>
              </a:rPr>
              <a:t>│   ├── sync_assistant_skills.py</a:t>
            </a:r>
          </a:p>
          <a:p>
            <a:pPr algn="l">
              <a:lnSpc>
                <a:spcPct val="100000"/>
              </a:lnSpc>
            </a:pPr>
            <a:r>
              <a:rPr sz="800" b="0" i="0">
                <a:solidFill>
                  <a:srgbClr val="ECE7DC"/>
                </a:solidFill>
                <a:latin typeface="Consolas"/>
              </a:rPr>
              <a:t>│   ├── terminater_visible_acp.py</a:t>
            </a:r>
          </a:p>
          <a:p>
            <a:pPr algn="l">
              <a:lnSpc>
                <a:spcPct val="100000"/>
              </a:lnSpc>
            </a:pPr>
            <a:r>
              <a:rPr sz="800" b="0" i="0">
                <a:solidFill>
                  <a:srgbClr val="ECE7DC"/>
                </a:solidFill>
                <a:latin typeface="Consolas"/>
              </a:rPr>
              <a:t>│   ├── terminater_visible_all.py</a:t>
            </a:r>
          </a:p>
          <a:p>
            <a:pPr algn="l">
              <a:lnSpc>
                <a:spcPct val="100000"/>
              </a:lnSpc>
            </a:pPr>
            <a:r>
              <a:rPr sz="800" b="0" i="0">
                <a:solidFill>
                  <a:srgbClr val="ECE7DC"/>
                </a:solidFill>
                <a:latin typeface="Consolas"/>
              </a:rPr>
              <a:t>│   ├── terminater_visible_battery.py</a:t>
            </a:r>
          </a:p>
          <a:p>
            <a:pPr algn="l">
              <a:lnSpc>
                <a:spcPct val="100000"/>
              </a:lnSpc>
            </a:pPr>
            <a:r>
              <a:rPr sz="800" b="0" i="0">
                <a:solidFill>
                  <a:srgbClr val="ECE7DC"/>
                </a:solidFill>
                <a:latin typeface="Consolas"/>
              </a:rPr>
              <a:t>│   ├── terminater_visible_chat.py</a:t>
            </a:r>
          </a:p>
          <a:p>
            <a:pPr algn="l">
              <a:lnSpc>
                <a:spcPct val="100000"/>
              </a:lnSpc>
            </a:pPr>
            <a:r>
              <a:rPr sz="800" b="0" i="0">
                <a:solidFill>
                  <a:srgbClr val="ECE7DC"/>
                </a:solidFill>
                <a:latin typeface="Consolas"/>
              </a:rPr>
              <a:t>│   ├── terminater_visible_common.py</a:t>
            </a:r>
          </a:p>
          <a:p>
            <a:pPr algn="l">
              <a:lnSpc>
                <a:spcPct val="100000"/>
              </a:lnSpc>
            </a:pPr>
            <a:r>
              <a:rPr sz="800" b="0" i="0">
                <a:solidFill>
                  <a:srgbClr val="ECE7DC"/>
                </a:solidFill>
                <a:latin typeface="Consolas"/>
              </a:rPr>
              <a:t>│   ├── terminater_visible_pfp.py</a:t>
            </a:r>
          </a:p>
          <a:p>
            <a:pPr algn="l">
              <a:lnSpc>
                <a:spcPct val="100000"/>
              </a:lnSpc>
            </a:pPr>
            <a:r>
              <a:rPr sz="800" b="0" i="0">
                <a:solidFill>
                  <a:srgbClr val="ECE7DC"/>
                </a:solidFill>
                <a:latin typeface="Consolas"/>
              </a:rPr>
              <a:t>│   ├── tlamatini_clean_install.ps1</a:t>
            </a:r>
          </a:p>
          <a:p>
            <a:pPr algn="l">
              <a:lnSpc>
                <a:spcPct val="100000"/>
              </a:lnSpc>
            </a:pPr>
            <a:r>
              <a:rPr sz="800" b="0" i="0">
                <a:solidFill>
                  <a:srgbClr val="ECE7DC"/>
                </a:solidFill>
                <a:latin typeface="Consolas"/>
              </a:rPr>
              <a:t>│   ├── ui_sweep_resize_checks.py</a:t>
            </a:r>
          </a:p>
          <a:p>
            <a:pPr algn="l">
              <a:lnSpc>
                <a:spcPct val="100000"/>
              </a:lnSpc>
            </a:pPr>
            <a:r>
              <a:rPr sz="800" b="0" i="0">
                <a:solidFill>
                  <a:srgbClr val="ECE7DC"/>
                </a:solidFill>
                <a:latin typeface="Consolas"/>
              </a:rPr>
              <a:t>│   ├── ui_sweep_visible.py</a:t>
            </a:r>
          </a:p>
          <a:p>
            <a:pPr algn="l">
              <a:lnSpc>
                <a:spcPct val="100000"/>
              </a:lnSpc>
            </a:pPr>
            <a:r>
              <a:rPr sz="800" b="0" i="0">
                <a:solidFill>
                  <a:srgbClr val="ECE7DC"/>
                </a:solidFill>
                <a:latin typeface="Consolas"/>
              </a:rPr>
              <a:t>│   ├── update_flow_catalog.py</a:t>
            </a:r>
          </a:p>
          <a:p>
            <a:pPr algn="l">
              <a:lnSpc>
                <a:spcPct val="100000"/>
              </a:lnSpc>
            </a:pPr>
            <a:r>
              <a:rPr sz="800" b="0" i="0">
                <a:solidFill>
                  <a:srgbClr val="ECE7DC"/>
                </a:solidFill>
                <a:latin typeface="Consolas"/>
              </a:rPr>
              <a:t>│   ├── usage_dashboard_browser_checks.py</a:t>
            </a:r>
          </a:p>
          <a:p>
            <a:pPr algn="l">
              <a:lnSpc>
                <a:spcPct val="100000"/>
              </a:lnSpc>
            </a:pPr>
            <a:r>
              <a:rPr sz="800" b="0" i="0">
                <a:solidFill>
                  <a:srgbClr val="ECE7DC"/>
                </a:solidFill>
                <a:latin typeface="Consolas"/>
              </a:rPr>
              <a:t>│   ├── usage_dashboard_fixture_checks.py</a:t>
            </a:r>
          </a:p>
          <a:p>
            <a:pPr algn="l">
              <a:lnSpc>
                <a:spcPct val="100000"/>
              </a:lnSpc>
            </a:pPr>
            <a:r>
              <a:rPr sz="800" b="0" i="0">
                <a:solidFill>
                  <a:srgbClr val="ECE7DC"/>
                </a:solidFill>
                <a:latin typeface="Consolas"/>
              </a:rPr>
              <a:t>│   ├── usage_dashboard_visible.py</a:t>
            </a:r>
          </a:p>
          <a:p>
            <a:pPr algn="l">
              <a:lnSpc>
                <a:spcPct val="100000"/>
              </a:lnSpc>
            </a:pPr>
            <a:r>
              <a:rPr sz="800" b="0" i="0">
                <a:solidFill>
                  <a:srgbClr val="ECE7DC"/>
                </a:solidFill>
                <a:latin typeface="Consolas"/>
              </a:rPr>
              <a:t>│   ├── vendor_frontend.py</a:t>
            </a:r>
          </a:p>
          <a:p>
            <a:pPr algn="l">
              <a:lnSpc>
                <a:spcPct val="100000"/>
              </a:lnSpc>
            </a:pPr>
            <a:r>
              <a:rPr sz="800" b="0" i="0">
                <a:solidFill>
                  <a:srgbClr val="ECE7DC"/>
                </a:solidFill>
                <a:latin typeface="Consolas"/>
              </a:rPr>
              <a:t>│   ├── vendor_pdfjs.py</a:t>
            </a:r>
          </a:p>
          <a:p>
            <a:pPr algn="l">
              <a:lnSpc>
                <a:spcPct val="100000"/>
              </a:lnSpc>
            </a:pPr>
            <a:r>
              <a:rPr sz="800" b="0" i="0">
                <a:solidFill>
                  <a:srgbClr val="ECE7DC"/>
                </a:solidFill>
                <a:latin typeface="Consolas"/>
              </a:rPr>
              <a:t>│   ├── verify_latexer_styles.py</a:t>
            </a:r>
          </a:p>
          <a:p>
            <a:pPr algn="l">
              <a:lnSpc>
                <a:spcPct val="100000"/>
              </a:lnSpc>
            </a:pPr>
            <a:r>
              <a:rPr sz="800" b="0" i="0">
                <a:solidFill>
                  <a:srgbClr val="ECE7DC"/>
                </a:solidFill>
                <a:latin typeface="Consolas"/>
              </a:rPr>
              <a:t>│   ├── verify_pdfer_styles.py</a:t>
            </a:r>
          </a:p>
          <a:p>
            <a:pPr algn="l">
              <a:lnSpc>
                <a:spcPct val="100000"/>
              </a:lnSpc>
            </a:pPr>
            <a:r>
              <a:rPr sz="800" b="0" i="0">
                <a:solidFill>
                  <a:srgbClr val="ECE7DC"/>
                </a:solidFill>
                <a:latin typeface="Consolas"/>
              </a:rPr>
              <a:t>│   ├── verify_pptxer_layout.py</a:t>
            </a:r>
          </a:p>
          <a:p>
            <a:pPr algn="l">
              <a:lnSpc>
                <a:spcPct val="100000"/>
              </a:lnSpc>
            </a:pPr>
            <a:r>
              <a:rPr sz="800" b="0" i="0">
                <a:solidFill>
                  <a:srgbClr val="ECE7DC"/>
                </a:solidFill>
                <a:latin typeface="Consolas"/>
              </a:rPr>
              <a:t>│   ├── verify_pptxer_styles.py</a:t>
            </a:r>
          </a:p>
          <a:p>
            <a:pPr algn="l">
              <a:lnSpc>
                <a:spcPct val="100000"/>
              </a:lnSpc>
            </a:pPr>
            <a:r>
              <a:rPr sz="800" b="0" i="0">
                <a:solidFill>
                  <a:srgbClr val="ECE7DC"/>
                </a:solidFill>
                <a:latin typeface="Consolas"/>
              </a:rPr>
              <a:t>│   ├── visual_fatal_dialog_visible.py</a:t>
            </a:r>
          </a:p>
          <a:p>
            <a:pPr algn="l">
              <a:lnSpc>
                <a:spcPct val="100000"/>
              </a:lnSpc>
            </a:pPr>
            <a:r>
              <a:rPr sz="800" b="0" i="0">
                <a:solidFill>
                  <a:srgbClr val="3BBE93"/>
                </a:solidFill>
                <a:latin typeface="Consolas"/>
              </a:rPr>
              <a:t>│   └── architecture_atlas/</a:t>
            </a:r>
          </a:p>
          <a:p>
            <a:pPr algn="l">
              <a:lnSpc>
                <a:spcPct val="100000"/>
              </a:lnSpc>
            </a:pPr>
            <a:r>
              <a:rPr sz="800" b="0" i="0">
                <a:solidFill>
                  <a:srgbClr val="ECE7DC"/>
                </a:solidFill>
                <a:latin typeface="Consolas"/>
              </a:rPr>
              <a:t>│       ├── build_architecture_pdf.py</a:t>
            </a:r>
          </a:p>
          <a:p>
            <a:pPr algn="l">
              <a:lnSpc>
                <a:spcPct val="100000"/>
              </a:lnSpc>
            </a:pPr>
            <a:r>
              <a:rPr sz="800" b="0" i="0">
                <a:solidFill>
                  <a:srgbClr val="ECE7DC"/>
                </a:solidFill>
                <a:latin typeface="Consolas"/>
              </a:rPr>
              <a:t>│       ├── gen_architecture.py</a:t>
            </a:r>
          </a:p>
          <a:p>
            <a:pPr algn="l">
              <a:lnSpc>
                <a:spcPct val="100000"/>
              </a:lnSpc>
            </a:pPr>
            <a:r>
              <a:rPr sz="800" b="0" i="0">
                <a:solidFill>
                  <a:srgbClr val="ECE7DC"/>
                </a:solidFill>
                <a:latin typeface="Consolas"/>
              </a:rPr>
              <a:t>│       └── README.md</a:t>
            </a:r>
          </a:p>
          <a:p>
            <a:pPr algn="l">
              <a:lnSpc>
                <a:spcPct val="100000"/>
              </a:lnSpc>
            </a:pPr>
            <a:r>
              <a:rPr sz="800" b="0" i="0">
                <a:solidFill>
                  <a:srgbClr val="3BBE93"/>
                </a:solidFill>
                <a:latin typeface="Consolas"/>
              </a:rPr>
              <a:t>├── security/</a:t>
            </a:r>
          </a:p>
          <a:p>
            <a:pPr algn="l">
              <a:lnSpc>
                <a:spcPct val="100000"/>
              </a:lnSpc>
            </a:pPr>
            <a:r>
              <a:rPr sz="800" b="0" i="0">
                <a:solidFill>
                  <a:srgbClr val="ECE7DC"/>
                </a:solidFill>
                <a:latin typeface="Consolas"/>
              </a:rPr>
              <a:t>│   ├── automated_tests_of_security_assets.py</a:t>
            </a:r>
          </a:p>
          <a:p>
            <a:pPr algn="l">
              <a:lnSpc>
                <a:spcPct val="100000"/>
              </a:lnSpc>
            </a:pPr>
            <a:r>
              <a:rPr sz="800" b="0" i="0">
                <a:solidFill>
                  <a:srgbClr val="ECE7DC"/>
                </a:solidFill>
                <a:latin typeface="Consolas"/>
              </a:rPr>
              <a:t>│   ├── enable_tlamatini_v2.bat</a:t>
            </a:r>
          </a:p>
        </p:txBody>
      </p:sp>
      <p:sp>
        <p:nvSpPr>
          <p:cNvPr id="7" name="TextBox 6"/>
          <p:cNvSpPr txBox="1"/>
          <p:nvPr/>
        </p:nvSpPr>
        <p:spPr>
          <a:xfrm>
            <a:off x="8109508" y="1170432"/>
            <a:ext cx="3515258" cy="5084064"/>
          </a:xfrm>
          <a:prstGeom prst="rect">
            <a:avLst/>
          </a:prstGeom>
          <a:noFill/>
        </p:spPr>
        <p:txBody>
          <a:bodyPr wrap="none" lIns="45720" rIns="45720" tIns="27432" bIns="27432" anchor="t">
            <a:noAutofit/>
          </a:bodyPr>
          <a:lstStyle/>
          <a:p>
            <a:pPr algn="l">
              <a:lnSpc>
                <a:spcPct val="100000"/>
              </a:lnSpc>
            </a:pPr>
            <a:r>
              <a:rPr sz="800" b="0" i="0">
                <a:solidFill>
                  <a:srgbClr val="ECE7DC"/>
                </a:solidFill>
                <a:latin typeface="Consolas"/>
              </a:rPr>
              <a:t>│   ├── README.md</a:t>
            </a:r>
          </a:p>
          <a:p>
            <a:pPr algn="l">
              <a:lnSpc>
                <a:spcPct val="100000"/>
              </a:lnSpc>
            </a:pPr>
            <a:r>
              <a:rPr sz="800" b="0" i="0">
                <a:solidFill>
                  <a:srgbClr val="ECE7DC"/>
                </a:solidFill>
                <a:latin typeface="Consolas"/>
              </a:rPr>
              <a:t>│   ├── run_defender.bat</a:t>
            </a:r>
          </a:p>
          <a:p>
            <a:pPr algn="l">
              <a:lnSpc>
                <a:spcPct val="100000"/>
              </a:lnSpc>
            </a:pPr>
            <a:r>
              <a:rPr sz="800" b="0" i="0">
                <a:solidFill>
                  <a:srgbClr val="ECE7DC"/>
                </a:solidFill>
                <a:latin typeface="Consolas"/>
              </a:rPr>
              <a:t>│   ├── sync_enable_launcher.py</a:t>
            </a:r>
          </a:p>
          <a:p>
            <a:pPr algn="l">
              <a:lnSpc>
                <a:spcPct val="100000"/>
              </a:lnSpc>
            </a:pPr>
            <a:r>
              <a:rPr sz="800" b="0" i="0">
                <a:solidFill>
                  <a:srgbClr val="ECE7DC"/>
                </a:solidFill>
                <a:latin typeface="Consolas"/>
              </a:rPr>
              <a:t>│   ├── test_security_syntax.ps1</a:t>
            </a:r>
          </a:p>
          <a:p>
            <a:pPr algn="l">
              <a:lnSpc>
                <a:spcPct val="100000"/>
              </a:lnSpc>
            </a:pPr>
            <a:r>
              <a:rPr sz="800" b="0" i="0">
                <a:solidFill>
                  <a:srgbClr val="ECE7DC"/>
                </a:solidFill>
                <a:latin typeface="Consolas"/>
              </a:rPr>
              <a:t>│   ├── test_windows_access.ps1</a:t>
            </a:r>
          </a:p>
          <a:p>
            <a:pPr algn="l">
              <a:lnSpc>
                <a:spcPct val="100000"/>
              </a:lnSpc>
            </a:pPr>
            <a:r>
              <a:rPr sz="800" b="0" i="0">
                <a:solidFill>
                  <a:srgbClr val="ECE7DC"/>
                </a:solidFill>
                <a:latin typeface="Consolas"/>
              </a:rPr>
              <a:t>│   ├── tlamatini_defender.ps1</a:t>
            </a:r>
          </a:p>
          <a:p>
            <a:pPr algn="l">
              <a:lnSpc>
                <a:spcPct val="100000"/>
              </a:lnSpc>
            </a:pPr>
            <a:r>
              <a:rPr sz="800" b="0" i="0">
                <a:solidFill>
                  <a:srgbClr val="ECE7DC"/>
                </a:solidFill>
                <a:latin typeface="Consolas"/>
              </a:rPr>
              <a:t>│   ├── tlamatini_whitelist_v2.ps1</a:t>
            </a:r>
          </a:p>
          <a:p>
            <a:pPr algn="l">
              <a:lnSpc>
                <a:spcPct val="100000"/>
              </a:lnSpc>
            </a:pPr>
            <a:r>
              <a:rPr sz="800" b="0" i="0">
                <a:solidFill>
                  <a:srgbClr val="ECE7DC"/>
                </a:solidFill>
                <a:latin typeface="Consolas"/>
              </a:rPr>
              <a:t>│   ├── verify_agent_execution.py</a:t>
            </a:r>
          </a:p>
          <a:p>
            <a:pPr algn="l">
              <a:lnSpc>
                <a:spcPct val="100000"/>
              </a:lnSpc>
            </a:pPr>
            <a:r>
              <a:rPr sz="800" b="0" i="0">
                <a:solidFill>
                  <a:srgbClr val="ECE7DC"/>
                </a:solidFill>
                <a:latin typeface="Consolas"/>
              </a:rPr>
              <a:t>│   └── windows_access_helpers.ps1</a:t>
            </a:r>
          </a:p>
          <a:p>
            <a:pPr algn="l">
              <a:lnSpc>
                <a:spcPct val="100000"/>
              </a:lnSpc>
            </a:pPr>
            <a:r>
              <a:rPr sz="800" b="0" i="0">
                <a:solidFill>
                  <a:srgbClr val="3BBE93"/>
                </a:solidFill>
                <a:latin typeface="Consolas"/>
              </a:rPr>
              <a:t>├── Tests/</a:t>
            </a:r>
          </a:p>
          <a:p>
            <a:pPr algn="l">
              <a:lnSpc>
                <a:spcPct val="100000"/>
              </a:lnSpc>
            </a:pPr>
            <a:r>
              <a:rPr sz="800" b="0" i="0">
                <a:solidFill>
                  <a:srgbClr val="ECE7DC"/>
                </a:solidFill>
                <a:latin typeface="Consolas"/>
              </a:rPr>
              <a:t>│   ├── run_avatar_tests.py</a:t>
            </a:r>
          </a:p>
          <a:p>
            <a:pPr algn="l">
              <a:lnSpc>
                <a:spcPct val="100000"/>
              </a:lnSpc>
            </a:pPr>
            <a:r>
              <a:rPr sz="800" b="0" i="0">
                <a:solidFill>
                  <a:srgbClr val="ECE7DC"/>
                </a:solidFill>
                <a:latin typeface="Consolas"/>
              </a:rPr>
              <a:t>│   ├── run_presence_tests.ps1</a:t>
            </a:r>
          </a:p>
          <a:p>
            <a:pPr algn="l">
              <a:lnSpc>
                <a:spcPct val="100000"/>
              </a:lnSpc>
            </a:pPr>
            <a:r>
              <a:rPr sz="800" b="0" i="0">
                <a:solidFill>
                  <a:srgbClr val="ECE7DC"/>
                </a:solidFill>
                <a:latin typeface="Consolas"/>
              </a:rPr>
              <a:t>│   ├── test_about_window_name_visible.py</a:t>
            </a:r>
          </a:p>
          <a:p>
            <a:pPr algn="l">
              <a:lnSpc>
                <a:spcPct val="100000"/>
              </a:lnSpc>
            </a:pPr>
            <a:r>
              <a:rPr sz="800" b="0" i="0">
                <a:solidFill>
                  <a:srgbClr val="ECE7DC"/>
                </a:solidFill>
                <a:latin typeface="Consolas"/>
              </a:rPr>
              <a:t>│   ├── test_avatar_animation.cjs</a:t>
            </a:r>
          </a:p>
          <a:p>
            <a:pPr algn="l">
              <a:lnSpc>
                <a:spcPct val="100000"/>
              </a:lnSpc>
            </a:pPr>
            <a:r>
              <a:rPr sz="800" b="0" i="0">
                <a:solidFill>
                  <a:srgbClr val="ECE7DC"/>
                </a:solidFill>
                <a:latin typeface="Consolas"/>
              </a:rPr>
              <a:t>│   ├── test_avatar_collectstatic.py</a:t>
            </a:r>
          </a:p>
          <a:p>
            <a:pPr algn="l">
              <a:lnSpc>
                <a:spcPct val="100000"/>
              </a:lnSpc>
            </a:pPr>
            <a:r>
              <a:rPr sz="800" b="0" i="0">
                <a:solidFill>
                  <a:srgbClr val="ECE7DC"/>
                </a:solidFill>
                <a:latin typeface="Consolas"/>
              </a:rPr>
              <a:t>│   ├── test_avatar_presence_visible.py</a:t>
            </a:r>
          </a:p>
          <a:p>
            <a:pPr algn="l">
              <a:lnSpc>
                <a:spcPct val="100000"/>
              </a:lnSpc>
            </a:pPr>
            <a:r>
              <a:rPr sz="800" b="0" i="0">
                <a:solidFill>
                  <a:srgbClr val="ECE7DC"/>
                </a:solidFill>
                <a:latin typeface="Consolas"/>
              </a:rPr>
              <a:t>│   ├── test_avatar_visible.cjs</a:t>
            </a:r>
          </a:p>
          <a:p>
            <a:pPr algn="l">
              <a:lnSpc>
                <a:spcPct val="100000"/>
              </a:lnSpc>
            </a:pPr>
            <a:r>
              <a:rPr sz="800" b="0" i="0">
                <a:solidFill>
                  <a:srgbClr val="ECE7DC"/>
                </a:solidFill>
                <a:latin typeface="Consolas"/>
              </a:rPr>
              <a:t>│   ├── test_pdf_canvas_assets.py</a:t>
            </a:r>
          </a:p>
          <a:p>
            <a:pPr algn="l">
              <a:lnSpc>
                <a:spcPct val="100000"/>
              </a:lnSpc>
            </a:pPr>
            <a:r>
              <a:rPr sz="800" b="0" i="0">
                <a:solidFill>
                  <a:srgbClr val="ECE7DC"/>
                </a:solidFill>
                <a:latin typeface="Consolas"/>
              </a:rPr>
              <a:t>│   ├── test_pdf_canvas_browser.py</a:t>
            </a:r>
          </a:p>
          <a:p>
            <a:pPr algn="l">
              <a:lnSpc>
                <a:spcPct val="100000"/>
              </a:lnSpc>
            </a:pPr>
            <a:r>
              <a:rPr sz="800" b="0" i="0">
                <a:solidFill>
                  <a:srgbClr val="ECE7DC"/>
                </a:solidFill>
                <a:latin typeface="Consolas"/>
              </a:rPr>
              <a:t>│   ├── test_perf_3x_visual.py</a:t>
            </a:r>
          </a:p>
          <a:p>
            <a:pPr algn="l">
              <a:lnSpc>
                <a:spcPct val="100000"/>
              </a:lnSpc>
            </a:pPr>
            <a:r>
              <a:rPr sz="800" b="0" i="0">
                <a:solidFill>
                  <a:srgbClr val="ECE7DC"/>
                </a:solidFill>
                <a:latin typeface="Consolas"/>
              </a:rPr>
              <a:t>│   ├── test_release_regeneration.py</a:t>
            </a:r>
          </a:p>
          <a:p>
            <a:pPr algn="l">
              <a:lnSpc>
                <a:spcPct val="100000"/>
              </a:lnSpc>
            </a:pPr>
            <a:r>
              <a:rPr sz="800" b="0" i="0">
                <a:solidFill>
                  <a:srgbClr val="ECE7DC"/>
                </a:solidFill>
                <a:latin typeface="Consolas"/>
              </a:rPr>
              <a:t>│   ├── test_release_version_pinning.py</a:t>
            </a:r>
          </a:p>
          <a:p>
            <a:pPr algn="l">
              <a:lnSpc>
                <a:spcPct val="100000"/>
              </a:lnSpc>
            </a:pPr>
            <a:r>
              <a:rPr sz="800" b="0" i="0">
                <a:solidFill>
                  <a:srgbClr val="ECE7DC"/>
                </a:solidFill>
                <a:latin typeface="Consolas"/>
              </a:rPr>
              <a:t>│   ├── test_requirements_coverage.py</a:t>
            </a:r>
          </a:p>
          <a:p>
            <a:pPr algn="l">
              <a:lnSpc>
                <a:spcPct val="100000"/>
              </a:lnSpc>
            </a:pPr>
            <a:r>
              <a:rPr sz="800" b="0" i="0">
                <a:solidFill>
                  <a:srgbClr val="ECE7DC"/>
                </a:solidFill>
                <a:latin typeface="Consolas"/>
              </a:rPr>
              <a:t>│   ├── test_setup_release_paths.py</a:t>
            </a:r>
          </a:p>
          <a:p>
            <a:pPr algn="l">
              <a:lnSpc>
                <a:spcPct val="100000"/>
              </a:lnSpc>
            </a:pPr>
            <a:r>
              <a:rPr sz="800" b="0" i="0">
                <a:solidFill>
                  <a:srgbClr val="3BBE93"/>
                </a:solidFill>
                <a:latin typeface="Consolas"/>
              </a:rPr>
              <a:t>│   └── avatar_dev_server/</a:t>
            </a:r>
          </a:p>
          <a:p>
            <a:pPr algn="l">
              <a:lnSpc>
                <a:spcPct val="100000"/>
              </a:lnSpc>
            </a:pPr>
            <a:r>
              <a:rPr sz="800" b="0" i="0">
                <a:solidFill>
                  <a:srgbClr val="ECE7DC"/>
                </a:solidFill>
                <a:latin typeface="Consolas"/>
              </a:rPr>
              <a:t>│       ├── dev_settings.py</a:t>
            </a:r>
          </a:p>
          <a:p>
            <a:pPr algn="l">
              <a:lnSpc>
                <a:spcPct val="100000"/>
              </a:lnSpc>
            </a:pPr>
            <a:r>
              <a:rPr sz="800" b="0" i="0">
                <a:solidFill>
                  <a:srgbClr val="ECE7DC"/>
                </a:solidFill>
                <a:latin typeface="Consolas"/>
              </a:rPr>
              <a:t>│       └── development_test.py</a:t>
            </a:r>
          </a:p>
          <a:p>
            <a:pPr algn="l">
              <a:lnSpc>
                <a:spcPct val="100000"/>
              </a:lnSpc>
            </a:pPr>
            <a:r>
              <a:rPr sz="800" b="0" i="0">
                <a:solidFill>
                  <a:srgbClr val="3BBE93"/>
                </a:solidFill>
                <a:latin typeface="Consolas"/>
              </a:rPr>
              <a:t>└── Tlamatini/</a:t>
            </a:r>
          </a:p>
          <a:p>
            <a:pPr algn="l">
              <a:lnSpc>
                <a:spcPct val="100000"/>
              </a:lnSpc>
            </a:pPr>
            <a:r>
              <a:rPr sz="800" b="0" i="0">
                <a:solidFill>
                  <a:srgbClr val="ECE7DC"/>
                </a:solidFill>
                <a:latin typeface="Consolas"/>
              </a:rPr>
              <a:t>    ├── cat_art.py</a:t>
            </a:r>
          </a:p>
          <a:p>
            <a:pPr algn="l">
              <a:lnSpc>
                <a:spcPct val="100000"/>
              </a:lnSpc>
            </a:pPr>
            <a:r>
              <a:rPr sz="800" b="0" i="0">
                <a:solidFill>
                  <a:srgbClr val="ECE7DC"/>
                </a:solidFill>
                <a:latin typeface="Consolas"/>
              </a:rPr>
              <a:t>    ├── manage.py</a:t>
            </a:r>
          </a:p>
          <a:p>
            <a:pPr algn="l">
              <a:lnSpc>
                <a:spcPct val="100000"/>
              </a:lnSpc>
            </a:pPr>
            <a:r>
              <a:rPr sz="800" b="0" i="0">
                <a:solidFill>
                  <a:srgbClr val="3BBE93"/>
                </a:solidFill>
                <a:latin typeface="Consolas"/>
              </a:rPr>
              <a:t>    ├── .agents/</a:t>
            </a:r>
          </a:p>
          <a:p>
            <a:pPr algn="l">
              <a:lnSpc>
                <a:spcPct val="100000"/>
              </a:lnSpc>
            </a:pPr>
            <a:r>
              <a:rPr sz="800" b="0" i="0">
                <a:solidFill>
                  <a:srgbClr val="3BBE93"/>
                </a:solidFill>
                <a:latin typeface="Consolas"/>
              </a:rPr>
              <a:t>    │   └── workflows/</a:t>
            </a:r>
          </a:p>
          <a:p>
            <a:pPr algn="l">
              <a:lnSpc>
                <a:spcPct val="100000"/>
              </a:lnSpc>
            </a:pPr>
            <a:r>
              <a:rPr sz="800" b="0" i="0">
                <a:solidFill>
                  <a:srgbClr val="ECE7DC"/>
                </a:solidFill>
                <a:latin typeface="Consolas"/>
              </a:rPr>
              <a:t>    │       └── create_new_agent.md</a:t>
            </a:r>
          </a:p>
          <a:p>
            <a:pPr algn="l">
              <a:lnSpc>
                <a:spcPct val="100000"/>
              </a:lnSpc>
            </a:pPr>
            <a:r>
              <a:rPr sz="800" b="0" i="0">
                <a:solidFill>
                  <a:srgbClr val="3BBE93"/>
                </a:solidFill>
                <a:latin typeface="Consolas"/>
              </a:rPr>
              <a:t>    ├── .mcps/</a:t>
            </a:r>
          </a:p>
          <a:p>
            <a:pPr algn="l">
              <a:lnSpc>
                <a:spcPct val="100000"/>
              </a:lnSpc>
            </a:pPr>
            <a:r>
              <a:rPr sz="800" b="0" i="0">
                <a:solidFill>
                  <a:srgbClr val="ECE7DC"/>
                </a:solidFill>
                <a:latin typeface="Consolas"/>
              </a:rPr>
              <a:t>    │   └── create_new_mcp.md</a:t>
            </a:r>
          </a:p>
          <a:p>
            <a:pPr algn="l">
              <a:lnSpc>
                <a:spcPct val="100000"/>
              </a:lnSpc>
            </a:pPr>
            <a:r>
              <a:rPr sz="800" b="0" i="0">
                <a:solidFill>
                  <a:srgbClr val="3BBE93"/>
                </a:solidFill>
                <a:latin typeface="Consolas"/>
              </a:rPr>
              <a:t>    ├── .skills/</a:t>
            </a:r>
          </a:p>
          <a:p>
            <a:pPr algn="l">
              <a:lnSpc>
                <a:spcPct val="100000"/>
              </a:lnSpc>
            </a:pPr>
            <a:r>
              <a:rPr sz="800" b="0" i="0">
                <a:solidFill>
                  <a:srgbClr val="ECE7DC"/>
                </a:solidFill>
                <a:latin typeface="Consolas"/>
              </a:rPr>
              <a:t>    │   └── create_new_skill.md</a:t>
            </a:r>
          </a:p>
          <a:p>
            <a:pPr algn="l">
              <a:lnSpc>
                <a:spcPct val="100000"/>
              </a:lnSpc>
            </a:pPr>
            <a:r>
              <a:rPr sz="800" b="0" i="0">
                <a:solidFill>
                  <a:srgbClr val="3BBE93"/>
                </a:solidFill>
                <a:latin typeface="Consolas"/>
              </a:rPr>
              <a:t>    ├── agent/</a:t>
            </a:r>
          </a:p>
          <a:p>
            <a:pPr algn="l">
              <a:lnSpc>
                <a:spcPct val="100000"/>
              </a:lnSpc>
            </a:pPr>
            <a:r>
              <a:rPr sz="800" b="0" i="0">
                <a:solidFill>
                  <a:srgbClr val="ECE7DC"/>
                </a:solidFill>
                <a:latin typeface="Consolas"/>
              </a:rPr>
              <a:t>    │   ├── __init__.py</a:t>
            </a:r>
          </a:p>
          <a:p>
            <a:pPr algn="l">
              <a:lnSpc>
                <a:spcPct val="100000"/>
              </a:lnSpc>
            </a:pPr>
            <a:r>
              <a:rPr sz="800" b="0" i="0">
                <a:solidFill>
                  <a:srgbClr val="ECE7DC"/>
                </a:solidFill>
                <a:latin typeface="Consolas"/>
              </a:rPr>
              <a:t>    │   ├── access_key_wizard.py</a:t>
            </a:r>
          </a:p>
          <a:p>
            <a:pPr algn="l">
              <a:lnSpc>
                <a:spcPct val="100000"/>
              </a:lnSpc>
            </a:pPr>
            <a:r>
              <a:rPr sz="800" b="0" i="0">
                <a:solidFill>
                  <a:srgbClr val="ECE7DC"/>
                </a:solidFill>
                <a:latin typeface="Consolas"/>
              </a:rPr>
              <a:t>    │   ├── admin.py</a:t>
            </a:r>
          </a:p>
        </p:txBody>
      </p:sp>
      <p:cxnSp>
        <p:nvCxnSpPr>
          <p:cNvPr id="8" name="Connector 7"/>
          <p:cNvCxnSpPr/>
          <p:nvPr/>
        </p:nvCxnSpPr>
        <p:spPr>
          <a:xfrm>
            <a:off x="566928" y="6373368"/>
            <a:ext cx="11057839" cy="0"/>
          </a:xfrm>
          <a:prstGeom prst="line">
            <a:avLst/>
          </a:prstGeom>
          <a:ln w="7620">
            <a:solidFill>
              <a:srgbClr val="2A3A40"/>
            </a:solidFill>
          </a:ln>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566928" y="6419088"/>
            <a:ext cx="6858000" cy="274320"/>
          </a:xfrm>
          <a:prstGeom prst="rect">
            <a:avLst/>
          </a:prstGeom>
          <a:noFill/>
        </p:spPr>
        <p:txBody>
          <a:bodyPr wrap="square" lIns="45720" rIns="45720" tIns="27432" bIns="27432" anchor="t">
            <a:noAutofit/>
          </a:bodyPr>
          <a:lstStyle/>
          <a:p>
            <a:pPr algn="l">
              <a:lnSpc>
                <a:spcPct val="100000"/>
              </a:lnSpc>
            </a:pPr>
            <a:r>
              <a:rPr sz="850" b="0" i="0" spc="120">
                <a:solidFill>
                  <a:srgbClr val="A7B2B0"/>
                </a:solidFill>
                <a:latin typeface="Segoe UI Semibold"/>
              </a:rPr>
              <a:t>TLAMATINI  ·  APÉNDICE A · ÁRBOL DE ARCHIVOS</a:t>
            </a:r>
          </a:p>
        </p:txBody>
      </p:sp>
      <p:sp>
        <p:nvSpPr>
          <p:cNvPr id="10" name="TextBox 9"/>
          <p:cNvSpPr txBox="1"/>
          <p:nvPr/>
        </p:nvSpPr>
        <p:spPr>
          <a:xfrm>
            <a:off x="8698687" y="6419088"/>
            <a:ext cx="2926080" cy="274320"/>
          </a:xfrm>
          <a:prstGeom prst="rect">
            <a:avLst/>
          </a:prstGeom>
          <a:noFill/>
        </p:spPr>
        <p:txBody>
          <a:bodyPr wrap="square" lIns="45720" rIns="45720" tIns="27432" bIns="27432" anchor="t">
            <a:noAutofit/>
          </a:bodyPr>
          <a:lstStyle/>
          <a:p>
            <a:pPr algn="r">
              <a:lnSpc>
                <a:spcPct val="100000"/>
              </a:lnSpc>
            </a:pPr>
            <a:r>
              <a:rPr sz="850" b="0" i="0" spc="100">
                <a:solidFill>
                  <a:srgbClr val="A7B2B0"/>
                </a:solidFill>
                <a:latin typeface="Segoe UI Semibold"/>
              </a:rPr>
              <a:t>v1.91.1   ·   182</a:t>
            </a:r>
          </a:p>
        </p:txBody>
      </p:sp>
    </p:spTree>
  </p:cSld>
  <p:clrMapOvr>
    <a:masterClrMapping/>
  </p:clrMapOvr>
</p:sld>
</file>

<file path=ppt/slides/slide18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appendix.png"/>
          <p:cNvPicPr>
            <a:picLocks noChangeAspect="1"/>
          </p:cNvPicPr>
          <p:nvPr/>
        </p:nvPicPr>
        <p:blipFill>
          <a:blip r:embed="rId2"/>
          <a:stretch>
            <a:fillRect/>
          </a:stretch>
        </p:blipFill>
        <p:spPr>
          <a:xfrm>
            <a:off x="0" y="0"/>
            <a:ext cx="12191695" cy="6858000"/>
          </a:xfrm>
          <a:prstGeom prst="rect">
            <a:avLst/>
          </a:prstGeom>
        </p:spPr>
      </p:pic>
      <p:sp>
        <p:nvSpPr>
          <p:cNvPr id="3" name="TextBox 2"/>
          <p:cNvSpPr txBox="1"/>
          <p:nvPr/>
        </p:nvSpPr>
        <p:spPr>
          <a:xfrm>
            <a:off x="566928" y="384048"/>
            <a:ext cx="8686800" cy="329184"/>
          </a:xfrm>
          <a:prstGeom prst="rect">
            <a:avLst/>
          </a:prstGeom>
          <a:noFill/>
        </p:spPr>
        <p:txBody>
          <a:bodyPr wrap="square" lIns="45720" rIns="45720" tIns="27432" bIns="27432" anchor="t">
            <a:noAutofit/>
          </a:bodyPr>
          <a:lstStyle/>
          <a:p>
            <a:pPr algn="l">
              <a:lnSpc>
                <a:spcPct val="100000"/>
              </a:lnSpc>
            </a:pPr>
            <a:r>
              <a:rPr sz="1100" b="0" i="0" spc="200">
                <a:solidFill>
                  <a:srgbClr val="C98457"/>
                </a:solidFill>
                <a:latin typeface="Segoe UI Semibold"/>
              </a:rPr>
              <a:t>APÉNDICE A  ·  ÁRBOL DE ARCHIVOS DE LA APLICACIÓN  ·  9 / 20</a:t>
            </a:r>
          </a:p>
        </p:txBody>
      </p:sp>
      <p:sp>
        <p:nvSpPr>
          <p:cNvPr id="4" name="TextBox 3"/>
          <p:cNvSpPr txBox="1"/>
          <p:nvPr/>
        </p:nvSpPr>
        <p:spPr>
          <a:xfrm>
            <a:off x="566928" y="731520"/>
            <a:ext cx="11057839" cy="384048"/>
          </a:xfrm>
          <a:prstGeom prst="rect">
            <a:avLst/>
          </a:prstGeom>
          <a:noFill/>
        </p:spPr>
        <p:txBody>
          <a:bodyPr wrap="square" lIns="45720" rIns="45720" tIns="27432" bIns="27432" anchor="t">
            <a:noAutofit/>
          </a:bodyPr>
          <a:lstStyle/>
          <a:p>
            <a:pPr algn="l">
              <a:lnSpc>
                <a:spcPct val="100000"/>
              </a:lnSpc>
            </a:pPr>
            <a:r>
              <a:rPr sz="1300" b="0" i="0">
                <a:solidFill>
                  <a:srgbClr val="A7B2B0"/>
                </a:solidFill>
                <a:latin typeface="Segoe UI"/>
              </a:rPr>
              <a:t>1,898 archivos listados en el commit 21b0a5c; 221 archivos de la historia de la base de datos resumidos.</a:t>
            </a:r>
          </a:p>
        </p:txBody>
      </p:sp>
      <p:sp>
        <p:nvSpPr>
          <p:cNvPr id="5" name="TextBox 4"/>
          <p:cNvSpPr txBox="1"/>
          <p:nvPr/>
        </p:nvSpPr>
        <p:spPr>
          <a:xfrm>
            <a:off x="566928" y="1170432"/>
            <a:ext cx="3515258" cy="5084064"/>
          </a:xfrm>
          <a:prstGeom prst="rect">
            <a:avLst/>
          </a:prstGeom>
          <a:noFill/>
        </p:spPr>
        <p:txBody>
          <a:bodyPr wrap="none" lIns="45720" rIns="45720" tIns="27432" bIns="27432" anchor="t">
            <a:noAutofit/>
          </a:bodyPr>
          <a:lstStyle/>
          <a:p>
            <a:pPr algn="l">
              <a:lnSpc>
                <a:spcPct val="100000"/>
              </a:lnSpc>
            </a:pPr>
            <a:r>
              <a:rPr sz="800" b="0" i="0">
                <a:solidFill>
                  <a:srgbClr val="ECE7DC"/>
                </a:solidFill>
                <a:latin typeface="Consolas"/>
              </a:rPr>
              <a:t>    │   ├── agent_manifest.py</a:t>
            </a:r>
          </a:p>
          <a:p>
            <a:pPr algn="l">
              <a:lnSpc>
                <a:spcPct val="100000"/>
              </a:lnSpc>
            </a:pPr>
            <a:r>
              <a:rPr sz="800" b="0" i="0">
                <a:solidFill>
                  <a:srgbClr val="ECE7DC"/>
                </a:solidFill>
                <a:latin typeface="Consolas"/>
              </a:rPr>
              <a:t>    │   ├── agent_verdict.py</a:t>
            </a:r>
          </a:p>
          <a:p>
            <a:pPr algn="l">
              <a:lnSpc>
                <a:spcPct val="100000"/>
              </a:lnSpc>
            </a:pPr>
            <a:r>
              <a:rPr sz="800" b="0" i="0">
                <a:solidFill>
                  <a:srgbClr val="ECE7DC"/>
                </a:solidFill>
                <a:latin typeface="Consolas"/>
              </a:rPr>
              <a:t>    │   ├── apps.py</a:t>
            </a:r>
          </a:p>
          <a:p>
            <a:pPr algn="l">
              <a:lnSpc>
                <a:spcPct val="100000"/>
              </a:lnSpc>
            </a:pPr>
            <a:r>
              <a:rPr sz="800" b="0" i="0">
                <a:solidFill>
                  <a:srgbClr val="ECE7DC"/>
                </a:solidFill>
                <a:latin typeface="Consolas"/>
              </a:rPr>
              <a:t>    │   ├── cancellation.py</a:t>
            </a:r>
          </a:p>
          <a:p>
            <a:pPr algn="l">
              <a:lnSpc>
                <a:spcPct val="100000"/>
              </a:lnSpc>
            </a:pPr>
            <a:r>
              <a:rPr sz="800" b="0" i="0">
                <a:solidFill>
                  <a:srgbClr val="ECE7DC"/>
                </a:solidFill>
                <a:latin typeface="Consolas"/>
              </a:rPr>
              <a:t>    │   ├── canvas_file_views.py</a:t>
            </a:r>
          </a:p>
          <a:p>
            <a:pPr algn="l">
              <a:lnSpc>
                <a:spcPct val="100000"/>
              </a:lnSpc>
            </a:pPr>
            <a:r>
              <a:rPr sz="800" b="0" i="0">
                <a:solidFill>
                  <a:srgbClr val="ECE7DC"/>
                </a:solidFill>
                <a:latin typeface="Consolas"/>
              </a:rPr>
              <a:t>    │   ├── capability_registry.py</a:t>
            </a:r>
          </a:p>
          <a:p>
            <a:pPr algn="l">
              <a:lnSpc>
                <a:spcPct val="100000"/>
              </a:lnSpc>
            </a:pPr>
            <a:r>
              <a:rPr sz="800" b="0" i="0">
                <a:solidFill>
                  <a:srgbClr val="ECE7DC"/>
                </a:solidFill>
                <a:latin typeface="Consolas"/>
              </a:rPr>
              <a:t>    │   ├── chain_files_search_lcel.py</a:t>
            </a:r>
          </a:p>
          <a:p>
            <a:pPr algn="l">
              <a:lnSpc>
                <a:spcPct val="100000"/>
              </a:lnSpc>
            </a:pPr>
            <a:r>
              <a:rPr sz="800" b="0" i="0">
                <a:solidFill>
                  <a:srgbClr val="ECE7DC"/>
                </a:solidFill>
                <a:latin typeface="Consolas"/>
              </a:rPr>
              <a:t>    │   ├── chain_system_lcel.py</a:t>
            </a:r>
          </a:p>
          <a:p>
            <a:pPr algn="l">
              <a:lnSpc>
                <a:spcPct val="100000"/>
              </a:lnSpc>
            </a:pPr>
            <a:r>
              <a:rPr sz="800" b="0" i="0">
                <a:solidFill>
                  <a:srgbClr val="ECE7DC"/>
                </a:solidFill>
                <a:latin typeface="Consolas"/>
              </a:rPr>
              <a:t>    │   ├── chat_agent_registry.py</a:t>
            </a:r>
          </a:p>
          <a:p>
            <a:pPr algn="l">
              <a:lnSpc>
                <a:spcPct val="100000"/>
              </a:lnSpc>
            </a:pPr>
            <a:r>
              <a:rPr sz="800" b="0" i="0">
                <a:solidFill>
                  <a:srgbClr val="ECE7DC"/>
                </a:solidFill>
                <a:latin typeface="Consolas"/>
              </a:rPr>
              <a:t>    │   ├── chat_agent_runtime.py</a:t>
            </a:r>
          </a:p>
          <a:p>
            <a:pPr algn="l">
              <a:lnSpc>
                <a:spcPct val="100000"/>
              </a:lnSpc>
            </a:pPr>
            <a:r>
              <a:rPr sz="800" b="0" i="0">
                <a:solidFill>
                  <a:srgbClr val="ECE7DC"/>
                </a:solidFill>
                <a:latin typeface="Consolas"/>
              </a:rPr>
              <a:t>    │   ├── chat_history_loader.py</a:t>
            </a:r>
          </a:p>
          <a:p>
            <a:pPr algn="l">
              <a:lnSpc>
                <a:spcPct val="100000"/>
              </a:lnSpc>
            </a:pPr>
            <a:r>
              <a:rPr sz="800" b="0" i="0">
                <a:solidFill>
                  <a:srgbClr val="ECE7DC"/>
                </a:solidFill>
                <a:latin typeface="Consolas"/>
              </a:rPr>
              <a:t>    │   ├── chat_voice_consumer.py</a:t>
            </a:r>
          </a:p>
          <a:p>
            <a:pPr algn="l">
              <a:lnSpc>
                <a:spcPct val="100000"/>
              </a:lnSpc>
            </a:pPr>
            <a:r>
              <a:rPr sz="800" b="0" i="0">
                <a:solidFill>
                  <a:srgbClr val="ECE7DC"/>
                </a:solidFill>
                <a:latin typeface="Consolas"/>
              </a:rPr>
              <a:t>    │   ├── chat_voice_runtime.py</a:t>
            </a:r>
          </a:p>
          <a:p>
            <a:pPr algn="l">
              <a:lnSpc>
                <a:spcPct val="100000"/>
              </a:lnSpc>
            </a:pPr>
            <a:r>
              <a:rPr sz="800" b="0" i="0">
                <a:solidFill>
                  <a:srgbClr val="ECE7DC"/>
                </a:solidFill>
                <a:latin typeface="Consolas"/>
              </a:rPr>
              <a:t>    │   ├── chat_voice_settings.py</a:t>
            </a:r>
          </a:p>
          <a:p>
            <a:pPr algn="l">
              <a:lnSpc>
                <a:spcPct val="100000"/>
              </a:lnSpc>
            </a:pPr>
            <a:r>
              <a:rPr sz="800" b="0" i="0">
                <a:solidFill>
                  <a:srgbClr val="ECE7DC"/>
                </a:solidFill>
                <a:latin typeface="Consolas"/>
              </a:rPr>
              <a:t>    │   ├── command_togen_pb2.txt</a:t>
            </a:r>
          </a:p>
          <a:p>
            <a:pPr algn="l">
              <a:lnSpc>
                <a:spcPct val="100000"/>
              </a:lnSpc>
            </a:pPr>
            <a:r>
              <a:rPr sz="800" b="0" i="0">
                <a:solidFill>
                  <a:srgbClr val="ECE7DC"/>
                </a:solidFill>
                <a:latin typeface="Consolas"/>
              </a:rPr>
              <a:t>    │   ├── command_watchdog.py</a:t>
            </a:r>
          </a:p>
          <a:p>
            <a:pPr algn="l">
              <a:lnSpc>
                <a:spcPct val="100000"/>
              </a:lnSpc>
            </a:pPr>
            <a:r>
              <a:rPr sz="800" b="0" i="0">
                <a:solidFill>
                  <a:srgbClr val="ECE7DC"/>
                </a:solidFill>
                <a:latin typeface="Consolas"/>
              </a:rPr>
              <a:t>    │   ├── compact_mode.py</a:t>
            </a:r>
          </a:p>
          <a:p>
            <a:pPr algn="l">
              <a:lnSpc>
                <a:spcPct val="100000"/>
              </a:lnSpc>
            </a:pPr>
            <a:r>
              <a:rPr sz="800" b="0" i="0">
                <a:solidFill>
                  <a:srgbClr val="ECE7DC"/>
                </a:solidFill>
                <a:latin typeface="Consolas"/>
              </a:rPr>
              <a:t>    │   ├── config.json</a:t>
            </a:r>
          </a:p>
          <a:p>
            <a:pPr algn="l">
              <a:lnSpc>
                <a:spcPct val="100000"/>
              </a:lnSpc>
            </a:pPr>
            <a:r>
              <a:rPr sz="800" b="0" i="0">
                <a:solidFill>
                  <a:srgbClr val="ECE7DC"/>
                </a:solidFill>
                <a:latin typeface="Consolas"/>
              </a:rPr>
              <a:t>    │   ├── config_loader.py</a:t>
            </a:r>
          </a:p>
          <a:p>
            <a:pPr algn="l">
              <a:lnSpc>
                <a:spcPct val="100000"/>
              </a:lnSpc>
            </a:pPr>
            <a:r>
              <a:rPr sz="800" b="0" i="0">
                <a:solidFill>
                  <a:srgbClr val="ECE7DC"/>
                </a:solidFill>
                <a:latin typeface="Consolas"/>
              </a:rPr>
              <a:t>    │   ├── constants.py</a:t>
            </a:r>
          </a:p>
          <a:p>
            <a:pPr algn="l">
              <a:lnSpc>
                <a:spcPct val="100000"/>
              </a:lnSpc>
            </a:pPr>
            <a:r>
              <a:rPr sz="800" b="0" i="0">
                <a:solidFill>
                  <a:srgbClr val="ECE7DC"/>
                </a:solidFill>
                <a:latin typeface="Consolas"/>
              </a:rPr>
              <a:t>    │   ├── consumers.py</a:t>
            </a:r>
          </a:p>
          <a:p>
            <a:pPr algn="l">
              <a:lnSpc>
                <a:spcPct val="100000"/>
              </a:lnSpc>
            </a:pPr>
            <a:r>
              <a:rPr sz="800" b="0" i="0">
                <a:solidFill>
                  <a:srgbClr val="ECE7DC"/>
                </a:solidFill>
                <a:latin typeface="Consolas"/>
              </a:rPr>
              <a:t>    │   ├── contacts.py</a:t>
            </a:r>
          </a:p>
          <a:p>
            <a:pPr algn="l">
              <a:lnSpc>
                <a:spcPct val="100000"/>
              </a:lnSpc>
            </a:pPr>
            <a:r>
              <a:rPr sz="800" b="0" i="0">
                <a:solidFill>
                  <a:srgbClr val="ECE7DC"/>
                </a:solidFill>
                <a:latin typeface="Consolas"/>
              </a:rPr>
              <a:t>    │   ├── context_baseline.py</a:t>
            </a:r>
          </a:p>
          <a:p>
            <a:pPr algn="l">
              <a:lnSpc>
                <a:spcPct val="100000"/>
              </a:lnSpc>
            </a:pPr>
            <a:r>
              <a:rPr sz="800" b="0" i="0">
                <a:solidFill>
                  <a:srgbClr val="ECE7DC"/>
                </a:solidFill>
                <a:latin typeface="Consolas"/>
              </a:rPr>
              <a:t>    │   ├── context_fitter.py</a:t>
            </a:r>
          </a:p>
          <a:p>
            <a:pPr algn="l">
              <a:lnSpc>
                <a:spcPct val="100000"/>
              </a:lnSpc>
            </a:pPr>
            <a:r>
              <a:rPr sz="800" b="0" i="0">
                <a:solidFill>
                  <a:srgbClr val="ECE7DC"/>
                </a:solidFill>
                <a:latin typeface="Consolas"/>
              </a:rPr>
              <a:t>    │   ├── context_governor.py</a:t>
            </a:r>
          </a:p>
          <a:p>
            <a:pPr algn="l">
              <a:lnSpc>
                <a:spcPct val="100000"/>
              </a:lnSpc>
            </a:pPr>
            <a:r>
              <a:rPr sz="800" b="0" i="0">
                <a:solidFill>
                  <a:srgbClr val="ECE7DC"/>
                </a:solidFill>
                <a:latin typeface="Consolas"/>
              </a:rPr>
              <a:t>    │   ├── context_sidecar_timeout.py</a:t>
            </a:r>
          </a:p>
          <a:p>
            <a:pPr algn="l">
              <a:lnSpc>
                <a:spcPct val="100000"/>
              </a:lnSpc>
            </a:pPr>
            <a:r>
              <a:rPr sz="800" b="0" i="0">
                <a:solidFill>
                  <a:srgbClr val="ECE7DC"/>
                </a:solidFill>
                <a:latin typeface="Consolas"/>
              </a:rPr>
              <a:t>    │   ├── embedding_memory_guard.py</a:t>
            </a:r>
          </a:p>
          <a:p>
            <a:pPr algn="l">
              <a:lnSpc>
                <a:spcPct val="100000"/>
              </a:lnSpc>
            </a:pPr>
            <a:r>
              <a:rPr sz="800" b="0" i="0">
                <a:solidFill>
                  <a:srgbClr val="ECE7DC"/>
                </a:solidFill>
                <a:latin typeface="Consolas"/>
              </a:rPr>
              <a:t>    │   ├── exec_permission.py</a:t>
            </a:r>
          </a:p>
          <a:p>
            <a:pPr algn="l">
              <a:lnSpc>
                <a:spcPct val="100000"/>
              </a:lnSpc>
            </a:pPr>
            <a:r>
              <a:rPr sz="800" b="0" i="0">
                <a:solidFill>
                  <a:srgbClr val="ECE7DC"/>
                </a:solidFill>
                <a:latin typeface="Consolas"/>
              </a:rPr>
              <a:t>    │   ├── external_mcp_defaults.py</a:t>
            </a:r>
          </a:p>
          <a:p>
            <a:pPr algn="l">
              <a:lnSpc>
                <a:spcPct val="100000"/>
              </a:lnSpc>
            </a:pPr>
            <a:r>
              <a:rPr sz="800" b="0" i="0">
                <a:solidFill>
                  <a:srgbClr val="ECE7DC"/>
                </a:solidFill>
                <a:latin typeface="Consolas"/>
              </a:rPr>
              <a:t>    │   ├── external_mcp_manager.py</a:t>
            </a:r>
          </a:p>
          <a:p>
            <a:pPr algn="l">
              <a:lnSpc>
                <a:spcPct val="100000"/>
              </a:lnSpc>
            </a:pPr>
            <a:r>
              <a:rPr sz="800" b="0" i="0">
                <a:solidFill>
                  <a:srgbClr val="ECE7DC"/>
                </a:solidFill>
                <a:latin typeface="Consolas"/>
              </a:rPr>
              <a:t>    │   ├── external_mcps.json</a:t>
            </a:r>
          </a:p>
          <a:p>
            <a:pPr algn="l">
              <a:lnSpc>
                <a:spcPct val="100000"/>
              </a:lnSpc>
            </a:pPr>
            <a:r>
              <a:rPr sz="800" b="0" i="0">
                <a:solidFill>
                  <a:srgbClr val="ECE7DC"/>
                </a:solidFill>
                <a:latin typeface="Consolas"/>
              </a:rPr>
              <a:t>    │   ├── filesearch.proto</a:t>
            </a:r>
          </a:p>
          <a:p>
            <a:pPr algn="l">
              <a:lnSpc>
                <a:spcPct val="100000"/>
              </a:lnSpc>
            </a:pPr>
            <a:r>
              <a:rPr sz="800" b="0" i="0">
                <a:solidFill>
                  <a:srgbClr val="ECE7DC"/>
                </a:solidFill>
                <a:latin typeface="Consolas"/>
              </a:rPr>
              <a:t>    │   ├── filesearch_pb2.py</a:t>
            </a:r>
          </a:p>
          <a:p>
            <a:pPr algn="l">
              <a:lnSpc>
                <a:spcPct val="100000"/>
              </a:lnSpc>
            </a:pPr>
            <a:r>
              <a:rPr sz="800" b="0" i="0">
                <a:solidFill>
                  <a:srgbClr val="ECE7DC"/>
                </a:solidFill>
                <a:latin typeface="Consolas"/>
              </a:rPr>
              <a:t>    │   ├── filesearch_pb2_grpc.py</a:t>
            </a:r>
          </a:p>
          <a:p>
            <a:pPr algn="l">
              <a:lnSpc>
                <a:spcPct val="100000"/>
              </a:lnSpc>
            </a:pPr>
            <a:r>
              <a:rPr sz="800" b="0" i="0">
                <a:solidFill>
                  <a:srgbClr val="ECE7DC"/>
                </a:solidFill>
                <a:latin typeface="Consolas"/>
              </a:rPr>
              <a:t>    │   ├── flow_file_open.py</a:t>
            </a:r>
          </a:p>
          <a:p>
            <a:pPr algn="l">
              <a:lnSpc>
                <a:spcPct val="100000"/>
              </a:lnSpc>
            </a:pPr>
            <a:r>
              <a:rPr sz="800" b="0" i="0">
                <a:solidFill>
                  <a:srgbClr val="ECE7DC"/>
                </a:solidFill>
                <a:latin typeface="Consolas"/>
              </a:rPr>
              <a:t>    │   ├── flow_file_views.py</a:t>
            </a:r>
          </a:p>
          <a:p>
            <a:pPr algn="l">
              <a:lnSpc>
                <a:spcPct val="100000"/>
              </a:lnSpc>
            </a:pPr>
            <a:r>
              <a:rPr sz="800" b="0" i="0">
                <a:solidFill>
                  <a:srgbClr val="ECE7DC"/>
                </a:solidFill>
                <a:latin typeface="Consolas"/>
              </a:rPr>
              <a:t>    │   ├── global_execution_planner.py</a:t>
            </a:r>
          </a:p>
          <a:p>
            <a:pPr algn="l">
              <a:lnSpc>
                <a:spcPct val="100000"/>
              </a:lnSpc>
            </a:pPr>
            <a:r>
              <a:rPr sz="800" b="0" i="0">
                <a:solidFill>
                  <a:srgbClr val="ECE7DC"/>
                </a:solidFill>
                <a:latin typeface="Consolas"/>
              </a:rPr>
              <a:t>    │   ├── global_state.py</a:t>
            </a:r>
          </a:p>
          <a:p>
            <a:pPr algn="l">
              <a:lnSpc>
                <a:spcPct val="100000"/>
              </a:lnSpc>
            </a:pPr>
            <a:r>
              <a:rPr sz="800" b="0" i="0">
                <a:solidFill>
                  <a:srgbClr val="ECE7DC"/>
                </a:solidFill>
                <a:latin typeface="Consolas"/>
              </a:rPr>
              <a:t>    │   ├── gpu_perf.py</a:t>
            </a:r>
          </a:p>
          <a:p>
            <a:pPr algn="l">
              <a:lnSpc>
                <a:spcPct val="100000"/>
              </a:lnSpc>
            </a:pPr>
            <a:r>
              <a:rPr sz="800" b="0" i="0">
                <a:solidFill>
                  <a:srgbClr val="ECE7DC"/>
                </a:solidFill>
                <a:latin typeface="Consolas"/>
              </a:rPr>
              <a:t>    │   ├── inet_determiner.py</a:t>
            </a:r>
          </a:p>
          <a:p>
            <a:pPr algn="l">
              <a:lnSpc>
                <a:spcPct val="100000"/>
              </a:lnSpc>
            </a:pPr>
            <a:r>
              <a:rPr sz="800" b="0" i="0">
                <a:solidFill>
                  <a:srgbClr val="ECE7DC"/>
                </a:solidFill>
                <a:latin typeface="Consolas"/>
              </a:rPr>
              <a:t>    │   ├── interaction_narration.py</a:t>
            </a:r>
          </a:p>
        </p:txBody>
      </p:sp>
      <p:sp>
        <p:nvSpPr>
          <p:cNvPr id="6" name="TextBox 5"/>
          <p:cNvSpPr txBox="1"/>
          <p:nvPr/>
        </p:nvSpPr>
        <p:spPr>
          <a:xfrm>
            <a:off x="4338218" y="1170432"/>
            <a:ext cx="3515258" cy="5084064"/>
          </a:xfrm>
          <a:prstGeom prst="rect">
            <a:avLst/>
          </a:prstGeom>
          <a:noFill/>
        </p:spPr>
        <p:txBody>
          <a:bodyPr wrap="none" lIns="45720" rIns="45720" tIns="27432" bIns="27432" anchor="t">
            <a:noAutofit/>
          </a:bodyPr>
          <a:lstStyle/>
          <a:p>
            <a:pPr algn="l">
              <a:lnSpc>
                <a:spcPct val="100000"/>
              </a:lnSpc>
            </a:pPr>
            <a:r>
              <a:rPr sz="800" b="0" i="0">
                <a:solidFill>
                  <a:srgbClr val="ECE7DC"/>
                </a:solidFill>
                <a:latin typeface="Consolas"/>
              </a:rPr>
              <a:t>    │   ├── interaction_settings.py</a:t>
            </a:r>
          </a:p>
          <a:p>
            <a:pPr algn="l">
              <a:lnSpc>
                <a:spcPct val="100000"/>
              </a:lnSpc>
            </a:pPr>
            <a:r>
              <a:rPr sz="800" b="0" i="0">
                <a:solidFill>
                  <a:srgbClr val="ECE7DC"/>
                </a:solidFill>
                <a:latin typeface="Consolas"/>
              </a:rPr>
              <a:t>    │   ├── llm_timing.py</a:t>
            </a:r>
          </a:p>
          <a:p>
            <a:pPr algn="l">
              <a:lnSpc>
                <a:spcPct val="100000"/>
              </a:lnSpc>
            </a:pPr>
            <a:r>
              <a:rPr sz="800" b="0" i="0">
                <a:solidFill>
                  <a:srgbClr val="ECE7DC"/>
                </a:solidFill>
                <a:latin typeface="Consolas"/>
              </a:rPr>
              <a:t>    │   ├── local_toolcall_parser.py</a:t>
            </a:r>
          </a:p>
          <a:p>
            <a:pPr algn="l">
              <a:lnSpc>
                <a:spcPct val="100000"/>
              </a:lnSpc>
            </a:pPr>
            <a:r>
              <a:rPr sz="800" b="0" i="0">
                <a:solidFill>
                  <a:srgbClr val="ECE7DC"/>
                </a:solidFill>
                <a:latin typeface="Consolas"/>
              </a:rPr>
              <a:t>    │   ├── log_identity.py</a:t>
            </a:r>
          </a:p>
          <a:p>
            <a:pPr algn="l">
              <a:lnSpc>
                <a:spcPct val="100000"/>
              </a:lnSpc>
            </a:pPr>
            <a:r>
              <a:rPr sz="800" b="0" i="0">
                <a:solidFill>
                  <a:srgbClr val="ECE7DC"/>
                </a:solidFill>
                <a:latin typeface="Consolas"/>
              </a:rPr>
              <a:t>    │   ├── mcp_agent.py</a:t>
            </a:r>
          </a:p>
          <a:p>
            <a:pPr algn="l">
              <a:lnSpc>
                <a:spcPct val="100000"/>
              </a:lnSpc>
            </a:pPr>
            <a:r>
              <a:rPr sz="800" b="0" i="0">
                <a:solidFill>
                  <a:srgbClr val="ECE7DC"/>
                </a:solidFill>
                <a:latin typeface="Consolas"/>
              </a:rPr>
              <a:t>    │   ├── mcp_files_search_client.py</a:t>
            </a:r>
          </a:p>
          <a:p>
            <a:pPr algn="l">
              <a:lnSpc>
                <a:spcPct val="100000"/>
              </a:lnSpc>
            </a:pPr>
            <a:r>
              <a:rPr sz="800" b="0" i="0">
                <a:solidFill>
                  <a:srgbClr val="ECE7DC"/>
                </a:solidFill>
                <a:latin typeface="Consolas"/>
              </a:rPr>
              <a:t>    │   ├── mcp_files_search_server.py</a:t>
            </a:r>
          </a:p>
          <a:p>
            <a:pPr algn="l">
              <a:lnSpc>
                <a:spcPct val="100000"/>
              </a:lnSpc>
            </a:pPr>
            <a:r>
              <a:rPr sz="800" b="0" i="0">
                <a:solidFill>
                  <a:srgbClr val="ECE7DC"/>
                </a:solidFill>
                <a:latin typeface="Consolas"/>
              </a:rPr>
              <a:t>    │   ├── mcp_system_client.py</a:t>
            </a:r>
          </a:p>
          <a:p>
            <a:pPr algn="l">
              <a:lnSpc>
                <a:spcPct val="100000"/>
              </a:lnSpc>
            </a:pPr>
            <a:r>
              <a:rPr sz="800" b="0" i="0">
                <a:solidFill>
                  <a:srgbClr val="ECE7DC"/>
                </a:solidFill>
                <a:latin typeface="Consolas"/>
              </a:rPr>
              <a:t>    │   ├── mcp_system_server.py</a:t>
            </a:r>
          </a:p>
          <a:p>
            <a:pPr algn="l">
              <a:lnSpc>
                <a:spcPct val="100000"/>
              </a:lnSpc>
            </a:pPr>
            <a:r>
              <a:rPr sz="800" b="0" i="0">
                <a:solidFill>
                  <a:srgbClr val="ECE7DC"/>
                </a:solidFill>
                <a:latin typeface="Consolas"/>
              </a:rPr>
              <a:t>    │   ├── model_brain.py</a:t>
            </a:r>
          </a:p>
          <a:p>
            <a:pPr algn="l">
              <a:lnSpc>
                <a:spcPct val="100000"/>
              </a:lnSpc>
            </a:pPr>
            <a:r>
              <a:rPr sz="800" b="0" i="0">
                <a:solidFill>
                  <a:srgbClr val="ECE7DC"/>
                </a:solidFill>
                <a:latin typeface="Consolas"/>
              </a:rPr>
              <a:t>    │   ├── model_brain_chat.py</a:t>
            </a:r>
          </a:p>
          <a:p>
            <a:pPr algn="l">
              <a:lnSpc>
                <a:spcPct val="100000"/>
              </a:lnSpc>
            </a:pPr>
            <a:r>
              <a:rPr sz="800" b="0" i="0">
                <a:solidFill>
                  <a:srgbClr val="ECE7DC"/>
                </a:solidFill>
                <a:latin typeface="Consolas"/>
              </a:rPr>
              <a:t>    │   ├── model_brain_views.py</a:t>
            </a:r>
          </a:p>
          <a:p>
            <a:pPr algn="l">
              <a:lnSpc>
                <a:spcPct val="100000"/>
              </a:lnSpc>
            </a:pPr>
            <a:r>
              <a:rPr sz="800" b="0" i="0">
                <a:solidFill>
                  <a:srgbClr val="ECE7DC"/>
                </a:solidFill>
                <a:latin typeface="Consolas"/>
              </a:rPr>
              <a:t>    │   ├── model_profiles.json</a:t>
            </a:r>
          </a:p>
          <a:p>
            <a:pPr algn="l">
              <a:lnSpc>
                <a:spcPct val="100000"/>
              </a:lnSpc>
            </a:pPr>
            <a:r>
              <a:rPr sz="800" b="0" i="0">
                <a:solidFill>
                  <a:srgbClr val="ECE7DC"/>
                </a:solidFill>
                <a:latin typeface="Consolas"/>
              </a:rPr>
              <a:t>    │   ├── models.py</a:t>
            </a:r>
          </a:p>
          <a:p>
            <a:pPr algn="l">
              <a:lnSpc>
                <a:spcPct val="100000"/>
              </a:lnSpc>
            </a:pPr>
            <a:r>
              <a:rPr sz="800" b="0" i="0">
                <a:solidFill>
                  <a:srgbClr val="ECE7DC"/>
                </a:solidFill>
                <a:latin typeface="Consolas"/>
              </a:rPr>
              <a:t>    │   ├── native_dialogs.py</a:t>
            </a:r>
          </a:p>
          <a:p>
            <a:pPr algn="l">
              <a:lnSpc>
                <a:spcPct val="100000"/>
              </a:lnSpc>
            </a:pPr>
            <a:r>
              <a:rPr sz="800" b="0" i="0">
                <a:solidFill>
                  <a:srgbClr val="ECE7DC"/>
                </a:solidFill>
                <a:latin typeface="Consolas"/>
              </a:rPr>
              <a:t>    │   ├── ollama_stop.py</a:t>
            </a:r>
          </a:p>
          <a:p>
            <a:pPr algn="l">
              <a:lnSpc>
                <a:spcPct val="100000"/>
              </a:lnSpc>
            </a:pPr>
            <a:r>
              <a:rPr sz="800" b="0" i="0">
                <a:solidFill>
                  <a:srgbClr val="ECE7DC"/>
                </a:solidFill>
                <a:latin typeface="Consolas"/>
              </a:rPr>
              <a:t>    │   ├── orphan_reaper.py</a:t>
            </a:r>
          </a:p>
          <a:p>
            <a:pPr algn="l">
              <a:lnSpc>
                <a:spcPct val="100000"/>
              </a:lnSpc>
            </a:pPr>
            <a:r>
              <a:rPr sz="800" b="0" i="0">
                <a:solidFill>
                  <a:srgbClr val="ECE7DC"/>
                </a:solidFill>
                <a:latin typeface="Consolas"/>
              </a:rPr>
              <a:t>    │   ├── path_guard.py</a:t>
            </a:r>
          </a:p>
          <a:p>
            <a:pPr algn="l">
              <a:lnSpc>
                <a:spcPct val="100000"/>
              </a:lnSpc>
            </a:pPr>
            <a:r>
              <a:rPr sz="800" b="0" i="0">
                <a:solidFill>
                  <a:srgbClr val="ECE7DC"/>
                </a:solidFill>
                <a:latin typeface="Consolas"/>
              </a:rPr>
              <a:t>    │   ├── pdf_context.py</a:t>
            </a:r>
          </a:p>
          <a:p>
            <a:pPr algn="l">
              <a:lnSpc>
                <a:spcPct val="100000"/>
              </a:lnSpc>
            </a:pPr>
            <a:r>
              <a:rPr sz="800" b="0" i="0">
                <a:solidFill>
                  <a:srgbClr val="ECE7DC"/>
                </a:solidFill>
                <a:latin typeface="Consolas"/>
              </a:rPr>
              <a:t>    │   ├── pdf_context_jobs.py</a:t>
            </a:r>
          </a:p>
          <a:p>
            <a:pPr algn="l">
              <a:lnSpc>
                <a:spcPct val="100000"/>
              </a:lnSpc>
            </a:pPr>
            <a:r>
              <a:rPr sz="800" b="0" i="0">
                <a:solidFill>
                  <a:srgbClr val="ECE7DC"/>
                </a:solidFill>
                <a:latin typeface="Consolas"/>
              </a:rPr>
              <a:t>    │   ├── pdf_context_views.py</a:t>
            </a:r>
          </a:p>
          <a:p>
            <a:pPr algn="l">
              <a:lnSpc>
                <a:spcPct val="100000"/>
              </a:lnSpc>
            </a:pPr>
            <a:r>
              <a:rPr sz="800" b="0" i="0">
                <a:solidFill>
                  <a:srgbClr val="ECE7DC"/>
                </a:solidFill>
                <a:latin typeface="Consolas"/>
              </a:rPr>
              <a:t>    │   ├── pdf_image_analysis.py</a:t>
            </a:r>
          </a:p>
          <a:p>
            <a:pPr algn="l">
              <a:lnSpc>
                <a:spcPct val="100000"/>
              </a:lnSpc>
            </a:pPr>
            <a:r>
              <a:rPr sz="800" b="0" i="0">
                <a:solidFill>
                  <a:srgbClr val="ECE7DC"/>
                </a:solidFill>
                <a:latin typeface="Consolas"/>
              </a:rPr>
              <a:t>    │   ├── prompt.pmt</a:t>
            </a:r>
          </a:p>
          <a:p>
            <a:pPr algn="l">
              <a:lnSpc>
                <a:spcPct val="100000"/>
              </a:lnSpc>
            </a:pPr>
            <a:r>
              <a:rPr sz="800" b="0" i="0">
                <a:solidFill>
                  <a:srgbClr val="ECE7DC"/>
                </a:solidFill>
                <a:latin typeface="Consolas"/>
              </a:rPr>
              <a:t>    │   ├── prompt_flow_panel_consumer.py</a:t>
            </a:r>
          </a:p>
          <a:p>
            <a:pPr algn="l">
              <a:lnSpc>
                <a:spcPct val="100000"/>
              </a:lnSpc>
            </a:pPr>
            <a:r>
              <a:rPr sz="800" b="0" i="0">
                <a:solidFill>
                  <a:srgbClr val="ECE7DC"/>
                </a:solidFill>
                <a:latin typeface="Consolas"/>
              </a:rPr>
              <a:t>    │   ├── prompt_flow_panel_runtime.py</a:t>
            </a:r>
          </a:p>
          <a:p>
            <a:pPr algn="l">
              <a:lnSpc>
                <a:spcPct val="100000"/>
              </a:lnSpc>
            </a:pPr>
            <a:r>
              <a:rPr sz="800" b="0" i="0">
                <a:solidFill>
                  <a:srgbClr val="ECE7DC"/>
                </a:solidFill>
                <a:latin typeface="Consolas"/>
              </a:rPr>
              <a:t>    │   ├── rag_enhancements.py</a:t>
            </a:r>
          </a:p>
          <a:p>
            <a:pPr algn="l">
              <a:lnSpc>
                <a:spcPct val="100000"/>
              </a:lnSpc>
            </a:pPr>
            <a:r>
              <a:rPr sz="800" b="0" i="0">
                <a:solidFill>
                  <a:srgbClr val="ECE7DC"/>
                </a:solidFill>
                <a:latin typeface="Consolas"/>
              </a:rPr>
              <a:t>    │   ├── routing.py</a:t>
            </a:r>
          </a:p>
          <a:p>
            <a:pPr algn="l">
              <a:lnSpc>
                <a:spcPct val="100000"/>
              </a:lnSpc>
            </a:pPr>
            <a:r>
              <a:rPr sz="800" b="0" i="0">
                <a:solidFill>
                  <a:srgbClr val="ECE7DC"/>
                </a:solidFill>
                <a:latin typeface="Consolas"/>
              </a:rPr>
              <a:t>    │   ├── run_db_wal_tests.ps1</a:t>
            </a:r>
          </a:p>
          <a:p>
            <a:pPr algn="l">
              <a:lnSpc>
                <a:spcPct val="100000"/>
              </a:lnSpc>
            </a:pPr>
            <a:r>
              <a:rPr sz="800" b="0" i="0">
                <a:solidFill>
                  <a:srgbClr val="ECE7DC"/>
                </a:solidFill>
                <a:latin typeface="Consolas"/>
              </a:rPr>
              <a:t>    │   ├── runtime_provisioner.py</a:t>
            </a:r>
          </a:p>
          <a:p>
            <a:pPr algn="l">
              <a:lnSpc>
                <a:spcPct val="100000"/>
              </a:lnSpc>
            </a:pPr>
            <a:r>
              <a:rPr sz="800" b="0" i="0">
                <a:solidFill>
                  <a:srgbClr val="ECE7DC"/>
                </a:solidFill>
                <a:latin typeface="Consolas"/>
              </a:rPr>
              <a:t>    │   ├── self_healing.py</a:t>
            </a:r>
          </a:p>
          <a:p>
            <a:pPr algn="l">
              <a:lnSpc>
                <a:spcPct val="100000"/>
              </a:lnSpc>
            </a:pPr>
            <a:r>
              <a:rPr sz="800" b="0" i="0">
                <a:solidFill>
                  <a:srgbClr val="ECE7DC"/>
                </a:solidFill>
                <a:latin typeface="Consolas"/>
              </a:rPr>
              <a:t>    │   ├── self_update.py</a:t>
            </a:r>
          </a:p>
          <a:p>
            <a:pPr algn="l">
              <a:lnSpc>
                <a:spcPct val="100000"/>
              </a:lnSpc>
            </a:pPr>
            <a:r>
              <a:rPr sz="800" b="0" i="0">
                <a:solidFill>
                  <a:srgbClr val="ECE7DC"/>
                </a:solidFill>
                <a:latin typeface="Consolas"/>
              </a:rPr>
              <a:t>    │   ├── sqlite_copy.py</a:t>
            </a:r>
          </a:p>
          <a:p>
            <a:pPr algn="l">
              <a:lnSpc>
                <a:spcPct val="100000"/>
              </a:lnSpc>
            </a:pPr>
            <a:r>
              <a:rPr sz="800" b="0" i="0">
                <a:solidFill>
                  <a:srgbClr val="ECE7DC"/>
                </a:solidFill>
                <a:latin typeface="Consolas"/>
              </a:rPr>
              <a:t>    │   ├── terminal_consumer.py</a:t>
            </a:r>
          </a:p>
          <a:p>
            <a:pPr algn="l">
              <a:lnSpc>
                <a:spcPct val="100000"/>
              </a:lnSpc>
            </a:pPr>
            <a:r>
              <a:rPr sz="800" b="0" i="0">
                <a:solidFill>
                  <a:srgbClr val="ECE7DC"/>
                </a:solidFill>
                <a:latin typeface="Consolas"/>
              </a:rPr>
              <a:t>    │   ├── terminal_guard.py</a:t>
            </a:r>
          </a:p>
          <a:p>
            <a:pPr algn="l">
              <a:lnSpc>
                <a:spcPct val="100000"/>
              </a:lnSpc>
            </a:pPr>
            <a:r>
              <a:rPr sz="800" b="0" i="0">
                <a:solidFill>
                  <a:srgbClr val="ECE7DC"/>
                </a:solidFill>
                <a:latin typeface="Consolas"/>
              </a:rPr>
              <a:t>    │   ├── terminal_hub.py</a:t>
            </a:r>
          </a:p>
          <a:p>
            <a:pPr algn="l">
              <a:lnSpc>
                <a:spcPct val="100000"/>
              </a:lnSpc>
            </a:pPr>
            <a:r>
              <a:rPr sz="800" b="0" i="0">
                <a:solidFill>
                  <a:srgbClr val="ECE7DC"/>
                </a:solidFill>
                <a:latin typeface="Consolas"/>
              </a:rPr>
              <a:t>    │   ├── terminal_views.py</a:t>
            </a:r>
          </a:p>
          <a:p>
            <a:pPr algn="l">
              <a:lnSpc>
                <a:spcPct val="100000"/>
              </a:lnSpc>
            </a:pPr>
            <a:r>
              <a:rPr sz="800" b="0" i="0">
                <a:solidFill>
                  <a:srgbClr val="ECE7DC"/>
                </a:solidFill>
                <a:latin typeface="Consolas"/>
              </a:rPr>
              <a:t>    │   ├── terminater_testkit.py</a:t>
            </a:r>
          </a:p>
          <a:p>
            <a:pPr algn="l">
              <a:lnSpc>
                <a:spcPct val="100000"/>
              </a:lnSpc>
            </a:pPr>
            <a:r>
              <a:rPr sz="800" b="0" i="0">
                <a:solidFill>
                  <a:srgbClr val="ECE7DC"/>
                </a:solidFill>
                <a:latin typeface="Consolas"/>
              </a:rPr>
              <a:t>    │   ├── terminater_tool.py</a:t>
            </a:r>
          </a:p>
          <a:p>
            <a:pPr algn="l">
              <a:lnSpc>
                <a:spcPct val="100000"/>
              </a:lnSpc>
            </a:pPr>
            <a:r>
              <a:rPr sz="800" b="0" i="0">
                <a:solidFill>
                  <a:srgbClr val="ECE7DC"/>
                </a:solidFill>
                <a:latin typeface="Consolas"/>
              </a:rPr>
              <a:t>    │   ├── test_access_key_wizard.py</a:t>
            </a:r>
          </a:p>
          <a:p>
            <a:pPr algn="l">
              <a:lnSpc>
                <a:spcPct val="100000"/>
              </a:lnSpc>
            </a:pPr>
            <a:r>
              <a:rPr sz="800" b="0" i="0">
                <a:solidFill>
                  <a:srgbClr val="ECE7DC"/>
                </a:solidFill>
                <a:latin typeface="Consolas"/>
              </a:rPr>
              <a:t>    │   ├── test_agent_display_names.py</a:t>
            </a:r>
          </a:p>
          <a:p>
            <a:pPr algn="l">
              <a:lnSpc>
                <a:spcPct val="100000"/>
              </a:lnSpc>
            </a:pPr>
            <a:r>
              <a:rPr sz="800" b="0" i="0">
                <a:solidFill>
                  <a:srgbClr val="ECE7DC"/>
                </a:solidFill>
                <a:latin typeface="Consolas"/>
              </a:rPr>
              <a:t>    │   ├── test_agent_manifest.py</a:t>
            </a:r>
          </a:p>
        </p:txBody>
      </p:sp>
      <p:sp>
        <p:nvSpPr>
          <p:cNvPr id="7" name="TextBox 6"/>
          <p:cNvSpPr txBox="1"/>
          <p:nvPr/>
        </p:nvSpPr>
        <p:spPr>
          <a:xfrm>
            <a:off x="8109508" y="1170432"/>
            <a:ext cx="3515258" cy="5084064"/>
          </a:xfrm>
          <a:prstGeom prst="rect">
            <a:avLst/>
          </a:prstGeom>
          <a:noFill/>
        </p:spPr>
        <p:txBody>
          <a:bodyPr wrap="none" lIns="45720" rIns="45720" tIns="27432" bIns="27432" anchor="t">
            <a:noAutofit/>
          </a:bodyPr>
          <a:lstStyle/>
          <a:p>
            <a:pPr algn="l">
              <a:lnSpc>
                <a:spcPct val="100000"/>
              </a:lnSpc>
            </a:pPr>
            <a:r>
              <a:rPr sz="800" b="0" i="0">
                <a:solidFill>
                  <a:srgbClr val="ECE7DC"/>
                </a:solidFill>
                <a:latin typeface="Consolas"/>
              </a:rPr>
              <a:t>    │   ├── test_agent_verdict.py</a:t>
            </a:r>
          </a:p>
          <a:p>
            <a:pPr algn="l">
              <a:lnSpc>
                <a:spcPct val="100000"/>
              </a:lnSpc>
            </a:pPr>
            <a:r>
              <a:rPr sz="800" b="0" i="0">
                <a:solidFill>
                  <a:srgbClr val="ECE7DC"/>
                </a:solidFill>
                <a:latin typeface="Consolas"/>
              </a:rPr>
              <a:t>    │   ├── test_agents_see_hidden_dirs.py</a:t>
            </a:r>
          </a:p>
          <a:p>
            <a:pPr algn="l">
              <a:lnSpc>
                <a:spcPct val="100000"/>
              </a:lnSpc>
            </a:pPr>
            <a:r>
              <a:rPr sz="800" b="0" i="0">
                <a:solidFill>
                  <a:srgbClr val="ECE7DC"/>
                </a:solidFill>
                <a:latin typeface="Consolas"/>
              </a:rPr>
              <a:t>    │   ├── test_arduiner_agent.py</a:t>
            </a:r>
          </a:p>
          <a:p>
            <a:pPr algn="l">
              <a:lnSpc>
                <a:spcPct val="100000"/>
              </a:lnSpc>
            </a:pPr>
            <a:r>
              <a:rPr sz="800" b="0" i="0">
                <a:solidFill>
                  <a:srgbClr val="ECE7DC"/>
                </a:solidFill>
                <a:latin typeface="Consolas"/>
              </a:rPr>
              <a:t>    │   ├── test_ask_execs_allowlist.py</a:t>
            </a:r>
          </a:p>
          <a:p>
            <a:pPr algn="l">
              <a:lnSpc>
                <a:spcPct val="100000"/>
              </a:lnSpc>
            </a:pPr>
            <a:r>
              <a:rPr sz="800" b="0" i="0">
                <a:solidFill>
                  <a:srgbClr val="ECE7DC"/>
                </a:solidFill>
                <a:latin typeface="Consolas"/>
              </a:rPr>
              <a:t>    │   ├── test_audioplayer_agent.py</a:t>
            </a:r>
          </a:p>
          <a:p>
            <a:pPr algn="l">
              <a:lnSpc>
                <a:spcPct val="100000"/>
              </a:lnSpc>
            </a:pPr>
            <a:r>
              <a:rPr sz="800" b="0" i="0">
                <a:solidFill>
                  <a:srgbClr val="ECE7DC"/>
                </a:solidFill>
                <a:latin typeface="Consolas"/>
              </a:rPr>
              <a:t>    │   ├── test_binary_guard.py</a:t>
            </a:r>
          </a:p>
          <a:p>
            <a:pPr algn="l">
              <a:lnSpc>
                <a:spcPct val="100000"/>
              </a:lnSpc>
            </a:pPr>
            <a:r>
              <a:rPr sz="800" b="0" i="0">
                <a:solidFill>
                  <a:srgbClr val="ECE7DC"/>
                </a:solidFill>
                <a:latin typeface="Consolas"/>
              </a:rPr>
              <a:t>    │   ├── test_blenderer_agent.py</a:t>
            </a:r>
          </a:p>
          <a:p>
            <a:pPr algn="l">
              <a:lnSpc>
                <a:spcPct val="100000"/>
              </a:lnSpc>
            </a:pPr>
            <a:r>
              <a:rPr sz="800" b="0" i="0">
                <a:solidFill>
                  <a:srgbClr val="ECE7DC"/>
                </a:solidFill>
                <a:latin typeface="Consolas"/>
              </a:rPr>
              <a:t>    │   ├── test_build_env.py</a:t>
            </a:r>
          </a:p>
          <a:p>
            <a:pPr algn="l">
              <a:lnSpc>
                <a:spcPct val="100000"/>
              </a:lnSpc>
            </a:pPr>
            <a:r>
              <a:rPr sz="800" b="0" i="0">
                <a:solidFill>
                  <a:srgbClr val="ECE7DC"/>
                </a:solidFill>
                <a:latin typeface="Consolas"/>
              </a:rPr>
              <a:t>    │   ├── test_build_pip_quiet.py</a:t>
            </a:r>
          </a:p>
          <a:p>
            <a:pPr algn="l">
              <a:lnSpc>
                <a:spcPct val="100000"/>
              </a:lnSpc>
            </a:pPr>
            <a:r>
              <a:rPr sz="800" b="0" i="0">
                <a:solidFill>
                  <a:srgbClr val="ECE7DC"/>
                </a:solidFill>
                <a:latin typeface="Consolas"/>
              </a:rPr>
              <a:t>    │   ├── test_build_root_assets.py</a:t>
            </a:r>
          </a:p>
          <a:p>
            <a:pPr algn="l">
              <a:lnSpc>
                <a:spcPct val="100000"/>
              </a:lnSpc>
            </a:pPr>
            <a:r>
              <a:rPr sz="800" b="0" i="0">
                <a:solidFill>
                  <a:srgbClr val="ECE7DC"/>
                </a:solidFill>
                <a:latin typeface="Consolas"/>
              </a:rPr>
              <a:t>    │   ├── test_build_scripts.py</a:t>
            </a:r>
          </a:p>
          <a:p>
            <a:pPr algn="l">
              <a:lnSpc>
                <a:spcPct val="100000"/>
              </a:lnSpc>
            </a:pPr>
            <a:r>
              <a:rPr sz="800" b="0" i="0">
                <a:solidFill>
                  <a:srgbClr val="ECE7DC"/>
                </a:solidFill>
                <a:latin typeface="Consolas"/>
              </a:rPr>
              <a:t>    │   ├── test_camcorder_agent.py</a:t>
            </a:r>
          </a:p>
          <a:p>
            <a:pPr algn="l">
              <a:lnSpc>
                <a:spcPct val="100000"/>
              </a:lnSpc>
            </a:pPr>
            <a:r>
              <a:rPr sz="800" b="0" i="0">
                <a:solidFill>
                  <a:srgbClr val="ECE7DC"/>
                </a:solidFill>
                <a:latin typeface="Consolas"/>
              </a:rPr>
              <a:t>    │   ├── test_cancellation.py</a:t>
            </a:r>
          </a:p>
          <a:p>
            <a:pPr algn="l">
              <a:lnSpc>
                <a:spcPct val="100000"/>
              </a:lnSpc>
            </a:pPr>
            <a:r>
              <a:rPr sz="800" b="0" i="0">
                <a:solidFill>
                  <a:srgbClr val="ECE7DC"/>
                </a:solidFill>
                <a:latin typeface="Consolas"/>
              </a:rPr>
              <a:t>    │   ├── test_canvas_file_views.py</a:t>
            </a:r>
          </a:p>
          <a:p>
            <a:pPr algn="l">
              <a:lnSpc>
                <a:spcPct val="100000"/>
              </a:lnSpc>
            </a:pPr>
            <a:r>
              <a:rPr sz="800" b="0" i="0">
                <a:solidFill>
                  <a:srgbClr val="ECE7DC"/>
                </a:solidFill>
                <a:latin typeface="Consolas"/>
              </a:rPr>
              <a:t>    │   ├── test_catalog_pruning.py</a:t>
            </a:r>
          </a:p>
          <a:p>
            <a:pPr algn="l">
              <a:lnSpc>
                <a:spcPct val="100000"/>
              </a:lnSpc>
            </a:pPr>
            <a:r>
              <a:rPr sz="800" b="0" i="0">
                <a:solidFill>
                  <a:srgbClr val="ECE7DC"/>
                </a:solidFill>
                <a:latin typeface="Consolas"/>
              </a:rPr>
              <a:t>    │   ├── test_chain_readiness.py</a:t>
            </a:r>
          </a:p>
          <a:p>
            <a:pPr algn="l">
              <a:lnSpc>
                <a:spcPct val="100000"/>
              </a:lnSpc>
            </a:pPr>
            <a:r>
              <a:rPr sz="800" b="0" i="0">
                <a:solidFill>
                  <a:srgbClr val="ECE7DC"/>
                </a:solidFill>
                <a:latin typeface="Consolas"/>
              </a:rPr>
              <a:t>    │   ├── test_chat_agent_run_wait.py</a:t>
            </a:r>
          </a:p>
          <a:p>
            <a:pPr algn="l">
              <a:lnSpc>
                <a:spcPct val="100000"/>
              </a:lnSpc>
            </a:pPr>
            <a:r>
              <a:rPr sz="800" b="0" i="0">
                <a:solidFill>
                  <a:srgbClr val="ECE7DC"/>
                </a:solidFill>
                <a:latin typeface="Consolas"/>
              </a:rPr>
              <a:t>    │   ├── test_chat_bridge_bots.py</a:t>
            </a:r>
          </a:p>
          <a:p>
            <a:pPr algn="l">
              <a:lnSpc>
                <a:spcPct val="100000"/>
              </a:lnSpc>
            </a:pPr>
            <a:r>
              <a:rPr sz="800" b="0" i="0">
                <a:solidFill>
                  <a:srgbClr val="ECE7DC"/>
                </a:solidFill>
                <a:latin typeface="Consolas"/>
              </a:rPr>
              <a:t>    │   ├── test_chat_history_window.py</a:t>
            </a:r>
          </a:p>
          <a:p>
            <a:pPr algn="l">
              <a:lnSpc>
                <a:spcPct val="100000"/>
              </a:lnSpc>
            </a:pPr>
            <a:r>
              <a:rPr sz="800" b="0" i="0">
                <a:solidFill>
                  <a:srgbClr val="ECE7DC"/>
                </a:solidFill>
                <a:latin typeface="Consolas"/>
              </a:rPr>
              <a:t>    │   ├── test_chat_voice.py</a:t>
            </a:r>
          </a:p>
          <a:p>
            <a:pPr algn="l">
              <a:lnSpc>
                <a:spcPct val="100000"/>
              </a:lnSpc>
            </a:pPr>
            <a:r>
              <a:rPr sz="800" b="0" i="0">
                <a:solidFill>
                  <a:srgbClr val="ECE7DC"/>
                </a:solidFill>
                <a:latin typeface="Consolas"/>
              </a:rPr>
              <a:t>    │   ├── test_checkbox_bulk_toggle.py</a:t>
            </a:r>
          </a:p>
          <a:p>
            <a:pPr algn="l">
              <a:lnSpc>
                <a:spcPct val="100000"/>
              </a:lnSpc>
            </a:pPr>
            <a:r>
              <a:rPr sz="800" b="0" i="0">
                <a:solidFill>
                  <a:srgbClr val="ECE7DC"/>
                </a:solidFill>
                <a:latin typeface="Consolas"/>
              </a:rPr>
              <a:t>    │   ├── test_command_watchdog.py</a:t>
            </a:r>
          </a:p>
          <a:p>
            <a:pPr algn="l">
              <a:lnSpc>
                <a:spcPct val="100000"/>
              </a:lnSpc>
            </a:pPr>
            <a:r>
              <a:rPr sz="800" b="0" i="0">
                <a:solidFill>
                  <a:srgbClr val="ECE7DC"/>
                </a:solidFill>
                <a:latin typeface="Consolas"/>
              </a:rPr>
              <a:t>    │   ├── test_compact_mode_pingpong.py</a:t>
            </a:r>
          </a:p>
          <a:p>
            <a:pPr algn="l">
              <a:lnSpc>
                <a:spcPct val="100000"/>
              </a:lnSpc>
            </a:pPr>
            <a:r>
              <a:rPr sz="800" b="0" i="0">
                <a:solidFill>
                  <a:srgbClr val="ECE7DC"/>
                </a:solidFill>
                <a:latin typeface="Consolas"/>
              </a:rPr>
              <a:t>    │   ├── test_compact_mode_switch.py</a:t>
            </a:r>
          </a:p>
          <a:p>
            <a:pPr algn="l">
              <a:lnSpc>
                <a:spcPct val="100000"/>
              </a:lnSpc>
            </a:pPr>
            <a:r>
              <a:rPr sz="800" b="0" i="0">
                <a:solidFill>
                  <a:srgbClr val="ECE7DC"/>
                </a:solidFill>
                <a:latin typeface="Consolas"/>
              </a:rPr>
              <a:t>    │   ├── test_configure_dialog_initial_ticks.py</a:t>
            </a:r>
          </a:p>
          <a:p>
            <a:pPr algn="l">
              <a:lnSpc>
                <a:spcPct val="100000"/>
              </a:lnSpc>
            </a:pPr>
            <a:r>
              <a:rPr sz="800" b="0" i="0">
                <a:solidFill>
                  <a:srgbClr val="ECE7DC"/>
                </a:solidFill>
                <a:latin typeface="Consolas"/>
              </a:rPr>
              <a:t>    │   ├── test_console_colors.py</a:t>
            </a:r>
          </a:p>
          <a:p>
            <a:pPr algn="l">
              <a:lnSpc>
                <a:spcPct val="100000"/>
              </a:lnSpc>
            </a:pPr>
            <a:r>
              <a:rPr sz="800" b="0" i="0">
                <a:solidFill>
                  <a:srgbClr val="ECE7DC"/>
                </a:solidFill>
                <a:latin typeface="Consolas"/>
              </a:rPr>
              <a:t>    │   ├── test_console_shield.py</a:t>
            </a:r>
          </a:p>
          <a:p>
            <a:pPr algn="l">
              <a:lnSpc>
                <a:spcPct val="100000"/>
              </a:lnSpc>
            </a:pPr>
            <a:r>
              <a:rPr sz="800" b="0" i="0">
                <a:solidFill>
                  <a:srgbClr val="ECE7DC"/>
                </a:solidFill>
                <a:latin typeface="Consolas"/>
              </a:rPr>
              <a:t>    │   ├── test_contacts.py</a:t>
            </a:r>
          </a:p>
          <a:p>
            <a:pPr algn="l">
              <a:lnSpc>
                <a:spcPct val="100000"/>
              </a:lnSpc>
            </a:pPr>
            <a:r>
              <a:rPr sz="800" b="0" i="0">
                <a:solidFill>
                  <a:srgbClr val="ECE7DC"/>
                </a:solidFill>
                <a:latin typeface="Consolas"/>
              </a:rPr>
              <a:t>    │   ├── test_context_governor.py</a:t>
            </a:r>
          </a:p>
          <a:p>
            <a:pPr algn="l">
              <a:lnSpc>
                <a:spcPct val="100000"/>
              </a:lnSpc>
            </a:pPr>
            <a:r>
              <a:rPr sz="800" b="0" i="0">
                <a:solidFill>
                  <a:srgbClr val="ECE7DC"/>
                </a:solidFill>
                <a:latin typeface="Consolas"/>
              </a:rPr>
              <a:t>    │   ├── test_context_real_tokens.py</a:t>
            </a:r>
          </a:p>
          <a:p>
            <a:pPr algn="l">
              <a:lnSpc>
                <a:spcPct val="100000"/>
              </a:lnSpc>
            </a:pPr>
            <a:r>
              <a:rPr sz="800" b="0" i="0">
                <a:solidFill>
                  <a:srgbClr val="ECE7DC"/>
                </a:solidFill>
                <a:latin typeface="Consolas"/>
              </a:rPr>
              <a:t>    │   ├── test_context_restore_spinner.py</a:t>
            </a:r>
          </a:p>
          <a:p>
            <a:pPr algn="l">
              <a:lnSpc>
                <a:spcPct val="100000"/>
              </a:lnSpc>
            </a:pPr>
            <a:r>
              <a:rPr sz="800" b="0" i="0">
                <a:solidFill>
                  <a:srgbClr val="ECE7DC"/>
                </a:solidFill>
                <a:latin typeface="Consolas"/>
              </a:rPr>
              <a:t>    │   ├── test_context_sidecar_timeout.py</a:t>
            </a:r>
          </a:p>
          <a:p>
            <a:pPr algn="l">
              <a:lnSpc>
                <a:spcPct val="100000"/>
              </a:lnSpc>
            </a:pPr>
            <a:r>
              <a:rPr sz="800" b="0" i="0">
                <a:solidFill>
                  <a:srgbClr val="ECE7DC"/>
                </a:solidFill>
                <a:latin typeface="Consolas"/>
              </a:rPr>
              <a:t>    │   ├── test_crawler_agent.py</a:t>
            </a:r>
          </a:p>
          <a:p>
            <a:pPr algn="l">
              <a:lnSpc>
                <a:spcPct val="100000"/>
              </a:lnSpc>
            </a:pPr>
            <a:r>
              <a:rPr sz="800" b="0" i="0">
                <a:solidFill>
                  <a:srgbClr val="ECE7DC"/>
                </a:solidFill>
                <a:latin typeface="Consolas"/>
              </a:rPr>
              <a:t>    │   ├── test_crawler_resilience.py</a:t>
            </a:r>
          </a:p>
          <a:p>
            <a:pPr algn="l">
              <a:lnSpc>
                <a:spcPct val="100000"/>
              </a:lnSpc>
            </a:pPr>
            <a:r>
              <a:rPr sz="800" b="0" i="0">
                <a:solidFill>
                  <a:srgbClr val="ECE7DC"/>
                </a:solidFill>
                <a:latin typeface="Consolas"/>
              </a:rPr>
              <a:t>    │   ├── test_createsuperuser_wizard.py</a:t>
            </a:r>
          </a:p>
          <a:p>
            <a:pPr algn="l">
              <a:lnSpc>
                <a:spcPct val="100000"/>
              </a:lnSpc>
            </a:pPr>
            <a:r>
              <a:rPr sz="800" b="0" i="0">
                <a:solidFill>
                  <a:srgbClr val="ECE7DC"/>
                </a:solidFill>
                <a:latin typeface="Consolas"/>
              </a:rPr>
              <a:t>    │   ├── test_ctrl_c_shutdown.py</a:t>
            </a:r>
          </a:p>
          <a:p>
            <a:pPr algn="l">
              <a:lnSpc>
                <a:spcPct val="100000"/>
              </a:lnSpc>
            </a:pPr>
            <a:r>
              <a:rPr sz="800" b="0" i="0">
                <a:solidFill>
                  <a:srgbClr val="ECE7DC"/>
                </a:solidFill>
                <a:latin typeface="Consolas"/>
              </a:rPr>
              <a:t>    │   ├── test_db_backup_restore_wal.py</a:t>
            </a:r>
          </a:p>
          <a:p>
            <a:pPr algn="l">
              <a:lnSpc>
                <a:spcPct val="100000"/>
              </a:lnSpc>
            </a:pPr>
            <a:r>
              <a:rPr sz="800" b="0" i="0">
                <a:solidFill>
                  <a:srgbClr val="ECE7DC"/>
                </a:solidFill>
                <a:latin typeface="Consolas"/>
              </a:rPr>
              <a:t>    │   ├── test_db_backup_safety.py</a:t>
            </a:r>
          </a:p>
          <a:p>
            <a:pPr algn="l">
              <a:lnSpc>
                <a:spcPct val="100000"/>
              </a:lnSpc>
            </a:pPr>
            <a:r>
              <a:rPr sz="800" b="0" i="0">
                <a:solidFill>
                  <a:srgbClr val="ECE7DC"/>
                </a:solidFill>
                <a:latin typeface="Consolas"/>
              </a:rPr>
              <a:t>    │   ├── test_de_compresser.py</a:t>
            </a:r>
          </a:p>
          <a:p>
            <a:pPr algn="l">
              <a:lnSpc>
                <a:spcPct val="100000"/>
              </a:lnSpc>
            </a:pPr>
            <a:r>
              <a:rPr sz="800" b="0" i="0">
                <a:solidFill>
                  <a:srgbClr val="ECE7DC"/>
                </a:solidFill>
                <a:latin typeface="Consolas"/>
              </a:rPr>
              <a:t>    │   ├── test_deep_research_prompt.py</a:t>
            </a:r>
          </a:p>
          <a:p>
            <a:pPr algn="l">
              <a:lnSpc>
                <a:spcPct val="100000"/>
              </a:lnSpc>
            </a:pPr>
            <a:r>
              <a:rPr sz="800" b="0" i="0">
                <a:solidFill>
                  <a:srgbClr val="ECE7DC"/>
                </a:solidFill>
                <a:latin typeface="Consolas"/>
              </a:rPr>
              <a:t>    │   ├── test_deleter_safety.py</a:t>
            </a:r>
          </a:p>
        </p:txBody>
      </p:sp>
      <p:cxnSp>
        <p:nvCxnSpPr>
          <p:cNvPr id="8" name="Connector 7"/>
          <p:cNvCxnSpPr/>
          <p:nvPr/>
        </p:nvCxnSpPr>
        <p:spPr>
          <a:xfrm>
            <a:off x="566928" y="6373368"/>
            <a:ext cx="11057839" cy="0"/>
          </a:xfrm>
          <a:prstGeom prst="line">
            <a:avLst/>
          </a:prstGeom>
          <a:ln w="7620">
            <a:solidFill>
              <a:srgbClr val="2A3A40"/>
            </a:solidFill>
          </a:ln>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566928" y="6419088"/>
            <a:ext cx="6858000" cy="274320"/>
          </a:xfrm>
          <a:prstGeom prst="rect">
            <a:avLst/>
          </a:prstGeom>
          <a:noFill/>
        </p:spPr>
        <p:txBody>
          <a:bodyPr wrap="square" lIns="45720" rIns="45720" tIns="27432" bIns="27432" anchor="t">
            <a:noAutofit/>
          </a:bodyPr>
          <a:lstStyle/>
          <a:p>
            <a:pPr algn="l">
              <a:lnSpc>
                <a:spcPct val="100000"/>
              </a:lnSpc>
            </a:pPr>
            <a:r>
              <a:rPr sz="850" b="0" i="0" spc="120">
                <a:solidFill>
                  <a:srgbClr val="A7B2B0"/>
                </a:solidFill>
                <a:latin typeface="Segoe UI Semibold"/>
              </a:rPr>
              <a:t>TLAMATINI  ·  APÉNDICE A · ÁRBOL DE ARCHIVOS</a:t>
            </a:r>
          </a:p>
        </p:txBody>
      </p:sp>
      <p:sp>
        <p:nvSpPr>
          <p:cNvPr id="10" name="TextBox 9"/>
          <p:cNvSpPr txBox="1"/>
          <p:nvPr/>
        </p:nvSpPr>
        <p:spPr>
          <a:xfrm>
            <a:off x="8698687" y="6419088"/>
            <a:ext cx="2926080" cy="274320"/>
          </a:xfrm>
          <a:prstGeom prst="rect">
            <a:avLst/>
          </a:prstGeom>
          <a:noFill/>
        </p:spPr>
        <p:txBody>
          <a:bodyPr wrap="square" lIns="45720" rIns="45720" tIns="27432" bIns="27432" anchor="t">
            <a:noAutofit/>
          </a:bodyPr>
          <a:lstStyle/>
          <a:p>
            <a:pPr algn="r">
              <a:lnSpc>
                <a:spcPct val="100000"/>
              </a:lnSpc>
            </a:pPr>
            <a:r>
              <a:rPr sz="850" b="0" i="0" spc="100">
                <a:solidFill>
                  <a:srgbClr val="A7B2B0"/>
                </a:solidFill>
                <a:latin typeface="Segoe UI Semibold"/>
              </a:rPr>
              <a:t>v1.91.1   ·   183</a:t>
            </a:r>
          </a:p>
        </p:txBody>
      </p:sp>
    </p:spTree>
  </p:cSld>
  <p:clrMapOvr>
    <a:masterClrMapping/>
  </p:clrMapOvr>
</p:sld>
</file>

<file path=ppt/slides/slide18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appendix.png"/>
          <p:cNvPicPr>
            <a:picLocks noChangeAspect="1"/>
          </p:cNvPicPr>
          <p:nvPr/>
        </p:nvPicPr>
        <p:blipFill>
          <a:blip r:embed="rId2"/>
          <a:stretch>
            <a:fillRect/>
          </a:stretch>
        </p:blipFill>
        <p:spPr>
          <a:xfrm>
            <a:off x="0" y="0"/>
            <a:ext cx="12191695" cy="6858000"/>
          </a:xfrm>
          <a:prstGeom prst="rect">
            <a:avLst/>
          </a:prstGeom>
        </p:spPr>
      </p:pic>
      <p:sp>
        <p:nvSpPr>
          <p:cNvPr id="3" name="TextBox 2"/>
          <p:cNvSpPr txBox="1"/>
          <p:nvPr/>
        </p:nvSpPr>
        <p:spPr>
          <a:xfrm>
            <a:off x="566928" y="384048"/>
            <a:ext cx="8686800" cy="329184"/>
          </a:xfrm>
          <a:prstGeom prst="rect">
            <a:avLst/>
          </a:prstGeom>
          <a:noFill/>
        </p:spPr>
        <p:txBody>
          <a:bodyPr wrap="square" lIns="45720" rIns="45720" tIns="27432" bIns="27432" anchor="t">
            <a:noAutofit/>
          </a:bodyPr>
          <a:lstStyle/>
          <a:p>
            <a:pPr algn="l">
              <a:lnSpc>
                <a:spcPct val="100000"/>
              </a:lnSpc>
            </a:pPr>
            <a:r>
              <a:rPr sz="1100" b="0" i="0" spc="200">
                <a:solidFill>
                  <a:srgbClr val="C98457"/>
                </a:solidFill>
                <a:latin typeface="Segoe UI Semibold"/>
              </a:rPr>
              <a:t>APÉNDICE A  ·  ÁRBOL DE ARCHIVOS DE LA APLICACIÓN  ·  10 / 20</a:t>
            </a:r>
          </a:p>
        </p:txBody>
      </p:sp>
      <p:sp>
        <p:nvSpPr>
          <p:cNvPr id="4" name="TextBox 3"/>
          <p:cNvSpPr txBox="1"/>
          <p:nvPr/>
        </p:nvSpPr>
        <p:spPr>
          <a:xfrm>
            <a:off x="566928" y="731520"/>
            <a:ext cx="11057839" cy="384048"/>
          </a:xfrm>
          <a:prstGeom prst="rect">
            <a:avLst/>
          </a:prstGeom>
          <a:noFill/>
        </p:spPr>
        <p:txBody>
          <a:bodyPr wrap="square" lIns="45720" rIns="45720" tIns="27432" bIns="27432" anchor="t">
            <a:noAutofit/>
          </a:bodyPr>
          <a:lstStyle/>
          <a:p>
            <a:pPr algn="l">
              <a:lnSpc>
                <a:spcPct val="100000"/>
              </a:lnSpc>
            </a:pPr>
            <a:r>
              <a:rPr sz="1300" b="0" i="0">
                <a:solidFill>
                  <a:srgbClr val="A7B2B0"/>
                </a:solidFill>
                <a:latin typeface="Segoe UI"/>
              </a:rPr>
              <a:t>1,898 archivos listados en el commit 21b0a5c; 221 archivos de la historia de la base de datos resumidos.</a:t>
            </a:r>
          </a:p>
        </p:txBody>
      </p:sp>
      <p:sp>
        <p:nvSpPr>
          <p:cNvPr id="5" name="TextBox 4"/>
          <p:cNvSpPr txBox="1"/>
          <p:nvPr/>
        </p:nvSpPr>
        <p:spPr>
          <a:xfrm>
            <a:off x="566928" y="1170432"/>
            <a:ext cx="3515258" cy="5084064"/>
          </a:xfrm>
          <a:prstGeom prst="rect">
            <a:avLst/>
          </a:prstGeom>
          <a:noFill/>
        </p:spPr>
        <p:txBody>
          <a:bodyPr wrap="none" lIns="45720" rIns="45720" tIns="27432" bIns="27432" anchor="t">
            <a:noAutofit/>
          </a:bodyPr>
          <a:lstStyle/>
          <a:p>
            <a:pPr algn="l">
              <a:lnSpc>
                <a:spcPct val="100000"/>
              </a:lnSpc>
            </a:pPr>
            <a:r>
              <a:rPr sz="800" b="0" i="0">
                <a:solidFill>
                  <a:srgbClr val="ECE7DC"/>
                </a:solidFill>
                <a:latin typeface="Consolas"/>
              </a:rPr>
              <a:t>    │   ├── test_desktop_input_agents.py</a:t>
            </a:r>
          </a:p>
          <a:p>
            <a:pPr algn="l">
              <a:lnSpc>
                <a:spcPct val="100000"/>
              </a:lnSpc>
            </a:pPr>
            <a:r>
              <a:rPr sz="800" b="0" i="0">
                <a:solidFill>
                  <a:srgbClr val="ECE7DC"/>
                </a:solidFill>
                <a:latin typeface="Consolas"/>
              </a:rPr>
              <a:t>    │   ├── test_dialog_dismissal_policy.py</a:t>
            </a:r>
          </a:p>
          <a:p>
            <a:pPr algn="l">
              <a:lnSpc>
                <a:spcPct val="100000"/>
              </a:lnSpc>
            </a:pPr>
            <a:r>
              <a:rPr sz="800" b="0" i="0">
                <a:solidFill>
                  <a:srgbClr val="ECE7DC"/>
                </a:solidFill>
                <a:latin typeface="Consolas"/>
              </a:rPr>
              <a:t>    │   ├── test_dialog_theme.py</a:t>
            </a:r>
          </a:p>
          <a:p>
            <a:pPr algn="l">
              <a:lnSpc>
                <a:spcPct val="100000"/>
              </a:lnSpc>
            </a:pPr>
            <a:r>
              <a:rPr sz="800" b="0" i="0">
                <a:solidFill>
                  <a:srgbClr val="ECE7DC"/>
                </a:solidFill>
                <a:latin typeface="Consolas"/>
              </a:rPr>
              <a:t>    │   ├── test_discoverer_agent.py</a:t>
            </a:r>
          </a:p>
          <a:p>
            <a:pPr algn="l">
              <a:lnSpc>
                <a:spcPct val="100000"/>
              </a:lnSpc>
            </a:pPr>
            <a:r>
              <a:rPr sz="800" b="0" i="0">
                <a:solidFill>
                  <a:srgbClr val="ECE7DC"/>
                </a:solidFill>
                <a:latin typeface="Consolas"/>
              </a:rPr>
              <a:t>    │   ├── test_discoverer_thousand.py</a:t>
            </a:r>
          </a:p>
          <a:p>
            <a:pPr algn="l">
              <a:lnSpc>
                <a:spcPct val="100000"/>
              </a:lnSpc>
            </a:pPr>
            <a:r>
              <a:rPr sz="800" b="0" i="0">
                <a:solidFill>
                  <a:srgbClr val="ECE7DC"/>
                </a:solidFill>
                <a:latin typeface="Consolas"/>
              </a:rPr>
              <a:t>    │   ├── test_django_port_config.py</a:t>
            </a:r>
          </a:p>
          <a:p>
            <a:pPr algn="l">
              <a:lnSpc>
                <a:spcPct val="100000"/>
              </a:lnSpc>
            </a:pPr>
            <a:r>
              <a:rPr sz="800" b="0" i="0">
                <a:solidFill>
                  <a:srgbClr val="ECE7DC"/>
                </a:solidFill>
                <a:latin typeface="Consolas"/>
              </a:rPr>
              <a:t>    │   ├── test_drag_divider_look.py</a:t>
            </a:r>
          </a:p>
          <a:p>
            <a:pPr algn="l">
              <a:lnSpc>
                <a:spcPct val="100000"/>
              </a:lnSpc>
            </a:pPr>
            <a:r>
              <a:rPr sz="800" b="0" i="0">
                <a:solidFill>
                  <a:srgbClr val="ECE7DC"/>
                </a:solidFill>
                <a:latin typeface="Consolas"/>
              </a:rPr>
              <a:t>    │   ├── test_drop_message.py</a:t>
            </a:r>
          </a:p>
          <a:p>
            <a:pPr algn="l">
              <a:lnSpc>
                <a:spcPct val="100000"/>
              </a:lnSpc>
            </a:pPr>
            <a:r>
              <a:rPr sz="800" b="0" i="0">
                <a:solidFill>
                  <a:srgbClr val="ECE7DC"/>
                </a:solidFill>
                <a:latin typeface="Consolas"/>
              </a:rPr>
              <a:t>    │   ├── test_editor_agent.py</a:t>
            </a:r>
          </a:p>
          <a:p>
            <a:pPr algn="l">
              <a:lnSpc>
                <a:spcPct val="100000"/>
              </a:lnSpc>
            </a:pPr>
            <a:r>
              <a:rPr sz="800" b="0" i="0">
                <a:solidFill>
                  <a:srgbClr val="ECE7DC"/>
                </a:solidFill>
                <a:latin typeface="Consolas"/>
              </a:rPr>
              <a:t>    │   ├── test_embedding_memory_guard.py</a:t>
            </a:r>
          </a:p>
          <a:p>
            <a:pPr algn="l">
              <a:lnSpc>
                <a:spcPct val="100000"/>
              </a:lnSpc>
            </a:pPr>
            <a:r>
              <a:rPr sz="800" b="0" i="0">
                <a:solidFill>
                  <a:srgbClr val="ECE7DC"/>
                </a:solidFill>
                <a:latin typeface="Consolas"/>
              </a:rPr>
              <a:t>    │   ├── test_esp32er_agent.py</a:t>
            </a:r>
          </a:p>
          <a:p>
            <a:pPr algn="l">
              <a:lnSpc>
                <a:spcPct val="100000"/>
              </a:lnSpc>
            </a:pPr>
            <a:r>
              <a:rPr sz="800" b="0" i="0">
                <a:solidFill>
                  <a:srgbClr val="ECE7DC"/>
                </a:solidFill>
                <a:latin typeface="Consolas"/>
              </a:rPr>
              <a:t>    │   ├── test_esphomer_agent.py</a:t>
            </a:r>
          </a:p>
          <a:p>
            <a:pPr algn="l">
              <a:lnSpc>
                <a:spcPct val="100000"/>
              </a:lnSpc>
            </a:pPr>
            <a:r>
              <a:rPr sz="800" b="0" i="0">
                <a:solidFill>
                  <a:srgbClr val="ECE7DC"/>
                </a:solidFill>
                <a:latin typeface="Consolas"/>
              </a:rPr>
              <a:t>    │   ├── test_exec_report_verdict.py</a:t>
            </a:r>
          </a:p>
          <a:p>
            <a:pPr algn="l">
              <a:lnSpc>
                <a:spcPct val="100000"/>
              </a:lnSpc>
            </a:pPr>
            <a:r>
              <a:rPr sz="800" b="0" i="0">
                <a:solidFill>
                  <a:srgbClr val="ECE7DC"/>
                </a:solidFill>
                <a:latin typeface="Consolas"/>
              </a:rPr>
              <a:t>    │   ├── test_execute_command_bounded.py</a:t>
            </a:r>
          </a:p>
          <a:p>
            <a:pPr algn="l">
              <a:lnSpc>
                <a:spcPct val="100000"/>
              </a:lnSpc>
            </a:pPr>
            <a:r>
              <a:rPr sz="800" b="0" i="0">
                <a:solidFill>
                  <a:srgbClr val="ECE7DC"/>
                </a:solidFill>
                <a:latin typeface="Consolas"/>
              </a:rPr>
              <a:t>    │   ├── test_executer_window_report.py</a:t>
            </a:r>
          </a:p>
          <a:p>
            <a:pPr algn="l">
              <a:lnSpc>
                <a:spcPct val="100000"/>
              </a:lnSpc>
            </a:pPr>
            <a:r>
              <a:rPr sz="800" b="0" i="0">
                <a:solidFill>
                  <a:srgbClr val="ECE7DC"/>
                </a:solidFill>
                <a:latin typeface="Consolas"/>
              </a:rPr>
              <a:t>    │   ├── test_external_mcp_add_flow.py</a:t>
            </a:r>
          </a:p>
          <a:p>
            <a:pPr algn="l">
              <a:lnSpc>
                <a:spcPct val="100000"/>
              </a:lnSpc>
            </a:pPr>
            <a:r>
              <a:rPr sz="800" b="0" i="0">
                <a:solidFill>
                  <a:srgbClr val="ECE7DC"/>
                </a:solidFill>
                <a:latin typeface="Consolas"/>
              </a:rPr>
              <a:t>    │   ├── test_external_mcp_e2e.py</a:t>
            </a:r>
          </a:p>
          <a:p>
            <a:pPr algn="l">
              <a:lnSpc>
                <a:spcPct val="100000"/>
              </a:lnSpc>
            </a:pPr>
            <a:r>
              <a:rPr sz="800" b="0" i="0">
                <a:solidFill>
                  <a:srgbClr val="ECE7DC"/>
                </a:solidFill>
                <a:latin typeface="Consolas"/>
              </a:rPr>
              <a:t>    │   ├── test_external_mcp_transports.py</a:t>
            </a:r>
          </a:p>
          <a:p>
            <a:pPr algn="l">
              <a:lnSpc>
                <a:spcPct val="100000"/>
              </a:lnSpc>
            </a:pPr>
            <a:r>
              <a:rPr sz="800" b="0" i="0">
                <a:solidFill>
                  <a:srgbClr val="ECE7DC"/>
                </a:solidFill>
                <a:latin typeface="Consolas"/>
              </a:rPr>
              <a:t>    │   ├── test_external_mcp_universal.py</a:t>
            </a:r>
          </a:p>
          <a:p>
            <a:pPr algn="l">
              <a:lnSpc>
                <a:spcPct val="100000"/>
              </a:lnSpc>
            </a:pPr>
            <a:r>
              <a:rPr sz="800" b="0" i="0">
                <a:solidFill>
                  <a:srgbClr val="ECE7DC"/>
                </a:solidFill>
                <a:latin typeface="Consolas"/>
              </a:rPr>
              <a:t>    │   ├── test_file_creator_append.py</a:t>
            </a:r>
          </a:p>
          <a:p>
            <a:pPr algn="l">
              <a:lnSpc>
                <a:spcPct val="100000"/>
              </a:lnSpc>
            </a:pPr>
            <a:r>
              <a:rPr sz="800" b="0" i="0">
                <a:solidFill>
                  <a:srgbClr val="ECE7DC"/>
                </a:solidFill>
                <a:latin typeface="Consolas"/>
              </a:rPr>
              <a:t>    │   ├── test_file_drop_router.py</a:t>
            </a:r>
          </a:p>
          <a:p>
            <a:pPr algn="l">
              <a:lnSpc>
                <a:spcPct val="100000"/>
              </a:lnSpc>
            </a:pPr>
            <a:r>
              <a:rPr sz="800" b="0" i="0">
                <a:solidFill>
                  <a:srgbClr val="ECE7DC"/>
                </a:solidFill>
                <a:latin typeface="Consolas"/>
              </a:rPr>
              <a:t>    │   ├── test_file_extractor_reader.py</a:t>
            </a:r>
          </a:p>
          <a:p>
            <a:pPr algn="l">
              <a:lnSpc>
                <a:spcPct val="100000"/>
              </a:lnSpc>
            </a:pPr>
            <a:r>
              <a:rPr sz="800" b="0" i="0">
                <a:solidFill>
                  <a:srgbClr val="ECE7DC"/>
                </a:solidFill>
                <a:latin typeface="Consolas"/>
              </a:rPr>
              <a:t>    │   ├── test_flow_contracts.py</a:t>
            </a:r>
          </a:p>
          <a:p>
            <a:pPr algn="l">
              <a:lnSpc>
                <a:spcPct val="100000"/>
              </a:lnSpc>
            </a:pPr>
            <a:r>
              <a:rPr sz="800" b="0" i="0">
                <a:solidFill>
                  <a:srgbClr val="ECE7DC"/>
                </a:solidFill>
                <a:latin typeface="Consolas"/>
              </a:rPr>
              <a:t>    │   ├── test_flow_file_open.py</a:t>
            </a:r>
          </a:p>
          <a:p>
            <a:pPr algn="l">
              <a:lnSpc>
                <a:spcPct val="100000"/>
              </a:lnSpc>
            </a:pPr>
            <a:r>
              <a:rPr sz="800" b="0" i="0">
                <a:solidFill>
                  <a:srgbClr val="ECE7DC"/>
                </a:solidFill>
                <a:latin typeface="Consolas"/>
              </a:rPr>
              <a:t>    │   ├── test_flow_file_views.py</a:t>
            </a:r>
          </a:p>
          <a:p>
            <a:pPr algn="l">
              <a:lnSpc>
                <a:spcPct val="100000"/>
              </a:lnSpc>
            </a:pPr>
            <a:r>
              <a:rPr sz="800" b="0" i="0">
                <a:solidFill>
                  <a:srgbClr val="ECE7DC"/>
                </a:solidFill>
                <a:latin typeface="Consolas"/>
              </a:rPr>
              <a:t>    │   ├── test_flow_knowledge.py</a:t>
            </a:r>
          </a:p>
          <a:p>
            <a:pPr algn="l">
              <a:lnSpc>
                <a:spcPct val="100000"/>
              </a:lnSpc>
            </a:pPr>
            <a:r>
              <a:rPr sz="800" b="0" i="0">
                <a:solidFill>
                  <a:srgbClr val="ECE7DC"/>
                </a:solidFill>
                <a:latin typeface="Consolas"/>
              </a:rPr>
              <a:t>    │   ├── test_frontend_mutable_state.py</a:t>
            </a:r>
          </a:p>
          <a:p>
            <a:pPr algn="l">
              <a:lnSpc>
                <a:spcPct val="100000"/>
              </a:lnSpc>
            </a:pPr>
            <a:r>
              <a:rPr sz="800" b="0" i="0">
                <a:solidFill>
                  <a:srgbClr val="ECE7DC"/>
                </a:solidFill>
                <a:latin typeface="Consolas"/>
              </a:rPr>
              <a:t>    │   ├── test_gitter_custom_command.py</a:t>
            </a:r>
          </a:p>
          <a:p>
            <a:pPr algn="l">
              <a:lnSpc>
                <a:spcPct val="100000"/>
              </a:lnSpc>
            </a:pPr>
            <a:r>
              <a:rPr sz="800" b="0" i="0">
                <a:solidFill>
                  <a:srgbClr val="ECE7DC"/>
                </a:solidFill>
                <a:latin typeface="Consolas"/>
              </a:rPr>
              <a:t>    │   ├── test_glob_patterns.py</a:t>
            </a:r>
          </a:p>
          <a:p>
            <a:pPr algn="l">
              <a:lnSpc>
                <a:spcPct val="100000"/>
              </a:lnSpc>
            </a:pPr>
            <a:r>
              <a:rPr sz="800" b="0" i="0">
                <a:solidFill>
                  <a:srgbClr val="ECE7DC"/>
                </a:solidFill>
                <a:latin typeface="Consolas"/>
              </a:rPr>
              <a:t>    │   ├── test_globber_agent.py</a:t>
            </a:r>
          </a:p>
          <a:p>
            <a:pPr algn="l">
              <a:lnSpc>
                <a:spcPct val="100000"/>
              </a:lnSpc>
            </a:pPr>
            <a:r>
              <a:rPr sz="800" b="0" i="0">
                <a:solidFill>
                  <a:srgbClr val="ECE7DC"/>
                </a:solidFill>
                <a:latin typeface="Consolas"/>
              </a:rPr>
              <a:t>    │   ├── test_googler_agent.py</a:t>
            </a:r>
          </a:p>
          <a:p>
            <a:pPr algn="l">
              <a:lnSpc>
                <a:spcPct val="100000"/>
              </a:lnSpc>
            </a:pPr>
            <a:r>
              <a:rPr sz="800" b="0" i="0">
                <a:solidFill>
                  <a:srgbClr val="ECE7DC"/>
                </a:solidFill>
                <a:latin typeface="Consolas"/>
              </a:rPr>
              <a:t>    │   ├── test_googler_dorks.py</a:t>
            </a:r>
          </a:p>
          <a:p>
            <a:pPr algn="l">
              <a:lnSpc>
                <a:spcPct val="100000"/>
              </a:lnSpc>
            </a:pPr>
            <a:r>
              <a:rPr sz="800" b="0" i="0">
                <a:solidFill>
                  <a:srgbClr val="ECE7DC"/>
                </a:solidFill>
                <a:latin typeface="Consolas"/>
              </a:rPr>
              <a:t>    │   ├── test_googler_resilience.py</a:t>
            </a:r>
          </a:p>
          <a:p>
            <a:pPr algn="l">
              <a:lnSpc>
                <a:spcPct val="100000"/>
              </a:lnSpc>
            </a:pPr>
            <a:r>
              <a:rPr sz="800" b="0" i="0">
                <a:solidFill>
                  <a:srgbClr val="ECE7DC"/>
                </a:solidFill>
                <a:latin typeface="Consolas"/>
              </a:rPr>
              <a:t>    │   ├── test_grepper_agent.py</a:t>
            </a:r>
          </a:p>
          <a:p>
            <a:pPr algn="l">
              <a:lnSpc>
                <a:spcPct val="100000"/>
              </a:lnSpc>
            </a:pPr>
            <a:r>
              <a:rPr sz="800" b="0" i="0">
                <a:solidFill>
                  <a:srgbClr val="ECE7DC"/>
                </a:solidFill>
                <a:latin typeface="Consolas"/>
              </a:rPr>
              <a:t>    │   ├── test_grepper_encodings.py</a:t>
            </a:r>
          </a:p>
          <a:p>
            <a:pPr algn="l">
              <a:lnSpc>
                <a:spcPct val="100000"/>
              </a:lnSpc>
            </a:pPr>
            <a:r>
              <a:rPr sz="800" b="0" i="0">
                <a:solidFill>
                  <a:srgbClr val="ECE7DC"/>
                </a:solidFill>
                <a:latin typeface="Consolas"/>
              </a:rPr>
              <a:t>    │   ├── test_grepper_lines_mode.py</a:t>
            </a:r>
          </a:p>
          <a:p>
            <a:pPr algn="l">
              <a:lnSpc>
                <a:spcPct val="100000"/>
              </a:lnSpc>
            </a:pPr>
            <a:r>
              <a:rPr sz="800" b="0" i="0">
                <a:solidFill>
                  <a:srgbClr val="ECE7DC"/>
                </a:solidFill>
                <a:latin typeface="Consolas"/>
              </a:rPr>
              <a:t>    │   ├── test_image_interpreter_agent.py</a:t>
            </a:r>
          </a:p>
          <a:p>
            <a:pPr algn="l">
              <a:lnSpc>
                <a:spcPct val="100000"/>
              </a:lnSpc>
            </a:pPr>
            <a:r>
              <a:rPr sz="800" b="0" i="0">
                <a:solidFill>
                  <a:srgbClr val="ECE7DC"/>
                </a:solidFill>
                <a:latin typeface="Consolas"/>
              </a:rPr>
              <a:t>    │   ├── test_instant_messaging_doctor.py</a:t>
            </a:r>
          </a:p>
          <a:p>
            <a:pPr algn="l">
              <a:lnSpc>
                <a:spcPct val="100000"/>
              </a:lnSpc>
            </a:pPr>
            <a:r>
              <a:rPr sz="800" b="0" i="0">
                <a:solidFill>
                  <a:srgbClr val="ECE7DC"/>
                </a:solidFill>
                <a:latin typeface="Consolas"/>
              </a:rPr>
              <a:t>    │   ├── test_interaction_settings.py</a:t>
            </a:r>
          </a:p>
          <a:p>
            <a:pPr algn="l">
              <a:lnSpc>
                <a:spcPct val="100000"/>
              </a:lnSpc>
            </a:pPr>
            <a:r>
              <a:rPr sz="800" b="0" i="0">
                <a:solidFill>
                  <a:srgbClr val="ECE7DC"/>
                </a:solidFill>
                <a:latin typeface="Consolas"/>
              </a:rPr>
              <a:t>    │   ├── test_interactor.py</a:t>
            </a:r>
          </a:p>
          <a:p>
            <a:pPr algn="l">
              <a:lnSpc>
                <a:spcPct val="100000"/>
              </a:lnSpc>
            </a:pPr>
            <a:r>
              <a:rPr sz="800" b="0" i="0">
                <a:solidFill>
                  <a:srgbClr val="ECE7DC"/>
                </a:solidFill>
                <a:latin typeface="Consolas"/>
              </a:rPr>
              <a:t>    │   ├── test_j_decompiler_agent.py</a:t>
            </a:r>
          </a:p>
        </p:txBody>
      </p:sp>
      <p:sp>
        <p:nvSpPr>
          <p:cNvPr id="6" name="TextBox 5"/>
          <p:cNvSpPr txBox="1"/>
          <p:nvPr/>
        </p:nvSpPr>
        <p:spPr>
          <a:xfrm>
            <a:off x="4338218" y="1170432"/>
            <a:ext cx="3515258" cy="5084064"/>
          </a:xfrm>
          <a:prstGeom prst="rect">
            <a:avLst/>
          </a:prstGeom>
          <a:noFill/>
        </p:spPr>
        <p:txBody>
          <a:bodyPr wrap="none" lIns="45720" rIns="45720" tIns="27432" bIns="27432" anchor="t">
            <a:noAutofit/>
          </a:bodyPr>
          <a:lstStyle/>
          <a:p>
            <a:pPr algn="l">
              <a:lnSpc>
                <a:spcPct val="100000"/>
              </a:lnSpc>
            </a:pPr>
            <a:r>
              <a:rPr sz="800" b="0" i="0">
                <a:solidFill>
                  <a:srgbClr val="ECE7DC"/>
                </a:solidFill>
                <a:latin typeface="Consolas"/>
              </a:rPr>
              <a:t>    │   ├── test_js_gates.py</a:t>
            </a:r>
          </a:p>
          <a:p>
            <a:pPr algn="l">
              <a:lnSpc>
                <a:spcPct val="100000"/>
              </a:lnSpc>
            </a:pPr>
            <a:r>
              <a:rPr sz="800" b="0" i="0">
                <a:solidFill>
                  <a:srgbClr val="ECE7DC"/>
                </a:solidFill>
                <a:latin typeface="Consolas"/>
              </a:rPr>
              <a:t>    │   ├── test_kalier_agent.py</a:t>
            </a:r>
          </a:p>
          <a:p>
            <a:pPr algn="l">
              <a:lnSpc>
                <a:spcPct val="100000"/>
              </a:lnSpc>
            </a:pPr>
            <a:r>
              <a:rPr sz="800" b="0" i="0">
                <a:solidFill>
                  <a:srgbClr val="ECE7DC"/>
                </a:solidFill>
                <a:latin typeface="Consolas"/>
              </a:rPr>
              <a:t>    │   ├── test_latexer_agent.py</a:t>
            </a:r>
          </a:p>
          <a:p>
            <a:pPr algn="l">
              <a:lnSpc>
                <a:spcPct val="100000"/>
              </a:lnSpc>
            </a:pPr>
            <a:r>
              <a:rPr sz="800" b="0" i="0">
                <a:solidFill>
                  <a:srgbClr val="ECE7DC"/>
                </a:solidFill>
                <a:latin typeface="Consolas"/>
              </a:rPr>
              <a:t>    │   ├── test_latexer_delivery_truth.py</a:t>
            </a:r>
          </a:p>
          <a:p>
            <a:pPr algn="l">
              <a:lnSpc>
                <a:spcPct val="100000"/>
              </a:lnSpc>
            </a:pPr>
            <a:r>
              <a:rPr sz="800" b="0" i="0">
                <a:solidFill>
                  <a:srgbClr val="ECE7DC"/>
                </a:solidFill>
                <a:latin typeface="Consolas"/>
              </a:rPr>
              <a:t>    │   ├── test_latexer_layout_truth.py</a:t>
            </a:r>
          </a:p>
          <a:p>
            <a:pPr algn="l">
              <a:lnSpc>
                <a:spcPct val="100000"/>
              </a:lnSpc>
            </a:pPr>
            <a:r>
              <a:rPr sz="800" b="0" i="0">
                <a:solidFill>
                  <a:srgbClr val="ECE7DC"/>
                </a:solidFill>
                <a:latin typeface="Consolas"/>
              </a:rPr>
              <a:t>    │   ├── test_latexer_major_removal_and_window_repair</a:t>
            </a:r>
          </a:p>
          <a:p>
            <a:pPr algn="l">
              <a:lnSpc>
                <a:spcPct val="100000"/>
              </a:lnSpc>
            </a:pPr>
            <a:r>
              <a:rPr sz="800" b="0" i="0">
                <a:solidFill>
                  <a:srgbClr val="ECE7DC"/>
                </a:solidFill>
                <a:latin typeface="Consolas"/>
              </a:rPr>
              <a:t>    │   │     » .py</a:t>
            </a:r>
          </a:p>
          <a:p>
            <a:pPr algn="l">
              <a:lnSpc>
                <a:spcPct val="100000"/>
              </a:lnSpc>
            </a:pPr>
            <a:r>
              <a:rPr sz="800" b="0" i="0">
                <a:solidFill>
                  <a:srgbClr val="ECE7DC"/>
                </a:solidFill>
                <a:latin typeface="Consolas"/>
              </a:rPr>
              <a:t>    │   ├── test_latexer_model_repair_truth.py</a:t>
            </a:r>
          </a:p>
          <a:p>
            <a:pPr algn="l">
              <a:lnSpc>
                <a:spcPct val="100000"/>
              </a:lnSpc>
            </a:pPr>
            <a:r>
              <a:rPr sz="800" b="0" i="0">
                <a:solidFill>
                  <a:srgbClr val="ECE7DC"/>
                </a:solidFill>
                <a:latin typeface="Consolas"/>
              </a:rPr>
              <a:t>    │   ├── test_latexer_repair_ladder.py</a:t>
            </a:r>
          </a:p>
          <a:p>
            <a:pPr algn="l">
              <a:lnSpc>
                <a:spcPct val="100000"/>
              </a:lnSpc>
            </a:pPr>
            <a:r>
              <a:rPr sz="800" b="0" i="0">
                <a:solidFill>
                  <a:srgbClr val="ECE7DC"/>
                </a:solidFill>
                <a:latin typeface="Consolas"/>
              </a:rPr>
              <a:t>    │   ├── test_latexer_styles.py</a:t>
            </a:r>
          </a:p>
          <a:p>
            <a:pPr algn="l">
              <a:lnSpc>
                <a:spcPct val="100000"/>
              </a:lnSpc>
            </a:pPr>
            <a:r>
              <a:rPr sz="800" b="0" i="0">
                <a:solidFill>
                  <a:srgbClr val="ECE7DC"/>
                </a:solidFill>
                <a:latin typeface="Consolas"/>
              </a:rPr>
              <a:t>    │   ├── test_latexer_suite.py</a:t>
            </a:r>
          </a:p>
          <a:p>
            <a:pPr algn="l">
              <a:lnSpc>
                <a:spcPct val="100000"/>
              </a:lnSpc>
            </a:pPr>
            <a:r>
              <a:rPr sz="800" b="0" i="0">
                <a:solidFill>
                  <a:srgbClr val="ECE7DC"/>
                </a:solidFill>
                <a:latin typeface="Consolas"/>
              </a:rPr>
              <a:t>    │   ├── test_latexer_verbatim_channel.py</a:t>
            </a:r>
          </a:p>
          <a:p>
            <a:pPr algn="l">
              <a:lnSpc>
                <a:spcPct val="100000"/>
              </a:lnSpc>
            </a:pPr>
            <a:r>
              <a:rPr sz="800" b="0" i="0">
                <a:solidFill>
                  <a:srgbClr val="ECE7DC"/>
                </a:solidFill>
                <a:latin typeface="Consolas"/>
              </a:rPr>
              <a:t>    │   ├── test_log_identity.py</a:t>
            </a:r>
          </a:p>
          <a:p>
            <a:pPr algn="l">
              <a:lnSpc>
                <a:spcPct val="100000"/>
              </a:lnSpc>
            </a:pPr>
            <a:r>
              <a:rPr sz="800" b="0" i="0">
                <a:solidFill>
                  <a:srgbClr val="ECE7DC"/>
                </a:solidFill>
                <a:latin typeface="Consolas"/>
              </a:rPr>
              <a:t>    │   ├── test_mcp_configured_endpoints.py</a:t>
            </a:r>
          </a:p>
          <a:p>
            <a:pPr algn="l">
              <a:lnSpc>
                <a:spcPct val="100000"/>
              </a:lnSpc>
            </a:pPr>
            <a:r>
              <a:rPr sz="800" b="0" i="0">
                <a:solidFill>
                  <a:srgbClr val="ECE7DC"/>
                </a:solidFill>
                <a:latin typeface="Consolas"/>
              </a:rPr>
              <a:t>    │   ├── test_model_brain.py</a:t>
            </a:r>
          </a:p>
          <a:p>
            <a:pPr algn="l">
              <a:lnSpc>
                <a:spcPct val="100000"/>
              </a:lnSpc>
            </a:pPr>
            <a:r>
              <a:rPr sz="800" b="0" i="0">
                <a:solidFill>
                  <a:srgbClr val="ECE7DC"/>
                </a:solidFill>
                <a:latin typeface="Consolas"/>
              </a:rPr>
              <a:t>    │   ├── test_model_capacity.py</a:t>
            </a:r>
          </a:p>
          <a:p>
            <a:pPr algn="l">
              <a:lnSpc>
                <a:spcPct val="100000"/>
              </a:lnSpc>
            </a:pPr>
            <a:r>
              <a:rPr sz="800" b="0" i="0">
                <a:solidFill>
                  <a:srgbClr val="ECE7DC"/>
                </a:solidFill>
                <a:latin typeface="Consolas"/>
              </a:rPr>
              <a:t>    │   ├── test_model_settings.py</a:t>
            </a:r>
          </a:p>
          <a:p>
            <a:pPr algn="l">
              <a:lnSpc>
                <a:spcPct val="100000"/>
              </a:lnSpc>
            </a:pPr>
            <a:r>
              <a:rPr sz="800" b="0" i="0">
                <a:solidFill>
                  <a:srgbClr val="ECE7DC"/>
                </a:solidFill>
                <a:latin typeface="Consolas"/>
              </a:rPr>
              <a:t>    │   ├── test_mover_file_safety.py</a:t>
            </a:r>
          </a:p>
          <a:p>
            <a:pPr algn="l">
              <a:lnSpc>
                <a:spcPct val="100000"/>
              </a:lnSpc>
            </a:pPr>
            <a:r>
              <a:rPr sz="800" b="0" i="0">
                <a:solidFill>
                  <a:srgbClr val="ECE7DC"/>
                </a:solidFill>
                <a:latin typeface="Consolas"/>
              </a:rPr>
              <a:t>    │   ├── test_native_dialogs.py</a:t>
            </a:r>
          </a:p>
          <a:p>
            <a:pPr algn="l">
              <a:lnSpc>
                <a:spcPct val="100000"/>
              </a:lnSpc>
            </a:pPr>
            <a:r>
              <a:rPr sz="800" b="0" i="0">
                <a:solidFill>
                  <a:srgbClr val="ECE7DC"/>
                </a:solidFill>
                <a:latin typeface="Consolas"/>
              </a:rPr>
              <a:t>    │   ├── test_netspeed_calculator_agent.py</a:t>
            </a:r>
          </a:p>
          <a:p>
            <a:pPr algn="l">
              <a:lnSpc>
                <a:spcPct val="100000"/>
              </a:lnSpc>
            </a:pPr>
            <a:r>
              <a:rPr sz="800" b="0" i="0">
                <a:solidFill>
                  <a:srgbClr val="ECE7DC"/>
                </a:solidFill>
                <a:latin typeface="Consolas"/>
              </a:rPr>
              <a:t>    │   ├── test_nmapper_agent.py</a:t>
            </a:r>
          </a:p>
          <a:p>
            <a:pPr algn="l">
              <a:lnSpc>
                <a:spcPct val="100000"/>
              </a:lnSpc>
            </a:pPr>
            <a:r>
              <a:rPr sz="800" b="0" i="0">
                <a:solidFill>
                  <a:srgbClr val="ECE7DC"/>
                </a:solidFill>
                <a:latin typeface="Consolas"/>
              </a:rPr>
              <a:t>    │   ├── test_no_audio_in_tests.py</a:t>
            </a:r>
          </a:p>
          <a:p>
            <a:pPr algn="l">
              <a:lnSpc>
                <a:spcPct val="100000"/>
              </a:lnSpc>
            </a:pPr>
            <a:r>
              <a:rPr sz="800" b="0" i="0">
                <a:solidFill>
                  <a:srgbClr val="ECE7DC"/>
                </a:solidFill>
                <a:latin typeface="Consolas"/>
              </a:rPr>
              <a:t>    │   ├── test_ollama_catalog_from_server.py</a:t>
            </a:r>
          </a:p>
          <a:p>
            <a:pPr algn="l">
              <a:lnSpc>
                <a:spcPct val="100000"/>
              </a:lnSpc>
            </a:pPr>
            <a:r>
              <a:rPr sz="800" b="0" i="0">
                <a:solidFill>
                  <a:srgbClr val="ECE7DC"/>
                </a:solidFill>
                <a:latin typeface="Consolas"/>
              </a:rPr>
              <a:t>    │   ├── test_ollama_stop_limit.py</a:t>
            </a:r>
          </a:p>
          <a:p>
            <a:pPr algn="l">
              <a:lnSpc>
                <a:spcPct val="100000"/>
              </a:lnSpc>
            </a:pPr>
            <a:r>
              <a:rPr sz="800" b="0" i="0">
                <a:solidFill>
                  <a:srgbClr val="ECE7DC"/>
                </a:solidFill>
                <a:latin typeface="Consolas"/>
              </a:rPr>
              <a:t>    │   ├── test_orphan_reaper.py</a:t>
            </a:r>
          </a:p>
          <a:p>
            <a:pPr algn="l">
              <a:lnSpc>
                <a:spcPct val="100000"/>
              </a:lnSpc>
            </a:pPr>
            <a:r>
              <a:rPr sz="800" b="0" i="0">
                <a:solidFill>
                  <a:srgbClr val="ECE7DC"/>
                </a:solidFill>
                <a:latin typeface="Consolas"/>
              </a:rPr>
              <a:t>    │   ├── test_parametrizer_mcp_doctor.py</a:t>
            </a:r>
          </a:p>
          <a:p>
            <a:pPr algn="l">
              <a:lnSpc>
                <a:spcPct val="100000"/>
              </a:lnSpc>
            </a:pPr>
            <a:r>
              <a:rPr sz="800" b="0" i="0">
                <a:solidFill>
                  <a:srgbClr val="ECE7DC"/>
                </a:solidFill>
                <a:latin typeface="Consolas"/>
              </a:rPr>
              <a:t>    │   ├── test_password_quoting.py</a:t>
            </a:r>
          </a:p>
          <a:p>
            <a:pPr algn="l">
              <a:lnSpc>
                <a:spcPct val="100000"/>
              </a:lnSpc>
            </a:pPr>
            <a:r>
              <a:rPr sz="800" b="0" i="0">
                <a:solidFill>
                  <a:srgbClr val="ECE7DC"/>
                </a:solidFill>
                <a:latin typeface="Consolas"/>
              </a:rPr>
              <a:t>    │   ├── test_pdf_context.py</a:t>
            </a:r>
          </a:p>
          <a:p>
            <a:pPr algn="l">
              <a:lnSpc>
                <a:spcPct val="100000"/>
              </a:lnSpc>
            </a:pPr>
            <a:r>
              <a:rPr sz="800" b="0" i="0">
                <a:solidFill>
                  <a:srgbClr val="ECE7DC"/>
                </a:solidFill>
                <a:latin typeface="Consolas"/>
              </a:rPr>
              <a:t>    │   ├── test_pdfer_agent.py</a:t>
            </a:r>
          </a:p>
          <a:p>
            <a:pPr algn="l">
              <a:lnSpc>
                <a:spcPct val="100000"/>
              </a:lnSpc>
            </a:pPr>
            <a:r>
              <a:rPr sz="800" b="0" i="0">
                <a:solidFill>
                  <a:srgbClr val="ECE7DC"/>
                </a:solidFill>
                <a:latin typeface="Consolas"/>
              </a:rPr>
              <a:t>    │   ├── test_pdfer_nuance_layout.py</a:t>
            </a:r>
          </a:p>
          <a:p>
            <a:pPr algn="l">
              <a:lnSpc>
                <a:spcPct val="100000"/>
              </a:lnSpc>
            </a:pPr>
            <a:r>
              <a:rPr sz="800" b="0" i="0">
                <a:solidFill>
                  <a:srgbClr val="ECE7DC"/>
                </a:solidFill>
                <a:latin typeface="Consolas"/>
              </a:rPr>
              <a:t>    │   ├── test_pdfer_styles.py</a:t>
            </a:r>
          </a:p>
          <a:p>
            <a:pPr algn="l">
              <a:lnSpc>
                <a:spcPct val="100000"/>
              </a:lnSpc>
            </a:pPr>
            <a:r>
              <a:rPr sz="800" b="0" i="0">
                <a:solidFill>
                  <a:srgbClr val="ECE7DC"/>
                </a:solidFill>
                <a:latin typeface="Consolas"/>
              </a:rPr>
              <a:t>    │   ├── test_playwrighter_agent.py</a:t>
            </a:r>
          </a:p>
          <a:p>
            <a:pPr algn="l">
              <a:lnSpc>
                <a:spcPct val="100000"/>
              </a:lnSpc>
            </a:pPr>
            <a:r>
              <a:rPr sz="800" b="0" i="0">
                <a:solidFill>
                  <a:srgbClr val="ECE7DC"/>
                </a:solidFill>
                <a:latin typeface="Consolas"/>
              </a:rPr>
              <a:t>    │   ├── test_pptxer_agent.py</a:t>
            </a:r>
          </a:p>
          <a:p>
            <a:pPr algn="l">
              <a:lnSpc>
                <a:spcPct val="100000"/>
              </a:lnSpc>
            </a:pPr>
            <a:r>
              <a:rPr sz="800" b="0" i="0">
                <a:solidFill>
                  <a:srgbClr val="ECE7DC"/>
                </a:solidFill>
                <a:latin typeface="Consolas"/>
              </a:rPr>
              <a:t>    │   ├── test_pptxer_styles.py</a:t>
            </a:r>
          </a:p>
          <a:p>
            <a:pPr algn="l">
              <a:lnSpc>
                <a:spcPct val="100000"/>
              </a:lnSpc>
            </a:pPr>
            <a:r>
              <a:rPr sz="800" b="0" i="0">
                <a:solidFill>
                  <a:srgbClr val="ECE7DC"/>
                </a:solidFill>
                <a:latin typeface="Consolas"/>
              </a:rPr>
              <a:t>    │   ├── test_pptxer_visibility.py</a:t>
            </a:r>
          </a:p>
          <a:p>
            <a:pPr algn="l">
              <a:lnSpc>
                <a:spcPct val="100000"/>
              </a:lnSpc>
            </a:pPr>
            <a:r>
              <a:rPr sz="800" b="0" i="0">
                <a:solidFill>
                  <a:srgbClr val="ECE7DC"/>
                </a:solidFill>
                <a:latin typeface="Consolas"/>
              </a:rPr>
              <a:t>    │   ├── test_preserved_user_state.py</a:t>
            </a:r>
          </a:p>
          <a:p>
            <a:pPr algn="l">
              <a:lnSpc>
                <a:spcPct val="100000"/>
              </a:lnSpc>
            </a:pPr>
            <a:r>
              <a:rPr sz="800" b="0" i="0">
                <a:solidFill>
                  <a:srgbClr val="ECE7DC"/>
                </a:solidFill>
                <a:latin typeface="Consolas"/>
              </a:rPr>
              <a:t>    │   ├── test_program_name_collisions.py</a:t>
            </a:r>
          </a:p>
          <a:p>
            <a:pPr algn="l">
              <a:lnSpc>
                <a:spcPct val="100000"/>
              </a:lnSpc>
            </a:pPr>
            <a:r>
              <a:rPr sz="800" b="0" i="0">
                <a:solidFill>
                  <a:srgbClr val="ECE7DC"/>
                </a:solidFill>
                <a:latin typeface="Consolas"/>
              </a:rPr>
              <a:t>    │   ├── test_prompt_catalog_contiguous.py</a:t>
            </a:r>
          </a:p>
          <a:p>
            <a:pPr algn="l">
              <a:lnSpc>
                <a:spcPct val="100000"/>
              </a:lnSpc>
            </a:pPr>
            <a:r>
              <a:rPr sz="800" b="0" i="0">
                <a:solidFill>
                  <a:srgbClr val="ECE7DC"/>
                </a:solidFill>
                <a:latin typeface="Consolas"/>
              </a:rPr>
              <a:t>    │   ├── test_prompt_flow_panel.py</a:t>
            </a:r>
          </a:p>
          <a:p>
            <a:pPr algn="l">
              <a:lnSpc>
                <a:spcPct val="100000"/>
              </a:lnSpc>
            </a:pPr>
            <a:r>
              <a:rPr sz="800" b="0" i="0">
                <a:solidFill>
                  <a:srgbClr val="ECE7DC"/>
                </a:solidFill>
                <a:latin typeface="Consolas"/>
              </a:rPr>
              <a:t>    │   ├── test_prompt_flow_panel_carriage.py</a:t>
            </a:r>
          </a:p>
          <a:p>
            <a:pPr algn="l">
              <a:lnSpc>
                <a:spcPct val="100000"/>
              </a:lnSpc>
            </a:pPr>
            <a:r>
              <a:rPr sz="800" b="0" i="0">
                <a:solidFill>
                  <a:srgbClr val="ECE7DC"/>
                </a:solidFill>
                <a:latin typeface="Consolas"/>
              </a:rPr>
              <a:t>    │   ├── test_prompt_flow_panel_runtime.py</a:t>
            </a:r>
          </a:p>
        </p:txBody>
      </p:sp>
      <p:sp>
        <p:nvSpPr>
          <p:cNvPr id="7" name="TextBox 6"/>
          <p:cNvSpPr txBox="1"/>
          <p:nvPr/>
        </p:nvSpPr>
        <p:spPr>
          <a:xfrm>
            <a:off x="8109508" y="1170432"/>
            <a:ext cx="3515258" cy="5084064"/>
          </a:xfrm>
          <a:prstGeom prst="rect">
            <a:avLst/>
          </a:prstGeom>
          <a:noFill/>
        </p:spPr>
        <p:txBody>
          <a:bodyPr wrap="none" lIns="45720" rIns="45720" tIns="27432" bIns="27432" anchor="t">
            <a:noAutofit/>
          </a:bodyPr>
          <a:lstStyle/>
          <a:p>
            <a:pPr algn="l">
              <a:lnSpc>
                <a:spcPct val="100000"/>
              </a:lnSpc>
            </a:pPr>
            <a:r>
              <a:rPr sz="800" b="0" i="0">
                <a:solidFill>
                  <a:srgbClr val="ECE7DC"/>
                </a:solidFill>
                <a:latin typeface="Consolas"/>
              </a:rPr>
              <a:t>    │   ├── test_prompt_flow_panel_websocket.py</a:t>
            </a:r>
          </a:p>
          <a:p>
            <a:pPr algn="l">
              <a:lnSpc>
                <a:spcPct val="100000"/>
              </a:lnSpc>
            </a:pPr>
            <a:r>
              <a:rPr sz="800" b="0" i="0">
                <a:solidFill>
                  <a:srgbClr val="ECE7DC"/>
                </a:solidFill>
                <a:latin typeface="Consolas"/>
              </a:rPr>
              <a:t>    │   ├── test_prompt_shape_sentences.py</a:t>
            </a:r>
          </a:p>
          <a:p>
            <a:pPr algn="l">
              <a:lnSpc>
                <a:spcPct val="100000"/>
              </a:lnSpc>
            </a:pPr>
            <a:r>
              <a:rPr sz="800" b="0" i="0">
                <a:solidFill>
                  <a:srgbClr val="ECE7DC"/>
                </a:solidFill>
                <a:latin typeface="Consolas"/>
              </a:rPr>
              <a:t>    │   ├── test_public_release_targets.py</a:t>
            </a:r>
          </a:p>
          <a:p>
            <a:pPr algn="l">
              <a:lnSpc>
                <a:spcPct val="100000"/>
              </a:lnSpc>
            </a:pPr>
            <a:r>
              <a:rPr sz="800" b="0" i="0">
                <a:solidFill>
                  <a:srgbClr val="ECE7DC"/>
                </a:solidFill>
                <a:latin typeface="Consolas"/>
              </a:rPr>
              <a:t>    │   ├── test_pyinstaller_guard.py</a:t>
            </a:r>
          </a:p>
          <a:p>
            <a:pPr algn="l">
              <a:lnSpc>
                <a:spcPct val="100000"/>
              </a:lnSpc>
            </a:pPr>
            <a:r>
              <a:rPr sz="800" b="0" i="0">
                <a:solidFill>
                  <a:srgbClr val="ECE7DC"/>
                </a:solidFill>
                <a:latin typeface="Consolas"/>
              </a:rPr>
              <a:t>    │   ├── test_recorder_agent.py</a:t>
            </a:r>
          </a:p>
          <a:p>
            <a:pPr algn="l">
              <a:lnSpc>
                <a:spcPct val="100000"/>
              </a:lnSpc>
            </a:pPr>
            <a:r>
              <a:rPr sz="800" b="0" i="0">
                <a:solidFill>
                  <a:srgbClr val="ECE7DC"/>
                </a:solidFill>
                <a:latin typeface="Consolas"/>
              </a:rPr>
              <a:t>    │   ├── test_release_payload_ownership.py</a:t>
            </a:r>
          </a:p>
          <a:p>
            <a:pPr algn="l">
              <a:lnSpc>
                <a:spcPct val="100000"/>
              </a:lnSpc>
            </a:pPr>
            <a:r>
              <a:rPr sz="800" b="0" i="0">
                <a:solidFill>
                  <a:srgbClr val="ECE7DC"/>
                </a:solidFill>
                <a:latin typeface="Consolas"/>
              </a:rPr>
              <a:t>    │   ├── test_runtime_provisioner.py</a:t>
            </a:r>
          </a:p>
          <a:p>
            <a:pPr algn="l">
              <a:lnSpc>
                <a:spcPct val="100000"/>
              </a:lnSpc>
            </a:pPr>
            <a:r>
              <a:rPr sz="800" b="0" i="0">
                <a:solidFill>
                  <a:srgbClr val="ECE7DC"/>
                </a:solidFill>
                <a:latin typeface="Consolas"/>
              </a:rPr>
              <a:t>    │   ├── test_security_assets_carriage.py</a:t>
            </a:r>
          </a:p>
          <a:p>
            <a:pPr algn="l">
              <a:lnSpc>
                <a:spcPct val="100000"/>
              </a:lnSpc>
            </a:pPr>
            <a:r>
              <a:rPr sz="800" b="0" i="0">
                <a:solidFill>
                  <a:srgbClr val="ECE7DC"/>
                </a:solidFill>
                <a:latin typeface="Consolas"/>
              </a:rPr>
              <a:t>    │   ├── test_self_healing.py</a:t>
            </a:r>
          </a:p>
          <a:p>
            <a:pPr algn="l">
              <a:lnSpc>
                <a:spcPct val="100000"/>
              </a:lnSpc>
            </a:pPr>
            <a:r>
              <a:rPr sz="800" b="0" i="0">
                <a:solidFill>
                  <a:srgbClr val="ECE7DC"/>
                </a:solidFill>
                <a:latin typeface="Consolas"/>
              </a:rPr>
              <a:t>    │   ├── test_self_knowledge_is_current.py</a:t>
            </a:r>
          </a:p>
          <a:p>
            <a:pPr algn="l">
              <a:lnSpc>
                <a:spcPct val="100000"/>
              </a:lnSpc>
            </a:pPr>
            <a:r>
              <a:rPr sz="800" b="0" i="0">
                <a:solidFill>
                  <a:srgbClr val="ECE7DC"/>
                </a:solidFill>
                <a:latin typeface="Consolas"/>
              </a:rPr>
              <a:t>    │   ├── test_self_modify_gate.py</a:t>
            </a:r>
          </a:p>
          <a:p>
            <a:pPr algn="l">
              <a:lnSpc>
                <a:spcPct val="100000"/>
              </a:lnSpc>
            </a:pPr>
            <a:r>
              <a:rPr sz="800" b="0" i="0">
                <a:solidFill>
                  <a:srgbClr val="ECE7DC"/>
                </a:solidFill>
                <a:latin typeface="Consolas"/>
              </a:rPr>
              <a:t>    │   ├── test_self_modify_switch.py</a:t>
            </a:r>
          </a:p>
          <a:p>
            <a:pPr algn="l">
              <a:lnSpc>
                <a:spcPct val="100000"/>
              </a:lnSpc>
            </a:pPr>
            <a:r>
              <a:rPr sz="800" b="0" i="0">
                <a:solidFill>
                  <a:srgbClr val="ECE7DC"/>
                </a:solidFill>
                <a:latin typeface="Consolas"/>
              </a:rPr>
              <a:t>    │   ├── test_self_update.py</a:t>
            </a:r>
          </a:p>
          <a:p>
            <a:pPr algn="l">
              <a:lnSpc>
                <a:spcPct val="100000"/>
              </a:lnSpc>
            </a:pPr>
            <a:r>
              <a:rPr sz="800" b="0" i="0">
                <a:solidFill>
                  <a:srgbClr val="ECE7DC"/>
                </a:solidFill>
                <a:latin typeface="Consolas"/>
              </a:rPr>
              <a:t>    │   ├── test_shoter_takes_screenshots.py</a:t>
            </a:r>
          </a:p>
          <a:p>
            <a:pPr algn="l">
              <a:lnSpc>
                <a:spcPct val="100000"/>
              </a:lnSpc>
            </a:pPr>
            <a:r>
              <a:rPr sz="800" b="0" i="0">
                <a:solidFill>
                  <a:srgbClr val="ECE7DC"/>
                </a:solidFill>
                <a:latin typeface="Consolas"/>
              </a:rPr>
              <a:t>    │   ├── test_sqlite_wal_mode.py</a:t>
            </a:r>
          </a:p>
          <a:p>
            <a:pPr algn="l">
              <a:lnSpc>
                <a:spcPct val="100000"/>
              </a:lnSpc>
            </a:pPr>
            <a:r>
              <a:rPr sz="800" b="0" i="0">
                <a:solidFill>
                  <a:srgbClr val="ECE7DC"/>
                </a:solidFill>
                <a:latin typeface="Consolas"/>
              </a:rPr>
              <a:t>    │   ├── test_status_vocabulary.py</a:t>
            </a:r>
          </a:p>
          <a:p>
            <a:pPr algn="l">
              <a:lnSpc>
                <a:spcPct val="100000"/>
              </a:lnSpc>
            </a:pPr>
            <a:r>
              <a:rPr sz="800" b="0" i="0">
                <a:solidFill>
                  <a:srgbClr val="ECE7DC"/>
                </a:solidFill>
                <a:latin typeface="Consolas"/>
              </a:rPr>
              <a:t>    │   ├── test_step_by_step_mode.py</a:t>
            </a:r>
          </a:p>
          <a:p>
            <a:pPr algn="l">
              <a:lnSpc>
                <a:spcPct val="100000"/>
              </a:lnSpc>
            </a:pPr>
            <a:r>
              <a:rPr sz="800" b="0" i="0">
                <a:solidFill>
                  <a:srgbClr val="ECE7DC"/>
                </a:solidFill>
                <a:latin typeface="Consolas"/>
              </a:rPr>
              <a:t>    │   ├── test_stm32er_agent.py</a:t>
            </a:r>
          </a:p>
          <a:p>
            <a:pPr algn="l">
              <a:lnSpc>
                <a:spcPct val="100000"/>
              </a:lnSpc>
            </a:pPr>
            <a:r>
              <a:rPr sz="800" b="0" i="0">
                <a:solidFill>
                  <a:srgbClr val="ECE7DC"/>
                </a:solidFill>
                <a:latin typeface="Consolas"/>
              </a:rPr>
              <a:t>    │   ├── test_talker_agent.py</a:t>
            </a:r>
          </a:p>
          <a:p>
            <a:pPr algn="l">
              <a:lnSpc>
                <a:spcPct val="100000"/>
              </a:lnSpc>
            </a:pPr>
            <a:r>
              <a:rPr sz="800" b="0" i="0">
                <a:solidFill>
                  <a:srgbClr val="ECE7DC"/>
                </a:solidFill>
                <a:latin typeface="Consolas"/>
              </a:rPr>
              <a:t>    │   ├── test_telegrammer_identity.py</a:t>
            </a:r>
          </a:p>
          <a:p>
            <a:pPr algn="l">
              <a:lnSpc>
                <a:spcPct val="100000"/>
              </a:lnSpc>
            </a:pPr>
            <a:r>
              <a:rPr sz="800" b="0" i="0">
                <a:solidFill>
                  <a:srgbClr val="ECE7DC"/>
                </a:solidFill>
                <a:latin typeface="Consolas"/>
              </a:rPr>
              <a:t>    │   ├── test_temp_dir_policy.py</a:t>
            </a:r>
          </a:p>
          <a:p>
            <a:pPr algn="l">
              <a:lnSpc>
                <a:spcPct val="100000"/>
              </a:lnSpc>
            </a:pPr>
            <a:r>
              <a:rPr sz="800" b="0" i="0">
                <a:solidFill>
                  <a:srgbClr val="ECE7DC"/>
                </a:solidFill>
                <a:latin typeface="Consolas"/>
              </a:rPr>
              <a:t>    │   ├── test_terminater_agent.py</a:t>
            </a:r>
          </a:p>
          <a:p>
            <a:pPr algn="l">
              <a:lnSpc>
                <a:spcPct val="100000"/>
              </a:lnSpc>
            </a:pPr>
            <a:r>
              <a:rPr sz="800" b="0" i="0">
                <a:solidFill>
                  <a:srgbClr val="ECE7DC"/>
                </a:solidFill>
                <a:latin typeface="Consolas"/>
              </a:rPr>
              <a:t>    │   ├── test_terminater_engine.py</a:t>
            </a:r>
          </a:p>
          <a:p>
            <a:pPr algn="l">
              <a:lnSpc>
                <a:spcPct val="100000"/>
              </a:lnSpc>
            </a:pPr>
            <a:r>
              <a:rPr sz="800" b="0" i="0">
                <a:solidFill>
                  <a:srgbClr val="ECE7DC"/>
                </a:solidFill>
                <a:latin typeface="Consolas"/>
              </a:rPr>
              <a:t>    │   ├── test_terminater_hub_api.py</a:t>
            </a:r>
          </a:p>
          <a:p>
            <a:pPr algn="l">
              <a:lnSpc>
                <a:spcPct val="100000"/>
              </a:lnSpc>
            </a:pPr>
            <a:r>
              <a:rPr sz="800" b="0" i="0">
                <a:solidFill>
                  <a:srgbClr val="ECE7DC"/>
                </a:solidFill>
                <a:latin typeface="Consolas"/>
              </a:rPr>
              <a:t>    │   ├── test_terminater_integration.py</a:t>
            </a:r>
          </a:p>
          <a:p>
            <a:pPr algn="l">
              <a:lnSpc>
                <a:spcPct val="100000"/>
              </a:lnSpc>
            </a:pPr>
            <a:r>
              <a:rPr sz="800" b="0" i="0">
                <a:solidFill>
                  <a:srgbClr val="ECE7DC"/>
                </a:solidFill>
                <a:latin typeface="Consolas"/>
              </a:rPr>
              <a:t>    │   ├── test_terminater_pfp.py</a:t>
            </a:r>
          </a:p>
          <a:p>
            <a:pPr algn="l">
              <a:lnSpc>
                <a:spcPct val="100000"/>
              </a:lnSpc>
            </a:pPr>
            <a:r>
              <a:rPr sz="800" b="0" i="0">
                <a:solidFill>
                  <a:srgbClr val="ECE7DC"/>
                </a:solidFill>
                <a:latin typeface="Consolas"/>
              </a:rPr>
              <a:t>    │   ├── test_terminater_regressions.py</a:t>
            </a:r>
          </a:p>
          <a:p>
            <a:pPr algn="l">
              <a:lnSpc>
                <a:spcPct val="100000"/>
              </a:lnSpc>
            </a:pPr>
            <a:r>
              <a:rPr sz="800" b="0" i="0">
                <a:solidFill>
                  <a:srgbClr val="ECE7DC"/>
                </a:solidFill>
                <a:latin typeface="Consolas"/>
              </a:rPr>
              <a:t>    │   ├── test_terminater_reliability.py</a:t>
            </a:r>
          </a:p>
          <a:p>
            <a:pPr algn="l">
              <a:lnSpc>
                <a:spcPct val="100000"/>
              </a:lnSpc>
            </a:pPr>
            <a:r>
              <a:rPr sz="800" b="0" i="0">
                <a:solidFill>
                  <a:srgbClr val="ECE7DC"/>
                </a:solidFill>
                <a:latin typeface="Consolas"/>
              </a:rPr>
              <a:t>    │   ├── test_terminater_text.py</a:t>
            </a:r>
          </a:p>
          <a:p>
            <a:pPr algn="l">
              <a:lnSpc>
                <a:spcPct val="100000"/>
              </a:lnSpc>
            </a:pPr>
            <a:r>
              <a:rPr sz="800" b="0" i="0">
                <a:solidFill>
                  <a:srgbClr val="ECE7DC"/>
                </a:solidFill>
                <a:latin typeface="Consolas"/>
              </a:rPr>
              <a:t>    │   ├── test_tool_failure_recovery.py</a:t>
            </a:r>
          </a:p>
          <a:p>
            <a:pPr algn="l">
              <a:lnSpc>
                <a:spcPct val="100000"/>
              </a:lnSpc>
            </a:pPr>
            <a:r>
              <a:rPr sz="800" b="0" i="0">
                <a:solidFill>
                  <a:srgbClr val="ECE7DC"/>
                </a:solidFill>
                <a:latin typeface="Consolas"/>
              </a:rPr>
              <a:t>    │   ├── test_uninstall_processes.py</a:t>
            </a:r>
          </a:p>
          <a:p>
            <a:pPr algn="l">
              <a:lnSpc>
                <a:spcPct val="100000"/>
              </a:lnSpc>
            </a:pPr>
            <a:r>
              <a:rPr sz="800" b="0" i="0">
                <a:solidFill>
                  <a:srgbClr val="ECE7DC"/>
                </a:solidFill>
                <a:latin typeface="Consolas"/>
              </a:rPr>
              <a:t>    │   ├── test_uninstaller_lifecycle.py</a:t>
            </a:r>
          </a:p>
          <a:p>
            <a:pPr algn="l">
              <a:lnSpc>
                <a:spcPct val="100000"/>
              </a:lnSpc>
            </a:pPr>
            <a:r>
              <a:rPr sz="800" b="0" i="0">
                <a:solidFill>
                  <a:srgbClr val="ECE7DC"/>
                </a:solidFill>
                <a:latin typeface="Consolas"/>
              </a:rPr>
              <a:t>    │   ├── test_uninstaller_mechanics.py</a:t>
            </a:r>
          </a:p>
          <a:p>
            <a:pPr algn="l">
              <a:lnSpc>
                <a:spcPct val="100000"/>
              </a:lnSpc>
            </a:pPr>
            <a:r>
              <a:rPr sz="800" b="0" i="0">
                <a:solidFill>
                  <a:srgbClr val="ECE7DC"/>
                </a:solidFill>
                <a:latin typeface="Consolas"/>
              </a:rPr>
              <a:t>    │   ├── test_unrealer_agent.py</a:t>
            </a:r>
          </a:p>
          <a:p>
            <a:pPr algn="l">
              <a:lnSpc>
                <a:spcPct val="100000"/>
              </a:lnSpc>
            </a:pPr>
            <a:r>
              <a:rPr sz="800" b="0" i="0">
                <a:solidFill>
                  <a:srgbClr val="ECE7DC"/>
                </a:solidFill>
                <a:latin typeface="Consolas"/>
              </a:rPr>
              <a:t>    │   ├── test_usage.py</a:t>
            </a:r>
          </a:p>
          <a:p>
            <a:pPr algn="l">
              <a:lnSpc>
                <a:spcPct val="100000"/>
              </a:lnSpc>
            </a:pPr>
            <a:r>
              <a:rPr sz="800" b="0" i="0">
                <a:solidFill>
                  <a:srgbClr val="ECE7DC"/>
                </a:solidFill>
                <a:latin typeface="Consolas"/>
              </a:rPr>
              <a:t>    │   ├── test_version_guard.py</a:t>
            </a:r>
          </a:p>
          <a:p>
            <a:pPr algn="l">
              <a:lnSpc>
                <a:spcPct val="100000"/>
              </a:lnSpc>
            </a:pPr>
            <a:r>
              <a:rPr sz="800" b="0" i="0">
                <a:solidFill>
                  <a:srgbClr val="ECE7DC"/>
                </a:solidFill>
                <a:latin typeface="Consolas"/>
              </a:rPr>
              <a:t>    │   ├── test_video_analyzer_agent.py</a:t>
            </a:r>
          </a:p>
          <a:p>
            <a:pPr algn="l">
              <a:lnSpc>
                <a:spcPct val="100000"/>
              </a:lnSpc>
            </a:pPr>
            <a:r>
              <a:rPr sz="800" b="0" i="0">
                <a:solidFill>
                  <a:srgbClr val="ECE7DC"/>
                </a:solidFill>
                <a:latin typeface="Consolas"/>
              </a:rPr>
              <a:t>    │   ├── test_video_analyzer_content.py</a:t>
            </a:r>
          </a:p>
          <a:p>
            <a:pPr algn="l">
              <a:lnSpc>
                <a:spcPct val="100000"/>
              </a:lnSpc>
            </a:pPr>
            <a:r>
              <a:rPr sz="800" b="0" i="0">
                <a:solidFill>
                  <a:srgbClr val="ECE7DC"/>
                </a:solidFill>
                <a:latin typeface="Consolas"/>
              </a:rPr>
              <a:t>    │   ├── test_video_analyzer_fetch.py</a:t>
            </a:r>
          </a:p>
          <a:p>
            <a:pPr algn="l">
              <a:lnSpc>
                <a:spcPct val="100000"/>
              </a:lnSpc>
            </a:pPr>
            <a:r>
              <a:rPr sz="800" b="0" i="0">
                <a:solidFill>
                  <a:srgbClr val="ECE7DC"/>
                </a:solidFill>
                <a:latin typeface="Consolas"/>
              </a:rPr>
              <a:t>    │   ├── test_videoplayer_agent.py</a:t>
            </a:r>
          </a:p>
          <a:p>
            <a:pPr algn="l">
              <a:lnSpc>
                <a:spcPct val="100000"/>
              </a:lnSpc>
            </a:pPr>
            <a:r>
              <a:rPr sz="800" b="0" i="0">
                <a:solidFill>
                  <a:srgbClr val="ECE7DC"/>
                </a:solidFill>
                <a:latin typeface="Consolas"/>
              </a:rPr>
              <a:t>    │   ├── test_visual_fatal_errors.py</a:t>
            </a:r>
          </a:p>
        </p:txBody>
      </p:sp>
      <p:cxnSp>
        <p:nvCxnSpPr>
          <p:cNvPr id="8" name="Connector 7"/>
          <p:cNvCxnSpPr/>
          <p:nvPr/>
        </p:nvCxnSpPr>
        <p:spPr>
          <a:xfrm>
            <a:off x="566928" y="6373368"/>
            <a:ext cx="11057839" cy="0"/>
          </a:xfrm>
          <a:prstGeom prst="line">
            <a:avLst/>
          </a:prstGeom>
          <a:ln w="7620">
            <a:solidFill>
              <a:srgbClr val="2A3A40"/>
            </a:solidFill>
          </a:ln>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566928" y="6419088"/>
            <a:ext cx="6858000" cy="274320"/>
          </a:xfrm>
          <a:prstGeom prst="rect">
            <a:avLst/>
          </a:prstGeom>
          <a:noFill/>
        </p:spPr>
        <p:txBody>
          <a:bodyPr wrap="square" lIns="45720" rIns="45720" tIns="27432" bIns="27432" anchor="t">
            <a:noAutofit/>
          </a:bodyPr>
          <a:lstStyle/>
          <a:p>
            <a:pPr algn="l">
              <a:lnSpc>
                <a:spcPct val="100000"/>
              </a:lnSpc>
            </a:pPr>
            <a:r>
              <a:rPr sz="850" b="0" i="0" spc="120">
                <a:solidFill>
                  <a:srgbClr val="A7B2B0"/>
                </a:solidFill>
                <a:latin typeface="Segoe UI Semibold"/>
              </a:rPr>
              <a:t>TLAMATINI  ·  APÉNDICE A · ÁRBOL DE ARCHIVOS</a:t>
            </a:r>
          </a:p>
        </p:txBody>
      </p:sp>
      <p:sp>
        <p:nvSpPr>
          <p:cNvPr id="10" name="TextBox 9"/>
          <p:cNvSpPr txBox="1"/>
          <p:nvPr/>
        </p:nvSpPr>
        <p:spPr>
          <a:xfrm>
            <a:off x="8698687" y="6419088"/>
            <a:ext cx="2926080" cy="274320"/>
          </a:xfrm>
          <a:prstGeom prst="rect">
            <a:avLst/>
          </a:prstGeom>
          <a:noFill/>
        </p:spPr>
        <p:txBody>
          <a:bodyPr wrap="square" lIns="45720" rIns="45720" tIns="27432" bIns="27432" anchor="t">
            <a:noAutofit/>
          </a:bodyPr>
          <a:lstStyle/>
          <a:p>
            <a:pPr algn="r">
              <a:lnSpc>
                <a:spcPct val="100000"/>
              </a:lnSpc>
            </a:pPr>
            <a:r>
              <a:rPr sz="850" b="0" i="0" spc="100">
                <a:solidFill>
                  <a:srgbClr val="A7B2B0"/>
                </a:solidFill>
                <a:latin typeface="Segoe UI Semibold"/>
              </a:rPr>
              <a:t>v1.91.1   ·   184</a:t>
            </a:r>
          </a:p>
        </p:txBody>
      </p:sp>
    </p:spTree>
  </p:cSld>
  <p:clrMapOvr>
    <a:masterClrMapping/>
  </p:clrMapOvr>
</p:sld>
</file>

<file path=ppt/slides/slide18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appendix.png"/>
          <p:cNvPicPr>
            <a:picLocks noChangeAspect="1"/>
          </p:cNvPicPr>
          <p:nvPr/>
        </p:nvPicPr>
        <p:blipFill>
          <a:blip r:embed="rId2"/>
          <a:stretch>
            <a:fillRect/>
          </a:stretch>
        </p:blipFill>
        <p:spPr>
          <a:xfrm>
            <a:off x="0" y="0"/>
            <a:ext cx="12191695" cy="6858000"/>
          </a:xfrm>
          <a:prstGeom prst="rect">
            <a:avLst/>
          </a:prstGeom>
        </p:spPr>
      </p:pic>
      <p:sp>
        <p:nvSpPr>
          <p:cNvPr id="3" name="TextBox 2"/>
          <p:cNvSpPr txBox="1"/>
          <p:nvPr/>
        </p:nvSpPr>
        <p:spPr>
          <a:xfrm>
            <a:off x="566928" y="384048"/>
            <a:ext cx="8686800" cy="329184"/>
          </a:xfrm>
          <a:prstGeom prst="rect">
            <a:avLst/>
          </a:prstGeom>
          <a:noFill/>
        </p:spPr>
        <p:txBody>
          <a:bodyPr wrap="square" lIns="45720" rIns="45720" tIns="27432" bIns="27432" anchor="t">
            <a:noAutofit/>
          </a:bodyPr>
          <a:lstStyle/>
          <a:p>
            <a:pPr algn="l">
              <a:lnSpc>
                <a:spcPct val="100000"/>
              </a:lnSpc>
            </a:pPr>
            <a:r>
              <a:rPr sz="1100" b="0" i="0" spc="200">
                <a:solidFill>
                  <a:srgbClr val="C98457"/>
                </a:solidFill>
                <a:latin typeface="Segoe UI Semibold"/>
              </a:rPr>
              <a:t>APÉNDICE A  ·  ÁRBOL DE ARCHIVOS DE LA APLICACIÓN  ·  11 / 20</a:t>
            </a:r>
          </a:p>
        </p:txBody>
      </p:sp>
      <p:sp>
        <p:nvSpPr>
          <p:cNvPr id="4" name="TextBox 3"/>
          <p:cNvSpPr txBox="1"/>
          <p:nvPr/>
        </p:nvSpPr>
        <p:spPr>
          <a:xfrm>
            <a:off x="566928" y="731520"/>
            <a:ext cx="11057839" cy="384048"/>
          </a:xfrm>
          <a:prstGeom prst="rect">
            <a:avLst/>
          </a:prstGeom>
          <a:noFill/>
        </p:spPr>
        <p:txBody>
          <a:bodyPr wrap="square" lIns="45720" rIns="45720" tIns="27432" bIns="27432" anchor="t">
            <a:noAutofit/>
          </a:bodyPr>
          <a:lstStyle/>
          <a:p>
            <a:pPr algn="l">
              <a:lnSpc>
                <a:spcPct val="100000"/>
              </a:lnSpc>
            </a:pPr>
            <a:r>
              <a:rPr sz="1300" b="0" i="0">
                <a:solidFill>
                  <a:srgbClr val="A7B2B0"/>
                </a:solidFill>
                <a:latin typeface="Segoe UI"/>
              </a:rPr>
              <a:t>1,898 archivos listados en el commit 21b0a5c; 221 archivos de la historia de la base de datos resumidos.</a:t>
            </a:r>
          </a:p>
        </p:txBody>
      </p:sp>
      <p:sp>
        <p:nvSpPr>
          <p:cNvPr id="5" name="TextBox 4"/>
          <p:cNvSpPr txBox="1"/>
          <p:nvPr/>
        </p:nvSpPr>
        <p:spPr>
          <a:xfrm>
            <a:off x="566928" y="1170432"/>
            <a:ext cx="3515258" cy="5084064"/>
          </a:xfrm>
          <a:prstGeom prst="rect">
            <a:avLst/>
          </a:prstGeom>
          <a:noFill/>
        </p:spPr>
        <p:txBody>
          <a:bodyPr wrap="none" lIns="45720" rIns="45720" tIns="27432" bIns="27432" anchor="t">
            <a:noAutofit/>
          </a:bodyPr>
          <a:lstStyle/>
          <a:p>
            <a:pPr algn="l">
              <a:lnSpc>
                <a:spcPct val="100000"/>
              </a:lnSpc>
            </a:pPr>
            <a:r>
              <a:rPr sz="800" b="0" i="0">
                <a:solidFill>
                  <a:srgbClr val="ECE7DC"/>
                </a:solidFill>
                <a:latin typeface="Consolas"/>
              </a:rPr>
              <a:t>    │   ├── test_voice_commands_catalog.py</a:t>
            </a:r>
          </a:p>
          <a:p>
            <a:pPr algn="l">
              <a:lnSpc>
                <a:spcPct val="100000"/>
              </a:lnSpc>
            </a:pPr>
            <a:r>
              <a:rPr sz="800" b="0" i="0">
                <a:solidFill>
                  <a:srgbClr val="ECE7DC"/>
                </a:solidFill>
                <a:latin typeface="Consolas"/>
              </a:rPr>
              <a:t>    │   ├── test_watchdog_foreground_exemption.py</a:t>
            </a:r>
          </a:p>
          <a:p>
            <a:pPr algn="l">
              <a:lnSpc>
                <a:spcPct val="100000"/>
              </a:lnSpc>
            </a:pPr>
            <a:r>
              <a:rPr sz="800" b="0" i="0">
                <a:solidFill>
                  <a:srgbClr val="ECE7DC"/>
                </a:solidFill>
                <a:latin typeface="Consolas"/>
              </a:rPr>
              <a:t>    │   ├── test_web_process_stays_lean.py</a:t>
            </a:r>
          </a:p>
          <a:p>
            <a:pPr algn="l">
              <a:lnSpc>
                <a:spcPct val="100000"/>
              </a:lnSpc>
            </a:pPr>
            <a:r>
              <a:rPr sz="800" b="0" i="0">
                <a:solidFill>
                  <a:srgbClr val="ECE7DC"/>
                </a:solidFill>
                <a:latin typeface="Consolas"/>
              </a:rPr>
              <a:t>    │   ├── test_whatsapper_identity.py</a:t>
            </a:r>
          </a:p>
          <a:p>
            <a:pPr algn="l">
              <a:lnSpc>
                <a:spcPct val="100000"/>
              </a:lnSpc>
            </a:pPr>
            <a:r>
              <a:rPr sz="800" b="0" i="0">
                <a:solidFill>
                  <a:srgbClr val="ECE7DC"/>
                </a:solidFill>
                <a:latin typeface="Consolas"/>
              </a:rPr>
              <a:t>    │   ├── test_whisperer_agent.py</a:t>
            </a:r>
          </a:p>
          <a:p>
            <a:pPr algn="l">
              <a:lnSpc>
                <a:spcPct val="100000"/>
              </a:lnSpc>
            </a:pPr>
            <a:r>
              <a:rPr sz="800" b="0" i="0">
                <a:solidFill>
                  <a:srgbClr val="ECE7DC"/>
                </a:solidFill>
                <a:latin typeface="Consolas"/>
              </a:rPr>
              <a:t>    │   ├── test_win_shim.py</a:t>
            </a:r>
          </a:p>
          <a:p>
            <a:pPr algn="l">
              <a:lnSpc>
                <a:spcPct val="100000"/>
              </a:lnSpc>
            </a:pPr>
            <a:r>
              <a:rPr sz="800" b="0" i="0">
                <a:solidFill>
                  <a:srgbClr val="ECE7DC"/>
                </a:solidFill>
                <a:latin typeface="Consolas"/>
              </a:rPr>
              <a:t>    │   ├── test_windower_agent.py</a:t>
            </a:r>
          </a:p>
          <a:p>
            <a:pPr algn="l">
              <a:lnSpc>
                <a:spcPct val="100000"/>
              </a:lnSpc>
            </a:pPr>
            <a:r>
              <a:rPr sz="800" b="0" i="0">
                <a:solidFill>
                  <a:srgbClr val="ECE7DC"/>
                </a:solidFill>
                <a:latin typeface="Consolas"/>
              </a:rPr>
              <a:t>    │   ├── test_windows_app_registration.py</a:t>
            </a:r>
          </a:p>
          <a:p>
            <a:pPr algn="l">
              <a:lnSpc>
                <a:spcPct val="100000"/>
              </a:lnSpc>
            </a:pPr>
            <a:r>
              <a:rPr sz="800" b="0" i="0">
                <a:solidFill>
                  <a:srgbClr val="ECE7DC"/>
                </a:solidFill>
                <a:latin typeface="Consolas"/>
              </a:rPr>
              <a:t>    │   ├── test_wizard_intent_guards.py</a:t>
            </a:r>
          </a:p>
          <a:p>
            <a:pPr algn="l">
              <a:lnSpc>
                <a:spcPct val="100000"/>
              </a:lnSpc>
            </a:pPr>
            <a:r>
              <a:rPr sz="800" b="0" i="0">
                <a:solidFill>
                  <a:srgbClr val="ECE7DC"/>
                </a:solidFill>
                <a:latin typeface="Consolas"/>
              </a:rPr>
              <a:t>    │   ├── tests.py</a:t>
            </a:r>
          </a:p>
          <a:p>
            <a:pPr algn="l">
              <a:lnSpc>
                <a:spcPct val="100000"/>
              </a:lnSpc>
            </a:pPr>
            <a:r>
              <a:rPr sz="800" b="0" i="0">
                <a:solidFill>
                  <a:srgbClr val="ECE7DC"/>
                </a:solidFill>
                <a:latin typeface="Consolas"/>
              </a:rPr>
              <a:t>    │   ├── tests_perf_3x.py</a:t>
            </a:r>
          </a:p>
          <a:p>
            <a:pPr algn="l">
              <a:lnSpc>
                <a:spcPct val="100000"/>
              </a:lnSpc>
            </a:pPr>
            <a:r>
              <a:rPr sz="800" b="0" i="0">
                <a:solidFill>
                  <a:srgbClr val="ECE7DC"/>
                </a:solidFill>
                <a:latin typeface="Consolas"/>
              </a:rPr>
              <a:t>    │   ├── Tlamatini.md</a:t>
            </a:r>
          </a:p>
          <a:p>
            <a:pPr algn="l">
              <a:lnSpc>
                <a:spcPct val="100000"/>
              </a:lnSpc>
            </a:pPr>
            <a:r>
              <a:rPr sz="800" b="0" i="0">
                <a:solidFill>
                  <a:srgbClr val="ECE7DC"/>
                </a:solidFill>
                <a:latin typeface="Consolas"/>
              </a:rPr>
              <a:t>    │   ├── tools.py</a:t>
            </a:r>
          </a:p>
          <a:p>
            <a:pPr algn="l">
              <a:lnSpc>
                <a:spcPct val="100000"/>
              </a:lnSpc>
            </a:pPr>
            <a:r>
              <a:rPr sz="800" b="0" i="0">
                <a:solidFill>
                  <a:srgbClr val="ECE7DC"/>
                </a:solidFill>
                <a:latin typeface="Consolas"/>
              </a:rPr>
              <a:t>    │   ├── urls.py</a:t>
            </a:r>
          </a:p>
          <a:p>
            <a:pPr algn="l">
              <a:lnSpc>
                <a:spcPct val="100000"/>
              </a:lnSpc>
            </a:pPr>
            <a:r>
              <a:rPr sz="800" b="0" i="0">
                <a:solidFill>
                  <a:srgbClr val="ECE7DC"/>
                </a:solidFill>
                <a:latin typeface="Consolas"/>
              </a:rPr>
              <a:t>    │   ├── usage_provider.py</a:t>
            </a:r>
          </a:p>
          <a:p>
            <a:pPr algn="l">
              <a:lnSpc>
                <a:spcPct val="100000"/>
              </a:lnSpc>
            </a:pPr>
            <a:r>
              <a:rPr sz="800" b="0" i="0">
                <a:solidFill>
                  <a:srgbClr val="ECE7DC"/>
                </a:solidFill>
                <a:latin typeface="Consolas"/>
              </a:rPr>
              <a:t>    │   ├── usage_tracking.py</a:t>
            </a:r>
          </a:p>
          <a:p>
            <a:pPr algn="l">
              <a:lnSpc>
                <a:spcPct val="100000"/>
              </a:lnSpc>
            </a:pPr>
            <a:r>
              <a:rPr sz="800" b="0" i="0">
                <a:solidFill>
                  <a:srgbClr val="ECE7DC"/>
                </a:solidFill>
                <a:latin typeface="Consolas"/>
              </a:rPr>
              <a:t>    │   ├── usage_views.py</a:t>
            </a:r>
          </a:p>
          <a:p>
            <a:pPr algn="l">
              <a:lnSpc>
                <a:spcPct val="100000"/>
              </a:lnSpc>
            </a:pPr>
            <a:r>
              <a:rPr sz="800" b="0" i="0">
                <a:solidFill>
                  <a:srgbClr val="ECE7DC"/>
                </a:solidFill>
                <a:latin typeface="Consolas"/>
              </a:rPr>
              <a:t>    │   ├── version.py</a:t>
            </a:r>
          </a:p>
          <a:p>
            <a:pPr algn="l">
              <a:lnSpc>
                <a:spcPct val="100000"/>
              </a:lnSpc>
            </a:pPr>
            <a:r>
              <a:rPr sz="800" b="0" i="0">
                <a:solidFill>
                  <a:srgbClr val="ECE7DC"/>
                </a:solidFill>
                <a:latin typeface="Consolas"/>
              </a:rPr>
              <a:t>    │   ├── views.py</a:t>
            </a:r>
          </a:p>
          <a:p>
            <a:pPr algn="l">
              <a:lnSpc>
                <a:spcPct val="100000"/>
              </a:lnSpc>
            </a:pPr>
            <a:r>
              <a:rPr sz="800" b="0" i="0">
                <a:solidFill>
                  <a:srgbClr val="ECE7DC"/>
                </a:solidFill>
                <a:latin typeface="Consolas"/>
              </a:rPr>
              <a:t>    │   ├── visual_error_reporting.py</a:t>
            </a:r>
          </a:p>
          <a:p>
            <a:pPr algn="l">
              <a:lnSpc>
                <a:spcPct val="100000"/>
              </a:lnSpc>
            </a:pPr>
            <a:r>
              <a:rPr sz="800" b="0" i="0">
                <a:solidFill>
                  <a:srgbClr val="ECE7DC"/>
                </a:solidFill>
                <a:latin typeface="Consolas"/>
              </a:rPr>
              <a:t>    │   ├── web_search_llm.py</a:t>
            </a:r>
          </a:p>
          <a:p>
            <a:pPr algn="l">
              <a:lnSpc>
                <a:spcPct val="100000"/>
              </a:lnSpc>
            </a:pPr>
            <a:r>
              <a:rPr sz="800" b="0" i="0">
                <a:solidFill>
                  <a:srgbClr val="ECE7DC"/>
                </a:solidFill>
                <a:latin typeface="Consolas"/>
              </a:rPr>
              <a:t>    │   ├── win_shim.py</a:t>
            </a:r>
          </a:p>
          <a:p>
            <a:pPr algn="l">
              <a:lnSpc>
                <a:spcPct val="100000"/>
              </a:lnSpc>
            </a:pPr>
            <a:r>
              <a:rPr sz="800" b="0" i="0">
                <a:solidFill>
                  <a:srgbClr val="ECE7DC"/>
                </a:solidFill>
                <a:latin typeface="Consolas"/>
              </a:rPr>
              <a:t>    │   ├── window_flash.py</a:t>
            </a:r>
          </a:p>
          <a:p>
            <a:pPr algn="l">
              <a:lnSpc>
                <a:spcPct val="100000"/>
              </a:lnSpc>
            </a:pPr>
            <a:r>
              <a:rPr sz="800" b="0" i="0">
                <a:solidFill>
                  <a:srgbClr val="ECE7DC"/>
                </a:solidFill>
                <a:latin typeface="Consolas"/>
              </a:rPr>
              <a:t>    │   ├── windows_app_registration.py</a:t>
            </a:r>
          </a:p>
          <a:p>
            <a:pPr algn="l">
              <a:lnSpc>
                <a:spcPct val="100000"/>
              </a:lnSpc>
            </a:pPr>
            <a:r>
              <a:rPr sz="800" b="0" i="0">
                <a:solidFill>
                  <a:srgbClr val="3BBE93"/>
                </a:solidFill>
                <a:latin typeface="Consolas"/>
              </a:rPr>
              <a:t>    │   ├── acpx/</a:t>
            </a:r>
          </a:p>
          <a:p>
            <a:pPr algn="l">
              <a:lnSpc>
                <a:spcPct val="100000"/>
              </a:lnSpc>
            </a:pPr>
            <a:r>
              <a:rPr sz="800" b="0" i="0">
                <a:solidFill>
                  <a:srgbClr val="ECE7DC"/>
                </a:solidFill>
                <a:latin typeface="Consolas"/>
              </a:rPr>
              <a:t>    │   │   ├── __init__.py</a:t>
            </a:r>
          </a:p>
          <a:p>
            <a:pPr algn="l">
              <a:lnSpc>
                <a:spcPct val="100000"/>
              </a:lnSpc>
            </a:pPr>
            <a:r>
              <a:rPr sz="800" b="0" i="0">
                <a:solidFill>
                  <a:srgbClr val="ECE7DC"/>
                </a:solidFill>
                <a:latin typeface="Consolas"/>
              </a:rPr>
              <a:t>    │   │   ├── agent_registry.py</a:t>
            </a:r>
          </a:p>
          <a:p>
            <a:pPr algn="l">
              <a:lnSpc>
                <a:spcPct val="100000"/>
              </a:lnSpc>
            </a:pPr>
            <a:r>
              <a:rPr sz="800" b="0" i="0">
                <a:solidFill>
                  <a:srgbClr val="ECE7DC"/>
                </a:solidFill>
                <a:latin typeface="Consolas"/>
              </a:rPr>
              <a:t>    │   │   ├── child_health.py</a:t>
            </a:r>
          </a:p>
          <a:p>
            <a:pPr algn="l">
              <a:lnSpc>
                <a:spcPct val="100000"/>
              </a:lnSpc>
            </a:pPr>
            <a:r>
              <a:rPr sz="800" b="0" i="0">
                <a:solidFill>
                  <a:srgbClr val="ECE7DC"/>
                </a:solidFill>
                <a:latin typeface="Consolas"/>
              </a:rPr>
              <a:t>    │   │   ├── config.py</a:t>
            </a:r>
          </a:p>
          <a:p>
            <a:pPr algn="l">
              <a:lnSpc>
                <a:spcPct val="100000"/>
              </a:lnSpc>
            </a:pPr>
            <a:r>
              <a:rPr sz="800" b="0" i="0">
                <a:solidFill>
                  <a:srgbClr val="ECE7DC"/>
                </a:solidFill>
                <a:latin typeface="Consolas"/>
              </a:rPr>
              <a:t>    │   │   ├── permissions.py</a:t>
            </a:r>
          </a:p>
          <a:p>
            <a:pPr algn="l">
              <a:lnSpc>
                <a:spcPct val="100000"/>
              </a:lnSpc>
            </a:pPr>
            <a:r>
              <a:rPr sz="800" b="0" i="0">
                <a:solidFill>
                  <a:srgbClr val="ECE7DC"/>
                </a:solidFill>
                <a:latin typeface="Consolas"/>
              </a:rPr>
              <a:t>    │   │   ├── runtime.py</a:t>
            </a:r>
          </a:p>
          <a:p>
            <a:pPr algn="l">
              <a:lnSpc>
                <a:spcPct val="100000"/>
              </a:lnSpc>
            </a:pPr>
            <a:r>
              <a:rPr sz="800" b="0" i="0">
                <a:solidFill>
                  <a:srgbClr val="ECE7DC"/>
                </a:solidFill>
                <a:latin typeface="Consolas"/>
              </a:rPr>
              <a:t>    │   │   ├── service.py</a:t>
            </a:r>
          </a:p>
          <a:p>
            <a:pPr algn="l">
              <a:lnSpc>
                <a:spcPct val="100000"/>
              </a:lnSpc>
            </a:pPr>
            <a:r>
              <a:rPr sz="800" b="0" i="0">
                <a:solidFill>
                  <a:srgbClr val="ECE7DC"/>
                </a:solidFill>
                <a:latin typeface="Consolas"/>
              </a:rPr>
              <a:t>    │   │   ├── session_store.py</a:t>
            </a:r>
          </a:p>
          <a:p>
            <a:pPr algn="l">
              <a:lnSpc>
                <a:spcPct val="100000"/>
              </a:lnSpc>
            </a:pPr>
            <a:r>
              <a:rPr sz="800" b="0" i="0">
                <a:solidFill>
                  <a:srgbClr val="ECE7DC"/>
                </a:solidFill>
                <a:latin typeface="Consolas"/>
              </a:rPr>
              <a:t>    │   │   ├── tests.py</a:t>
            </a:r>
          </a:p>
          <a:p>
            <a:pPr algn="l">
              <a:lnSpc>
                <a:spcPct val="100000"/>
              </a:lnSpc>
            </a:pPr>
            <a:r>
              <a:rPr sz="800" b="0" i="0">
                <a:solidFill>
                  <a:srgbClr val="ECE7DC"/>
                </a:solidFill>
                <a:latin typeface="Consolas"/>
              </a:rPr>
              <a:t>    │   │   ├── tools.py</a:t>
            </a:r>
          </a:p>
          <a:p>
            <a:pPr algn="l">
              <a:lnSpc>
                <a:spcPct val="100000"/>
              </a:lnSpc>
            </a:pPr>
            <a:r>
              <a:rPr sz="800" b="0" i="0">
                <a:solidFill>
                  <a:srgbClr val="ECE7DC"/>
                </a:solidFill>
                <a:latin typeface="Consolas"/>
              </a:rPr>
              <a:t>    │   │   └── windows_spawn.py</a:t>
            </a:r>
          </a:p>
          <a:p>
            <a:pPr algn="l">
              <a:lnSpc>
                <a:spcPct val="100000"/>
              </a:lnSpc>
            </a:pPr>
            <a:r>
              <a:rPr sz="800" b="0" i="0">
                <a:solidFill>
                  <a:srgbClr val="3BBE93"/>
                </a:solidFill>
                <a:latin typeface="Consolas"/>
              </a:rPr>
              <a:t>    │   ├── agents/</a:t>
            </a:r>
          </a:p>
          <a:p>
            <a:pPr algn="l">
              <a:lnSpc>
                <a:spcPct val="100000"/>
              </a:lnSpc>
            </a:pPr>
            <a:r>
              <a:rPr sz="800" b="0" i="0">
                <a:solidFill>
                  <a:srgbClr val="ECE7DC"/>
                </a:solidFill>
                <a:latin typeface="Consolas"/>
              </a:rPr>
              <a:t>    │   │   ├── model_settings.py</a:t>
            </a:r>
          </a:p>
          <a:p>
            <a:pPr algn="l">
              <a:lnSpc>
                <a:spcPct val="100000"/>
              </a:lnSpc>
            </a:pPr>
            <a:r>
              <a:rPr sz="800" b="0" i="0">
                <a:solidFill>
                  <a:srgbClr val="ECE7DC"/>
                </a:solidFill>
                <a:latin typeface="Consolas"/>
              </a:rPr>
              <a:t>    │   │   ├── visual_errors.py</a:t>
            </a:r>
          </a:p>
          <a:p>
            <a:pPr algn="l">
              <a:lnSpc>
                <a:spcPct val="100000"/>
              </a:lnSpc>
            </a:pPr>
            <a:r>
              <a:rPr sz="800" b="0" i="0">
                <a:solidFill>
                  <a:srgbClr val="3BBE93"/>
                </a:solidFill>
                <a:latin typeface="Consolas"/>
              </a:rPr>
              <a:t>    │   │   ├── acpxer/</a:t>
            </a:r>
          </a:p>
          <a:p>
            <a:pPr algn="l">
              <a:lnSpc>
                <a:spcPct val="100000"/>
              </a:lnSpc>
            </a:pPr>
            <a:r>
              <a:rPr sz="800" b="0" i="0">
                <a:solidFill>
                  <a:srgbClr val="ECE7DC"/>
                </a:solidFill>
                <a:latin typeface="Consolas"/>
              </a:rPr>
              <a:t>    │   │   │   ├── acpxer.py</a:t>
            </a:r>
          </a:p>
        </p:txBody>
      </p:sp>
      <p:sp>
        <p:nvSpPr>
          <p:cNvPr id="6" name="TextBox 5"/>
          <p:cNvSpPr txBox="1"/>
          <p:nvPr/>
        </p:nvSpPr>
        <p:spPr>
          <a:xfrm>
            <a:off x="4338218" y="1170432"/>
            <a:ext cx="3515258" cy="5084064"/>
          </a:xfrm>
          <a:prstGeom prst="rect">
            <a:avLst/>
          </a:prstGeom>
          <a:noFill/>
        </p:spPr>
        <p:txBody>
          <a:bodyPr wrap="none" lIns="45720" rIns="45720" tIns="27432" bIns="27432" anchor="t">
            <a:noAutofit/>
          </a:bodyPr>
          <a:lstStyle/>
          <a:p>
            <a:pPr algn="l">
              <a:lnSpc>
                <a:spcPct val="100000"/>
              </a:lnSpc>
            </a:pPr>
            <a:r>
              <a:rPr sz="800" b="0" i="0">
                <a:solidFill>
                  <a:srgbClr val="ECE7DC"/>
                </a:solidFill>
                <a:latin typeface="Consolas"/>
              </a:rPr>
              <a:t>    │   │   │   └── config.yaml</a:t>
            </a:r>
          </a:p>
          <a:p>
            <a:pPr algn="l">
              <a:lnSpc>
                <a:spcPct val="100000"/>
              </a:lnSpc>
            </a:pPr>
            <a:r>
              <a:rPr sz="800" b="0" i="0">
                <a:solidFill>
                  <a:srgbClr val="3BBE93"/>
                </a:solidFill>
                <a:latin typeface="Consolas"/>
              </a:rPr>
              <a:t>    │   │   ├── analyzer/</a:t>
            </a:r>
          </a:p>
          <a:p>
            <a:pPr algn="l">
              <a:lnSpc>
                <a:spcPct val="100000"/>
              </a:lnSpc>
            </a:pPr>
            <a:r>
              <a:rPr sz="800" b="0" i="0">
                <a:solidFill>
                  <a:srgbClr val="ECE7DC"/>
                </a:solidFill>
                <a:latin typeface="Consolas"/>
              </a:rPr>
              <a:t>    │   │   │   ├── analyzer.py</a:t>
            </a:r>
          </a:p>
          <a:p>
            <a:pPr algn="l">
              <a:lnSpc>
                <a:spcPct val="100000"/>
              </a:lnSpc>
            </a:pPr>
            <a:r>
              <a:rPr sz="800" b="0" i="0">
                <a:solidFill>
                  <a:srgbClr val="ECE7DC"/>
                </a:solidFill>
                <a:latin typeface="Consolas"/>
              </a:rPr>
              <a:t>    │   │   │   └── config.yaml</a:t>
            </a:r>
          </a:p>
          <a:p>
            <a:pPr algn="l">
              <a:lnSpc>
                <a:spcPct val="100000"/>
              </a:lnSpc>
            </a:pPr>
            <a:r>
              <a:rPr sz="800" b="0" i="0">
                <a:solidFill>
                  <a:srgbClr val="3BBE93"/>
                </a:solidFill>
                <a:latin typeface="Consolas"/>
              </a:rPr>
              <a:t>    │   │   ├── and/</a:t>
            </a:r>
          </a:p>
          <a:p>
            <a:pPr algn="l">
              <a:lnSpc>
                <a:spcPct val="100000"/>
              </a:lnSpc>
            </a:pPr>
            <a:r>
              <a:rPr sz="800" b="0" i="0">
                <a:solidFill>
                  <a:srgbClr val="ECE7DC"/>
                </a:solidFill>
                <a:latin typeface="Consolas"/>
              </a:rPr>
              <a:t>    │   │   │   ├── and.py</a:t>
            </a:r>
          </a:p>
          <a:p>
            <a:pPr algn="l">
              <a:lnSpc>
                <a:spcPct val="100000"/>
              </a:lnSpc>
            </a:pPr>
            <a:r>
              <a:rPr sz="800" b="0" i="0">
                <a:solidFill>
                  <a:srgbClr val="ECE7DC"/>
                </a:solidFill>
                <a:latin typeface="Consolas"/>
              </a:rPr>
              <a:t>    │   │   │   └── config.yaml</a:t>
            </a:r>
          </a:p>
          <a:p>
            <a:pPr algn="l">
              <a:lnSpc>
                <a:spcPct val="100000"/>
              </a:lnSpc>
            </a:pPr>
            <a:r>
              <a:rPr sz="800" b="0" i="0">
                <a:solidFill>
                  <a:srgbClr val="3BBE93"/>
                </a:solidFill>
                <a:latin typeface="Consolas"/>
              </a:rPr>
              <a:t>    │   │   ├── apirer/</a:t>
            </a:r>
          </a:p>
          <a:p>
            <a:pPr algn="l">
              <a:lnSpc>
                <a:spcPct val="100000"/>
              </a:lnSpc>
            </a:pPr>
            <a:r>
              <a:rPr sz="800" b="0" i="0">
                <a:solidFill>
                  <a:srgbClr val="ECE7DC"/>
                </a:solidFill>
                <a:latin typeface="Consolas"/>
              </a:rPr>
              <a:t>    │   │   │   ├── apirer.py</a:t>
            </a:r>
          </a:p>
          <a:p>
            <a:pPr algn="l">
              <a:lnSpc>
                <a:spcPct val="100000"/>
              </a:lnSpc>
            </a:pPr>
            <a:r>
              <a:rPr sz="800" b="0" i="0">
                <a:solidFill>
                  <a:srgbClr val="ECE7DC"/>
                </a:solidFill>
                <a:latin typeface="Consolas"/>
              </a:rPr>
              <a:t>    │   │   │   └── config.yaml</a:t>
            </a:r>
          </a:p>
          <a:p>
            <a:pPr algn="l">
              <a:lnSpc>
                <a:spcPct val="100000"/>
              </a:lnSpc>
            </a:pPr>
            <a:r>
              <a:rPr sz="800" b="0" i="0">
                <a:solidFill>
                  <a:srgbClr val="3BBE93"/>
                </a:solidFill>
                <a:latin typeface="Consolas"/>
              </a:rPr>
              <a:t>    │   │   ├── arduiner/</a:t>
            </a:r>
          </a:p>
          <a:p>
            <a:pPr algn="l">
              <a:lnSpc>
                <a:spcPct val="100000"/>
              </a:lnSpc>
            </a:pPr>
            <a:r>
              <a:rPr sz="800" b="0" i="0">
                <a:solidFill>
                  <a:srgbClr val="ECE7DC"/>
                </a:solidFill>
                <a:latin typeface="Consolas"/>
              </a:rPr>
              <a:t>    │   │   │   ├── arduiner.py</a:t>
            </a:r>
          </a:p>
          <a:p>
            <a:pPr algn="l">
              <a:lnSpc>
                <a:spcPct val="100000"/>
              </a:lnSpc>
            </a:pPr>
            <a:r>
              <a:rPr sz="800" b="0" i="0">
                <a:solidFill>
                  <a:srgbClr val="ECE7DC"/>
                </a:solidFill>
                <a:latin typeface="Consolas"/>
              </a:rPr>
              <a:t>    │   │   │   ├── config.yaml</a:t>
            </a:r>
          </a:p>
          <a:p>
            <a:pPr algn="l">
              <a:lnSpc>
                <a:spcPct val="100000"/>
              </a:lnSpc>
            </a:pPr>
            <a:r>
              <a:rPr sz="800" b="0" i="0">
                <a:solidFill>
                  <a:srgbClr val="3BBE93"/>
                </a:solidFill>
                <a:latin typeface="Consolas"/>
              </a:rPr>
              <a:t>    │   │   │   └── ArduinoTemplateProject/</a:t>
            </a:r>
          </a:p>
          <a:p>
            <a:pPr algn="l">
              <a:lnSpc>
                <a:spcPct val="100000"/>
              </a:lnSpc>
            </a:pPr>
            <a:r>
              <a:rPr sz="800" b="0" i="0">
                <a:solidFill>
                  <a:srgbClr val="ECE7DC"/>
                </a:solidFill>
                <a:latin typeface="Consolas"/>
              </a:rPr>
              <a:t>    │   │   │       ├── ArduinoTemplateProject.ino</a:t>
            </a:r>
          </a:p>
          <a:p>
            <a:pPr algn="l">
              <a:lnSpc>
                <a:spcPct val="100000"/>
              </a:lnSpc>
            </a:pPr>
            <a:r>
              <a:rPr sz="800" b="0" i="0">
                <a:solidFill>
                  <a:srgbClr val="ECE7DC"/>
                </a:solidFill>
                <a:latin typeface="Consolas"/>
              </a:rPr>
              <a:t>    │   │   │       ├── README.md</a:t>
            </a:r>
          </a:p>
          <a:p>
            <a:pPr algn="l">
              <a:lnSpc>
                <a:spcPct val="100000"/>
              </a:lnSpc>
            </a:pPr>
            <a:r>
              <a:rPr sz="800" b="0" i="0">
                <a:solidFill>
                  <a:srgbClr val="ECE7DC"/>
                </a:solidFill>
                <a:latin typeface="Consolas"/>
              </a:rPr>
              <a:t>    │   │   │       ├── sketch.yaml</a:t>
            </a:r>
          </a:p>
          <a:p>
            <a:pPr algn="l">
              <a:lnSpc>
                <a:spcPct val="100000"/>
              </a:lnSpc>
            </a:pPr>
            <a:r>
              <a:rPr sz="800" b="0" i="0">
                <a:solidFill>
                  <a:srgbClr val="3BBE93"/>
                </a:solidFill>
                <a:latin typeface="Consolas"/>
              </a:rPr>
              <a:t>    │   │   │       └── src/</a:t>
            </a:r>
          </a:p>
          <a:p>
            <a:pPr algn="l">
              <a:lnSpc>
                <a:spcPct val="100000"/>
              </a:lnSpc>
            </a:pPr>
            <a:r>
              <a:rPr sz="800" b="0" i="0">
                <a:solidFill>
                  <a:srgbClr val="ECE7DC"/>
                </a:solidFill>
                <a:latin typeface="Consolas"/>
              </a:rPr>
              <a:t>    │   │   │           ├── Heartbeat.cpp</a:t>
            </a:r>
          </a:p>
          <a:p>
            <a:pPr algn="l">
              <a:lnSpc>
                <a:spcPct val="100000"/>
              </a:lnSpc>
            </a:pPr>
            <a:r>
              <a:rPr sz="800" b="0" i="0">
                <a:solidFill>
                  <a:srgbClr val="ECE7DC"/>
                </a:solidFill>
                <a:latin typeface="Consolas"/>
              </a:rPr>
              <a:t>    │   │   │           └── Heartbeat.h</a:t>
            </a:r>
          </a:p>
          <a:p>
            <a:pPr algn="l">
              <a:lnSpc>
                <a:spcPct val="100000"/>
              </a:lnSpc>
            </a:pPr>
            <a:r>
              <a:rPr sz="800" b="0" i="0">
                <a:solidFill>
                  <a:srgbClr val="3BBE93"/>
                </a:solidFill>
                <a:latin typeface="Consolas"/>
              </a:rPr>
              <a:t>    │   │   ├── asker/</a:t>
            </a:r>
          </a:p>
          <a:p>
            <a:pPr algn="l">
              <a:lnSpc>
                <a:spcPct val="100000"/>
              </a:lnSpc>
            </a:pPr>
            <a:r>
              <a:rPr sz="800" b="0" i="0">
                <a:solidFill>
                  <a:srgbClr val="ECE7DC"/>
                </a:solidFill>
                <a:latin typeface="Consolas"/>
              </a:rPr>
              <a:t>    │   │   │   ├── asker.py</a:t>
            </a:r>
          </a:p>
          <a:p>
            <a:pPr algn="l">
              <a:lnSpc>
                <a:spcPct val="100000"/>
              </a:lnSpc>
            </a:pPr>
            <a:r>
              <a:rPr sz="800" b="0" i="0">
                <a:solidFill>
                  <a:srgbClr val="ECE7DC"/>
                </a:solidFill>
                <a:latin typeface="Consolas"/>
              </a:rPr>
              <a:t>    │   │   │   └── config.yaml</a:t>
            </a:r>
          </a:p>
          <a:p>
            <a:pPr algn="l">
              <a:lnSpc>
                <a:spcPct val="100000"/>
              </a:lnSpc>
            </a:pPr>
            <a:r>
              <a:rPr sz="800" b="0" i="0">
                <a:solidFill>
                  <a:srgbClr val="3BBE93"/>
                </a:solidFill>
                <a:latin typeface="Consolas"/>
              </a:rPr>
              <a:t>    │   │   ├── audioplayer/</a:t>
            </a:r>
          </a:p>
          <a:p>
            <a:pPr algn="l">
              <a:lnSpc>
                <a:spcPct val="100000"/>
              </a:lnSpc>
            </a:pPr>
            <a:r>
              <a:rPr sz="800" b="0" i="0">
                <a:solidFill>
                  <a:srgbClr val="ECE7DC"/>
                </a:solidFill>
                <a:latin typeface="Consolas"/>
              </a:rPr>
              <a:t>    │   │   │   ├── audioplayer.py</a:t>
            </a:r>
          </a:p>
          <a:p>
            <a:pPr algn="l">
              <a:lnSpc>
                <a:spcPct val="100000"/>
              </a:lnSpc>
            </a:pPr>
            <a:r>
              <a:rPr sz="800" b="0" i="0">
                <a:solidFill>
                  <a:srgbClr val="ECE7DC"/>
                </a:solidFill>
                <a:latin typeface="Consolas"/>
              </a:rPr>
              <a:t>    │   │   │   └── config.yaml</a:t>
            </a:r>
          </a:p>
          <a:p>
            <a:pPr algn="l">
              <a:lnSpc>
                <a:spcPct val="100000"/>
              </a:lnSpc>
            </a:pPr>
            <a:r>
              <a:rPr sz="800" b="0" i="0">
                <a:solidFill>
                  <a:srgbClr val="3BBE93"/>
                </a:solidFill>
                <a:latin typeface="Consolas"/>
              </a:rPr>
              <a:t>    │   │   ├── barrier/</a:t>
            </a:r>
          </a:p>
          <a:p>
            <a:pPr algn="l">
              <a:lnSpc>
                <a:spcPct val="100000"/>
              </a:lnSpc>
            </a:pPr>
            <a:r>
              <a:rPr sz="800" b="0" i="0">
                <a:solidFill>
                  <a:srgbClr val="ECE7DC"/>
                </a:solidFill>
                <a:latin typeface="Consolas"/>
              </a:rPr>
              <a:t>    │   │   │   ├── barrier.py</a:t>
            </a:r>
          </a:p>
          <a:p>
            <a:pPr algn="l">
              <a:lnSpc>
                <a:spcPct val="100000"/>
              </a:lnSpc>
            </a:pPr>
            <a:r>
              <a:rPr sz="800" b="0" i="0">
                <a:solidFill>
                  <a:srgbClr val="ECE7DC"/>
                </a:solidFill>
                <a:latin typeface="Consolas"/>
              </a:rPr>
              <a:t>    │   │   │   ├── config.yaml</a:t>
            </a:r>
          </a:p>
          <a:p>
            <a:pPr algn="l">
              <a:lnSpc>
                <a:spcPct val="100000"/>
              </a:lnSpc>
            </a:pPr>
            <a:r>
              <a:rPr sz="800" b="0" i="0">
                <a:solidFill>
                  <a:srgbClr val="ECE7DC"/>
                </a:solidFill>
                <a:latin typeface="Consolas"/>
              </a:rPr>
              <a:t>    │   │   │   └── test_barrier.py</a:t>
            </a:r>
          </a:p>
          <a:p>
            <a:pPr algn="l">
              <a:lnSpc>
                <a:spcPct val="100000"/>
              </a:lnSpc>
            </a:pPr>
            <a:r>
              <a:rPr sz="800" b="0" i="0">
                <a:solidFill>
                  <a:srgbClr val="3BBE93"/>
                </a:solidFill>
                <a:latin typeface="Consolas"/>
              </a:rPr>
              <a:t>    │   │   ├── blenderer/</a:t>
            </a:r>
          </a:p>
          <a:p>
            <a:pPr algn="l">
              <a:lnSpc>
                <a:spcPct val="100000"/>
              </a:lnSpc>
            </a:pPr>
            <a:r>
              <a:rPr sz="800" b="0" i="0">
                <a:solidFill>
                  <a:srgbClr val="ECE7DC"/>
                </a:solidFill>
                <a:latin typeface="Consolas"/>
              </a:rPr>
              <a:t>    │   │   │   ├── blenderer.py</a:t>
            </a:r>
          </a:p>
          <a:p>
            <a:pPr algn="l">
              <a:lnSpc>
                <a:spcPct val="100000"/>
              </a:lnSpc>
            </a:pPr>
            <a:r>
              <a:rPr sz="800" b="0" i="0">
                <a:solidFill>
                  <a:srgbClr val="ECE7DC"/>
                </a:solidFill>
                <a:latin typeface="Consolas"/>
              </a:rPr>
              <a:t>    │   │   │   └── config.yaml</a:t>
            </a:r>
          </a:p>
          <a:p>
            <a:pPr algn="l">
              <a:lnSpc>
                <a:spcPct val="100000"/>
              </a:lnSpc>
            </a:pPr>
            <a:r>
              <a:rPr sz="800" b="0" i="0">
                <a:solidFill>
                  <a:srgbClr val="3BBE93"/>
                </a:solidFill>
                <a:latin typeface="Consolas"/>
              </a:rPr>
              <a:t>    │   │   ├── camcorder/</a:t>
            </a:r>
          </a:p>
          <a:p>
            <a:pPr algn="l">
              <a:lnSpc>
                <a:spcPct val="100000"/>
              </a:lnSpc>
            </a:pPr>
            <a:r>
              <a:rPr sz="800" b="0" i="0">
                <a:solidFill>
                  <a:srgbClr val="ECE7DC"/>
                </a:solidFill>
                <a:latin typeface="Consolas"/>
              </a:rPr>
              <a:t>    │   │   │   ├── camcorder.py</a:t>
            </a:r>
          </a:p>
          <a:p>
            <a:pPr algn="l">
              <a:lnSpc>
                <a:spcPct val="100000"/>
              </a:lnSpc>
            </a:pPr>
            <a:r>
              <a:rPr sz="800" b="0" i="0">
                <a:solidFill>
                  <a:srgbClr val="ECE7DC"/>
                </a:solidFill>
                <a:latin typeface="Consolas"/>
              </a:rPr>
              <a:t>    │   │   │   └── config.yaml</a:t>
            </a:r>
          </a:p>
          <a:p>
            <a:pPr algn="l">
              <a:lnSpc>
                <a:spcPct val="100000"/>
              </a:lnSpc>
            </a:pPr>
            <a:r>
              <a:rPr sz="800" b="0" i="0">
                <a:solidFill>
                  <a:srgbClr val="3BBE93"/>
                </a:solidFill>
                <a:latin typeface="Consolas"/>
              </a:rPr>
              <a:t>    │   │   ├── cleaner/</a:t>
            </a:r>
          </a:p>
          <a:p>
            <a:pPr algn="l">
              <a:lnSpc>
                <a:spcPct val="100000"/>
              </a:lnSpc>
            </a:pPr>
            <a:r>
              <a:rPr sz="800" b="0" i="0">
                <a:solidFill>
                  <a:srgbClr val="ECE7DC"/>
                </a:solidFill>
                <a:latin typeface="Consolas"/>
              </a:rPr>
              <a:t>    │   │   │   ├── __init__.py</a:t>
            </a:r>
          </a:p>
          <a:p>
            <a:pPr algn="l">
              <a:lnSpc>
                <a:spcPct val="100000"/>
              </a:lnSpc>
            </a:pPr>
            <a:r>
              <a:rPr sz="800" b="0" i="0">
                <a:solidFill>
                  <a:srgbClr val="ECE7DC"/>
                </a:solidFill>
                <a:latin typeface="Consolas"/>
              </a:rPr>
              <a:t>    │   │   │   ├── cleaner.py</a:t>
            </a:r>
          </a:p>
          <a:p>
            <a:pPr algn="l">
              <a:lnSpc>
                <a:spcPct val="100000"/>
              </a:lnSpc>
            </a:pPr>
            <a:r>
              <a:rPr sz="800" b="0" i="0">
                <a:solidFill>
                  <a:srgbClr val="ECE7DC"/>
                </a:solidFill>
                <a:latin typeface="Consolas"/>
              </a:rPr>
              <a:t>    │   │   │   └── config.yaml</a:t>
            </a:r>
          </a:p>
          <a:p>
            <a:pPr algn="l">
              <a:lnSpc>
                <a:spcPct val="100000"/>
              </a:lnSpc>
            </a:pPr>
            <a:r>
              <a:rPr sz="800" b="0" i="0">
                <a:solidFill>
                  <a:srgbClr val="3BBE93"/>
                </a:solidFill>
                <a:latin typeface="Consolas"/>
              </a:rPr>
              <a:t>    │   │   ├── counter/</a:t>
            </a:r>
          </a:p>
        </p:txBody>
      </p:sp>
      <p:sp>
        <p:nvSpPr>
          <p:cNvPr id="7" name="TextBox 6"/>
          <p:cNvSpPr txBox="1"/>
          <p:nvPr/>
        </p:nvSpPr>
        <p:spPr>
          <a:xfrm>
            <a:off x="8109508" y="1170432"/>
            <a:ext cx="3515258" cy="5084064"/>
          </a:xfrm>
          <a:prstGeom prst="rect">
            <a:avLst/>
          </a:prstGeom>
          <a:noFill/>
        </p:spPr>
        <p:txBody>
          <a:bodyPr wrap="none" lIns="45720" rIns="45720" tIns="27432" bIns="27432" anchor="t">
            <a:noAutofit/>
          </a:bodyPr>
          <a:lstStyle/>
          <a:p>
            <a:pPr algn="l">
              <a:lnSpc>
                <a:spcPct val="100000"/>
              </a:lnSpc>
            </a:pPr>
            <a:r>
              <a:rPr sz="800" b="0" i="0">
                <a:solidFill>
                  <a:srgbClr val="ECE7DC"/>
                </a:solidFill>
                <a:latin typeface="Consolas"/>
              </a:rPr>
              <a:t>    │   │   │   ├── config.yaml</a:t>
            </a:r>
          </a:p>
          <a:p>
            <a:pPr algn="l">
              <a:lnSpc>
                <a:spcPct val="100000"/>
              </a:lnSpc>
            </a:pPr>
            <a:r>
              <a:rPr sz="800" b="0" i="0">
                <a:solidFill>
                  <a:srgbClr val="ECE7DC"/>
                </a:solidFill>
                <a:latin typeface="Consolas"/>
              </a:rPr>
              <a:t>    │   │   │   └── counter.py</a:t>
            </a:r>
          </a:p>
          <a:p>
            <a:pPr algn="l">
              <a:lnSpc>
                <a:spcPct val="100000"/>
              </a:lnSpc>
            </a:pPr>
            <a:r>
              <a:rPr sz="800" b="0" i="0">
                <a:solidFill>
                  <a:srgbClr val="3BBE93"/>
                </a:solidFill>
                <a:latin typeface="Consolas"/>
              </a:rPr>
              <a:t>    │   │   ├── crawler/</a:t>
            </a:r>
          </a:p>
          <a:p>
            <a:pPr algn="l">
              <a:lnSpc>
                <a:spcPct val="100000"/>
              </a:lnSpc>
            </a:pPr>
            <a:r>
              <a:rPr sz="800" b="0" i="0">
                <a:solidFill>
                  <a:srgbClr val="ECE7DC"/>
                </a:solidFill>
                <a:latin typeface="Consolas"/>
              </a:rPr>
              <a:t>    │   │   │   ├── config.yaml</a:t>
            </a:r>
          </a:p>
          <a:p>
            <a:pPr algn="l">
              <a:lnSpc>
                <a:spcPct val="100000"/>
              </a:lnSpc>
            </a:pPr>
            <a:r>
              <a:rPr sz="800" b="0" i="0">
                <a:solidFill>
                  <a:srgbClr val="ECE7DC"/>
                </a:solidFill>
                <a:latin typeface="Consolas"/>
              </a:rPr>
              <a:t>    │   │   │   └── crawler.py</a:t>
            </a:r>
          </a:p>
          <a:p>
            <a:pPr algn="l">
              <a:lnSpc>
                <a:spcPct val="100000"/>
              </a:lnSpc>
            </a:pPr>
            <a:r>
              <a:rPr sz="800" b="0" i="0">
                <a:solidFill>
                  <a:srgbClr val="3BBE93"/>
                </a:solidFill>
                <a:latin typeface="Consolas"/>
              </a:rPr>
              <a:t>    │   │   ├── croner/</a:t>
            </a:r>
          </a:p>
          <a:p>
            <a:pPr algn="l">
              <a:lnSpc>
                <a:spcPct val="100000"/>
              </a:lnSpc>
            </a:pPr>
            <a:r>
              <a:rPr sz="800" b="0" i="0">
                <a:solidFill>
                  <a:srgbClr val="ECE7DC"/>
                </a:solidFill>
                <a:latin typeface="Consolas"/>
              </a:rPr>
              <a:t>    │   │   │   ├── config.yaml</a:t>
            </a:r>
          </a:p>
          <a:p>
            <a:pPr algn="l">
              <a:lnSpc>
                <a:spcPct val="100000"/>
              </a:lnSpc>
            </a:pPr>
            <a:r>
              <a:rPr sz="800" b="0" i="0">
                <a:solidFill>
                  <a:srgbClr val="ECE7DC"/>
                </a:solidFill>
                <a:latin typeface="Consolas"/>
              </a:rPr>
              <a:t>    │   │   │   └── croner.py</a:t>
            </a:r>
          </a:p>
          <a:p>
            <a:pPr algn="l">
              <a:lnSpc>
                <a:spcPct val="100000"/>
              </a:lnSpc>
            </a:pPr>
            <a:r>
              <a:rPr sz="800" b="0" i="0">
                <a:solidFill>
                  <a:srgbClr val="3BBE93"/>
                </a:solidFill>
                <a:latin typeface="Consolas"/>
              </a:rPr>
              <a:t>    │   │   ├── de_compresser/</a:t>
            </a:r>
          </a:p>
          <a:p>
            <a:pPr algn="l">
              <a:lnSpc>
                <a:spcPct val="100000"/>
              </a:lnSpc>
            </a:pPr>
            <a:r>
              <a:rPr sz="800" b="0" i="0">
                <a:solidFill>
                  <a:srgbClr val="ECE7DC"/>
                </a:solidFill>
                <a:latin typeface="Consolas"/>
              </a:rPr>
              <a:t>    │   │   │   ├── config.yaml</a:t>
            </a:r>
          </a:p>
          <a:p>
            <a:pPr algn="l">
              <a:lnSpc>
                <a:spcPct val="100000"/>
              </a:lnSpc>
            </a:pPr>
            <a:r>
              <a:rPr sz="800" b="0" i="0">
                <a:solidFill>
                  <a:srgbClr val="ECE7DC"/>
                </a:solidFill>
                <a:latin typeface="Consolas"/>
              </a:rPr>
              <a:t>    │   │   │   └── de_compresser.py</a:t>
            </a:r>
          </a:p>
          <a:p>
            <a:pPr algn="l">
              <a:lnSpc>
                <a:spcPct val="100000"/>
              </a:lnSpc>
            </a:pPr>
            <a:r>
              <a:rPr sz="800" b="0" i="0">
                <a:solidFill>
                  <a:srgbClr val="3BBE93"/>
                </a:solidFill>
                <a:latin typeface="Consolas"/>
              </a:rPr>
              <a:t>    │   │   ├── deleter/</a:t>
            </a:r>
          </a:p>
          <a:p>
            <a:pPr algn="l">
              <a:lnSpc>
                <a:spcPct val="100000"/>
              </a:lnSpc>
            </a:pPr>
            <a:r>
              <a:rPr sz="800" b="0" i="0">
                <a:solidFill>
                  <a:srgbClr val="ECE7DC"/>
                </a:solidFill>
                <a:latin typeface="Consolas"/>
              </a:rPr>
              <a:t>    │   │   │   ├── config.yaml</a:t>
            </a:r>
          </a:p>
          <a:p>
            <a:pPr algn="l">
              <a:lnSpc>
                <a:spcPct val="100000"/>
              </a:lnSpc>
            </a:pPr>
            <a:r>
              <a:rPr sz="800" b="0" i="0">
                <a:solidFill>
                  <a:srgbClr val="ECE7DC"/>
                </a:solidFill>
                <a:latin typeface="Consolas"/>
              </a:rPr>
              <a:t>    │   │   │   └── deleter.py</a:t>
            </a:r>
          </a:p>
          <a:p>
            <a:pPr algn="l">
              <a:lnSpc>
                <a:spcPct val="100000"/>
              </a:lnSpc>
            </a:pPr>
            <a:r>
              <a:rPr sz="800" b="0" i="0">
                <a:solidFill>
                  <a:srgbClr val="3BBE93"/>
                </a:solidFill>
                <a:latin typeface="Consolas"/>
              </a:rPr>
              <a:t>    │   │   ├── discoverer/</a:t>
            </a:r>
          </a:p>
          <a:p>
            <a:pPr algn="l">
              <a:lnSpc>
                <a:spcPct val="100000"/>
              </a:lnSpc>
            </a:pPr>
            <a:r>
              <a:rPr sz="800" b="0" i="0">
                <a:solidFill>
                  <a:srgbClr val="ECE7DC"/>
                </a:solidFill>
                <a:latin typeface="Consolas"/>
              </a:rPr>
              <a:t>    │   │   │   ├── config.yaml</a:t>
            </a:r>
          </a:p>
          <a:p>
            <a:pPr algn="l">
              <a:lnSpc>
                <a:spcPct val="100000"/>
              </a:lnSpc>
            </a:pPr>
            <a:r>
              <a:rPr sz="800" b="0" i="0">
                <a:solidFill>
                  <a:srgbClr val="ECE7DC"/>
                </a:solidFill>
                <a:latin typeface="Consolas"/>
              </a:rPr>
              <a:t>    │   │   │   └── discoverer.py</a:t>
            </a:r>
          </a:p>
          <a:p>
            <a:pPr algn="l">
              <a:lnSpc>
                <a:spcPct val="100000"/>
              </a:lnSpc>
            </a:pPr>
            <a:r>
              <a:rPr sz="800" b="0" i="0">
                <a:solidFill>
                  <a:srgbClr val="3BBE93"/>
                </a:solidFill>
                <a:latin typeface="Consolas"/>
              </a:rPr>
              <a:t>    │   │   ├── dockerer/</a:t>
            </a:r>
          </a:p>
          <a:p>
            <a:pPr algn="l">
              <a:lnSpc>
                <a:spcPct val="100000"/>
              </a:lnSpc>
            </a:pPr>
            <a:r>
              <a:rPr sz="800" b="0" i="0">
                <a:solidFill>
                  <a:srgbClr val="ECE7DC"/>
                </a:solidFill>
                <a:latin typeface="Consolas"/>
              </a:rPr>
              <a:t>    │   │   │   ├── config.yaml</a:t>
            </a:r>
          </a:p>
          <a:p>
            <a:pPr algn="l">
              <a:lnSpc>
                <a:spcPct val="100000"/>
              </a:lnSpc>
            </a:pPr>
            <a:r>
              <a:rPr sz="800" b="0" i="0">
                <a:solidFill>
                  <a:srgbClr val="ECE7DC"/>
                </a:solidFill>
                <a:latin typeface="Consolas"/>
              </a:rPr>
              <a:t>    │   │   │   └── dockerer.py</a:t>
            </a:r>
          </a:p>
          <a:p>
            <a:pPr algn="l">
              <a:lnSpc>
                <a:spcPct val="100000"/>
              </a:lnSpc>
            </a:pPr>
            <a:r>
              <a:rPr sz="800" b="0" i="0">
                <a:solidFill>
                  <a:srgbClr val="3BBE93"/>
                </a:solidFill>
                <a:latin typeface="Consolas"/>
              </a:rPr>
              <a:t>    │   │   ├── editor/</a:t>
            </a:r>
          </a:p>
          <a:p>
            <a:pPr algn="l">
              <a:lnSpc>
                <a:spcPct val="100000"/>
              </a:lnSpc>
            </a:pPr>
            <a:r>
              <a:rPr sz="800" b="0" i="0">
                <a:solidFill>
                  <a:srgbClr val="ECE7DC"/>
                </a:solidFill>
                <a:latin typeface="Consolas"/>
              </a:rPr>
              <a:t>    │   │   │   ├── config.yaml</a:t>
            </a:r>
          </a:p>
          <a:p>
            <a:pPr algn="l">
              <a:lnSpc>
                <a:spcPct val="100000"/>
              </a:lnSpc>
            </a:pPr>
            <a:r>
              <a:rPr sz="800" b="0" i="0">
                <a:solidFill>
                  <a:srgbClr val="ECE7DC"/>
                </a:solidFill>
                <a:latin typeface="Consolas"/>
              </a:rPr>
              <a:t>    │   │   │   └── editor.py</a:t>
            </a:r>
          </a:p>
          <a:p>
            <a:pPr algn="l">
              <a:lnSpc>
                <a:spcPct val="100000"/>
              </a:lnSpc>
            </a:pPr>
            <a:r>
              <a:rPr sz="800" b="0" i="0">
                <a:solidFill>
                  <a:srgbClr val="3BBE93"/>
                </a:solidFill>
                <a:latin typeface="Consolas"/>
              </a:rPr>
              <a:t>    │   │   ├── emailer/</a:t>
            </a:r>
          </a:p>
          <a:p>
            <a:pPr algn="l">
              <a:lnSpc>
                <a:spcPct val="100000"/>
              </a:lnSpc>
            </a:pPr>
            <a:r>
              <a:rPr sz="800" b="0" i="0">
                <a:solidFill>
                  <a:srgbClr val="ECE7DC"/>
                </a:solidFill>
                <a:latin typeface="Consolas"/>
              </a:rPr>
              <a:t>    │   │   │   ├── config.yaml</a:t>
            </a:r>
          </a:p>
          <a:p>
            <a:pPr algn="l">
              <a:lnSpc>
                <a:spcPct val="100000"/>
              </a:lnSpc>
            </a:pPr>
            <a:r>
              <a:rPr sz="800" b="0" i="0">
                <a:solidFill>
                  <a:srgbClr val="ECE7DC"/>
                </a:solidFill>
                <a:latin typeface="Consolas"/>
              </a:rPr>
              <a:t>    │   │   │   └── emailer.py</a:t>
            </a:r>
          </a:p>
          <a:p>
            <a:pPr algn="l">
              <a:lnSpc>
                <a:spcPct val="100000"/>
              </a:lnSpc>
            </a:pPr>
            <a:r>
              <a:rPr sz="800" b="0" i="0">
                <a:solidFill>
                  <a:srgbClr val="3BBE93"/>
                </a:solidFill>
                <a:latin typeface="Consolas"/>
              </a:rPr>
              <a:t>    │   │   ├── ender/</a:t>
            </a:r>
          </a:p>
          <a:p>
            <a:pPr algn="l">
              <a:lnSpc>
                <a:spcPct val="100000"/>
              </a:lnSpc>
            </a:pPr>
            <a:r>
              <a:rPr sz="800" b="0" i="0">
                <a:solidFill>
                  <a:srgbClr val="ECE7DC"/>
                </a:solidFill>
                <a:latin typeface="Consolas"/>
              </a:rPr>
              <a:t>    │   │   │   ├── config.yaml</a:t>
            </a:r>
          </a:p>
          <a:p>
            <a:pPr algn="l">
              <a:lnSpc>
                <a:spcPct val="100000"/>
              </a:lnSpc>
            </a:pPr>
            <a:r>
              <a:rPr sz="800" b="0" i="0">
                <a:solidFill>
                  <a:srgbClr val="ECE7DC"/>
                </a:solidFill>
                <a:latin typeface="Consolas"/>
              </a:rPr>
              <a:t>    │   │   │   └── ender.py</a:t>
            </a:r>
          </a:p>
          <a:p>
            <a:pPr algn="l">
              <a:lnSpc>
                <a:spcPct val="100000"/>
              </a:lnSpc>
            </a:pPr>
            <a:r>
              <a:rPr sz="800" b="0" i="0">
                <a:solidFill>
                  <a:srgbClr val="3BBE93"/>
                </a:solidFill>
                <a:latin typeface="Consolas"/>
              </a:rPr>
              <a:t>    │   │   ├── esp32er/</a:t>
            </a:r>
          </a:p>
          <a:p>
            <a:pPr algn="l">
              <a:lnSpc>
                <a:spcPct val="100000"/>
              </a:lnSpc>
            </a:pPr>
            <a:r>
              <a:rPr sz="800" b="0" i="0">
                <a:solidFill>
                  <a:srgbClr val="ECE7DC"/>
                </a:solidFill>
                <a:latin typeface="Consolas"/>
              </a:rPr>
              <a:t>    │   │   │   ├── config.yaml</a:t>
            </a:r>
          </a:p>
          <a:p>
            <a:pPr algn="l">
              <a:lnSpc>
                <a:spcPct val="100000"/>
              </a:lnSpc>
            </a:pPr>
            <a:r>
              <a:rPr sz="800" b="0" i="0">
                <a:solidFill>
                  <a:srgbClr val="ECE7DC"/>
                </a:solidFill>
                <a:latin typeface="Consolas"/>
              </a:rPr>
              <a:t>    │   │   │   ├── esp32er.py</a:t>
            </a:r>
          </a:p>
          <a:p>
            <a:pPr algn="l">
              <a:lnSpc>
                <a:spcPct val="100000"/>
              </a:lnSpc>
            </a:pPr>
            <a:r>
              <a:rPr sz="800" b="0" i="0">
                <a:solidFill>
                  <a:srgbClr val="3BBE93"/>
                </a:solidFill>
                <a:latin typeface="Consolas"/>
              </a:rPr>
              <a:t>    │   │   │   └── ESP32TemplateProject/</a:t>
            </a:r>
          </a:p>
          <a:p>
            <a:pPr algn="l">
              <a:lnSpc>
                <a:spcPct val="100000"/>
              </a:lnSpc>
            </a:pPr>
            <a:r>
              <a:rPr sz="800" b="0" i="0">
                <a:solidFill>
                  <a:srgbClr val="ECE7DC"/>
                </a:solidFill>
                <a:latin typeface="Consolas"/>
              </a:rPr>
              <a:t>    │   │   │       ├── platformio.ini</a:t>
            </a:r>
          </a:p>
          <a:p>
            <a:pPr algn="l">
              <a:lnSpc>
                <a:spcPct val="100000"/>
              </a:lnSpc>
            </a:pPr>
            <a:r>
              <a:rPr sz="800" b="0" i="0">
                <a:solidFill>
                  <a:srgbClr val="ECE7DC"/>
                </a:solidFill>
                <a:latin typeface="Consolas"/>
              </a:rPr>
              <a:t>    │   │   │       ├── README.md</a:t>
            </a:r>
          </a:p>
          <a:p>
            <a:pPr algn="l">
              <a:lnSpc>
                <a:spcPct val="100000"/>
              </a:lnSpc>
            </a:pPr>
            <a:r>
              <a:rPr sz="800" b="0" i="0">
                <a:solidFill>
                  <a:srgbClr val="3BBE93"/>
                </a:solidFill>
                <a:latin typeface="Consolas"/>
              </a:rPr>
              <a:t>    │   │   │       ├── include/</a:t>
            </a:r>
          </a:p>
          <a:p>
            <a:pPr algn="l">
              <a:lnSpc>
                <a:spcPct val="100000"/>
              </a:lnSpc>
            </a:pPr>
            <a:r>
              <a:rPr sz="800" b="0" i="0">
                <a:solidFill>
                  <a:srgbClr val="ECE7DC"/>
                </a:solidFill>
                <a:latin typeface="Consolas"/>
              </a:rPr>
              <a:t>    │   │   │       │   └── README.md</a:t>
            </a:r>
          </a:p>
          <a:p>
            <a:pPr algn="l">
              <a:lnSpc>
                <a:spcPct val="100000"/>
              </a:lnSpc>
            </a:pPr>
            <a:r>
              <a:rPr sz="800" b="0" i="0">
                <a:solidFill>
                  <a:srgbClr val="3BBE93"/>
                </a:solidFill>
                <a:latin typeface="Consolas"/>
              </a:rPr>
              <a:t>    │   │   │       ├── lib/</a:t>
            </a:r>
          </a:p>
          <a:p>
            <a:pPr algn="l">
              <a:lnSpc>
                <a:spcPct val="100000"/>
              </a:lnSpc>
            </a:pPr>
            <a:r>
              <a:rPr sz="800" b="0" i="0">
                <a:solidFill>
                  <a:srgbClr val="ECE7DC"/>
                </a:solidFill>
                <a:latin typeface="Consolas"/>
              </a:rPr>
              <a:t>    │   │   │       │   └── README.md</a:t>
            </a:r>
          </a:p>
          <a:p>
            <a:pPr algn="l">
              <a:lnSpc>
                <a:spcPct val="100000"/>
              </a:lnSpc>
            </a:pPr>
            <a:r>
              <a:rPr sz="800" b="0" i="0">
                <a:solidFill>
                  <a:srgbClr val="3BBE93"/>
                </a:solidFill>
                <a:latin typeface="Consolas"/>
              </a:rPr>
              <a:t>    │   │   │       ├── src/</a:t>
            </a:r>
          </a:p>
          <a:p>
            <a:pPr algn="l">
              <a:lnSpc>
                <a:spcPct val="100000"/>
              </a:lnSpc>
            </a:pPr>
            <a:r>
              <a:rPr sz="800" b="0" i="0">
                <a:solidFill>
                  <a:srgbClr val="ECE7DC"/>
                </a:solidFill>
                <a:latin typeface="Consolas"/>
              </a:rPr>
              <a:t>    │   │   │       │   └── main.cpp</a:t>
            </a:r>
          </a:p>
        </p:txBody>
      </p:sp>
      <p:cxnSp>
        <p:nvCxnSpPr>
          <p:cNvPr id="8" name="Connector 7"/>
          <p:cNvCxnSpPr/>
          <p:nvPr/>
        </p:nvCxnSpPr>
        <p:spPr>
          <a:xfrm>
            <a:off x="566928" y="6373368"/>
            <a:ext cx="11057839" cy="0"/>
          </a:xfrm>
          <a:prstGeom prst="line">
            <a:avLst/>
          </a:prstGeom>
          <a:ln w="7620">
            <a:solidFill>
              <a:srgbClr val="2A3A40"/>
            </a:solidFill>
          </a:ln>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566928" y="6419088"/>
            <a:ext cx="6858000" cy="274320"/>
          </a:xfrm>
          <a:prstGeom prst="rect">
            <a:avLst/>
          </a:prstGeom>
          <a:noFill/>
        </p:spPr>
        <p:txBody>
          <a:bodyPr wrap="square" lIns="45720" rIns="45720" tIns="27432" bIns="27432" anchor="t">
            <a:noAutofit/>
          </a:bodyPr>
          <a:lstStyle/>
          <a:p>
            <a:pPr algn="l">
              <a:lnSpc>
                <a:spcPct val="100000"/>
              </a:lnSpc>
            </a:pPr>
            <a:r>
              <a:rPr sz="850" b="0" i="0" spc="120">
                <a:solidFill>
                  <a:srgbClr val="A7B2B0"/>
                </a:solidFill>
                <a:latin typeface="Segoe UI Semibold"/>
              </a:rPr>
              <a:t>TLAMATINI  ·  APÉNDICE A · ÁRBOL DE ARCHIVOS</a:t>
            </a:r>
          </a:p>
        </p:txBody>
      </p:sp>
      <p:sp>
        <p:nvSpPr>
          <p:cNvPr id="10" name="TextBox 9"/>
          <p:cNvSpPr txBox="1"/>
          <p:nvPr/>
        </p:nvSpPr>
        <p:spPr>
          <a:xfrm>
            <a:off x="8698687" y="6419088"/>
            <a:ext cx="2926080" cy="274320"/>
          </a:xfrm>
          <a:prstGeom prst="rect">
            <a:avLst/>
          </a:prstGeom>
          <a:noFill/>
        </p:spPr>
        <p:txBody>
          <a:bodyPr wrap="square" lIns="45720" rIns="45720" tIns="27432" bIns="27432" anchor="t">
            <a:noAutofit/>
          </a:bodyPr>
          <a:lstStyle/>
          <a:p>
            <a:pPr algn="r">
              <a:lnSpc>
                <a:spcPct val="100000"/>
              </a:lnSpc>
            </a:pPr>
            <a:r>
              <a:rPr sz="850" b="0" i="0" spc="100">
                <a:solidFill>
                  <a:srgbClr val="A7B2B0"/>
                </a:solidFill>
                <a:latin typeface="Segoe UI Semibold"/>
              </a:rPr>
              <a:t>v1.91.1   ·   185</a:t>
            </a:r>
          </a:p>
        </p:txBody>
      </p:sp>
    </p:spTree>
  </p:cSld>
  <p:clrMapOvr>
    <a:masterClrMapping/>
  </p:clrMapOvr>
</p:sld>
</file>

<file path=ppt/slides/slide18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appendix.png"/>
          <p:cNvPicPr>
            <a:picLocks noChangeAspect="1"/>
          </p:cNvPicPr>
          <p:nvPr/>
        </p:nvPicPr>
        <p:blipFill>
          <a:blip r:embed="rId2"/>
          <a:stretch>
            <a:fillRect/>
          </a:stretch>
        </p:blipFill>
        <p:spPr>
          <a:xfrm>
            <a:off x="0" y="0"/>
            <a:ext cx="12191695" cy="6858000"/>
          </a:xfrm>
          <a:prstGeom prst="rect">
            <a:avLst/>
          </a:prstGeom>
        </p:spPr>
      </p:pic>
      <p:sp>
        <p:nvSpPr>
          <p:cNvPr id="3" name="TextBox 2"/>
          <p:cNvSpPr txBox="1"/>
          <p:nvPr/>
        </p:nvSpPr>
        <p:spPr>
          <a:xfrm>
            <a:off x="566928" y="384048"/>
            <a:ext cx="8686800" cy="329184"/>
          </a:xfrm>
          <a:prstGeom prst="rect">
            <a:avLst/>
          </a:prstGeom>
          <a:noFill/>
        </p:spPr>
        <p:txBody>
          <a:bodyPr wrap="square" lIns="45720" rIns="45720" tIns="27432" bIns="27432" anchor="t">
            <a:noAutofit/>
          </a:bodyPr>
          <a:lstStyle/>
          <a:p>
            <a:pPr algn="l">
              <a:lnSpc>
                <a:spcPct val="100000"/>
              </a:lnSpc>
            </a:pPr>
            <a:r>
              <a:rPr sz="1100" b="0" i="0" spc="200">
                <a:solidFill>
                  <a:srgbClr val="C98457"/>
                </a:solidFill>
                <a:latin typeface="Segoe UI Semibold"/>
              </a:rPr>
              <a:t>APÉNDICE A  ·  ÁRBOL DE ARCHIVOS DE LA APLICACIÓN  ·  12 / 20</a:t>
            </a:r>
          </a:p>
        </p:txBody>
      </p:sp>
      <p:sp>
        <p:nvSpPr>
          <p:cNvPr id="4" name="TextBox 3"/>
          <p:cNvSpPr txBox="1"/>
          <p:nvPr/>
        </p:nvSpPr>
        <p:spPr>
          <a:xfrm>
            <a:off x="566928" y="731520"/>
            <a:ext cx="11057839" cy="384048"/>
          </a:xfrm>
          <a:prstGeom prst="rect">
            <a:avLst/>
          </a:prstGeom>
          <a:noFill/>
        </p:spPr>
        <p:txBody>
          <a:bodyPr wrap="square" lIns="45720" rIns="45720" tIns="27432" bIns="27432" anchor="t">
            <a:noAutofit/>
          </a:bodyPr>
          <a:lstStyle/>
          <a:p>
            <a:pPr algn="l">
              <a:lnSpc>
                <a:spcPct val="100000"/>
              </a:lnSpc>
            </a:pPr>
            <a:r>
              <a:rPr sz="1300" b="0" i="0">
                <a:solidFill>
                  <a:srgbClr val="A7B2B0"/>
                </a:solidFill>
                <a:latin typeface="Segoe UI"/>
              </a:rPr>
              <a:t>1,898 archivos listados en el commit 21b0a5c; 221 archivos de la historia de la base de datos resumidos.</a:t>
            </a:r>
          </a:p>
        </p:txBody>
      </p:sp>
      <p:sp>
        <p:nvSpPr>
          <p:cNvPr id="5" name="TextBox 4"/>
          <p:cNvSpPr txBox="1"/>
          <p:nvPr/>
        </p:nvSpPr>
        <p:spPr>
          <a:xfrm>
            <a:off x="566928" y="1170432"/>
            <a:ext cx="3515258" cy="5084064"/>
          </a:xfrm>
          <a:prstGeom prst="rect">
            <a:avLst/>
          </a:prstGeom>
          <a:noFill/>
        </p:spPr>
        <p:txBody>
          <a:bodyPr wrap="none" lIns="45720" rIns="45720" tIns="27432" bIns="27432" anchor="t">
            <a:noAutofit/>
          </a:bodyPr>
          <a:lstStyle/>
          <a:p>
            <a:pPr algn="l">
              <a:lnSpc>
                <a:spcPct val="100000"/>
              </a:lnSpc>
            </a:pPr>
            <a:r>
              <a:rPr sz="800" b="0" i="0">
                <a:solidFill>
                  <a:srgbClr val="3BBE93"/>
                </a:solidFill>
                <a:latin typeface="Consolas"/>
              </a:rPr>
              <a:t>    │   │   │       └── test/</a:t>
            </a:r>
          </a:p>
          <a:p>
            <a:pPr algn="l">
              <a:lnSpc>
                <a:spcPct val="100000"/>
              </a:lnSpc>
            </a:pPr>
            <a:r>
              <a:rPr sz="800" b="0" i="0">
                <a:solidFill>
                  <a:srgbClr val="ECE7DC"/>
                </a:solidFill>
                <a:latin typeface="Consolas"/>
              </a:rPr>
              <a:t>    │   │   │           └── README.md</a:t>
            </a:r>
          </a:p>
          <a:p>
            <a:pPr algn="l">
              <a:lnSpc>
                <a:spcPct val="100000"/>
              </a:lnSpc>
            </a:pPr>
            <a:r>
              <a:rPr sz="800" b="0" i="0">
                <a:solidFill>
                  <a:srgbClr val="3BBE93"/>
                </a:solidFill>
                <a:latin typeface="Consolas"/>
              </a:rPr>
              <a:t>    │   │   ├── esphomer/</a:t>
            </a:r>
          </a:p>
          <a:p>
            <a:pPr algn="l">
              <a:lnSpc>
                <a:spcPct val="100000"/>
              </a:lnSpc>
            </a:pPr>
            <a:r>
              <a:rPr sz="800" b="0" i="0">
                <a:solidFill>
                  <a:srgbClr val="ECE7DC"/>
                </a:solidFill>
                <a:latin typeface="Consolas"/>
              </a:rPr>
              <a:t>    │   │   │   ├── config.yaml</a:t>
            </a:r>
          </a:p>
          <a:p>
            <a:pPr algn="l">
              <a:lnSpc>
                <a:spcPct val="100000"/>
              </a:lnSpc>
            </a:pPr>
            <a:r>
              <a:rPr sz="800" b="0" i="0">
                <a:solidFill>
                  <a:srgbClr val="ECE7DC"/>
                </a:solidFill>
                <a:latin typeface="Consolas"/>
              </a:rPr>
              <a:t>    │   │   │   ├── esphomer.py</a:t>
            </a:r>
          </a:p>
          <a:p>
            <a:pPr algn="l">
              <a:lnSpc>
                <a:spcPct val="100000"/>
              </a:lnSpc>
            </a:pPr>
            <a:r>
              <a:rPr sz="800" b="0" i="0">
                <a:solidFill>
                  <a:srgbClr val="3BBE93"/>
                </a:solidFill>
                <a:latin typeface="Consolas"/>
              </a:rPr>
              <a:t>    │   │   │   └── ESPHomeTemplateProject/</a:t>
            </a:r>
          </a:p>
          <a:p>
            <a:pPr algn="l">
              <a:lnSpc>
                <a:spcPct val="100000"/>
              </a:lnSpc>
            </a:pPr>
            <a:r>
              <a:rPr sz="800" b="0" i="0">
                <a:solidFill>
                  <a:srgbClr val="ECE7DC"/>
                </a:solidFill>
                <a:latin typeface="Consolas"/>
              </a:rPr>
              <a:t>    │   │   │       ├── .gitignore</a:t>
            </a:r>
          </a:p>
          <a:p>
            <a:pPr algn="l">
              <a:lnSpc>
                <a:spcPct val="100000"/>
              </a:lnSpc>
            </a:pPr>
            <a:r>
              <a:rPr sz="800" b="0" i="0">
                <a:solidFill>
                  <a:srgbClr val="ECE7DC"/>
                </a:solidFill>
                <a:latin typeface="Consolas"/>
              </a:rPr>
              <a:t>    │   │   │       ├── README.md</a:t>
            </a:r>
          </a:p>
          <a:p>
            <a:pPr algn="l">
              <a:lnSpc>
                <a:spcPct val="100000"/>
              </a:lnSpc>
            </a:pPr>
            <a:r>
              <a:rPr sz="800" b="0" i="0">
                <a:solidFill>
                  <a:srgbClr val="ECE7DC"/>
                </a:solidFill>
                <a:latin typeface="Consolas"/>
              </a:rPr>
              <a:t>    │   │   │       ├── secrets.yaml.example</a:t>
            </a:r>
          </a:p>
          <a:p>
            <a:pPr algn="l">
              <a:lnSpc>
                <a:spcPct val="100000"/>
              </a:lnSpc>
            </a:pPr>
            <a:r>
              <a:rPr sz="800" b="0" i="0">
                <a:solidFill>
                  <a:srgbClr val="ECE7DC"/>
                </a:solidFill>
                <a:latin typeface="Consolas"/>
              </a:rPr>
              <a:t>    │   │   │       ├── tlamatini-light.yaml</a:t>
            </a:r>
          </a:p>
          <a:p>
            <a:pPr algn="l">
              <a:lnSpc>
                <a:spcPct val="100000"/>
              </a:lnSpc>
            </a:pPr>
            <a:r>
              <a:rPr sz="800" b="0" i="0">
                <a:solidFill>
                  <a:srgbClr val="ECE7DC"/>
                </a:solidFill>
                <a:latin typeface="Consolas"/>
              </a:rPr>
              <a:t>    │   │   │       ├── tlamatini-sensor.yaml</a:t>
            </a:r>
          </a:p>
          <a:p>
            <a:pPr algn="l">
              <a:lnSpc>
                <a:spcPct val="100000"/>
              </a:lnSpc>
            </a:pPr>
            <a:r>
              <a:rPr sz="800" b="0" i="0">
                <a:solidFill>
                  <a:srgbClr val="3BBE93"/>
                </a:solidFill>
                <a:latin typeface="Consolas"/>
              </a:rPr>
              <a:t>    │   │   │       └── common/</a:t>
            </a:r>
          </a:p>
          <a:p>
            <a:pPr algn="l">
              <a:lnSpc>
                <a:spcPct val="100000"/>
              </a:lnSpc>
            </a:pPr>
            <a:r>
              <a:rPr sz="800" b="0" i="0">
                <a:solidFill>
                  <a:srgbClr val="ECE7DC"/>
                </a:solidFill>
                <a:latin typeface="Consolas"/>
              </a:rPr>
              <a:t>    │   │   │           └── base.yaml</a:t>
            </a:r>
          </a:p>
          <a:p>
            <a:pPr algn="l">
              <a:lnSpc>
                <a:spcPct val="100000"/>
              </a:lnSpc>
            </a:pPr>
            <a:r>
              <a:rPr sz="800" b="0" i="0">
                <a:solidFill>
                  <a:srgbClr val="3BBE93"/>
                </a:solidFill>
                <a:latin typeface="Consolas"/>
              </a:rPr>
              <a:t>    │   │   ├── executer/</a:t>
            </a:r>
          </a:p>
          <a:p>
            <a:pPr algn="l">
              <a:lnSpc>
                <a:spcPct val="100000"/>
              </a:lnSpc>
            </a:pPr>
            <a:r>
              <a:rPr sz="800" b="0" i="0">
                <a:solidFill>
                  <a:srgbClr val="ECE7DC"/>
                </a:solidFill>
                <a:latin typeface="Consolas"/>
              </a:rPr>
              <a:t>    │   │   │   ├── config.yaml</a:t>
            </a:r>
          </a:p>
          <a:p>
            <a:pPr algn="l">
              <a:lnSpc>
                <a:spcPct val="100000"/>
              </a:lnSpc>
            </a:pPr>
            <a:r>
              <a:rPr sz="800" b="0" i="0">
                <a:solidFill>
                  <a:srgbClr val="ECE7DC"/>
                </a:solidFill>
                <a:latin typeface="Consolas"/>
              </a:rPr>
              <a:t>    │   │   │   └── executer.py</a:t>
            </a:r>
          </a:p>
          <a:p>
            <a:pPr algn="l">
              <a:lnSpc>
                <a:spcPct val="100000"/>
              </a:lnSpc>
            </a:pPr>
            <a:r>
              <a:rPr sz="800" b="0" i="0">
                <a:solidFill>
                  <a:srgbClr val="3BBE93"/>
                </a:solidFill>
                <a:latin typeface="Consolas"/>
              </a:rPr>
              <a:t>    │   │   ├── file_creator/</a:t>
            </a:r>
          </a:p>
          <a:p>
            <a:pPr algn="l">
              <a:lnSpc>
                <a:spcPct val="100000"/>
              </a:lnSpc>
            </a:pPr>
            <a:r>
              <a:rPr sz="800" b="0" i="0">
                <a:solidFill>
                  <a:srgbClr val="ECE7DC"/>
                </a:solidFill>
                <a:latin typeface="Consolas"/>
              </a:rPr>
              <a:t>    │   │   │   ├── config.yaml</a:t>
            </a:r>
          </a:p>
          <a:p>
            <a:pPr algn="l">
              <a:lnSpc>
                <a:spcPct val="100000"/>
              </a:lnSpc>
            </a:pPr>
            <a:r>
              <a:rPr sz="800" b="0" i="0">
                <a:solidFill>
                  <a:srgbClr val="ECE7DC"/>
                </a:solidFill>
                <a:latin typeface="Consolas"/>
              </a:rPr>
              <a:t>    │   │   │   └── file_creator.py</a:t>
            </a:r>
          </a:p>
          <a:p>
            <a:pPr algn="l">
              <a:lnSpc>
                <a:spcPct val="100000"/>
              </a:lnSpc>
            </a:pPr>
            <a:r>
              <a:rPr sz="800" b="0" i="0">
                <a:solidFill>
                  <a:srgbClr val="3BBE93"/>
                </a:solidFill>
                <a:latin typeface="Consolas"/>
              </a:rPr>
              <a:t>    │   │   ├── file_extractor/</a:t>
            </a:r>
          </a:p>
          <a:p>
            <a:pPr algn="l">
              <a:lnSpc>
                <a:spcPct val="100000"/>
              </a:lnSpc>
            </a:pPr>
            <a:r>
              <a:rPr sz="800" b="0" i="0">
                <a:solidFill>
                  <a:srgbClr val="ECE7DC"/>
                </a:solidFill>
                <a:latin typeface="Consolas"/>
              </a:rPr>
              <a:t>    │   │   │   ├── config.yaml</a:t>
            </a:r>
          </a:p>
          <a:p>
            <a:pPr algn="l">
              <a:lnSpc>
                <a:spcPct val="100000"/>
              </a:lnSpc>
            </a:pPr>
            <a:r>
              <a:rPr sz="800" b="0" i="0">
                <a:solidFill>
                  <a:srgbClr val="ECE7DC"/>
                </a:solidFill>
                <a:latin typeface="Consolas"/>
              </a:rPr>
              <a:t>    │   │   │   └── file_extractor.py</a:t>
            </a:r>
          </a:p>
          <a:p>
            <a:pPr algn="l">
              <a:lnSpc>
                <a:spcPct val="100000"/>
              </a:lnSpc>
            </a:pPr>
            <a:r>
              <a:rPr sz="800" b="0" i="0">
                <a:solidFill>
                  <a:srgbClr val="3BBE93"/>
                </a:solidFill>
                <a:latin typeface="Consolas"/>
              </a:rPr>
              <a:t>    │   │   ├── file_interpreter/</a:t>
            </a:r>
          </a:p>
          <a:p>
            <a:pPr algn="l">
              <a:lnSpc>
                <a:spcPct val="100000"/>
              </a:lnSpc>
            </a:pPr>
            <a:r>
              <a:rPr sz="800" b="0" i="0">
                <a:solidFill>
                  <a:srgbClr val="ECE7DC"/>
                </a:solidFill>
                <a:latin typeface="Consolas"/>
              </a:rPr>
              <a:t>    │   │   │   ├── config.yaml</a:t>
            </a:r>
          </a:p>
          <a:p>
            <a:pPr algn="l">
              <a:lnSpc>
                <a:spcPct val="100000"/>
              </a:lnSpc>
            </a:pPr>
            <a:r>
              <a:rPr sz="800" b="0" i="0">
                <a:solidFill>
                  <a:srgbClr val="ECE7DC"/>
                </a:solidFill>
                <a:latin typeface="Consolas"/>
              </a:rPr>
              <a:t>    │   │   │   └── file_interpreter.py</a:t>
            </a:r>
          </a:p>
          <a:p>
            <a:pPr algn="l">
              <a:lnSpc>
                <a:spcPct val="100000"/>
              </a:lnSpc>
            </a:pPr>
            <a:r>
              <a:rPr sz="800" b="0" i="0">
                <a:solidFill>
                  <a:srgbClr val="3BBE93"/>
                </a:solidFill>
                <a:latin typeface="Consolas"/>
              </a:rPr>
              <a:t>    │   │   ├── flowbacker/</a:t>
            </a:r>
          </a:p>
          <a:p>
            <a:pPr algn="l">
              <a:lnSpc>
                <a:spcPct val="100000"/>
              </a:lnSpc>
            </a:pPr>
            <a:r>
              <a:rPr sz="800" b="0" i="0">
                <a:solidFill>
                  <a:srgbClr val="ECE7DC"/>
                </a:solidFill>
                <a:latin typeface="Consolas"/>
              </a:rPr>
              <a:t>    │   │   │   ├── config.yaml</a:t>
            </a:r>
          </a:p>
          <a:p>
            <a:pPr algn="l">
              <a:lnSpc>
                <a:spcPct val="100000"/>
              </a:lnSpc>
            </a:pPr>
            <a:r>
              <a:rPr sz="800" b="0" i="0">
                <a:solidFill>
                  <a:srgbClr val="ECE7DC"/>
                </a:solidFill>
                <a:latin typeface="Consolas"/>
              </a:rPr>
              <a:t>    │   │   │   └── flowbacker.py</a:t>
            </a:r>
          </a:p>
          <a:p>
            <a:pPr algn="l">
              <a:lnSpc>
                <a:spcPct val="100000"/>
              </a:lnSpc>
            </a:pPr>
            <a:r>
              <a:rPr sz="800" b="0" i="0">
                <a:solidFill>
                  <a:srgbClr val="3BBE93"/>
                </a:solidFill>
                <a:latin typeface="Consolas"/>
              </a:rPr>
              <a:t>    │   │   ├── flowcreator/</a:t>
            </a:r>
          </a:p>
          <a:p>
            <a:pPr algn="l">
              <a:lnSpc>
                <a:spcPct val="100000"/>
              </a:lnSpc>
            </a:pPr>
            <a:r>
              <a:rPr sz="800" b="0" i="0">
                <a:solidFill>
                  <a:srgbClr val="ECE7DC"/>
                </a:solidFill>
                <a:latin typeface="Consolas"/>
              </a:rPr>
              <a:t>    │   │   │   ├── agentic_skill.md</a:t>
            </a:r>
          </a:p>
          <a:p>
            <a:pPr algn="l">
              <a:lnSpc>
                <a:spcPct val="100000"/>
              </a:lnSpc>
            </a:pPr>
            <a:r>
              <a:rPr sz="800" b="0" i="0">
                <a:solidFill>
                  <a:srgbClr val="ECE7DC"/>
                </a:solidFill>
                <a:latin typeface="Consolas"/>
              </a:rPr>
              <a:t>    │   │   │   ├── config.yaml</a:t>
            </a:r>
          </a:p>
          <a:p>
            <a:pPr algn="l">
              <a:lnSpc>
                <a:spcPct val="100000"/>
              </a:lnSpc>
            </a:pPr>
            <a:r>
              <a:rPr sz="800" b="0" i="0">
                <a:solidFill>
                  <a:srgbClr val="ECE7DC"/>
                </a:solidFill>
                <a:latin typeface="Consolas"/>
              </a:rPr>
              <a:t>    │   │   │   ├── flow_catalog.json</a:t>
            </a:r>
          </a:p>
          <a:p>
            <a:pPr algn="l">
              <a:lnSpc>
                <a:spcPct val="100000"/>
              </a:lnSpc>
            </a:pPr>
            <a:r>
              <a:rPr sz="800" b="0" i="0">
                <a:solidFill>
                  <a:srgbClr val="ECE7DC"/>
                </a:solidFill>
                <a:latin typeface="Consolas"/>
              </a:rPr>
              <a:t>    │   │   │   ├── flow_knowledge.py</a:t>
            </a:r>
          </a:p>
          <a:p>
            <a:pPr algn="l">
              <a:lnSpc>
                <a:spcPct val="100000"/>
              </a:lnSpc>
            </a:pPr>
            <a:r>
              <a:rPr sz="800" b="0" i="0">
                <a:solidFill>
                  <a:srgbClr val="ECE7DC"/>
                </a:solidFill>
                <a:latin typeface="Consolas"/>
              </a:rPr>
              <a:t>    │   │   │   ├── flowcreator.py</a:t>
            </a:r>
          </a:p>
          <a:p>
            <a:pPr algn="l">
              <a:lnSpc>
                <a:spcPct val="100000"/>
              </a:lnSpc>
            </a:pPr>
            <a:r>
              <a:rPr sz="800" b="0" i="0">
                <a:solidFill>
                  <a:srgbClr val="ECE7DC"/>
                </a:solidFill>
                <a:latin typeface="Consolas"/>
              </a:rPr>
              <a:t>    │   │   │   └── result_to_flw.py</a:t>
            </a:r>
          </a:p>
          <a:p>
            <a:pPr algn="l">
              <a:lnSpc>
                <a:spcPct val="100000"/>
              </a:lnSpc>
            </a:pPr>
            <a:r>
              <a:rPr sz="800" b="0" i="0">
                <a:solidFill>
                  <a:srgbClr val="3BBE93"/>
                </a:solidFill>
                <a:latin typeface="Consolas"/>
              </a:rPr>
              <a:t>    │   │   ├── flowhypervisor/</a:t>
            </a:r>
          </a:p>
          <a:p>
            <a:pPr algn="l">
              <a:lnSpc>
                <a:spcPct val="100000"/>
              </a:lnSpc>
            </a:pPr>
            <a:r>
              <a:rPr sz="800" b="0" i="0">
                <a:solidFill>
                  <a:srgbClr val="ECE7DC"/>
                </a:solidFill>
                <a:latin typeface="Consolas"/>
              </a:rPr>
              <a:t>    │   │   │   ├── config.yaml</a:t>
            </a:r>
          </a:p>
          <a:p>
            <a:pPr algn="l">
              <a:lnSpc>
                <a:spcPct val="100000"/>
              </a:lnSpc>
            </a:pPr>
            <a:r>
              <a:rPr sz="800" b="0" i="0">
                <a:solidFill>
                  <a:srgbClr val="ECE7DC"/>
                </a:solidFill>
                <a:latin typeface="Consolas"/>
              </a:rPr>
              <a:t>    │   │   │   ├── flowhypervisor.py</a:t>
            </a:r>
          </a:p>
          <a:p>
            <a:pPr algn="l">
              <a:lnSpc>
                <a:spcPct val="100000"/>
              </a:lnSpc>
            </a:pPr>
            <a:r>
              <a:rPr sz="800" b="0" i="0">
                <a:solidFill>
                  <a:srgbClr val="ECE7DC"/>
                </a:solidFill>
                <a:latin typeface="Consolas"/>
              </a:rPr>
              <a:t>    │   │   │   ├── hypervisor_alert.wav</a:t>
            </a:r>
          </a:p>
          <a:p>
            <a:pPr algn="l">
              <a:lnSpc>
                <a:spcPct val="100000"/>
              </a:lnSpc>
            </a:pPr>
            <a:r>
              <a:rPr sz="800" b="0" i="0">
                <a:solidFill>
                  <a:srgbClr val="ECE7DC"/>
                </a:solidFill>
                <a:latin typeface="Consolas"/>
              </a:rPr>
              <a:t>    │   │   │   └── monitoring-prompt.pmt</a:t>
            </a:r>
          </a:p>
          <a:p>
            <a:pPr algn="l">
              <a:lnSpc>
                <a:spcPct val="100000"/>
              </a:lnSpc>
            </a:pPr>
            <a:r>
              <a:rPr sz="800" b="0" i="0">
                <a:solidFill>
                  <a:srgbClr val="3BBE93"/>
                </a:solidFill>
                <a:latin typeface="Consolas"/>
              </a:rPr>
              <a:t>    │   │   ├── forker/</a:t>
            </a:r>
          </a:p>
        </p:txBody>
      </p:sp>
      <p:sp>
        <p:nvSpPr>
          <p:cNvPr id="6" name="TextBox 5"/>
          <p:cNvSpPr txBox="1"/>
          <p:nvPr/>
        </p:nvSpPr>
        <p:spPr>
          <a:xfrm>
            <a:off x="4338218" y="1170432"/>
            <a:ext cx="3515258" cy="5084064"/>
          </a:xfrm>
          <a:prstGeom prst="rect">
            <a:avLst/>
          </a:prstGeom>
          <a:noFill/>
        </p:spPr>
        <p:txBody>
          <a:bodyPr wrap="none" lIns="45720" rIns="45720" tIns="27432" bIns="27432" anchor="t">
            <a:noAutofit/>
          </a:bodyPr>
          <a:lstStyle/>
          <a:p>
            <a:pPr algn="l">
              <a:lnSpc>
                <a:spcPct val="100000"/>
              </a:lnSpc>
            </a:pPr>
            <a:r>
              <a:rPr sz="800" b="0" i="0">
                <a:solidFill>
                  <a:srgbClr val="ECE7DC"/>
                </a:solidFill>
                <a:latin typeface="Consolas"/>
              </a:rPr>
              <a:t>    │   │   │   ├── config.yaml</a:t>
            </a:r>
          </a:p>
          <a:p>
            <a:pPr algn="l">
              <a:lnSpc>
                <a:spcPct val="100000"/>
              </a:lnSpc>
            </a:pPr>
            <a:r>
              <a:rPr sz="800" b="0" i="0">
                <a:solidFill>
                  <a:srgbClr val="ECE7DC"/>
                </a:solidFill>
                <a:latin typeface="Consolas"/>
              </a:rPr>
              <a:t>    │   │   │   └── forker.py</a:t>
            </a:r>
          </a:p>
          <a:p>
            <a:pPr algn="l">
              <a:lnSpc>
                <a:spcPct val="100000"/>
              </a:lnSpc>
            </a:pPr>
            <a:r>
              <a:rPr sz="800" b="0" i="0">
                <a:solidFill>
                  <a:srgbClr val="3BBE93"/>
                </a:solidFill>
                <a:latin typeface="Consolas"/>
              </a:rPr>
              <a:t>    │   │   ├── gitter/</a:t>
            </a:r>
          </a:p>
          <a:p>
            <a:pPr algn="l">
              <a:lnSpc>
                <a:spcPct val="100000"/>
              </a:lnSpc>
            </a:pPr>
            <a:r>
              <a:rPr sz="800" b="0" i="0">
                <a:solidFill>
                  <a:srgbClr val="ECE7DC"/>
                </a:solidFill>
                <a:latin typeface="Consolas"/>
              </a:rPr>
              <a:t>    │   │   │   ├── config.yaml</a:t>
            </a:r>
          </a:p>
          <a:p>
            <a:pPr algn="l">
              <a:lnSpc>
                <a:spcPct val="100000"/>
              </a:lnSpc>
            </a:pPr>
            <a:r>
              <a:rPr sz="800" b="0" i="0">
                <a:solidFill>
                  <a:srgbClr val="ECE7DC"/>
                </a:solidFill>
                <a:latin typeface="Consolas"/>
              </a:rPr>
              <a:t>    │   │   │   └── gitter.py</a:t>
            </a:r>
          </a:p>
          <a:p>
            <a:pPr algn="l">
              <a:lnSpc>
                <a:spcPct val="100000"/>
              </a:lnSpc>
            </a:pPr>
            <a:r>
              <a:rPr sz="800" b="0" i="0">
                <a:solidFill>
                  <a:srgbClr val="3BBE93"/>
                </a:solidFill>
                <a:latin typeface="Consolas"/>
              </a:rPr>
              <a:t>    │   │   ├── globber/</a:t>
            </a:r>
          </a:p>
          <a:p>
            <a:pPr algn="l">
              <a:lnSpc>
                <a:spcPct val="100000"/>
              </a:lnSpc>
            </a:pPr>
            <a:r>
              <a:rPr sz="800" b="0" i="0">
                <a:solidFill>
                  <a:srgbClr val="ECE7DC"/>
                </a:solidFill>
                <a:latin typeface="Consolas"/>
              </a:rPr>
              <a:t>    │   │   │   ├── config.yaml</a:t>
            </a:r>
          </a:p>
          <a:p>
            <a:pPr algn="l">
              <a:lnSpc>
                <a:spcPct val="100000"/>
              </a:lnSpc>
            </a:pPr>
            <a:r>
              <a:rPr sz="800" b="0" i="0">
                <a:solidFill>
                  <a:srgbClr val="ECE7DC"/>
                </a:solidFill>
                <a:latin typeface="Consolas"/>
              </a:rPr>
              <a:t>    │   │   │   └── globber.py</a:t>
            </a:r>
          </a:p>
          <a:p>
            <a:pPr algn="l">
              <a:lnSpc>
                <a:spcPct val="100000"/>
              </a:lnSpc>
            </a:pPr>
            <a:r>
              <a:rPr sz="800" b="0" i="0">
                <a:solidFill>
                  <a:srgbClr val="3BBE93"/>
                </a:solidFill>
                <a:latin typeface="Consolas"/>
              </a:rPr>
              <a:t>    │   │   ├── googler/</a:t>
            </a:r>
          </a:p>
          <a:p>
            <a:pPr algn="l">
              <a:lnSpc>
                <a:spcPct val="100000"/>
              </a:lnSpc>
            </a:pPr>
            <a:r>
              <a:rPr sz="800" b="0" i="0">
                <a:solidFill>
                  <a:srgbClr val="ECE7DC"/>
                </a:solidFill>
                <a:latin typeface="Consolas"/>
              </a:rPr>
              <a:t>    │   │   │   ├── config.yaml</a:t>
            </a:r>
          </a:p>
          <a:p>
            <a:pPr algn="l">
              <a:lnSpc>
                <a:spcPct val="100000"/>
              </a:lnSpc>
            </a:pPr>
            <a:r>
              <a:rPr sz="800" b="0" i="0">
                <a:solidFill>
                  <a:srgbClr val="ECE7DC"/>
                </a:solidFill>
                <a:latin typeface="Consolas"/>
              </a:rPr>
              <a:t>    │   │   │   ├── googler.py</a:t>
            </a:r>
          </a:p>
          <a:p>
            <a:pPr algn="l">
              <a:lnSpc>
                <a:spcPct val="100000"/>
              </a:lnSpc>
            </a:pPr>
            <a:r>
              <a:rPr sz="800" b="0" i="0">
                <a:solidFill>
                  <a:srgbClr val="ECE7DC"/>
                </a:solidFill>
                <a:latin typeface="Consolas"/>
              </a:rPr>
              <a:t>    │   │   │   └── googler_engines.py</a:t>
            </a:r>
          </a:p>
          <a:p>
            <a:pPr algn="l">
              <a:lnSpc>
                <a:spcPct val="100000"/>
              </a:lnSpc>
            </a:pPr>
            <a:r>
              <a:rPr sz="800" b="0" i="0">
                <a:solidFill>
                  <a:srgbClr val="3BBE93"/>
                </a:solidFill>
                <a:latin typeface="Consolas"/>
              </a:rPr>
              <a:t>    │   │   ├── grepper/</a:t>
            </a:r>
          </a:p>
          <a:p>
            <a:pPr algn="l">
              <a:lnSpc>
                <a:spcPct val="100000"/>
              </a:lnSpc>
            </a:pPr>
            <a:r>
              <a:rPr sz="800" b="0" i="0">
                <a:solidFill>
                  <a:srgbClr val="ECE7DC"/>
                </a:solidFill>
                <a:latin typeface="Consolas"/>
              </a:rPr>
              <a:t>    │   │   │   ├── config.yaml</a:t>
            </a:r>
          </a:p>
          <a:p>
            <a:pPr algn="l">
              <a:lnSpc>
                <a:spcPct val="100000"/>
              </a:lnSpc>
            </a:pPr>
            <a:r>
              <a:rPr sz="800" b="0" i="0">
                <a:solidFill>
                  <a:srgbClr val="ECE7DC"/>
                </a:solidFill>
                <a:latin typeface="Consolas"/>
              </a:rPr>
              <a:t>    │   │   │   └── grepper.py</a:t>
            </a:r>
          </a:p>
          <a:p>
            <a:pPr algn="l">
              <a:lnSpc>
                <a:spcPct val="100000"/>
              </a:lnSpc>
            </a:pPr>
            <a:r>
              <a:rPr sz="800" b="0" i="0">
                <a:solidFill>
                  <a:srgbClr val="3BBE93"/>
                </a:solidFill>
                <a:latin typeface="Consolas"/>
              </a:rPr>
              <a:t>    │   │   ├── image_interpreter/</a:t>
            </a:r>
          </a:p>
          <a:p>
            <a:pPr algn="l">
              <a:lnSpc>
                <a:spcPct val="100000"/>
              </a:lnSpc>
            </a:pPr>
            <a:r>
              <a:rPr sz="800" b="0" i="0">
                <a:solidFill>
                  <a:srgbClr val="ECE7DC"/>
                </a:solidFill>
                <a:latin typeface="Consolas"/>
              </a:rPr>
              <a:t>    │   │   │   ├── config.yaml</a:t>
            </a:r>
          </a:p>
          <a:p>
            <a:pPr algn="l">
              <a:lnSpc>
                <a:spcPct val="100000"/>
              </a:lnSpc>
            </a:pPr>
            <a:r>
              <a:rPr sz="800" b="0" i="0">
                <a:solidFill>
                  <a:srgbClr val="ECE7DC"/>
                </a:solidFill>
                <a:latin typeface="Consolas"/>
              </a:rPr>
              <a:t>    │   │   │   └── image_interpreter.py</a:t>
            </a:r>
          </a:p>
          <a:p>
            <a:pPr algn="l">
              <a:lnSpc>
                <a:spcPct val="100000"/>
              </a:lnSpc>
            </a:pPr>
            <a:r>
              <a:rPr sz="800" b="0" i="0">
                <a:solidFill>
                  <a:srgbClr val="3BBE93"/>
                </a:solidFill>
                <a:latin typeface="Consolas"/>
              </a:rPr>
              <a:t>    │   │   ├── instant_messaging_doctor/</a:t>
            </a:r>
          </a:p>
          <a:p>
            <a:pPr algn="l">
              <a:lnSpc>
                <a:spcPct val="100000"/>
              </a:lnSpc>
            </a:pPr>
            <a:r>
              <a:rPr sz="800" b="0" i="0">
                <a:solidFill>
                  <a:srgbClr val="ECE7DC"/>
                </a:solidFill>
                <a:latin typeface="Consolas"/>
              </a:rPr>
              <a:t>    │   │   │   ├── config.yaml</a:t>
            </a:r>
          </a:p>
          <a:p>
            <a:pPr algn="l">
              <a:lnSpc>
                <a:spcPct val="100000"/>
              </a:lnSpc>
            </a:pPr>
            <a:r>
              <a:rPr sz="800" b="0" i="0">
                <a:solidFill>
                  <a:srgbClr val="ECE7DC"/>
                </a:solidFill>
                <a:latin typeface="Consolas"/>
              </a:rPr>
              <a:t>    │   │   │   └── instant_messaging_doctor.py</a:t>
            </a:r>
          </a:p>
          <a:p>
            <a:pPr algn="l">
              <a:lnSpc>
                <a:spcPct val="100000"/>
              </a:lnSpc>
            </a:pPr>
            <a:r>
              <a:rPr sz="800" b="0" i="0">
                <a:solidFill>
                  <a:srgbClr val="3BBE93"/>
                </a:solidFill>
                <a:latin typeface="Consolas"/>
              </a:rPr>
              <a:t>    │   │   ├── j_decompiler/</a:t>
            </a:r>
          </a:p>
          <a:p>
            <a:pPr algn="l">
              <a:lnSpc>
                <a:spcPct val="100000"/>
              </a:lnSpc>
            </a:pPr>
            <a:r>
              <a:rPr sz="800" b="0" i="0">
                <a:solidFill>
                  <a:srgbClr val="ECE7DC"/>
                </a:solidFill>
                <a:latin typeface="Consolas"/>
              </a:rPr>
              <a:t>    │   │   │   ├── config.yaml</a:t>
            </a:r>
          </a:p>
          <a:p>
            <a:pPr algn="l">
              <a:lnSpc>
                <a:spcPct val="100000"/>
              </a:lnSpc>
            </a:pPr>
            <a:r>
              <a:rPr sz="800" b="0" i="0">
                <a:solidFill>
                  <a:srgbClr val="ECE7DC"/>
                </a:solidFill>
                <a:latin typeface="Consolas"/>
              </a:rPr>
              <a:t>    │   │   │   └── j_decompiler.py</a:t>
            </a:r>
          </a:p>
          <a:p>
            <a:pPr algn="l">
              <a:lnSpc>
                <a:spcPct val="100000"/>
              </a:lnSpc>
            </a:pPr>
            <a:r>
              <a:rPr sz="800" b="0" i="0">
                <a:solidFill>
                  <a:srgbClr val="3BBE93"/>
                </a:solidFill>
                <a:latin typeface="Consolas"/>
              </a:rPr>
              <a:t>    │   │   ├── jenkinser/</a:t>
            </a:r>
          </a:p>
          <a:p>
            <a:pPr algn="l">
              <a:lnSpc>
                <a:spcPct val="100000"/>
              </a:lnSpc>
            </a:pPr>
            <a:r>
              <a:rPr sz="800" b="0" i="0">
                <a:solidFill>
                  <a:srgbClr val="ECE7DC"/>
                </a:solidFill>
                <a:latin typeface="Consolas"/>
              </a:rPr>
              <a:t>    │   │   │   ├── config.yaml</a:t>
            </a:r>
          </a:p>
          <a:p>
            <a:pPr algn="l">
              <a:lnSpc>
                <a:spcPct val="100000"/>
              </a:lnSpc>
            </a:pPr>
            <a:r>
              <a:rPr sz="800" b="0" i="0">
                <a:solidFill>
                  <a:srgbClr val="ECE7DC"/>
                </a:solidFill>
                <a:latin typeface="Consolas"/>
              </a:rPr>
              <a:t>    │   │   │   └── jenkinser.py</a:t>
            </a:r>
          </a:p>
          <a:p>
            <a:pPr algn="l">
              <a:lnSpc>
                <a:spcPct val="100000"/>
              </a:lnSpc>
            </a:pPr>
            <a:r>
              <a:rPr sz="800" b="0" i="0">
                <a:solidFill>
                  <a:srgbClr val="3BBE93"/>
                </a:solidFill>
                <a:latin typeface="Consolas"/>
              </a:rPr>
              <a:t>    │   │   ├── kalier/</a:t>
            </a:r>
          </a:p>
          <a:p>
            <a:pPr algn="l">
              <a:lnSpc>
                <a:spcPct val="100000"/>
              </a:lnSpc>
            </a:pPr>
            <a:r>
              <a:rPr sz="800" b="0" i="0">
                <a:solidFill>
                  <a:srgbClr val="ECE7DC"/>
                </a:solidFill>
                <a:latin typeface="Consolas"/>
              </a:rPr>
              <a:t>    │   │   │   ├── config.yaml</a:t>
            </a:r>
          </a:p>
          <a:p>
            <a:pPr algn="l">
              <a:lnSpc>
                <a:spcPct val="100000"/>
              </a:lnSpc>
            </a:pPr>
            <a:r>
              <a:rPr sz="800" b="0" i="0">
                <a:solidFill>
                  <a:srgbClr val="ECE7DC"/>
                </a:solidFill>
                <a:latin typeface="Consolas"/>
              </a:rPr>
              <a:t>    │   │   │   └── kalier.py</a:t>
            </a:r>
          </a:p>
          <a:p>
            <a:pPr algn="l">
              <a:lnSpc>
                <a:spcPct val="100000"/>
              </a:lnSpc>
            </a:pPr>
            <a:r>
              <a:rPr sz="800" b="0" i="0">
                <a:solidFill>
                  <a:srgbClr val="3BBE93"/>
                </a:solidFill>
                <a:latin typeface="Consolas"/>
              </a:rPr>
              <a:t>    │   │   ├── keyboarder/</a:t>
            </a:r>
          </a:p>
          <a:p>
            <a:pPr algn="l">
              <a:lnSpc>
                <a:spcPct val="100000"/>
              </a:lnSpc>
            </a:pPr>
            <a:r>
              <a:rPr sz="800" b="0" i="0">
                <a:solidFill>
                  <a:srgbClr val="ECE7DC"/>
                </a:solidFill>
                <a:latin typeface="Consolas"/>
              </a:rPr>
              <a:t>    │   │   │   ├── config.yaml</a:t>
            </a:r>
          </a:p>
          <a:p>
            <a:pPr algn="l">
              <a:lnSpc>
                <a:spcPct val="100000"/>
              </a:lnSpc>
            </a:pPr>
            <a:r>
              <a:rPr sz="800" b="0" i="0">
                <a:solidFill>
                  <a:srgbClr val="ECE7DC"/>
                </a:solidFill>
                <a:latin typeface="Consolas"/>
              </a:rPr>
              <a:t>    │   │   │   ├── keyboarder.py</a:t>
            </a:r>
          </a:p>
          <a:p>
            <a:pPr algn="l">
              <a:lnSpc>
                <a:spcPct val="100000"/>
              </a:lnSpc>
            </a:pPr>
            <a:r>
              <a:rPr sz="800" b="0" i="0">
                <a:solidFill>
                  <a:srgbClr val="ECE7DC"/>
                </a:solidFill>
                <a:latin typeface="Consolas"/>
              </a:rPr>
              <a:t>    │   │   │   └── keyboarder_input.py</a:t>
            </a:r>
          </a:p>
          <a:p>
            <a:pPr algn="l">
              <a:lnSpc>
                <a:spcPct val="100000"/>
              </a:lnSpc>
            </a:pPr>
            <a:r>
              <a:rPr sz="800" b="0" i="0">
                <a:solidFill>
                  <a:srgbClr val="3BBE93"/>
                </a:solidFill>
                <a:latin typeface="Consolas"/>
              </a:rPr>
              <a:t>    │   │   ├── kuberneter/</a:t>
            </a:r>
          </a:p>
          <a:p>
            <a:pPr algn="l">
              <a:lnSpc>
                <a:spcPct val="100000"/>
              </a:lnSpc>
            </a:pPr>
            <a:r>
              <a:rPr sz="800" b="0" i="0">
                <a:solidFill>
                  <a:srgbClr val="ECE7DC"/>
                </a:solidFill>
                <a:latin typeface="Consolas"/>
              </a:rPr>
              <a:t>    │   │   │   ├── config.yaml</a:t>
            </a:r>
          </a:p>
          <a:p>
            <a:pPr algn="l">
              <a:lnSpc>
                <a:spcPct val="100000"/>
              </a:lnSpc>
            </a:pPr>
            <a:r>
              <a:rPr sz="800" b="0" i="0">
                <a:solidFill>
                  <a:srgbClr val="ECE7DC"/>
                </a:solidFill>
                <a:latin typeface="Consolas"/>
              </a:rPr>
              <a:t>    │   │   │   └── kuberneter.py</a:t>
            </a:r>
          </a:p>
          <a:p>
            <a:pPr algn="l">
              <a:lnSpc>
                <a:spcPct val="100000"/>
              </a:lnSpc>
            </a:pPr>
            <a:r>
              <a:rPr sz="800" b="0" i="0">
                <a:solidFill>
                  <a:srgbClr val="3BBE93"/>
                </a:solidFill>
                <a:latin typeface="Consolas"/>
              </a:rPr>
              <a:t>    │   │   ├── kyber_cipher/</a:t>
            </a:r>
          </a:p>
          <a:p>
            <a:pPr algn="l">
              <a:lnSpc>
                <a:spcPct val="100000"/>
              </a:lnSpc>
            </a:pPr>
            <a:r>
              <a:rPr sz="800" b="0" i="0">
                <a:solidFill>
                  <a:srgbClr val="ECE7DC"/>
                </a:solidFill>
                <a:latin typeface="Consolas"/>
              </a:rPr>
              <a:t>    │   │   │   ├── config.yaml</a:t>
            </a:r>
          </a:p>
          <a:p>
            <a:pPr algn="l">
              <a:lnSpc>
                <a:spcPct val="100000"/>
              </a:lnSpc>
            </a:pPr>
            <a:r>
              <a:rPr sz="800" b="0" i="0">
                <a:solidFill>
                  <a:srgbClr val="ECE7DC"/>
                </a:solidFill>
                <a:latin typeface="Consolas"/>
              </a:rPr>
              <a:t>    │   │   │   └── kyber_cipher.py</a:t>
            </a:r>
          </a:p>
          <a:p>
            <a:pPr algn="l">
              <a:lnSpc>
                <a:spcPct val="100000"/>
              </a:lnSpc>
            </a:pPr>
            <a:r>
              <a:rPr sz="800" b="0" i="0">
                <a:solidFill>
                  <a:srgbClr val="3BBE93"/>
                </a:solidFill>
                <a:latin typeface="Consolas"/>
              </a:rPr>
              <a:t>    │   │   ├── kyber_decipher/</a:t>
            </a:r>
          </a:p>
        </p:txBody>
      </p:sp>
      <p:sp>
        <p:nvSpPr>
          <p:cNvPr id="7" name="TextBox 6"/>
          <p:cNvSpPr txBox="1"/>
          <p:nvPr/>
        </p:nvSpPr>
        <p:spPr>
          <a:xfrm>
            <a:off x="8109508" y="1170432"/>
            <a:ext cx="3515258" cy="5084064"/>
          </a:xfrm>
          <a:prstGeom prst="rect">
            <a:avLst/>
          </a:prstGeom>
          <a:noFill/>
        </p:spPr>
        <p:txBody>
          <a:bodyPr wrap="none" lIns="45720" rIns="45720" tIns="27432" bIns="27432" anchor="t">
            <a:noAutofit/>
          </a:bodyPr>
          <a:lstStyle/>
          <a:p>
            <a:pPr algn="l">
              <a:lnSpc>
                <a:spcPct val="100000"/>
              </a:lnSpc>
            </a:pPr>
            <a:r>
              <a:rPr sz="800" b="0" i="0">
                <a:solidFill>
                  <a:srgbClr val="ECE7DC"/>
                </a:solidFill>
                <a:latin typeface="Consolas"/>
              </a:rPr>
              <a:t>    │   │   │   ├── config.yaml</a:t>
            </a:r>
          </a:p>
          <a:p>
            <a:pPr algn="l">
              <a:lnSpc>
                <a:spcPct val="100000"/>
              </a:lnSpc>
            </a:pPr>
            <a:r>
              <a:rPr sz="800" b="0" i="0">
                <a:solidFill>
                  <a:srgbClr val="ECE7DC"/>
                </a:solidFill>
                <a:latin typeface="Consolas"/>
              </a:rPr>
              <a:t>    │   │   │   └── kyber_decipher.py</a:t>
            </a:r>
          </a:p>
          <a:p>
            <a:pPr algn="l">
              <a:lnSpc>
                <a:spcPct val="100000"/>
              </a:lnSpc>
            </a:pPr>
            <a:r>
              <a:rPr sz="800" b="0" i="0">
                <a:solidFill>
                  <a:srgbClr val="3BBE93"/>
                </a:solidFill>
                <a:latin typeface="Consolas"/>
              </a:rPr>
              <a:t>    │   │   ├── kyber_keygen/</a:t>
            </a:r>
          </a:p>
          <a:p>
            <a:pPr algn="l">
              <a:lnSpc>
                <a:spcPct val="100000"/>
              </a:lnSpc>
            </a:pPr>
            <a:r>
              <a:rPr sz="800" b="0" i="0">
                <a:solidFill>
                  <a:srgbClr val="ECE7DC"/>
                </a:solidFill>
                <a:latin typeface="Consolas"/>
              </a:rPr>
              <a:t>    │   │   │   ├── config.yaml</a:t>
            </a:r>
          </a:p>
          <a:p>
            <a:pPr algn="l">
              <a:lnSpc>
                <a:spcPct val="100000"/>
              </a:lnSpc>
            </a:pPr>
            <a:r>
              <a:rPr sz="800" b="0" i="0">
                <a:solidFill>
                  <a:srgbClr val="ECE7DC"/>
                </a:solidFill>
                <a:latin typeface="Consolas"/>
              </a:rPr>
              <a:t>    │   │   │   └── kyber_keygen.py</a:t>
            </a:r>
          </a:p>
          <a:p>
            <a:pPr algn="l">
              <a:lnSpc>
                <a:spcPct val="100000"/>
              </a:lnSpc>
            </a:pPr>
            <a:r>
              <a:rPr sz="800" b="0" i="0">
                <a:solidFill>
                  <a:srgbClr val="3BBE93"/>
                </a:solidFill>
                <a:latin typeface="Consolas"/>
              </a:rPr>
              <a:t>    │   │   ├── latexer/</a:t>
            </a:r>
          </a:p>
          <a:p>
            <a:pPr algn="l">
              <a:lnSpc>
                <a:spcPct val="100000"/>
              </a:lnSpc>
            </a:pPr>
            <a:r>
              <a:rPr sz="800" b="0" i="0">
                <a:solidFill>
                  <a:srgbClr val="ECE7DC"/>
                </a:solidFill>
                <a:latin typeface="Consolas"/>
              </a:rPr>
              <a:t>    │   │   │   ├── config.yaml</a:t>
            </a:r>
          </a:p>
          <a:p>
            <a:pPr algn="l">
              <a:lnSpc>
                <a:spcPct val="100000"/>
              </a:lnSpc>
            </a:pPr>
            <a:r>
              <a:rPr sz="800" b="0" i="0">
                <a:solidFill>
                  <a:srgbClr val="ECE7DC"/>
                </a:solidFill>
                <a:latin typeface="Consolas"/>
              </a:rPr>
              <a:t>    │   │   │   ├── latexer.py</a:t>
            </a:r>
          </a:p>
          <a:p>
            <a:pPr algn="l">
              <a:lnSpc>
                <a:spcPct val="100000"/>
              </a:lnSpc>
            </a:pPr>
            <a:r>
              <a:rPr sz="800" b="0" i="0">
                <a:solidFill>
                  <a:srgbClr val="ECE7DC"/>
                </a:solidFill>
                <a:latin typeface="Consolas"/>
              </a:rPr>
              <a:t>    │   │   │   ├── latexer_artwork.py</a:t>
            </a:r>
          </a:p>
          <a:p>
            <a:pPr algn="l">
              <a:lnSpc>
                <a:spcPct val="100000"/>
              </a:lnSpc>
            </a:pPr>
            <a:r>
              <a:rPr sz="800" b="0" i="0">
                <a:solidFill>
                  <a:srgbClr val="ECE7DC"/>
                </a:solidFill>
                <a:latin typeface="Consolas"/>
              </a:rPr>
              <a:t>    │   │   │   ├── latexer_design.py</a:t>
            </a:r>
          </a:p>
          <a:p>
            <a:pPr algn="l">
              <a:lnSpc>
                <a:spcPct val="100000"/>
              </a:lnSpc>
            </a:pPr>
            <a:r>
              <a:rPr sz="800" b="0" i="0">
                <a:solidFill>
                  <a:srgbClr val="ECE7DC"/>
                </a:solidFill>
                <a:latin typeface="Consolas"/>
              </a:rPr>
              <a:t>    │   │   │   ├── latexer_styles.py</a:t>
            </a:r>
          </a:p>
          <a:p>
            <a:pPr algn="l">
              <a:lnSpc>
                <a:spcPct val="100000"/>
              </a:lnSpc>
            </a:pPr>
            <a:r>
              <a:rPr sz="800" b="0" i="0">
                <a:solidFill>
                  <a:srgbClr val="ECE7DC"/>
                </a:solidFill>
                <a:latin typeface="Consolas"/>
              </a:rPr>
              <a:t>    │   │   │   └── STYLES.md</a:t>
            </a:r>
          </a:p>
          <a:p>
            <a:pPr algn="l">
              <a:lnSpc>
                <a:spcPct val="100000"/>
              </a:lnSpc>
            </a:pPr>
            <a:r>
              <a:rPr sz="800" b="0" i="0">
                <a:solidFill>
                  <a:srgbClr val="3BBE93"/>
                </a:solidFill>
                <a:latin typeface="Consolas"/>
              </a:rPr>
              <a:t>    │   │   ├── mcp_doctor/</a:t>
            </a:r>
          </a:p>
          <a:p>
            <a:pPr algn="l">
              <a:lnSpc>
                <a:spcPct val="100000"/>
              </a:lnSpc>
            </a:pPr>
            <a:r>
              <a:rPr sz="800" b="0" i="0">
                <a:solidFill>
                  <a:srgbClr val="ECE7DC"/>
                </a:solidFill>
                <a:latin typeface="Consolas"/>
              </a:rPr>
              <a:t>    │   │   │   ├── config.yaml</a:t>
            </a:r>
          </a:p>
          <a:p>
            <a:pPr algn="l">
              <a:lnSpc>
                <a:spcPct val="100000"/>
              </a:lnSpc>
            </a:pPr>
            <a:r>
              <a:rPr sz="800" b="0" i="0">
                <a:solidFill>
                  <a:srgbClr val="ECE7DC"/>
                </a:solidFill>
                <a:latin typeface="Consolas"/>
              </a:rPr>
              <a:t>    │   │   │   └── mcp_doctor.py</a:t>
            </a:r>
          </a:p>
          <a:p>
            <a:pPr algn="l">
              <a:lnSpc>
                <a:spcPct val="100000"/>
              </a:lnSpc>
            </a:pPr>
            <a:r>
              <a:rPr sz="800" b="0" i="0">
                <a:solidFill>
                  <a:srgbClr val="3BBE93"/>
                </a:solidFill>
                <a:latin typeface="Consolas"/>
              </a:rPr>
              <a:t>    │   │   ├── mongoxer/</a:t>
            </a:r>
          </a:p>
          <a:p>
            <a:pPr algn="l">
              <a:lnSpc>
                <a:spcPct val="100000"/>
              </a:lnSpc>
            </a:pPr>
            <a:r>
              <a:rPr sz="800" b="0" i="0">
                <a:solidFill>
                  <a:srgbClr val="ECE7DC"/>
                </a:solidFill>
                <a:latin typeface="Consolas"/>
              </a:rPr>
              <a:t>    │   │   │   ├── config.yaml</a:t>
            </a:r>
          </a:p>
          <a:p>
            <a:pPr algn="l">
              <a:lnSpc>
                <a:spcPct val="100000"/>
              </a:lnSpc>
            </a:pPr>
            <a:r>
              <a:rPr sz="800" b="0" i="0">
                <a:solidFill>
                  <a:srgbClr val="ECE7DC"/>
                </a:solidFill>
                <a:latin typeface="Consolas"/>
              </a:rPr>
              <a:t>    │   │   │   └── mongoxer.py</a:t>
            </a:r>
          </a:p>
          <a:p>
            <a:pPr algn="l">
              <a:lnSpc>
                <a:spcPct val="100000"/>
              </a:lnSpc>
            </a:pPr>
            <a:r>
              <a:rPr sz="800" b="0" i="0">
                <a:solidFill>
                  <a:srgbClr val="3BBE93"/>
                </a:solidFill>
                <a:latin typeface="Consolas"/>
              </a:rPr>
              <a:t>    │   │   ├── monitor_log/</a:t>
            </a:r>
          </a:p>
          <a:p>
            <a:pPr algn="l">
              <a:lnSpc>
                <a:spcPct val="100000"/>
              </a:lnSpc>
            </a:pPr>
            <a:r>
              <a:rPr sz="800" b="0" i="0">
                <a:solidFill>
                  <a:srgbClr val="ECE7DC"/>
                </a:solidFill>
                <a:latin typeface="Consolas"/>
              </a:rPr>
              <a:t>    │   │   │   ├── config.yaml</a:t>
            </a:r>
          </a:p>
          <a:p>
            <a:pPr algn="l">
              <a:lnSpc>
                <a:spcPct val="100000"/>
              </a:lnSpc>
            </a:pPr>
            <a:r>
              <a:rPr sz="800" b="0" i="0">
                <a:solidFill>
                  <a:srgbClr val="ECE7DC"/>
                </a:solidFill>
                <a:latin typeface="Consolas"/>
              </a:rPr>
              <a:t>    │   │   │   └── monitor_log.py</a:t>
            </a:r>
          </a:p>
          <a:p>
            <a:pPr algn="l">
              <a:lnSpc>
                <a:spcPct val="100000"/>
              </a:lnSpc>
            </a:pPr>
            <a:r>
              <a:rPr sz="800" b="0" i="0">
                <a:solidFill>
                  <a:srgbClr val="3BBE93"/>
                </a:solidFill>
                <a:latin typeface="Consolas"/>
              </a:rPr>
              <a:t>    │   │   ├── monitor_netstat/</a:t>
            </a:r>
          </a:p>
          <a:p>
            <a:pPr algn="l">
              <a:lnSpc>
                <a:spcPct val="100000"/>
              </a:lnSpc>
            </a:pPr>
            <a:r>
              <a:rPr sz="800" b="0" i="0">
                <a:solidFill>
                  <a:srgbClr val="ECE7DC"/>
                </a:solidFill>
                <a:latin typeface="Consolas"/>
              </a:rPr>
              <a:t>    │   │   │   ├── config.yaml</a:t>
            </a:r>
          </a:p>
          <a:p>
            <a:pPr algn="l">
              <a:lnSpc>
                <a:spcPct val="100000"/>
              </a:lnSpc>
            </a:pPr>
            <a:r>
              <a:rPr sz="800" b="0" i="0">
                <a:solidFill>
                  <a:srgbClr val="ECE7DC"/>
                </a:solidFill>
                <a:latin typeface="Consolas"/>
              </a:rPr>
              <a:t>    │   │   │   └── monitor_netstat.py</a:t>
            </a:r>
          </a:p>
          <a:p>
            <a:pPr algn="l">
              <a:lnSpc>
                <a:spcPct val="100000"/>
              </a:lnSpc>
            </a:pPr>
            <a:r>
              <a:rPr sz="800" b="0" i="0">
                <a:solidFill>
                  <a:srgbClr val="3BBE93"/>
                </a:solidFill>
                <a:latin typeface="Consolas"/>
              </a:rPr>
              <a:t>    │   │   ├── mouser/</a:t>
            </a:r>
          </a:p>
          <a:p>
            <a:pPr algn="l">
              <a:lnSpc>
                <a:spcPct val="100000"/>
              </a:lnSpc>
            </a:pPr>
            <a:r>
              <a:rPr sz="800" b="0" i="0">
                <a:solidFill>
                  <a:srgbClr val="ECE7DC"/>
                </a:solidFill>
                <a:latin typeface="Consolas"/>
              </a:rPr>
              <a:t>    │   │   │   ├── config.yaml</a:t>
            </a:r>
          </a:p>
          <a:p>
            <a:pPr algn="l">
              <a:lnSpc>
                <a:spcPct val="100000"/>
              </a:lnSpc>
            </a:pPr>
            <a:r>
              <a:rPr sz="800" b="0" i="0">
                <a:solidFill>
                  <a:srgbClr val="ECE7DC"/>
                </a:solidFill>
                <a:latin typeface="Consolas"/>
              </a:rPr>
              <a:t>    │   │   │   ├── mouser.py</a:t>
            </a:r>
          </a:p>
          <a:p>
            <a:pPr algn="l">
              <a:lnSpc>
                <a:spcPct val="100000"/>
              </a:lnSpc>
            </a:pPr>
            <a:r>
              <a:rPr sz="800" b="0" i="0">
                <a:solidFill>
                  <a:srgbClr val="ECE7DC"/>
                </a:solidFill>
                <a:latin typeface="Consolas"/>
              </a:rPr>
              <a:t>    │   │   │   └── mouser_coordinates.py</a:t>
            </a:r>
          </a:p>
          <a:p>
            <a:pPr algn="l">
              <a:lnSpc>
                <a:spcPct val="100000"/>
              </a:lnSpc>
            </a:pPr>
            <a:r>
              <a:rPr sz="800" b="0" i="0">
                <a:solidFill>
                  <a:srgbClr val="3BBE93"/>
                </a:solidFill>
                <a:latin typeface="Consolas"/>
              </a:rPr>
              <a:t>    │   │   ├── mover/</a:t>
            </a:r>
          </a:p>
          <a:p>
            <a:pPr algn="l">
              <a:lnSpc>
                <a:spcPct val="100000"/>
              </a:lnSpc>
            </a:pPr>
            <a:r>
              <a:rPr sz="800" b="0" i="0">
                <a:solidFill>
                  <a:srgbClr val="ECE7DC"/>
                </a:solidFill>
                <a:latin typeface="Consolas"/>
              </a:rPr>
              <a:t>    │   │   │   ├── config.yaml</a:t>
            </a:r>
          </a:p>
          <a:p>
            <a:pPr algn="l">
              <a:lnSpc>
                <a:spcPct val="100000"/>
              </a:lnSpc>
            </a:pPr>
            <a:r>
              <a:rPr sz="800" b="0" i="0">
                <a:solidFill>
                  <a:srgbClr val="ECE7DC"/>
                </a:solidFill>
                <a:latin typeface="Consolas"/>
              </a:rPr>
              <a:t>    │   │   │   └── mover.py</a:t>
            </a:r>
          </a:p>
          <a:p>
            <a:pPr algn="l">
              <a:lnSpc>
                <a:spcPct val="100000"/>
              </a:lnSpc>
            </a:pPr>
            <a:r>
              <a:rPr sz="800" b="0" i="0">
                <a:solidFill>
                  <a:srgbClr val="3BBE93"/>
                </a:solidFill>
                <a:latin typeface="Consolas"/>
              </a:rPr>
              <a:t>    │   │   ├── netspeed_calculator/</a:t>
            </a:r>
          </a:p>
          <a:p>
            <a:pPr algn="l">
              <a:lnSpc>
                <a:spcPct val="100000"/>
              </a:lnSpc>
            </a:pPr>
            <a:r>
              <a:rPr sz="800" b="0" i="0">
                <a:solidFill>
                  <a:srgbClr val="ECE7DC"/>
                </a:solidFill>
                <a:latin typeface="Consolas"/>
              </a:rPr>
              <a:t>    │   │   │   ├── config.yaml</a:t>
            </a:r>
          </a:p>
          <a:p>
            <a:pPr algn="l">
              <a:lnSpc>
                <a:spcPct val="100000"/>
              </a:lnSpc>
            </a:pPr>
            <a:r>
              <a:rPr sz="800" b="0" i="0">
                <a:solidFill>
                  <a:srgbClr val="ECE7DC"/>
                </a:solidFill>
                <a:latin typeface="Consolas"/>
              </a:rPr>
              <a:t>    │   │   │   └── netspeed_calculator.py</a:t>
            </a:r>
          </a:p>
          <a:p>
            <a:pPr algn="l">
              <a:lnSpc>
                <a:spcPct val="100000"/>
              </a:lnSpc>
            </a:pPr>
            <a:r>
              <a:rPr sz="800" b="0" i="0">
                <a:solidFill>
                  <a:srgbClr val="3BBE93"/>
                </a:solidFill>
                <a:latin typeface="Consolas"/>
              </a:rPr>
              <a:t>    │   │   ├── nmapper/</a:t>
            </a:r>
          </a:p>
          <a:p>
            <a:pPr algn="l">
              <a:lnSpc>
                <a:spcPct val="100000"/>
              </a:lnSpc>
            </a:pPr>
            <a:r>
              <a:rPr sz="800" b="0" i="0">
                <a:solidFill>
                  <a:srgbClr val="ECE7DC"/>
                </a:solidFill>
                <a:latin typeface="Consolas"/>
              </a:rPr>
              <a:t>    │   │   │   ├── config.yaml</a:t>
            </a:r>
          </a:p>
          <a:p>
            <a:pPr algn="l">
              <a:lnSpc>
                <a:spcPct val="100000"/>
              </a:lnSpc>
            </a:pPr>
            <a:r>
              <a:rPr sz="800" b="0" i="0">
                <a:solidFill>
                  <a:srgbClr val="ECE7DC"/>
                </a:solidFill>
                <a:latin typeface="Consolas"/>
              </a:rPr>
              <a:t>    │   │   │   └── nmapper.py</a:t>
            </a:r>
          </a:p>
          <a:p>
            <a:pPr algn="l">
              <a:lnSpc>
                <a:spcPct val="100000"/>
              </a:lnSpc>
            </a:pPr>
            <a:r>
              <a:rPr sz="800" b="0" i="0">
                <a:solidFill>
                  <a:srgbClr val="3BBE93"/>
                </a:solidFill>
                <a:latin typeface="Consolas"/>
              </a:rPr>
              <a:t>    │   │   ├── notifier/</a:t>
            </a:r>
          </a:p>
          <a:p>
            <a:pPr algn="l">
              <a:lnSpc>
                <a:spcPct val="100000"/>
              </a:lnSpc>
            </a:pPr>
            <a:r>
              <a:rPr sz="800" b="0" i="0">
                <a:solidFill>
                  <a:srgbClr val="ECE7DC"/>
                </a:solidFill>
                <a:latin typeface="Consolas"/>
              </a:rPr>
              <a:t>    │   │   │   ├── config.yaml</a:t>
            </a:r>
          </a:p>
          <a:p>
            <a:pPr algn="l">
              <a:lnSpc>
                <a:spcPct val="100000"/>
              </a:lnSpc>
            </a:pPr>
            <a:r>
              <a:rPr sz="800" b="0" i="0">
                <a:solidFill>
                  <a:srgbClr val="ECE7DC"/>
                </a:solidFill>
                <a:latin typeface="Consolas"/>
              </a:rPr>
              <a:t>    │   │   │   └── notifier.py</a:t>
            </a:r>
          </a:p>
          <a:p>
            <a:pPr algn="l">
              <a:lnSpc>
                <a:spcPct val="100000"/>
              </a:lnSpc>
            </a:pPr>
            <a:r>
              <a:rPr sz="800" b="0" i="0">
                <a:solidFill>
                  <a:srgbClr val="3BBE93"/>
                </a:solidFill>
                <a:latin typeface="Consolas"/>
              </a:rPr>
              <a:t>    │   │   ├── or/</a:t>
            </a:r>
          </a:p>
        </p:txBody>
      </p:sp>
      <p:cxnSp>
        <p:nvCxnSpPr>
          <p:cNvPr id="8" name="Connector 7"/>
          <p:cNvCxnSpPr/>
          <p:nvPr/>
        </p:nvCxnSpPr>
        <p:spPr>
          <a:xfrm>
            <a:off x="566928" y="6373368"/>
            <a:ext cx="11057839" cy="0"/>
          </a:xfrm>
          <a:prstGeom prst="line">
            <a:avLst/>
          </a:prstGeom>
          <a:ln w="7620">
            <a:solidFill>
              <a:srgbClr val="2A3A40"/>
            </a:solidFill>
          </a:ln>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566928" y="6419088"/>
            <a:ext cx="6858000" cy="274320"/>
          </a:xfrm>
          <a:prstGeom prst="rect">
            <a:avLst/>
          </a:prstGeom>
          <a:noFill/>
        </p:spPr>
        <p:txBody>
          <a:bodyPr wrap="square" lIns="45720" rIns="45720" tIns="27432" bIns="27432" anchor="t">
            <a:noAutofit/>
          </a:bodyPr>
          <a:lstStyle/>
          <a:p>
            <a:pPr algn="l">
              <a:lnSpc>
                <a:spcPct val="100000"/>
              </a:lnSpc>
            </a:pPr>
            <a:r>
              <a:rPr sz="850" b="0" i="0" spc="120">
                <a:solidFill>
                  <a:srgbClr val="A7B2B0"/>
                </a:solidFill>
                <a:latin typeface="Segoe UI Semibold"/>
              </a:rPr>
              <a:t>TLAMATINI  ·  APÉNDICE A · ÁRBOL DE ARCHIVOS</a:t>
            </a:r>
          </a:p>
        </p:txBody>
      </p:sp>
      <p:sp>
        <p:nvSpPr>
          <p:cNvPr id="10" name="TextBox 9"/>
          <p:cNvSpPr txBox="1"/>
          <p:nvPr/>
        </p:nvSpPr>
        <p:spPr>
          <a:xfrm>
            <a:off x="8698687" y="6419088"/>
            <a:ext cx="2926080" cy="274320"/>
          </a:xfrm>
          <a:prstGeom prst="rect">
            <a:avLst/>
          </a:prstGeom>
          <a:noFill/>
        </p:spPr>
        <p:txBody>
          <a:bodyPr wrap="square" lIns="45720" rIns="45720" tIns="27432" bIns="27432" anchor="t">
            <a:noAutofit/>
          </a:bodyPr>
          <a:lstStyle/>
          <a:p>
            <a:pPr algn="r">
              <a:lnSpc>
                <a:spcPct val="100000"/>
              </a:lnSpc>
            </a:pPr>
            <a:r>
              <a:rPr sz="850" b="0" i="0" spc="100">
                <a:solidFill>
                  <a:srgbClr val="A7B2B0"/>
                </a:solidFill>
                <a:latin typeface="Segoe UI Semibold"/>
              </a:rPr>
              <a:t>v1.91.1   ·   186</a:t>
            </a:r>
          </a:p>
        </p:txBody>
      </p:sp>
    </p:spTree>
  </p:cSld>
  <p:clrMapOvr>
    <a:masterClrMapping/>
  </p:clrMapOvr>
</p:sld>
</file>

<file path=ppt/slides/slide18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appendix.png"/>
          <p:cNvPicPr>
            <a:picLocks noChangeAspect="1"/>
          </p:cNvPicPr>
          <p:nvPr/>
        </p:nvPicPr>
        <p:blipFill>
          <a:blip r:embed="rId2"/>
          <a:stretch>
            <a:fillRect/>
          </a:stretch>
        </p:blipFill>
        <p:spPr>
          <a:xfrm>
            <a:off x="0" y="0"/>
            <a:ext cx="12191695" cy="6858000"/>
          </a:xfrm>
          <a:prstGeom prst="rect">
            <a:avLst/>
          </a:prstGeom>
        </p:spPr>
      </p:pic>
      <p:sp>
        <p:nvSpPr>
          <p:cNvPr id="3" name="TextBox 2"/>
          <p:cNvSpPr txBox="1"/>
          <p:nvPr/>
        </p:nvSpPr>
        <p:spPr>
          <a:xfrm>
            <a:off x="566928" y="384048"/>
            <a:ext cx="8686800" cy="329184"/>
          </a:xfrm>
          <a:prstGeom prst="rect">
            <a:avLst/>
          </a:prstGeom>
          <a:noFill/>
        </p:spPr>
        <p:txBody>
          <a:bodyPr wrap="square" lIns="45720" rIns="45720" tIns="27432" bIns="27432" anchor="t">
            <a:noAutofit/>
          </a:bodyPr>
          <a:lstStyle/>
          <a:p>
            <a:pPr algn="l">
              <a:lnSpc>
                <a:spcPct val="100000"/>
              </a:lnSpc>
            </a:pPr>
            <a:r>
              <a:rPr sz="1100" b="0" i="0" spc="200">
                <a:solidFill>
                  <a:srgbClr val="C98457"/>
                </a:solidFill>
                <a:latin typeface="Segoe UI Semibold"/>
              </a:rPr>
              <a:t>APÉNDICE A  ·  ÁRBOL DE ARCHIVOS DE LA APLICACIÓN  ·  13 / 20</a:t>
            </a:r>
          </a:p>
        </p:txBody>
      </p:sp>
      <p:sp>
        <p:nvSpPr>
          <p:cNvPr id="4" name="TextBox 3"/>
          <p:cNvSpPr txBox="1"/>
          <p:nvPr/>
        </p:nvSpPr>
        <p:spPr>
          <a:xfrm>
            <a:off x="566928" y="731520"/>
            <a:ext cx="11057839" cy="384048"/>
          </a:xfrm>
          <a:prstGeom prst="rect">
            <a:avLst/>
          </a:prstGeom>
          <a:noFill/>
        </p:spPr>
        <p:txBody>
          <a:bodyPr wrap="square" lIns="45720" rIns="45720" tIns="27432" bIns="27432" anchor="t">
            <a:noAutofit/>
          </a:bodyPr>
          <a:lstStyle/>
          <a:p>
            <a:pPr algn="l">
              <a:lnSpc>
                <a:spcPct val="100000"/>
              </a:lnSpc>
            </a:pPr>
            <a:r>
              <a:rPr sz="1300" b="0" i="0">
                <a:solidFill>
                  <a:srgbClr val="A7B2B0"/>
                </a:solidFill>
                <a:latin typeface="Segoe UI"/>
              </a:rPr>
              <a:t>1,898 archivos listados en el commit 21b0a5c; 221 archivos de la historia de la base de datos resumidos.</a:t>
            </a:r>
          </a:p>
        </p:txBody>
      </p:sp>
      <p:sp>
        <p:nvSpPr>
          <p:cNvPr id="5" name="TextBox 4"/>
          <p:cNvSpPr txBox="1"/>
          <p:nvPr/>
        </p:nvSpPr>
        <p:spPr>
          <a:xfrm>
            <a:off x="566928" y="1170432"/>
            <a:ext cx="3515258" cy="5084064"/>
          </a:xfrm>
          <a:prstGeom prst="rect">
            <a:avLst/>
          </a:prstGeom>
          <a:noFill/>
        </p:spPr>
        <p:txBody>
          <a:bodyPr wrap="none" lIns="45720" rIns="45720" tIns="27432" bIns="27432" anchor="t">
            <a:noAutofit/>
          </a:bodyPr>
          <a:lstStyle/>
          <a:p>
            <a:pPr algn="l">
              <a:lnSpc>
                <a:spcPct val="100000"/>
              </a:lnSpc>
            </a:pPr>
            <a:r>
              <a:rPr sz="800" b="0" i="0">
                <a:solidFill>
                  <a:srgbClr val="ECE7DC"/>
                </a:solidFill>
                <a:latin typeface="Consolas"/>
              </a:rPr>
              <a:t>    │   │   │   ├── config.yaml</a:t>
            </a:r>
          </a:p>
          <a:p>
            <a:pPr algn="l">
              <a:lnSpc>
                <a:spcPct val="100000"/>
              </a:lnSpc>
            </a:pPr>
            <a:r>
              <a:rPr sz="800" b="0" i="0">
                <a:solidFill>
                  <a:srgbClr val="ECE7DC"/>
                </a:solidFill>
                <a:latin typeface="Consolas"/>
              </a:rPr>
              <a:t>    │   │   │   └── or.py</a:t>
            </a:r>
          </a:p>
          <a:p>
            <a:pPr algn="l">
              <a:lnSpc>
                <a:spcPct val="100000"/>
              </a:lnSpc>
            </a:pPr>
            <a:r>
              <a:rPr sz="800" b="0" i="0">
                <a:solidFill>
                  <a:srgbClr val="3BBE93"/>
                </a:solidFill>
                <a:latin typeface="Consolas"/>
              </a:rPr>
              <a:t>    │   │   ├── parametrizer/</a:t>
            </a:r>
          </a:p>
          <a:p>
            <a:pPr algn="l">
              <a:lnSpc>
                <a:spcPct val="100000"/>
              </a:lnSpc>
            </a:pPr>
            <a:r>
              <a:rPr sz="800" b="0" i="0">
                <a:solidFill>
                  <a:srgbClr val="ECE7DC"/>
                </a:solidFill>
                <a:latin typeface="Consolas"/>
              </a:rPr>
              <a:t>    │   │   │   ├── config.yaml</a:t>
            </a:r>
          </a:p>
          <a:p>
            <a:pPr algn="l">
              <a:lnSpc>
                <a:spcPct val="100000"/>
              </a:lnSpc>
            </a:pPr>
            <a:r>
              <a:rPr sz="800" b="0" i="0">
                <a:solidFill>
                  <a:srgbClr val="ECE7DC"/>
                </a:solidFill>
                <a:latin typeface="Consolas"/>
              </a:rPr>
              <a:t>    │   │   │   └── parametrizer.py</a:t>
            </a:r>
          </a:p>
          <a:p>
            <a:pPr algn="l">
              <a:lnSpc>
                <a:spcPct val="100000"/>
              </a:lnSpc>
            </a:pPr>
            <a:r>
              <a:rPr sz="800" b="0" i="0">
                <a:solidFill>
                  <a:srgbClr val="3BBE93"/>
                </a:solidFill>
                <a:latin typeface="Consolas"/>
              </a:rPr>
              <a:t>    │   │   ├── pdfer/</a:t>
            </a:r>
          </a:p>
          <a:p>
            <a:pPr algn="l">
              <a:lnSpc>
                <a:spcPct val="100000"/>
              </a:lnSpc>
            </a:pPr>
            <a:r>
              <a:rPr sz="800" b="0" i="0">
                <a:solidFill>
                  <a:srgbClr val="ECE7DC"/>
                </a:solidFill>
                <a:latin typeface="Consolas"/>
              </a:rPr>
              <a:t>    │   │   │   ├── config.yaml</a:t>
            </a:r>
          </a:p>
          <a:p>
            <a:pPr algn="l">
              <a:lnSpc>
                <a:spcPct val="100000"/>
              </a:lnSpc>
            </a:pPr>
            <a:r>
              <a:rPr sz="800" b="0" i="0">
                <a:solidFill>
                  <a:srgbClr val="ECE7DC"/>
                </a:solidFill>
                <a:latin typeface="Consolas"/>
              </a:rPr>
              <a:t>    │   │   │   ├── pdfer.py</a:t>
            </a:r>
          </a:p>
          <a:p>
            <a:pPr algn="l">
              <a:lnSpc>
                <a:spcPct val="100000"/>
              </a:lnSpc>
            </a:pPr>
            <a:r>
              <a:rPr sz="800" b="0" i="0">
                <a:solidFill>
                  <a:srgbClr val="ECE7DC"/>
                </a:solidFill>
                <a:latin typeface="Consolas"/>
              </a:rPr>
              <a:t>    │   │   │   ├── pdfer_artwork.py</a:t>
            </a:r>
          </a:p>
          <a:p>
            <a:pPr algn="l">
              <a:lnSpc>
                <a:spcPct val="100000"/>
              </a:lnSpc>
            </a:pPr>
            <a:r>
              <a:rPr sz="800" b="0" i="0">
                <a:solidFill>
                  <a:srgbClr val="ECE7DC"/>
                </a:solidFill>
                <a:latin typeface="Consolas"/>
              </a:rPr>
              <a:t>    │   │   │   ├── pdfer_atelier.py</a:t>
            </a:r>
          </a:p>
          <a:p>
            <a:pPr algn="l">
              <a:lnSpc>
                <a:spcPct val="100000"/>
              </a:lnSpc>
            </a:pPr>
            <a:r>
              <a:rPr sz="800" b="0" i="0">
                <a:solidFill>
                  <a:srgbClr val="ECE7DC"/>
                </a:solidFill>
                <a:latin typeface="Consolas"/>
              </a:rPr>
              <a:t>    │   │   │   ├── pdfer_audit.py</a:t>
            </a:r>
          </a:p>
          <a:p>
            <a:pPr algn="l">
              <a:lnSpc>
                <a:spcPct val="100000"/>
              </a:lnSpc>
            </a:pPr>
            <a:r>
              <a:rPr sz="800" b="0" i="0">
                <a:solidFill>
                  <a:srgbClr val="ECE7DC"/>
                </a:solidFill>
                <a:latin typeface="Consolas"/>
              </a:rPr>
              <a:t>    │   │   │   ├── pdfer_color.py</a:t>
            </a:r>
          </a:p>
          <a:p>
            <a:pPr algn="l">
              <a:lnSpc>
                <a:spcPct val="100000"/>
              </a:lnSpc>
            </a:pPr>
            <a:r>
              <a:rPr sz="800" b="0" i="0">
                <a:solidFill>
                  <a:srgbClr val="ECE7DC"/>
                </a:solidFill>
                <a:latin typeface="Consolas"/>
              </a:rPr>
              <a:t>    │   │   │   ├── pdfer_consult.py</a:t>
            </a:r>
          </a:p>
          <a:p>
            <a:pPr algn="l">
              <a:lnSpc>
                <a:spcPct val="100000"/>
              </a:lnSpc>
            </a:pPr>
            <a:r>
              <a:rPr sz="800" b="0" i="0">
                <a:solidFill>
                  <a:srgbClr val="ECE7DC"/>
                </a:solidFill>
                <a:latin typeface="Consolas"/>
              </a:rPr>
              <a:t>    │   │   │   ├── pdfer_docmodel.py</a:t>
            </a:r>
          </a:p>
          <a:p>
            <a:pPr algn="l">
              <a:lnSpc>
                <a:spcPct val="100000"/>
              </a:lnSpc>
            </a:pPr>
            <a:r>
              <a:rPr sz="800" b="0" i="0">
                <a:solidFill>
                  <a:srgbClr val="ECE7DC"/>
                </a:solidFill>
                <a:latin typeface="Consolas"/>
              </a:rPr>
              <a:t>    │   │   │   ├── pdfer_nuance.py</a:t>
            </a:r>
          </a:p>
          <a:p>
            <a:pPr algn="l">
              <a:lnSpc>
                <a:spcPct val="100000"/>
              </a:lnSpc>
            </a:pPr>
            <a:r>
              <a:rPr sz="800" b="0" i="0">
                <a:solidFill>
                  <a:srgbClr val="ECE7DC"/>
                </a:solidFill>
                <a:latin typeface="Consolas"/>
              </a:rPr>
              <a:t>    │   │   │   ├── pdfer_ornament.py</a:t>
            </a:r>
          </a:p>
          <a:p>
            <a:pPr algn="l">
              <a:lnSpc>
                <a:spcPct val="100000"/>
              </a:lnSpc>
            </a:pPr>
            <a:r>
              <a:rPr sz="800" b="0" i="0">
                <a:solidFill>
                  <a:srgbClr val="ECE7DC"/>
                </a:solidFill>
                <a:latin typeface="Consolas"/>
              </a:rPr>
              <a:t>    │   │   │   ├── pdfer_styles.py</a:t>
            </a:r>
          </a:p>
          <a:p>
            <a:pPr algn="l">
              <a:lnSpc>
                <a:spcPct val="100000"/>
              </a:lnSpc>
            </a:pPr>
            <a:r>
              <a:rPr sz="800" b="0" i="0">
                <a:solidFill>
                  <a:srgbClr val="ECE7DC"/>
                </a:solidFill>
                <a:latin typeface="Consolas"/>
              </a:rPr>
              <a:t>    │   │   │   ├── pdfer_tables.py</a:t>
            </a:r>
          </a:p>
          <a:p>
            <a:pPr algn="l">
              <a:lnSpc>
                <a:spcPct val="100000"/>
              </a:lnSpc>
            </a:pPr>
            <a:r>
              <a:rPr sz="800" b="0" i="0">
                <a:solidFill>
                  <a:srgbClr val="ECE7DC"/>
                </a:solidFill>
                <a:latin typeface="Consolas"/>
              </a:rPr>
              <a:t>    │   │   │   ├── pdfer_theme.py</a:t>
            </a:r>
          </a:p>
          <a:p>
            <a:pPr algn="l">
              <a:lnSpc>
                <a:spcPct val="100000"/>
              </a:lnSpc>
            </a:pPr>
            <a:r>
              <a:rPr sz="800" b="0" i="0">
                <a:solidFill>
                  <a:srgbClr val="ECE7DC"/>
                </a:solidFill>
                <a:latin typeface="Consolas"/>
              </a:rPr>
              <a:t>    │   │   │   ├── pdfer_typography.py</a:t>
            </a:r>
          </a:p>
          <a:p>
            <a:pPr algn="l">
              <a:lnSpc>
                <a:spcPct val="100000"/>
              </a:lnSpc>
            </a:pPr>
            <a:r>
              <a:rPr sz="800" b="0" i="0">
                <a:solidFill>
                  <a:srgbClr val="ECE7DC"/>
                </a:solidFill>
                <a:latin typeface="Consolas"/>
              </a:rPr>
              <a:t>    │   │   │   └── STYLES.md</a:t>
            </a:r>
          </a:p>
          <a:p>
            <a:pPr algn="l">
              <a:lnSpc>
                <a:spcPct val="100000"/>
              </a:lnSpc>
            </a:pPr>
            <a:r>
              <a:rPr sz="800" b="0" i="0">
                <a:solidFill>
                  <a:srgbClr val="3BBE93"/>
                </a:solidFill>
                <a:latin typeface="Consolas"/>
              </a:rPr>
              <a:t>    │   │   ├── playwrighter/</a:t>
            </a:r>
          </a:p>
          <a:p>
            <a:pPr algn="l">
              <a:lnSpc>
                <a:spcPct val="100000"/>
              </a:lnSpc>
            </a:pPr>
            <a:r>
              <a:rPr sz="800" b="0" i="0">
                <a:solidFill>
                  <a:srgbClr val="ECE7DC"/>
                </a:solidFill>
                <a:latin typeface="Consolas"/>
              </a:rPr>
              <a:t>    │   │   │   ├── config.yaml</a:t>
            </a:r>
          </a:p>
          <a:p>
            <a:pPr algn="l">
              <a:lnSpc>
                <a:spcPct val="100000"/>
              </a:lnSpc>
            </a:pPr>
            <a:r>
              <a:rPr sz="800" b="0" i="0">
                <a:solidFill>
                  <a:srgbClr val="ECE7DC"/>
                </a:solidFill>
                <a:latin typeface="Consolas"/>
              </a:rPr>
              <a:t>    │   │   │   └── playwrighter.py</a:t>
            </a:r>
          </a:p>
          <a:p>
            <a:pPr algn="l">
              <a:lnSpc>
                <a:spcPct val="100000"/>
              </a:lnSpc>
            </a:pPr>
            <a:r>
              <a:rPr sz="800" b="0" i="0">
                <a:solidFill>
                  <a:srgbClr val="3BBE93"/>
                </a:solidFill>
                <a:latin typeface="Consolas"/>
              </a:rPr>
              <a:t>    │   │   ├── pptxer/</a:t>
            </a:r>
          </a:p>
          <a:p>
            <a:pPr algn="l">
              <a:lnSpc>
                <a:spcPct val="100000"/>
              </a:lnSpc>
            </a:pPr>
            <a:r>
              <a:rPr sz="800" b="0" i="0">
                <a:solidFill>
                  <a:srgbClr val="ECE7DC"/>
                </a:solidFill>
                <a:latin typeface="Consolas"/>
              </a:rPr>
              <a:t>    │   │   │   ├── config.yaml</a:t>
            </a:r>
          </a:p>
          <a:p>
            <a:pPr algn="l">
              <a:lnSpc>
                <a:spcPct val="100000"/>
              </a:lnSpc>
            </a:pPr>
            <a:r>
              <a:rPr sz="800" b="0" i="0">
                <a:solidFill>
                  <a:srgbClr val="ECE7DC"/>
                </a:solidFill>
                <a:latin typeface="Consolas"/>
              </a:rPr>
              <a:t>    │   │   │   ├── pptxer.py</a:t>
            </a:r>
          </a:p>
          <a:p>
            <a:pPr algn="l">
              <a:lnSpc>
                <a:spcPct val="100000"/>
              </a:lnSpc>
            </a:pPr>
            <a:r>
              <a:rPr sz="800" b="0" i="0">
                <a:solidFill>
                  <a:srgbClr val="ECE7DC"/>
                </a:solidFill>
                <a:latin typeface="Consolas"/>
              </a:rPr>
              <a:t>    │   │   │   ├── pptxer_audit.py</a:t>
            </a:r>
          </a:p>
          <a:p>
            <a:pPr algn="l">
              <a:lnSpc>
                <a:spcPct val="100000"/>
              </a:lnSpc>
            </a:pPr>
            <a:r>
              <a:rPr sz="800" b="0" i="0">
                <a:solidFill>
                  <a:srgbClr val="ECE7DC"/>
                </a:solidFill>
                <a:latin typeface="Consolas"/>
              </a:rPr>
              <a:t>    │   │   │   ├── pptxer_build.py</a:t>
            </a:r>
          </a:p>
          <a:p>
            <a:pPr algn="l">
              <a:lnSpc>
                <a:spcPct val="100000"/>
              </a:lnSpc>
            </a:pPr>
            <a:r>
              <a:rPr sz="800" b="0" i="0">
                <a:solidFill>
                  <a:srgbClr val="ECE7DC"/>
                </a:solidFill>
                <a:latin typeface="Consolas"/>
              </a:rPr>
              <a:t>    │   │   │   ├── pptxer_color.py</a:t>
            </a:r>
          </a:p>
          <a:p>
            <a:pPr algn="l">
              <a:lnSpc>
                <a:spcPct val="100000"/>
              </a:lnSpc>
            </a:pPr>
            <a:r>
              <a:rPr sz="800" b="0" i="0">
                <a:solidFill>
                  <a:srgbClr val="ECE7DC"/>
                </a:solidFill>
                <a:latin typeface="Consolas"/>
              </a:rPr>
              <a:t>    │   │   │   ├── pptxer_diagram.py</a:t>
            </a:r>
          </a:p>
          <a:p>
            <a:pPr algn="l">
              <a:lnSpc>
                <a:spcPct val="100000"/>
              </a:lnSpc>
            </a:pPr>
            <a:r>
              <a:rPr sz="800" b="0" i="0">
                <a:solidFill>
                  <a:srgbClr val="ECE7DC"/>
                </a:solidFill>
                <a:latin typeface="Consolas"/>
              </a:rPr>
              <a:t>    │   │   │   ├── pptxer_docmodel.py</a:t>
            </a:r>
          </a:p>
          <a:p>
            <a:pPr algn="l">
              <a:lnSpc>
                <a:spcPct val="100000"/>
              </a:lnSpc>
            </a:pPr>
            <a:r>
              <a:rPr sz="800" b="0" i="0">
                <a:solidFill>
                  <a:srgbClr val="ECE7DC"/>
                </a:solidFill>
                <a:latin typeface="Consolas"/>
              </a:rPr>
              <a:t>    │   │   │   ├── pptxer_draw.py</a:t>
            </a:r>
          </a:p>
          <a:p>
            <a:pPr algn="l">
              <a:lnSpc>
                <a:spcPct val="100000"/>
              </a:lnSpc>
            </a:pPr>
            <a:r>
              <a:rPr sz="800" b="0" i="0">
                <a:solidFill>
                  <a:srgbClr val="ECE7DC"/>
                </a:solidFill>
                <a:latin typeface="Consolas"/>
              </a:rPr>
              <a:t>    │   │   │   ├── pptxer_fonts.py</a:t>
            </a:r>
          </a:p>
          <a:p>
            <a:pPr algn="l">
              <a:lnSpc>
                <a:spcPct val="100000"/>
              </a:lnSpc>
            </a:pPr>
            <a:r>
              <a:rPr sz="800" b="0" i="0">
                <a:solidFill>
                  <a:srgbClr val="ECE7DC"/>
                </a:solidFill>
                <a:latin typeface="Consolas"/>
              </a:rPr>
              <a:t>    │   │   │   ├── pptxer_layout.py</a:t>
            </a:r>
          </a:p>
          <a:p>
            <a:pPr algn="l">
              <a:lnSpc>
                <a:spcPct val="100000"/>
              </a:lnSpc>
            </a:pPr>
            <a:r>
              <a:rPr sz="800" b="0" i="0">
                <a:solidFill>
                  <a:srgbClr val="ECE7DC"/>
                </a:solidFill>
                <a:latin typeface="Consolas"/>
              </a:rPr>
              <a:t>    │   │   │   ├── pptxer_media.py</a:t>
            </a:r>
          </a:p>
          <a:p>
            <a:pPr algn="l">
              <a:lnSpc>
                <a:spcPct val="100000"/>
              </a:lnSpc>
            </a:pPr>
            <a:r>
              <a:rPr sz="800" b="0" i="0">
                <a:solidFill>
                  <a:srgbClr val="ECE7DC"/>
                </a:solidFill>
                <a:latin typeface="Consolas"/>
              </a:rPr>
              <a:t>    │   │   │   ├── pptxer_nuance.py</a:t>
            </a:r>
          </a:p>
          <a:p>
            <a:pPr algn="l">
              <a:lnSpc>
                <a:spcPct val="100000"/>
              </a:lnSpc>
            </a:pPr>
            <a:r>
              <a:rPr sz="800" b="0" i="0">
                <a:solidFill>
                  <a:srgbClr val="ECE7DC"/>
                </a:solidFill>
                <a:latin typeface="Consolas"/>
              </a:rPr>
              <a:t>    │   │   │   ├── pptxer_render.py</a:t>
            </a:r>
          </a:p>
          <a:p>
            <a:pPr algn="l">
              <a:lnSpc>
                <a:spcPct val="100000"/>
              </a:lnSpc>
            </a:pPr>
            <a:r>
              <a:rPr sz="800" b="0" i="0">
                <a:solidFill>
                  <a:srgbClr val="ECE7DC"/>
                </a:solidFill>
                <a:latin typeface="Consolas"/>
              </a:rPr>
              <a:t>    │   │   │   ├── pptxer_theme.py</a:t>
            </a:r>
          </a:p>
          <a:p>
            <a:pPr algn="l">
              <a:lnSpc>
                <a:spcPct val="100000"/>
              </a:lnSpc>
            </a:pPr>
            <a:r>
              <a:rPr sz="800" b="0" i="0">
                <a:solidFill>
                  <a:srgbClr val="ECE7DC"/>
                </a:solidFill>
                <a:latin typeface="Consolas"/>
              </a:rPr>
              <a:t>    │   │   │   └── STYLES.md</a:t>
            </a:r>
          </a:p>
          <a:p>
            <a:pPr algn="l">
              <a:lnSpc>
                <a:spcPct val="100000"/>
              </a:lnSpc>
            </a:pPr>
            <a:r>
              <a:rPr sz="800" b="0" i="0">
                <a:solidFill>
                  <a:srgbClr val="3BBE93"/>
                </a:solidFill>
                <a:latin typeface="Consolas"/>
              </a:rPr>
              <a:t>    │   │   ├── prompter/</a:t>
            </a:r>
          </a:p>
        </p:txBody>
      </p:sp>
      <p:sp>
        <p:nvSpPr>
          <p:cNvPr id="6" name="TextBox 5"/>
          <p:cNvSpPr txBox="1"/>
          <p:nvPr/>
        </p:nvSpPr>
        <p:spPr>
          <a:xfrm>
            <a:off x="4338218" y="1170432"/>
            <a:ext cx="3515258" cy="5084064"/>
          </a:xfrm>
          <a:prstGeom prst="rect">
            <a:avLst/>
          </a:prstGeom>
          <a:noFill/>
        </p:spPr>
        <p:txBody>
          <a:bodyPr wrap="none" lIns="45720" rIns="45720" tIns="27432" bIns="27432" anchor="t">
            <a:noAutofit/>
          </a:bodyPr>
          <a:lstStyle/>
          <a:p>
            <a:pPr algn="l">
              <a:lnSpc>
                <a:spcPct val="100000"/>
              </a:lnSpc>
            </a:pPr>
            <a:r>
              <a:rPr sz="800" b="0" i="0">
                <a:solidFill>
                  <a:srgbClr val="ECE7DC"/>
                </a:solidFill>
                <a:latin typeface="Consolas"/>
              </a:rPr>
              <a:t>    │   │   │   ├── config.yaml</a:t>
            </a:r>
          </a:p>
          <a:p>
            <a:pPr algn="l">
              <a:lnSpc>
                <a:spcPct val="100000"/>
              </a:lnSpc>
            </a:pPr>
            <a:r>
              <a:rPr sz="800" b="0" i="0">
                <a:solidFill>
                  <a:srgbClr val="ECE7DC"/>
                </a:solidFill>
                <a:latin typeface="Consolas"/>
              </a:rPr>
              <a:t>    │   │   │   └── prompter.py</a:t>
            </a:r>
          </a:p>
          <a:p>
            <a:pPr algn="l">
              <a:lnSpc>
                <a:spcPct val="100000"/>
              </a:lnSpc>
            </a:pPr>
            <a:r>
              <a:rPr sz="800" b="0" i="0">
                <a:solidFill>
                  <a:srgbClr val="3BBE93"/>
                </a:solidFill>
                <a:latin typeface="Consolas"/>
              </a:rPr>
              <a:t>    │   │   ├── pser/</a:t>
            </a:r>
          </a:p>
          <a:p>
            <a:pPr algn="l">
              <a:lnSpc>
                <a:spcPct val="100000"/>
              </a:lnSpc>
            </a:pPr>
            <a:r>
              <a:rPr sz="800" b="0" i="0">
                <a:solidFill>
                  <a:srgbClr val="ECE7DC"/>
                </a:solidFill>
                <a:latin typeface="Consolas"/>
              </a:rPr>
              <a:t>    │   │   │   ├── config.yaml</a:t>
            </a:r>
          </a:p>
          <a:p>
            <a:pPr algn="l">
              <a:lnSpc>
                <a:spcPct val="100000"/>
              </a:lnSpc>
            </a:pPr>
            <a:r>
              <a:rPr sz="800" b="0" i="0">
                <a:solidFill>
                  <a:srgbClr val="ECE7DC"/>
                </a:solidFill>
                <a:latin typeface="Consolas"/>
              </a:rPr>
              <a:t>    │   │   │   └── pser.py</a:t>
            </a:r>
          </a:p>
          <a:p>
            <a:pPr algn="l">
              <a:lnSpc>
                <a:spcPct val="100000"/>
              </a:lnSpc>
            </a:pPr>
            <a:r>
              <a:rPr sz="800" b="0" i="0">
                <a:solidFill>
                  <a:srgbClr val="3BBE93"/>
                </a:solidFill>
                <a:latin typeface="Consolas"/>
              </a:rPr>
              <a:t>    │   │   ├── pythonxer/</a:t>
            </a:r>
          </a:p>
          <a:p>
            <a:pPr algn="l">
              <a:lnSpc>
                <a:spcPct val="100000"/>
              </a:lnSpc>
            </a:pPr>
            <a:r>
              <a:rPr sz="800" b="0" i="0">
                <a:solidFill>
                  <a:srgbClr val="ECE7DC"/>
                </a:solidFill>
                <a:latin typeface="Consolas"/>
              </a:rPr>
              <a:t>    │   │   │   ├── config.yaml</a:t>
            </a:r>
          </a:p>
          <a:p>
            <a:pPr algn="l">
              <a:lnSpc>
                <a:spcPct val="100000"/>
              </a:lnSpc>
            </a:pPr>
            <a:r>
              <a:rPr sz="800" b="0" i="0">
                <a:solidFill>
                  <a:srgbClr val="ECE7DC"/>
                </a:solidFill>
                <a:latin typeface="Consolas"/>
              </a:rPr>
              <a:t>    │   │   │   └── pythonxer.py</a:t>
            </a:r>
          </a:p>
          <a:p>
            <a:pPr algn="l">
              <a:lnSpc>
                <a:spcPct val="100000"/>
              </a:lnSpc>
            </a:pPr>
            <a:r>
              <a:rPr sz="800" b="0" i="0">
                <a:solidFill>
                  <a:srgbClr val="3BBE93"/>
                </a:solidFill>
                <a:latin typeface="Consolas"/>
              </a:rPr>
              <a:t>    │   │   ├── raiser/</a:t>
            </a:r>
          </a:p>
          <a:p>
            <a:pPr algn="l">
              <a:lnSpc>
                <a:spcPct val="100000"/>
              </a:lnSpc>
            </a:pPr>
            <a:r>
              <a:rPr sz="800" b="0" i="0">
                <a:solidFill>
                  <a:srgbClr val="ECE7DC"/>
                </a:solidFill>
                <a:latin typeface="Consolas"/>
              </a:rPr>
              <a:t>    │   │   │   ├── config.yaml</a:t>
            </a:r>
          </a:p>
          <a:p>
            <a:pPr algn="l">
              <a:lnSpc>
                <a:spcPct val="100000"/>
              </a:lnSpc>
            </a:pPr>
            <a:r>
              <a:rPr sz="800" b="0" i="0">
                <a:solidFill>
                  <a:srgbClr val="ECE7DC"/>
                </a:solidFill>
                <a:latin typeface="Consolas"/>
              </a:rPr>
              <a:t>    │   │   │   └── raiser.py</a:t>
            </a:r>
          </a:p>
          <a:p>
            <a:pPr algn="l">
              <a:lnSpc>
                <a:spcPct val="100000"/>
              </a:lnSpc>
            </a:pPr>
            <a:r>
              <a:rPr sz="800" b="0" i="0">
                <a:solidFill>
                  <a:srgbClr val="3BBE93"/>
                </a:solidFill>
                <a:latin typeface="Consolas"/>
              </a:rPr>
              <a:t>    │   │   ├── recmailer/</a:t>
            </a:r>
          </a:p>
          <a:p>
            <a:pPr algn="l">
              <a:lnSpc>
                <a:spcPct val="100000"/>
              </a:lnSpc>
            </a:pPr>
            <a:r>
              <a:rPr sz="800" b="0" i="0">
                <a:solidFill>
                  <a:srgbClr val="ECE7DC"/>
                </a:solidFill>
                <a:latin typeface="Consolas"/>
              </a:rPr>
              <a:t>    │   │   │   ├── config.yaml</a:t>
            </a:r>
          </a:p>
          <a:p>
            <a:pPr algn="l">
              <a:lnSpc>
                <a:spcPct val="100000"/>
              </a:lnSpc>
            </a:pPr>
            <a:r>
              <a:rPr sz="800" b="0" i="0">
                <a:solidFill>
                  <a:srgbClr val="ECE7DC"/>
                </a:solidFill>
                <a:latin typeface="Consolas"/>
              </a:rPr>
              <a:t>    │   │   │   └── recmailer.py</a:t>
            </a:r>
          </a:p>
          <a:p>
            <a:pPr algn="l">
              <a:lnSpc>
                <a:spcPct val="100000"/>
              </a:lnSpc>
            </a:pPr>
            <a:r>
              <a:rPr sz="800" b="0" i="0">
                <a:solidFill>
                  <a:srgbClr val="3BBE93"/>
                </a:solidFill>
                <a:latin typeface="Consolas"/>
              </a:rPr>
              <a:t>    │   │   ├── recorder/</a:t>
            </a:r>
          </a:p>
          <a:p>
            <a:pPr algn="l">
              <a:lnSpc>
                <a:spcPct val="100000"/>
              </a:lnSpc>
            </a:pPr>
            <a:r>
              <a:rPr sz="800" b="0" i="0">
                <a:solidFill>
                  <a:srgbClr val="ECE7DC"/>
                </a:solidFill>
                <a:latin typeface="Consolas"/>
              </a:rPr>
              <a:t>    │   │   │   ├── config.yaml</a:t>
            </a:r>
          </a:p>
          <a:p>
            <a:pPr algn="l">
              <a:lnSpc>
                <a:spcPct val="100000"/>
              </a:lnSpc>
            </a:pPr>
            <a:r>
              <a:rPr sz="800" b="0" i="0">
                <a:solidFill>
                  <a:srgbClr val="ECE7DC"/>
                </a:solidFill>
                <a:latin typeface="Consolas"/>
              </a:rPr>
              <a:t>    │   │   │   └── recorder.py</a:t>
            </a:r>
          </a:p>
          <a:p>
            <a:pPr algn="l">
              <a:lnSpc>
                <a:spcPct val="100000"/>
              </a:lnSpc>
            </a:pPr>
            <a:r>
              <a:rPr sz="800" b="0" i="0">
                <a:solidFill>
                  <a:srgbClr val="3BBE93"/>
                </a:solidFill>
                <a:latin typeface="Consolas"/>
              </a:rPr>
              <a:t>    │   │   ├── reviewer/</a:t>
            </a:r>
          </a:p>
          <a:p>
            <a:pPr algn="l">
              <a:lnSpc>
                <a:spcPct val="100000"/>
              </a:lnSpc>
            </a:pPr>
            <a:r>
              <a:rPr sz="800" b="0" i="0">
                <a:solidFill>
                  <a:srgbClr val="ECE7DC"/>
                </a:solidFill>
                <a:latin typeface="Consolas"/>
              </a:rPr>
              <a:t>    │   │   │   ├── config.yaml</a:t>
            </a:r>
          </a:p>
          <a:p>
            <a:pPr algn="l">
              <a:lnSpc>
                <a:spcPct val="100000"/>
              </a:lnSpc>
            </a:pPr>
            <a:r>
              <a:rPr sz="800" b="0" i="0">
                <a:solidFill>
                  <a:srgbClr val="ECE7DC"/>
                </a:solidFill>
                <a:latin typeface="Consolas"/>
              </a:rPr>
              <a:t>    │   │   │   └── reviewer.py</a:t>
            </a:r>
          </a:p>
          <a:p>
            <a:pPr algn="l">
              <a:lnSpc>
                <a:spcPct val="100000"/>
              </a:lnSpc>
            </a:pPr>
            <a:r>
              <a:rPr sz="800" b="0" i="0">
                <a:solidFill>
                  <a:srgbClr val="3BBE93"/>
                </a:solidFill>
                <a:latin typeface="Consolas"/>
              </a:rPr>
              <a:t>    │   │   ├── scper/</a:t>
            </a:r>
          </a:p>
          <a:p>
            <a:pPr algn="l">
              <a:lnSpc>
                <a:spcPct val="100000"/>
              </a:lnSpc>
            </a:pPr>
            <a:r>
              <a:rPr sz="800" b="0" i="0">
                <a:solidFill>
                  <a:srgbClr val="ECE7DC"/>
                </a:solidFill>
                <a:latin typeface="Consolas"/>
              </a:rPr>
              <a:t>    │   │   │   ├── config.yaml</a:t>
            </a:r>
          </a:p>
          <a:p>
            <a:pPr algn="l">
              <a:lnSpc>
                <a:spcPct val="100000"/>
              </a:lnSpc>
            </a:pPr>
            <a:r>
              <a:rPr sz="800" b="0" i="0">
                <a:solidFill>
                  <a:srgbClr val="ECE7DC"/>
                </a:solidFill>
                <a:latin typeface="Consolas"/>
              </a:rPr>
              <a:t>    │   │   │   └── scper.py</a:t>
            </a:r>
          </a:p>
          <a:p>
            <a:pPr algn="l">
              <a:lnSpc>
                <a:spcPct val="100000"/>
              </a:lnSpc>
            </a:pPr>
            <a:r>
              <a:rPr sz="800" b="0" i="0">
                <a:solidFill>
                  <a:srgbClr val="3BBE93"/>
                </a:solidFill>
                <a:latin typeface="Consolas"/>
              </a:rPr>
              <a:t>    │   │   ├── shoter/</a:t>
            </a:r>
          </a:p>
          <a:p>
            <a:pPr algn="l">
              <a:lnSpc>
                <a:spcPct val="100000"/>
              </a:lnSpc>
            </a:pPr>
            <a:r>
              <a:rPr sz="800" b="0" i="0">
                <a:solidFill>
                  <a:srgbClr val="ECE7DC"/>
                </a:solidFill>
                <a:latin typeface="Consolas"/>
              </a:rPr>
              <a:t>    │   │   │   ├── config.yaml</a:t>
            </a:r>
          </a:p>
          <a:p>
            <a:pPr algn="l">
              <a:lnSpc>
                <a:spcPct val="100000"/>
              </a:lnSpc>
            </a:pPr>
            <a:r>
              <a:rPr sz="800" b="0" i="0">
                <a:solidFill>
                  <a:srgbClr val="ECE7DC"/>
                </a:solidFill>
                <a:latin typeface="Consolas"/>
              </a:rPr>
              <a:t>    │   │   │   └── shoter.py</a:t>
            </a:r>
          </a:p>
          <a:p>
            <a:pPr algn="l">
              <a:lnSpc>
                <a:spcPct val="100000"/>
              </a:lnSpc>
            </a:pPr>
            <a:r>
              <a:rPr sz="800" b="0" i="0">
                <a:solidFill>
                  <a:srgbClr val="3BBE93"/>
                </a:solidFill>
                <a:latin typeface="Consolas"/>
              </a:rPr>
              <a:t>    │   │   ├── sleeper/</a:t>
            </a:r>
          </a:p>
          <a:p>
            <a:pPr algn="l">
              <a:lnSpc>
                <a:spcPct val="100000"/>
              </a:lnSpc>
            </a:pPr>
            <a:r>
              <a:rPr sz="800" b="0" i="0">
                <a:solidFill>
                  <a:srgbClr val="ECE7DC"/>
                </a:solidFill>
                <a:latin typeface="Consolas"/>
              </a:rPr>
              <a:t>    │   │   │   ├── config.yaml</a:t>
            </a:r>
          </a:p>
          <a:p>
            <a:pPr algn="l">
              <a:lnSpc>
                <a:spcPct val="100000"/>
              </a:lnSpc>
            </a:pPr>
            <a:r>
              <a:rPr sz="800" b="0" i="0">
                <a:solidFill>
                  <a:srgbClr val="ECE7DC"/>
                </a:solidFill>
                <a:latin typeface="Consolas"/>
              </a:rPr>
              <a:t>    │   │   │   └── sleeper.py</a:t>
            </a:r>
          </a:p>
          <a:p>
            <a:pPr algn="l">
              <a:lnSpc>
                <a:spcPct val="100000"/>
              </a:lnSpc>
            </a:pPr>
            <a:r>
              <a:rPr sz="800" b="0" i="0">
                <a:solidFill>
                  <a:srgbClr val="3BBE93"/>
                </a:solidFill>
                <a:latin typeface="Consolas"/>
              </a:rPr>
              <a:t>    │   │   ├── sqler/</a:t>
            </a:r>
          </a:p>
          <a:p>
            <a:pPr algn="l">
              <a:lnSpc>
                <a:spcPct val="100000"/>
              </a:lnSpc>
            </a:pPr>
            <a:r>
              <a:rPr sz="800" b="0" i="0">
                <a:solidFill>
                  <a:srgbClr val="ECE7DC"/>
                </a:solidFill>
                <a:latin typeface="Consolas"/>
              </a:rPr>
              <a:t>    │   │   │   ├── config.yaml</a:t>
            </a:r>
          </a:p>
          <a:p>
            <a:pPr algn="l">
              <a:lnSpc>
                <a:spcPct val="100000"/>
              </a:lnSpc>
            </a:pPr>
            <a:r>
              <a:rPr sz="800" b="0" i="0">
                <a:solidFill>
                  <a:srgbClr val="ECE7DC"/>
                </a:solidFill>
                <a:latin typeface="Consolas"/>
              </a:rPr>
              <a:t>    │   │   │   └── sqler.py</a:t>
            </a:r>
          </a:p>
          <a:p>
            <a:pPr algn="l">
              <a:lnSpc>
                <a:spcPct val="100000"/>
              </a:lnSpc>
            </a:pPr>
            <a:r>
              <a:rPr sz="800" b="0" i="0">
                <a:solidFill>
                  <a:srgbClr val="3BBE93"/>
                </a:solidFill>
                <a:latin typeface="Consolas"/>
              </a:rPr>
              <a:t>    │   │   ├── ssher/</a:t>
            </a:r>
          </a:p>
          <a:p>
            <a:pPr algn="l">
              <a:lnSpc>
                <a:spcPct val="100000"/>
              </a:lnSpc>
            </a:pPr>
            <a:r>
              <a:rPr sz="800" b="0" i="0">
                <a:solidFill>
                  <a:srgbClr val="ECE7DC"/>
                </a:solidFill>
                <a:latin typeface="Consolas"/>
              </a:rPr>
              <a:t>    │   │   │   ├── config.yaml</a:t>
            </a:r>
          </a:p>
          <a:p>
            <a:pPr algn="l">
              <a:lnSpc>
                <a:spcPct val="100000"/>
              </a:lnSpc>
            </a:pPr>
            <a:r>
              <a:rPr sz="800" b="0" i="0">
                <a:solidFill>
                  <a:srgbClr val="ECE7DC"/>
                </a:solidFill>
                <a:latin typeface="Consolas"/>
              </a:rPr>
              <a:t>    │   │   │   └── ssher.py</a:t>
            </a:r>
          </a:p>
          <a:p>
            <a:pPr algn="l">
              <a:lnSpc>
                <a:spcPct val="100000"/>
              </a:lnSpc>
            </a:pPr>
            <a:r>
              <a:rPr sz="800" b="0" i="0">
                <a:solidFill>
                  <a:srgbClr val="3BBE93"/>
                </a:solidFill>
                <a:latin typeface="Consolas"/>
              </a:rPr>
              <a:t>    │   │   ├── starter/</a:t>
            </a:r>
          </a:p>
          <a:p>
            <a:pPr algn="l">
              <a:lnSpc>
                <a:spcPct val="100000"/>
              </a:lnSpc>
            </a:pPr>
            <a:r>
              <a:rPr sz="800" b="0" i="0">
                <a:solidFill>
                  <a:srgbClr val="ECE7DC"/>
                </a:solidFill>
                <a:latin typeface="Consolas"/>
              </a:rPr>
              <a:t>    │   │   │   ├── config.yaml</a:t>
            </a:r>
          </a:p>
          <a:p>
            <a:pPr algn="l">
              <a:lnSpc>
                <a:spcPct val="100000"/>
              </a:lnSpc>
            </a:pPr>
            <a:r>
              <a:rPr sz="800" b="0" i="0">
                <a:solidFill>
                  <a:srgbClr val="ECE7DC"/>
                </a:solidFill>
                <a:latin typeface="Consolas"/>
              </a:rPr>
              <a:t>    │   │   │   └── starter.py</a:t>
            </a:r>
          </a:p>
          <a:p>
            <a:pPr algn="l">
              <a:lnSpc>
                <a:spcPct val="100000"/>
              </a:lnSpc>
            </a:pPr>
            <a:r>
              <a:rPr sz="800" b="0" i="0">
                <a:solidFill>
                  <a:srgbClr val="3BBE93"/>
                </a:solidFill>
                <a:latin typeface="Consolas"/>
              </a:rPr>
              <a:t>    │   │   ├── stm32er/</a:t>
            </a:r>
          </a:p>
          <a:p>
            <a:pPr algn="l">
              <a:lnSpc>
                <a:spcPct val="100000"/>
              </a:lnSpc>
            </a:pPr>
            <a:r>
              <a:rPr sz="800" b="0" i="0">
                <a:solidFill>
                  <a:srgbClr val="ECE7DC"/>
                </a:solidFill>
                <a:latin typeface="Consolas"/>
              </a:rPr>
              <a:t>    │   │   │   ├── config.yaml</a:t>
            </a:r>
          </a:p>
          <a:p>
            <a:pPr algn="l">
              <a:lnSpc>
                <a:spcPct val="100000"/>
              </a:lnSpc>
            </a:pPr>
            <a:r>
              <a:rPr sz="800" b="0" i="0">
                <a:solidFill>
                  <a:srgbClr val="ECE7DC"/>
                </a:solidFill>
                <a:latin typeface="Consolas"/>
              </a:rPr>
              <a:t>    │   │   │   └── stm32er.py</a:t>
            </a:r>
          </a:p>
        </p:txBody>
      </p:sp>
      <p:sp>
        <p:nvSpPr>
          <p:cNvPr id="7" name="TextBox 6"/>
          <p:cNvSpPr txBox="1"/>
          <p:nvPr/>
        </p:nvSpPr>
        <p:spPr>
          <a:xfrm>
            <a:off x="8109508" y="1170432"/>
            <a:ext cx="3515258" cy="5084064"/>
          </a:xfrm>
          <a:prstGeom prst="rect">
            <a:avLst/>
          </a:prstGeom>
          <a:noFill/>
        </p:spPr>
        <p:txBody>
          <a:bodyPr wrap="none" lIns="45720" rIns="45720" tIns="27432" bIns="27432" anchor="t">
            <a:noAutofit/>
          </a:bodyPr>
          <a:lstStyle/>
          <a:p>
            <a:pPr algn="l">
              <a:lnSpc>
                <a:spcPct val="100000"/>
              </a:lnSpc>
            </a:pPr>
            <a:r>
              <a:rPr sz="800" b="0" i="0">
                <a:solidFill>
                  <a:srgbClr val="3BBE93"/>
                </a:solidFill>
                <a:latin typeface="Consolas"/>
              </a:rPr>
              <a:t>    │   │   ├── stopper/</a:t>
            </a:r>
          </a:p>
          <a:p>
            <a:pPr algn="l">
              <a:lnSpc>
                <a:spcPct val="100000"/>
              </a:lnSpc>
            </a:pPr>
            <a:r>
              <a:rPr sz="800" b="0" i="0">
                <a:solidFill>
                  <a:srgbClr val="ECE7DC"/>
                </a:solidFill>
                <a:latin typeface="Consolas"/>
              </a:rPr>
              <a:t>    │   │   │   ├── config.yaml</a:t>
            </a:r>
          </a:p>
          <a:p>
            <a:pPr algn="l">
              <a:lnSpc>
                <a:spcPct val="100000"/>
              </a:lnSpc>
            </a:pPr>
            <a:r>
              <a:rPr sz="800" b="0" i="0">
                <a:solidFill>
                  <a:srgbClr val="ECE7DC"/>
                </a:solidFill>
                <a:latin typeface="Consolas"/>
              </a:rPr>
              <a:t>    │   │   │   └── stopper.py</a:t>
            </a:r>
          </a:p>
          <a:p>
            <a:pPr algn="l">
              <a:lnSpc>
                <a:spcPct val="100000"/>
              </a:lnSpc>
            </a:pPr>
            <a:r>
              <a:rPr sz="800" b="0" i="0">
                <a:solidFill>
                  <a:srgbClr val="3BBE93"/>
                </a:solidFill>
                <a:latin typeface="Consolas"/>
              </a:rPr>
              <a:t>    │   │   ├── summarizer/</a:t>
            </a:r>
          </a:p>
          <a:p>
            <a:pPr algn="l">
              <a:lnSpc>
                <a:spcPct val="100000"/>
              </a:lnSpc>
            </a:pPr>
            <a:r>
              <a:rPr sz="800" b="0" i="0">
                <a:solidFill>
                  <a:srgbClr val="ECE7DC"/>
                </a:solidFill>
                <a:latin typeface="Consolas"/>
              </a:rPr>
              <a:t>    │   │   │   ├── config.yaml</a:t>
            </a:r>
          </a:p>
          <a:p>
            <a:pPr algn="l">
              <a:lnSpc>
                <a:spcPct val="100000"/>
              </a:lnSpc>
            </a:pPr>
            <a:r>
              <a:rPr sz="800" b="0" i="0">
                <a:solidFill>
                  <a:srgbClr val="ECE7DC"/>
                </a:solidFill>
                <a:latin typeface="Consolas"/>
              </a:rPr>
              <a:t>    │   │   │   └── summarizer.py</a:t>
            </a:r>
          </a:p>
          <a:p>
            <a:pPr algn="l">
              <a:lnSpc>
                <a:spcPct val="100000"/>
              </a:lnSpc>
            </a:pPr>
            <a:r>
              <a:rPr sz="800" b="0" i="0">
                <a:solidFill>
                  <a:srgbClr val="3BBE93"/>
                </a:solidFill>
                <a:latin typeface="Consolas"/>
              </a:rPr>
              <a:t>    │   │   ├── talker/</a:t>
            </a:r>
          </a:p>
          <a:p>
            <a:pPr algn="l">
              <a:lnSpc>
                <a:spcPct val="100000"/>
              </a:lnSpc>
            </a:pPr>
            <a:r>
              <a:rPr sz="800" b="0" i="0">
                <a:solidFill>
                  <a:srgbClr val="ECE7DC"/>
                </a:solidFill>
                <a:latin typeface="Consolas"/>
              </a:rPr>
              <a:t>    │   │   │   ├── config.yaml</a:t>
            </a:r>
          </a:p>
          <a:p>
            <a:pPr algn="l">
              <a:lnSpc>
                <a:spcPct val="100000"/>
              </a:lnSpc>
            </a:pPr>
            <a:r>
              <a:rPr sz="800" b="0" i="0">
                <a:solidFill>
                  <a:srgbClr val="ECE7DC"/>
                </a:solidFill>
                <a:latin typeface="Consolas"/>
              </a:rPr>
              <a:t>    │   │   │   └── talker.py</a:t>
            </a:r>
          </a:p>
          <a:p>
            <a:pPr algn="l">
              <a:lnSpc>
                <a:spcPct val="100000"/>
              </a:lnSpc>
            </a:pPr>
            <a:r>
              <a:rPr sz="800" b="0" i="0">
                <a:solidFill>
                  <a:srgbClr val="3BBE93"/>
                </a:solidFill>
                <a:latin typeface="Consolas"/>
              </a:rPr>
              <a:t>    │   │   ├── telegrammer/</a:t>
            </a:r>
          </a:p>
          <a:p>
            <a:pPr algn="l">
              <a:lnSpc>
                <a:spcPct val="100000"/>
              </a:lnSpc>
            </a:pPr>
            <a:r>
              <a:rPr sz="800" b="0" i="0">
                <a:solidFill>
                  <a:srgbClr val="ECE7DC"/>
                </a:solidFill>
                <a:latin typeface="Consolas"/>
              </a:rPr>
              <a:t>    │   │   │   ├── config.yaml</a:t>
            </a:r>
          </a:p>
          <a:p>
            <a:pPr algn="l">
              <a:lnSpc>
                <a:spcPct val="100000"/>
              </a:lnSpc>
            </a:pPr>
            <a:r>
              <a:rPr sz="800" b="0" i="0">
                <a:solidFill>
                  <a:srgbClr val="ECE7DC"/>
                </a:solidFill>
                <a:latin typeface="Consolas"/>
              </a:rPr>
              <a:t>    │   │   │   ├── HOW_TO_GET_YOUR_TELEGRAM_ASSETS.md</a:t>
            </a:r>
          </a:p>
          <a:p>
            <a:pPr algn="l">
              <a:lnSpc>
                <a:spcPct val="100000"/>
              </a:lnSpc>
            </a:pPr>
            <a:r>
              <a:rPr sz="800" b="0" i="0">
                <a:solidFill>
                  <a:srgbClr val="ECE7DC"/>
                </a:solidFill>
                <a:latin typeface="Consolas"/>
              </a:rPr>
              <a:t>    │   │   │   ├── telegrammer.py</a:t>
            </a:r>
          </a:p>
          <a:p>
            <a:pPr algn="l">
              <a:lnSpc>
                <a:spcPct val="100000"/>
              </a:lnSpc>
            </a:pPr>
            <a:r>
              <a:rPr sz="800" b="0" i="0">
                <a:solidFill>
                  <a:srgbClr val="3BBE93"/>
                </a:solidFill>
                <a:latin typeface="Consolas"/>
              </a:rPr>
              <a:t>    │   │   │   └── guide_assets/</a:t>
            </a:r>
          </a:p>
          <a:p>
            <a:pPr algn="l">
              <a:lnSpc>
                <a:spcPct val="100000"/>
              </a:lnSpc>
            </a:pPr>
            <a:r>
              <a:rPr sz="800" b="0" i="0">
                <a:solidFill>
                  <a:srgbClr val="ECE7DC"/>
                </a:solidFill>
                <a:latin typeface="Consolas"/>
              </a:rPr>
              <a:t>    │   │   │       ├── telegram_01_botfather_search.jpg</a:t>
            </a:r>
          </a:p>
          <a:p>
            <a:pPr algn="l">
              <a:lnSpc>
                <a:spcPct val="100000"/>
              </a:lnSpc>
            </a:pPr>
            <a:r>
              <a:rPr sz="800" b="0" i="0">
                <a:solidFill>
                  <a:srgbClr val="ECE7DC"/>
                </a:solidFill>
                <a:latin typeface="Consolas"/>
              </a:rPr>
              <a:t>    │   │   │       ├── telegram_02_newbot_token.jpg</a:t>
            </a:r>
          </a:p>
          <a:p>
            <a:pPr algn="l">
              <a:lnSpc>
                <a:spcPct val="100000"/>
              </a:lnSpc>
            </a:pPr>
            <a:r>
              <a:rPr sz="800" b="0" i="0">
                <a:solidFill>
                  <a:srgbClr val="ECE7DC"/>
                </a:solidFill>
                <a:latin typeface="Consolas"/>
              </a:rPr>
              <a:t>    │   │   │       ├── telegram_03_start_bot_getupdates</a:t>
            </a:r>
          </a:p>
          <a:p>
            <a:pPr algn="l">
              <a:lnSpc>
                <a:spcPct val="100000"/>
              </a:lnSpc>
            </a:pPr>
            <a:r>
              <a:rPr sz="800" b="0" i="0">
                <a:solidFill>
                  <a:srgbClr val="ECE7DC"/>
                </a:solidFill>
                <a:latin typeface="Consolas"/>
              </a:rPr>
              <a:t>    │   │   │       │     » .jpg</a:t>
            </a:r>
          </a:p>
          <a:p>
            <a:pPr algn="l">
              <a:lnSpc>
                <a:spcPct val="100000"/>
              </a:lnSpc>
            </a:pPr>
            <a:r>
              <a:rPr sz="800" b="0" i="0">
                <a:solidFill>
                  <a:srgbClr val="ECE7DC"/>
                </a:solidFill>
                <a:latin typeface="Consolas"/>
              </a:rPr>
              <a:t>    │   │   │       └── telegram_04_tlamatini_contacts.j</a:t>
            </a:r>
          </a:p>
          <a:p>
            <a:pPr algn="l">
              <a:lnSpc>
                <a:spcPct val="100000"/>
              </a:lnSpc>
            </a:pPr>
            <a:r>
              <a:rPr sz="800" b="0" i="0">
                <a:solidFill>
                  <a:srgbClr val="ECE7DC"/>
                </a:solidFill>
                <a:latin typeface="Consolas"/>
              </a:rPr>
              <a:t>    │   │   │             » pg</a:t>
            </a:r>
          </a:p>
          <a:p>
            <a:pPr algn="l">
              <a:lnSpc>
                <a:spcPct val="100000"/>
              </a:lnSpc>
            </a:pPr>
            <a:r>
              <a:rPr sz="800" b="0" i="0">
                <a:solidFill>
                  <a:srgbClr val="3BBE93"/>
                </a:solidFill>
                <a:latin typeface="Consolas"/>
              </a:rPr>
              <a:t>    │   │   ├── teletlamatini/</a:t>
            </a:r>
          </a:p>
          <a:p>
            <a:pPr algn="l">
              <a:lnSpc>
                <a:spcPct val="100000"/>
              </a:lnSpc>
            </a:pPr>
            <a:r>
              <a:rPr sz="800" b="0" i="0">
                <a:solidFill>
                  <a:srgbClr val="ECE7DC"/>
                </a:solidFill>
                <a:latin typeface="Consolas"/>
              </a:rPr>
              <a:t>    │   │   │   ├── config.yaml</a:t>
            </a:r>
          </a:p>
          <a:p>
            <a:pPr algn="l">
              <a:lnSpc>
                <a:spcPct val="100000"/>
              </a:lnSpc>
            </a:pPr>
            <a:r>
              <a:rPr sz="800" b="0" i="0">
                <a:solidFill>
                  <a:srgbClr val="ECE7DC"/>
                </a:solidFill>
                <a:latin typeface="Consolas"/>
              </a:rPr>
              <a:t>    │   │   │   └── teletlamatini.py</a:t>
            </a:r>
          </a:p>
          <a:p>
            <a:pPr algn="l">
              <a:lnSpc>
                <a:spcPct val="100000"/>
              </a:lnSpc>
            </a:pPr>
            <a:r>
              <a:rPr sz="800" b="0" i="0">
                <a:solidFill>
                  <a:srgbClr val="3BBE93"/>
                </a:solidFill>
                <a:latin typeface="Consolas"/>
              </a:rPr>
              <a:t>    │   │   ├── terminater/</a:t>
            </a:r>
          </a:p>
          <a:p>
            <a:pPr algn="l">
              <a:lnSpc>
                <a:spcPct val="100000"/>
              </a:lnSpc>
            </a:pPr>
            <a:r>
              <a:rPr sz="800" b="0" i="0">
                <a:solidFill>
                  <a:srgbClr val="ECE7DC"/>
                </a:solidFill>
                <a:latin typeface="Consolas"/>
              </a:rPr>
              <a:t>    │   │   │   ├── config.yaml</a:t>
            </a:r>
          </a:p>
          <a:p>
            <a:pPr algn="l">
              <a:lnSpc>
                <a:spcPct val="100000"/>
              </a:lnSpc>
            </a:pPr>
            <a:r>
              <a:rPr sz="800" b="0" i="0">
                <a:solidFill>
                  <a:srgbClr val="ECE7DC"/>
                </a:solidFill>
                <a:latin typeface="Consolas"/>
              </a:rPr>
              <a:t>    │   │   │   ├── terminater.py</a:t>
            </a:r>
          </a:p>
          <a:p>
            <a:pPr algn="l">
              <a:lnSpc>
                <a:spcPct val="100000"/>
              </a:lnSpc>
            </a:pPr>
            <a:r>
              <a:rPr sz="800" b="0" i="0">
                <a:solidFill>
                  <a:srgbClr val="ECE7DC"/>
                </a:solidFill>
                <a:latin typeface="Consolas"/>
              </a:rPr>
              <a:t>    │   │   │   ├── terminater_conpty.py</a:t>
            </a:r>
          </a:p>
          <a:p>
            <a:pPr algn="l">
              <a:lnSpc>
                <a:spcPct val="100000"/>
              </a:lnSpc>
            </a:pPr>
            <a:r>
              <a:rPr sz="800" b="0" i="0">
                <a:solidFill>
                  <a:srgbClr val="ECE7DC"/>
                </a:solidFill>
                <a:latin typeface="Consolas"/>
              </a:rPr>
              <a:t>    │   │   │   ├── terminater_engine.py</a:t>
            </a:r>
          </a:p>
          <a:p>
            <a:pPr algn="l">
              <a:lnSpc>
                <a:spcPct val="100000"/>
              </a:lnSpc>
            </a:pPr>
            <a:r>
              <a:rPr sz="800" b="0" i="0">
                <a:solidFill>
                  <a:srgbClr val="ECE7DC"/>
                </a:solidFill>
                <a:latin typeface="Consolas"/>
              </a:rPr>
              <a:t>    │   │   │   └── terminater_text.py</a:t>
            </a:r>
          </a:p>
          <a:p>
            <a:pPr algn="l">
              <a:lnSpc>
                <a:spcPct val="100000"/>
              </a:lnSpc>
            </a:pPr>
            <a:r>
              <a:rPr sz="800" b="0" i="0">
                <a:solidFill>
                  <a:srgbClr val="3BBE93"/>
                </a:solidFill>
                <a:latin typeface="Consolas"/>
              </a:rPr>
              <a:t>    │   │   ├── unrealer/</a:t>
            </a:r>
          </a:p>
          <a:p>
            <a:pPr algn="l">
              <a:lnSpc>
                <a:spcPct val="100000"/>
              </a:lnSpc>
            </a:pPr>
            <a:r>
              <a:rPr sz="800" b="0" i="0">
                <a:solidFill>
                  <a:srgbClr val="ECE7DC"/>
                </a:solidFill>
                <a:latin typeface="Consolas"/>
              </a:rPr>
              <a:t>    │   │   │   ├── config.yaml</a:t>
            </a:r>
          </a:p>
          <a:p>
            <a:pPr algn="l">
              <a:lnSpc>
                <a:spcPct val="100000"/>
              </a:lnSpc>
            </a:pPr>
            <a:r>
              <a:rPr sz="800" b="0" i="0">
                <a:solidFill>
                  <a:srgbClr val="ECE7DC"/>
                </a:solidFill>
                <a:latin typeface="Consolas"/>
              </a:rPr>
              <a:t>    │   │   │   └── unrealer.py</a:t>
            </a:r>
          </a:p>
          <a:p>
            <a:pPr algn="l">
              <a:lnSpc>
                <a:spcPct val="100000"/>
              </a:lnSpc>
            </a:pPr>
            <a:r>
              <a:rPr sz="800" b="0" i="0">
                <a:solidFill>
                  <a:srgbClr val="3BBE93"/>
                </a:solidFill>
                <a:latin typeface="Consolas"/>
              </a:rPr>
              <a:t>    │   │   ├── video_analyzer/</a:t>
            </a:r>
          </a:p>
          <a:p>
            <a:pPr algn="l">
              <a:lnSpc>
                <a:spcPct val="100000"/>
              </a:lnSpc>
            </a:pPr>
            <a:r>
              <a:rPr sz="800" b="0" i="0">
                <a:solidFill>
                  <a:srgbClr val="ECE7DC"/>
                </a:solidFill>
                <a:latin typeface="Consolas"/>
              </a:rPr>
              <a:t>    │   │   │   ├── config.yaml</a:t>
            </a:r>
          </a:p>
          <a:p>
            <a:pPr algn="l">
              <a:lnSpc>
                <a:spcPct val="100000"/>
              </a:lnSpc>
            </a:pPr>
            <a:r>
              <a:rPr sz="800" b="0" i="0">
                <a:solidFill>
                  <a:srgbClr val="ECE7DC"/>
                </a:solidFill>
                <a:latin typeface="Consolas"/>
              </a:rPr>
              <a:t>    │   │   │   ├── README.md</a:t>
            </a:r>
          </a:p>
          <a:p>
            <a:pPr algn="l">
              <a:lnSpc>
                <a:spcPct val="100000"/>
              </a:lnSpc>
            </a:pPr>
            <a:r>
              <a:rPr sz="800" b="0" i="0">
                <a:solidFill>
                  <a:srgbClr val="ECE7DC"/>
                </a:solidFill>
                <a:latin typeface="Consolas"/>
              </a:rPr>
              <a:t>    │   │   │   ├── video_analyzer.py</a:t>
            </a:r>
          </a:p>
          <a:p>
            <a:pPr algn="l">
              <a:lnSpc>
                <a:spcPct val="100000"/>
              </a:lnSpc>
            </a:pPr>
            <a:r>
              <a:rPr sz="800" b="0" i="0">
                <a:solidFill>
                  <a:srgbClr val="ECE7DC"/>
                </a:solidFill>
                <a:latin typeface="Consolas"/>
              </a:rPr>
              <a:t>    │   │   │   ├── video_content.py</a:t>
            </a:r>
          </a:p>
          <a:p>
            <a:pPr algn="l">
              <a:lnSpc>
                <a:spcPct val="100000"/>
              </a:lnSpc>
            </a:pPr>
            <a:r>
              <a:rPr sz="800" b="0" i="0">
                <a:solidFill>
                  <a:srgbClr val="ECE7DC"/>
                </a:solidFill>
                <a:latin typeface="Consolas"/>
              </a:rPr>
              <a:t>    │   │   │   └── video_fetch.py</a:t>
            </a:r>
          </a:p>
          <a:p>
            <a:pPr algn="l">
              <a:lnSpc>
                <a:spcPct val="100000"/>
              </a:lnSpc>
            </a:pPr>
            <a:r>
              <a:rPr sz="800" b="0" i="0">
                <a:solidFill>
                  <a:srgbClr val="3BBE93"/>
                </a:solidFill>
                <a:latin typeface="Consolas"/>
              </a:rPr>
              <a:t>    │   │   ├── videoplayer/</a:t>
            </a:r>
          </a:p>
          <a:p>
            <a:pPr algn="l">
              <a:lnSpc>
                <a:spcPct val="100000"/>
              </a:lnSpc>
            </a:pPr>
            <a:r>
              <a:rPr sz="800" b="0" i="0">
                <a:solidFill>
                  <a:srgbClr val="ECE7DC"/>
                </a:solidFill>
                <a:latin typeface="Consolas"/>
              </a:rPr>
              <a:t>    │   │   │   ├── config.yaml</a:t>
            </a:r>
          </a:p>
          <a:p>
            <a:pPr algn="l">
              <a:lnSpc>
                <a:spcPct val="100000"/>
              </a:lnSpc>
            </a:pPr>
            <a:r>
              <a:rPr sz="800" b="0" i="0">
                <a:solidFill>
                  <a:srgbClr val="ECE7DC"/>
                </a:solidFill>
                <a:latin typeface="Consolas"/>
              </a:rPr>
              <a:t>    │   │   │   └── videoplayer.py</a:t>
            </a:r>
          </a:p>
        </p:txBody>
      </p:sp>
      <p:cxnSp>
        <p:nvCxnSpPr>
          <p:cNvPr id="8" name="Connector 7"/>
          <p:cNvCxnSpPr/>
          <p:nvPr/>
        </p:nvCxnSpPr>
        <p:spPr>
          <a:xfrm>
            <a:off x="566928" y="6373368"/>
            <a:ext cx="11057839" cy="0"/>
          </a:xfrm>
          <a:prstGeom prst="line">
            <a:avLst/>
          </a:prstGeom>
          <a:ln w="7620">
            <a:solidFill>
              <a:srgbClr val="2A3A40"/>
            </a:solidFill>
          </a:ln>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566928" y="6419088"/>
            <a:ext cx="6858000" cy="274320"/>
          </a:xfrm>
          <a:prstGeom prst="rect">
            <a:avLst/>
          </a:prstGeom>
          <a:noFill/>
        </p:spPr>
        <p:txBody>
          <a:bodyPr wrap="square" lIns="45720" rIns="45720" tIns="27432" bIns="27432" anchor="t">
            <a:noAutofit/>
          </a:bodyPr>
          <a:lstStyle/>
          <a:p>
            <a:pPr algn="l">
              <a:lnSpc>
                <a:spcPct val="100000"/>
              </a:lnSpc>
            </a:pPr>
            <a:r>
              <a:rPr sz="850" b="0" i="0" spc="120">
                <a:solidFill>
                  <a:srgbClr val="A7B2B0"/>
                </a:solidFill>
                <a:latin typeface="Segoe UI Semibold"/>
              </a:rPr>
              <a:t>TLAMATINI  ·  APÉNDICE A · ÁRBOL DE ARCHIVOS</a:t>
            </a:r>
          </a:p>
        </p:txBody>
      </p:sp>
      <p:sp>
        <p:nvSpPr>
          <p:cNvPr id="10" name="TextBox 9"/>
          <p:cNvSpPr txBox="1"/>
          <p:nvPr/>
        </p:nvSpPr>
        <p:spPr>
          <a:xfrm>
            <a:off x="8698687" y="6419088"/>
            <a:ext cx="2926080" cy="274320"/>
          </a:xfrm>
          <a:prstGeom prst="rect">
            <a:avLst/>
          </a:prstGeom>
          <a:noFill/>
        </p:spPr>
        <p:txBody>
          <a:bodyPr wrap="square" lIns="45720" rIns="45720" tIns="27432" bIns="27432" anchor="t">
            <a:noAutofit/>
          </a:bodyPr>
          <a:lstStyle/>
          <a:p>
            <a:pPr algn="r">
              <a:lnSpc>
                <a:spcPct val="100000"/>
              </a:lnSpc>
            </a:pPr>
            <a:r>
              <a:rPr sz="850" b="0" i="0" spc="100">
                <a:solidFill>
                  <a:srgbClr val="A7B2B0"/>
                </a:solidFill>
                <a:latin typeface="Segoe UI Semibold"/>
              </a:rPr>
              <a:t>v1.91.1   ·   187</a:t>
            </a:r>
          </a:p>
        </p:txBody>
      </p:sp>
    </p:spTree>
  </p:cSld>
  <p:clrMapOvr>
    <a:masterClrMapping/>
  </p:clrMapOvr>
</p:sld>
</file>

<file path=ppt/slides/slide18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appendix.png"/>
          <p:cNvPicPr>
            <a:picLocks noChangeAspect="1"/>
          </p:cNvPicPr>
          <p:nvPr/>
        </p:nvPicPr>
        <p:blipFill>
          <a:blip r:embed="rId2"/>
          <a:stretch>
            <a:fillRect/>
          </a:stretch>
        </p:blipFill>
        <p:spPr>
          <a:xfrm>
            <a:off x="0" y="0"/>
            <a:ext cx="12191695" cy="6858000"/>
          </a:xfrm>
          <a:prstGeom prst="rect">
            <a:avLst/>
          </a:prstGeom>
        </p:spPr>
      </p:pic>
      <p:sp>
        <p:nvSpPr>
          <p:cNvPr id="3" name="TextBox 2"/>
          <p:cNvSpPr txBox="1"/>
          <p:nvPr/>
        </p:nvSpPr>
        <p:spPr>
          <a:xfrm>
            <a:off x="566928" y="384048"/>
            <a:ext cx="8686800" cy="329184"/>
          </a:xfrm>
          <a:prstGeom prst="rect">
            <a:avLst/>
          </a:prstGeom>
          <a:noFill/>
        </p:spPr>
        <p:txBody>
          <a:bodyPr wrap="square" lIns="45720" rIns="45720" tIns="27432" bIns="27432" anchor="t">
            <a:noAutofit/>
          </a:bodyPr>
          <a:lstStyle/>
          <a:p>
            <a:pPr algn="l">
              <a:lnSpc>
                <a:spcPct val="100000"/>
              </a:lnSpc>
            </a:pPr>
            <a:r>
              <a:rPr sz="1100" b="0" i="0" spc="200">
                <a:solidFill>
                  <a:srgbClr val="C98457"/>
                </a:solidFill>
                <a:latin typeface="Segoe UI Semibold"/>
              </a:rPr>
              <a:t>APÉNDICE A  ·  ÁRBOL DE ARCHIVOS DE LA APLICACIÓN  ·  14 / 20</a:t>
            </a:r>
          </a:p>
        </p:txBody>
      </p:sp>
      <p:sp>
        <p:nvSpPr>
          <p:cNvPr id="4" name="TextBox 3"/>
          <p:cNvSpPr txBox="1"/>
          <p:nvPr/>
        </p:nvSpPr>
        <p:spPr>
          <a:xfrm>
            <a:off x="566928" y="731520"/>
            <a:ext cx="11057839" cy="384048"/>
          </a:xfrm>
          <a:prstGeom prst="rect">
            <a:avLst/>
          </a:prstGeom>
          <a:noFill/>
        </p:spPr>
        <p:txBody>
          <a:bodyPr wrap="square" lIns="45720" rIns="45720" tIns="27432" bIns="27432" anchor="t">
            <a:noAutofit/>
          </a:bodyPr>
          <a:lstStyle/>
          <a:p>
            <a:pPr algn="l">
              <a:lnSpc>
                <a:spcPct val="100000"/>
              </a:lnSpc>
            </a:pPr>
            <a:r>
              <a:rPr sz="1300" b="0" i="0">
                <a:solidFill>
                  <a:srgbClr val="A7B2B0"/>
                </a:solidFill>
                <a:latin typeface="Segoe UI"/>
              </a:rPr>
              <a:t>1,898 archivos listados en el commit 21b0a5c; 221 archivos de la historia de la base de datos resumidos.</a:t>
            </a:r>
          </a:p>
        </p:txBody>
      </p:sp>
      <p:sp>
        <p:nvSpPr>
          <p:cNvPr id="5" name="TextBox 4"/>
          <p:cNvSpPr txBox="1"/>
          <p:nvPr/>
        </p:nvSpPr>
        <p:spPr>
          <a:xfrm>
            <a:off x="566928" y="1170432"/>
            <a:ext cx="3515258" cy="5084064"/>
          </a:xfrm>
          <a:prstGeom prst="rect">
            <a:avLst/>
          </a:prstGeom>
          <a:noFill/>
        </p:spPr>
        <p:txBody>
          <a:bodyPr wrap="none" lIns="45720" rIns="45720" tIns="27432" bIns="27432" anchor="t">
            <a:noAutofit/>
          </a:bodyPr>
          <a:lstStyle/>
          <a:p>
            <a:pPr algn="l">
              <a:lnSpc>
                <a:spcPct val="100000"/>
              </a:lnSpc>
            </a:pPr>
            <a:r>
              <a:rPr sz="800" b="0" i="0">
                <a:solidFill>
                  <a:srgbClr val="3BBE93"/>
                </a:solidFill>
                <a:latin typeface="Consolas"/>
              </a:rPr>
              <a:t>    │   │   ├── whatsapper/</a:t>
            </a:r>
          </a:p>
          <a:p>
            <a:pPr algn="l">
              <a:lnSpc>
                <a:spcPct val="100000"/>
              </a:lnSpc>
            </a:pPr>
            <a:r>
              <a:rPr sz="800" b="0" i="0">
                <a:solidFill>
                  <a:srgbClr val="ECE7DC"/>
                </a:solidFill>
                <a:latin typeface="Consolas"/>
              </a:rPr>
              <a:t>    │   │   │   ├── config.yaml</a:t>
            </a:r>
          </a:p>
          <a:p>
            <a:pPr algn="l">
              <a:lnSpc>
                <a:spcPct val="100000"/>
              </a:lnSpc>
            </a:pPr>
            <a:r>
              <a:rPr sz="800" b="0" i="0">
                <a:solidFill>
                  <a:srgbClr val="ECE7DC"/>
                </a:solidFill>
                <a:latin typeface="Consolas"/>
              </a:rPr>
              <a:t>    │   │   │   ├── HOW_TO_GET_YOUR_WHATSAPP_ASSETS.md</a:t>
            </a:r>
          </a:p>
          <a:p>
            <a:pPr algn="l">
              <a:lnSpc>
                <a:spcPct val="100000"/>
              </a:lnSpc>
            </a:pPr>
            <a:r>
              <a:rPr sz="800" b="0" i="0">
                <a:solidFill>
                  <a:srgbClr val="ECE7DC"/>
                </a:solidFill>
                <a:latin typeface="Consolas"/>
              </a:rPr>
              <a:t>    │   │   │   ├── whatsapper.py</a:t>
            </a:r>
          </a:p>
          <a:p>
            <a:pPr algn="l">
              <a:lnSpc>
                <a:spcPct val="100000"/>
              </a:lnSpc>
            </a:pPr>
            <a:r>
              <a:rPr sz="800" b="0" i="0">
                <a:solidFill>
                  <a:srgbClr val="3BBE93"/>
                </a:solidFill>
                <a:latin typeface="Consolas"/>
              </a:rPr>
              <a:t>    │   │   │   └── guide_assets/</a:t>
            </a:r>
          </a:p>
          <a:p>
            <a:pPr algn="l">
              <a:lnSpc>
                <a:spcPct val="100000"/>
              </a:lnSpc>
            </a:pPr>
            <a:r>
              <a:rPr sz="800" b="0" i="0">
                <a:solidFill>
                  <a:srgbClr val="ECE7DC"/>
                </a:solidFill>
                <a:latin typeface="Consolas"/>
              </a:rPr>
              <a:t>    │   │   │       ├── whatsapp_01_meta_create_app.jpg</a:t>
            </a:r>
          </a:p>
          <a:p>
            <a:pPr algn="l">
              <a:lnSpc>
                <a:spcPct val="100000"/>
              </a:lnSpc>
            </a:pPr>
            <a:r>
              <a:rPr sz="800" b="0" i="0">
                <a:solidFill>
                  <a:srgbClr val="ECE7DC"/>
                </a:solidFill>
                <a:latin typeface="Consolas"/>
              </a:rPr>
              <a:t>    │   │   │       ├── whatsapp_02_api_setup_keys.jpg</a:t>
            </a:r>
          </a:p>
          <a:p>
            <a:pPr algn="l">
              <a:lnSpc>
                <a:spcPct val="100000"/>
              </a:lnSpc>
            </a:pPr>
            <a:r>
              <a:rPr sz="800" b="0" i="0">
                <a:solidFill>
                  <a:srgbClr val="ECE7DC"/>
                </a:solidFill>
                <a:latin typeface="Consolas"/>
              </a:rPr>
              <a:t>    │   │   │       ├── whatsapp_03_test_recipient_send.</a:t>
            </a:r>
          </a:p>
          <a:p>
            <a:pPr algn="l">
              <a:lnSpc>
                <a:spcPct val="100000"/>
              </a:lnSpc>
            </a:pPr>
            <a:r>
              <a:rPr sz="800" b="0" i="0">
                <a:solidFill>
                  <a:srgbClr val="ECE7DC"/>
                </a:solidFill>
                <a:latin typeface="Consolas"/>
              </a:rPr>
              <a:t>    │   │   │       │     » jpg</a:t>
            </a:r>
          </a:p>
          <a:p>
            <a:pPr algn="l">
              <a:lnSpc>
                <a:spcPct val="100000"/>
              </a:lnSpc>
            </a:pPr>
            <a:r>
              <a:rPr sz="800" b="0" i="0">
                <a:solidFill>
                  <a:srgbClr val="ECE7DC"/>
                </a:solidFill>
                <a:latin typeface="Consolas"/>
              </a:rPr>
              <a:t>    │   │   │       ├── whatsapp_04_system_user_token.jp</a:t>
            </a:r>
          </a:p>
          <a:p>
            <a:pPr algn="l">
              <a:lnSpc>
                <a:spcPct val="100000"/>
              </a:lnSpc>
            </a:pPr>
            <a:r>
              <a:rPr sz="800" b="0" i="0">
                <a:solidFill>
                  <a:srgbClr val="ECE7DC"/>
                </a:solidFill>
                <a:latin typeface="Consolas"/>
              </a:rPr>
              <a:t>    │   │   │       │     » g</a:t>
            </a:r>
          </a:p>
          <a:p>
            <a:pPr algn="l">
              <a:lnSpc>
                <a:spcPct val="100000"/>
              </a:lnSpc>
            </a:pPr>
            <a:r>
              <a:rPr sz="800" b="0" i="0">
                <a:solidFill>
                  <a:srgbClr val="ECE7DC"/>
                </a:solidFill>
                <a:latin typeface="Consolas"/>
              </a:rPr>
              <a:t>    │   │   │       └── whatsapp_05_tlamatini_contacts.j</a:t>
            </a:r>
          </a:p>
          <a:p>
            <a:pPr algn="l">
              <a:lnSpc>
                <a:spcPct val="100000"/>
              </a:lnSpc>
            </a:pPr>
            <a:r>
              <a:rPr sz="800" b="0" i="0">
                <a:solidFill>
                  <a:srgbClr val="ECE7DC"/>
                </a:solidFill>
                <a:latin typeface="Consolas"/>
              </a:rPr>
              <a:t>    │   │   │             » pg</a:t>
            </a:r>
          </a:p>
          <a:p>
            <a:pPr algn="l">
              <a:lnSpc>
                <a:spcPct val="100000"/>
              </a:lnSpc>
            </a:pPr>
            <a:r>
              <a:rPr sz="800" b="0" i="0">
                <a:solidFill>
                  <a:srgbClr val="3BBE93"/>
                </a:solidFill>
                <a:latin typeface="Consolas"/>
              </a:rPr>
              <a:t>    │   │   ├── whisperer/</a:t>
            </a:r>
          </a:p>
          <a:p>
            <a:pPr algn="l">
              <a:lnSpc>
                <a:spcPct val="100000"/>
              </a:lnSpc>
            </a:pPr>
            <a:r>
              <a:rPr sz="800" b="0" i="0">
                <a:solidFill>
                  <a:srgbClr val="ECE7DC"/>
                </a:solidFill>
                <a:latin typeface="Consolas"/>
              </a:rPr>
              <a:t>    │   │   │   ├── chat_worker.py</a:t>
            </a:r>
          </a:p>
          <a:p>
            <a:pPr algn="l">
              <a:lnSpc>
                <a:spcPct val="100000"/>
              </a:lnSpc>
            </a:pPr>
            <a:r>
              <a:rPr sz="800" b="0" i="0">
                <a:solidFill>
                  <a:srgbClr val="ECE7DC"/>
                </a:solidFill>
                <a:latin typeface="Consolas"/>
              </a:rPr>
              <a:t>    │   │   │   ├── config.yaml</a:t>
            </a:r>
          </a:p>
          <a:p>
            <a:pPr algn="l">
              <a:lnSpc>
                <a:spcPct val="100000"/>
              </a:lnSpc>
            </a:pPr>
            <a:r>
              <a:rPr sz="800" b="0" i="0">
                <a:solidFill>
                  <a:srgbClr val="ECE7DC"/>
                </a:solidFill>
                <a:latin typeface="Consolas"/>
              </a:rPr>
              <a:t>    │   │   │   ├── README.md</a:t>
            </a:r>
          </a:p>
          <a:p>
            <a:pPr algn="l">
              <a:lnSpc>
                <a:spcPct val="100000"/>
              </a:lnSpc>
            </a:pPr>
            <a:r>
              <a:rPr sz="800" b="0" i="0">
                <a:solidFill>
                  <a:srgbClr val="ECE7DC"/>
                </a:solidFill>
                <a:latin typeface="Consolas"/>
              </a:rPr>
              <a:t>    │   │   │   └── whisperer.py</a:t>
            </a:r>
          </a:p>
          <a:p>
            <a:pPr algn="l">
              <a:lnSpc>
                <a:spcPct val="100000"/>
              </a:lnSpc>
            </a:pPr>
            <a:r>
              <a:rPr sz="800" b="0" i="0">
                <a:solidFill>
                  <a:srgbClr val="3BBE93"/>
                </a:solidFill>
                <a:latin typeface="Consolas"/>
              </a:rPr>
              <a:t>    │   │   └── windower/</a:t>
            </a:r>
          </a:p>
          <a:p>
            <a:pPr algn="l">
              <a:lnSpc>
                <a:spcPct val="100000"/>
              </a:lnSpc>
            </a:pPr>
            <a:r>
              <a:rPr sz="800" b="0" i="0">
                <a:solidFill>
                  <a:srgbClr val="ECE7DC"/>
                </a:solidFill>
                <a:latin typeface="Consolas"/>
              </a:rPr>
              <a:t>    │   │       ├── config.yaml</a:t>
            </a:r>
          </a:p>
          <a:p>
            <a:pPr algn="l">
              <a:lnSpc>
                <a:spcPct val="100000"/>
              </a:lnSpc>
            </a:pPr>
            <a:r>
              <a:rPr sz="800" b="0" i="0">
                <a:solidFill>
                  <a:srgbClr val="ECE7DC"/>
                </a:solidFill>
                <a:latin typeface="Consolas"/>
              </a:rPr>
              <a:t>    │   │       └── windower.py</a:t>
            </a:r>
          </a:p>
          <a:p>
            <a:pPr algn="l">
              <a:lnSpc>
                <a:spcPct val="100000"/>
              </a:lnSpc>
            </a:pPr>
            <a:r>
              <a:rPr sz="800" b="0" i="0">
                <a:solidFill>
                  <a:srgbClr val="3BBE93"/>
                </a:solidFill>
                <a:latin typeface="Consolas"/>
              </a:rPr>
              <a:t>    │   ├── doc_generation/</a:t>
            </a:r>
          </a:p>
          <a:p>
            <a:pPr algn="l">
              <a:lnSpc>
                <a:spcPct val="100000"/>
              </a:lnSpc>
            </a:pPr>
            <a:r>
              <a:rPr sz="800" b="0" i="0">
                <a:solidFill>
                  <a:srgbClr val="ECE7DC"/>
                </a:solidFill>
                <a:latin typeface="Consolas"/>
              </a:rPr>
              <a:t>    │   │   ├── complete_project_docs.py</a:t>
            </a:r>
          </a:p>
          <a:p>
            <a:pPr algn="l">
              <a:lnSpc>
                <a:spcPct val="100000"/>
              </a:lnSpc>
            </a:pPr>
            <a:r>
              <a:rPr sz="800" b="0" i="0">
                <a:solidFill>
                  <a:srgbClr val="ECE7DC"/>
                </a:solidFill>
                <a:latin typeface="Consolas"/>
              </a:rPr>
              <a:t>    │   │   ├── dossier_content.py</a:t>
            </a:r>
          </a:p>
          <a:p>
            <a:pPr algn="l">
              <a:lnSpc>
                <a:spcPct val="100000"/>
              </a:lnSpc>
            </a:pPr>
            <a:r>
              <a:rPr sz="800" b="0" i="0">
                <a:solidFill>
                  <a:srgbClr val="ECE7DC"/>
                </a:solidFill>
                <a:latin typeface="Consolas"/>
              </a:rPr>
              <a:t>    │   │   ├── dossier_editor_content.py</a:t>
            </a:r>
          </a:p>
          <a:p>
            <a:pPr algn="l">
              <a:lnSpc>
                <a:spcPct val="100000"/>
              </a:lnSpc>
            </a:pPr>
            <a:r>
              <a:rPr sz="800" b="0" i="0">
                <a:solidFill>
                  <a:srgbClr val="ECE7DC"/>
                </a:solidFill>
                <a:latin typeface="Consolas"/>
              </a:rPr>
              <a:t>    │   │   ├── dossier_pdf.py</a:t>
            </a:r>
          </a:p>
          <a:p>
            <a:pPr algn="l">
              <a:lnSpc>
                <a:spcPct val="100000"/>
              </a:lnSpc>
            </a:pPr>
            <a:r>
              <a:rPr sz="800" b="0" i="0">
                <a:solidFill>
                  <a:srgbClr val="ECE7DC"/>
                </a:solidFill>
                <a:latin typeface="Consolas"/>
              </a:rPr>
              <a:t>    │   │   ├── dossier_pptx.py</a:t>
            </a:r>
          </a:p>
          <a:p>
            <a:pPr algn="l">
              <a:lnSpc>
                <a:spcPct val="100000"/>
              </a:lnSpc>
            </a:pPr>
            <a:r>
              <a:rPr sz="800" b="0" i="0">
                <a:solidFill>
                  <a:srgbClr val="ECE7DC"/>
                </a:solidFill>
                <a:latin typeface="Consolas"/>
              </a:rPr>
              <a:t>    │   │   ├── dossier_theme.py</a:t>
            </a:r>
          </a:p>
          <a:p>
            <a:pPr algn="l">
              <a:lnSpc>
                <a:spcPct val="100000"/>
              </a:lnSpc>
            </a:pPr>
            <a:r>
              <a:rPr sz="800" b="0" i="0">
                <a:solidFill>
                  <a:srgbClr val="ECE7DC"/>
                </a:solidFill>
                <a:latin typeface="Consolas"/>
              </a:rPr>
              <a:t>    │   │   ├── dossier_verify.py</a:t>
            </a:r>
          </a:p>
          <a:p>
            <a:pPr algn="l">
              <a:lnSpc>
                <a:spcPct val="100000"/>
              </a:lnSpc>
            </a:pPr>
            <a:r>
              <a:rPr sz="800" b="0" i="0">
                <a:solidFill>
                  <a:srgbClr val="ECE7DC"/>
                </a:solidFill>
                <a:latin typeface="Consolas"/>
              </a:rPr>
              <a:t>    │   │   ├── mardown_to_pdf.py</a:t>
            </a:r>
          </a:p>
          <a:p>
            <a:pPr algn="l">
              <a:lnSpc>
                <a:spcPct val="100000"/>
              </a:lnSpc>
            </a:pPr>
            <a:r>
              <a:rPr sz="800" b="0" i="0">
                <a:solidFill>
                  <a:srgbClr val="ECE7DC"/>
                </a:solidFill>
                <a:latin typeface="Consolas"/>
              </a:rPr>
              <a:t>    │   │   ├── refresh_project_docs.py</a:t>
            </a:r>
          </a:p>
          <a:p>
            <a:pPr algn="l">
              <a:lnSpc>
                <a:spcPct val="100000"/>
              </a:lnSpc>
            </a:pPr>
            <a:r>
              <a:rPr sz="800" b="0" i="0">
                <a:solidFill>
                  <a:srgbClr val="ECE7DC"/>
                </a:solidFill>
                <a:latin typeface="Consolas"/>
              </a:rPr>
              <a:t>    │   │   └── test_output.pdf</a:t>
            </a:r>
          </a:p>
          <a:p>
            <a:pPr algn="l">
              <a:lnSpc>
                <a:spcPct val="100000"/>
              </a:lnSpc>
            </a:pPr>
            <a:r>
              <a:rPr sz="800" b="0" i="0">
                <a:solidFill>
                  <a:srgbClr val="3BBE93"/>
                </a:solidFill>
                <a:latin typeface="Consolas"/>
              </a:rPr>
              <a:t>    │   ├── images/</a:t>
            </a:r>
          </a:p>
          <a:p>
            <a:pPr algn="l">
              <a:lnSpc>
                <a:spcPct val="100000"/>
              </a:lnSpc>
            </a:pPr>
            <a:r>
              <a:rPr sz="800" b="0" i="0">
                <a:solidFill>
                  <a:srgbClr val="ECE7DC"/>
                </a:solidFill>
                <a:latin typeface="Consolas"/>
              </a:rPr>
              <a:t>    │   │   ├── ACPXKeysConfigureWizard.jpg</a:t>
            </a:r>
          </a:p>
          <a:p>
            <a:pPr algn="l">
              <a:lnSpc>
                <a:spcPct val="100000"/>
              </a:lnSpc>
            </a:pPr>
            <a:r>
              <a:rPr sz="800" b="0" i="0">
                <a:solidFill>
                  <a:srgbClr val="ECE7DC"/>
                </a:solidFill>
                <a:latin typeface="Consolas"/>
              </a:rPr>
              <a:t>    │   │   ├── ConfigureModels.jpg</a:t>
            </a:r>
          </a:p>
          <a:p>
            <a:pPr algn="l">
              <a:lnSpc>
                <a:spcPct val="100000"/>
              </a:lnSpc>
            </a:pPr>
            <a:r>
              <a:rPr sz="800" b="0" i="0">
                <a:solidFill>
                  <a:srgbClr val="ECE7DC"/>
                </a:solidFill>
                <a:latin typeface="Consolas"/>
              </a:rPr>
              <a:t>    │   │   ├── MenuConfig.jpg</a:t>
            </a:r>
          </a:p>
          <a:p>
            <a:pPr algn="l">
              <a:lnSpc>
                <a:spcPct val="100000"/>
              </a:lnSpc>
            </a:pPr>
            <a:r>
              <a:rPr sz="800" b="0" i="0">
                <a:solidFill>
                  <a:srgbClr val="ECE7DC"/>
                </a:solidFill>
                <a:latin typeface="Consolas"/>
              </a:rPr>
              <a:t>    │   │   ├── mockup.jpg</a:t>
            </a:r>
          </a:p>
          <a:p>
            <a:pPr algn="l">
              <a:lnSpc>
                <a:spcPct val="100000"/>
              </a:lnSpc>
            </a:pPr>
            <a:r>
              <a:rPr sz="800" b="0" i="0">
                <a:solidFill>
                  <a:srgbClr val="ECE7DC"/>
                </a:solidFill>
                <a:latin typeface="Consolas"/>
              </a:rPr>
              <a:t>    │   │   └── XAIHT-Tlamatini.mp4</a:t>
            </a:r>
          </a:p>
          <a:p>
            <a:pPr algn="l">
              <a:lnSpc>
                <a:spcPct val="100000"/>
              </a:lnSpc>
            </a:pPr>
            <a:r>
              <a:rPr sz="800" b="0" i="0">
                <a:solidFill>
                  <a:srgbClr val="3BBE93"/>
                </a:solidFill>
                <a:latin typeface="Consolas"/>
              </a:rPr>
              <a:t>    │   ├── imaging/</a:t>
            </a:r>
          </a:p>
          <a:p>
            <a:pPr algn="l">
              <a:lnSpc>
                <a:spcPct val="100000"/>
              </a:lnSpc>
            </a:pPr>
            <a:r>
              <a:rPr sz="800" b="0" i="0">
                <a:solidFill>
                  <a:srgbClr val="ECE7DC"/>
                </a:solidFill>
                <a:latin typeface="Consolas"/>
              </a:rPr>
              <a:t>    │   │   ├── converter.py</a:t>
            </a:r>
          </a:p>
          <a:p>
            <a:pPr algn="l">
              <a:lnSpc>
                <a:spcPct val="100000"/>
              </a:lnSpc>
            </a:pPr>
            <a:r>
              <a:rPr sz="800" b="0" i="0">
                <a:solidFill>
                  <a:srgbClr val="ECE7DC"/>
                </a:solidFill>
                <a:latin typeface="Consolas"/>
              </a:rPr>
              <a:t>    │   │   ├── image_interpreter.py</a:t>
            </a:r>
          </a:p>
        </p:txBody>
      </p:sp>
      <p:sp>
        <p:nvSpPr>
          <p:cNvPr id="6" name="TextBox 5"/>
          <p:cNvSpPr txBox="1"/>
          <p:nvPr/>
        </p:nvSpPr>
        <p:spPr>
          <a:xfrm>
            <a:off x="4338218" y="1170432"/>
            <a:ext cx="3515258" cy="5084064"/>
          </a:xfrm>
          <a:prstGeom prst="rect">
            <a:avLst/>
          </a:prstGeom>
          <a:noFill/>
        </p:spPr>
        <p:txBody>
          <a:bodyPr wrap="none" lIns="45720" rIns="45720" tIns="27432" bIns="27432" anchor="t">
            <a:noAutofit/>
          </a:bodyPr>
          <a:lstStyle/>
          <a:p>
            <a:pPr algn="l">
              <a:lnSpc>
                <a:spcPct val="100000"/>
              </a:lnSpc>
            </a:pPr>
            <a:r>
              <a:rPr sz="800" b="0" i="0">
                <a:solidFill>
                  <a:srgbClr val="ECE7DC"/>
                </a:solidFill>
                <a:latin typeface="Consolas"/>
              </a:rPr>
              <a:t>    │   │   └── screenshot.py</a:t>
            </a:r>
          </a:p>
          <a:p>
            <a:pPr algn="l">
              <a:lnSpc>
                <a:spcPct val="100000"/>
              </a:lnSpc>
            </a:pPr>
            <a:r>
              <a:rPr sz="800" b="0" i="0">
                <a:solidFill>
                  <a:srgbClr val="3BBE93"/>
                </a:solidFill>
                <a:latin typeface="Consolas"/>
              </a:rPr>
              <a:t>    │   ├── interactor/</a:t>
            </a:r>
          </a:p>
          <a:p>
            <a:pPr algn="l">
              <a:lnSpc>
                <a:spcPct val="100000"/>
              </a:lnSpc>
            </a:pPr>
            <a:r>
              <a:rPr sz="800" b="0" i="0">
                <a:solidFill>
                  <a:srgbClr val="ECE7DC"/>
                </a:solidFill>
                <a:latin typeface="Consolas"/>
              </a:rPr>
              <a:t>    │   │   ├── __init__.py</a:t>
            </a:r>
          </a:p>
          <a:p>
            <a:pPr algn="l">
              <a:lnSpc>
                <a:spcPct val="100000"/>
              </a:lnSpc>
            </a:pPr>
            <a:r>
              <a:rPr sz="800" b="0" i="0">
                <a:solidFill>
                  <a:srgbClr val="ECE7DC"/>
                </a:solidFill>
                <a:latin typeface="Consolas"/>
              </a:rPr>
              <a:t>    │   │   ├── consumer.py</a:t>
            </a:r>
          </a:p>
          <a:p>
            <a:pPr algn="l">
              <a:lnSpc>
                <a:spcPct val="100000"/>
              </a:lnSpc>
            </a:pPr>
            <a:r>
              <a:rPr sz="800" b="0" i="0">
                <a:solidFill>
                  <a:srgbClr val="ECE7DC"/>
                </a:solidFill>
                <a:latin typeface="Consolas"/>
              </a:rPr>
              <a:t>    │   │   ├── context.py</a:t>
            </a:r>
          </a:p>
          <a:p>
            <a:pPr algn="l">
              <a:lnSpc>
                <a:spcPct val="100000"/>
              </a:lnSpc>
            </a:pPr>
            <a:r>
              <a:rPr sz="800" b="0" i="0">
                <a:solidFill>
                  <a:srgbClr val="ECE7DC"/>
                </a:solidFill>
                <a:latin typeface="Consolas"/>
              </a:rPr>
              <a:t>    │   │   ├── editor.mjs</a:t>
            </a:r>
          </a:p>
          <a:p>
            <a:pPr algn="l">
              <a:lnSpc>
                <a:spcPct val="100000"/>
              </a:lnSpc>
            </a:pPr>
            <a:r>
              <a:rPr sz="800" b="0" i="0">
                <a:solidFill>
                  <a:srgbClr val="ECE7DC"/>
                </a:solidFill>
                <a:latin typeface="Consolas"/>
              </a:rPr>
              <a:t>    │   │   ├── files.py</a:t>
            </a:r>
          </a:p>
          <a:p>
            <a:pPr algn="l">
              <a:lnSpc>
                <a:spcPct val="100000"/>
              </a:lnSpc>
            </a:pPr>
            <a:r>
              <a:rPr sz="800" b="0" i="0">
                <a:solidFill>
                  <a:srgbClr val="ECE7DC"/>
                </a:solidFill>
                <a:latin typeface="Consolas"/>
              </a:rPr>
              <a:t>    │   │   ├── hub.py</a:t>
            </a:r>
          </a:p>
          <a:p>
            <a:pPr algn="l">
              <a:lnSpc>
                <a:spcPct val="100000"/>
              </a:lnSpc>
            </a:pPr>
            <a:r>
              <a:rPr sz="800" b="0" i="0">
                <a:solidFill>
                  <a:srgbClr val="ECE7DC"/>
                </a:solidFill>
                <a:latin typeface="Consolas"/>
              </a:rPr>
              <a:t>    │   │   ├── protocol.py</a:t>
            </a:r>
          </a:p>
          <a:p>
            <a:pPr algn="l">
              <a:lnSpc>
                <a:spcPct val="100000"/>
              </a:lnSpc>
            </a:pPr>
            <a:r>
              <a:rPr sz="800" b="0" i="0">
                <a:solidFill>
                  <a:srgbClr val="ECE7DC"/>
                </a:solidFill>
                <a:latin typeface="Consolas"/>
              </a:rPr>
              <a:t>    │   │   └── tool.py</a:t>
            </a:r>
          </a:p>
          <a:p>
            <a:pPr algn="l">
              <a:lnSpc>
                <a:spcPct val="100000"/>
              </a:lnSpc>
            </a:pPr>
            <a:r>
              <a:rPr sz="800" b="0" i="0">
                <a:solidFill>
                  <a:srgbClr val="3BBE93"/>
                </a:solidFill>
                <a:latin typeface="Consolas"/>
              </a:rPr>
              <a:t>    │   ├── management/</a:t>
            </a:r>
          </a:p>
          <a:p>
            <a:pPr algn="l">
              <a:lnSpc>
                <a:spcPct val="100000"/>
              </a:lnSpc>
            </a:pPr>
            <a:r>
              <a:rPr sz="800" b="0" i="0">
                <a:solidFill>
                  <a:srgbClr val="ECE7DC"/>
                </a:solidFill>
                <a:latin typeface="Consolas"/>
              </a:rPr>
              <a:t>    │   │   ├── __init__.py</a:t>
            </a:r>
          </a:p>
          <a:p>
            <a:pPr algn="l">
              <a:lnSpc>
                <a:spcPct val="100000"/>
              </a:lnSpc>
            </a:pPr>
            <a:r>
              <a:rPr sz="800" b="0" i="0">
                <a:solidFill>
                  <a:srgbClr val="3BBE93"/>
                </a:solidFill>
                <a:latin typeface="Consolas"/>
              </a:rPr>
              <a:t>    │   │   └── commands/</a:t>
            </a:r>
          </a:p>
          <a:p>
            <a:pPr algn="l">
              <a:lnSpc>
                <a:spcPct val="100000"/>
              </a:lnSpc>
            </a:pPr>
            <a:r>
              <a:rPr sz="800" b="0" i="0">
                <a:solidFill>
                  <a:srgbClr val="ECE7DC"/>
                </a:solidFill>
                <a:latin typeface="Consolas"/>
              </a:rPr>
              <a:t>    │   │       ├── acpx_lint.py</a:t>
            </a:r>
          </a:p>
          <a:p>
            <a:pPr algn="l">
              <a:lnSpc>
                <a:spcPct val="100000"/>
              </a:lnSpc>
            </a:pPr>
            <a:r>
              <a:rPr sz="800" b="0" i="0">
                <a:solidFill>
                  <a:srgbClr val="ECE7DC"/>
                </a:solidFill>
                <a:latin typeface="Consolas"/>
              </a:rPr>
              <a:t>    │   │       ├── check_agent_runtimes.py</a:t>
            </a:r>
          </a:p>
          <a:p>
            <a:pPr algn="l">
              <a:lnSpc>
                <a:spcPct val="100000"/>
              </a:lnSpc>
            </a:pPr>
            <a:r>
              <a:rPr sz="800" b="0" i="0">
                <a:solidFill>
                  <a:srgbClr val="ECE7DC"/>
                </a:solidFill>
                <a:latin typeface="Consolas"/>
              </a:rPr>
              <a:t>    │   │       ├── check_prompt_flow_panel.py</a:t>
            </a:r>
          </a:p>
          <a:p>
            <a:pPr algn="l">
              <a:lnSpc>
                <a:spcPct val="100000"/>
              </a:lnSpc>
            </a:pPr>
            <a:r>
              <a:rPr sz="800" b="0" i="0">
                <a:solidFill>
                  <a:srgbClr val="ECE7DC"/>
                </a:solidFill>
                <a:latin typeface="Consolas"/>
              </a:rPr>
              <a:t>    │   │       ├── check_terminater.py</a:t>
            </a:r>
          </a:p>
          <a:p>
            <a:pPr algn="l">
              <a:lnSpc>
                <a:spcPct val="100000"/>
              </a:lnSpc>
            </a:pPr>
            <a:r>
              <a:rPr sz="800" b="0" i="0">
                <a:solidFill>
                  <a:srgbClr val="ECE7DC"/>
                </a:solidFill>
                <a:latin typeface="Consolas"/>
              </a:rPr>
              <a:t>    │   │       └── startserver.py</a:t>
            </a:r>
          </a:p>
          <a:p>
            <a:pPr algn="l">
              <a:lnSpc>
                <a:spcPct val="100000"/>
              </a:lnSpc>
            </a:pPr>
            <a:r>
              <a:rPr sz="800" b="0" i="0">
                <a:solidFill>
                  <a:srgbClr val="3BBE93"/>
                </a:solidFill>
                <a:latin typeface="Consolas"/>
              </a:rPr>
              <a:t>    │   ├── monitors/</a:t>
            </a:r>
          </a:p>
          <a:p>
            <a:pPr algn="l">
              <a:lnSpc>
                <a:spcPct val="100000"/>
              </a:lnSpc>
            </a:pPr>
            <a:r>
              <a:rPr sz="800" b="0" i="0">
                <a:solidFill>
                  <a:srgbClr val="ECE7DC"/>
                </a:solidFill>
                <a:latin typeface="Consolas"/>
              </a:rPr>
              <a:t>    │   │   └── monitor_sql.py</a:t>
            </a:r>
          </a:p>
          <a:p>
            <a:pPr algn="l">
              <a:lnSpc>
                <a:spcPct val="100000"/>
              </a:lnSpc>
            </a:pPr>
            <a:r>
              <a:rPr sz="800" b="0" i="0">
                <a:solidFill>
                  <a:srgbClr val="3BBE93"/>
                </a:solidFill>
                <a:latin typeface="Consolas"/>
              </a:rPr>
              <a:t>    │   ├── opus_client/</a:t>
            </a:r>
          </a:p>
          <a:p>
            <a:pPr algn="l">
              <a:lnSpc>
                <a:spcPct val="100000"/>
              </a:lnSpc>
            </a:pPr>
            <a:r>
              <a:rPr sz="800" b="0" i="0">
                <a:solidFill>
                  <a:srgbClr val="ECE7DC"/>
                </a:solidFill>
                <a:latin typeface="Consolas"/>
              </a:rPr>
              <a:t>    │   │   ├── claude_opus_client.py</a:t>
            </a:r>
          </a:p>
          <a:p>
            <a:pPr algn="l">
              <a:lnSpc>
                <a:spcPct val="100000"/>
              </a:lnSpc>
            </a:pPr>
            <a:r>
              <a:rPr sz="800" b="0" i="0">
                <a:solidFill>
                  <a:srgbClr val="ECE7DC"/>
                </a:solidFill>
                <a:latin typeface="Consolas"/>
              </a:rPr>
              <a:t>    │   │   ├── examples.py</a:t>
            </a:r>
          </a:p>
          <a:p>
            <a:pPr algn="l">
              <a:lnSpc>
                <a:spcPct val="100000"/>
              </a:lnSpc>
            </a:pPr>
            <a:r>
              <a:rPr sz="800" b="0" i="0">
                <a:solidFill>
                  <a:srgbClr val="ECE7DC"/>
                </a:solidFill>
                <a:latin typeface="Consolas"/>
              </a:rPr>
              <a:t>    │   │   └── README.md</a:t>
            </a:r>
          </a:p>
          <a:p>
            <a:pPr algn="l">
              <a:lnSpc>
                <a:spcPct val="100000"/>
              </a:lnSpc>
            </a:pPr>
            <a:r>
              <a:rPr sz="800" b="0" i="0">
                <a:solidFill>
                  <a:srgbClr val="3BBE93"/>
                </a:solidFill>
                <a:latin typeface="Consolas"/>
              </a:rPr>
              <a:t>    │   ├── rag/</a:t>
            </a:r>
          </a:p>
          <a:p>
            <a:pPr algn="l">
              <a:lnSpc>
                <a:spcPct val="100000"/>
              </a:lnSpc>
            </a:pPr>
            <a:r>
              <a:rPr sz="800" b="0" i="0">
                <a:solidFill>
                  <a:srgbClr val="ECE7DC"/>
                </a:solidFill>
                <a:latin typeface="Consolas"/>
              </a:rPr>
              <a:t>    │   │   ├── __init__.py</a:t>
            </a:r>
          </a:p>
          <a:p>
            <a:pPr algn="l">
              <a:lnSpc>
                <a:spcPct val="100000"/>
              </a:lnSpc>
            </a:pPr>
            <a:r>
              <a:rPr sz="800" b="0" i="0">
                <a:solidFill>
                  <a:srgbClr val="ECE7DC"/>
                </a:solidFill>
                <a:latin typeface="Consolas"/>
              </a:rPr>
              <a:t>    │   │   ├── binary_guard.py</a:t>
            </a:r>
          </a:p>
          <a:p>
            <a:pPr algn="l">
              <a:lnSpc>
                <a:spcPct val="100000"/>
              </a:lnSpc>
            </a:pPr>
            <a:r>
              <a:rPr sz="800" b="0" i="0">
                <a:solidFill>
                  <a:srgbClr val="ECE7DC"/>
                </a:solidFill>
                <a:latin typeface="Consolas"/>
              </a:rPr>
              <a:t>    │   │   ├── config.py</a:t>
            </a:r>
          </a:p>
          <a:p>
            <a:pPr algn="l">
              <a:lnSpc>
                <a:spcPct val="100000"/>
              </a:lnSpc>
            </a:pPr>
            <a:r>
              <a:rPr sz="800" b="0" i="0">
                <a:solidFill>
                  <a:srgbClr val="ECE7DC"/>
                </a:solidFill>
                <a:latin typeface="Consolas"/>
              </a:rPr>
              <a:t>    │   │   ├── factory.py</a:t>
            </a:r>
          </a:p>
          <a:p>
            <a:pPr algn="l">
              <a:lnSpc>
                <a:spcPct val="100000"/>
              </a:lnSpc>
            </a:pPr>
            <a:r>
              <a:rPr sz="800" b="0" i="0">
                <a:solidFill>
                  <a:srgbClr val="ECE7DC"/>
                </a:solidFill>
                <a:latin typeface="Consolas"/>
              </a:rPr>
              <a:t>    │   │   ├── interaction.py</a:t>
            </a:r>
          </a:p>
          <a:p>
            <a:pPr algn="l">
              <a:lnSpc>
                <a:spcPct val="100000"/>
              </a:lnSpc>
            </a:pPr>
            <a:r>
              <a:rPr sz="800" b="0" i="0">
                <a:solidFill>
                  <a:srgbClr val="ECE7DC"/>
                </a:solidFill>
                <a:latin typeface="Consolas"/>
              </a:rPr>
              <a:t>    │   │   ├── interface.py</a:t>
            </a:r>
          </a:p>
          <a:p>
            <a:pPr algn="l">
              <a:lnSpc>
                <a:spcPct val="100000"/>
              </a:lnSpc>
            </a:pPr>
            <a:r>
              <a:rPr sz="800" b="0" i="0">
                <a:solidFill>
                  <a:srgbClr val="ECE7DC"/>
                </a:solidFill>
                <a:latin typeface="Consolas"/>
              </a:rPr>
              <a:t>    │   │   ├── loaders.py</a:t>
            </a:r>
          </a:p>
          <a:p>
            <a:pPr algn="l">
              <a:lnSpc>
                <a:spcPct val="100000"/>
              </a:lnSpc>
            </a:pPr>
            <a:r>
              <a:rPr sz="800" b="0" i="0">
                <a:solidFill>
                  <a:srgbClr val="ECE7DC"/>
                </a:solidFill>
                <a:latin typeface="Consolas"/>
              </a:rPr>
              <a:t>    │   │   ├── prompts.py</a:t>
            </a:r>
          </a:p>
          <a:p>
            <a:pPr algn="l">
              <a:lnSpc>
                <a:spcPct val="100000"/>
              </a:lnSpc>
            </a:pPr>
            <a:r>
              <a:rPr sz="800" b="0" i="0">
                <a:solidFill>
                  <a:srgbClr val="ECE7DC"/>
                </a:solidFill>
                <a:latin typeface="Consolas"/>
              </a:rPr>
              <a:t>    │   │   ├── retrieval.py</a:t>
            </a:r>
          </a:p>
          <a:p>
            <a:pPr algn="l">
              <a:lnSpc>
                <a:spcPct val="100000"/>
              </a:lnSpc>
            </a:pPr>
            <a:r>
              <a:rPr sz="800" b="0" i="0">
                <a:solidFill>
                  <a:srgbClr val="ECE7DC"/>
                </a:solidFill>
                <a:latin typeface="Consolas"/>
              </a:rPr>
              <a:t>    │   │   ├── splitters.py</a:t>
            </a:r>
          </a:p>
          <a:p>
            <a:pPr algn="l">
              <a:lnSpc>
                <a:spcPct val="100000"/>
              </a:lnSpc>
            </a:pPr>
            <a:r>
              <a:rPr sz="800" b="0" i="0">
                <a:solidFill>
                  <a:srgbClr val="ECE7DC"/>
                </a:solidFill>
                <a:latin typeface="Consolas"/>
              </a:rPr>
              <a:t>    │   │   ├── utils.py</a:t>
            </a:r>
          </a:p>
          <a:p>
            <a:pPr algn="l">
              <a:lnSpc>
                <a:spcPct val="100000"/>
              </a:lnSpc>
            </a:pPr>
            <a:r>
              <a:rPr sz="800" b="0" i="0">
                <a:solidFill>
                  <a:srgbClr val="3BBE93"/>
                </a:solidFill>
                <a:latin typeface="Consolas"/>
              </a:rPr>
              <a:t>    │   │   └── chains/</a:t>
            </a:r>
          </a:p>
          <a:p>
            <a:pPr algn="l">
              <a:lnSpc>
                <a:spcPct val="100000"/>
              </a:lnSpc>
            </a:pPr>
            <a:r>
              <a:rPr sz="800" b="0" i="0">
                <a:solidFill>
                  <a:srgbClr val="ECE7DC"/>
                </a:solidFill>
                <a:latin typeface="Consolas"/>
              </a:rPr>
              <a:t>    │   │       ├── base.py</a:t>
            </a:r>
          </a:p>
          <a:p>
            <a:pPr algn="l">
              <a:lnSpc>
                <a:spcPct val="100000"/>
              </a:lnSpc>
            </a:pPr>
            <a:r>
              <a:rPr sz="800" b="0" i="0">
                <a:solidFill>
                  <a:srgbClr val="ECE7DC"/>
                </a:solidFill>
                <a:latin typeface="Consolas"/>
              </a:rPr>
              <a:t>    │   │       ├── basic.py</a:t>
            </a:r>
          </a:p>
          <a:p>
            <a:pPr algn="l">
              <a:lnSpc>
                <a:spcPct val="100000"/>
              </a:lnSpc>
            </a:pPr>
            <a:r>
              <a:rPr sz="800" b="0" i="0">
                <a:solidFill>
                  <a:srgbClr val="ECE7DC"/>
                </a:solidFill>
                <a:latin typeface="Consolas"/>
              </a:rPr>
              <a:t>    │   │       ├── history_aware.py</a:t>
            </a:r>
          </a:p>
          <a:p>
            <a:pPr algn="l">
              <a:lnSpc>
                <a:spcPct val="100000"/>
              </a:lnSpc>
            </a:pPr>
            <a:r>
              <a:rPr sz="800" b="0" i="0">
                <a:solidFill>
                  <a:srgbClr val="ECE7DC"/>
                </a:solidFill>
                <a:latin typeface="Consolas"/>
              </a:rPr>
              <a:t>    │   │       └── unified.py</a:t>
            </a:r>
          </a:p>
        </p:txBody>
      </p:sp>
      <p:sp>
        <p:nvSpPr>
          <p:cNvPr id="7" name="TextBox 6"/>
          <p:cNvSpPr txBox="1"/>
          <p:nvPr/>
        </p:nvSpPr>
        <p:spPr>
          <a:xfrm>
            <a:off x="8109508" y="1170432"/>
            <a:ext cx="3515258" cy="5084064"/>
          </a:xfrm>
          <a:prstGeom prst="rect">
            <a:avLst/>
          </a:prstGeom>
          <a:noFill/>
        </p:spPr>
        <p:txBody>
          <a:bodyPr wrap="none" lIns="45720" rIns="45720" tIns="27432" bIns="27432" anchor="t">
            <a:noAutofit/>
          </a:bodyPr>
          <a:lstStyle/>
          <a:p>
            <a:pPr algn="l">
              <a:lnSpc>
                <a:spcPct val="100000"/>
              </a:lnSpc>
            </a:pPr>
            <a:r>
              <a:rPr sz="800" b="0" i="0">
                <a:solidFill>
                  <a:srgbClr val="3BBE93"/>
                </a:solidFill>
                <a:latin typeface="Consolas"/>
              </a:rPr>
              <a:t>    │   ├── services/</a:t>
            </a:r>
          </a:p>
          <a:p>
            <a:pPr algn="l">
              <a:lnSpc>
                <a:spcPct val="100000"/>
              </a:lnSpc>
            </a:pPr>
            <a:r>
              <a:rPr sz="800" b="0" i="0">
                <a:solidFill>
                  <a:srgbClr val="ECE7DC"/>
                </a:solidFill>
                <a:latin typeface="Consolas"/>
              </a:rPr>
              <a:t>    │   │   ├── __init__.py</a:t>
            </a:r>
          </a:p>
          <a:p>
            <a:pPr algn="l">
              <a:lnSpc>
                <a:spcPct val="100000"/>
              </a:lnSpc>
            </a:pPr>
            <a:r>
              <a:rPr sz="800" b="0" i="0">
                <a:solidFill>
                  <a:srgbClr val="ECE7DC"/>
                </a:solidFill>
                <a:latin typeface="Consolas"/>
              </a:rPr>
              <a:t>    │   │   ├── agent_contracts.py</a:t>
            </a:r>
          </a:p>
          <a:p>
            <a:pPr algn="l">
              <a:lnSpc>
                <a:spcPct val="100000"/>
              </a:lnSpc>
            </a:pPr>
            <a:r>
              <a:rPr sz="800" b="0" i="0">
                <a:solidFill>
                  <a:srgbClr val="ECE7DC"/>
                </a:solidFill>
                <a:latin typeface="Consolas"/>
              </a:rPr>
              <a:t>    │   │   ├── agent_paths.py</a:t>
            </a:r>
          </a:p>
          <a:p>
            <a:pPr algn="l">
              <a:lnSpc>
                <a:spcPct val="100000"/>
              </a:lnSpc>
            </a:pPr>
            <a:r>
              <a:rPr sz="800" b="0" i="0">
                <a:solidFill>
                  <a:srgbClr val="ECE7DC"/>
                </a:solidFill>
                <a:latin typeface="Consolas"/>
              </a:rPr>
              <a:t>    │   │   ├── filesystem.py</a:t>
            </a:r>
          </a:p>
          <a:p>
            <a:pPr algn="l">
              <a:lnSpc>
                <a:spcPct val="100000"/>
              </a:lnSpc>
            </a:pPr>
            <a:r>
              <a:rPr sz="800" b="0" i="0">
                <a:solidFill>
                  <a:srgbClr val="ECE7DC"/>
                </a:solidFill>
                <a:latin typeface="Consolas"/>
              </a:rPr>
              <a:t>    │   │   ├── flow_compiler.py</a:t>
            </a:r>
          </a:p>
          <a:p>
            <a:pPr algn="l">
              <a:lnSpc>
                <a:spcPct val="100000"/>
              </a:lnSpc>
            </a:pPr>
            <a:r>
              <a:rPr sz="800" b="0" i="0">
                <a:solidFill>
                  <a:srgbClr val="ECE7DC"/>
                </a:solidFill>
                <a:latin typeface="Consolas"/>
              </a:rPr>
              <a:t>    │   │   ├── flow_knowledge.py</a:t>
            </a:r>
          </a:p>
          <a:p>
            <a:pPr algn="l">
              <a:lnSpc>
                <a:spcPct val="100000"/>
              </a:lnSpc>
            </a:pPr>
            <a:r>
              <a:rPr sz="800" b="0" i="0">
                <a:solidFill>
                  <a:srgbClr val="ECE7DC"/>
                </a:solidFill>
                <a:latin typeface="Consolas"/>
              </a:rPr>
              <a:t>    │   │   ├── flow_spec.py</a:t>
            </a:r>
          </a:p>
          <a:p>
            <a:pPr algn="l">
              <a:lnSpc>
                <a:spcPct val="100000"/>
              </a:lnSpc>
            </a:pPr>
            <a:r>
              <a:rPr sz="800" b="0" i="0">
                <a:solidFill>
                  <a:srgbClr val="ECE7DC"/>
                </a:solidFill>
                <a:latin typeface="Consolas"/>
              </a:rPr>
              <a:t>    │   │   ├── prompt_flow_panel.py</a:t>
            </a:r>
          </a:p>
          <a:p>
            <a:pPr algn="l">
              <a:lnSpc>
                <a:spcPct val="100000"/>
              </a:lnSpc>
            </a:pPr>
            <a:r>
              <a:rPr sz="800" b="0" i="0">
                <a:solidFill>
                  <a:srgbClr val="ECE7DC"/>
                </a:solidFill>
                <a:latin typeface="Consolas"/>
              </a:rPr>
              <a:t>    │   │   └── response_parser.py</a:t>
            </a:r>
          </a:p>
          <a:p>
            <a:pPr algn="l">
              <a:lnSpc>
                <a:spcPct val="100000"/>
              </a:lnSpc>
            </a:pPr>
            <a:r>
              <a:rPr sz="800" b="0" i="0">
                <a:solidFill>
                  <a:srgbClr val="3BBE93"/>
                </a:solidFill>
                <a:latin typeface="Consolas"/>
              </a:rPr>
              <a:t>    │   ├── skills/</a:t>
            </a:r>
          </a:p>
          <a:p>
            <a:pPr algn="l">
              <a:lnSpc>
                <a:spcPct val="100000"/>
              </a:lnSpc>
            </a:pPr>
            <a:r>
              <a:rPr sz="800" b="0" i="0">
                <a:solidFill>
                  <a:srgbClr val="ECE7DC"/>
                </a:solidFill>
                <a:latin typeface="Consolas"/>
              </a:rPr>
              <a:t>    │   │   ├── __init__.py</a:t>
            </a:r>
          </a:p>
          <a:p>
            <a:pPr algn="l">
              <a:lnSpc>
                <a:spcPct val="100000"/>
              </a:lnSpc>
            </a:pPr>
            <a:r>
              <a:rPr sz="800" b="0" i="0">
                <a:solidFill>
                  <a:srgbClr val="ECE7DC"/>
                </a:solidFill>
                <a:latin typeface="Consolas"/>
              </a:rPr>
              <a:t>    │   │   ├── frontmatter.py</a:t>
            </a:r>
          </a:p>
          <a:p>
            <a:pPr algn="l">
              <a:lnSpc>
                <a:spcPct val="100000"/>
              </a:lnSpc>
            </a:pPr>
            <a:r>
              <a:rPr sz="800" b="0" i="0">
                <a:solidFill>
                  <a:srgbClr val="ECE7DC"/>
                </a:solidFill>
                <a:latin typeface="Consolas"/>
              </a:rPr>
              <a:t>    │   │   ├── harness.py</a:t>
            </a:r>
          </a:p>
          <a:p>
            <a:pPr algn="l">
              <a:lnSpc>
                <a:spcPct val="100000"/>
              </a:lnSpc>
            </a:pPr>
            <a:r>
              <a:rPr sz="800" b="0" i="0">
                <a:solidFill>
                  <a:srgbClr val="ECE7DC"/>
                </a:solidFill>
                <a:latin typeface="Consolas"/>
              </a:rPr>
              <a:t>    │   │   ├── io_contract.py</a:t>
            </a:r>
          </a:p>
          <a:p>
            <a:pPr algn="l">
              <a:lnSpc>
                <a:spcPct val="100000"/>
              </a:lnSpc>
            </a:pPr>
            <a:r>
              <a:rPr sz="800" b="0" i="0">
                <a:solidFill>
                  <a:srgbClr val="ECE7DC"/>
                </a:solidFill>
                <a:latin typeface="Consolas"/>
              </a:rPr>
              <a:t>    │   │   ├── redaction.py</a:t>
            </a:r>
          </a:p>
          <a:p>
            <a:pPr algn="l">
              <a:lnSpc>
                <a:spcPct val="100000"/>
              </a:lnSpc>
            </a:pPr>
            <a:r>
              <a:rPr sz="800" b="0" i="0">
                <a:solidFill>
                  <a:srgbClr val="ECE7DC"/>
                </a:solidFill>
                <a:latin typeface="Consolas"/>
              </a:rPr>
              <a:t>    │   │   ├── registry.py</a:t>
            </a:r>
          </a:p>
          <a:p>
            <a:pPr algn="l">
              <a:lnSpc>
                <a:spcPct val="100000"/>
              </a:lnSpc>
            </a:pPr>
            <a:r>
              <a:rPr sz="800" b="0" i="0">
                <a:solidFill>
                  <a:srgbClr val="ECE7DC"/>
                </a:solidFill>
                <a:latin typeface="Consolas"/>
              </a:rPr>
              <a:t>    │   │   └── validation.py</a:t>
            </a:r>
          </a:p>
          <a:p>
            <a:pPr algn="l">
              <a:lnSpc>
                <a:spcPct val="100000"/>
              </a:lnSpc>
            </a:pPr>
            <a:r>
              <a:rPr sz="800" b="0" i="0">
                <a:solidFill>
                  <a:srgbClr val="3BBE93"/>
                </a:solidFill>
                <a:latin typeface="Consolas"/>
              </a:rPr>
              <a:t>    │   ├── skills_pkg/</a:t>
            </a:r>
          </a:p>
          <a:p>
            <a:pPr algn="l">
              <a:lnSpc>
                <a:spcPct val="100000"/>
              </a:lnSpc>
            </a:pPr>
            <a:r>
              <a:rPr sz="800" b="0" i="0">
                <a:solidFill>
                  <a:srgbClr val="3BBE93"/>
                </a:solidFill>
                <a:latin typeface="Consolas"/>
              </a:rPr>
              <a:t>    │   │   ├── _meta/</a:t>
            </a:r>
          </a:p>
          <a:p>
            <a:pPr algn="l">
              <a:lnSpc>
                <a:spcPct val="100000"/>
              </a:lnSpc>
            </a:pPr>
            <a:r>
              <a:rPr sz="800" b="0" i="0">
                <a:solidFill>
                  <a:srgbClr val="ECE7DC"/>
                </a:solidFill>
                <a:latin typeface="Consolas"/>
              </a:rPr>
              <a:t>    │   │   │   ├── lint.py</a:t>
            </a:r>
          </a:p>
          <a:p>
            <a:pPr algn="l">
              <a:lnSpc>
                <a:spcPct val="100000"/>
              </a:lnSpc>
            </a:pPr>
            <a:r>
              <a:rPr sz="800" b="0" i="0">
                <a:solidFill>
                  <a:srgbClr val="ECE7DC"/>
                </a:solidFill>
                <a:latin typeface="Consolas"/>
              </a:rPr>
              <a:t>    │   │   │   └── schema.json</a:t>
            </a:r>
          </a:p>
          <a:p>
            <a:pPr algn="l">
              <a:lnSpc>
                <a:spcPct val="100000"/>
              </a:lnSpc>
            </a:pPr>
            <a:r>
              <a:rPr sz="800" b="0" i="0">
                <a:solidFill>
                  <a:srgbClr val="3BBE93"/>
                </a:solidFill>
                <a:latin typeface="Consolas"/>
              </a:rPr>
              <a:t>    │   │   ├── acp_router/</a:t>
            </a:r>
          </a:p>
          <a:p>
            <a:pPr algn="l">
              <a:lnSpc>
                <a:spcPct val="100000"/>
              </a:lnSpc>
            </a:pPr>
            <a:r>
              <a:rPr sz="800" b="0" i="0">
                <a:solidFill>
                  <a:srgbClr val="ECE7DC"/>
                </a:solidFill>
                <a:latin typeface="Consolas"/>
              </a:rPr>
              <a:t>    │   │   │   └── SKILL.md</a:t>
            </a:r>
          </a:p>
          <a:p>
            <a:pPr algn="l">
              <a:lnSpc>
                <a:spcPct val="100000"/>
              </a:lnSpc>
            </a:pPr>
            <a:r>
              <a:rPr sz="800" b="0" i="0">
                <a:solidFill>
                  <a:srgbClr val="3BBE93"/>
                </a:solidFill>
                <a:latin typeface="Consolas"/>
              </a:rPr>
              <a:t>    │   │   ├── adding_external_mcp/</a:t>
            </a:r>
          </a:p>
          <a:p>
            <a:pPr algn="l">
              <a:lnSpc>
                <a:spcPct val="100000"/>
              </a:lnSpc>
            </a:pPr>
            <a:r>
              <a:rPr sz="800" b="0" i="0">
                <a:solidFill>
                  <a:srgbClr val="ECE7DC"/>
                </a:solidFill>
                <a:latin typeface="Consolas"/>
              </a:rPr>
              <a:t>    │   │   │   ├── SKILL.md</a:t>
            </a:r>
          </a:p>
          <a:p>
            <a:pPr algn="l">
              <a:lnSpc>
                <a:spcPct val="100000"/>
              </a:lnSpc>
            </a:pPr>
            <a:r>
              <a:rPr sz="800" b="0" i="0">
                <a:solidFill>
                  <a:srgbClr val="3BBE93"/>
                </a:solidFill>
                <a:latin typeface="Consolas"/>
              </a:rPr>
              <a:t>    │   │   │   └── references/</a:t>
            </a:r>
          </a:p>
          <a:p>
            <a:pPr algn="l">
              <a:lnSpc>
                <a:spcPct val="100000"/>
              </a:lnSpc>
            </a:pPr>
            <a:r>
              <a:rPr sz="800" b="0" i="0">
                <a:solidFill>
                  <a:srgbClr val="ECE7DC"/>
                </a:solidFill>
                <a:latin typeface="Consolas"/>
              </a:rPr>
              <a:t>    │   │   │       ├── external_mcp_catalog_format.md</a:t>
            </a:r>
          </a:p>
          <a:p>
            <a:pPr algn="l">
              <a:lnSpc>
                <a:spcPct val="100000"/>
              </a:lnSpc>
            </a:pPr>
            <a:r>
              <a:rPr sz="800" b="0" i="0">
                <a:solidFill>
                  <a:srgbClr val="ECE7DC"/>
                </a:solidFill>
                <a:latin typeface="Consolas"/>
              </a:rPr>
              <a:t>    │   │   │       ├── llm_reflection_research.md</a:t>
            </a:r>
          </a:p>
          <a:p>
            <a:pPr algn="l">
              <a:lnSpc>
                <a:spcPct val="100000"/>
              </a:lnSpc>
            </a:pPr>
            <a:r>
              <a:rPr sz="800" b="0" i="0">
                <a:solidFill>
                  <a:srgbClr val="ECE7DC"/>
                </a:solidFill>
                <a:latin typeface="Consolas"/>
              </a:rPr>
              <a:t>    │   │   │       ├── transport_guide.md</a:t>
            </a:r>
          </a:p>
          <a:p>
            <a:pPr algn="l">
              <a:lnSpc>
                <a:spcPct val="100000"/>
              </a:lnSpc>
            </a:pPr>
            <a:r>
              <a:rPr sz="800" b="0" i="0">
                <a:solidFill>
                  <a:srgbClr val="ECE7DC"/>
                </a:solidFill>
                <a:latin typeface="Consolas"/>
              </a:rPr>
              <a:t>    │   │   │       └── troubleshooting.md</a:t>
            </a:r>
          </a:p>
          <a:p>
            <a:pPr algn="l">
              <a:lnSpc>
                <a:spcPct val="100000"/>
              </a:lnSpc>
            </a:pPr>
            <a:r>
              <a:rPr sz="800" b="0" i="0">
                <a:solidFill>
                  <a:srgbClr val="3BBE93"/>
                </a:solidFill>
                <a:latin typeface="Consolas"/>
              </a:rPr>
              <a:t>    │   │   ├── code_review/</a:t>
            </a:r>
          </a:p>
          <a:p>
            <a:pPr algn="l">
              <a:lnSpc>
                <a:spcPct val="100000"/>
              </a:lnSpc>
            </a:pPr>
            <a:r>
              <a:rPr sz="800" b="0" i="0">
                <a:solidFill>
                  <a:srgbClr val="ECE7DC"/>
                </a:solidFill>
                <a:latin typeface="Consolas"/>
              </a:rPr>
              <a:t>    │   │   │   └── SKILL.md</a:t>
            </a:r>
          </a:p>
          <a:p>
            <a:pPr algn="l">
              <a:lnSpc>
                <a:spcPct val="100000"/>
              </a:lnSpc>
            </a:pPr>
            <a:r>
              <a:rPr sz="800" b="0" i="0">
                <a:solidFill>
                  <a:srgbClr val="3BBE93"/>
                </a:solidFill>
                <a:latin typeface="Consolas"/>
              </a:rPr>
              <a:t>    │   │   ├── create_new_agent/</a:t>
            </a:r>
          </a:p>
          <a:p>
            <a:pPr algn="l">
              <a:lnSpc>
                <a:spcPct val="100000"/>
              </a:lnSpc>
            </a:pPr>
            <a:r>
              <a:rPr sz="800" b="0" i="0">
                <a:solidFill>
                  <a:srgbClr val="ECE7DC"/>
                </a:solidFill>
                <a:latin typeface="Consolas"/>
              </a:rPr>
              <a:t>    │   │   │   └── SKILL.md</a:t>
            </a:r>
          </a:p>
          <a:p>
            <a:pPr algn="l">
              <a:lnSpc>
                <a:spcPct val="100000"/>
              </a:lnSpc>
            </a:pPr>
            <a:r>
              <a:rPr sz="800" b="0" i="0">
                <a:solidFill>
                  <a:srgbClr val="3BBE93"/>
                </a:solidFill>
                <a:latin typeface="Consolas"/>
              </a:rPr>
              <a:t>    │   │   ├── create_new_mcp/</a:t>
            </a:r>
          </a:p>
          <a:p>
            <a:pPr algn="l">
              <a:lnSpc>
                <a:spcPct val="100000"/>
              </a:lnSpc>
            </a:pPr>
            <a:r>
              <a:rPr sz="800" b="0" i="0">
                <a:solidFill>
                  <a:srgbClr val="ECE7DC"/>
                </a:solidFill>
                <a:latin typeface="Consolas"/>
              </a:rPr>
              <a:t>    │   │   │   └── SKILL.md</a:t>
            </a:r>
          </a:p>
          <a:p>
            <a:pPr algn="l">
              <a:lnSpc>
                <a:spcPct val="100000"/>
              </a:lnSpc>
            </a:pPr>
            <a:r>
              <a:rPr sz="800" b="0" i="0">
                <a:solidFill>
                  <a:srgbClr val="3BBE93"/>
                </a:solidFill>
                <a:latin typeface="Consolas"/>
              </a:rPr>
              <a:t>    │   │   ├── flow_making/</a:t>
            </a:r>
          </a:p>
          <a:p>
            <a:pPr algn="l">
              <a:lnSpc>
                <a:spcPct val="100000"/>
              </a:lnSpc>
            </a:pPr>
            <a:r>
              <a:rPr sz="800" b="0" i="0">
                <a:solidFill>
                  <a:srgbClr val="ECE7DC"/>
                </a:solidFill>
                <a:latin typeface="Consolas"/>
              </a:rPr>
              <a:t>    │   │   │   ├── SKILL.md</a:t>
            </a:r>
          </a:p>
          <a:p>
            <a:pPr algn="l">
              <a:lnSpc>
                <a:spcPct val="100000"/>
              </a:lnSpc>
            </a:pPr>
            <a:r>
              <a:rPr sz="800" b="0" i="0">
                <a:solidFill>
                  <a:srgbClr val="3BBE93"/>
                </a:solidFill>
                <a:latin typeface="Consolas"/>
              </a:rPr>
              <a:t>    │   │   │   ├── references/</a:t>
            </a:r>
          </a:p>
          <a:p>
            <a:pPr algn="l">
              <a:lnSpc>
                <a:spcPct val="100000"/>
              </a:lnSpc>
            </a:pPr>
            <a:r>
              <a:rPr sz="800" b="0" i="0">
                <a:solidFill>
                  <a:srgbClr val="ECE7DC"/>
                </a:solidFill>
                <a:latin typeface="Consolas"/>
              </a:rPr>
              <a:t>    │   │   │   │   └── flw_schema.md</a:t>
            </a:r>
          </a:p>
        </p:txBody>
      </p:sp>
      <p:cxnSp>
        <p:nvCxnSpPr>
          <p:cNvPr id="8" name="Connector 7"/>
          <p:cNvCxnSpPr/>
          <p:nvPr/>
        </p:nvCxnSpPr>
        <p:spPr>
          <a:xfrm>
            <a:off x="566928" y="6373368"/>
            <a:ext cx="11057839" cy="0"/>
          </a:xfrm>
          <a:prstGeom prst="line">
            <a:avLst/>
          </a:prstGeom>
          <a:ln w="7620">
            <a:solidFill>
              <a:srgbClr val="2A3A40"/>
            </a:solidFill>
          </a:ln>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566928" y="6419088"/>
            <a:ext cx="6858000" cy="274320"/>
          </a:xfrm>
          <a:prstGeom prst="rect">
            <a:avLst/>
          </a:prstGeom>
          <a:noFill/>
        </p:spPr>
        <p:txBody>
          <a:bodyPr wrap="square" lIns="45720" rIns="45720" tIns="27432" bIns="27432" anchor="t">
            <a:noAutofit/>
          </a:bodyPr>
          <a:lstStyle/>
          <a:p>
            <a:pPr algn="l">
              <a:lnSpc>
                <a:spcPct val="100000"/>
              </a:lnSpc>
            </a:pPr>
            <a:r>
              <a:rPr sz="850" b="0" i="0" spc="120">
                <a:solidFill>
                  <a:srgbClr val="A7B2B0"/>
                </a:solidFill>
                <a:latin typeface="Segoe UI Semibold"/>
              </a:rPr>
              <a:t>TLAMATINI  ·  APÉNDICE A · ÁRBOL DE ARCHIVOS</a:t>
            </a:r>
          </a:p>
        </p:txBody>
      </p:sp>
      <p:sp>
        <p:nvSpPr>
          <p:cNvPr id="10" name="TextBox 9"/>
          <p:cNvSpPr txBox="1"/>
          <p:nvPr/>
        </p:nvSpPr>
        <p:spPr>
          <a:xfrm>
            <a:off x="8698687" y="6419088"/>
            <a:ext cx="2926080" cy="274320"/>
          </a:xfrm>
          <a:prstGeom prst="rect">
            <a:avLst/>
          </a:prstGeom>
          <a:noFill/>
        </p:spPr>
        <p:txBody>
          <a:bodyPr wrap="square" lIns="45720" rIns="45720" tIns="27432" bIns="27432" anchor="t">
            <a:noAutofit/>
          </a:bodyPr>
          <a:lstStyle/>
          <a:p>
            <a:pPr algn="r">
              <a:lnSpc>
                <a:spcPct val="100000"/>
              </a:lnSpc>
            </a:pPr>
            <a:r>
              <a:rPr sz="850" b="0" i="0" spc="100">
                <a:solidFill>
                  <a:srgbClr val="A7B2B0"/>
                </a:solidFill>
                <a:latin typeface="Segoe UI Semibold"/>
              </a:rPr>
              <a:t>v1.91.1   ·   188</a:t>
            </a:r>
          </a:p>
        </p:txBody>
      </p:sp>
    </p:spTree>
  </p:cSld>
  <p:clrMapOvr>
    <a:masterClrMapping/>
  </p:clrMapOvr>
</p:sld>
</file>

<file path=ppt/slides/slide18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appendix.png"/>
          <p:cNvPicPr>
            <a:picLocks noChangeAspect="1"/>
          </p:cNvPicPr>
          <p:nvPr/>
        </p:nvPicPr>
        <p:blipFill>
          <a:blip r:embed="rId2"/>
          <a:stretch>
            <a:fillRect/>
          </a:stretch>
        </p:blipFill>
        <p:spPr>
          <a:xfrm>
            <a:off x="0" y="0"/>
            <a:ext cx="12191695" cy="6858000"/>
          </a:xfrm>
          <a:prstGeom prst="rect">
            <a:avLst/>
          </a:prstGeom>
        </p:spPr>
      </p:pic>
      <p:sp>
        <p:nvSpPr>
          <p:cNvPr id="3" name="TextBox 2"/>
          <p:cNvSpPr txBox="1"/>
          <p:nvPr/>
        </p:nvSpPr>
        <p:spPr>
          <a:xfrm>
            <a:off x="566928" y="384048"/>
            <a:ext cx="8686800" cy="329184"/>
          </a:xfrm>
          <a:prstGeom prst="rect">
            <a:avLst/>
          </a:prstGeom>
          <a:noFill/>
        </p:spPr>
        <p:txBody>
          <a:bodyPr wrap="square" lIns="45720" rIns="45720" tIns="27432" bIns="27432" anchor="t">
            <a:noAutofit/>
          </a:bodyPr>
          <a:lstStyle/>
          <a:p>
            <a:pPr algn="l">
              <a:lnSpc>
                <a:spcPct val="100000"/>
              </a:lnSpc>
            </a:pPr>
            <a:r>
              <a:rPr sz="1100" b="0" i="0" spc="200">
                <a:solidFill>
                  <a:srgbClr val="C98457"/>
                </a:solidFill>
                <a:latin typeface="Segoe UI Semibold"/>
              </a:rPr>
              <a:t>APÉNDICE A  ·  ÁRBOL DE ARCHIVOS DE LA APLICACIÓN  ·  15 / 20</a:t>
            </a:r>
          </a:p>
        </p:txBody>
      </p:sp>
      <p:sp>
        <p:nvSpPr>
          <p:cNvPr id="4" name="TextBox 3"/>
          <p:cNvSpPr txBox="1"/>
          <p:nvPr/>
        </p:nvSpPr>
        <p:spPr>
          <a:xfrm>
            <a:off x="566928" y="731520"/>
            <a:ext cx="11057839" cy="384048"/>
          </a:xfrm>
          <a:prstGeom prst="rect">
            <a:avLst/>
          </a:prstGeom>
          <a:noFill/>
        </p:spPr>
        <p:txBody>
          <a:bodyPr wrap="square" lIns="45720" rIns="45720" tIns="27432" bIns="27432" anchor="t">
            <a:noAutofit/>
          </a:bodyPr>
          <a:lstStyle/>
          <a:p>
            <a:pPr algn="l">
              <a:lnSpc>
                <a:spcPct val="100000"/>
              </a:lnSpc>
            </a:pPr>
            <a:r>
              <a:rPr sz="1300" b="0" i="0">
                <a:solidFill>
                  <a:srgbClr val="A7B2B0"/>
                </a:solidFill>
                <a:latin typeface="Segoe UI"/>
              </a:rPr>
              <a:t>1,898 archivos listados en el commit 21b0a5c; 221 archivos de la historia de la base de datos resumidos.</a:t>
            </a:r>
          </a:p>
        </p:txBody>
      </p:sp>
      <p:sp>
        <p:nvSpPr>
          <p:cNvPr id="5" name="TextBox 4"/>
          <p:cNvSpPr txBox="1"/>
          <p:nvPr/>
        </p:nvSpPr>
        <p:spPr>
          <a:xfrm>
            <a:off x="566928" y="1170432"/>
            <a:ext cx="3515258" cy="5084064"/>
          </a:xfrm>
          <a:prstGeom prst="rect">
            <a:avLst/>
          </a:prstGeom>
          <a:noFill/>
        </p:spPr>
        <p:txBody>
          <a:bodyPr wrap="none" lIns="45720" rIns="45720" tIns="27432" bIns="27432" anchor="t">
            <a:noAutofit/>
          </a:bodyPr>
          <a:lstStyle/>
          <a:p>
            <a:pPr algn="l">
              <a:lnSpc>
                <a:spcPct val="100000"/>
              </a:lnSpc>
            </a:pPr>
            <a:r>
              <a:rPr sz="800" b="0" i="0">
                <a:solidFill>
                  <a:srgbClr val="3BBE93"/>
                </a:solidFill>
                <a:latin typeface="Consolas"/>
              </a:rPr>
              <a:t>    │   │   │   └── scripts/</a:t>
            </a:r>
          </a:p>
          <a:p>
            <a:pPr algn="l">
              <a:lnSpc>
                <a:spcPct val="100000"/>
              </a:lnSpc>
            </a:pPr>
            <a:r>
              <a:rPr sz="800" b="0" i="0">
                <a:solidFill>
                  <a:srgbClr val="ECE7DC"/>
                </a:solidFill>
                <a:latin typeface="Consolas"/>
              </a:rPr>
              <a:t>    │   │   │       ├── make_flow.py</a:t>
            </a:r>
          </a:p>
          <a:p>
            <a:pPr algn="l">
              <a:lnSpc>
                <a:spcPct val="100000"/>
              </a:lnSpc>
            </a:pPr>
            <a:r>
              <a:rPr sz="800" b="0" i="0">
                <a:solidFill>
                  <a:srgbClr val="ECE7DC"/>
                </a:solidFill>
                <a:latin typeface="Consolas"/>
              </a:rPr>
              <a:t>    │   │   │       └── result_to_flw.py</a:t>
            </a:r>
          </a:p>
          <a:p>
            <a:pPr algn="l">
              <a:lnSpc>
                <a:spcPct val="100000"/>
              </a:lnSpc>
            </a:pPr>
            <a:r>
              <a:rPr sz="800" b="0" i="0">
                <a:solidFill>
                  <a:srgbClr val="3BBE93"/>
                </a:solidFill>
                <a:latin typeface="Consolas"/>
              </a:rPr>
              <a:t>    │   │   ├── github/</a:t>
            </a:r>
          </a:p>
          <a:p>
            <a:pPr algn="l">
              <a:lnSpc>
                <a:spcPct val="100000"/>
              </a:lnSpc>
            </a:pPr>
            <a:r>
              <a:rPr sz="800" b="0" i="0">
                <a:solidFill>
                  <a:srgbClr val="ECE7DC"/>
                </a:solidFill>
                <a:latin typeface="Consolas"/>
              </a:rPr>
              <a:t>    │   │   │   └── SKILL.md</a:t>
            </a:r>
          </a:p>
          <a:p>
            <a:pPr algn="l">
              <a:lnSpc>
                <a:spcPct val="100000"/>
              </a:lnSpc>
            </a:pPr>
            <a:r>
              <a:rPr sz="800" b="0" i="0">
                <a:solidFill>
                  <a:srgbClr val="3BBE93"/>
                </a:solidFill>
                <a:latin typeface="Consolas"/>
              </a:rPr>
              <a:t>    │   │   ├── gmail/</a:t>
            </a:r>
          </a:p>
          <a:p>
            <a:pPr algn="l">
              <a:lnSpc>
                <a:spcPct val="100000"/>
              </a:lnSpc>
            </a:pPr>
            <a:r>
              <a:rPr sz="800" b="0" i="0">
                <a:solidFill>
                  <a:srgbClr val="ECE7DC"/>
                </a:solidFill>
                <a:latin typeface="Consolas"/>
              </a:rPr>
              <a:t>    │   │   │   └── SKILL.md</a:t>
            </a:r>
          </a:p>
          <a:p>
            <a:pPr algn="l">
              <a:lnSpc>
                <a:spcPct val="100000"/>
              </a:lnSpc>
            </a:pPr>
            <a:r>
              <a:rPr sz="800" b="0" i="0">
                <a:solidFill>
                  <a:srgbClr val="3BBE93"/>
                </a:solidFill>
                <a:latin typeface="Consolas"/>
              </a:rPr>
              <a:t>    │   │   ├── hello_world/</a:t>
            </a:r>
          </a:p>
          <a:p>
            <a:pPr algn="l">
              <a:lnSpc>
                <a:spcPct val="100000"/>
              </a:lnSpc>
            </a:pPr>
            <a:r>
              <a:rPr sz="800" b="0" i="0">
                <a:solidFill>
                  <a:srgbClr val="ECE7DC"/>
                </a:solidFill>
                <a:latin typeface="Consolas"/>
              </a:rPr>
              <a:t>    │   │   │   └── SKILL.md</a:t>
            </a:r>
          </a:p>
          <a:p>
            <a:pPr algn="l">
              <a:lnSpc>
                <a:spcPct val="100000"/>
              </a:lnSpc>
            </a:pPr>
            <a:r>
              <a:rPr sz="800" b="0" i="0">
                <a:solidFill>
                  <a:srgbClr val="3BBE93"/>
                </a:solidFill>
                <a:latin typeface="Consolas"/>
              </a:rPr>
              <a:t>    │   │   ├── jira/</a:t>
            </a:r>
          </a:p>
          <a:p>
            <a:pPr algn="l">
              <a:lnSpc>
                <a:spcPct val="100000"/>
              </a:lnSpc>
            </a:pPr>
            <a:r>
              <a:rPr sz="800" b="0" i="0">
                <a:solidFill>
                  <a:srgbClr val="ECE7DC"/>
                </a:solidFill>
                <a:latin typeface="Consolas"/>
              </a:rPr>
              <a:t>    │   │   │   └── SKILL.md</a:t>
            </a:r>
          </a:p>
          <a:p>
            <a:pPr algn="l">
              <a:lnSpc>
                <a:spcPct val="100000"/>
              </a:lnSpc>
            </a:pPr>
            <a:r>
              <a:rPr sz="800" b="0" i="0">
                <a:solidFill>
                  <a:srgbClr val="3BBE93"/>
                </a:solidFill>
                <a:latin typeface="Consolas"/>
              </a:rPr>
              <a:t>    │   │   ├── kali_pentest/</a:t>
            </a:r>
          </a:p>
          <a:p>
            <a:pPr algn="l">
              <a:lnSpc>
                <a:spcPct val="100000"/>
              </a:lnSpc>
            </a:pPr>
            <a:r>
              <a:rPr sz="800" b="0" i="0">
                <a:solidFill>
                  <a:srgbClr val="ECE7DC"/>
                </a:solidFill>
                <a:latin typeface="Consolas"/>
              </a:rPr>
              <a:t>    │   │   │   └── SKILL.md</a:t>
            </a:r>
          </a:p>
          <a:p>
            <a:pPr algn="l">
              <a:lnSpc>
                <a:spcPct val="100000"/>
              </a:lnSpc>
            </a:pPr>
            <a:r>
              <a:rPr sz="800" b="0" i="0">
                <a:solidFill>
                  <a:srgbClr val="3BBE93"/>
                </a:solidFill>
                <a:latin typeface="Consolas"/>
              </a:rPr>
              <a:t>    │   │   ├── notion/</a:t>
            </a:r>
          </a:p>
          <a:p>
            <a:pPr algn="l">
              <a:lnSpc>
                <a:spcPct val="100000"/>
              </a:lnSpc>
            </a:pPr>
            <a:r>
              <a:rPr sz="800" b="0" i="0">
                <a:solidFill>
                  <a:srgbClr val="ECE7DC"/>
                </a:solidFill>
                <a:latin typeface="Consolas"/>
              </a:rPr>
              <a:t>    │   │   │   └── SKILL.md</a:t>
            </a:r>
          </a:p>
          <a:p>
            <a:pPr algn="l">
              <a:lnSpc>
                <a:spcPct val="100000"/>
              </a:lnSpc>
            </a:pPr>
            <a:r>
              <a:rPr sz="800" b="0" i="0">
                <a:solidFill>
                  <a:srgbClr val="3BBE93"/>
                </a:solidFill>
                <a:latin typeface="Consolas"/>
              </a:rPr>
              <a:t>    │   │   ├── roblox_studio/</a:t>
            </a:r>
          </a:p>
          <a:p>
            <a:pPr algn="l">
              <a:lnSpc>
                <a:spcPct val="100000"/>
              </a:lnSpc>
            </a:pPr>
            <a:r>
              <a:rPr sz="800" b="0" i="0">
                <a:solidFill>
                  <a:srgbClr val="ECE7DC"/>
                </a:solidFill>
                <a:latin typeface="Consolas"/>
              </a:rPr>
              <a:t>    │   │   │   └── SKILL.md</a:t>
            </a:r>
          </a:p>
          <a:p>
            <a:pPr algn="l">
              <a:lnSpc>
                <a:spcPct val="100000"/>
              </a:lnSpc>
            </a:pPr>
            <a:r>
              <a:rPr sz="800" b="0" i="0">
                <a:solidFill>
                  <a:srgbClr val="3BBE93"/>
                </a:solidFill>
                <a:latin typeface="Consolas"/>
              </a:rPr>
              <a:t>    │   │   ├── security_audit/</a:t>
            </a:r>
          </a:p>
          <a:p>
            <a:pPr algn="l">
              <a:lnSpc>
                <a:spcPct val="100000"/>
              </a:lnSpc>
            </a:pPr>
            <a:r>
              <a:rPr sz="800" b="0" i="0">
                <a:solidFill>
                  <a:srgbClr val="ECE7DC"/>
                </a:solidFill>
                <a:latin typeface="Consolas"/>
              </a:rPr>
              <a:t>    │   │   │   └── SKILL.md</a:t>
            </a:r>
          </a:p>
          <a:p>
            <a:pPr algn="l">
              <a:lnSpc>
                <a:spcPct val="100000"/>
              </a:lnSpc>
            </a:pPr>
            <a:r>
              <a:rPr sz="800" b="0" i="0">
                <a:solidFill>
                  <a:srgbClr val="3BBE93"/>
                </a:solidFill>
                <a:latin typeface="Consolas"/>
              </a:rPr>
              <a:t>    │   │   ├── setup_new_acpx_key/</a:t>
            </a:r>
          </a:p>
          <a:p>
            <a:pPr algn="l">
              <a:lnSpc>
                <a:spcPct val="100000"/>
              </a:lnSpc>
            </a:pPr>
            <a:r>
              <a:rPr sz="800" b="0" i="0">
                <a:solidFill>
                  <a:srgbClr val="ECE7DC"/>
                </a:solidFill>
                <a:latin typeface="Consolas"/>
              </a:rPr>
              <a:t>    │   │   │   └── SKILL.md</a:t>
            </a:r>
          </a:p>
          <a:p>
            <a:pPr algn="l">
              <a:lnSpc>
                <a:spcPct val="100000"/>
              </a:lnSpc>
            </a:pPr>
            <a:r>
              <a:rPr sz="800" b="0" i="0">
                <a:solidFill>
                  <a:srgbClr val="3BBE93"/>
                </a:solidFill>
                <a:latin typeface="Consolas"/>
              </a:rPr>
              <a:t>    │   │   ├── skill_creator/</a:t>
            </a:r>
          </a:p>
          <a:p>
            <a:pPr algn="l">
              <a:lnSpc>
                <a:spcPct val="100000"/>
              </a:lnSpc>
            </a:pPr>
            <a:r>
              <a:rPr sz="800" b="0" i="0">
                <a:solidFill>
                  <a:srgbClr val="ECE7DC"/>
                </a:solidFill>
                <a:latin typeface="Consolas"/>
              </a:rPr>
              <a:t>    │   │   │   ├── SKILL.md</a:t>
            </a:r>
          </a:p>
          <a:p>
            <a:pPr algn="l">
              <a:lnSpc>
                <a:spcPct val="100000"/>
              </a:lnSpc>
            </a:pPr>
            <a:r>
              <a:rPr sz="800" b="0" i="0">
                <a:solidFill>
                  <a:srgbClr val="3BBE93"/>
                </a:solidFill>
                <a:latin typeface="Consolas"/>
              </a:rPr>
              <a:t>    │   │   │   └── scripts/</a:t>
            </a:r>
          </a:p>
          <a:p>
            <a:pPr algn="l">
              <a:lnSpc>
                <a:spcPct val="100000"/>
              </a:lnSpc>
            </a:pPr>
            <a:r>
              <a:rPr sz="800" b="0" i="0">
                <a:solidFill>
                  <a:srgbClr val="ECE7DC"/>
                </a:solidFill>
                <a:latin typeface="Consolas"/>
              </a:rPr>
              <a:t>    │   │   │       └── quick_validate.py</a:t>
            </a:r>
          </a:p>
          <a:p>
            <a:pPr algn="l">
              <a:lnSpc>
                <a:spcPct val="100000"/>
              </a:lnSpc>
            </a:pPr>
            <a:r>
              <a:rPr sz="800" b="0" i="0">
                <a:solidFill>
                  <a:srgbClr val="3BBE93"/>
                </a:solidFill>
                <a:latin typeface="Consolas"/>
              </a:rPr>
              <a:t>    │   │   ├── slack/</a:t>
            </a:r>
          </a:p>
          <a:p>
            <a:pPr algn="l">
              <a:lnSpc>
                <a:spcPct val="100000"/>
              </a:lnSpc>
            </a:pPr>
            <a:r>
              <a:rPr sz="800" b="0" i="0">
                <a:solidFill>
                  <a:srgbClr val="ECE7DC"/>
                </a:solidFill>
                <a:latin typeface="Consolas"/>
              </a:rPr>
              <a:t>    │   │   │   └── SKILL.md</a:t>
            </a:r>
          </a:p>
          <a:p>
            <a:pPr algn="l">
              <a:lnSpc>
                <a:spcPct val="100000"/>
              </a:lnSpc>
            </a:pPr>
            <a:r>
              <a:rPr sz="800" b="0" i="0">
                <a:solidFill>
                  <a:srgbClr val="3BBE93"/>
                </a:solidFill>
                <a:latin typeface="Consolas"/>
              </a:rPr>
              <a:t>    │   │   ├── summarize/</a:t>
            </a:r>
          </a:p>
          <a:p>
            <a:pPr algn="l">
              <a:lnSpc>
                <a:spcPct val="100000"/>
              </a:lnSpc>
            </a:pPr>
            <a:r>
              <a:rPr sz="800" b="0" i="0">
                <a:solidFill>
                  <a:srgbClr val="ECE7DC"/>
                </a:solidFill>
                <a:latin typeface="Consolas"/>
              </a:rPr>
              <a:t>    │   │   │   └── SKILL.md</a:t>
            </a:r>
          </a:p>
          <a:p>
            <a:pPr algn="l">
              <a:lnSpc>
                <a:spcPct val="100000"/>
              </a:lnSpc>
            </a:pPr>
            <a:r>
              <a:rPr sz="800" b="0" i="0">
                <a:solidFill>
                  <a:srgbClr val="3BBE93"/>
                </a:solidFill>
                <a:latin typeface="Consolas"/>
              </a:rPr>
              <a:t>    │   │   ├── tlamatini_allowed_hosts_tighten/</a:t>
            </a:r>
          </a:p>
          <a:p>
            <a:pPr algn="l">
              <a:lnSpc>
                <a:spcPct val="100000"/>
              </a:lnSpc>
            </a:pPr>
            <a:r>
              <a:rPr sz="800" b="0" i="0">
                <a:solidFill>
                  <a:srgbClr val="ECE7DC"/>
                </a:solidFill>
                <a:latin typeface="Consolas"/>
              </a:rPr>
              <a:t>    │   │   │   └── SKILL.md</a:t>
            </a:r>
          </a:p>
          <a:p>
            <a:pPr algn="l">
              <a:lnSpc>
                <a:spcPct val="100000"/>
              </a:lnSpc>
            </a:pPr>
            <a:r>
              <a:rPr sz="800" b="0" i="0">
                <a:solidFill>
                  <a:srgbClr val="3BBE93"/>
                </a:solidFill>
                <a:latin typeface="Consolas"/>
              </a:rPr>
              <a:t>    │   │   ├── tlamatini_csrf_exempt_audit/</a:t>
            </a:r>
          </a:p>
          <a:p>
            <a:pPr algn="l">
              <a:lnSpc>
                <a:spcPct val="100000"/>
              </a:lnSpc>
            </a:pPr>
            <a:r>
              <a:rPr sz="800" b="0" i="0">
                <a:solidFill>
                  <a:srgbClr val="ECE7DC"/>
                </a:solidFill>
                <a:latin typeface="Consolas"/>
              </a:rPr>
              <a:t>    │   │   │   └── SKILL.md</a:t>
            </a:r>
          </a:p>
          <a:p>
            <a:pPr algn="l">
              <a:lnSpc>
                <a:spcPct val="100000"/>
              </a:lnSpc>
            </a:pPr>
            <a:r>
              <a:rPr sz="800" b="0" i="0">
                <a:solidFill>
                  <a:srgbClr val="3BBE93"/>
                </a:solidFill>
                <a:latin typeface="Consolas"/>
              </a:rPr>
              <a:t>    │   │   ├── tlamatini_exec_report_row_adder/</a:t>
            </a:r>
          </a:p>
          <a:p>
            <a:pPr algn="l">
              <a:lnSpc>
                <a:spcPct val="100000"/>
              </a:lnSpc>
            </a:pPr>
            <a:r>
              <a:rPr sz="800" b="0" i="0">
                <a:solidFill>
                  <a:srgbClr val="ECE7DC"/>
                </a:solidFill>
                <a:latin typeface="Consolas"/>
              </a:rPr>
              <a:t>    │   │   │   └── SKILL.md</a:t>
            </a:r>
          </a:p>
          <a:p>
            <a:pPr algn="l">
              <a:lnSpc>
                <a:spcPct val="100000"/>
              </a:lnSpc>
            </a:pPr>
            <a:r>
              <a:rPr sz="800" b="0" i="0">
                <a:solidFill>
                  <a:srgbClr val="3BBE93"/>
                </a:solidFill>
                <a:latin typeface="Consolas"/>
              </a:rPr>
              <a:t>    │   │   ├── tlamatini_flow_from_objective/</a:t>
            </a:r>
          </a:p>
          <a:p>
            <a:pPr algn="l">
              <a:lnSpc>
                <a:spcPct val="100000"/>
              </a:lnSpc>
            </a:pPr>
            <a:r>
              <a:rPr sz="800" b="0" i="0">
                <a:solidFill>
                  <a:srgbClr val="ECE7DC"/>
                </a:solidFill>
                <a:latin typeface="Consolas"/>
              </a:rPr>
              <a:t>    │   │   │   └── SKILL.md</a:t>
            </a:r>
          </a:p>
          <a:p>
            <a:pPr algn="l">
              <a:lnSpc>
                <a:spcPct val="100000"/>
              </a:lnSpc>
            </a:pPr>
            <a:r>
              <a:rPr sz="800" b="0" i="0">
                <a:solidFill>
                  <a:srgbClr val="3BBE93"/>
                </a:solidFill>
                <a:latin typeface="Consolas"/>
              </a:rPr>
              <a:t>    │   │   ├── tlamatini_flw_doctor/</a:t>
            </a:r>
          </a:p>
          <a:p>
            <a:pPr algn="l">
              <a:lnSpc>
                <a:spcPct val="100000"/>
              </a:lnSpc>
            </a:pPr>
            <a:r>
              <a:rPr sz="800" b="0" i="0">
                <a:solidFill>
                  <a:srgbClr val="ECE7DC"/>
                </a:solidFill>
                <a:latin typeface="Consolas"/>
              </a:rPr>
              <a:t>    │   │   │   └── SKILL.md</a:t>
            </a:r>
          </a:p>
          <a:p>
            <a:pPr algn="l">
              <a:lnSpc>
                <a:spcPct val="100000"/>
              </a:lnSpc>
            </a:pPr>
            <a:r>
              <a:rPr sz="800" b="0" i="0">
                <a:solidFill>
                  <a:srgbClr val="3BBE93"/>
                </a:solidFill>
                <a:latin typeface="Consolas"/>
              </a:rPr>
              <a:t>    │   │   ├── tlamatini_new_acp_agent/</a:t>
            </a:r>
          </a:p>
          <a:p>
            <a:pPr algn="l">
              <a:lnSpc>
                <a:spcPct val="100000"/>
              </a:lnSpc>
            </a:pPr>
            <a:r>
              <a:rPr sz="800" b="0" i="0">
                <a:solidFill>
                  <a:srgbClr val="ECE7DC"/>
                </a:solidFill>
                <a:latin typeface="Consolas"/>
              </a:rPr>
              <a:t>    │   │   │   └── SKILL.md</a:t>
            </a:r>
          </a:p>
        </p:txBody>
      </p:sp>
      <p:sp>
        <p:nvSpPr>
          <p:cNvPr id="6" name="TextBox 5"/>
          <p:cNvSpPr txBox="1"/>
          <p:nvPr/>
        </p:nvSpPr>
        <p:spPr>
          <a:xfrm>
            <a:off x="4338218" y="1170432"/>
            <a:ext cx="3515258" cy="5084064"/>
          </a:xfrm>
          <a:prstGeom prst="rect">
            <a:avLst/>
          </a:prstGeom>
          <a:noFill/>
        </p:spPr>
        <p:txBody>
          <a:bodyPr wrap="none" lIns="45720" rIns="45720" tIns="27432" bIns="27432" anchor="t">
            <a:noAutofit/>
          </a:bodyPr>
          <a:lstStyle/>
          <a:p>
            <a:pPr algn="l">
              <a:lnSpc>
                <a:spcPct val="100000"/>
              </a:lnSpc>
            </a:pPr>
            <a:r>
              <a:rPr sz="800" b="0" i="0">
                <a:solidFill>
                  <a:srgbClr val="3BBE93"/>
                </a:solidFill>
                <a:latin typeface="Consolas"/>
              </a:rPr>
              <a:t>    │   │   ├── tlamatini_planner_trace_replay/</a:t>
            </a:r>
          </a:p>
          <a:p>
            <a:pPr algn="l">
              <a:lnSpc>
                <a:spcPct val="100000"/>
              </a:lnSpc>
            </a:pPr>
            <a:r>
              <a:rPr sz="800" b="0" i="0">
                <a:solidFill>
                  <a:srgbClr val="ECE7DC"/>
                </a:solidFill>
                <a:latin typeface="Consolas"/>
              </a:rPr>
              <a:t>    │   │   │   └── SKILL.md</a:t>
            </a:r>
          </a:p>
          <a:p>
            <a:pPr algn="l">
              <a:lnSpc>
                <a:spcPct val="100000"/>
              </a:lnSpc>
            </a:pPr>
            <a:r>
              <a:rPr sz="800" b="0" i="0">
                <a:solidFill>
                  <a:srgbClr val="3BBE93"/>
                </a:solidFill>
                <a:latin typeface="Consolas"/>
              </a:rPr>
              <a:t>    │   │   ├── tlamatini_static_version_bumper/</a:t>
            </a:r>
          </a:p>
          <a:p>
            <a:pPr algn="l">
              <a:lnSpc>
                <a:spcPct val="100000"/>
              </a:lnSpc>
            </a:pPr>
            <a:r>
              <a:rPr sz="800" b="0" i="0">
                <a:solidFill>
                  <a:srgbClr val="ECE7DC"/>
                </a:solidFill>
                <a:latin typeface="Consolas"/>
              </a:rPr>
              <a:t>    │   │   │   └── SKILL.md</a:t>
            </a:r>
          </a:p>
          <a:p>
            <a:pPr algn="l">
              <a:lnSpc>
                <a:spcPct val="100000"/>
              </a:lnSpc>
            </a:pPr>
            <a:r>
              <a:rPr sz="800" b="0" i="0">
                <a:solidFill>
                  <a:srgbClr val="3BBE93"/>
                </a:solidFill>
                <a:latin typeface="Consolas"/>
              </a:rPr>
              <a:t>    │   │   ├── todoist/</a:t>
            </a:r>
          </a:p>
          <a:p>
            <a:pPr algn="l">
              <a:lnSpc>
                <a:spcPct val="100000"/>
              </a:lnSpc>
            </a:pPr>
            <a:r>
              <a:rPr sz="800" b="0" i="0">
                <a:solidFill>
                  <a:srgbClr val="ECE7DC"/>
                </a:solidFill>
                <a:latin typeface="Consolas"/>
              </a:rPr>
              <a:t>    │   │   │   └── SKILL.md</a:t>
            </a:r>
          </a:p>
          <a:p>
            <a:pPr algn="l">
              <a:lnSpc>
                <a:spcPct val="100000"/>
              </a:lnSpc>
            </a:pPr>
            <a:r>
              <a:rPr sz="800" b="0" i="0">
                <a:solidFill>
                  <a:srgbClr val="3BBE93"/>
                </a:solidFill>
                <a:latin typeface="Consolas"/>
              </a:rPr>
              <a:t>    │   │   ├── trello/</a:t>
            </a:r>
          </a:p>
          <a:p>
            <a:pPr algn="l">
              <a:lnSpc>
                <a:spcPct val="100000"/>
              </a:lnSpc>
            </a:pPr>
            <a:r>
              <a:rPr sz="800" b="0" i="0">
                <a:solidFill>
                  <a:srgbClr val="ECE7DC"/>
                </a:solidFill>
                <a:latin typeface="Consolas"/>
              </a:rPr>
              <a:t>    │   │   │   └── SKILL.md</a:t>
            </a:r>
          </a:p>
          <a:p>
            <a:pPr algn="l">
              <a:lnSpc>
                <a:spcPct val="100000"/>
              </a:lnSpc>
            </a:pPr>
            <a:r>
              <a:rPr sz="800" b="0" i="0">
                <a:solidFill>
                  <a:srgbClr val="3BBE93"/>
                </a:solidFill>
                <a:latin typeface="Consolas"/>
              </a:rPr>
              <a:t>    │   │   └── weather/</a:t>
            </a:r>
          </a:p>
          <a:p>
            <a:pPr algn="l">
              <a:lnSpc>
                <a:spcPct val="100000"/>
              </a:lnSpc>
            </a:pPr>
            <a:r>
              <a:rPr sz="800" b="0" i="0">
                <a:solidFill>
                  <a:srgbClr val="ECE7DC"/>
                </a:solidFill>
                <a:latin typeface="Consolas"/>
              </a:rPr>
              <a:t>    │   │       └── SKILL.md</a:t>
            </a:r>
          </a:p>
          <a:p>
            <a:pPr algn="l">
              <a:lnSpc>
                <a:spcPct val="100000"/>
              </a:lnSpc>
            </a:pPr>
            <a:r>
              <a:rPr sz="800" b="0" i="0">
                <a:solidFill>
                  <a:srgbClr val="3BBE93"/>
                </a:solidFill>
                <a:latin typeface="Consolas"/>
              </a:rPr>
              <a:t>    │   ├── static/</a:t>
            </a:r>
          </a:p>
          <a:p>
            <a:pPr algn="l">
              <a:lnSpc>
                <a:spcPct val="100000"/>
              </a:lnSpc>
            </a:pPr>
            <a:r>
              <a:rPr sz="800" b="0" i="0">
                <a:solidFill>
                  <a:srgbClr val="3BBE93"/>
                </a:solidFill>
                <a:latin typeface="Consolas"/>
              </a:rPr>
              <a:t>    │   │   └── agent/</a:t>
            </a:r>
          </a:p>
          <a:p>
            <a:pPr algn="l">
              <a:lnSpc>
                <a:spcPct val="100000"/>
              </a:lnSpc>
            </a:pPr>
            <a:r>
              <a:rPr sz="800" b="0" i="0">
                <a:solidFill>
                  <a:srgbClr val="3BBE93"/>
                </a:solidFill>
                <a:latin typeface="Consolas"/>
              </a:rPr>
              <a:t>    │   │       ├── css/</a:t>
            </a:r>
          </a:p>
          <a:p>
            <a:pPr algn="l">
              <a:lnSpc>
                <a:spcPct val="100000"/>
              </a:lnSpc>
            </a:pPr>
            <a:r>
              <a:rPr sz="800" b="0" i="0">
                <a:solidFill>
                  <a:srgbClr val="ECE7DC"/>
                </a:solidFill>
                <a:latin typeface="Consolas"/>
              </a:rPr>
              <a:t>    │   │       │   ├── access_keys_wizard.css</a:t>
            </a:r>
          </a:p>
          <a:p>
            <a:pPr algn="l">
              <a:lnSpc>
                <a:spcPct val="100000"/>
              </a:lnSpc>
            </a:pPr>
            <a:r>
              <a:rPr sz="800" b="0" i="0">
                <a:solidFill>
                  <a:srgbClr val="ECE7DC"/>
                </a:solidFill>
                <a:latin typeface="Consolas"/>
              </a:rPr>
              <a:t>    │   │       │   ├── admin_theme.css</a:t>
            </a:r>
          </a:p>
          <a:p>
            <a:pPr algn="l">
              <a:lnSpc>
                <a:spcPct val="100000"/>
              </a:lnSpc>
            </a:pPr>
            <a:r>
              <a:rPr sz="800" b="0" i="0">
                <a:solidFill>
                  <a:srgbClr val="ECE7DC"/>
                </a:solidFill>
                <a:latin typeface="Consolas"/>
              </a:rPr>
              <a:t>    │   │       │   ├── agent_page.css</a:t>
            </a:r>
          </a:p>
          <a:p>
            <a:pPr algn="l">
              <a:lnSpc>
                <a:spcPct val="100000"/>
              </a:lnSpc>
            </a:pPr>
            <a:r>
              <a:rPr sz="800" b="0" i="0">
                <a:solidFill>
                  <a:srgbClr val="ECE7DC"/>
                </a:solidFill>
                <a:latin typeface="Consolas"/>
              </a:rPr>
              <a:t>    │   │       │   ├── agentic_control_panel.css</a:t>
            </a:r>
          </a:p>
          <a:p>
            <a:pPr algn="l">
              <a:lnSpc>
                <a:spcPct val="100000"/>
              </a:lnSpc>
            </a:pPr>
            <a:r>
              <a:rPr sz="800" b="0" i="0">
                <a:solidFill>
                  <a:srgbClr val="ECE7DC"/>
                </a:solidFill>
                <a:latin typeface="Consolas"/>
              </a:rPr>
              <a:t>    │   │       │   ├── avatar.css</a:t>
            </a:r>
          </a:p>
          <a:p>
            <a:pPr algn="l">
              <a:lnSpc>
                <a:spcPct val="100000"/>
              </a:lnSpc>
            </a:pPr>
            <a:r>
              <a:rPr sz="800" b="0" i="0">
                <a:solidFill>
                  <a:srgbClr val="ECE7DC"/>
                </a:solidFill>
                <a:latin typeface="Consolas"/>
              </a:rPr>
              <a:t>    │   │       │   ├── canvas_editor.css</a:t>
            </a:r>
          </a:p>
          <a:p>
            <a:pPr algn="l">
              <a:lnSpc>
                <a:spcPct val="100000"/>
              </a:lnSpc>
            </a:pPr>
            <a:r>
              <a:rPr sz="800" b="0" i="0">
                <a:solidFill>
                  <a:srgbClr val="ECE7DC"/>
                </a:solidFill>
                <a:latin typeface="Consolas"/>
              </a:rPr>
              <a:t>    │   │       │   ├── chat_dictation.css</a:t>
            </a:r>
          </a:p>
          <a:p>
            <a:pPr algn="l">
              <a:lnSpc>
                <a:spcPct val="100000"/>
              </a:lnSpc>
            </a:pPr>
            <a:r>
              <a:rPr sz="800" b="0" i="0">
                <a:solidFill>
                  <a:srgbClr val="ECE7DC"/>
                </a:solidFill>
                <a:latin typeface="Consolas"/>
              </a:rPr>
              <a:t>    │   │       │   ├── contacts_dialog.css</a:t>
            </a:r>
          </a:p>
          <a:p>
            <a:pPr algn="l">
              <a:lnSpc>
                <a:spcPct val="100000"/>
              </a:lnSpc>
            </a:pPr>
            <a:r>
              <a:rPr sz="800" b="0" i="0">
                <a:solidFill>
                  <a:srgbClr val="ECE7DC"/>
                </a:solidFill>
                <a:latin typeface="Consolas"/>
              </a:rPr>
              <a:t>    │   │       │   ├── context_gauge.css</a:t>
            </a:r>
          </a:p>
          <a:p>
            <a:pPr algn="l">
              <a:lnSpc>
                <a:spcPct val="100000"/>
              </a:lnSpc>
            </a:pPr>
            <a:r>
              <a:rPr sz="800" b="0" i="0">
                <a:solidFill>
                  <a:srgbClr val="ECE7DC"/>
                </a:solidFill>
                <a:latin typeface="Consolas"/>
              </a:rPr>
              <a:t>    │   │       │   ├── dialog_theme.css</a:t>
            </a:r>
          </a:p>
          <a:p>
            <a:pPr algn="l">
              <a:lnSpc>
                <a:spcPct val="100000"/>
              </a:lnSpc>
            </a:pPr>
            <a:r>
              <a:rPr sz="800" b="0" i="0">
                <a:solidFill>
                  <a:srgbClr val="ECE7DC"/>
                </a:solidFill>
                <a:latin typeface="Consolas"/>
              </a:rPr>
              <a:t>    │   │       │   ├── entry_pages.css</a:t>
            </a:r>
          </a:p>
          <a:p>
            <a:pPr algn="l">
              <a:lnSpc>
                <a:spcPct val="100000"/>
              </a:lnSpc>
            </a:pPr>
            <a:r>
              <a:rPr sz="800" b="0" i="0">
                <a:solidFill>
                  <a:srgbClr val="ECE7DC"/>
                </a:solidFill>
                <a:latin typeface="Consolas"/>
              </a:rPr>
              <a:t>    │   │       │   ├── external_mcps_dialog.css</a:t>
            </a:r>
          </a:p>
          <a:p>
            <a:pPr algn="l">
              <a:lnSpc>
                <a:spcPct val="100000"/>
              </a:lnSpc>
            </a:pPr>
            <a:r>
              <a:rPr sz="800" b="0" i="0">
                <a:solidFill>
                  <a:srgbClr val="ECE7DC"/>
                </a:solidFill>
                <a:latin typeface="Consolas"/>
              </a:rPr>
              <a:t>    │   │       │   ├── flow_canvas.css</a:t>
            </a:r>
          </a:p>
          <a:p>
            <a:pPr algn="l">
              <a:lnSpc>
                <a:spcPct val="100000"/>
              </a:lnSpc>
            </a:pPr>
            <a:r>
              <a:rPr sz="800" b="0" i="0">
                <a:solidFill>
                  <a:srgbClr val="ECE7DC"/>
                </a:solidFill>
                <a:latin typeface="Consolas"/>
              </a:rPr>
              <a:t>    │   │       │   ├── interaction_settings.css</a:t>
            </a:r>
          </a:p>
          <a:p>
            <a:pPr algn="l">
              <a:lnSpc>
                <a:spcPct val="100000"/>
              </a:lnSpc>
            </a:pPr>
            <a:r>
              <a:rPr sz="800" b="0" i="0">
                <a:solidFill>
                  <a:srgbClr val="ECE7DC"/>
                </a:solidFill>
                <a:latin typeface="Consolas"/>
              </a:rPr>
              <a:t>    │   │       │   ├── login.css</a:t>
            </a:r>
          </a:p>
          <a:p>
            <a:pPr algn="l">
              <a:lnSpc>
                <a:spcPct val="100000"/>
              </a:lnSpc>
            </a:pPr>
            <a:r>
              <a:rPr sz="800" b="0" i="0">
                <a:solidFill>
                  <a:srgbClr val="ECE7DC"/>
                </a:solidFill>
                <a:latin typeface="Consolas"/>
              </a:rPr>
              <a:t>    │   │       │   ├── markdown_canvas.css</a:t>
            </a:r>
          </a:p>
          <a:p>
            <a:pPr algn="l">
              <a:lnSpc>
                <a:spcPct val="100000"/>
              </a:lnSpc>
            </a:pPr>
            <a:r>
              <a:rPr sz="800" b="0" i="0">
                <a:solidFill>
                  <a:srgbClr val="ECE7DC"/>
                </a:solidFill>
                <a:latin typeface="Consolas"/>
              </a:rPr>
              <a:t>    │   │       │   ├── model_brain_tuning.css</a:t>
            </a:r>
          </a:p>
          <a:p>
            <a:pPr algn="l">
              <a:lnSpc>
                <a:spcPct val="100000"/>
              </a:lnSpc>
            </a:pPr>
            <a:r>
              <a:rPr sz="800" b="0" i="0">
                <a:solidFill>
                  <a:srgbClr val="ECE7DC"/>
                </a:solidFill>
                <a:latin typeface="Consolas"/>
              </a:rPr>
              <a:t>    │   │       │   ├── model_capacity.css</a:t>
            </a:r>
          </a:p>
          <a:p>
            <a:pPr algn="l">
              <a:lnSpc>
                <a:spcPct val="100000"/>
              </a:lnSpc>
            </a:pPr>
            <a:r>
              <a:rPr sz="800" b="0" i="0">
                <a:solidFill>
                  <a:srgbClr val="ECE7DC"/>
                </a:solidFill>
                <a:latin typeface="Consolas"/>
              </a:rPr>
              <a:t>    │   │       │   ├── pdf_canvas.css</a:t>
            </a:r>
          </a:p>
          <a:p>
            <a:pPr algn="l">
              <a:lnSpc>
                <a:spcPct val="100000"/>
              </a:lnSpc>
            </a:pPr>
            <a:r>
              <a:rPr sz="800" b="0" i="0">
                <a:solidFill>
                  <a:srgbClr val="ECE7DC"/>
                </a:solidFill>
                <a:latin typeface="Consolas"/>
              </a:rPr>
              <a:t>    │   │       │   ├── pdf_context_progress.css</a:t>
            </a:r>
          </a:p>
          <a:p>
            <a:pPr algn="l">
              <a:lnSpc>
                <a:spcPct val="100000"/>
              </a:lnSpc>
            </a:pPr>
            <a:r>
              <a:rPr sz="800" b="0" i="0">
                <a:solidFill>
                  <a:srgbClr val="ECE7DC"/>
                </a:solidFill>
                <a:latin typeface="Consolas"/>
              </a:rPr>
              <a:t>    │   │       │   ├── prompt_flow_panel.css</a:t>
            </a:r>
          </a:p>
          <a:p>
            <a:pPr algn="l">
              <a:lnSpc>
                <a:spcPct val="100000"/>
              </a:lnSpc>
            </a:pPr>
            <a:r>
              <a:rPr sz="800" b="0" i="0">
                <a:solidFill>
                  <a:srgbClr val="ECE7DC"/>
                </a:solidFill>
                <a:latin typeface="Consolas"/>
              </a:rPr>
              <a:t>    │   │       │   ├── skills_dialog.css</a:t>
            </a:r>
          </a:p>
          <a:p>
            <a:pPr algn="l">
              <a:lnSpc>
                <a:spcPct val="100000"/>
              </a:lnSpc>
            </a:pPr>
            <a:r>
              <a:rPr sz="800" b="0" i="0">
                <a:solidFill>
                  <a:srgbClr val="ECE7DC"/>
                </a:solidFill>
                <a:latin typeface="Consolas"/>
              </a:rPr>
              <a:t>    │   │       │   ├── terminater_dock.css</a:t>
            </a:r>
          </a:p>
          <a:p>
            <a:pPr algn="l">
              <a:lnSpc>
                <a:spcPct val="100000"/>
              </a:lnSpc>
            </a:pPr>
            <a:r>
              <a:rPr sz="800" b="0" i="0">
                <a:solidFill>
                  <a:srgbClr val="ECE7DC"/>
                </a:solidFill>
                <a:latin typeface="Consolas"/>
              </a:rPr>
              <a:t>    │   │       │   ├── tools_dialog.css</a:t>
            </a:r>
          </a:p>
          <a:p>
            <a:pPr algn="l">
              <a:lnSpc>
                <a:spcPct val="100000"/>
              </a:lnSpc>
            </a:pPr>
            <a:r>
              <a:rPr sz="800" b="0" i="0">
                <a:solidFill>
                  <a:srgbClr val="ECE7DC"/>
                </a:solidFill>
                <a:latin typeface="Consolas"/>
              </a:rPr>
              <a:t>    │   │       │   ├── ui_shell.css</a:t>
            </a:r>
          </a:p>
          <a:p>
            <a:pPr algn="l">
              <a:lnSpc>
                <a:spcPct val="100000"/>
              </a:lnSpc>
            </a:pPr>
            <a:r>
              <a:rPr sz="800" b="0" i="0">
                <a:solidFill>
                  <a:srgbClr val="ECE7DC"/>
                </a:solidFill>
                <a:latin typeface="Consolas"/>
              </a:rPr>
              <a:t>    │   │       │   ├── ui_splitters.css</a:t>
            </a:r>
          </a:p>
          <a:p>
            <a:pPr algn="l">
              <a:lnSpc>
                <a:spcPct val="100000"/>
              </a:lnSpc>
            </a:pPr>
            <a:r>
              <a:rPr sz="800" b="0" i="0">
                <a:solidFill>
                  <a:srgbClr val="ECE7DC"/>
                </a:solidFill>
                <a:latin typeface="Consolas"/>
              </a:rPr>
              <a:t>    │   │       │   ├── ui_tokens.css</a:t>
            </a:r>
          </a:p>
          <a:p>
            <a:pPr algn="l">
              <a:lnSpc>
                <a:spcPct val="100000"/>
              </a:lnSpc>
            </a:pPr>
            <a:r>
              <a:rPr sz="800" b="0" i="0">
                <a:solidFill>
                  <a:srgbClr val="ECE7DC"/>
                </a:solidFill>
                <a:latin typeface="Consolas"/>
              </a:rPr>
              <a:t>    │   │       │   ├── usage_dashboard.css</a:t>
            </a:r>
          </a:p>
        </p:txBody>
      </p:sp>
      <p:sp>
        <p:nvSpPr>
          <p:cNvPr id="7" name="TextBox 6"/>
          <p:cNvSpPr txBox="1"/>
          <p:nvPr/>
        </p:nvSpPr>
        <p:spPr>
          <a:xfrm>
            <a:off x="8109508" y="1170432"/>
            <a:ext cx="3515258" cy="5084064"/>
          </a:xfrm>
          <a:prstGeom prst="rect">
            <a:avLst/>
          </a:prstGeom>
          <a:noFill/>
        </p:spPr>
        <p:txBody>
          <a:bodyPr wrap="none" lIns="45720" rIns="45720" tIns="27432" bIns="27432" anchor="t">
            <a:noAutofit/>
          </a:bodyPr>
          <a:lstStyle/>
          <a:p>
            <a:pPr algn="l">
              <a:lnSpc>
                <a:spcPct val="100000"/>
              </a:lnSpc>
            </a:pPr>
            <a:r>
              <a:rPr sz="800" b="0" i="0">
                <a:solidFill>
                  <a:srgbClr val="ECE7DC"/>
                </a:solidFill>
                <a:latin typeface="Consolas"/>
              </a:rPr>
              <a:t>    │   │       │   └── welcome.css</a:t>
            </a:r>
          </a:p>
          <a:p>
            <a:pPr algn="l">
              <a:lnSpc>
                <a:spcPct val="100000"/>
              </a:lnSpc>
            </a:pPr>
            <a:r>
              <a:rPr sz="800" b="0" i="0">
                <a:solidFill>
                  <a:srgbClr val="3BBE93"/>
                </a:solidFill>
                <a:latin typeface="Consolas"/>
              </a:rPr>
              <a:t>    │   │       ├── img/</a:t>
            </a:r>
          </a:p>
          <a:p>
            <a:pPr algn="l">
              <a:lnSpc>
                <a:spcPct val="100000"/>
              </a:lnSpc>
            </a:pPr>
            <a:r>
              <a:rPr sz="800" b="0" i="0">
                <a:solidFill>
                  <a:srgbClr val="ECE7DC"/>
                </a:solidFill>
                <a:latin typeface="Consolas"/>
              </a:rPr>
              <a:t>    │   │       │   ├── spinner.svg</a:t>
            </a:r>
          </a:p>
          <a:p>
            <a:pPr algn="l">
              <a:lnSpc>
                <a:spcPct val="100000"/>
              </a:lnSpc>
            </a:pPr>
            <a:r>
              <a:rPr sz="800" b="0" i="0">
                <a:solidFill>
                  <a:srgbClr val="ECE7DC"/>
                </a:solidFill>
                <a:latin typeface="Consolas"/>
              </a:rPr>
              <a:t>    │   │       │   ├── Tlamatini.ico</a:t>
            </a:r>
          </a:p>
          <a:p>
            <a:pPr algn="l">
              <a:lnSpc>
                <a:spcPct val="100000"/>
              </a:lnSpc>
            </a:pPr>
            <a:r>
              <a:rPr sz="800" b="0" i="0">
                <a:solidFill>
                  <a:srgbClr val="3BBE93"/>
                </a:solidFill>
                <a:latin typeface="Consolas"/>
              </a:rPr>
              <a:t>    │   │       │   └── avatar/</a:t>
            </a:r>
          </a:p>
          <a:p>
            <a:pPr algn="l">
              <a:lnSpc>
                <a:spcPct val="100000"/>
              </a:lnSpc>
            </a:pPr>
            <a:r>
              <a:rPr sz="800" b="0" i="0">
                <a:solidFill>
                  <a:srgbClr val="ECE7DC"/>
                </a:solidFill>
                <a:latin typeface="Consolas"/>
              </a:rPr>
              <a:t>    │   │       │       ├── ec_mc.jpg</a:t>
            </a:r>
          </a:p>
          <a:p>
            <a:pPr algn="l">
              <a:lnSpc>
                <a:spcPct val="100000"/>
              </a:lnSpc>
            </a:pPr>
            <a:r>
              <a:rPr sz="800" b="0" i="0">
                <a:solidFill>
                  <a:srgbClr val="ECE7DC"/>
                </a:solidFill>
                <a:latin typeface="Consolas"/>
              </a:rPr>
              <a:t>    │   │       │       ├── ec_mo.jpg</a:t>
            </a:r>
          </a:p>
          <a:p>
            <a:pPr algn="l">
              <a:lnSpc>
                <a:spcPct val="100000"/>
              </a:lnSpc>
            </a:pPr>
            <a:r>
              <a:rPr sz="800" b="0" i="0">
                <a:solidFill>
                  <a:srgbClr val="ECE7DC"/>
                </a:solidFill>
                <a:latin typeface="Consolas"/>
              </a:rPr>
              <a:t>    │   │       │       ├── eo_mc.jpg</a:t>
            </a:r>
          </a:p>
          <a:p>
            <a:pPr algn="l">
              <a:lnSpc>
                <a:spcPct val="100000"/>
              </a:lnSpc>
            </a:pPr>
            <a:r>
              <a:rPr sz="800" b="0" i="0">
                <a:solidFill>
                  <a:srgbClr val="ECE7DC"/>
                </a:solidFill>
                <a:latin typeface="Consolas"/>
              </a:rPr>
              <a:t>    │   │       │       └── eo_mo.jpg</a:t>
            </a:r>
          </a:p>
          <a:p>
            <a:pPr algn="l">
              <a:lnSpc>
                <a:spcPct val="100000"/>
              </a:lnSpc>
            </a:pPr>
            <a:r>
              <a:rPr sz="800" b="0" i="0">
                <a:solidFill>
                  <a:srgbClr val="3BBE93"/>
                </a:solidFill>
                <a:latin typeface="Consolas"/>
              </a:rPr>
              <a:t>    │   │       ├── interactor/</a:t>
            </a:r>
          </a:p>
          <a:p>
            <a:pPr algn="l">
              <a:lnSpc>
                <a:spcPct val="100000"/>
              </a:lnSpc>
            </a:pPr>
            <a:r>
              <a:rPr sz="800" b="0" i="0">
                <a:solidFill>
                  <a:srgbClr val="ECE7DC"/>
                </a:solidFill>
                <a:latin typeface="Consolas"/>
              </a:rPr>
              <a:t>    │   │       │   ├── bridge.js</a:t>
            </a:r>
          </a:p>
          <a:p>
            <a:pPr algn="l">
              <a:lnSpc>
                <a:spcPct val="100000"/>
              </a:lnSpc>
            </a:pPr>
            <a:r>
              <a:rPr sz="800" b="0" i="0">
                <a:solidFill>
                  <a:srgbClr val="ECE7DC"/>
                </a:solidFill>
                <a:latin typeface="Consolas"/>
              </a:rPr>
              <a:t>    │   │       │   └── interactor.css</a:t>
            </a:r>
          </a:p>
          <a:p>
            <a:pPr algn="l">
              <a:lnSpc>
                <a:spcPct val="100000"/>
              </a:lnSpc>
            </a:pPr>
            <a:r>
              <a:rPr sz="800" b="0" i="0">
                <a:solidFill>
                  <a:srgbClr val="3BBE93"/>
                </a:solidFill>
                <a:latin typeface="Consolas"/>
              </a:rPr>
              <a:t>    │   │       ├── js/</a:t>
            </a:r>
          </a:p>
          <a:p>
            <a:pPr algn="l">
              <a:lnSpc>
                <a:spcPct val="100000"/>
              </a:lnSpc>
            </a:pPr>
            <a:r>
              <a:rPr sz="800" b="0" i="0">
                <a:solidFill>
                  <a:srgbClr val="ECE7DC"/>
                </a:solidFill>
                <a:latin typeface="Consolas"/>
              </a:rPr>
              <a:t>    │   │       │   ├── access_keys_wizard.js</a:t>
            </a:r>
          </a:p>
          <a:p>
            <a:pPr algn="l">
              <a:lnSpc>
                <a:spcPct val="100000"/>
              </a:lnSpc>
            </a:pPr>
            <a:r>
              <a:rPr sz="800" b="0" i="0">
                <a:solidFill>
                  <a:srgbClr val="ECE7DC"/>
                </a:solidFill>
                <a:latin typeface="Consolas"/>
              </a:rPr>
              <a:t>    │   │       │   ├── acp-agent-connectors.js</a:t>
            </a:r>
          </a:p>
          <a:p>
            <a:pPr algn="l">
              <a:lnSpc>
                <a:spcPct val="100000"/>
              </a:lnSpc>
            </a:pPr>
            <a:r>
              <a:rPr sz="800" b="0" i="0">
                <a:solidFill>
                  <a:srgbClr val="ECE7DC"/>
                </a:solidFill>
                <a:latin typeface="Consolas"/>
              </a:rPr>
              <a:t>    │   │       │   ├── acp-canvas-core.js</a:t>
            </a:r>
          </a:p>
          <a:p>
            <a:pPr algn="l">
              <a:lnSpc>
                <a:spcPct val="100000"/>
              </a:lnSpc>
            </a:pPr>
            <a:r>
              <a:rPr sz="800" b="0" i="0">
                <a:solidFill>
                  <a:srgbClr val="ECE7DC"/>
                </a:solidFill>
                <a:latin typeface="Consolas"/>
              </a:rPr>
              <a:t>    │   │       │   ├── acp-canvas-undo.js</a:t>
            </a:r>
          </a:p>
          <a:p>
            <a:pPr algn="l">
              <a:lnSpc>
                <a:spcPct val="100000"/>
              </a:lnSpc>
            </a:pPr>
            <a:r>
              <a:rPr sz="800" b="0" i="0">
                <a:solidFill>
                  <a:srgbClr val="ECE7DC"/>
                </a:solidFill>
                <a:latin typeface="Consolas"/>
              </a:rPr>
              <a:t>    │   │       │   ├── acp-connection-status.js</a:t>
            </a:r>
          </a:p>
          <a:p>
            <a:pPr algn="l">
              <a:lnSpc>
                <a:spcPct val="100000"/>
              </a:lnSpc>
            </a:pPr>
            <a:r>
              <a:rPr sz="800" b="0" i="0">
                <a:solidFill>
                  <a:srgbClr val="ECE7DC"/>
                </a:solidFill>
                <a:latin typeface="Consolas"/>
              </a:rPr>
              <a:t>    │   │       │   ├── acp-control-buttons.js</a:t>
            </a:r>
          </a:p>
          <a:p>
            <a:pPr algn="l">
              <a:lnSpc>
                <a:spcPct val="100000"/>
              </a:lnSpc>
            </a:pPr>
            <a:r>
              <a:rPr sz="800" b="0" i="0">
                <a:solidFill>
                  <a:srgbClr val="ECE7DC"/>
                </a:solidFill>
                <a:latin typeface="Consolas"/>
              </a:rPr>
              <a:t>    │   │       │   ├── acp-editor-tools.js</a:t>
            </a:r>
          </a:p>
          <a:p>
            <a:pPr algn="l">
              <a:lnSpc>
                <a:spcPct val="100000"/>
              </a:lnSpc>
            </a:pPr>
            <a:r>
              <a:rPr sz="800" b="0" i="0">
                <a:solidFill>
                  <a:srgbClr val="ECE7DC"/>
                </a:solidFill>
                <a:latin typeface="Consolas"/>
              </a:rPr>
              <a:t>    │   │       │   ├── acp-file-io.js</a:t>
            </a:r>
          </a:p>
          <a:p>
            <a:pPr algn="l">
              <a:lnSpc>
                <a:spcPct val="100000"/>
              </a:lnSpc>
            </a:pPr>
            <a:r>
              <a:rPr sz="800" b="0" i="0">
                <a:solidFill>
                  <a:srgbClr val="ECE7DC"/>
                </a:solidFill>
                <a:latin typeface="Consolas"/>
              </a:rPr>
              <a:t>    │   │       │   ├── acp-flow-snapshot.js</a:t>
            </a:r>
          </a:p>
          <a:p>
            <a:pPr algn="l">
              <a:lnSpc>
                <a:spcPct val="100000"/>
              </a:lnSpc>
            </a:pPr>
            <a:r>
              <a:rPr sz="800" b="0" i="0">
                <a:solidFill>
                  <a:srgbClr val="ECE7DC"/>
                </a:solidFill>
                <a:latin typeface="Consolas"/>
              </a:rPr>
              <a:t>    │   │       │   ├── acp-globals.js</a:t>
            </a:r>
          </a:p>
          <a:p>
            <a:pPr algn="l">
              <a:lnSpc>
                <a:spcPct val="100000"/>
              </a:lnSpc>
            </a:pPr>
            <a:r>
              <a:rPr sz="800" b="0" i="0">
                <a:solidFill>
                  <a:srgbClr val="ECE7DC"/>
                </a:solidFill>
                <a:latin typeface="Consolas"/>
              </a:rPr>
              <a:t>    │   │       │   ├── acp-layout.js</a:t>
            </a:r>
          </a:p>
          <a:p>
            <a:pPr algn="l">
              <a:lnSpc>
                <a:spcPct val="100000"/>
              </a:lnSpc>
            </a:pPr>
            <a:r>
              <a:rPr sz="800" b="0" i="0">
                <a:solidFill>
                  <a:srgbClr val="ECE7DC"/>
                </a:solidFill>
                <a:latin typeface="Consolas"/>
              </a:rPr>
              <a:t>    │   │       │   ├── acp-parametrizer-dialog.js</a:t>
            </a:r>
          </a:p>
          <a:p>
            <a:pPr algn="l">
              <a:lnSpc>
                <a:spcPct val="100000"/>
              </a:lnSpc>
            </a:pPr>
            <a:r>
              <a:rPr sz="800" b="0" i="0">
                <a:solidFill>
                  <a:srgbClr val="ECE7DC"/>
                </a:solidFill>
                <a:latin typeface="Consolas"/>
              </a:rPr>
              <a:t>    │   │       │   ├── acp-running-state.js</a:t>
            </a:r>
          </a:p>
          <a:p>
            <a:pPr algn="l">
              <a:lnSpc>
                <a:spcPct val="100000"/>
              </a:lnSpc>
            </a:pPr>
            <a:r>
              <a:rPr sz="800" b="0" i="0">
                <a:solidFill>
                  <a:srgbClr val="ECE7DC"/>
                </a:solidFill>
                <a:latin typeface="Consolas"/>
              </a:rPr>
              <a:t>    │   │       │   ├── acp-session.js</a:t>
            </a:r>
          </a:p>
          <a:p>
            <a:pPr algn="l">
              <a:lnSpc>
                <a:spcPct val="100000"/>
              </a:lnSpc>
            </a:pPr>
            <a:r>
              <a:rPr sz="800" b="0" i="0">
                <a:solidFill>
                  <a:srgbClr val="ECE7DC"/>
                </a:solidFill>
                <a:latin typeface="Consolas"/>
              </a:rPr>
              <a:t>    │   │       │   ├── acp-undo-manager.js</a:t>
            </a:r>
          </a:p>
          <a:p>
            <a:pPr algn="l">
              <a:lnSpc>
                <a:spcPct val="100000"/>
              </a:lnSpc>
            </a:pPr>
            <a:r>
              <a:rPr sz="800" b="0" i="0">
                <a:solidFill>
                  <a:srgbClr val="ECE7DC"/>
                </a:solidFill>
                <a:latin typeface="Consolas"/>
              </a:rPr>
              <a:t>    │   │       │   ├── acp-validate.js</a:t>
            </a:r>
          </a:p>
          <a:p>
            <a:pPr algn="l">
              <a:lnSpc>
                <a:spcPct val="100000"/>
              </a:lnSpc>
            </a:pPr>
            <a:r>
              <a:rPr sz="800" b="0" i="0">
                <a:solidFill>
                  <a:srgbClr val="ECE7DC"/>
                </a:solidFill>
                <a:latin typeface="Consolas"/>
              </a:rPr>
              <a:t>    │   │       │   ├── agent_page_canvas.js</a:t>
            </a:r>
          </a:p>
          <a:p>
            <a:pPr algn="l">
              <a:lnSpc>
                <a:spcPct val="100000"/>
              </a:lnSpc>
            </a:pPr>
            <a:r>
              <a:rPr sz="800" b="0" i="0">
                <a:solidFill>
                  <a:srgbClr val="ECE7DC"/>
                </a:solidFill>
                <a:latin typeface="Consolas"/>
              </a:rPr>
              <a:t>    │   │       │   ├── agent_page_chat.js</a:t>
            </a:r>
          </a:p>
          <a:p>
            <a:pPr algn="l">
              <a:lnSpc>
                <a:spcPct val="100000"/>
              </a:lnSpc>
            </a:pPr>
            <a:r>
              <a:rPr sz="800" b="0" i="0">
                <a:solidFill>
                  <a:srgbClr val="ECE7DC"/>
                </a:solidFill>
                <a:latin typeface="Consolas"/>
              </a:rPr>
              <a:t>    │   │       │   ├── agent_page_context.js</a:t>
            </a:r>
          </a:p>
          <a:p>
            <a:pPr algn="l">
              <a:lnSpc>
                <a:spcPct val="100000"/>
              </a:lnSpc>
            </a:pPr>
            <a:r>
              <a:rPr sz="800" b="0" i="0">
                <a:solidFill>
                  <a:srgbClr val="ECE7DC"/>
                </a:solidFill>
                <a:latin typeface="Consolas"/>
              </a:rPr>
              <a:t>    │   │       │   ├── agent_page_dialogs.js</a:t>
            </a:r>
          </a:p>
          <a:p>
            <a:pPr algn="l">
              <a:lnSpc>
                <a:spcPct val="100000"/>
              </a:lnSpc>
            </a:pPr>
            <a:r>
              <a:rPr sz="800" b="0" i="0">
                <a:solidFill>
                  <a:srgbClr val="ECE7DC"/>
                </a:solidFill>
                <a:latin typeface="Consolas"/>
              </a:rPr>
              <a:t>    │   │       │   ├── agent_page_editing.js</a:t>
            </a:r>
          </a:p>
          <a:p>
            <a:pPr algn="l">
              <a:lnSpc>
                <a:spcPct val="100000"/>
              </a:lnSpc>
            </a:pPr>
            <a:r>
              <a:rPr sz="800" b="0" i="0">
                <a:solidFill>
                  <a:srgbClr val="ECE7DC"/>
                </a:solidFill>
                <a:latin typeface="Consolas"/>
              </a:rPr>
              <a:t>    │   │       │   ├── agent_page_init.js</a:t>
            </a:r>
          </a:p>
          <a:p>
            <a:pPr algn="l">
              <a:lnSpc>
                <a:spcPct val="100000"/>
              </a:lnSpc>
            </a:pPr>
            <a:r>
              <a:rPr sz="800" b="0" i="0">
                <a:solidFill>
                  <a:srgbClr val="ECE7DC"/>
                </a:solidFill>
                <a:latin typeface="Consolas"/>
              </a:rPr>
              <a:t>    │   │       │   ├── agent_page_layout.js</a:t>
            </a:r>
          </a:p>
          <a:p>
            <a:pPr algn="l">
              <a:lnSpc>
                <a:spcPct val="100000"/>
              </a:lnSpc>
            </a:pPr>
            <a:r>
              <a:rPr sz="800" b="0" i="0">
                <a:solidFill>
                  <a:srgbClr val="ECE7DC"/>
                </a:solidFill>
                <a:latin typeface="Consolas"/>
              </a:rPr>
              <a:t>    │   │       │   ├── agent_page_markdown.js</a:t>
            </a:r>
          </a:p>
          <a:p>
            <a:pPr algn="l">
              <a:lnSpc>
                <a:spcPct val="100000"/>
              </a:lnSpc>
            </a:pPr>
            <a:r>
              <a:rPr sz="800" b="0" i="0">
                <a:solidFill>
                  <a:srgbClr val="ECE7DC"/>
                </a:solidFill>
                <a:latin typeface="Consolas"/>
              </a:rPr>
              <a:t>    │   │       │   ├── agent_page_pdf.js</a:t>
            </a:r>
          </a:p>
          <a:p>
            <a:pPr algn="l">
              <a:lnSpc>
                <a:spcPct val="100000"/>
              </a:lnSpc>
            </a:pPr>
            <a:r>
              <a:rPr sz="800" b="0" i="0">
                <a:solidFill>
                  <a:srgbClr val="ECE7DC"/>
                </a:solidFill>
                <a:latin typeface="Consolas"/>
              </a:rPr>
              <a:t>    │   │       │   ├── agent_page_state.js</a:t>
            </a:r>
          </a:p>
          <a:p>
            <a:pPr algn="l">
              <a:lnSpc>
                <a:spcPct val="100000"/>
              </a:lnSpc>
            </a:pPr>
            <a:r>
              <a:rPr sz="800" b="0" i="0">
                <a:solidFill>
                  <a:srgbClr val="ECE7DC"/>
                </a:solidFill>
                <a:latin typeface="Consolas"/>
              </a:rPr>
              <a:t>    │   │       │   ├── agent_page_ui.js</a:t>
            </a:r>
          </a:p>
          <a:p>
            <a:pPr algn="l">
              <a:lnSpc>
                <a:spcPct val="100000"/>
              </a:lnSpc>
            </a:pPr>
            <a:r>
              <a:rPr sz="800" b="0" i="0">
                <a:solidFill>
                  <a:srgbClr val="ECE7DC"/>
                </a:solidFill>
                <a:latin typeface="Consolas"/>
              </a:rPr>
              <a:t>    │   │       │   ├── agentic_control_panel.js</a:t>
            </a:r>
          </a:p>
        </p:txBody>
      </p:sp>
      <p:cxnSp>
        <p:nvCxnSpPr>
          <p:cNvPr id="8" name="Connector 7"/>
          <p:cNvCxnSpPr/>
          <p:nvPr/>
        </p:nvCxnSpPr>
        <p:spPr>
          <a:xfrm>
            <a:off x="566928" y="6373368"/>
            <a:ext cx="11057839" cy="0"/>
          </a:xfrm>
          <a:prstGeom prst="line">
            <a:avLst/>
          </a:prstGeom>
          <a:ln w="7620">
            <a:solidFill>
              <a:srgbClr val="2A3A40"/>
            </a:solidFill>
          </a:ln>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566928" y="6419088"/>
            <a:ext cx="6858000" cy="274320"/>
          </a:xfrm>
          <a:prstGeom prst="rect">
            <a:avLst/>
          </a:prstGeom>
          <a:noFill/>
        </p:spPr>
        <p:txBody>
          <a:bodyPr wrap="square" lIns="45720" rIns="45720" tIns="27432" bIns="27432" anchor="t">
            <a:noAutofit/>
          </a:bodyPr>
          <a:lstStyle/>
          <a:p>
            <a:pPr algn="l">
              <a:lnSpc>
                <a:spcPct val="100000"/>
              </a:lnSpc>
            </a:pPr>
            <a:r>
              <a:rPr sz="850" b="0" i="0" spc="120">
                <a:solidFill>
                  <a:srgbClr val="A7B2B0"/>
                </a:solidFill>
                <a:latin typeface="Segoe UI Semibold"/>
              </a:rPr>
              <a:t>TLAMATINI  ·  APÉNDICE A · ÁRBOL DE ARCHIVOS</a:t>
            </a:r>
          </a:p>
        </p:txBody>
      </p:sp>
      <p:sp>
        <p:nvSpPr>
          <p:cNvPr id="10" name="TextBox 9"/>
          <p:cNvSpPr txBox="1"/>
          <p:nvPr/>
        </p:nvSpPr>
        <p:spPr>
          <a:xfrm>
            <a:off x="8698687" y="6419088"/>
            <a:ext cx="2926080" cy="274320"/>
          </a:xfrm>
          <a:prstGeom prst="rect">
            <a:avLst/>
          </a:prstGeom>
          <a:noFill/>
        </p:spPr>
        <p:txBody>
          <a:bodyPr wrap="square" lIns="45720" rIns="45720" tIns="27432" bIns="27432" anchor="t">
            <a:noAutofit/>
          </a:bodyPr>
          <a:lstStyle/>
          <a:p>
            <a:pPr algn="r">
              <a:lnSpc>
                <a:spcPct val="100000"/>
              </a:lnSpc>
            </a:pPr>
            <a:r>
              <a:rPr sz="850" b="0" i="0" spc="100">
                <a:solidFill>
                  <a:srgbClr val="A7B2B0"/>
                </a:solidFill>
                <a:latin typeface="Segoe UI Semibold"/>
              </a:rPr>
              <a:t>v1.91.1   ·   189</a:t>
            </a:r>
          </a:p>
        </p:txBody>
      </p:sp>
    </p:spTree>
  </p:cSld>
  <p:clrMapOvr>
    <a:masterClrMapping/>
  </p:clrMapOvr>
</p:sld>
</file>

<file path=ppt/slides/slide19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appendix.png"/>
          <p:cNvPicPr>
            <a:picLocks noChangeAspect="1"/>
          </p:cNvPicPr>
          <p:nvPr/>
        </p:nvPicPr>
        <p:blipFill>
          <a:blip r:embed="rId2"/>
          <a:stretch>
            <a:fillRect/>
          </a:stretch>
        </p:blipFill>
        <p:spPr>
          <a:xfrm>
            <a:off x="0" y="0"/>
            <a:ext cx="12191695" cy="6858000"/>
          </a:xfrm>
          <a:prstGeom prst="rect">
            <a:avLst/>
          </a:prstGeom>
        </p:spPr>
      </p:pic>
      <p:sp>
        <p:nvSpPr>
          <p:cNvPr id="3" name="TextBox 2"/>
          <p:cNvSpPr txBox="1"/>
          <p:nvPr/>
        </p:nvSpPr>
        <p:spPr>
          <a:xfrm>
            <a:off x="566928" y="384048"/>
            <a:ext cx="8686800" cy="329184"/>
          </a:xfrm>
          <a:prstGeom prst="rect">
            <a:avLst/>
          </a:prstGeom>
          <a:noFill/>
        </p:spPr>
        <p:txBody>
          <a:bodyPr wrap="square" lIns="45720" rIns="45720" tIns="27432" bIns="27432" anchor="t">
            <a:noAutofit/>
          </a:bodyPr>
          <a:lstStyle/>
          <a:p>
            <a:pPr algn="l">
              <a:lnSpc>
                <a:spcPct val="100000"/>
              </a:lnSpc>
            </a:pPr>
            <a:r>
              <a:rPr sz="1100" b="0" i="0" spc="200">
                <a:solidFill>
                  <a:srgbClr val="C98457"/>
                </a:solidFill>
                <a:latin typeface="Segoe UI Semibold"/>
              </a:rPr>
              <a:t>APÉNDICE A  ·  ÁRBOL DE ARCHIVOS DE LA APLICACIÓN  ·  16 / 20</a:t>
            </a:r>
          </a:p>
        </p:txBody>
      </p:sp>
      <p:sp>
        <p:nvSpPr>
          <p:cNvPr id="4" name="TextBox 3"/>
          <p:cNvSpPr txBox="1"/>
          <p:nvPr/>
        </p:nvSpPr>
        <p:spPr>
          <a:xfrm>
            <a:off x="566928" y="731520"/>
            <a:ext cx="11057839" cy="384048"/>
          </a:xfrm>
          <a:prstGeom prst="rect">
            <a:avLst/>
          </a:prstGeom>
          <a:noFill/>
        </p:spPr>
        <p:txBody>
          <a:bodyPr wrap="square" lIns="45720" rIns="45720" tIns="27432" bIns="27432" anchor="t">
            <a:noAutofit/>
          </a:bodyPr>
          <a:lstStyle/>
          <a:p>
            <a:pPr algn="l">
              <a:lnSpc>
                <a:spcPct val="100000"/>
              </a:lnSpc>
            </a:pPr>
            <a:r>
              <a:rPr sz="1300" b="0" i="0">
                <a:solidFill>
                  <a:srgbClr val="A7B2B0"/>
                </a:solidFill>
                <a:latin typeface="Segoe UI"/>
              </a:rPr>
              <a:t>1,898 archivos listados en el commit 21b0a5c; 221 archivos de la historia de la base de datos resumidos.</a:t>
            </a:r>
          </a:p>
        </p:txBody>
      </p:sp>
      <p:sp>
        <p:nvSpPr>
          <p:cNvPr id="5" name="TextBox 4"/>
          <p:cNvSpPr txBox="1"/>
          <p:nvPr/>
        </p:nvSpPr>
        <p:spPr>
          <a:xfrm>
            <a:off x="566928" y="1170432"/>
            <a:ext cx="3515258" cy="5084064"/>
          </a:xfrm>
          <a:prstGeom prst="rect">
            <a:avLst/>
          </a:prstGeom>
          <a:noFill/>
        </p:spPr>
        <p:txBody>
          <a:bodyPr wrap="none" lIns="45720" rIns="45720" tIns="27432" bIns="27432" anchor="t">
            <a:noAutofit/>
          </a:bodyPr>
          <a:lstStyle/>
          <a:p>
            <a:pPr algn="l">
              <a:lnSpc>
                <a:spcPct val="100000"/>
              </a:lnSpc>
            </a:pPr>
            <a:r>
              <a:rPr sz="800" b="0" i="0">
                <a:solidFill>
                  <a:srgbClr val="ECE7DC"/>
                </a:solidFill>
                <a:latin typeface="Consolas"/>
              </a:rPr>
              <a:t>    │   │       │   ├── avatar.js</a:t>
            </a:r>
          </a:p>
          <a:p>
            <a:pPr algn="l">
              <a:lnSpc>
                <a:spcPct val="100000"/>
              </a:lnSpc>
            </a:pPr>
            <a:r>
              <a:rPr sz="800" b="0" i="0">
                <a:solidFill>
                  <a:srgbClr val="ECE7DC"/>
                </a:solidFill>
                <a:latin typeface="Consolas"/>
              </a:rPr>
              <a:t>    │   │       │   ├── avatar_presence.js</a:t>
            </a:r>
          </a:p>
          <a:p>
            <a:pPr algn="l">
              <a:lnSpc>
                <a:spcPct val="100000"/>
              </a:lnSpc>
            </a:pPr>
            <a:r>
              <a:rPr sz="800" b="0" i="0">
                <a:solidFill>
                  <a:srgbClr val="ECE7DC"/>
                </a:solidFill>
                <a:latin typeface="Consolas"/>
              </a:rPr>
              <a:t>    │   │       │   ├── avatar_size.js</a:t>
            </a:r>
          </a:p>
          <a:p>
            <a:pPr algn="l">
              <a:lnSpc>
                <a:spcPct val="100000"/>
              </a:lnSpc>
            </a:pPr>
            <a:r>
              <a:rPr sz="800" b="0" i="0">
                <a:solidFill>
                  <a:srgbClr val="ECE7DC"/>
                </a:solidFill>
                <a:latin typeface="Consolas"/>
              </a:rPr>
              <a:t>    │   │       │   ├── canvas_item_dialog.js</a:t>
            </a:r>
          </a:p>
          <a:p>
            <a:pPr algn="l">
              <a:lnSpc>
                <a:spcPct val="100000"/>
              </a:lnSpc>
            </a:pPr>
            <a:r>
              <a:rPr sz="800" b="0" i="0">
                <a:solidFill>
                  <a:srgbClr val="ECE7DC"/>
                </a:solidFill>
                <a:latin typeface="Consolas"/>
              </a:rPr>
              <a:t>    │   │       │   ├── chat_dictation.js</a:t>
            </a:r>
          </a:p>
          <a:p>
            <a:pPr algn="l">
              <a:lnSpc>
                <a:spcPct val="100000"/>
              </a:lnSpc>
            </a:pPr>
            <a:r>
              <a:rPr sz="800" b="0" i="0">
                <a:solidFill>
                  <a:srgbClr val="ECE7DC"/>
                </a:solidFill>
                <a:latin typeface="Consolas"/>
              </a:rPr>
              <a:t>    │   │       │   ├── chat_image_paste.js</a:t>
            </a:r>
          </a:p>
          <a:p>
            <a:pPr algn="l">
              <a:lnSpc>
                <a:spcPct val="100000"/>
              </a:lnSpc>
            </a:pPr>
            <a:r>
              <a:rPr sz="800" b="0" i="0">
                <a:solidFill>
                  <a:srgbClr val="ECE7DC"/>
                </a:solidFill>
                <a:latin typeface="Consolas"/>
              </a:rPr>
              <a:t>    │   │       │   ├── chat_page_runtime_poller.js</a:t>
            </a:r>
          </a:p>
          <a:p>
            <a:pPr algn="l">
              <a:lnSpc>
                <a:spcPct val="100000"/>
              </a:lnSpc>
            </a:pPr>
            <a:r>
              <a:rPr sz="800" b="0" i="0">
                <a:solidFill>
                  <a:srgbClr val="ECE7DC"/>
                </a:solidFill>
                <a:latin typeface="Consolas"/>
              </a:rPr>
              <a:t>    │   │       │   ├── chat_table_contrast.js</a:t>
            </a:r>
          </a:p>
          <a:p>
            <a:pPr algn="l">
              <a:lnSpc>
                <a:spcPct val="100000"/>
              </a:lnSpc>
            </a:pPr>
            <a:r>
              <a:rPr sz="800" b="0" i="0">
                <a:solidFill>
                  <a:srgbClr val="ECE7DC"/>
                </a:solidFill>
                <a:latin typeface="Consolas"/>
              </a:rPr>
              <a:t>    │   │       │   ├── checkbox_bulk_toggle.js</a:t>
            </a:r>
          </a:p>
          <a:p>
            <a:pPr algn="l">
              <a:lnSpc>
                <a:spcPct val="100000"/>
              </a:lnSpc>
            </a:pPr>
            <a:r>
              <a:rPr sz="800" b="0" i="0">
                <a:solidFill>
                  <a:srgbClr val="ECE7DC"/>
                </a:solidFill>
                <a:latin typeface="Consolas"/>
              </a:rPr>
              <a:t>    │   │       │   ├── compact_costs.js</a:t>
            </a:r>
          </a:p>
          <a:p>
            <a:pPr algn="l">
              <a:lnSpc>
                <a:spcPct val="100000"/>
              </a:lnSpc>
            </a:pPr>
            <a:r>
              <a:rPr sz="800" b="0" i="0">
                <a:solidFill>
                  <a:srgbClr val="ECE7DC"/>
                </a:solidFill>
                <a:latin typeface="Consolas"/>
              </a:rPr>
              <a:t>    │   │       │   ├── contacts_dialog.js</a:t>
            </a:r>
          </a:p>
          <a:p>
            <a:pPr algn="l">
              <a:lnSpc>
                <a:spcPct val="100000"/>
              </a:lnSpc>
            </a:pPr>
            <a:r>
              <a:rPr sz="800" b="0" i="0">
                <a:solidFill>
                  <a:srgbClr val="ECE7DC"/>
                </a:solidFill>
                <a:latin typeface="Consolas"/>
              </a:rPr>
              <a:t>    │   │       │   ├── context_gauge.js</a:t>
            </a:r>
          </a:p>
          <a:p>
            <a:pPr algn="l">
              <a:lnSpc>
                <a:spcPct val="100000"/>
              </a:lnSpc>
            </a:pPr>
            <a:r>
              <a:rPr sz="800" b="0" i="0">
                <a:solidFill>
                  <a:srgbClr val="ECE7DC"/>
                </a:solidFill>
                <a:latin typeface="Consolas"/>
              </a:rPr>
              <a:t>    │   │       │   ├── contextual_menus.js</a:t>
            </a:r>
          </a:p>
          <a:p>
            <a:pPr algn="l">
              <a:lnSpc>
                <a:spcPct val="100000"/>
              </a:lnSpc>
            </a:pPr>
            <a:r>
              <a:rPr sz="800" b="0" i="0">
                <a:solidFill>
                  <a:srgbClr val="ECE7DC"/>
                </a:solidFill>
                <a:latin typeface="Consolas"/>
              </a:rPr>
              <a:t>    │   │       │   ├── dialog_policy.js</a:t>
            </a:r>
          </a:p>
          <a:p>
            <a:pPr algn="l">
              <a:lnSpc>
                <a:spcPct val="100000"/>
              </a:lnSpc>
            </a:pPr>
            <a:r>
              <a:rPr sz="800" b="0" i="0">
                <a:solidFill>
                  <a:srgbClr val="ECE7DC"/>
                </a:solidFill>
                <a:latin typeface="Consolas"/>
              </a:rPr>
              <a:t>    │   │       │   ├── external_mcps_dialog.js</a:t>
            </a:r>
          </a:p>
          <a:p>
            <a:pPr algn="l">
              <a:lnSpc>
                <a:spcPct val="100000"/>
              </a:lnSpc>
            </a:pPr>
            <a:r>
              <a:rPr sz="800" b="0" i="0">
                <a:solidFill>
                  <a:srgbClr val="ECE7DC"/>
                </a:solidFill>
                <a:latin typeface="Consolas"/>
              </a:rPr>
              <a:t>    │   │       │   ├── file_drop_router.js</a:t>
            </a:r>
          </a:p>
          <a:p>
            <a:pPr algn="l">
              <a:lnSpc>
                <a:spcPct val="100000"/>
              </a:lnSpc>
            </a:pPr>
            <a:r>
              <a:rPr sz="800" b="0" i="0">
                <a:solidFill>
                  <a:srgbClr val="ECE7DC"/>
                </a:solidFill>
                <a:latin typeface="Consolas"/>
              </a:rPr>
              <a:t>    │   │       │   ├── flow-canvas-interactions.js</a:t>
            </a:r>
          </a:p>
          <a:p>
            <a:pPr algn="l">
              <a:lnSpc>
                <a:spcPct val="100000"/>
              </a:lnSpc>
            </a:pPr>
            <a:r>
              <a:rPr sz="800" b="0" i="0">
                <a:solidFill>
                  <a:srgbClr val="ECE7DC"/>
                </a:solidFill>
                <a:latin typeface="Consolas"/>
              </a:rPr>
              <a:t>    │   │       │   ├── interaction_settings.js</a:t>
            </a:r>
          </a:p>
          <a:p>
            <a:pPr algn="l">
              <a:lnSpc>
                <a:spcPct val="100000"/>
              </a:lnSpc>
            </a:pPr>
            <a:r>
              <a:rPr sz="800" b="0" i="0">
                <a:solidFill>
                  <a:srgbClr val="ECE7DC"/>
                </a:solidFill>
                <a:latin typeface="Consolas"/>
              </a:rPr>
              <a:t>    │   │       │   ├── interaction_speech.js</a:t>
            </a:r>
          </a:p>
          <a:p>
            <a:pPr algn="l">
              <a:lnSpc>
                <a:spcPct val="100000"/>
              </a:lnSpc>
            </a:pPr>
            <a:r>
              <a:rPr sz="800" b="0" i="0">
                <a:solidFill>
                  <a:srgbClr val="ECE7DC"/>
                </a:solidFill>
                <a:latin typeface="Consolas"/>
              </a:rPr>
              <a:t>    │   │       │   ├── mic_settings.js</a:t>
            </a:r>
          </a:p>
          <a:p>
            <a:pPr algn="l">
              <a:lnSpc>
                <a:spcPct val="100000"/>
              </a:lnSpc>
            </a:pPr>
            <a:r>
              <a:rPr sz="800" b="0" i="0">
                <a:solidFill>
                  <a:srgbClr val="ECE7DC"/>
                </a:solidFill>
                <a:latin typeface="Consolas"/>
              </a:rPr>
              <a:t>    │   │       │   ├── model_brain_tuning.js</a:t>
            </a:r>
          </a:p>
          <a:p>
            <a:pPr algn="l">
              <a:lnSpc>
                <a:spcPct val="100000"/>
              </a:lnSpc>
            </a:pPr>
            <a:r>
              <a:rPr sz="800" b="0" i="0">
                <a:solidFill>
                  <a:srgbClr val="ECE7DC"/>
                </a:solidFill>
                <a:latin typeface="Consolas"/>
              </a:rPr>
              <a:t>    │   │       │   ├── model_capacity.js</a:t>
            </a:r>
          </a:p>
          <a:p>
            <a:pPr algn="l">
              <a:lnSpc>
                <a:spcPct val="100000"/>
              </a:lnSpc>
            </a:pPr>
            <a:r>
              <a:rPr sz="800" b="0" i="0">
                <a:solidFill>
                  <a:srgbClr val="ECE7DC"/>
                </a:solidFill>
                <a:latin typeface="Consolas"/>
              </a:rPr>
              <a:t>    │   │       │   ├── pdf_canvas_viewer.js</a:t>
            </a:r>
          </a:p>
          <a:p>
            <a:pPr algn="l">
              <a:lnSpc>
                <a:spcPct val="100000"/>
              </a:lnSpc>
            </a:pPr>
            <a:r>
              <a:rPr sz="800" b="0" i="0">
                <a:solidFill>
                  <a:srgbClr val="ECE7DC"/>
                </a:solidFill>
                <a:latin typeface="Consolas"/>
              </a:rPr>
              <a:t>    │   │       │   ├── pdf_context_progress.js</a:t>
            </a:r>
          </a:p>
          <a:p>
            <a:pPr algn="l">
              <a:lnSpc>
                <a:spcPct val="100000"/>
              </a:lnSpc>
            </a:pPr>
            <a:r>
              <a:rPr sz="800" b="0" i="0">
                <a:solidFill>
                  <a:srgbClr val="ECE7DC"/>
                </a:solidFill>
                <a:latin typeface="Consolas"/>
              </a:rPr>
              <a:t>    │   │       │   ├── prompt-flow-panel-model.js</a:t>
            </a:r>
          </a:p>
          <a:p>
            <a:pPr algn="l">
              <a:lnSpc>
                <a:spcPct val="100000"/>
              </a:lnSpc>
            </a:pPr>
            <a:r>
              <a:rPr sz="800" b="0" i="0">
                <a:solidFill>
                  <a:srgbClr val="ECE7DC"/>
                </a:solidFill>
                <a:latin typeface="Consolas"/>
              </a:rPr>
              <a:t>    │   │       │   ├── prompt-flow-panel.js</a:t>
            </a:r>
          </a:p>
          <a:p>
            <a:pPr algn="l">
              <a:lnSpc>
                <a:spcPct val="100000"/>
              </a:lnSpc>
            </a:pPr>
            <a:r>
              <a:rPr sz="800" b="0" i="0">
                <a:solidFill>
                  <a:srgbClr val="ECE7DC"/>
                </a:solidFill>
                <a:latin typeface="Consolas"/>
              </a:rPr>
              <a:t>    │   │       │   ├── release_notes_renderer.js</a:t>
            </a:r>
          </a:p>
          <a:p>
            <a:pPr algn="l">
              <a:lnSpc>
                <a:spcPct val="100000"/>
              </a:lnSpc>
            </a:pPr>
            <a:r>
              <a:rPr sz="800" b="0" i="0">
                <a:solidFill>
                  <a:srgbClr val="ECE7DC"/>
                </a:solidFill>
                <a:latin typeface="Consolas"/>
              </a:rPr>
              <a:t>    │   │       │   ├── self_modify_switch.js</a:t>
            </a:r>
          </a:p>
          <a:p>
            <a:pPr algn="l">
              <a:lnSpc>
                <a:spcPct val="100000"/>
              </a:lnSpc>
            </a:pPr>
            <a:r>
              <a:rPr sz="800" b="0" i="0">
                <a:solidFill>
                  <a:srgbClr val="ECE7DC"/>
                </a:solidFill>
                <a:latin typeface="Consolas"/>
              </a:rPr>
              <a:t>    │   │       │   ├── shared-runtime-dialogs.js</a:t>
            </a:r>
          </a:p>
          <a:p>
            <a:pPr algn="l">
              <a:lnSpc>
                <a:spcPct val="100000"/>
              </a:lnSpc>
            </a:pPr>
            <a:r>
              <a:rPr sz="800" b="0" i="0">
                <a:solidFill>
                  <a:srgbClr val="ECE7DC"/>
                </a:solidFill>
                <a:latin typeface="Consolas"/>
              </a:rPr>
              <a:t>    │   │       │   ├── skills_dialog.js</a:t>
            </a:r>
          </a:p>
          <a:p>
            <a:pPr algn="l">
              <a:lnSpc>
                <a:spcPct val="100000"/>
              </a:lnSpc>
            </a:pPr>
            <a:r>
              <a:rPr sz="800" b="0" i="0">
                <a:solidFill>
                  <a:srgbClr val="ECE7DC"/>
                </a:solidFill>
                <a:latin typeface="Consolas"/>
              </a:rPr>
              <a:t>    │   │       │   ├── terminater_dock.js</a:t>
            </a:r>
          </a:p>
          <a:p>
            <a:pPr algn="l">
              <a:lnSpc>
                <a:spcPct val="100000"/>
              </a:lnSpc>
            </a:pPr>
            <a:r>
              <a:rPr sz="800" b="0" i="0">
                <a:solidFill>
                  <a:srgbClr val="ECE7DC"/>
                </a:solidFill>
                <a:latin typeface="Consolas"/>
              </a:rPr>
              <a:t>    │   │       │   ├── tools_dialog.js</a:t>
            </a:r>
          </a:p>
          <a:p>
            <a:pPr algn="l">
              <a:lnSpc>
                <a:spcPct val="100000"/>
              </a:lnSpc>
            </a:pPr>
            <a:r>
              <a:rPr sz="800" b="0" i="0">
                <a:solidFill>
                  <a:srgbClr val="ECE7DC"/>
                </a:solidFill>
                <a:latin typeface="Consolas"/>
              </a:rPr>
              <a:t>    │   │       │   ├── ui_splitters.js</a:t>
            </a:r>
          </a:p>
          <a:p>
            <a:pPr algn="l">
              <a:lnSpc>
                <a:spcPct val="100000"/>
              </a:lnSpc>
            </a:pPr>
            <a:r>
              <a:rPr sz="800" b="0" i="0">
                <a:solidFill>
                  <a:srgbClr val="ECE7DC"/>
                </a:solidFill>
                <a:latin typeface="Consolas"/>
              </a:rPr>
              <a:t>    │   │       │   ├── usage_dashboard.js</a:t>
            </a:r>
          </a:p>
          <a:p>
            <a:pPr algn="l">
              <a:lnSpc>
                <a:spcPct val="100000"/>
              </a:lnSpc>
            </a:pPr>
            <a:r>
              <a:rPr sz="800" b="0" i="0">
                <a:solidFill>
                  <a:srgbClr val="ECE7DC"/>
                </a:solidFill>
                <a:latin typeface="Consolas"/>
              </a:rPr>
              <a:t>    │   │       │   ├── voice_runtime.js</a:t>
            </a:r>
          </a:p>
          <a:p>
            <a:pPr algn="l">
              <a:lnSpc>
                <a:spcPct val="100000"/>
              </a:lnSpc>
            </a:pPr>
            <a:r>
              <a:rPr sz="800" b="0" i="0">
                <a:solidFill>
                  <a:srgbClr val="ECE7DC"/>
                </a:solidFill>
                <a:latin typeface="Consolas"/>
              </a:rPr>
              <a:t>    │   │       │   └── welcome_enter_default.js</a:t>
            </a:r>
          </a:p>
          <a:p>
            <a:pPr algn="l">
              <a:lnSpc>
                <a:spcPct val="100000"/>
              </a:lnSpc>
            </a:pPr>
            <a:r>
              <a:rPr sz="800" b="0" i="0">
                <a:solidFill>
                  <a:srgbClr val="3BBE93"/>
                </a:solidFill>
                <a:latin typeface="Consolas"/>
              </a:rPr>
              <a:t>    │   │       ├── pdf/</a:t>
            </a:r>
          </a:p>
          <a:p>
            <a:pPr algn="l">
              <a:lnSpc>
                <a:spcPct val="100000"/>
              </a:lnSpc>
            </a:pPr>
            <a:r>
              <a:rPr sz="800" b="0" i="0">
                <a:solidFill>
                  <a:srgbClr val="ECE7DC"/>
                </a:solidFill>
                <a:latin typeface="Consolas"/>
              </a:rPr>
              <a:t>    │   │       │   └── canvas.html</a:t>
            </a:r>
          </a:p>
          <a:p>
            <a:pPr algn="l">
              <a:lnSpc>
                <a:spcPct val="100000"/>
              </a:lnSpc>
            </a:pPr>
            <a:r>
              <a:rPr sz="800" b="0" i="0">
                <a:solidFill>
                  <a:srgbClr val="3BBE93"/>
                </a:solidFill>
                <a:latin typeface="Consolas"/>
              </a:rPr>
              <a:t>    │   │       ├── sounds/</a:t>
            </a:r>
          </a:p>
          <a:p>
            <a:pPr algn="l">
              <a:lnSpc>
                <a:spcPct val="100000"/>
              </a:lnSpc>
            </a:pPr>
            <a:r>
              <a:rPr sz="800" b="0" i="0">
                <a:solidFill>
                  <a:srgbClr val="ECE7DC"/>
                </a:solidFill>
                <a:latin typeface="Consolas"/>
              </a:rPr>
              <a:t>    │   │       │   ├── hypervisor_alert.wav</a:t>
            </a:r>
          </a:p>
          <a:p>
            <a:pPr algn="l">
              <a:lnSpc>
                <a:spcPct val="100000"/>
              </a:lnSpc>
            </a:pPr>
            <a:r>
              <a:rPr sz="800" b="0" i="0">
                <a:solidFill>
                  <a:srgbClr val="ECE7DC"/>
                </a:solidFill>
                <a:latin typeface="Consolas"/>
              </a:rPr>
              <a:t>    │   │       │   └── notification.wav</a:t>
            </a:r>
          </a:p>
        </p:txBody>
      </p:sp>
      <p:sp>
        <p:nvSpPr>
          <p:cNvPr id="6" name="TextBox 5"/>
          <p:cNvSpPr txBox="1"/>
          <p:nvPr/>
        </p:nvSpPr>
        <p:spPr>
          <a:xfrm>
            <a:off x="4338218" y="1170432"/>
            <a:ext cx="3515258" cy="5084064"/>
          </a:xfrm>
          <a:prstGeom prst="rect">
            <a:avLst/>
          </a:prstGeom>
          <a:noFill/>
        </p:spPr>
        <p:txBody>
          <a:bodyPr wrap="none" lIns="45720" rIns="45720" tIns="27432" bIns="27432" anchor="t">
            <a:noAutofit/>
          </a:bodyPr>
          <a:lstStyle/>
          <a:p>
            <a:pPr algn="l">
              <a:lnSpc>
                <a:spcPct val="100000"/>
              </a:lnSpc>
            </a:pPr>
            <a:r>
              <a:rPr sz="800" b="0" i="0">
                <a:solidFill>
                  <a:srgbClr val="3BBE93"/>
                </a:solidFill>
                <a:latin typeface="Consolas"/>
              </a:rPr>
              <a:t>    │   │       ├── vendor/</a:t>
            </a:r>
          </a:p>
          <a:p>
            <a:pPr algn="l">
              <a:lnSpc>
                <a:spcPct val="100000"/>
              </a:lnSpc>
            </a:pPr>
            <a:r>
              <a:rPr sz="800" b="0" i="0">
                <a:solidFill>
                  <a:srgbClr val="3BBE93"/>
                </a:solidFill>
                <a:latin typeface="Consolas"/>
              </a:rPr>
              <a:t>    │   │       │   ├── canvas-editor/</a:t>
            </a:r>
          </a:p>
          <a:p>
            <a:pPr algn="l">
              <a:lnSpc>
                <a:spcPct val="100000"/>
              </a:lnSpc>
            </a:pPr>
            <a:r>
              <a:rPr sz="800" b="0" i="0">
                <a:solidFill>
                  <a:srgbClr val="ECE7DC"/>
                </a:solidFill>
                <a:latin typeface="Consolas"/>
              </a:rPr>
              <a:t>    │   │       │   │   ├── editor.js</a:t>
            </a:r>
          </a:p>
          <a:p>
            <a:pPr algn="l">
              <a:lnSpc>
                <a:spcPct val="100000"/>
              </a:lnSpc>
            </a:pPr>
            <a:r>
              <a:rPr sz="800" b="0" i="0">
                <a:solidFill>
                  <a:srgbClr val="ECE7DC"/>
                </a:solidFill>
                <a:latin typeface="Consolas"/>
              </a:rPr>
              <a:t>    │   │       │   │   ├── LICENSES.txt</a:t>
            </a:r>
          </a:p>
          <a:p>
            <a:pPr algn="l">
              <a:lnSpc>
                <a:spcPct val="100000"/>
              </a:lnSpc>
            </a:pPr>
            <a:r>
              <a:rPr sz="800" b="0" i="0">
                <a:solidFill>
                  <a:srgbClr val="ECE7DC"/>
                </a:solidFill>
                <a:latin typeface="Consolas"/>
              </a:rPr>
              <a:t>    │   │       │   │   └── manifest.json</a:t>
            </a:r>
          </a:p>
          <a:p>
            <a:pPr algn="l">
              <a:lnSpc>
                <a:spcPct val="100000"/>
              </a:lnSpc>
            </a:pPr>
            <a:r>
              <a:rPr sz="800" b="0" i="0">
                <a:solidFill>
                  <a:srgbClr val="3BBE93"/>
                </a:solidFill>
                <a:latin typeface="Consolas"/>
              </a:rPr>
              <a:t>    │   │       │   ├── frontend/</a:t>
            </a:r>
          </a:p>
          <a:p>
            <a:pPr algn="l">
              <a:lnSpc>
                <a:spcPct val="100000"/>
              </a:lnSpc>
            </a:pPr>
            <a:r>
              <a:rPr sz="800" b="0" i="0">
                <a:solidFill>
                  <a:srgbClr val="ECE7DC"/>
                </a:solidFill>
                <a:latin typeface="Consolas"/>
              </a:rPr>
              <a:t>    │   │       │   │   ├── manifest.json</a:t>
            </a:r>
          </a:p>
          <a:p>
            <a:pPr algn="l">
              <a:lnSpc>
                <a:spcPct val="100000"/>
              </a:lnSpc>
            </a:pPr>
            <a:r>
              <a:rPr sz="800" b="0" i="0">
                <a:solidFill>
                  <a:srgbClr val="3BBE93"/>
                </a:solidFill>
                <a:latin typeface="Consolas"/>
              </a:rPr>
              <a:t>    │   │       │   │   ├── bootstrap/</a:t>
            </a:r>
          </a:p>
          <a:p>
            <a:pPr algn="l">
              <a:lnSpc>
                <a:spcPct val="100000"/>
              </a:lnSpc>
            </a:pPr>
            <a:r>
              <a:rPr sz="800" b="0" i="0">
                <a:solidFill>
                  <a:srgbClr val="ECE7DC"/>
                </a:solidFill>
                <a:latin typeface="Consolas"/>
              </a:rPr>
              <a:t>    │   │       │   │   │   ├── LICENSE</a:t>
            </a:r>
          </a:p>
          <a:p>
            <a:pPr algn="l">
              <a:lnSpc>
                <a:spcPct val="100000"/>
              </a:lnSpc>
            </a:pPr>
            <a:r>
              <a:rPr sz="800" b="0" i="0">
                <a:solidFill>
                  <a:srgbClr val="3BBE93"/>
                </a:solidFill>
                <a:latin typeface="Consolas"/>
              </a:rPr>
              <a:t>    │   │       │   │   │   └── dist/</a:t>
            </a:r>
          </a:p>
          <a:p>
            <a:pPr algn="l">
              <a:lnSpc>
                <a:spcPct val="100000"/>
              </a:lnSpc>
            </a:pPr>
            <a:r>
              <a:rPr sz="800" b="0" i="0">
                <a:solidFill>
                  <a:srgbClr val="3BBE93"/>
                </a:solidFill>
                <a:latin typeface="Consolas"/>
              </a:rPr>
              <a:t>    │   │       │   │   │       ├── css/</a:t>
            </a:r>
          </a:p>
          <a:p>
            <a:pPr algn="l">
              <a:lnSpc>
                <a:spcPct val="100000"/>
              </a:lnSpc>
            </a:pPr>
            <a:r>
              <a:rPr sz="800" b="0" i="0">
                <a:solidFill>
                  <a:srgbClr val="ECE7DC"/>
                </a:solidFill>
                <a:latin typeface="Consolas"/>
              </a:rPr>
              <a:t>    │   │       │   │   │       │   ├── bootstrap.min.cs</a:t>
            </a:r>
          </a:p>
          <a:p>
            <a:pPr algn="l">
              <a:lnSpc>
                <a:spcPct val="100000"/>
              </a:lnSpc>
            </a:pPr>
            <a:r>
              <a:rPr sz="800" b="0" i="0">
                <a:solidFill>
                  <a:srgbClr val="ECE7DC"/>
                </a:solidFill>
                <a:latin typeface="Consolas"/>
              </a:rPr>
              <a:t>    │   │       │   │   │       │   │     » s</a:t>
            </a:r>
          </a:p>
          <a:p>
            <a:pPr algn="l">
              <a:lnSpc>
                <a:spcPct val="100000"/>
              </a:lnSpc>
            </a:pPr>
            <a:r>
              <a:rPr sz="800" b="0" i="0">
                <a:solidFill>
                  <a:srgbClr val="ECE7DC"/>
                </a:solidFill>
                <a:latin typeface="Consolas"/>
              </a:rPr>
              <a:t>    │   │       │   │   │       │   └── bootstrap.min.cs</a:t>
            </a:r>
          </a:p>
          <a:p>
            <a:pPr algn="l">
              <a:lnSpc>
                <a:spcPct val="100000"/>
              </a:lnSpc>
            </a:pPr>
            <a:r>
              <a:rPr sz="800" b="0" i="0">
                <a:solidFill>
                  <a:srgbClr val="ECE7DC"/>
                </a:solidFill>
                <a:latin typeface="Consolas"/>
              </a:rPr>
              <a:t>    │   │       │   │   │       │         » s.map</a:t>
            </a:r>
          </a:p>
          <a:p>
            <a:pPr algn="l">
              <a:lnSpc>
                <a:spcPct val="100000"/>
              </a:lnSpc>
            </a:pPr>
            <a:r>
              <a:rPr sz="800" b="0" i="0">
                <a:solidFill>
                  <a:srgbClr val="3BBE93"/>
                </a:solidFill>
                <a:latin typeface="Consolas"/>
              </a:rPr>
              <a:t>    │   │       │   │   │       └── js/</a:t>
            </a:r>
          </a:p>
          <a:p>
            <a:pPr algn="l">
              <a:lnSpc>
                <a:spcPct val="100000"/>
              </a:lnSpc>
            </a:pPr>
            <a:r>
              <a:rPr sz="800" b="0" i="0">
                <a:solidFill>
                  <a:srgbClr val="ECE7DC"/>
                </a:solidFill>
                <a:latin typeface="Consolas"/>
              </a:rPr>
              <a:t>    │   │       │   │   │           ├── bootstrap.bundle</a:t>
            </a:r>
          </a:p>
          <a:p>
            <a:pPr algn="l">
              <a:lnSpc>
                <a:spcPct val="100000"/>
              </a:lnSpc>
            </a:pPr>
            <a:r>
              <a:rPr sz="800" b="0" i="0">
                <a:solidFill>
                  <a:srgbClr val="ECE7DC"/>
                </a:solidFill>
                <a:latin typeface="Consolas"/>
              </a:rPr>
              <a:t>    │   │       │   │   │           │     » .min.js</a:t>
            </a:r>
          </a:p>
          <a:p>
            <a:pPr algn="l">
              <a:lnSpc>
                <a:spcPct val="100000"/>
              </a:lnSpc>
            </a:pPr>
            <a:r>
              <a:rPr sz="800" b="0" i="0">
                <a:solidFill>
                  <a:srgbClr val="ECE7DC"/>
                </a:solidFill>
                <a:latin typeface="Consolas"/>
              </a:rPr>
              <a:t>    │   │       │   │   │           └── bootstrap.bundle</a:t>
            </a:r>
          </a:p>
          <a:p>
            <a:pPr algn="l">
              <a:lnSpc>
                <a:spcPct val="100000"/>
              </a:lnSpc>
            </a:pPr>
            <a:r>
              <a:rPr sz="800" b="0" i="0">
                <a:solidFill>
                  <a:srgbClr val="ECE7DC"/>
                </a:solidFill>
                <a:latin typeface="Consolas"/>
              </a:rPr>
              <a:t>    │   │       │   │   │                 » .min.js.map</a:t>
            </a:r>
          </a:p>
          <a:p>
            <a:pPr algn="l">
              <a:lnSpc>
                <a:spcPct val="100000"/>
              </a:lnSpc>
            </a:pPr>
            <a:r>
              <a:rPr sz="800" b="0" i="0">
                <a:solidFill>
                  <a:srgbClr val="3BBE93"/>
                </a:solidFill>
                <a:latin typeface="Consolas"/>
              </a:rPr>
              <a:t>    │   │       │   │   ├── dompurify/</a:t>
            </a:r>
          </a:p>
          <a:p>
            <a:pPr algn="l">
              <a:lnSpc>
                <a:spcPct val="100000"/>
              </a:lnSpc>
            </a:pPr>
            <a:r>
              <a:rPr sz="800" b="0" i="0">
                <a:solidFill>
                  <a:srgbClr val="ECE7DC"/>
                </a:solidFill>
                <a:latin typeface="Consolas"/>
              </a:rPr>
              <a:t>    │   │       │   │   │   ├── LICENSE</a:t>
            </a:r>
          </a:p>
          <a:p>
            <a:pPr algn="l">
              <a:lnSpc>
                <a:spcPct val="100000"/>
              </a:lnSpc>
            </a:pPr>
            <a:r>
              <a:rPr sz="800" b="0" i="0">
                <a:solidFill>
                  <a:srgbClr val="3BBE93"/>
                </a:solidFill>
                <a:latin typeface="Consolas"/>
              </a:rPr>
              <a:t>    │   │       │   │   │   └── dist/</a:t>
            </a:r>
          </a:p>
          <a:p>
            <a:pPr algn="l">
              <a:lnSpc>
                <a:spcPct val="100000"/>
              </a:lnSpc>
            </a:pPr>
            <a:r>
              <a:rPr sz="800" b="0" i="0">
                <a:solidFill>
                  <a:srgbClr val="ECE7DC"/>
                </a:solidFill>
                <a:latin typeface="Consolas"/>
              </a:rPr>
              <a:t>    │   │       │   │   │       ├── purify.min.js</a:t>
            </a:r>
          </a:p>
          <a:p>
            <a:pPr algn="l">
              <a:lnSpc>
                <a:spcPct val="100000"/>
              </a:lnSpc>
            </a:pPr>
            <a:r>
              <a:rPr sz="800" b="0" i="0">
                <a:solidFill>
                  <a:srgbClr val="ECE7DC"/>
                </a:solidFill>
                <a:latin typeface="Consolas"/>
              </a:rPr>
              <a:t>    │   │       │   │   │       └── purify.min.js.map</a:t>
            </a:r>
          </a:p>
          <a:p>
            <a:pPr algn="l">
              <a:lnSpc>
                <a:spcPct val="100000"/>
              </a:lnSpc>
            </a:pPr>
            <a:r>
              <a:rPr sz="800" b="0" i="0">
                <a:solidFill>
                  <a:srgbClr val="3BBE93"/>
                </a:solidFill>
                <a:latin typeface="Consolas"/>
              </a:rPr>
              <a:t>    │   │       │   │   ├── highlightjs/</a:t>
            </a:r>
          </a:p>
          <a:p>
            <a:pPr algn="l">
              <a:lnSpc>
                <a:spcPct val="100000"/>
              </a:lnSpc>
            </a:pPr>
            <a:r>
              <a:rPr sz="800" b="0" i="0">
                <a:solidFill>
                  <a:srgbClr val="ECE7DC"/>
                </a:solidFill>
                <a:latin typeface="Consolas"/>
              </a:rPr>
              <a:t>    │   │       │   │   │   ├── highlight.min.js</a:t>
            </a:r>
          </a:p>
          <a:p>
            <a:pPr algn="l">
              <a:lnSpc>
                <a:spcPct val="100000"/>
              </a:lnSpc>
            </a:pPr>
            <a:r>
              <a:rPr sz="800" b="0" i="0">
                <a:solidFill>
                  <a:srgbClr val="ECE7DC"/>
                </a:solidFill>
                <a:latin typeface="Consolas"/>
              </a:rPr>
              <a:t>    │   │       │   │   │   ├── LICENSE</a:t>
            </a:r>
          </a:p>
          <a:p>
            <a:pPr algn="l">
              <a:lnSpc>
                <a:spcPct val="100000"/>
              </a:lnSpc>
            </a:pPr>
            <a:r>
              <a:rPr sz="800" b="0" i="0">
                <a:solidFill>
                  <a:srgbClr val="3BBE93"/>
                </a:solidFill>
                <a:latin typeface="Consolas"/>
              </a:rPr>
              <a:t>    │   │       │   │   │   ├── languages/</a:t>
            </a:r>
          </a:p>
          <a:p>
            <a:pPr algn="l">
              <a:lnSpc>
                <a:spcPct val="100000"/>
              </a:lnSpc>
            </a:pPr>
            <a:r>
              <a:rPr sz="800" b="0" i="0">
                <a:solidFill>
                  <a:srgbClr val="ECE7DC"/>
                </a:solidFill>
                <a:latin typeface="Consolas"/>
              </a:rPr>
              <a:t>    │   │       │   │   │   │   ├── bash.min.js</a:t>
            </a:r>
          </a:p>
          <a:p>
            <a:pPr algn="l">
              <a:lnSpc>
                <a:spcPct val="100000"/>
              </a:lnSpc>
            </a:pPr>
            <a:r>
              <a:rPr sz="800" b="0" i="0">
                <a:solidFill>
                  <a:srgbClr val="ECE7DC"/>
                </a:solidFill>
                <a:latin typeface="Consolas"/>
              </a:rPr>
              <a:t>    │   │       │   │   │   │   ├── c.min.js</a:t>
            </a:r>
          </a:p>
          <a:p>
            <a:pPr algn="l">
              <a:lnSpc>
                <a:spcPct val="100000"/>
              </a:lnSpc>
            </a:pPr>
            <a:r>
              <a:rPr sz="800" b="0" i="0">
                <a:solidFill>
                  <a:srgbClr val="ECE7DC"/>
                </a:solidFill>
                <a:latin typeface="Consolas"/>
              </a:rPr>
              <a:t>    │   │       │   │   │   │   ├── cpp.min.js</a:t>
            </a:r>
          </a:p>
          <a:p>
            <a:pPr algn="l">
              <a:lnSpc>
                <a:spcPct val="100000"/>
              </a:lnSpc>
            </a:pPr>
            <a:r>
              <a:rPr sz="800" b="0" i="0">
                <a:solidFill>
                  <a:srgbClr val="ECE7DC"/>
                </a:solidFill>
                <a:latin typeface="Consolas"/>
              </a:rPr>
              <a:t>    │   │       │   │   │   │   ├── css.min.js</a:t>
            </a:r>
          </a:p>
          <a:p>
            <a:pPr algn="l">
              <a:lnSpc>
                <a:spcPct val="100000"/>
              </a:lnSpc>
            </a:pPr>
            <a:r>
              <a:rPr sz="800" b="0" i="0">
                <a:solidFill>
                  <a:srgbClr val="ECE7DC"/>
                </a:solidFill>
                <a:latin typeface="Consolas"/>
              </a:rPr>
              <a:t>    │   │       │   │   │   │   ├── ini.min.js</a:t>
            </a:r>
          </a:p>
          <a:p>
            <a:pPr algn="l">
              <a:lnSpc>
                <a:spcPct val="100000"/>
              </a:lnSpc>
            </a:pPr>
            <a:r>
              <a:rPr sz="800" b="0" i="0">
                <a:solidFill>
                  <a:srgbClr val="ECE7DC"/>
                </a:solidFill>
                <a:latin typeface="Consolas"/>
              </a:rPr>
              <a:t>    │   │       │   │   │   │   ├── java.min.js</a:t>
            </a:r>
          </a:p>
          <a:p>
            <a:pPr algn="l">
              <a:lnSpc>
                <a:spcPct val="100000"/>
              </a:lnSpc>
            </a:pPr>
            <a:r>
              <a:rPr sz="800" b="0" i="0">
                <a:solidFill>
                  <a:srgbClr val="ECE7DC"/>
                </a:solidFill>
                <a:latin typeface="Consolas"/>
              </a:rPr>
              <a:t>    │   │       │   │   │   │   ├── javascript.min.js</a:t>
            </a:r>
          </a:p>
          <a:p>
            <a:pPr algn="l">
              <a:lnSpc>
                <a:spcPct val="100000"/>
              </a:lnSpc>
            </a:pPr>
            <a:r>
              <a:rPr sz="800" b="0" i="0">
                <a:solidFill>
                  <a:srgbClr val="ECE7DC"/>
                </a:solidFill>
                <a:latin typeface="Consolas"/>
              </a:rPr>
              <a:t>    │   │       │   │   │   │   ├── kotlin.min.js</a:t>
            </a:r>
          </a:p>
          <a:p>
            <a:pPr algn="l">
              <a:lnSpc>
                <a:spcPct val="100000"/>
              </a:lnSpc>
            </a:pPr>
            <a:r>
              <a:rPr sz="800" b="0" i="0">
                <a:solidFill>
                  <a:srgbClr val="ECE7DC"/>
                </a:solidFill>
                <a:latin typeface="Consolas"/>
              </a:rPr>
              <a:t>    │   │       │   │   │   │   ├── python.min.js</a:t>
            </a:r>
          </a:p>
          <a:p>
            <a:pPr algn="l">
              <a:lnSpc>
                <a:spcPct val="100000"/>
              </a:lnSpc>
            </a:pPr>
            <a:r>
              <a:rPr sz="800" b="0" i="0">
                <a:solidFill>
                  <a:srgbClr val="ECE7DC"/>
                </a:solidFill>
                <a:latin typeface="Consolas"/>
              </a:rPr>
              <a:t>    │   │       │   │   │   │   ├── rust.min.js</a:t>
            </a:r>
          </a:p>
          <a:p>
            <a:pPr algn="l">
              <a:lnSpc>
                <a:spcPct val="100000"/>
              </a:lnSpc>
            </a:pPr>
            <a:r>
              <a:rPr sz="800" b="0" i="0">
                <a:solidFill>
                  <a:srgbClr val="ECE7DC"/>
                </a:solidFill>
                <a:latin typeface="Consolas"/>
              </a:rPr>
              <a:t>    │   │       │   │   │   │   ├── sql.min.js</a:t>
            </a:r>
          </a:p>
          <a:p>
            <a:pPr algn="l">
              <a:lnSpc>
                <a:spcPct val="100000"/>
              </a:lnSpc>
            </a:pPr>
            <a:r>
              <a:rPr sz="800" b="0" i="0">
                <a:solidFill>
                  <a:srgbClr val="ECE7DC"/>
                </a:solidFill>
                <a:latin typeface="Consolas"/>
              </a:rPr>
              <a:t>    │   │       │   │   │   │   ├── typescript.min.js</a:t>
            </a:r>
          </a:p>
        </p:txBody>
      </p:sp>
      <p:sp>
        <p:nvSpPr>
          <p:cNvPr id="7" name="TextBox 6"/>
          <p:cNvSpPr txBox="1"/>
          <p:nvPr/>
        </p:nvSpPr>
        <p:spPr>
          <a:xfrm>
            <a:off x="8109508" y="1170432"/>
            <a:ext cx="3515258" cy="5084064"/>
          </a:xfrm>
          <a:prstGeom prst="rect">
            <a:avLst/>
          </a:prstGeom>
          <a:noFill/>
        </p:spPr>
        <p:txBody>
          <a:bodyPr wrap="none" lIns="45720" rIns="45720" tIns="27432" bIns="27432" anchor="t">
            <a:noAutofit/>
          </a:bodyPr>
          <a:lstStyle/>
          <a:p>
            <a:pPr algn="l">
              <a:lnSpc>
                <a:spcPct val="100000"/>
              </a:lnSpc>
            </a:pPr>
            <a:r>
              <a:rPr sz="800" b="0" i="0">
                <a:solidFill>
                  <a:srgbClr val="ECE7DC"/>
                </a:solidFill>
                <a:latin typeface="Consolas"/>
              </a:rPr>
              <a:t>    │   │       │   │   │   │   ├── xml.min.js</a:t>
            </a:r>
          </a:p>
          <a:p>
            <a:pPr algn="l">
              <a:lnSpc>
                <a:spcPct val="100000"/>
              </a:lnSpc>
            </a:pPr>
            <a:r>
              <a:rPr sz="800" b="0" i="0">
                <a:solidFill>
                  <a:srgbClr val="ECE7DC"/>
                </a:solidFill>
                <a:latin typeface="Consolas"/>
              </a:rPr>
              <a:t>    │   │       │   │   │   │   └── yaml.min.js</a:t>
            </a:r>
          </a:p>
          <a:p>
            <a:pPr algn="l">
              <a:lnSpc>
                <a:spcPct val="100000"/>
              </a:lnSpc>
            </a:pPr>
            <a:r>
              <a:rPr sz="800" b="0" i="0">
                <a:solidFill>
                  <a:srgbClr val="3BBE93"/>
                </a:solidFill>
                <a:latin typeface="Consolas"/>
              </a:rPr>
              <a:t>    │   │       │   │   │   └── styles/</a:t>
            </a:r>
          </a:p>
          <a:p>
            <a:pPr algn="l">
              <a:lnSpc>
                <a:spcPct val="100000"/>
              </a:lnSpc>
            </a:pPr>
            <a:r>
              <a:rPr sz="800" b="0" i="0">
                <a:solidFill>
                  <a:srgbClr val="ECE7DC"/>
                </a:solidFill>
                <a:latin typeface="Consolas"/>
              </a:rPr>
              <a:t>    │   │       │   │   │       └── atom-one-dark.min.cs</a:t>
            </a:r>
          </a:p>
          <a:p>
            <a:pPr algn="l">
              <a:lnSpc>
                <a:spcPct val="100000"/>
              </a:lnSpc>
            </a:pPr>
            <a:r>
              <a:rPr sz="800" b="0" i="0">
                <a:solidFill>
                  <a:srgbClr val="ECE7DC"/>
                </a:solidFill>
                <a:latin typeface="Consolas"/>
              </a:rPr>
              <a:t>    │   │       │   │   │             » s</a:t>
            </a:r>
          </a:p>
          <a:p>
            <a:pPr algn="l">
              <a:lnSpc>
                <a:spcPct val="100000"/>
              </a:lnSpc>
            </a:pPr>
            <a:r>
              <a:rPr sz="800" b="0" i="0">
                <a:solidFill>
                  <a:srgbClr val="3BBE93"/>
                </a:solidFill>
                <a:latin typeface="Consolas"/>
              </a:rPr>
              <a:t>    │   │       │   │   ├── jquery/</a:t>
            </a:r>
          </a:p>
          <a:p>
            <a:pPr algn="l">
              <a:lnSpc>
                <a:spcPct val="100000"/>
              </a:lnSpc>
            </a:pPr>
            <a:r>
              <a:rPr sz="800" b="0" i="0">
                <a:solidFill>
                  <a:srgbClr val="ECE7DC"/>
                </a:solidFill>
                <a:latin typeface="Consolas"/>
              </a:rPr>
              <a:t>    │   │       │   │   │   ├── LICENSE.txt</a:t>
            </a:r>
          </a:p>
          <a:p>
            <a:pPr algn="l">
              <a:lnSpc>
                <a:spcPct val="100000"/>
              </a:lnSpc>
            </a:pPr>
            <a:r>
              <a:rPr sz="800" b="0" i="0">
                <a:solidFill>
                  <a:srgbClr val="3BBE93"/>
                </a:solidFill>
                <a:latin typeface="Consolas"/>
              </a:rPr>
              <a:t>    │   │       │   │   │   └── dist/</a:t>
            </a:r>
          </a:p>
          <a:p>
            <a:pPr algn="l">
              <a:lnSpc>
                <a:spcPct val="100000"/>
              </a:lnSpc>
            </a:pPr>
            <a:r>
              <a:rPr sz="800" b="0" i="0">
                <a:solidFill>
                  <a:srgbClr val="ECE7DC"/>
                </a:solidFill>
                <a:latin typeface="Consolas"/>
              </a:rPr>
              <a:t>    │   │       │   │   │       ├── jquery.min.js</a:t>
            </a:r>
          </a:p>
          <a:p>
            <a:pPr algn="l">
              <a:lnSpc>
                <a:spcPct val="100000"/>
              </a:lnSpc>
            </a:pPr>
            <a:r>
              <a:rPr sz="800" b="0" i="0">
                <a:solidFill>
                  <a:srgbClr val="ECE7DC"/>
                </a:solidFill>
                <a:latin typeface="Consolas"/>
              </a:rPr>
              <a:t>    │   │       │   │   │       └── jquery.min.map</a:t>
            </a:r>
          </a:p>
          <a:p>
            <a:pPr algn="l">
              <a:lnSpc>
                <a:spcPct val="100000"/>
              </a:lnSpc>
            </a:pPr>
            <a:r>
              <a:rPr sz="800" b="0" i="0">
                <a:solidFill>
                  <a:srgbClr val="3BBE93"/>
                </a:solidFill>
                <a:latin typeface="Consolas"/>
              </a:rPr>
              <a:t>    │   │       │   │   ├── jquery-ui/</a:t>
            </a:r>
          </a:p>
          <a:p>
            <a:pPr algn="l">
              <a:lnSpc>
                <a:spcPct val="100000"/>
              </a:lnSpc>
            </a:pPr>
            <a:r>
              <a:rPr sz="800" b="0" i="0">
                <a:solidFill>
                  <a:srgbClr val="ECE7DC"/>
                </a:solidFill>
                <a:latin typeface="Consolas"/>
              </a:rPr>
              <a:t>    │   │       │   │   │   ├── jquery-ui.min.js</a:t>
            </a:r>
          </a:p>
          <a:p>
            <a:pPr algn="l">
              <a:lnSpc>
                <a:spcPct val="100000"/>
              </a:lnSpc>
            </a:pPr>
            <a:r>
              <a:rPr sz="800" b="0" i="0">
                <a:solidFill>
                  <a:srgbClr val="ECE7DC"/>
                </a:solidFill>
                <a:latin typeface="Consolas"/>
              </a:rPr>
              <a:t>    │   │       │   │   │   └── LICENSE.txt</a:t>
            </a:r>
          </a:p>
          <a:p>
            <a:pPr algn="l">
              <a:lnSpc>
                <a:spcPct val="100000"/>
              </a:lnSpc>
            </a:pPr>
            <a:r>
              <a:rPr sz="800" b="0" i="0">
                <a:solidFill>
                  <a:srgbClr val="3BBE93"/>
                </a:solidFill>
                <a:latin typeface="Consolas"/>
              </a:rPr>
              <a:t>    │   │       │   │   ├── marked/</a:t>
            </a:r>
          </a:p>
          <a:p>
            <a:pPr algn="l">
              <a:lnSpc>
                <a:spcPct val="100000"/>
              </a:lnSpc>
            </a:pPr>
            <a:r>
              <a:rPr sz="800" b="0" i="0">
                <a:solidFill>
                  <a:srgbClr val="ECE7DC"/>
                </a:solidFill>
                <a:latin typeface="Consolas"/>
              </a:rPr>
              <a:t>    │   │       │   │   │   └── LICENSE</a:t>
            </a:r>
          </a:p>
          <a:p>
            <a:pPr algn="l">
              <a:lnSpc>
                <a:spcPct val="100000"/>
              </a:lnSpc>
            </a:pPr>
            <a:r>
              <a:rPr sz="800" b="0" i="0">
                <a:solidFill>
                  <a:srgbClr val="3BBE93"/>
                </a:solidFill>
                <a:latin typeface="Consolas"/>
              </a:rPr>
              <a:t>    │   │       │   │   ├── nunito/</a:t>
            </a:r>
          </a:p>
          <a:p>
            <a:pPr algn="l">
              <a:lnSpc>
                <a:spcPct val="100000"/>
              </a:lnSpc>
            </a:pPr>
            <a:r>
              <a:rPr sz="800" b="0" i="0">
                <a:solidFill>
                  <a:srgbClr val="ECE7DC"/>
                </a:solidFill>
                <a:latin typeface="Consolas"/>
              </a:rPr>
              <a:t>    │   │       │   │   │   ├── 400.css</a:t>
            </a:r>
          </a:p>
          <a:p>
            <a:pPr algn="l">
              <a:lnSpc>
                <a:spcPct val="100000"/>
              </a:lnSpc>
            </a:pPr>
            <a:r>
              <a:rPr sz="800" b="0" i="0">
                <a:solidFill>
                  <a:srgbClr val="ECE7DC"/>
                </a:solidFill>
                <a:latin typeface="Consolas"/>
              </a:rPr>
              <a:t>    │   │       │   │   │   ├── 700.css</a:t>
            </a:r>
          </a:p>
          <a:p>
            <a:pPr algn="l">
              <a:lnSpc>
                <a:spcPct val="100000"/>
              </a:lnSpc>
            </a:pPr>
            <a:r>
              <a:rPr sz="800" b="0" i="0">
                <a:solidFill>
                  <a:srgbClr val="ECE7DC"/>
                </a:solidFill>
                <a:latin typeface="Consolas"/>
              </a:rPr>
              <a:t>    │   │       │   │   │   ├── LICENSE</a:t>
            </a:r>
          </a:p>
          <a:p>
            <a:pPr algn="l">
              <a:lnSpc>
                <a:spcPct val="100000"/>
              </a:lnSpc>
            </a:pPr>
            <a:r>
              <a:rPr sz="800" b="0" i="0">
                <a:solidFill>
                  <a:srgbClr val="3BBE93"/>
                </a:solidFill>
                <a:latin typeface="Consolas"/>
              </a:rPr>
              <a:t>    │   │       │   │   │   └── files/</a:t>
            </a:r>
          </a:p>
          <a:p>
            <a:pPr algn="l">
              <a:lnSpc>
                <a:spcPct val="100000"/>
              </a:lnSpc>
            </a:pPr>
            <a:r>
              <a:rPr sz="800" b="0" i="0">
                <a:solidFill>
                  <a:srgbClr val="ECE7DC"/>
                </a:solidFill>
                <a:latin typeface="Consolas"/>
              </a:rPr>
              <a:t>    │   │       │   │   │       ├── nunito-cyrillic-400-</a:t>
            </a:r>
          </a:p>
          <a:p>
            <a:pPr algn="l">
              <a:lnSpc>
                <a:spcPct val="100000"/>
              </a:lnSpc>
            </a:pPr>
            <a:r>
              <a:rPr sz="800" b="0" i="0">
                <a:solidFill>
                  <a:srgbClr val="ECE7DC"/>
                </a:solidFill>
                <a:latin typeface="Consolas"/>
              </a:rPr>
              <a:t>    │   │       │   │   │       │     » normal.woff</a:t>
            </a:r>
          </a:p>
          <a:p>
            <a:pPr algn="l">
              <a:lnSpc>
                <a:spcPct val="100000"/>
              </a:lnSpc>
            </a:pPr>
            <a:r>
              <a:rPr sz="800" b="0" i="0">
                <a:solidFill>
                  <a:srgbClr val="ECE7DC"/>
                </a:solidFill>
                <a:latin typeface="Consolas"/>
              </a:rPr>
              <a:t>    │   │       │   │   │       ├── nunito-cyrillic-400-</a:t>
            </a:r>
          </a:p>
          <a:p>
            <a:pPr algn="l">
              <a:lnSpc>
                <a:spcPct val="100000"/>
              </a:lnSpc>
            </a:pPr>
            <a:r>
              <a:rPr sz="800" b="0" i="0">
                <a:solidFill>
                  <a:srgbClr val="ECE7DC"/>
                </a:solidFill>
                <a:latin typeface="Consolas"/>
              </a:rPr>
              <a:t>    │   │       │   │   │       │     » normal.woff2</a:t>
            </a:r>
          </a:p>
          <a:p>
            <a:pPr algn="l">
              <a:lnSpc>
                <a:spcPct val="100000"/>
              </a:lnSpc>
            </a:pPr>
            <a:r>
              <a:rPr sz="800" b="0" i="0">
                <a:solidFill>
                  <a:srgbClr val="ECE7DC"/>
                </a:solidFill>
                <a:latin typeface="Consolas"/>
              </a:rPr>
              <a:t>    │   │       │   │   │       ├── nunito-cyrillic-700-</a:t>
            </a:r>
          </a:p>
          <a:p>
            <a:pPr algn="l">
              <a:lnSpc>
                <a:spcPct val="100000"/>
              </a:lnSpc>
            </a:pPr>
            <a:r>
              <a:rPr sz="800" b="0" i="0">
                <a:solidFill>
                  <a:srgbClr val="ECE7DC"/>
                </a:solidFill>
                <a:latin typeface="Consolas"/>
              </a:rPr>
              <a:t>    │   │       │   │   │       │     » normal.woff</a:t>
            </a:r>
          </a:p>
          <a:p>
            <a:pPr algn="l">
              <a:lnSpc>
                <a:spcPct val="100000"/>
              </a:lnSpc>
            </a:pPr>
            <a:r>
              <a:rPr sz="800" b="0" i="0">
                <a:solidFill>
                  <a:srgbClr val="ECE7DC"/>
                </a:solidFill>
                <a:latin typeface="Consolas"/>
              </a:rPr>
              <a:t>    │   │       │   │   │       ├── nunito-cyrillic-700-</a:t>
            </a:r>
          </a:p>
          <a:p>
            <a:pPr algn="l">
              <a:lnSpc>
                <a:spcPct val="100000"/>
              </a:lnSpc>
            </a:pPr>
            <a:r>
              <a:rPr sz="800" b="0" i="0">
                <a:solidFill>
                  <a:srgbClr val="ECE7DC"/>
                </a:solidFill>
                <a:latin typeface="Consolas"/>
              </a:rPr>
              <a:t>    │   │       │   │   │       │     » normal.woff2</a:t>
            </a:r>
          </a:p>
          <a:p>
            <a:pPr algn="l">
              <a:lnSpc>
                <a:spcPct val="100000"/>
              </a:lnSpc>
            </a:pPr>
            <a:r>
              <a:rPr sz="800" b="0" i="0">
                <a:solidFill>
                  <a:srgbClr val="ECE7DC"/>
                </a:solidFill>
                <a:latin typeface="Consolas"/>
              </a:rPr>
              <a:t>    │   │       │   │   │       ├── nunito-cyrillic-ext-</a:t>
            </a:r>
          </a:p>
          <a:p>
            <a:pPr algn="l">
              <a:lnSpc>
                <a:spcPct val="100000"/>
              </a:lnSpc>
            </a:pPr>
            <a:r>
              <a:rPr sz="800" b="0" i="0">
                <a:solidFill>
                  <a:srgbClr val="ECE7DC"/>
                </a:solidFill>
                <a:latin typeface="Consolas"/>
              </a:rPr>
              <a:t>    │   │       │   │   │       │     » 400-normal.woff</a:t>
            </a:r>
          </a:p>
          <a:p>
            <a:pPr algn="l">
              <a:lnSpc>
                <a:spcPct val="100000"/>
              </a:lnSpc>
            </a:pPr>
            <a:r>
              <a:rPr sz="800" b="0" i="0">
                <a:solidFill>
                  <a:srgbClr val="ECE7DC"/>
                </a:solidFill>
                <a:latin typeface="Consolas"/>
              </a:rPr>
              <a:t>    │   │       │   │   │       ├── nunito-cyrillic-ext-</a:t>
            </a:r>
          </a:p>
          <a:p>
            <a:pPr algn="l">
              <a:lnSpc>
                <a:spcPct val="100000"/>
              </a:lnSpc>
            </a:pPr>
            <a:r>
              <a:rPr sz="800" b="0" i="0">
                <a:solidFill>
                  <a:srgbClr val="ECE7DC"/>
                </a:solidFill>
                <a:latin typeface="Consolas"/>
              </a:rPr>
              <a:t>    │   │       │   │   │       │     » 400-normal.woff2</a:t>
            </a:r>
          </a:p>
          <a:p>
            <a:pPr algn="l">
              <a:lnSpc>
                <a:spcPct val="100000"/>
              </a:lnSpc>
            </a:pPr>
            <a:r>
              <a:rPr sz="800" b="0" i="0">
                <a:solidFill>
                  <a:srgbClr val="ECE7DC"/>
                </a:solidFill>
                <a:latin typeface="Consolas"/>
              </a:rPr>
              <a:t>    │   │       │   │   │       ├── nunito-cyrillic-ext-</a:t>
            </a:r>
          </a:p>
          <a:p>
            <a:pPr algn="l">
              <a:lnSpc>
                <a:spcPct val="100000"/>
              </a:lnSpc>
            </a:pPr>
            <a:r>
              <a:rPr sz="800" b="0" i="0">
                <a:solidFill>
                  <a:srgbClr val="ECE7DC"/>
                </a:solidFill>
                <a:latin typeface="Consolas"/>
              </a:rPr>
              <a:t>    │   │       │   │   │       │     » 700-normal.woff</a:t>
            </a:r>
          </a:p>
          <a:p>
            <a:pPr algn="l">
              <a:lnSpc>
                <a:spcPct val="100000"/>
              </a:lnSpc>
            </a:pPr>
            <a:r>
              <a:rPr sz="800" b="0" i="0">
                <a:solidFill>
                  <a:srgbClr val="ECE7DC"/>
                </a:solidFill>
                <a:latin typeface="Consolas"/>
              </a:rPr>
              <a:t>    │   │       │   │   │       ├── nunito-cyrillic-ext-</a:t>
            </a:r>
          </a:p>
          <a:p>
            <a:pPr algn="l">
              <a:lnSpc>
                <a:spcPct val="100000"/>
              </a:lnSpc>
            </a:pPr>
            <a:r>
              <a:rPr sz="800" b="0" i="0">
                <a:solidFill>
                  <a:srgbClr val="ECE7DC"/>
                </a:solidFill>
                <a:latin typeface="Consolas"/>
              </a:rPr>
              <a:t>    │   │       │   │   │       │     » 700-normal.woff2</a:t>
            </a:r>
          </a:p>
          <a:p>
            <a:pPr algn="l">
              <a:lnSpc>
                <a:spcPct val="100000"/>
              </a:lnSpc>
            </a:pPr>
            <a:r>
              <a:rPr sz="800" b="0" i="0">
                <a:solidFill>
                  <a:srgbClr val="ECE7DC"/>
                </a:solidFill>
                <a:latin typeface="Consolas"/>
              </a:rPr>
              <a:t>    │   │       │   │   │       ├── nunito-latin-400-nor</a:t>
            </a:r>
          </a:p>
          <a:p>
            <a:pPr algn="l">
              <a:lnSpc>
                <a:spcPct val="100000"/>
              </a:lnSpc>
            </a:pPr>
            <a:r>
              <a:rPr sz="800" b="0" i="0">
                <a:solidFill>
                  <a:srgbClr val="ECE7DC"/>
                </a:solidFill>
                <a:latin typeface="Consolas"/>
              </a:rPr>
              <a:t>    │   │       │   │   │       │     » mal.woff</a:t>
            </a:r>
          </a:p>
          <a:p>
            <a:pPr algn="l">
              <a:lnSpc>
                <a:spcPct val="100000"/>
              </a:lnSpc>
            </a:pPr>
            <a:r>
              <a:rPr sz="800" b="0" i="0">
                <a:solidFill>
                  <a:srgbClr val="ECE7DC"/>
                </a:solidFill>
                <a:latin typeface="Consolas"/>
              </a:rPr>
              <a:t>    │   │       │   │   │       ├── nunito-latin-400-nor</a:t>
            </a:r>
          </a:p>
          <a:p>
            <a:pPr algn="l">
              <a:lnSpc>
                <a:spcPct val="100000"/>
              </a:lnSpc>
            </a:pPr>
            <a:r>
              <a:rPr sz="800" b="0" i="0">
                <a:solidFill>
                  <a:srgbClr val="ECE7DC"/>
                </a:solidFill>
                <a:latin typeface="Consolas"/>
              </a:rPr>
              <a:t>    │   │       │   │   │       │     » mal.woff2</a:t>
            </a:r>
          </a:p>
          <a:p>
            <a:pPr algn="l">
              <a:lnSpc>
                <a:spcPct val="100000"/>
              </a:lnSpc>
            </a:pPr>
            <a:r>
              <a:rPr sz="800" b="0" i="0">
                <a:solidFill>
                  <a:srgbClr val="ECE7DC"/>
                </a:solidFill>
                <a:latin typeface="Consolas"/>
              </a:rPr>
              <a:t>    │   │       │   │   │       ├── nunito-latin-700-nor</a:t>
            </a:r>
          </a:p>
        </p:txBody>
      </p:sp>
      <p:cxnSp>
        <p:nvCxnSpPr>
          <p:cNvPr id="8" name="Connector 7"/>
          <p:cNvCxnSpPr/>
          <p:nvPr/>
        </p:nvCxnSpPr>
        <p:spPr>
          <a:xfrm>
            <a:off x="566928" y="6373368"/>
            <a:ext cx="11057839" cy="0"/>
          </a:xfrm>
          <a:prstGeom prst="line">
            <a:avLst/>
          </a:prstGeom>
          <a:ln w="7620">
            <a:solidFill>
              <a:srgbClr val="2A3A40"/>
            </a:solidFill>
          </a:ln>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566928" y="6419088"/>
            <a:ext cx="6858000" cy="274320"/>
          </a:xfrm>
          <a:prstGeom prst="rect">
            <a:avLst/>
          </a:prstGeom>
          <a:noFill/>
        </p:spPr>
        <p:txBody>
          <a:bodyPr wrap="square" lIns="45720" rIns="45720" tIns="27432" bIns="27432" anchor="t">
            <a:noAutofit/>
          </a:bodyPr>
          <a:lstStyle/>
          <a:p>
            <a:pPr algn="l">
              <a:lnSpc>
                <a:spcPct val="100000"/>
              </a:lnSpc>
            </a:pPr>
            <a:r>
              <a:rPr sz="850" b="0" i="0" spc="120">
                <a:solidFill>
                  <a:srgbClr val="A7B2B0"/>
                </a:solidFill>
                <a:latin typeface="Segoe UI Semibold"/>
              </a:rPr>
              <a:t>TLAMATINI  ·  APÉNDICE A · ÁRBOL DE ARCHIVOS</a:t>
            </a:r>
          </a:p>
        </p:txBody>
      </p:sp>
      <p:sp>
        <p:nvSpPr>
          <p:cNvPr id="10" name="TextBox 9"/>
          <p:cNvSpPr txBox="1"/>
          <p:nvPr/>
        </p:nvSpPr>
        <p:spPr>
          <a:xfrm>
            <a:off x="8698687" y="6419088"/>
            <a:ext cx="2926080" cy="274320"/>
          </a:xfrm>
          <a:prstGeom prst="rect">
            <a:avLst/>
          </a:prstGeom>
          <a:noFill/>
        </p:spPr>
        <p:txBody>
          <a:bodyPr wrap="square" lIns="45720" rIns="45720" tIns="27432" bIns="27432" anchor="t">
            <a:noAutofit/>
          </a:bodyPr>
          <a:lstStyle/>
          <a:p>
            <a:pPr algn="r">
              <a:lnSpc>
                <a:spcPct val="100000"/>
              </a:lnSpc>
            </a:pPr>
            <a:r>
              <a:rPr sz="850" b="0" i="0" spc="100">
                <a:solidFill>
                  <a:srgbClr val="A7B2B0"/>
                </a:solidFill>
                <a:latin typeface="Segoe UI Semibold"/>
              </a:rPr>
              <a:t>v1.91.1   ·   190</a:t>
            </a:r>
          </a:p>
        </p:txBody>
      </p:sp>
    </p:spTree>
  </p:cSld>
  <p:clrMapOvr>
    <a:masterClrMapping/>
  </p:clrMapOvr>
</p:sld>
</file>

<file path=ppt/slides/slide19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appendix.png"/>
          <p:cNvPicPr>
            <a:picLocks noChangeAspect="1"/>
          </p:cNvPicPr>
          <p:nvPr/>
        </p:nvPicPr>
        <p:blipFill>
          <a:blip r:embed="rId2"/>
          <a:stretch>
            <a:fillRect/>
          </a:stretch>
        </p:blipFill>
        <p:spPr>
          <a:xfrm>
            <a:off x="0" y="0"/>
            <a:ext cx="12191695" cy="6858000"/>
          </a:xfrm>
          <a:prstGeom prst="rect">
            <a:avLst/>
          </a:prstGeom>
        </p:spPr>
      </p:pic>
      <p:sp>
        <p:nvSpPr>
          <p:cNvPr id="3" name="TextBox 2"/>
          <p:cNvSpPr txBox="1"/>
          <p:nvPr/>
        </p:nvSpPr>
        <p:spPr>
          <a:xfrm>
            <a:off x="566928" y="384048"/>
            <a:ext cx="8686800" cy="329184"/>
          </a:xfrm>
          <a:prstGeom prst="rect">
            <a:avLst/>
          </a:prstGeom>
          <a:noFill/>
        </p:spPr>
        <p:txBody>
          <a:bodyPr wrap="square" lIns="45720" rIns="45720" tIns="27432" bIns="27432" anchor="t">
            <a:noAutofit/>
          </a:bodyPr>
          <a:lstStyle/>
          <a:p>
            <a:pPr algn="l">
              <a:lnSpc>
                <a:spcPct val="100000"/>
              </a:lnSpc>
            </a:pPr>
            <a:r>
              <a:rPr sz="1100" b="0" i="0" spc="200">
                <a:solidFill>
                  <a:srgbClr val="C98457"/>
                </a:solidFill>
                <a:latin typeface="Segoe UI Semibold"/>
              </a:rPr>
              <a:t>APÉNDICE A  ·  ÁRBOL DE ARCHIVOS DE LA APLICACIÓN  ·  17 / 20</a:t>
            </a:r>
          </a:p>
        </p:txBody>
      </p:sp>
      <p:sp>
        <p:nvSpPr>
          <p:cNvPr id="4" name="TextBox 3"/>
          <p:cNvSpPr txBox="1"/>
          <p:nvPr/>
        </p:nvSpPr>
        <p:spPr>
          <a:xfrm>
            <a:off x="566928" y="731520"/>
            <a:ext cx="11057839" cy="384048"/>
          </a:xfrm>
          <a:prstGeom prst="rect">
            <a:avLst/>
          </a:prstGeom>
          <a:noFill/>
        </p:spPr>
        <p:txBody>
          <a:bodyPr wrap="square" lIns="45720" rIns="45720" tIns="27432" bIns="27432" anchor="t">
            <a:noAutofit/>
          </a:bodyPr>
          <a:lstStyle/>
          <a:p>
            <a:pPr algn="l">
              <a:lnSpc>
                <a:spcPct val="100000"/>
              </a:lnSpc>
            </a:pPr>
            <a:r>
              <a:rPr sz="1300" b="0" i="0">
                <a:solidFill>
                  <a:srgbClr val="A7B2B0"/>
                </a:solidFill>
                <a:latin typeface="Segoe UI"/>
              </a:rPr>
              <a:t>1,898 archivos listados en el commit 21b0a5c; 221 archivos de la historia de la base de datos resumidos.</a:t>
            </a:r>
          </a:p>
        </p:txBody>
      </p:sp>
      <p:sp>
        <p:nvSpPr>
          <p:cNvPr id="5" name="TextBox 4"/>
          <p:cNvSpPr txBox="1"/>
          <p:nvPr/>
        </p:nvSpPr>
        <p:spPr>
          <a:xfrm>
            <a:off x="566928" y="1170432"/>
            <a:ext cx="3515258" cy="5084064"/>
          </a:xfrm>
          <a:prstGeom prst="rect">
            <a:avLst/>
          </a:prstGeom>
          <a:noFill/>
        </p:spPr>
        <p:txBody>
          <a:bodyPr wrap="none" lIns="45720" rIns="45720" tIns="27432" bIns="27432" anchor="t">
            <a:noAutofit/>
          </a:bodyPr>
          <a:lstStyle/>
          <a:p>
            <a:pPr algn="l">
              <a:lnSpc>
                <a:spcPct val="100000"/>
              </a:lnSpc>
            </a:pPr>
            <a:r>
              <a:rPr sz="800" b="0" i="0">
                <a:solidFill>
                  <a:srgbClr val="ECE7DC"/>
                </a:solidFill>
                <a:latin typeface="Consolas"/>
              </a:rPr>
              <a:t>    │   │       │   │   │       │     » mal.woff</a:t>
            </a:r>
          </a:p>
          <a:p>
            <a:pPr algn="l">
              <a:lnSpc>
                <a:spcPct val="100000"/>
              </a:lnSpc>
            </a:pPr>
            <a:r>
              <a:rPr sz="800" b="0" i="0">
                <a:solidFill>
                  <a:srgbClr val="ECE7DC"/>
                </a:solidFill>
                <a:latin typeface="Consolas"/>
              </a:rPr>
              <a:t>    │   │       │   │   │       ├── nunito-latin-700-nor</a:t>
            </a:r>
          </a:p>
          <a:p>
            <a:pPr algn="l">
              <a:lnSpc>
                <a:spcPct val="100000"/>
              </a:lnSpc>
            </a:pPr>
            <a:r>
              <a:rPr sz="800" b="0" i="0">
                <a:solidFill>
                  <a:srgbClr val="ECE7DC"/>
                </a:solidFill>
                <a:latin typeface="Consolas"/>
              </a:rPr>
              <a:t>    │   │       │   │   │       │     » mal.woff2</a:t>
            </a:r>
          </a:p>
          <a:p>
            <a:pPr algn="l">
              <a:lnSpc>
                <a:spcPct val="100000"/>
              </a:lnSpc>
            </a:pPr>
            <a:r>
              <a:rPr sz="800" b="0" i="0">
                <a:solidFill>
                  <a:srgbClr val="ECE7DC"/>
                </a:solidFill>
                <a:latin typeface="Consolas"/>
              </a:rPr>
              <a:t>    │   │       │   │   │       ├── nunito-latin-ext-400</a:t>
            </a:r>
          </a:p>
          <a:p>
            <a:pPr algn="l">
              <a:lnSpc>
                <a:spcPct val="100000"/>
              </a:lnSpc>
            </a:pPr>
            <a:r>
              <a:rPr sz="800" b="0" i="0">
                <a:solidFill>
                  <a:srgbClr val="ECE7DC"/>
                </a:solidFill>
                <a:latin typeface="Consolas"/>
              </a:rPr>
              <a:t>    │   │       │   │   │       │     » -normal.woff</a:t>
            </a:r>
          </a:p>
          <a:p>
            <a:pPr algn="l">
              <a:lnSpc>
                <a:spcPct val="100000"/>
              </a:lnSpc>
            </a:pPr>
            <a:r>
              <a:rPr sz="800" b="0" i="0">
                <a:solidFill>
                  <a:srgbClr val="ECE7DC"/>
                </a:solidFill>
                <a:latin typeface="Consolas"/>
              </a:rPr>
              <a:t>    │   │       │   │   │       ├── nunito-latin-ext-400</a:t>
            </a:r>
          </a:p>
          <a:p>
            <a:pPr algn="l">
              <a:lnSpc>
                <a:spcPct val="100000"/>
              </a:lnSpc>
            </a:pPr>
            <a:r>
              <a:rPr sz="800" b="0" i="0">
                <a:solidFill>
                  <a:srgbClr val="ECE7DC"/>
                </a:solidFill>
                <a:latin typeface="Consolas"/>
              </a:rPr>
              <a:t>    │   │       │   │   │       │     » -normal.woff2</a:t>
            </a:r>
          </a:p>
          <a:p>
            <a:pPr algn="l">
              <a:lnSpc>
                <a:spcPct val="100000"/>
              </a:lnSpc>
            </a:pPr>
            <a:r>
              <a:rPr sz="800" b="0" i="0">
                <a:solidFill>
                  <a:srgbClr val="ECE7DC"/>
                </a:solidFill>
                <a:latin typeface="Consolas"/>
              </a:rPr>
              <a:t>    │   │       │   │   │       ├── nunito-latin-ext-700</a:t>
            </a:r>
          </a:p>
          <a:p>
            <a:pPr algn="l">
              <a:lnSpc>
                <a:spcPct val="100000"/>
              </a:lnSpc>
            </a:pPr>
            <a:r>
              <a:rPr sz="800" b="0" i="0">
                <a:solidFill>
                  <a:srgbClr val="ECE7DC"/>
                </a:solidFill>
                <a:latin typeface="Consolas"/>
              </a:rPr>
              <a:t>    │   │       │   │   │       │     » -normal.woff</a:t>
            </a:r>
          </a:p>
          <a:p>
            <a:pPr algn="l">
              <a:lnSpc>
                <a:spcPct val="100000"/>
              </a:lnSpc>
            </a:pPr>
            <a:r>
              <a:rPr sz="800" b="0" i="0">
                <a:solidFill>
                  <a:srgbClr val="ECE7DC"/>
                </a:solidFill>
                <a:latin typeface="Consolas"/>
              </a:rPr>
              <a:t>    │   │       │   │   │       ├── nunito-latin-ext-700</a:t>
            </a:r>
          </a:p>
          <a:p>
            <a:pPr algn="l">
              <a:lnSpc>
                <a:spcPct val="100000"/>
              </a:lnSpc>
            </a:pPr>
            <a:r>
              <a:rPr sz="800" b="0" i="0">
                <a:solidFill>
                  <a:srgbClr val="ECE7DC"/>
                </a:solidFill>
                <a:latin typeface="Consolas"/>
              </a:rPr>
              <a:t>    │   │       │   │   │       │     » -normal.woff2</a:t>
            </a:r>
          </a:p>
          <a:p>
            <a:pPr algn="l">
              <a:lnSpc>
                <a:spcPct val="100000"/>
              </a:lnSpc>
            </a:pPr>
            <a:r>
              <a:rPr sz="800" b="0" i="0">
                <a:solidFill>
                  <a:srgbClr val="ECE7DC"/>
                </a:solidFill>
                <a:latin typeface="Consolas"/>
              </a:rPr>
              <a:t>    │   │       │   │   │       ├── nunito-vietnamese-40</a:t>
            </a:r>
          </a:p>
          <a:p>
            <a:pPr algn="l">
              <a:lnSpc>
                <a:spcPct val="100000"/>
              </a:lnSpc>
            </a:pPr>
            <a:r>
              <a:rPr sz="800" b="0" i="0">
                <a:solidFill>
                  <a:srgbClr val="ECE7DC"/>
                </a:solidFill>
                <a:latin typeface="Consolas"/>
              </a:rPr>
              <a:t>    │   │       │   │   │       │     » 0-normal.woff</a:t>
            </a:r>
          </a:p>
          <a:p>
            <a:pPr algn="l">
              <a:lnSpc>
                <a:spcPct val="100000"/>
              </a:lnSpc>
            </a:pPr>
            <a:r>
              <a:rPr sz="800" b="0" i="0">
                <a:solidFill>
                  <a:srgbClr val="ECE7DC"/>
                </a:solidFill>
                <a:latin typeface="Consolas"/>
              </a:rPr>
              <a:t>    │   │       │   │   │       ├── nunito-vietnamese-40</a:t>
            </a:r>
          </a:p>
          <a:p>
            <a:pPr algn="l">
              <a:lnSpc>
                <a:spcPct val="100000"/>
              </a:lnSpc>
            </a:pPr>
            <a:r>
              <a:rPr sz="800" b="0" i="0">
                <a:solidFill>
                  <a:srgbClr val="ECE7DC"/>
                </a:solidFill>
                <a:latin typeface="Consolas"/>
              </a:rPr>
              <a:t>    │   │       │   │   │       │     » 0-normal.woff2</a:t>
            </a:r>
          </a:p>
          <a:p>
            <a:pPr algn="l">
              <a:lnSpc>
                <a:spcPct val="100000"/>
              </a:lnSpc>
            </a:pPr>
            <a:r>
              <a:rPr sz="800" b="0" i="0">
                <a:solidFill>
                  <a:srgbClr val="ECE7DC"/>
                </a:solidFill>
                <a:latin typeface="Consolas"/>
              </a:rPr>
              <a:t>    │   │       │   │   │       ├── nunito-vietnamese-70</a:t>
            </a:r>
          </a:p>
          <a:p>
            <a:pPr algn="l">
              <a:lnSpc>
                <a:spcPct val="100000"/>
              </a:lnSpc>
            </a:pPr>
            <a:r>
              <a:rPr sz="800" b="0" i="0">
                <a:solidFill>
                  <a:srgbClr val="ECE7DC"/>
                </a:solidFill>
                <a:latin typeface="Consolas"/>
              </a:rPr>
              <a:t>    │   │       │   │   │       │     » 0-normal.woff</a:t>
            </a:r>
          </a:p>
          <a:p>
            <a:pPr algn="l">
              <a:lnSpc>
                <a:spcPct val="100000"/>
              </a:lnSpc>
            </a:pPr>
            <a:r>
              <a:rPr sz="800" b="0" i="0">
                <a:solidFill>
                  <a:srgbClr val="ECE7DC"/>
                </a:solidFill>
                <a:latin typeface="Consolas"/>
              </a:rPr>
              <a:t>    │   │       │   │   │       └── nunito-vietnamese-70</a:t>
            </a:r>
          </a:p>
          <a:p>
            <a:pPr algn="l">
              <a:lnSpc>
                <a:spcPct val="100000"/>
              </a:lnSpc>
            </a:pPr>
            <a:r>
              <a:rPr sz="800" b="0" i="0">
                <a:solidFill>
                  <a:srgbClr val="ECE7DC"/>
                </a:solidFill>
                <a:latin typeface="Consolas"/>
              </a:rPr>
              <a:t>    │   │       │   │   │             » 0-normal.woff2</a:t>
            </a:r>
          </a:p>
          <a:p>
            <a:pPr algn="l">
              <a:lnSpc>
                <a:spcPct val="100000"/>
              </a:lnSpc>
            </a:pPr>
            <a:r>
              <a:rPr sz="800" b="0" i="0">
                <a:solidFill>
                  <a:srgbClr val="3BBE93"/>
                </a:solidFill>
                <a:latin typeface="Consolas"/>
              </a:rPr>
              <a:t>    │   │       │   │   ├── xterm/</a:t>
            </a:r>
          </a:p>
          <a:p>
            <a:pPr algn="l">
              <a:lnSpc>
                <a:spcPct val="100000"/>
              </a:lnSpc>
            </a:pPr>
            <a:r>
              <a:rPr sz="800" b="0" i="0">
                <a:solidFill>
                  <a:srgbClr val="ECE7DC"/>
                </a:solidFill>
                <a:latin typeface="Consolas"/>
              </a:rPr>
              <a:t>    │   │       │   │   │   ├── LICENSE</a:t>
            </a:r>
          </a:p>
          <a:p>
            <a:pPr algn="l">
              <a:lnSpc>
                <a:spcPct val="100000"/>
              </a:lnSpc>
            </a:pPr>
            <a:r>
              <a:rPr sz="800" b="0" i="0">
                <a:solidFill>
                  <a:srgbClr val="3BBE93"/>
                </a:solidFill>
                <a:latin typeface="Consolas"/>
              </a:rPr>
              <a:t>    │   │       │   │   │   └── css/</a:t>
            </a:r>
          </a:p>
          <a:p>
            <a:pPr algn="l">
              <a:lnSpc>
                <a:spcPct val="100000"/>
              </a:lnSpc>
            </a:pPr>
            <a:r>
              <a:rPr sz="800" b="0" i="0">
                <a:solidFill>
                  <a:srgbClr val="ECE7DC"/>
                </a:solidFill>
                <a:latin typeface="Consolas"/>
              </a:rPr>
              <a:t>    │   │       │   │   │       └── xterm.css</a:t>
            </a:r>
          </a:p>
          <a:p>
            <a:pPr algn="l">
              <a:lnSpc>
                <a:spcPct val="100000"/>
              </a:lnSpc>
            </a:pPr>
            <a:r>
              <a:rPr sz="800" b="0" i="0">
                <a:solidFill>
                  <a:srgbClr val="3BBE93"/>
                </a:solidFill>
                <a:latin typeface="Consolas"/>
              </a:rPr>
              <a:t>    │   │       │   │   ├── xterm-addon-fit/</a:t>
            </a:r>
          </a:p>
          <a:p>
            <a:pPr algn="l">
              <a:lnSpc>
                <a:spcPct val="100000"/>
              </a:lnSpc>
            </a:pPr>
            <a:r>
              <a:rPr sz="800" b="0" i="0">
                <a:solidFill>
                  <a:srgbClr val="ECE7DC"/>
                </a:solidFill>
                <a:latin typeface="Consolas"/>
              </a:rPr>
              <a:t>    │   │       │   │   │   └── LICENSE</a:t>
            </a:r>
          </a:p>
          <a:p>
            <a:pPr algn="l">
              <a:lnSpc>
                <a:spcPct val="100000"/>
              </a:lnSpc>
            </a:pPr>
            <a:r>
              <a:rPr sz="800" b="0" i="0">
                <a:solidFill>
                  <a:srgbClr val="3BBE93"/>
                </a:solidFill>
                <a:latin typeface="Consolas"/>
              </a:rPr>
              <a:t>    │   │       │   │   └── xterm-addon-web-links/</a:t>
            </a:r>
          </a:p>
          <a:p>
            <a:pPr algn="l">
              <a:lnSpc>
                <a:spcPct val="100000"/>
              </a:lnSpc>
            </a:pPr>
            <a:r>
              <a:rPr sz="800" b="0" i="0">
                <a:solidFill>
                  <a:srgbClr val="ECE7DC"/>
                </a:solidFill>
                <a:latin typeface="Consolas"/>
              </a:rPr>
              <a:t>    │   │       │   │       └── LICENSE</a:t>
            </a:r>
          </a:p>
          <a:p>
            <a:pPr algn="l">
              <a:lnSpc>
                <a:spcPct val="100000"/>
              </a:lnSpc>
            </a:pPr>
            <a:r>
              <a:rPr sz="800" b="0" i="0">
                <a:solidFill>
                  <a:srgbClr val="3BBE93"/>
                </a:solidFill>
                <a:latin typeface="Consolas"/>
              </a:rPr>
              <a:t>    │   │       │   └── pdfjs/</a:t>
            </a:r>
          </a:p>
          <a:p>
            <a:pPr algn="l">
              <a:lnSpc>
                <a:spcPct val="100000"/>
              </a:lnSpc>
            </a:pPr>
            <a:r>
              <a:rPr sz="800" b="0" i="0">
                <a:solidFill>
                  <a:srgbClr val="ECE7DC"/>
                </a:solidFill>
                <a:latin typeface="Consolas"/>
              </a:rPr>
              <a:t>    │   │       │       ├── LICENSE</a:t>
            </a:r>
          </a:p>
          <a:p>
            <a:pPr algn="l">
              <a:lnSpc>
                <a:spcPct val="100000"/>
              </a:lnSpc>
            </a:pPr>
            <a:r>
              <a:rPr sz="800" b="0" i="0">
                <a:solidFill>
                  <a:srgbClr val="ECE7DC"/>
                </a:solidFill>
                <a:latin typeface="Consolas"/>
              </a:rPr>
              <a:t>    │   │       │       ├── VERSION</a:t>
            </a:r>
          </a:p>
          <a:p>
            <a:pPr algn="l">
              <a:lnSpc>
                <a:spcPct val="100000"/>
              </a:lnSpc>
            </a:pPr>
            <a:r>
              <a:rPr sz="800" b="0" i="0">
                <a:solidFill>
                  <a:srgbClr val="3BBE93"/>
                </a:solidFill>
                <a:latin typeface="Consolas"/>
              </a:rPr>
              <a:t>    │   │       │       ├── build/</a:t>
            </a:r>
          </a:p>
          <a:p>
            <a:pPr algn="l">
              <a:lnSpc>
                <a:spcPct val="100000"/>
              </a:lnSpc>
            </a:pPr>
            <a:r>
              <a:rPr sz="800" b="0" i="0">
                <a:solidFill>
                  <a:srgbClr val="ECE7DC"/>
                </a:solidFill>
                <a:latin typeface="Consolas"/>
              </a:rPr>
              <a:t>    │   │       │       │   ├── pdf.mjs</a:t>
            </a:r>
          </a:p>
          <a:p>
            <a:pPr algn="l">
              <a:lnSpc>
                <a:spcPct val="100000"/>
              </a:lnSpc>
            </a:pPr>
            <a:r>
              <a:rPr sz="800" b="0" i="0">
                <a:solidFill>
                  <a:srgbClr val="ECE7DC"/>
                </a:solidFill>
                <a:latin typeface="Consolas"/>
              </a:rPr>
              <a:t>    │   │       │       │   └── pdf.worker.mjs</a:t>
            </a:r>
          </a:p>
          <a:p>
            <a:pPr algn="l">
              <a:lnSpc>
                <a:spcPct val="100000"/>
              </a:lnSpc>
            </a:pPr>
            <a:r>
              <a:rPr sz="800" b="0" i="0">
                <a:solidFill>
                  <a:srgbClr val="3BBE93"/>
                </a:solidFill>
                <a:latin typeface="Consolas"/>
              </a:rPr>
              <a:t>    │   │       │       ├── cmaps/</a:t>
            </a:r>
          </a:p>
          <a:p>
            <a:pPr algn="l">
              <a:lnSpc>
                <a:spcPct val="100000"/>
              </a:lnSpc>
            </a:pPr>
            <a:r>
              <a:rPr sz="800" b="0" i="0">
                <a:solidFill>
                  <a:srgbClr val="ECE7DC"/>
                </a:solidFill>
                <a:latin typeface="Consolas"/>
              </a:rPr>
              <a:t>    │   │       │       │   ├── 78-EUC-H.bcmap</a:t>
            </a:r>
          </a:p>
          <a:p>
            <a:pPr algn="l">
              <a:lnSpc>
                <a:spcPct val="100000"/>
              </a:lnSpc>
            </a:pPr>
            <a:r>
              <a:rPr sz="800" b="0" i="0">
                <a:solidFill>
                  <a:srgbClr val="ECE7DC"/>
                </a:solidFill>
                <a:latin typeface="Consolas"/>
              </a:rPr>
              <a:t>    │   │       │       │   ├── 78-EUC-V.bcmap</a:t>
            </a:r>
          </a:p>
          <a:p>
            <a:pPr algn="l">
              <a:lnSpc>
                <a:spcPct val="100000"/>
              </a:lnSpc>
            </a:pPr>
            <a:r>
              <a:rPr sz="800" b="0" i="0">
                <a:solidFill>
                  <a:srgbClr val="ECE7DC"/>
                </a:solidFill>
                <a:latin typeface="Consolas"/>
              </a:rPr>
              <a:t>    │   │       │       │   ├── 78-H.bcmap</a:t>
            </a:r>
          </a:p>
          <a:p>
            <a:pPr algn="l">
              <a:lnSpc>
                <a:spcPct val="100000"/>
              </a:lnSpc>
            </a:pPr>
            <a:r>
              <a:rPr sz="800" b="0" i="0">
                <a:solidFill>
                  <a:srgbClr val="ECE7DC"/>
                </a:solidFill>
                <a:latin typeface="Consolas"/>
              </a:rPr>
              <a:t>    │   │       │       │   ├── 78-RKSJ-H.bcmap</a:t>
            </a:r>
          </a:p>
          <a:p>
            <a:pPr algn="l">
              <a:lnSpc>
                <a:spcPct val="100000"/>
              </a:lnSpc>
            </a:pPr>
            <a:r>
              <a:rPr sz="800" b="0" i="0">
                <a:solidFill>
                  <a:srgbClr val="ECE7DC"/>
                </a:solidFill>
                <a:latin typeface="Consolas"/>
              </a:rPr>
              <a:t>    │   │       │       │   ├── 78-RKSJ-V.bcmap</a:t>
            </a:r>
          </a:p>
          <a:p>
            <a:pPr algn="l">
              <a:lnSpc>
                <a:spcPct val="100000"/>
              </a:lnSpc>
            </a:pPr>
            <a:r>
              <a:rPr sz="800" b="0" i="0">
                <a:solidFill>
                  <a:srgbClr val="ECE7DC"/>
                </a:solidFill>
                <a:latin typeface="Consolas"/>
              </a:rPr>
              <a:t>    │   │       │       │   ├── 78-V.bcmap</a:t>
            </a:r>
          </a:p>
          <a:p>
            <a:pPr algn="l">
              <a:lnSpc>
                <a:spcPct val="100000"/>
              </a:lnSpc>
            </a:pPr>
            <a:r>
              <a:rPr sz="800" b="0" i="0">
                <a:solidFill>
                  <a:srgbClr val="ECE7DC"/>
                </a:solidFill>
                <a:latin typeface="Consolas"/>
              </a:rPr>
              <a:t>    │   │       │       │   ├── 78ms-RKSJ-H.bcmap</a:t>
            </a:r>
          </a:p>
        </p:txBody>
      </p:sp>
      <p:sp>
        <p:nvSpPr>
          <p:cNvPr id="6" name="TextBox 5"/>
          <p:cNvSpPr txBox="1"/>
          <p:nvPr/>
        </p:nvSpPr>
        <p:spPr>
          <a:xfrm>
            <a:off x="4338218" y="1170432"/>
            <a:ext cx="3515258" cy="5084064"/>
          </a:xfrm>
          <a:prstGeom prst="rect">
            <a:avLst/>
          </a:prstGeom>
          <a:noFill/>
        </p:spPr>
        <p:txBody>
          <a:bodyPr wrap="none" lIns="45720" rIns="45720" tIns="27432" bIns="27432" anchor="t">
            <a:noAutofit/>
          </a:bodyPr>
          <a:lstStyle/>
          <a:p>
            <a:pPr algn="l">
              <a:lnSpc>
                <a:spcPct val="100000"/>
              </a:lnSpc>
            </a:pPr>
            <a:r>
              <a:rPr sz="800" b="0" i="0">
                <a:solidFill>
                  <a:srgbClr val="ECE7DC"/>
                </a:solidFill>
                <a:latin typeface="Consolas"/>
              </a:rPr>
              <a:t>    │   │       │       │   ├── 78ms-RKSJ-V.bcmap</a:t>
            </a:r>
          </a:p>
          <a:p>
            <a:pPr algn="l">
              <a:lnSpc>
                <a:spcPct val="100000"/>
              </a:lnSpc>
            </a:pPr>
            <a:r>
              <a:rPr sz="800" b="0" i="0">
                <a:solidFill>
                  <a:srgbClr val="ECE7DC"/>
                </a:solidFill>
                <a:latin typeface="Consolas"/>
              </a:rPr>
              <a:t>    │   │       │       │   ├── 83pv-RKSJ-H.bcmap</a:t>
            </a:r>
          </a:p>
          <a:p>
            <a:pPr algn="l">
              <a:lnSpc>
                <a:spcPct val="100000"/>
              </a:lnSpc>
            </a:pPr>
            <a:r>
              <a:rPr sz="800" b="0" i="0">
                <a:solidFill>
                  <a:srgbClr val="ECE7DC"/>
                </a:solidFill>
                <a:latin typeface="Consolas"/>
              </a:rPr>
              <a:t>    │   │       │       │   ├── 90ms-RKSJ-H.bcmap</a:t>
            </a:r>
          </a:p>
          <a:p>
            <a:pPr algn="l">
              <a:lnSpc>
                <a:spcPct val="100000"/>
              </a:lnSpc>
            </a:pPr>
            <a:r>
              <a:rPr sz="800" b="0" i="0">
                <a:solidFill>
                  <a:srgbClr val="ECE7DC"/>
                </a:solidFill>
                <a:latin typeface="Consolas"/>
              </a:rPr>
              <a:t>    │   │       │       │   ├── 90ms-RKSJ-V.bcmap</a:t>
            </a:r>
          </a:p>
          <a:p>
            <a:pPr algn="l">
              <a:lnSpc>
                <a:spcPct val="100000"/>
              </a:lnSpc>
            </a:pPr>
            <a:r>
              <a:rPr sz="800" b="0" i="0">
                <a:solidFill>
                  <a:srgbClr val="ECE7DC"/>
                </a:solidFill>
                <a:latin typeface="Consolas"/>
              </a:rPr>
              <a:t>    │   │       │       │   ├── 90msp-RKSJ-H.bcmap</a:t>
            </a:r>
          </a:p>
          <a:p>
            <a:pPr algn="l">
              <a:lnSpc>
                <a:spcPct val="100000"/>
              </a:lnSpc>
            </a:pPr>
            <a:r>
              <a:rPr sz="800" b="0" i="0">
                <a:solidFill>
                  <a:srgbClr val="ECE7DC"/>
                </a:solidFill>
                <a:latin typeface="Consolas"/>
              </a:rPr>
              <a:t>    │   │       │       │   ├── 90msp-RKSJ-V.bcmap</a:t>
            </a:r>
          </a:p>
          <a:p>
            <a:pPr algn="l">
              <a:lnSpc>
                <a:spcPct val="100000"/>
              </a:lnSpc>
            </a:pPr>
            <a:r>
              <a:rPr sz="800" b="0" i="0">
                <a:solidFill>
                  <a:srgbClr val="ECE7DC"/>
                </a:solidFill>
                <a:latin typeface="Consolas"/>
              </a:rPr>
              <a:t>    │   │       │       │   ├── 90pv-RKSJ-H.bcmap</a:t>
            </a:r>
          </a:p>
          <a:p>
            <a:pPr algn="l">
              <a:lnSpc>
                <a:spcPct val="100000"/>
              </a:lnSpc>
            </a:pPr>
            <a:r>
              <a:rPr sz="800" b="0" i="0">
                <a:solidFill>
                  <a:srgbClr val="ECE7DC"/>
                </a:solidFill>
                <a:latin typeface="Consolas"/>
              </a:rPr>
              <a:t>    │   │       │       │   ├── 90pv-RKSJ-V.bcmap</a:t>
            </a:r>
          </a:p>
          <a:p>
            <a:pPr algn="l">
              <a:lnSpc>
                <a:spcPct val="100000"/>
              </a:lnSpc>
            </a:pPr>
            <a:r>
              <a:rPr sz="800" b="0" i="0">
                <a:solidFill>
                  <a:srgbClr val="ECE7DC"/>
                </a:solidFill>
                <a:latin typeface="Consolas"/>
              </a:rPr>
              <a:t>    │   │       │       │   ├── Add-H.bcmap</a:t>
            </a:r>
          </a:p>
          <a:p>
            <a:pPr algn="l">
              <a:lnSpc>
                <a:spcPct val="100000"/>
              </a:lnSpc>
            </a:pPr>
            <a:r>
              <a:rPr sz="800" b="0" i="0">
                <a:solidFill>
                  <a:srgbClr val="ECE7DC"/>
                </a:solidFill>
                <a:latin typeface="Consolas"/>
              </a:rPr>
              <a:t>    │   │       │       │   ├── Add-RKSJ-H.bcmap</a:t>
            </a:r>
          </a:p>
          <a:p>
            <a:pPr algn="l">
              <a:lnSpc>
                <a:spcPct val="100000"/>
              </a:lnSpc>
            </a:pPr>
            <a:r>
              <a:rPr sz="800" b="0" i="0">
                <a:solidFill>
                  <a:srgbClr val="ECE7DC"/>
                </a:solidFill>
                <a:latin typeface="Consolas"/>
              </a:rPr>
              <a:t>    │   │       │       │   ├── Add-RKSJ-V.bcmap</a:t>
            </a:r>
          </a:p>
          <a:p>
            <a:pPr algn="l">
              <a:lnSpc>
                <a:spcPct val="100000"/>
              </a:lnSpc>
            </a:pPr>
            <a:r>
              <a:rPr sz="800" b="0" i="0">
                <a:solidFill>
                  <a:srgbClr val="ECE7DC"/>
                </a:solidFill>
                <a:latin typeface="Consolas"/>
              </a:rPr>
              <a:t>    │   │       │       │   ├── Add-V.bcmap</a:t>
            </a:r>
          </a:p>
          <a:p>
            <a:pPr algn="l">
              <a:lnSpc>
                <a:spcPct val="100000"/>
              </a:lnSpc>
            </a:pPr>
            <a:r>
              <a:rPr sz="800" b="0" i="0">
                <a:solidFill>
                  <a:srgbClr val="ECE7DC"/>
                </a:solidFill>
                <a:latin typeface="Consolas"/>
              </a:rPr>
              <a:t>    │   │       │       │   ├── Adobe-CNS1-0.bcmap</a:t>
            </a:r>
          </a:p>
          <a:p>
            <a:pPr algn="l">
              <a:lnSpc>
                <a:spcPct val="100000"/>
              </a:lnSpc>
            </a:pPr>
            <a:r>
              <a:rPr sz="800" b="0" i="0">
                <a:solidFill>
                  <a:srgbClr val="ECE7DC"/>
                </a:solidFill>
                <a:latin typeface="Consolas"/>
              </a:rPr>
              <a:t>    │   │       │       │   ├── Adobe-CNS1-1.bcmap</a:t>
            </a:r>
          </a:p>
          <a:p>
            <a:pPr algn="l">
              <a:lnSpc>
                <a:spcPct val="100000"/>
              </a:lnSpc>
            </a:pPr>
            <a:r>
              <a:rPr sz="800" b="0" i="0">
                <a:solidFill>
                  <a:srgbClr val="ECE7DC"/>
                </a:solidFill>
                <a:latin typeface="Consolas"/>
              </a:rPr>
              <a:t>    │   │       │       │   ├── Adobe-CNS1-2.bcmap</a:t>
            </a:r>
          </a:p>
          <a:p>
            <a:pPr algn="l">
              <a:lnSpc>
                <a:spcPct val="100000"/>
              </a:lnSpc>
            </a:pPr>
            <a:r>
              <a:rPr sz="800" b="0" i="0">
                <a:solidFill>
                  <a:srgbClr val="ECE7DC"/>
                </a:solidFill>
                <a:latin typeface="Consolas"/>
              </a:rPr>
              <a:t>    │   │       │       │   ├── Adobe-CNS1-3.bcmap</a:t>
            </a:r>
          </a:p>
          <a:p>
            <a:pPr algn="l">
              <a:lnSpc>
                <a:spcPct val="100000"/>
              </a:lnSpc>
            </a:pPr>
            <a:r>
              <a:rPr sz="800" b="0" i="0">
                <a:solidFill>
                  <a:srgbClr val="ECE7DC"/>
                </a:solidFill>
                <a:latin typeface="Consolas"/>
              </a:rPr>
              <a:t>    │   │       │       │   ├── Adobe-CNS1-4.bcmap</a:t>
            </a:r>
          </a:p>
          <a:p>
            <a:pPr algn="l">
              <a:lnSpc>
                <a:spcPct val="100000"/>
              </a:lnSpc>
            </a:pPr>
            <a:r>
              <a:rPr sz="800" b="0" i="0">
                <a:solidFill>
                  <a:srgbClr val="ECE7DC"/>
                </a:solidFill>
                <a:latin typeface="Consolas"/>
              </a:rPr>
              <a:t>    │   │       │       │   ├── Adobe-CNS1-5.bcmap</a:t>
            </a:r>
          </a:p>
          <a:p>
            <a:pPr algn="l">
              <a:lnSpc>
                <a:spcPct val="100000"/>
              </a:lnSpc>
            </a:pPr>
            <a:r>
              <a:rPr sz="800" b="0" i="0">
                <a:solidFill>
                  <a:srgbClr val="ECE7DC"/>
                </a:solidFill>
                <a:latin typeface="Consolas"/>
              </a:rPr>
              <a:t>    │   │       │       │   ├── Adobe-CNS1-6.bcmap</a:t>
            </a:r>
          </a:p>
          <a:p>
            <a:pPr algn="l">
              <a:lnSpc>
                <a:spcPct val="100000"/>
              </a:lnSpc>
            </a:pPr>
            <a:r>
              <a:rPr sz="800" b="0" i="0">
                <a:solidFill>
                  <a:srgbClr val="ECE7DC"/>
                </a:solidFill>
                <a:latin typeface="Consolas"/>
              </a:rPr>
              <a:t>    │   │       │       │   ├── Adobe-CNS1-UCS2.bcmap</a:t>
            </a:r>
          </a:p>
          <a:p>
            <a:pPr algn="l">
              <a:lnSpc>
                <a:spcPct val="100000"/>
              </a:lnSpc>
            </a:pPr>
            <a:r>
              <a:rPr sz="800" b="0" i="0">
                <a:solidFill>
                  <a:srgbClr val="ECE7DC"/>
                </a:solidFill>
                <a:latin typeface="Consolas"/>
              </a:rPr>
              <a:t>    │   │       │       │   ├── Adobe-GB1-0.bcmap</a:t>
            </a:r>
          </a:p>
          <a:p>
            <a:pPr algn="l">
              <a:lnSpc>
                <a:spcPct val="100000"/>
              </a:lnSpc>
            </a:pPr>
            <a:r>
              <a:rPr sz="800" b="0" i="0">
                <a:solidFill>
                  <a:srgbClr val="ECE7DC"/>
                </a:solidFill>
                <a:latin typeface="Consolas"/>
              </a:rPr>
              <a:t>    │   │       │       │   ├── Adobe-GB1-1.bcmap</a:t>
            </a:r>
          </a:p>
          <a:p>
            <a:pPr algn="l">
              <a:lnSpc>
                <a:spcPct val="100000"/>
              </a:lnSpc>
            </a:pPr>
            <a:r>
              <a:rPr sz="800" b="0" i="0">
                <a:solidFill>
                  <a:srgbClr val="ECE7DC"/>
                </a:solidFill>
                <a:latin typeface="Consolas"/>
              </a:rPr>
              <a:t>    │   │       │       │   ├── Adobe-GB1-2.bcmap</a:t>
            </a:r>
          </a:p>
          <a:p>
            <a:pPr algn="l">
              <a:lnSpc>
                <a:spcPct val="100000"/>
              </a:lnSpc>
            </a:pPr>
            <a:r>
              <a:rPr sz="800" b="0" i="0">
                <a:solidFill>
                  <a:srgbClr val="ECE7DC"/>
                </a:solidFill>
                <a:latin typeface="Consolas"/>
              </a:rPr>
              <a:t>    │   │       │       │   ├── Adobe-GB1-3.bcmap</a:t>
            </a:r>
          </a:p>
          <a:p>
            <a:pPr algn="l">
              <a:lnSpc>
                <a:spcPct val="100000"/>
              </a:lnSpc>
            </a:pPr>
            <a:r>
              <a:rPr sz="800" b="0" i="0">
                <a:solidFill>
                  <a:srgbClr val="ECE7DC"/>
                </a:solidFill>
                <a:latin typeface="Consolas"/>
              </a:rPr>
              <a:t>    │   │       │       │   ├── Adobe-GB1-4.bcmap</a:t>
            </a:r>
          </a:p>
          <a:p>
            <a:pPr algn="l">
              <a:lnSpc>
                <a:spcPct val="100000"/>
              </a:lnSpc>
            </a:pPr>
            <a:r>
              <a:rPr sz="800" b="0" i="0">
                <a:solidFill>
                  <a:srgbClr val="ECE7DC"/>
                </a:solidFill>
                <a:latin typeface="Consolas"/>
              </a:rPr>
              <a:t>    │   │       │       │   ├── Adobe-GB1-5.bcmap</a:t>
            </a:r>
          </a:p>
          <a:p>
            <a:pPr algn="l">
              <a:lnSpc>
                <a:spcPct val="100000"/>
              </a:lnSpc>
            </a:pPr>
            <a:r>
              <a:rPr sz="800" b="0" i="0">
                <a:solidFill>
                  <a:srgbClr val="ECE7DC"/>
                </a:solidFill>
                <a:latin typeface="Consolas"/>
              </a:rPr>
              <a:t>    │   │       │       │   ├── Adobe-GB1-UCS2.bcmap</a:t>
            </a:r>
          </a:p>
          <a:p>
            <a:pPr algn="l">
              <a:lnSpc>
                <a:spcPct val="100000"/>
              </a:lnSpc>
            </a:pPr>
            <a:r>
              <a:rPr sz="800" b="0" i="0">
                <a:solidFill>
                  <a:srgbClr val="ECE7DC"/>
                </a:solidFill>
                <a:latin typeface="Consolas"/>
              </a:rPr>
              <a:t>    │   │       │       │   ├── Adobe-Japan1-0.bcmap</a:t>
            </a:r>
          </a:p>
          <a:p>
            <a:pPr algn="l">
              <a:lnSpc>
                <a:spcPct val="100000"/>
              </a:lnSpc>
            </a:pPr>
            <a:r>
              <a:rPr sz="800" b="0" i="0">
                <a:solidFill>
                  <a:srgbClr val="ECE7DC"/>
                </a:solidFill>
                <a:latin typeface="Consolas"/>
              </a:rPr>
              <a:t>    │   │       │       │   ├── Adobe-Japan1-1.bcmap</a:t>
            </a:r>
          </a:p>
          <a:p>
            <a:pPr algn="l">
              <a:lnSpc>
                <a:spcPct val="100000"/>
              </a:lnSpc>
            </a:pPr>
            <a:r>
              <a:rPr sz="800" b="0" i="0">
                <a:solidFill>
                  <a:srgbClr val="ECE7DC"/>
                </a:solidFill>
                <a:latin typeface="Consolas"/>
              </a:rPr>
              <a:t>    │   │       │       │   ├── Adobe-Japan1-2.bcmap</a:t>
            </a:r>
          </a:p>
          <a:p>
            <a:pPr algn="l">
              <a:lnSpc>
                <a:spcPct val="100000"/>
              </a:lnSpc>
            </a:pPr>
            <a:r>
              <a:rPr sz="800" b="0" i="0">
                <a:solidFill>
                  <a:srgbClr val="ECE7DC"/>
                </a:solidFill>
                <a:latin typeface="Consolas"/>
              </a:rPr>
              <a:t>    │   │       │       │   ├── Adobe-Japan1-3.bcmap</a:t>
            </a:r>
          </a:p>
          <a:p>
            <a:pPr algn="l">
              <a:lnSpc>
                <a:spcPct val="100000"/>
              </a:lnSpc>
            </a:pPr>
            <a:r>
              <a:rPr sz="800" b="0" i="0">
                <a:solidFill>
                  <a:srgbClr val="ECE7DC"/>
                </a:solidFill>
                <a:latin typeface="Consolas"/>
              </a:rPr>
              <a:t>    │   │       │       │   ├── Adobe-Japan1-4.bcmap</a:t>
            </a:r>
          </a:p>
          <a:p>
            <a:pPr algn="l">
              <a:lnSpc>
                <a:spcPct val="100000"/>
              </a:lnSpc>
            </a:pPr>
            <a:r>
              <a:rPr sz="800" b="0" i="0">
                <a:solidFill>
                  <a:srgbClr val="ECE7DC"/>
                </a:solidFill>
                <a:latin typeface="Consolas"/>
              </a:rPr>
              <a:t>    │   │       │       │   ├── Adobe-Japan1-5.bcmap</a:t>
            </a:r>
          </a:p>
          <a:p>
            <a:pPr algn="l">
              <a:lnSpc>
                <a:spcPct val="100000"/>
              </a:lnSpc>
            </a:pPr>
            <a:r>
              <a:rPr sz="800" b="0" i="0">
                <a:solidFill>
                  <a:srgbClr val="ECE7DC"/>
                </a:solidFill>
                <a:latin typeface="Consolas"/>
              </a:rPr>
              <a:t>    │   │       │       │   ├── Adobe-Japan1-6.bcmap</a:t>
            </a:r>
          </a:p>
          <a:p>
            <a:pPr algn="l">
              <a:lnSpc>
                <a:spcPct val="100000"/>
              </a:lnSpc>
            </a:pPr>
            <a:r>
              <a:rPr sz="800" b="0" i="0">
                <a:solidFill>
                  <a:srgbClr val="ECE7DC"/>
                </a:solidFill>
                <a:latin typeface="Consolas"/>
              </a:rPr>
              <a:t>    │   │       │       │   ├── Adobe-Japan1-UCS2.bcmap</a:t>
            </a:r>
          </a:p>
          <a:p>
            <a:pPr algn="l">
              <a:lnSpc>
                <a:spcPct val="100000"/>
              </a:lnSpc>
            </a:pPr>
            <a:r>
              <a:rPr sz="800" b="0" i="0">
                <a:solidFill>
                  <a:srgbClr val="ECE7DC"/>
                </a:solidFill>
                <a:latin typeface="Consolas"/>
              </a:rPr>
              <a:t>    │   │       │       │   ├── Adobe-Korea1-0.bcmap</a:t>
            </a:r>
          </a:p>
          <a:p>
            <a:pPr algn="l">
              <a:lnSpc>
                <a:spcPct val="100000"/>
              </a:lnSpc>
            </a:pPr>
            <a:r>
              <a:rPr sz="800" b="0" i="0">
                <a:solidFill>
                  <a:srgbClr val="ECE7DC"/>
                </a:solidFill>
                <a:latin typeface="Consolas"/>
              </a:rPr>
              <a:t>    │   │       │       │   ├── Adobe-Korea1-1.bcmap</a:t>
            </a:r>
          </a:p>
          <a:p>
            <a:pPr algn="l">
              <a:lnSpc>
                <a:spcPct val="100000"/>
              </a:lnSpc>
            </a:pPr>
            <a:r>
              <a:rPr sz="800" b="0" i="0">
                <a:solidFill>
                  <a:srgbClr val="ECE7DC"/>
                </a:solidFill>
                <a:latin typeface="Consolas"/>
              </a:rPr>
              <a:t>    │   │       │       │   ├── Adobe-Korea1-2.bcmap</a:t>
            </a:r>
          </a:p>
          <a:p>
            <a:pPr algn="l">
              <a:lnSpc>
                <a:spcPct val="100000"/>
              </a:lnSpc>
            </a:pPr>
            <a:r>
              <a:rPr sz="800" b="0" i="0">
                <a:solidFill>
                  <a:srgbClr val="ECE7DC"/>
                </a:solidFill>
                <a:latin typeface="Consolas"/>
              </a:rPr>
              <a:t>    │   │       │       │   ├── Adobe-Korea1-UCS2.bcmap</a:t>
            </a:r>
          </a:p>
          <a:p>
            <a:pPr algn="l">
              <a:lnSpc>
                <a:spcPct val="100000"/>
              </a:lnSpc>
            </a:pPr>
            <a:r>
              <a:rPr sz="800" b="0" i="0">
                <a:solidFill>
                  <a:srgbClr val="ECE7DC"/>
                </a:solidFill>
                <a:latin typeface="Consolas"/>
              </a:rPr>
              <a:t>    │   │       │       │   ├── B5-H.bcmap</a:t>
            </a:r>
          </a:p>
          <a:p>
            <a:pPr algn="l">
              <a:lnSpc>
                <a:spcPct val="100000"/>
              </a:lnSpc>
            </a:pPr>
            <a:r>
              <a:rPr sz="800" b="0" i="0">
                <a:solidFill>
                  <a:srgbClr val="ECE7DC"/>
                </a:solidFill>
                <a:latin typeface="Consolas"/>
              </a:rPr>
              <a:t>    │   │       │       │   ├── B5-V.bcmap</a:t>
            </a:r>
          </a:p>
        </p:txBody>
      </p:sp>
      <p:sp>
        <p:nvSpPr>
          <p:cNvPr id="7" name="TextBox 6"/>
          <p:cNvSpPr txBox="1"/>
          <p:nvPr/>
        </p:nvSpPr>
        <p:spPr>
          <a:xfrm>
            <a:off x="8109508" y="1170432"/>
            <a:ext cx="3515258" cy="5084064"/>
          </a:xfrm>
          <a:prstGeom prst="rect">
            <a:avLst/>
          </a:prstGeom>
          <a:noFill/>
        </p:spPr>
        <p:txBody>
          <a:bodyPr wrap="none" lIns="45720" rIns="45720" tIns="27432" bIns="27432" anchor="t">
            <a:noAutofit/>
          </a:bodyPr>
          <a:lstStyle/>
          <a:p>
            <a:pPr algn="l">
              <a:lnSpc>
                <a:spcPct val="100000"/>
              </a:lnSpc>
            </a:pPr>
            <a:r>
              <a:rPr sz="800" b="0" i="0">
                <a:solidFill>
                  <a:srgbClr val="ECE7DC"/>
                </a:solidFill>
                <a:latin typeface="Consolas"/>
              </a:rPr>
              <a:t>    │   │       │       │   ├── B5pc-H.bcmap</a:t>
            </a:r>
          </a:p>
          <a:p>
            <a:pPr algn="l">
              <a:lnSpc>
                <a:spcPct val="100000"/>
              </a:lnSpc>
            </a:pPr>
            <a:r>
              <a:rPr sz="800" b="0" i="0">
                <a:solidFill>
                  <a:srgbClr val="ECE7DC"/>
                </a:solidFill>
                <a:latin typeface="Consolas"/>
              </a:rPr>
              <a:t>    │   │       │       │   ├── B5pc-V.bcmap</a:t>
            </a:r>
          </a:p>
          <a:p>
            <a:pPr algn="l">
              <a:lnSpc>
                <a:spcPct val="100000"/>
              </a:lnSpc>
            </a:pPr>
            <a:r>
              <a:rPr sz="800" b="0" i="0">
                <a:solidFill>
                  <a:srgbClr val="ECE7DC"/>
                </a:solidFill>
                <a:latin typeface="Consolas"/>
              </a:rPr>
              <a:t>    │   │       │       │   ├── CNS-EUC-H.bcmap</a:t>
            </a:r>
          </a:p>
          <a:p>
            <a:pPr algn="l">
              <a:lnSpc>
                <a:spcPct val="100000"/>
              </a:lnSpc>
            </a:pPr>
            <a:r>
              <a:rPr sz="800" b="0" i="0">
                <a:solidFill>
                  <a:srgbClr val="ECE7DC"/>
                </a:solidFill>
                <a:latin typeface="Consolas"/>
              </a:rPr>
              <a:t>    │   │       │       │   ├── CNS-EUC-V.bcmap</a:t>
            </a:r>
          </a:p>
          <a:p>
            <a:pPr algn="l">
              <a:lnSpc>
                <a:spcPct val="100000"/>
              </a:lnSpc>
            </a:pPr>
            <a:r>
              <a:rPr sz="800" b="0" i="0">
                <a:solidFill>
                  <a:srgbClr val="ECE7DC"/>
                </a:solidFill>
                <a:latin typeface="Consolas"/>
              </a:rPr>
              <a:t>    │   │       │       │   ├── CNS1-H.bcmap</a:t>
            </a:r>
          </a:p>
          <a:p>
            <a:pPr algn="l">
              <a:lnSpc>
                <a:spcPct val="100000"/>
              </a:lnSpc>
            </a:pPr>
            <a:r>
              <a:rPr sz="800" b="0" i="0">
                <a:solidFill>
                  <a:srgbClr val="ECE7DC"/>
                </a:solidFill>
                <a:latin typeface="Consolas"/>
              </a:rPr>
              <a:t>    │   │       │       │   ├── CNS1-V.bcmap</a:t>
            </a:r>
          </a:p>
          <a:p>
            <a:pPr algn="l">
              <a:lnSpc>
                <a:spcPct val="100000"/>
              </a:lnSpc>
            </a:pPr>
            <a:r>
              <a:rPr sz="800" b="0" i="0">
                <a:solidFill>
                  <a:srgbClr val="ECE7DC"/>
                </a:solidFill>
                <a:latin typeface="Consolas"/>
              </a:rPr>
              <a:t>    │   │       │       │   ├── CNS2-H.bcmap</a:t>
            </a:r>
          </a:p>
          <a:p>
            <a:pPr algn="l">
              <a:lnSpc>
                <a:spcPct val="100000"/>
              </a:lnSpc>
            </a:pPr>
            <a:r>
              <a:rPr sz="800" b="0" i="0">
                <a:solidFill>
                  <a:srgbClr val="ECE7DC"/>
                </a:solidFill>
                <a:latin typeface="Consolas"/>
              </a:rPr>
              <a:t>    │   │       │       │   ├── CNS2-V.bcmap</a:t>
            </a:r>
          </a:p>
          <a:p>
            <a:pPr algn="l">
              <a:lnSpc>
                <a:spcPct val="100000"/>
              </a:lnSpc>
            </a:pPr>
            <a:r>
              <a:rPr sz="800" b="0" i="0">
                <a:solidFill>
                  <a:srgbClr val="ECE7DC"/>
                </a:solidFill>
                <a:latin typeface="Consolas"/>
              </a:rPr>
              <a:t>    │   │       │       │   ├── ETen-B5-H.bcmap</a:t>
            </a:r>
          </a:p>
          <a:p>
            <a:pPr algn="l">
              <a:lnSpc>
                <a:spcPct val="100000"/>
              </a:lnSpc>
            </a:pPr>
            <a:r>
              <a:rPr sz="800" b="0" i="0">
                <a:solidFill>
                  <a:srgbClr val="ECE7DC"/>
                </a:solidFill>
                <a:latin typeface="Consolas"/>
              </a:rPr>
              <a:t>    │   │       │       │   ├── ETen-B5-V.bcmap</a:t>
            </a:r>
          </a:p>
          <a:p>
            <a:pPr algn="l">
              <a:lnSpc>
                <a:spcPct val="100000"/>
              </a:lnSpc>
            </a:pPr>
            <a:r>
              <a:rPr sz="800" b="0" i="0">
                <a:solidFill>
                  <a:srgbClr val="ECE7DC"/>
                </a:solidFill>
                <a:latin typeface="Consolas"/>
              </a:rPr>
              <a:t>    │   │       │       │   ├── ETenms-B5-H.bcmap</a:t>
            </a:r>
          </a:p>
          <a:p>
            <a:pPr algn="l">
              <a:lnSpc>
                <a:spcPct val="100000"/>
              </a:lnSpc>
            </a:pPr>
            <a:r>
              <a:rPr sz="800" b="0" i="0">
                <a:solidFill>
                  <a:srgbClr val="ECE7DC"/>
                </a:solidFill>
                <a:latin typeface="Consolas"/>
              </a:rPr>
              <a:t>    │   │       │       │   ├── ETenms-B5-V.bcmap</a:t>
            </a:r>
          </a:p>
          <a:p>
            <a:pPr algn="l">
              <a:lnSpc>
                <a:spcPct val="100000"/>
              </a:lnSpc>
            </a:pPr>
            <a:r>
              <a:rPr sz="800" b="0" i="0">
                <a:solidFill>
                  <a:srgbClr val="ECE7DC"/>
                </a:solidFill>
                <a:latin typeface="Consolas"/>
              </a:rPr>
              <a:t>    │   │       │       │   ├── ETHK-B5-H.bcmap</a:t>
            </a:r>
          </a:p>
          <a:p>
            <a:pPr algn="l">
              <a:lnSpc>
                <a:spcPct val="100000"/>
              </a:lnSpc>
            </a:pPr>
            <a:r>
              <a:rPr sz="800" b="0" i="0">
                <a:solidFill>
                  <a:srgbClr val="ECE7DC"/>
                </a:solidFill>
                <a:latin typeface="Consolas"/>
              </a:rPr>
              <a:t>    │   │       │       │   ├── ETHK-B5-V.bcmap</a:t>
            </a:r>
          </a:p>
          <a:p>
            <a:pPr algn="l">
              <a:lnSpc>
                <a:spcPct val="100000"/>
              </a:lnSpc>
            </a:pPr>
            <a:r>
              <a:rPr sz="800" b="0" i="0">
                <a:solidFill>
                  <a:srgbClr val="ECE7DC"/>
                </a:solidFill>
                <a:latin typeface="Consolas"/>
              </a:rPr>
              <a:t>    │   │       │       │   ├── EUC-H.bcmap</a:t>
            </a:r>
          </a:p>
          <a:p>
            <a:pPr algn="l">
              <a:lnSpc>
                <a:spcPct val="100000"/>
              </a:lnSpc>
            </a:pPr>
            <a:r>
              <a:rPr sz="800" b="0" i="0">
                <a:solidFill>
                  <a:srgbClr val="ECE7DC"/>
                </a:solidFill>
                <a:latin typeface="Consolas"/>
              </a:rPr>
              <a:t>    │   │       │       │   ├── EUC-V.bcmap</a:t>
            </a:r>
          </a:p>
          <a:p>
            <a:pPr algn="l">
              <a:lnSpc>
                <a:spcPct val="100000"/>
              </a:lnSpc>
            </a:pPr>
            <a:r>
              <a:rPr sz="800" b="0" i="0">
                <a:solidFill>
                  <a:srgbClr val="ECE7DC"/>
                </a:solidFill>
                <a:latin typeface="Consolas"/>
              </a:rPr>
              <a:t>    │   │       │       │   ├── Ext-H.bcmap</a:t>
            </a:r>
          </a:p>
          <a:p>
            <a:pPr algn="l">
              <a:lnSpc>
                <a:spcPct val="100000"/>
              </a:lnSpc>
            </a:pPr>
            <a:r>
              <a:rPr sz="800" b="0" i="0">
                <a:solidFill>
                  <a:srgbClr val="ECE7DC"/>
                </a:solidFill>
                <a:latin typeface="Consolas"/>
              </a:rPr>
              <a:t>    │   │       │       │   ├── Ext-RKSJ-H.bcmap</a:t>
            </a:r>
          </a:p>
          <a:p>
            <a:pPr algn="l">
              <a:lnSpc>
                <a:spcPct val="100000"/>
              </a:lnSpc>
            </a:pPr>
            <a:r>
              <a:rPr sz="800" b="0" i="0">
                <a:solidFill>
                  <a:srgbClr val="ECE7DC"/>
                </a:solidFill>
                <a:latin typeface="Consolas"/>
              </a:rPr>
              <a:t>    │   │       │       │   ├── Ext-RKSJ-V.bcmap</a:t>
            </a:r>
          </a:p>
          <a:p>
            <a:pPr algn="l">
              <a:lnSpc>
                <a:spcPct val="100000"/>
              </a:lnSpc>
            </a:pPr>
            <a:r>
              <a:rPr sz="800" b="0" i="0">
                <a:solidFill>
                  <a:srgbClr val="ECE7DC"/>
                </a:solidFill>
                <a:latin typeface="Consolas"/>
              </a:rPr>
              <a:t>    │   │       │       │   ├── Ext-V.bcmap</a:t>
            </a:r>
          </a:p>
          <a:p>
            <a:pPr algn="l">
              <a:lnSpc>
                <a:spcPct val="100000"/>
              </a:lnSpc>
            </a:pPr>
            <a:r>
              <a:rPr sz="800" b="0" i="0">
                <a:solidFill>
                  <a:srgbClr val="ECE7DC"/>
                </a:solidFill>
                <a:latin typeface="Consolas"/>
              </a:rPr>
              <a:t>    │   │       │       │   ├── GB-EUC-H.bcmap</a:t>
            </a:r>
          </a:p>
          <a:p>
            <a:pPr algn="l">
              <a:lnSpc>
                <a:spcPct val="100000"/>
              </a:lnSpc>
            </a:pPr>
            <a:r>
              <a:rPr sz="800" b="0" i="0">
                <a:solidFill>
                  <a:srgbClr val="ECE7DC"/>
                </a:solidFill>
                <a:latin typeface="Consolas"/>
              </a:rPr>
              <a:t>    │   │       │       │   ├── GB-EUC-V.bcmap</a:t>
            </a:r>
          </a:p>
          <a:p>
            <a:pPr algn="l">
              <a:lnSpc>
                <a:spcPct val="100000"/>
              </a:lnSpc>
            </a:pPr>
            <a:r>
              <a:rPr sz="800" b="0" i="0">
                <a:solidFill>
                  <a:srgbClr val="ECE7DC"/>
                </a:solidFill>
                <a:latin typeface="Consolas"/>
              </a:rPr>
              <a:t>    │   │       │       │   ├── GB-H.bcmap</a:t>
            </a:r>
          </a:p>
          <a:p>
            <a:pPr algn="l">
              <a:lnSpc>
                <a:spcPct val="100000"/>
              </a:lnSpc>
            </a:pPr>
            <a:r>
              <a:rPr sz="800" b="0" i="0">
                <a:solidFill>
                  <a:srgbClr val="ECE7DC"/>
                </a:solidFill>
                <a:latin typeface="Consolas"/>
              </a:rPr>
              <a:t>    │   │       │       │   ├── GB-V.bcmap</a:t>
            </a:r>
          </a:p>
          <a:p>
            <a:pPr algn="l">
              <a:lnSpc>
                <a:spcPct val="100000"/>
              </a:lnSpc>
            </a:pPr>
            <a:r>
              <a:rPr sz="800" b="0" i="0">
                <a:solidFill>
                  <a:srgbClr val="ECE7DC"/>
                </a:solidFill>
                <a:latin typeface="Consolas"/>
              </a:rPr>
              <a:t>    │   │       │       │   ├── GBK-EUC-H.bcmap</a:t>
            </a:r>
          </a:p>
          <a:p>
            <a:pPr algn="l">
              <a:lnSpc>
                <a:spcPct val="100000"/>
              </a:lnSpc>
            </a:pPr>
            <a:r>
              <a:rPr sz="800" b="0" i="0">
                <a:solidFill>
                  <a:srgbClr val="ECE7DC"/>
                </a:solidFill>
                <a:latin typeface="Consolas"/>
              </a:rPr>
              <a:t>    │   │       │       │   ├── GBK-EUC-V.bcmap</a:t>
            </a:r>
          </a:p>
          <a:p>
            <a:pPr algn="l">
              <a:lnSpc>
                <a:spcPct val="100000"/>
              </a:lnSpc>
            </a:pPr>
            <a:r>
              <a:rPr sz="800" b="0" i="0">
                <a:solidFill>
                  <a:srgbClr val="ECE7DC"/>
                </a:solidFill>
                <a:latin typeface="Consolas"/>
              </a:rPr>
              <a:t>    │   │       │       │   ├── GBK2K-H.bcmap</a:t>
            </a:r>
          </a:p>
          <a:p>
            <a:pPr algn="l">
              <a:lnSpc>
                <a:spcPct val="100000"/>
              </a:lnSpc>
            </a:pPr>
            <a:r>
              <a:rPr sz="800" b="0" i="0">
                <a:solidFill>
                  <a:srgbClr val="ECE7DC"/>
                </a:solidFill>
                <a:latin typeface="Consolas"/>
              </a:rPr>
              <a:t>    │   │       │       │   ├── GBK2K-V.bcmap</a:t>
            </a:r>
          </a:p>
          <a:p>
            <a:pPr algn="l">
              <a:lnSpc>
                <a:spcPct val="100000"/>
              </a:lnSpc>
            </a:pPr>
            <a:r>
              <a:rPr sz="800" b="0" i="0">
                <a:solidFill>
                  <a:srgbClr val="ECE7DC"/>
                </a:solidFill>
                <a:latin typeface="Consolas"/>
              </a:rPr>
              <a:t>    │   │       │       │   ├── GBKp-EUC-H.bcmap</a:t>
            </a:r>
          </a:p>
          <a:p>
            <a:pPr algn="l">
              <a:lnSpc>
                <a:spcPct val="100000"/>
              </a:lnSpc>
            </a:pPr>
            <a:r>
              <a:rPr sz="800" b="0" i="0">
                <a:solidFill>
                  <a:srgbClr val="ECE7DC"/>
                </a:solidFill>
                <a:latin typeface="Consolas"/>
              </a:rPr>
              <a:t>    │   │       │       │   ├── GBKp-EUC-V.bcmap</a:t>
            </a:r>
          </a:p>
          <a:p>
            <a:pPr algn="l">
              <a:lnSpc>
                <a:spcPct val="100000"/>
              </a:lnSpc>
            </a:pPr>
            <a:r>
              <a:rPr sz="800" b="0" i="0">
                <a:solidFill>
                  <a:srgbClr val="ECE7DC"/>
                </a:solidFill>
                <a:latin typeface="Consolas"/>
              </a:rPr>
              <a:t>    │   │       │       │   ├── GBpc-EUC-H.bcmap</a:t>
            </a:r>
          </a:p>
          <a:p>
            <a:pPr algn="l">
              <a:lnSpc>
                <a:spcPct val="100000"/>
              </a:lnSpc>
            </a:pPr>
            <a:r>
              <a:rPr sz="800" b="0" i="0">
                <a:solidFill>
                  <a:srgbClr val="ECE7DC"/>
                </a:solidFill>
                <a:latin typeface="Consolas"/>
              </a:rPr>
              <a:t>    │   │       │       │   ├── GBpc-EUC-V.bcmap</a:t>
            </a:r>
          </a:p>
          <a:p>
            <a:pPr algn="l">
              <a:lnSpc>
                <a:spcPct val="100000"/>
              </a:lnSpc>
            </a:pPr>
            <a:r>
              <a:rPr sz="800" b="0" i="0">
                <a:solidFill>
                  <a:srgbClr val="ECE7DC"/>
                </a:solidFill>
                <a:latin typeface="Consolas"/>
              </a:rPr>
              <a:t>    │   │       │       │   ├── GBT-EUC-H.bcmap</a:t>
            </a:r>
          </a:p>
          <a:p>
            <a:pPr algn="l">
              <a:lnSpc>
                <a:spcPct val="100000"/>
              </a:lnSpc>
            </a:pPr>
            <a:r>
              <a:rPr sz="800" b="0" i="0">
                <a:solidFill>
                  <a:srgbClr val="ECE7DC"/>
                </a:solidFill>
                <a:latin typeface="Consolas"/>
              </a:rPr>
              <a:t>    │   │       │       │   ├── GBT-EUC-V.bcmap</a:t>
            </a:r>
          </a:p>
          <a:p>
            <a:pPr algn="l">
              <a:lnSpc>
                <a:spcPct val="100000"/>
              </a:lnSpc>
            </a:pPr>
            <a:r>
              <a:rPr sz="800" b="0" i="0">
                <a:solidFill>
                  <a:srgbClr val="ECE7DC"/>
                </a:solidFill>
                <a:latin typeface="Consolas"/>
              </a:rPr>
              <a:t>    │   │       │       │   ├── GBT-H.bcmap</a:t>
            </a:r>
          </a:p>
          <a:p>
            <a:pPr algn="l">
              <a:lnSpc>
                <a:spcPct val="100000"/>
              </a:lnSpc>
            </a:pPr>
            <a:r>
              <a:rPr sz="800" b="0" i="0">
                <a:solidFill>
                  <a:srgbClr val="ECE7DC"/>
                </a:solidFill>
                <a:latin typeface="Consolas"/>
              </a:rPr>
              <a:t>    │   │       │       │   ├── GBT-V.bcmap</a:t>
            </a:r>
          </a:p>
          <a:p>
            <a:pPr algn="l">
              <a:lnSpc>
                <a:spcPct val="100000"/>
              </a:lnSpc>
            </a:pPr>
            <a:r>
              <a:rPr sz="800" b="0" i="0">
                <a:solidFill>
                  <a:srgbClr val="ECE7DC"/>
                </a:solidFill>
                <a:latin typeface="Consolas"/>
              </a:rPr>
              <a:t>    │   │       │       │   ├── GBTpc-EUC-H.bcmap</a:t>
            </a:r>
          </a:p>
          <a:p>
            <a:pPr algn="l">
              <a:lnSpc>
                <a:spcPct val="100000"/>
              </a:lnSpc>
            </a:pPr>
            <a:r>
              <a:rPr sz="800" b="0" i="0">
                <a:solidFill>
                  <a:srgbClr val="ECE7DC"/>
                </a:solidFill>
                <a:latin typeface="Consolas"/>
              </a:rPr>
              <a:t>    │   │       │       │   ├── GBTpc-EUC-V.bcmap</a:t>
            </a:r>
          </a:p>
          <a:p>
            <a:pPr algn="l">
              <a:lnSpc>
                <a:spcPct val="100000"/>
              </a:lnSpc>
            </a:pPr>
            <a:r>
              <a:rPr sz="800" b="0" i="0">
                <a:solidFill>
                  <a:srgbClr val="ECE7DC"/>
                </a:solidFill>
                <a:latin typeface="Consolas"/>
              </a:rPr>
              <a:t>    │   │       │       │   ├── H.bcmap</a:t>
            </a:r>
          </a:p>
          <a:p>
            <a:pPr algn="l">
              <a:lnSpc>
                <a:spcPct val="100000"/>
              </a:lnSpc>
            </a:pPr>
            <a:r>
              <a:rPr sz="800" b="0" i="0">
                <a:solidFill>
                  <a:srgbClr val="ECE7DC"/>
                </a:solidFill>
                <a:latin typeface="Consolas"/>
              </a:rPr>
              <a:t>    │   │       │       │   ├── Hankaku.bcmap</a:t>
            </a:r>
          </a:p>
          <a:p>
            <a:pPr algn="l">
              <a:lnSpc>
                <a:spcPct val="100000"/>
              </a:lnSpc>
            </a:pPr>
            <a:r>
              <a:rPr sz="800" b="0" i="0">
                <a:solidFill>
                  <a:srgbClr val="ECE7DC"/>
                </a:solidFill>
                <a:latin typeface="Consolas"/>
              </a:rPr>
              <a:t>    │   │       │       │   ├── Hiragana.bcmap</a:t>
            </a:r>
          </a:p>
        </p:txBody>
      </p:sp>
      <p:cxnSp>
        <p:nvCxnSpPr>
          <p:cNvPr id="8" name="Connector 7"/>
          <p:cNvCxnSpPr/>
          <p:nvPr/>
        </p:nvCxnSpPr>
        <p:spPr>
          <a:xfrm>
            <a:off x="566928" y="6373368"/>
            <a:ext cx="11057839" cy="0"/>
          </a:xfrm>
          <a:prstGeom prst="line">
            <a:avLst/>
          </a:prstGeom>
          <a:ln w="7620">
            <a:solidFill>
              <a:srgbClr val="2A3A40"/>
            </a:solidFill>
          </a:ln>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566928" y="6419088"/>
            <a:ext cx="6858000" cy="274320"/>
          </a:xfrm>
          <a:prstGeom prst="rect">
            <a:avLst/>
          </a:prstGeom>
          <a:noFill/>
        </p:spPr>
        <p:txBody>
          <a:bodyPr wrap="square" lIns="45720" rIns="45720" tIns="27432" bIns="27432" anchor="t">
            <a:noAutofit/>
          </a:bodyPr>
          <a:lstStyle/>
          <a:p>
            <a:pPr algn="l">
              <a:lnSpc>
                <a:spcPct val="100000"/>
              </a:lnSpc>
            </a:pPr>
            <a:r>
              <a:rPr sz="850" b="0" i="0" spc="120">
                <a:solidFill>
                  <a:srgbClr val="A7B2B0"/>
                </a:solidFill>
                <a:latin typeface="Segoe UI Semibold"/>
              </a:rPr>
              <a:t>TLAMATINI  ·  APÉNDICE A · ÁRBOL DE ARCHIVOS</a:t>
            </a:r>
          </a:p>
        </p:txBody>
      </p:sp>
      <p:sp>
        <p:nvSpPr>
          <p:cNvPr id="10" name="TextBox 9"/>
          <p:cNvSpPr txBox="1"/>
          <p:nvPr/>
        </p:nvSpPr>
        <p:spPr>
          <a:xfrm>
            <a:off x="8698687" y="6419088"/>
            <a:ext cx="2926080" cy="274320"/>
          </a:xfrm>
          <a:prstGeom prst="rect">
            <a:avLst/>
          </a:prstGeom>
          <a:noFill/>
        </p:spPr>
        <p:txBody>
          <a:bodyPr wrap="square" lIns="45720" rIns="45720" tIns="27432" bIns="27432" anchor="t">
            <a:noAutofit/>
          </a:bodyPr>
          <a:lstStyle/>
          <a:p>
            <a:pPr algn="r">
              <a:lnSpc>
                <a:spcPct val="100000"/>
              </a:lnSpc>
            </a:pPr>
            <a:r>
              <a:rPr sz="850" b="0" i="0" spc="100">
                <a:solidFill>
                  <a:srgbClr val="A7B2B0"/>
                </a:solidFill>
                <a:latin typeface="Segoe UI Semibold"/>
              </a:rPr>
              <a:t>v1.91.1   ·   191</a:t>
            </a:r>
          </a:p>
        </p:txBody>
      </p:sp>
    </p:spTree>
  </p:cSld>
  <p:clrMapOvr>
    <a:masterClrMapping/>
  </p:clrMapOvr>
</p:sld>
</file>

<file path=ppt/slides/slide19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appendix.png"/>
          <p:cNvPicPr>
            <a:picLocks noChangeAspect="1"/>
          </p:cNvPicPr>
          <p:nvPr/>
        </p:nvPicPr>
        <p:blipFill>
          <a:blip r:embed="rId2"/>
          <a:stretch>
            <a:fillRect/>
          </a:stretch>
        </p:blipFill>
        <p:spPr>
          <a:xfrm>
            <a:off x="0" y="0"/>
            <a:ext cx="12191695" cy="6858000"/>
          </a:xfrm>
          <a:prstGeom prst="rect">
            <a:avLst/>
          </a:prstGeom>
        </p:spPr>
      </p:pic>
      <p:sp>
        <p:nvSpPr>
          <p:cNvPr id="3" name="TextBox 2"/>
          <p:cNvSpPr txBox="1"/>
          <p:nvPr/>
        </p:nvSpPr>
        <p:spPr>
          <a:xfrm>
            <a:off x="566928" y="384048"/>
            <a:ext cx="8686800" cy="329184"/>
          </a:xfrm>
          <a:prstGeom prst="rect">
            <a:avLst/>
          </a:prstGeom>
          <a:noFill/>
        </p:spPr>
        <p:txBody>
          <a:bodyPr wrap="square" lIns="45720" rIns="45720" tIns="27432" bIns="27432" anchor="t">
            <a:noAutofit/>
          </a:bodyPr>
          <a:lstStyle/>
          <a:p>
            <a:pPr algn="l">
              <a:lnSpc>
                <a:spcPct val="100000"/>
              </a:lnSpc>
            </a:pPr>
            <a:r>
              <a:rPr sz="1100" b="0" i="0" spc="200">
                <a:solidFill>
                  <a:srgbClr val="C98457"/>
                </a:solidFill>
                <a:latin typeface="Segoe UI Semibold"/>
              </a:rPr>
              <a:t>APÉNDICE A  ·  ÁRBOL DE ARCHIVOS DE LA APLICACIÓN  ·  18 / 20</a:t>
            </a:r>
          </a:p>
        </p:txBody>
      </p:sp>
      <p:sp>
        <p:nvSpPr>
          <p:cNvPr id="4" name="TextBox 3"/>
          <p:cNvSpPr txBox="1"/>
          <p:nvPr/>
        </p:nvSpPr>
        <p:spPr>
          <a:xfrm>
            <a:off x="566928" y="731520"/>
            <a:ext cx="11057839" cy="384048"/>
          </a:xfrm>
          <a:prstGeom prst="rect">
            <a:avLst/>
          </a:prstGeom>
          <a:noFill/>
        </p:spPr>
        <p:txBody>
          <a:bodyPr wrap="square" lIns="45720" rIns="45720" tIns="27432" bIns="27432" anchor="t">
            <a:noAutofit/>
          </a:bodyPr>
          <a:lstStyle/>
          <a:p>
            <a:pPr algn="l">
              <a:lnSpc>
                <a:spcPct val="100000"/>
              </a:lnSpc>
            </a:pPr>
            <a:r>
              <a:rPr sz="1300" b="0" i="0">
                <a:solidFill>
                  <a:srgbClr val="A7B2B0"/>
                </a:solidFill>
                <a:latin typeface="Segoe UI"/>
              </a:rPr>
              <a:t>1,898 archivos listados en el commit 21b0a5c; 221 archivos de la historia de la base de datos resumidos.</a:t>
            </a:r>
          </a:p>
        </p:txBody>
      </p:sp>
      <p:sp>
        <p:nvSpPr>
          <p:cNvPr id="5" name="TextBox 4"/>
          <p:cNvSpPr txBox="1"/>
          <p:nvPr/>
        </p:nvSpPr>
        <p:spPr>
          <a:xfrm>
            <a:off x="566928" y="1170432"/>
            <a:ext cx="3515258" cy="5084064"/>
          </a:xfrm>
          <a:prstGeom prst="rect">
            <a:avLst/>
          </a:prstGeom>
          <a:noFill/>
        </p:spPr>
        <p:txBody>
          <a:bodyPr wrap="none" lIns="45720" rIns="45720" tIns="27432" bIns="27432" anchor="t">
            <a:noAutofit/>
          </a:bodyPr>
          <a:lstStyle/>
          <a:p>
            <a:pPr algn="l">
              <a:lnSpc>
                <a:spcPct val="100000"/>
              </a:lnSpc>
            </a:pPr>
            <a:r>
              <a:rPr sz="800" b="0" i="0">
                <a:solidFill>
                  <a:srgbClr val="ECE7DC"/>
                </a:solidFill>
                <a:latin typeface="Consolas"/>
              </a:rPr>
              <a:t>    │   │       │       │   ├── HKdla-B5-H.bcmap</a:t>
            </a:r>
          </a:p>
          <a:p>
            <a:pPr algn="l">
              <a:lnSpc>
                <a:spcPct val="100000"/>
              </a:lnSpc>
            </a:pPr>
            <a:r>
              <a:rPr sz="800" b="0" i="0">
                <a:solidFill>
                  <a:srgbClr val="ECE7DC"/>
                </a:solidFill>
                <a:latin typeface="Consolas"/>
              </a:rPr>
              <a:t>    │   │       │       │   ├── HKdla-B5-V.bcmap</a:t>
            </a:r>
          </a:p>
          <a:p>
            <a:pPr algn="l">
              <a:lnSpc>
                <a:spcPct val="100000"/>
              </a:lnSpc>
            </a:pPr>
            <a:r>
              <a:rPr sz="800" b="0" i="0">
                <a:solidFill>
                  <a:srgbClr val="ECE7DC"/>
                </a:solidFill>
                <a:latin typeface="Consolas"/>
              </a:rPr>
              <a:t>    │   │       │       │   ├── HKdlb-B5-H.bcmap</a:t>
            </a:r>
          </a:p>
          <a:p>
            <a:pPr algn="l">
              <a:lnSpc>
                <a:spcPct val="100000"/>
              </a:lnSpc>
            </a:pPr>
            <a:r>
              <a:rPr sz="800" b="0" i="0">
                <a:solidFill>
                  <a:srgbClr val="ECE7DC"/>
                </a:solidFill>
                <a:latin typeface="Consolas"/>
              </a:rPr>
              <a:t>    │   │       │       │   ├── HKdlb-B5-V.bcmap</a:t>
            </a:r>
          </a:p>
          <a:p>
            <a:pPr algn="l">
              <a:lnSpc>
                <a:spcPct val="100000"/>
              </a:lnSpc>
            </a:pPr>
            <a:r>
              <a:rPr sz="800" b="0" i="0">
                <a:solidFill>
                  <a:srgbClr val="ECE7DC"/>
                </a:solidFill>
                <a:latin typeface="Consolas"/>
              </a:rPr>
              <a:t>    │   │       │       │   ├── HKgccs-B5-H.bcmap</a:t>
            </a:r>
          </a:p>
          <a:p>
            <a:pPr algn="l">
              <a:lnSpc>
                <a:spcPct val="100000"/>
              </a:lnSpc>
            </a:pPr>
            <a:r>
              <a:rPr sz="800" b="0" i="0">
                <a:solidFill>
                  <a:srgbClr val="ECE7DC"/>
                </a:solidFill>
                <a:latin typeface="Consolas"/>
              </a:rPr>
              <a:t>    │   │       │       │   ├── HKgccs-B5-V.bcmap</a:t>
            </a:r>
          </a:p>
          <a:p>
            <a:pPr algn="l">
              <a:lnSpc>
                <a:spcPct val="100000"/>
              </a:lnSpc>
            </a:pPr>
            <a:r>
              <a:rPr sz="800" b="0" i="0">
                <a:solidFill>
                  <a:srgbClr val="ECE7DC"/>
                </a:solidFill>
                <a:latin typeface="Consolas"/>
              </a:rPr>
              <a:t>    │   │       │       │   ├── HKm314-B5-H.bcmap</a:t>
            </a:r>
          </a:p>
          <a:p>
            <a:pPr algn="l">
              <a:lnSpc>
                <a:spcPct val="100000"/>
              </a:lnSpc>
            </a:pPr>
            <a:r>
              <a:rPr sz="800" b="0" i="0">
                <a:solidFill>
                  <a:srgbClr val="ECE7DC"/>
                </a:solidFill>
                <a:latin typeface="Consolas"/>
              </a:rPr>
              <a:t>    │   │       │       │   ├── HKm314-B5-V.bcmap</a:t>
            </a:r>
          </a:p>
          <a:p>
            <a:pPr algn="l">
              <a:lnSpc>
                <a:spcPct val="100000"/>
              </a:lnSpc>
            </a:pPr>
            <a:r>
              <a:rPr sz="800" b="0" i="0">
                <a:solidFill>
                  <a:srgbClr val="ECE7DC"/>
                </a:solidFill>
                <a:latin typeface="Consolas"/>
              </a:rPr>
              <a:t>    │   │       │       │   ├── HKm471-B5-H.bcmap</a:t>
            </a:r>
          </a:p>
          <a:p>
            <a:pPr algn="l">
              <a:lnSpc>
                <a:spcPct val="100000"/>
              </a:lnSpc>
            </a:pPr>
            <a:r>
              <a:rPr sz="800" b="0" i="0">
                <a:solidFill>
                  <a:srgbClr val="ECE7DC"/>
                </a:solidFill>
                <a:latin typeface="Consolas"/>
              </a:rPr>
              <a:t>    │   │       │       │   ├── HKm471-B5-V.bcmap</a:t>
            </a:r>
          </a:p>
          <a:p>
            <a:pPr algn="l">
              <a:lnSpc>
                <a:spcPct val="100000"/>
              </a:lnSpc>
            </a:pPr>
            <a:r>
              <a:rPr sz="800" b="0" i="0">
                <a:solidFill>
                  <a:srgbClr val="ECE7DC"/>
                </a:solidFill>
                <a:latin typeface="Consolas"/>
              </a:rPr>
              <a:t>    │   │       │       │   ├── HKscs-B5-H.bcmap</a:t>
            </a:r>
          </a:p>
          <a:p>
            <a:pPr algn="l">
              <a:lnSpc>
                <a:spcPct val="100000"/>
              </a:lnSpc>
            </a:pPr>
            <a:r>
              <a:rPr sz="800" b="0" i="0">
                <a:solidFill>
                  <a:srgbClr val="ECE7DC"/>
                </a:solidFill>
                <a:latin typeface="Consolas"/>
              </a:rPr>
              <a:t>    │   │       │       │   ├── HKscs-B5-V.bcmap</a:t>
            </a:r>
          </a:p>
          <a:p>
            <a:pPr algn="l">
              <a:lnSpc>
                <a:spcPct val="100000"/>
              </a:lnSpc>
            </a:pPr>
            <a:r>
              <a:rPr sz="800" b="0" i="0">
                <a:solidFill>
                  <a:srgbClr val="ECE7DC"/>
                </a:solidFill>
                <a:latin typeface="Consolas"/>
              </a:rPr>
              <a:t>    │   │       │       │   ├── Katakana.bcmap</a:t>
            </a:r>
          </a:p>
          <a:p>
            <a:pPr algn="l">
              <a:lnSpc>
                <a:spcPct val="100000"/>
              </a:lnSpc>
            </a:pPr>
            <a:r>
              <a:rPr sz="800" b="0" i="0">
                <a:solidFill>
                  <a:srgbClr val="ECE7DC"/>
                </a:solidFill>
                <a:latin typeface="Consolas"/>
              </a:rPr>
              <a:t>    │   │       │       │   ├── KSC-EUC-H.bcmap</a:t>
            </a:r>
          </a:p>
          <a:p>
            <a:pPr algn="l">
              <a:lnSpc>
                <a:spcPct val="100000"/>
              </a:lnSpc>
            </a:pPr>
            <a:r>
              <a:rPr sz="800" b="0" i="0">
                <a:solidFill>
                  <a:srgbClr val="ECE7DC"/>
                </a:solidFill>
                <a:latin typeface="Consolas"/>
              </a:rPr>
              <a:t>    │   │       │       │   ├── KSC-EUC-V.bcmap</a:t>
            </a:r>
          </a:p>
          <a:p>
            <a:pPr algn="l">
              <a:lnSpc>
                <a:spcPct val="100000"/>
              </a:lnSpc>
            </a:pPr>
            <a:r>
              <a:rPr sz="800" b="0" i="0">
                <a:solidFill>
                  <a:srgbClr val="ECE7DC"/>
                </a:solidFill>
                <a:latin typeface="Consolas"/>
              </a:rPr>
              <a:t>    │   │       │       │   ├── KSC-H.bcmap</a:t>
            </a:r>
          </a:p>
          <a:p>
            <a:pPr algn="l">
              <a:lnSpc>
                <a:spcPct val="100000"/>
              </a:lnSpc>
            </a:pPr>
            <a:r>
              <a:rPr sz="800" b="0" i="0">
                <a:solidFill>
                  <a:srgbClr val="ECE7DC"/>
                </a:solidFill>
                <a:latin typeface="Consolas"/>
              </a:rPr>
              <a:t>    │   │       │       │   ├── KSC-Johab-H.bcmap</a:t>
            </a:r>
          </a:p>
          <a:p>
            <a:pPr algn="l">
              <a:lnSpc>
                <a:spcPct val="100000"/>
              </a:lnSpc>
            </a:pPr>
            <a:r>
              <a:rPr sz="800" b="0" i="0">
                <a:solidFill>
                  <a:srgbClr val="ECE7DC"/>
                </a:solidFill>
                <a:latin typeface="Consolas"/>
              </a:rPr>
              <a:t>    │   │       │       │   ├── KSC-Johab-V.bcmap</a:t>
            </a:r>
          </a:p>
          <a:p>
            <a:pPr algn="l">
              <a:lnSpc>
                <a:spcPct val="100000"/>
              </a:lnSpc>
            </a:pPr>
            <a:r>
              <a:rPr sz="800" b="0" i="0">
                <a:solidFill>
                  <a:srgbClr val="ECE7DC"/>
                </a:solidFill>
                <a:latin typeface="Consolas"/>
              </a:rPr>
              <a:t>    │   │       │       │   ├── KSC-V.bcmap</a:t>
            </a:r>
          </a:p>
          <a:p>
            <a:pPr algn="l">
              <a:lnSpc>
                <a:spcPct val="100000"/>
              </a:lnSpc>
            </a:pPr>
            <a:r>
              <a:rPr sz="800" b="0" i="0">
                <a:solidFill>
                  <a:srgbClr val="ECE7DC"/>
                </a:solidFill>
                <a:latin typeface="Consolas"/>
              </a:rPr>
              <a:t>    │   │       │       │   ├── KSCms-UHC-H.bcmap</a:t>
            </a:r>
          </a:p>
          <a:p>
            <a:pPr algn="l">
              <a:lnSpc>
                <a:spcPct val="100000"/>
              </a:lnSpc>
            </a:pPr>
            <a:r>
              <a:rPr sz="800" b="0" i="0">
                <a:solidFill>
                  <a:srgbClr val="ECE7DC"/>
                </a:solidFill>
                <a:latin typeface="Consolas"/>
              </a:rPr>
              <a:t>    │   │       │       │   ├── KSCms-UHC-HW-H.bcmap</a:t>
            </a:r>
          </a:p>
          <a:p>
            <a:pPr algn="l">
              <a:lnSpc>
                <a:spcPct val="100000"/>
              </a:lnSpc>
            </a:pPr>
            <a:r>
              <a:rPr sz="800" b="0" i="0">
                <a:solidFill>
                  <a:srgbClr val="ECE7DC"/>
                </a:solidFill>
                <a:latin typeface="Consolas"/>
              </a:rPr>
              <a:t>    │   │       │       │   ├── KSCms-UHC-HW-V.bcmap</a:t>
            </a:r>
          </a:p>
          <a:p>
            <a:pPr algn="l">
              <a:lnSpc>
                <a:spcPct val="100000"/>
              </a:lnSpc>
            </a:pPr>
            <a:r>
              <a:rPr sz="800" b="0" i="0">
                <a:solidFill>
                  <a:srgbClr val="ECE7DC"/>
                </a:solidFill>
                <a:latin typeface="Consolas"/>
              </a:rPr>
              <a:t>    │   │       │       │   ├── KSCms-UHC-V.bcmap</a:t>
            </a:r>
          </a:p>
          <a:p>
            <a:pPr algn="l">
              <a:lnSpc>
                <a:spcPct val="100000"/>
              </a:lnSpc>
            </a:pPr>
            <a:r>
              <a:rPr sz="800" b="0" i="0">
                <a:solidFill>
                  <a:srgbClr val="ECE7DC"/>
                </a:solidFill>
                <a:latin typeface="Consolas"/>
              </a:rPr>
              <a:t>    │   │       │       │   ├── KSCpc-EUC-H.bcmap</a:t>
            </a:r>
          </a:p>
          <a:p>
            <a:pPr algn="l">
              <a:lnSpc>
                <a:spcPct val="100000"/>
              </a:lnSpc>
            </a:pPr>
            <a:r>
              <a:rPr sz="800" b="0" i="0">
                <a:solidFill>
                  <a:srgbClr val="ECE7DC"/>
                </a:solidFill>
                <a:latin typeface="Consolas"/>
              </a:rPr>
              <a:t>    │   │       │       │   ├── KSCpc-EUC-V.bcmap</a:t>
            </a:r>
          </a:p>
          <a:p>
            <a:pPr algn="l">
              <a:lnSpc>
                <a:spcPct val="100000"/>
              </a:lnSpc>
            </a:pPr>
            <a:r>
              <a:rPr sz="800" b="0" i="0">
                <a:solidFill>
                  <a:srgbClr val="ECE7DC"/>
                </a:solidFill>
                <a:latin typeface="Consolas"/>
              </a:rPr>
              <a:t>    │   │       │       │   ├── LICENSE</a:t>
            </a:r>
          </a:p>
          <a:p>
            <a:pPr algn="l">
              <a:lnSpc>
                <a:spcPct val="100000"/>
              </a:lnSpc>
            </a:pPr>
            <a:r>
              <a:rPr sz="800" b="0" i="0">
                <a:solidFill>
                  <a:srgbClr val="ECE7DC"/>
                </a:solidFill>
                <a:latin typeface="Consolas"/>
              </a:rPr>
              <a:t>    │   │       │       │   ├── NWP-H.bcmap</a:t>
            </a:r>
          </a:p>
          <a:p>
            <a:pPr algn="l">
              <a:lnSpc>
                <a:spcPct val="100000"/>
              </a:lnSpc>
            </a:pPr>
            <a:r>
              <a:rPr sz="800" b="0" i="0">
                <a:solidFill>
                  <a:srgbClr val="ECE7DC"/>
                </a:solidFill>
                <a:latin typeface="Consolas"/>
              </a:rPr>
              <a:t>    │   │       │       │   ├── NWP-V.bcmap</a:t>
            </a:r>
          </a:p>
          <a:p>
            <a:pPr algn="l">
              <a:lnSpc>
                <a:spcPct val="100000"/>
              </a:lnSpc>
            </a:pPr>
            <a:r>
              <a:rPr sz="800" b="0" i="0">
                <a:solidFill>
                  <a:srgbClr val="ECE7DC"/>
                </a:solidFill>
                <a:latin typeface="Consolas"/>
              </a:rPr>
              <a:t>    │   │       │       │   ├── RKSJ-H.bcmap</a:t>
            </a:r>
          </a:p>
          <a:p>
            <a:pPr algn="l">
              <a:lnSpc>
                <a:spcPct val="100000"/>
              </a:lnSpc>
            </a:pPr>
            <a:r>
              <a:rPr sz="800" b="0" i="0">
                <a:solidFill>
                  <a:srgbClr val="ECE7DC"/>
                </a:solidFill>
                <a:latin typeface="Consolas"/>
              </a:rPr>
              <a:t>    │   │       │       │   ├── RKSJ-V.bcmap</a:t>
            </a:r>
          </a:p>
          <a:p>
            <a:pPr algn="l">
              <a:lnSpc>
                <a:spcPct val="100000"/>
              </a:lnSpc>
            </a:pPr>
            <a:r>
              <a:rPr sz="800" b="0" i="0">
                <a:solidFill>
                  <a:srgbClr val="ECE7DC"/>
                </a:solidFill>
                <a:latin typeface="Consolas"/>
              </a:rPr>
              <a:t>    │   │       │       │   ├── Roman.bcmap</a:t>
            </a:r>
          </a:p>
          <a:p>
            <a:pPr algn="l">
              <a:lnSpc>
                <a:spcPct val="100000"/>
              </a:lnSpc>
            </a:pPr>
            <a:r>
              <a:rPr sz="800" b="0" i="0">
                <a:solidFill>
                  <a:srgbClr val="ECE7DC"/>
                </a:solidFill>
                <a:latin typeface="Consolas"/>
              </a:rPr>
              <a:t>    │   │       │       │   ├── UniCNS-UCS2-H.bcmap</a:t>
            </a:r>
          </a:p>
          <a:p>
            <a:pPr algn="l">
              <a:lnSpc>
                <a:spcPct val="100000"/>
              </a:lnSpc>
            </a:pPr>
            <a:r>
              <a:rPr sz="800" b="0" i="0">
                <a:solidFill>
                  <a:srgbClr val="ECE7DC"/>
                </a:solidFill>
                <a:latin typeface="Consolas"/>
              </a:rPr>
              <a:t>    │   │       │       │   ├── UniCNS-UCS2-V.bcmap</a:t>
            </a:r>
          </a:p>
          <a:p>
            <a:pPr algn="l">
              <a:lnSpc>
                <a:spcPct val="100000"/>
              </a:lnSpc>
            </a:pPr>
            <a:r>
              <a:rPr sz="800" b="0" i="0">
                <a:solidFill>
                  <a:srgbClr val="ECE7DC"/>
                </a:solidFill>
                <a:latin typeface="Consolas"/>
              </a:rPr>
              <a:t>    │   │       │       │   ├── UniCNS-UTF16-H.bcmap</a:t>
            </a:r>
          </a:p>
          <a:p>
            <a:pPr algn="l">
              <a:lnSpc>
                <a:spcPct val="100000"/>
              </a:lnSpc>
            </a:pPr>
            <a:r>
              <a:rPr sz="800" b="0" i="0">
                <a:solidFill>
                  <a:srgbClr val="ECE7DC"/>
                </a:solidFill>
                <a:latin typeface="Consolas"/>
              </a:rPr>
              <a:t>    │   │       │       │   ├── UniCNS-UTF16-V.bcmap</a:t>
            </a:r>
          </a:p>
          <a:p>
            <a:pPr algn="l">
              <a:lnSpc>
                <a:spcPct val="100000"/>
              </a:lnSpc>
            </a:pPr>
            <a:r>
              <a:rPr sz="800" b="0" i="0">
                <a:solidFill>
                  <a:srgbClr val="ECE7DC"/>
                </a:solidFill>
                <a:latin typeface="Consolas"/>
              </a:rPr>
              <a:t>    │   │       │       │   ├── UniCNS-UTF32-H.bcmap</a:t>
            </a:r>
          </a:p>
          <a:p>
            <a:pPr algn="l">
              <a:lnSpc>
                <a:spcPct val="100000"/>
              </a:lnSpc>
            </a:pPr>
            <a:r>
              <a:rPr sz="800" b="0" i="0">
                <a:solidFill>
                  <a:srgbClr val="ECE7DC"/>
                </a:solidFill>
                <a:latin typeface="Consolas"/>
              </a:rPr>
              <a:t>    │   │       │       │   ├── UniCNS-UTF32-V.bcmap</a:t>
            </a:r>
          </a:p>
          <a:p>
            <a:pPr algn="l">
              <a:lnSpc>
                <a:spcPct val="100000"/>
              </a:lnSpc>
            </a:pPr>
            <a:r>
              <a:rPr sz="800" b="0" i="0">
                <a:solidFill>
                  <a:srgbClr val="ECE7DC"/>
                </a:solidFill>
                <a:latin typeface="Consolas"/>
              </a:rPr>
              <a:t>    │   │       │       │   ├── UniCNS-UTF8-H.bcmap</a:t>
            </a:r>
          </a:p>
          <a:p>
            <a:pPr algn="l">
              <a:lnSpc>
                <a:spcPct val="100000"/>
              </a:lnSpc>
            </a:pPr>
            <a:r>
              <a:rPr sz="800" b="0" i="0">
                <a:solidFill>
                  <a:srgbClr val="ECE7DC"/>
                </a:solidFill>
                <a:latin typeface="Consolas"/>
              </a:rPr>
              <a:t>    │   │       │       │   ├── UniCNS-UTF8-V.bcmap</a:t>
            </a:r>
          </a:p>
          <a:p>
            <a:pPr algn="l">
              <a:lnSpc>
                <a:spcPct val="100000"/>
              </a:lnSpc>
            </a:pPr>
            <a:r>
              <a:rPr sz="800" b="0" i="0">
                <a:solidFill>
                  <a:srgbClr val="ECE7DC"/>
                </a:solidFill>
                <a:latin typeface="Consolas"/>
              </a:rPr>
              <a:t>    │   │       │       │   ├── UniGB-UCS2-H.bcmap</a:t>
            </a:r>
          </a:p>
          <a:p>
            <a:pPr algn="l">
              <a:lnSpc>
                <a:spcPct val="100000"/>
              </a:lnSpc>
            </a:pPr>
            <a:r>
              <a:rPr sz="800" b="0" i="0">
                <a:solidFill>
                  <a:srgbClr val="ECE7DC"/>
                </a:solidFill>
                <a:latin typeface="Consolas"/>
              </a:rPr>
              <a:t>    │   │       │       │   ├── UniGB-UCS2-V.bcmap</a:t>
            </a:r>
          </a:p>
        </p:txBody>
      </p:sp>
      <p:sp>
        <p:nvSpPr>
          <p:cNvPr id="6" name="TextBox 5"/>
          <p:cNvSpPr txBox="1"/>
          <p:nvPr/>
        </p:nvSpPr>
        <p:spPr>
          <a:xfrm>
            <a:off x="4338218" y="1170432"/>
            <a:ext cx="3515258" cy="5084064"/>
          </a:xfrm>
          <a:prstGeom prst="rect">
            <a:avLst/>
          </a:prstGeom>
          <a:noFill/>
        </p:spPr>
        <p:txBody>
          <a:bodyPr wrap="none" lIns="45720" rIns="45720" tIns="27432" bIns="27432" anchor="t">
            <a:noAutofit/>
          </a:bodyPr>
          <a:lstStyle/>
          <a:p>
            <a:pPr algn="l">
              <a:lnSpc>
                <a:spcPct val="100000"/>
              </a:lnSpc>
            </a:pPr>
            <a:r>
              <a:rPr sz="800" b="0" i="0">
                <a:solidFill>
                  <a:srgbClr val="ECE7DC"/>
                </a:solidFill>
                <a:latin typeface="Consolas"/>
              </a:rPr>
              <a:t>    │   │       │       │   ├── UniGB-UTF16-H.bcmap</a:t>
            </a:r>
          </a:p>
          <a:p>
            <a:pPr algn="l">
              <a:lnSpc>
                <a:spcPct val="100000"/>
              </a:lnSpc>
            </a:pPr>
            <a:r>
              <a:rPr sz="800" b="0" i="0">
                <a:solidFill>
                  <a:srgbClr val="ECE7DC"/>
                </a:solidFill>
                <a:latin typeface="Consolas"/>
              </a:rPr>
              <a:t>    │   │       │       │   ├── UniGB-UTF16-V.bcmap</a:t>
            </a:r>
          </a:p>
          <a:p>
            <a:pPr algn="l">
              <a:lnSpc>
                <a:spcPct val="100000"/>
              </a:lnSpc>
            </a:pPr>
            <a:r>
              <a:rPr sz="800" b="0" i="0">
                <a:solidFill>
                  <a:srgbClr val="ECE7DC"/>
                </a:solidFill>
                <a:latin typeface="Consolas"/>
              </a:rPr>
              <a:t>    │   │       │       │   ├── UniGB-UTF32-H.bcmap</a:t>
            </a:r>
          </a:p>
          <a:p>
            <a:pPr algn="l">
              <a:lnSpc>
                <a:spcPct val="100000"/>
              </a:lnSpc>
            </a:pPr>
            <a:r>
              <a:rPr sz="800" b="0" i="0">
                <a:solidFill>
                  <a:srgbClr val="ECE7DC"/>
                </a:solidFill>
                <a:latin typeface="Consolas"/>
              </a:rPr>
              <a:t>    │   │       │       │   ├── UniGB-UTF32-V.bcmap</a:t>
            </a:r>
          </a:p>
          <a:p>
            <a:pPr algn="l">
              <a:lnSpc>
                <a:spcPct val="100000"/>
              </a:lnSpc>
            </a:pPr>
            <a:r>
              <a:rPr sz="800" b="0" i="0">
                <a:solidFill>
                  <a:srgbClr val="ECE7DC"/>
                </a:solidFill>
                <a:latin typeface="Consolas"/>
              </a:rPr>
              <a:t>    │   │       │       │   ├── UniGB-UTF8-H.bcmap</a:t>
            </a:r>
          </a:p>
          <a:p>
            <a:pPr algn="l">
              <a:lnSpc>
                <a:spcPct val="100000"/>
              </a:lnSpc>
            </a:pPr>
            <a:r>
              <a:rPr sz="800" b="0" i="0">
                <a:solidFill>
                  <a:srgbClr val="ECE7DC"/>
                </a:solidFill>
                <a:latin typeface="Consolas"/>
              </a:rPr>
              <a:t>    │   │       │       │   ├── UniGB-UTF8-V.bcmap</a:t>
            </a:r>
          </a:p>
          <a:p>
            <a:pPr algn="l">
              <a:lnSpc>
                <a:spcPct val="100000"/>
              </a:lnSpc>
            </a:pPr>
            <a:r>
              <a:rPr sz="800" b="0" i="0">
                <a:solidFill>
                  <a:srgbClr val="ECE7DC"/>
                </a:solidFill>
                <a:latin typeface="Consolas"/>
              </a:rPr>
              <a:t>    │   │       │       │   ├── UniJIS-UCS2-H.bcmap</a:t>
            </a:r>
          </a:p>
          <a:p>
            <a:pPr algn="l">
              <a:lnSpc>
                <a:spcPct val="100000"/>
              </a:lnSpc>
            </a:pPr>
            <a:r>
              <a:rPr sz="800" b="0" i="0">
                <a:solidFill>
                  <a:srgbClr val="ECE7DC"/>
                </a:solidFill>
                <a:latin typeface="Consolas"/>
              </a:rPr>
              <a:t>    │   │       │       │   ├── UniJIS-UCS2-HW-H.bcmap</a:t>
            </a:r>
          </a:p>
          <a:p>
            <a:pPr algn="l">
              <a:lnSpc>
                <a:spcPct val="100000"/>
              </a:lnSpc>
            </a:pPr>
            <a:r>
              <a:rPr sz="800" b="0" i="0">
                <a:solidFill>
                  <a:srgbClr val="ECE7DC"/>
                </a:solidFill>
                <a:latin typeface="Consolas"/>
              </a:rPr>
              <a:t>    │   │       │       │   ├── UniJIS-UCS2-HW-V.bcmap</a:t>
            </a:r>
          </a:p>
          <a:p>
            <a:pPr algn="l">
              <a:lnSpc>
                <a:spcPct val="100000"/>
              </a:lnSpc>
            </a:pPr>
            <a:r>
              <a:rPr sz="800" b="0" i="0">
                <a:solidFill>
                  <a:srgbClr val="ECE7DC"/>
                </a:solidFill>
                <a:latin typeface="Consolas"/>
              </a:rPr>
              <a:t>    │   │       │       │   ├── UniJIS-UCS2-V.bcmap</a:t>
            </a:r>
          </a:p>
          <a:p>
            <a:pPr algn="l">
              <a:lnSpc>
                <a:spcPct val="100000"/>
              </a:lnSpc>
            </a:pPr>
            <a:r>
              <a:rPr sz="800" b="0" i="0">
                <a:solidFill>
                  <a:srgbClr val="ECE7DC"/>
                </a:solidFill>
                <a:latin typeface="Consolas"/>
              </a:rPr>
              <a:t>    │   │       │       │   ├── UniJIS-UTF16-H.bcmap</a:t>
            </a:r>
          </a:p>
          <a:p>
            <a:pPr algn="l">
              <a:lnSpc>
                <a:spcPct val="100000"/>
              </a:lnSpc>
            </a:pPr>
            <a:r>
              <a:rPr sz="800" b="0" i="0">
                <a:solidFill>
                  <a:srgbClr val="ECE7DC"/>
                </a:solidFill>
                <a:latin typeface="Consolas"/>
              </a:rPr>
              <a:t>    │   │       │       │   ├── UniJIS-UTF16-V.bcmap</a:t>
            </a:r>
          </a:p>
          <a:p>
            <a:pPr algn="l">
              <a:lnSpc>
                <a:spcPct val="100000"/>
              </a:lnSpc>
            </a:pPr>
            <a:r>
              <a:rPr sz="800" b="0" i="0">
                <a:solidFill>
                  <a:srgbClr val="ECE7DC"/>
                </a:solidFill>
                <a:latin typeface="Consolas"/>
              </a:rPr>
              <a:t>    │   │       │       │   ├── UniJIS-UTF32-H.bcmap</a:t>
            </a:r>
          </a:p>
          <a:p>
            <a:pPr algn="l">
              <a:lnSpc>
                <a:spcPct val="100000"/>
              </a:lnSpc>
            </a:pPr>
            <a:r>
              <a:rPr sz="800" b="0" i="0">
                <a:solidFill>
                  <a:srgbClr val="ECE7DC"/>
                </a:solidFill>
                <a:latin typeface="Consolas"/>
              </a:rPr>
              <a:t>    │   │       │       │   ├── UniJIS-UTF32-V.bcmap</a:t>
            </a:r>
          </a:p>
          <a:p>
            <a:pPr algn="l">
              <a:lnSpc>
                <a:spcPct val="100000"/>
              </a:lnSpc>
            </a:pPr>
            <a:r>
              <a:rPr sz="800" b="0" i="0">
                <a:solidFill>
                  <a:srgbClr val="ECE7DC"/>
                </a:solidFill>
                <a:latin typeface="Consolas"/>
              </a:rPr>
              <a:t>    │   │       │       │   ├── UniJIS-UTF8-H.bcmap</a:t>
            </a:r>
          </a:p>
          <a:p>
            <a:pPr algn="l">
              <a:lnSpc>
                <a:spcPct val="100000"/>
              </a:lnSpc>
            </a:pPr>
            <a:r>
              <a:rPr sz="800" b="0" i="0">
                <a:solidFill>
                  <a:srgbClr val="ECE7DC"/>
                </a:solidFill>
                <a:latin typeface="Consolas"/>
              </a:rPr>
              <a:t>    │   │       │       │   ├── UniJIS-UTF8-V.bcmap</a:t>
            </a:r>
          </a:p>
          <a:p>
            <a:pPr algn="l">
              <a:lnSpc>
                <a:spcPct val="100000"/>
              </a:lnSpc>
            </a:pPr>
            <a:r>
              <a:rPr sz="800" b="0" i="0">
                <a:solidFill>
                  <a:srgbClr val="ECE7DC"/>
                </a:solidFill>
                <a:latin typeface="Consolas"/>
              </a:rPr>
              <a:t>    │   │       │       │   ├── UniJIS2004-UTF16-H.bcmap</a:t>
            </a:r>
          </a:p>
          <a:p>
            <a:pPr algn="l">
              <a:lnSpc>
                <a:spcPct val="100000"/>
              </a:lnSpc>
            </a:pPr>
            <a:r>
              <a:rPr sz="800" b="0" i="0">
                <a:solidFill>
                  <a:srgbClr val="ECE7DC"/>
                </a:solidFill>
                <a:latin typeface="Consolas"/>
              </a:rPr>
              <a:t>    │   │       │       │   ├── UniJIS2004-UTF16-V.bcmap</a:t>
            </a:r>
          </a:p>
          <a:p>
            <a:pPr algn="l">
              <a:lnSpc>
                <a:spcPct val="100000"/>
              </a:lnSpc>
            </a:pPr>
            <a:r>
              <a:rPr sz="800" b="0" i="0">
                <a:solidFill>
                  <a:srgbClr val="ECE7DC"/>
                </a:solidFill>
                <a:latin typeface="Consolas"/>
              </a:rPr>
              <a:t>    │   │       │       │   ├── UniJIS2004-UTF32-H.bcmap</a:t>
            </a:r>
          </a:p>
          <a:p>
            <a:pPr algn="l">
              <a:lnSpc>
                <a:spcPct val="100000"/>
              </a:lnSpc>
            </a:pPr>
            <a:r>
              <a:rPr sz="800" b="0" i="0">
                <a:solidFill>
                  <a:srgbClr val="ECE7DC"/>
                </a:solidFill>
                <a:latin typeface="Consolas"/>
              </a:rPr>
              <a:t>    │   │       │       │   ├── UniJIS2004-UTF32-V.bcmap</a:t>
            </a:r>
          </a:p>
          <a:p>
            <a:pPr algn="l">
              <a:lnSpc>
                <a:spcPct val="100000"/>
              </a:lnSpc>
            </a:pPr>
            <a:r>
              <a:rPr sz="800" b="0" i="0">
                <a:solidFill>
                  <a:srgbClr val="ECE7DC"/>
                </a:solidFill>
                <a:latin typeface="Consolas"/>
              </a:rPr>
              <a:t>    │   │       │       │   ├── UniJIS2004-UTF8-H.bcmap</a:t>
            </a:r>
          </a:p>
          <a:p>
            <a:pPr algn="l">
              <a:lnSpc>
                <a:spcPct val="100000"/>
              </a:lnSpc>
            </a:pPr>
            <a:r>
              <a:rPr sz="800" b="0" i="0">
                <a:solidFill>
                  <a:srgbClr val="ECE7DC"/>
                </a:solidFill>
                <a:latin typeface="Consolas"/>
              </a:rPr>
              <a:t>    │   │       │       │   ├── UniJIS2004-UTF8-V.bcmap</a:t>
            </a:r>
          </a:p>
          <a:p>
            <a:pPr algn="l">
              <a:lnSpc>
                <a:spcPct val="100000"/>
              </a:lnSpc>
            </a:pPr>
            <a:r>
              <a:rPr sz="800" b="0" i="0">
                <a:solidFill>
                  <a:srgbClr val="ECE7DC"/>
                </a:solidFill>
                <a:latin typeface="Consolas"/>
              </a:rPr>
              <a:t>    │   │       │       │   ├── UniJISPro-UCS2-HW-V.bcma</a:t>
            </a:r>
          </a:p>
          <a:p>
            <a:pPr algn="l">
              <a:lnSpc>
                <a:spcPct val="100000"/>
              </a:lnSpc>
            </a:pPr>
            <a:r>
              <a:rPr sz="800" b="0" i="0">
                <a:solidFill>
                  <a:srgbClr val="ECE7DC"/>
                </a:solidFill>
                <a:latin typeface="Consolas"/>
              </a:rPr>
              <a:t>    │   │       │       │   │     » p</a:t>
            </a:r>
          </a:p>
          <a:p>
            <a:pPr algn="l">
              <a:lnSpc>
                <a:spcPct val="100000"/>
              </a:lnSpc>
            </a:pPr>
            <a:r>
              <a:rPr sz="800" b="0" i="0">
                <a:solidFill>
                  <a:srgbClr val="ECE7DC"/>
                </a:solidFill>
                <a:latin typeface="Consolas"/>
              </a:rPr>
              <a:t>    │   │       │       │   ├── UniJISPro-UCS2-V.bcmap</a:t>
            </a:r>
          </a:p>
          <a:p>
            <a:pPr algn="l">
              <a:lnSpc>
                <a:spcPct val="100000"/>
              </a:lnSpc>
            </a:pPr>
            <a:r>
              <a:rPr sz="800" b="0" i="0">
                <a:solidFill>
                  <a:srgbClr val="ECE7DC"/>
                </a:solidFill>
                <a:latin typeface="Consolas"/>
              </a:rPr>
              <a:t>    │   │       │       │   ├── UniJISPro-UTF8-V.bcmap</a:t>
            </a:r>
          </a:p>
          <a:p>
            <a:pPr algn="l">
              <a:lnSpc>
                <a:spcPct val="100000"/>
              </a:lnSpc>
            </a:pPr>
            <a:r>
              <a:rPr sz="800" b="0" i="0">
                <a:solidFill>
                  <a:srgbClr val="ECE7DC"/>
                </a:solidFill>
                <a:latin typeface="Consolas"/>
              </a:rPr>
              <a:t>    │   │       │       │   ├── UniJISX0213-UTF32-H.bcma</a:t>
            </a:r>
          </a:p>
          <a:p>
            <a:pPr algn="l">
              <a:lnSpc>
                <a:spcPct val="100000"/>
              </a:lnSpc>
            </a:pPr>
            <a:r>
              <a:rPr sz="800" b="0" i="0">
                <a:solidFill>
                  <a:srgbClr val="ECE7DC"/>
                </a:solidFill>
                <a:latin typeface="Consolas"/>
              </a:rPr>
              <a:t>    │   │       │       │   │     » p</a:t>
            </a:r>
          </a:p>
          <a:p>
            <a:pPr algn="l">
              <a:lnSpc>
                <a:spcPct val="100000"/>
              </a:lnSpc>
            </a:pPr>
            <a:r>
              <a:rPr sz="800" b="0" i="0">
                <a:solidFill>
                  <a:srgbClr val="ECE7DC"/>
                </a:solidFill>
                <a:latin typeface="Consolas"/>
              </a:rPr>
              <a:t>    │   │       │       │   ├── UniJISX0213-UTF32-V.bcma</a:t>
            </a:r>
          </a:p>
          <a:p>
            <a:pPr algn="l">
              <a:lnSpc>
                <a:spcPct val="100000"/>
              </a:lnSpc>
            </a:pPr>
            <a:r>
              <a:rPr sz="800" b="0" i="0">
                <a:solidFill>
                  <a:srgbClr val="ECE7DC"/>
                </a:solidFill>
                <a:latin typeface="Consolas"/>
              </a:rPr>
              <a:t>    │   │       │       │   │     » p</a:t>
            </a:r>
          </a:p>
          <a:p>
            <a:pPr algn="l">
              <a:lnSpc>
                <a:spcPct val="100000"/>
              </a:lnSpc>
            </a:pPr>
            <a:r>
              <a:rPr sz="800" b="0" i="0">
                <a:solidFill>
                  <a:srgbClr val="ECE7DC"/>
                </a:solidFill>
                <a:latin typeface="Consolas"/>
              </a:rPr>
              <a:t>    │   │       │       │   ├── UniJISX02132004-UTF32-H.</a:t>
            </a:r>
          </a:p>
          <a:p>
            <a:pPr algn="l">
              <a:lnSpc>
                <a:spcPct val="100000"/>
              </a:lnSpc>
            </a:pPr>
            <a:r>
              <a:rPr sz="800" b="0" i="0">
                <a:solidFill>
                  <a:srgbClr val="ECE7DC"/>
                </a:solidFill>
                <a:latin typeface="Consolas"/>
              </a:rPr>
              <a:t>    │   │       │       │   │     » bcmap</a:t>
            </a:r>
          </a:p>
          <a:p>
            <a:pPr algn="l">
              <a:lnSpc>
                <a:spcPct val="100000"/>
              </a:lnSpc>
            </a:pPr>
            <a:r>
              <a:rPr sz="800" b="0" i="0">
                <a:solidFill>
                  <a:srgbClr val="ECE7DC"/>
                </a:solidFill>
                <a:latin typeface="Consolas"/>
              </a:rPr>
              <a:t>    │   │       │       │   ├── UniJISX02132004-UTF32-V.</a:t>
            </a:r>
          </a:p>
          <a:p>
            <a:pPr algn="l">
              <a:lnSpc>
                <a:spcPct val="100000"/>
              </a:lnSpc>
            </a:pPr>
            <a:r>
              <a:rPr sz="800" b="0" i="0">
                <a:solidFill>
                  <a:srgbClr val="ECE7DC"/>
                </a:solidFill>
                <a:latin typeface="Consolas"/>
              </a:rPr>
              <a:t>    │   │       │       │   │     » bcmap</a:t>
            </a:r>
          </a:p>
          <a:p>
            <a:pPr algn="l">
              <a:lnSpc>
                <a:spcPct val="100000"/>
              </a:lnSpc>
            </a:pPr>
            <a:r>
              <a:rPr sz="800" b="0" i="0">
                <a:solidFill>
                  <a:srgbClr val="ECE7DC"/>
                </a:solidFill>
                <a:latin typeface="Consolas"/>
              </a:rPr>
              <a:t>    │   │       │       │   ├── UniKS-UCS2-H.bcmap</a:t>
            </a:r>
          </a:p>
          <a:p>
            <a:pPr algn="l">
              <a:lnSpc>
                <a:spcPct val="100000"/>
              </a:lnSpc>
            </a:pPr>
            <a:r>
              <a:rPr sz="800" b="0" i="0">
                <a:solidFill>
                  <a:srgbClr val="ECE7DC"/>
                </a:solidFill>
                <a:latin typeface="Consolas"/>
              </a:rPr>
              <a:t>    │   │       │       │   ├── UniKS-UCS2-V.bcmap</a:t>
            </a:r>
          </a:p>
          <a:p>
            <a:pPr algn="l">
              <a:lnSpc>
                <a:spcPct val="100000"/>
              </a:lnSpc>
            </a:pPr>
            <a:r>
              <a:rPr sz="800" b="0" i="0">
                <a:solidFill>
                  <a:srgbClr val="ECE7DC"/>
                </a:solidFill>
                <a:latin typeface="Consolas"/>
              </a:rPr>
              <a:t>    │   │       │       │   ├── UniKS-UTF16-H.bcmap</a:t>
            </a:r>
          </a:p>
          <a:p>
            <a:pPr algn="l">
              <a:lnSpc>
                <a:spcPct val="100000"/>
              </a:lnSpc>
            </a:pPr>
            <a:r>
              <a:rPr sz="800" b="0" i="0">
                <a:solidFill>
                  <a:srgbClr val="ECE7DC"/>
                </a:solidFill>
                <a:latin typeface="Consolas"/>
              </a:rPr>
              <a:t>    │   │       │       │   ├── UniKS-UTF16-V.bcmap</a:t>
            </a:r>
          </a:p>
          <a:p>
            <a:pPr algn="l">
              <a:lnSpc>
                <a:spcPct val="100000"/>
              </a:lnSpc>
            </a:pPr>
            <a:r>
              <a:rPr sz="800" b="0" i="0">
                <a:solidFill>
                  <a:srgbClr val="ECE7DC"/>
                </a:solidFill>
                <a:latin typeface="Consolas"/>
              </a:rPr>
              <a:t>    │   │       │       │   ├── UniKS-UTF32-H.bcmap</a:t>
            </a:r>
          </a:p>
          <a:p>
            <a:pPr algn="l">
              <a:lnSpc>
                <a:spcPct val="100000"/>
              </a:lnSpc>
            </a:pPr>
            <a:r>
              <a:rPr sz="800" b="0" i="0">
                <a:solidFill>
                  <a:srgbClr val="ECE7DC"/>
                </a:solidFill>
                <a:latin typeface="Consolas"/>
              </a:rPr>
              <a:t>    │   │       │       │   ├── UniKS-UTF32-V.bcmap</a:t>
            </a:r>
          </a:p>
          <a:p>
            <a:pPr algn="l">
              <a:lnSpc>
                <a:spcPct val="100000"/>
              </a:lnSpc>
            </a:pPr>
            <a:r>
              <a:rPr sz="800" b="0" i="0">
                <a:solidFill>
                  <a:srgbClr val="ECE7DC"/>
                </a:solidFill>
                <a:latin typeface="Consolas"/>
              </a:rPr>
              <a:t>    │   │       │       │   ├── UniKS-UTF8-H.bcmap</a:t>
            </a:r>
          </a:p>
        </p:txBody>
      </p:sp>
      <p:sp>
        <p:nvSpPr>
          <p:cNvPr id="7" name="TextBox 6"/>
          <p:cNvSpPr txBox="1"/>
          <p:nvPr/>
        </p:nvSpPr>
        <p:spPr>
          <a:xfrm>
            <a:off x="8109508" y="1170432"/>
            <a:ext cx="3515258" cy="5084064"/>
          </a:xfrm>
          <a:prstGeom prst="rect">
            <a:avLst/>
          </a:prstGeom>
          <a:noFill/>
        </p:spPr>
        <p:txBody>
          <a:bodyPr wrap="none" lIns="45720" rIns="45720" tIns="27432" bIns="27432" anchor="t">
            <a:noAutofit/>
          </a:bodyPr>
          <a:lstStyle/>
          <a:p>
            <a:pPr algn="l">
              <a:lnSpc>
                <a:spcPct val="100000"/>
              </a:lnSpc>
            </a:pPr>
            <a:r>
              <a:rPr sz="800" b="0" i="0">
                <a:solidFill>
                  <a:srgbClr val="ECE7DC"/>
                </a:solidFill>
                <a:latin typeface="Consolas"/>
              </a:rPr>
              <a:t>    │   │       │       │   ├── UniKS-UTF8-V.bcmap</a:t>
            </a:r>
          </a:p>
          <a:p>
            <a:pPr algn="l">
              <a:lnSpc>
                <a:spcPct val="100000"/>
              </a:lnSpc>
            </a:pPr>
            <a:r>
              <a:rPr sz="800" b="0" i="0">
                <a:solidFill>
                  <a:srgbClr val="ECE7DC"/>
                </a:solidFill>
                <a:latin typeface="Consolas"/>
              </a:rPr>
              <a:t>    │   │       │       │   ├── V.bcmap</a:t>
            </a:r>
          </a:p>
          <a:p>
            <a:pPr algn="l">
              <a:lnSpc>
                <a:spcPct val="100000"/>
              </a:lnSpc>
            </a:pPr>
            <a:r>
              <a:rPr sz="800" b="0" i="0">
                <a:solidFill>
                  <a:srgbClr val="ECE7DC"/>
                </a:solidFill>
                <a:latin typeface="Consolas"/>
              </a:rPr>
              <a:t>    │   │       │       │   └── WP-Symbol.bcmap</a:t>
            </a:r>
          </a:p>
          <a:p>
            <a:pPr algn="l">
              <a:lnSpc>
                <a:spcPct val="100000"/>
              </a:lnSpc>
            </a:pPr>
            <a:r>
              <a:rPr sz="800" b="0" i="0">
                <a:solidFill>
                  <a:srgbClr val="3BBE93"/>
                </a:solidFill>
                <a:latin typeface="Consolas"/>
              </a:rPr>
              <a:t>    │   │       │       ├── iccs/</a:t>
            </a:r>
          </a:p>
          <a:p>
            <a:pPr algn="l">
              <a:lnSpc>
                <a:spcPct val="100000"/>
              </a:lnSpc>
            </a:pPr>
            <a:r>
              <a:rPr sz="800" b="0" i="0">
                <a:solidFill>
                  <a:srgbClr val="ECE7DC"/>
                </a:solidFill>
                <a:latin typeface="Consolas"/>
              </a:rPr>
              <a:t>    │   │       │       │   ├── CGATS001Compat-v2-micro.</a:t>
            </a:r>
          </a:p>
          <a:p>
            <a:pPr algn="l">
              <a:lnSpc>
                <a:spcPct val="100000"/>
              </a:lnSpc>
            </a:pPr>
            <a:r>
              <a:rPr sz="800" b="0" i="0">
                <a:solidFill>
                  <a:srgbClr val="ECE7DC"/>
                </a:solidFill>
                <a:latin typeface="Consolas"/>
              </a:rPr>
              <a:t>    │   │       │       │   │     » icc</a:t>
            </a:r>
          </a:p>
          <a:p>
            <a:pPr algn="l">
              <a:lnSpc>
                <a:spcPct val="100000"/>
              </a:lnSpc>
            </a:pPr>
            <a:r>
              <a:rPr sz="800" b="0" i="0">
                <a:solidFill>
                  <a:srgbClr val="ECE7DC"/>
                </a:solidFill>
                <a:latin typeface="Consolas"/>
              </a:rPr>
              <a:t>    │   │       │       │   └── LICENSE</a:t>
            </a:r>
          </a:p>
          <a:p>
            <a:pPr algn="l">
              <a:lnSpc>
                <a:spcPct val="100000"/>
              </a:lnSpc>
            </a:pPr>
            <a:r>
              <a:rPr sz="800" b="0" i="0">
                <a:solidFill>
                  <a:srgbClr val="3BBE93"/>
                </a:solidFill>
                <a:latin typeface="Consolas"/>
              </a:rPr>
              <a:t>    │   │       │       ├── standard_fonts/</a:t>
            </a:r>
          </a:p>
          <a:p>
            <a:pPr algn="l">
              <a:lnSpc>
                <a:spcPct val="100000"/>
              </a:lnSpc>
            </a:pPr>
            <a:r>
              <a:rPr sz="800" b="0" i="0">
                <a:solidFill>
                  <a:srgbClr val="ECE7DC"/>
                </a:solidFill>
                <a:latin typeface="Consolas"/>
              </a:rPr>
              <a:t>    │   │       │       │   ├── FoxitDingbats.pfb</a:t>
            </a:r>
          </a:p>
          <a:p>
            <a:pPr algn="l">
              <a:lnSpc>
                <a:spcPct val="100000"/>
              </a:lnSpc>
            </a:pPr>
            <a:r>
              <a:rPr sz="800" b="0" i="0">
                <a:solidFill>
                  <a:srgbClr val="ECE7DC"/>
                </a:solidFill>
                <a:latin typeface="Consolas"/>
              </a:rPr>
              <a:t>    │   │       │       │   ├── FoxitFixed.pfb</a:t>
            </a:r>
          </a:p>
          <a:p>
            <a:pPr algn="l">
              <a:lnSpc>
                <a:spcPct val="100000"/>
              </a:lnSpc>
            </a:pPr>
            <a:r>
              <a:rPr sz="800" b="0" i="0">
                <a:solidFill>
                  <a:srgbClr val="ECE7DC"/>
                </a:solidFill>
                <a:latin typeface="Consolas"/>
              </a:rPr>
              <a:t>    │   │       │       │   ├── FoxitFixedBold.pfb</a:t>
            </a:r>
          </a:p>
          <a:p>
            <a:pPr algn="l">
              <a:lnSpc>
                <a:spcPct val="100000"/>
              </a:lnSpc>
            </a:pPr>
            <a:r>
              <a:rPr sz="800" b="0" i="0">
                <a:solidFill>
                  <a:srgbClr val="ECE7DC"/>
                </a:solidFill>
                <a:latin typeface="Consolas"/>
              </a:rPr>
              <a:t>    │   │       │       │   ├── FoxitFixedBoldItalic.pfb</a:t>
            </a:r>
          </a:p>
          <a:p>
            <a:pPr algn="l">
              <a:lnSpc>
                <a:spcPct val="100000"/>
              </a:lnSpc>
            </a:pPr>
            <a:r>
              <a:rPr sz="800" b="0" i="0">
                <a:solidFill>
                  <a:srgbClr val="ECE7DC"/>
                </a:solidFill>
                <a:latin typeface="Consolas"/>
              </a:rPr>
              <a:t>    │   │       │       │   ├── FoxitFixedItalic.pfb</a:t>
            </a:r>
          </a:p>
          <a:p>
            <a:pPr algn="l">
              <a:lnSpc>
                <a:spcPct val="100000"/>
              </a:lnSpc>
            </a:pPr>
            <a:r>
              <a:rPr sz="800" b="0" i="0">
                <a:solidFill>
                  <a:srgbClr val="ECE7DC"/>
                </a:solidFill>
                <a:latin typeface="Consolas"/>
              </a:rPr>
              <a:t>    │   │       │       │   ├── FoxitSerif.pfb</a:t>
            </a:r>
          </a:p>
          <a:p>
            <a:pPr algn="l">
              <a:lnSpc>
                <a:spcPct val="100000"/>
              </a:lnSpc>
            </a:pPr>
            <a:r>
              <a:rPr sz="800" b="0" i="0">
                <a:solidFill>
                  <a:srgbClr val="ECE7DC"/>
                </a:solidFill>
                <a:latin typeface="Consolas"/>
              </a:rPr>
              <a:t>    │   │       │       │   ├── FoxitSerifBold.pfb</a:t>
            </a:r>
          </a:p>
          <a:p>
            <a:pPr algn="l">
              <a:lnSpc>
                <a:spcPct val="100000"/>
              </a:lnSpc>
            </a:pPr>
            <a:r>
              <a:rPr sz="800" b="0" i="0">
                <a:solidFill>
                  <a:srgbClr val="ECE7DC"/>
                </a:solidFill>
                <a:latin typeface="Consolas"/>
              </a:rPr>
              <a:t>    │   │       │       │   ├── FoxitSerifBoldItalic.pfb</a:t>
            </a:r>
          </a:p>
          <a:p>
            <a:pPr algn="l">
              <a:lnSpc>
                <a:spcPct val="100000"/>
              </a:lnSpc>
            </a:pPr>
            <a:r>
              <a:rPr sz="800" b="0" i="0">
                <a:solidFill>
                  <a:srgbClr val="ECE7DC"/>
                </a:solidFill>
                <a:latin typeface="Consolas"/>
              </a:rPr>
              <a:t>    │   │       │       │   ├── FoxitSerifItalic.pfb</a:t>
            </a:r>
          </a:p>
          <a:p>
            <a:pPr algn="l">
              <a:lnSpc>
                <a:spcPct val="100000"/>
              </a:lnSpc>
            </a:pPr>
            <a:r>
              <a:rPr sz="800" b="0" i="0">
                <a:solidFill>
                  <a:srgbClr val="ECE7DC"/>
                </a:solidFill>
                <a:latin typeface="Consolas"/>
              </a:rPr>
              <a:t>    │   │       │       │   ├── FoxitSymbol.pfb</a:t>
            </a:r>
          </a:p>
          <a:p>
            <a:pPr algn="l">
              <a:lnSpc>
                <a:spcPct val="100000"/>
              </a:lnSpc>
            </a:pPr>
            <a:r>
              <a:rPr sz="800" b="0" i="0">
                <a:solidFill>
                  <a:srgbClr val="ECE7DC"/>
                </a:solidFill>
                <a:latin typeface="Consolas"/>
              </a:rPr>
              <a:t>    │   │       │       │   ├── LiberationSans-Bold.ttf</a:t>
            </a:r>
          </a:p>
          <a:p>
            <a:pPr algn="l">
              <a:lnSpc>
                <a:spcPct val="100000"/>
              </a:lnSpc>
            </a:pPr>
            <a:r>
              <a:rPr sz="800" b="0" i="0">
                <a:solidFill>
                  <a:srgbClr val="ECE7DC"/>
                </a:solidFill>
                <a:latin typeface="Consolas"/>
              </a:rPr>
              <a:t>    │   │       │       │   ├── LiberationSans-BoldItali</a:t>
            </a:r>
          </a:p>
          <a:p>
            <a:pPr algn="l">
              <a:lnSpc>
                <a:spcPct val="100000"/>
              </a:lnSpc>
            </a:pPr>
            <a:r>
              <a:rPr sz="800" b="0" i="0">
                <a:solidFill>
                  <a:srgbClr val="ECE7DC"/>
                </a:solidFill>
                <a:latin typeface="Consolas"/>
              </a:rPr>
              <a:t>    │   │       │       │   │     » c.ttf</a:t>
            </a:r>
          </a:p>
          <a:p>
            <a:pPr algn="l">
              <a:lnSpc>
                <a:spcPct val="100000"/>
              </a:lnSpc>
            </a:pPr>
            <a:r>
              <a:rPr sz="800" b="0" i="0">
                <a:solidFill>
                  <a:srgbClr val="ECE7DC"/>
                </a:solidFill>
                <a:latin typeface="Consolas"/>
              </a:rPr>
              <a:t>    │   │       │       │   ├── LiberationSans-Italic.tt</a:t>
            </a:r>
          </a:p>
          <a:p>
            <a:pPr algn="l">
              <a:lnSpc>
                <a:spcPct val="100000"/>
              </a:lnSpc>
            </a:pPr>
            <a:r>
              <a:rPr sz="800" b="0" i="0">
                <a:solidFill>
                  <a:srgbClr val="ECE7DC"/>
                </a:solidFill>
                <a:latin typeface="Consolas"/>
              </a:rPr>
              <a:t>    │   │       │       │   │     » f</a:t>
            </a:r>
          </a:p>
          <a:p>
            <a:pPr algn="l">
              <a:lnSpc>
                <a:spcPct val="100000"/>
              </a:lnSpc>
            </a:pPr>
            <a:r>
              <a:rPr sz="800" b="0" i="0">
                <a:solidFill>
                  <a:srgbClr val="ECE7DC"/>
                </a:solidFill>
                <a:latin typeface="Consolas"/>
              </a:rPr>
              <a:t>    │   │       │       │   ├── LiberationSans-Regular.t</a:t>
            </a:r>
          </a:p>
          <a:p>
            <a:pPr algn="l">
              <a:lnSpc>
                <a:spcPct val="100000"/>
              </a:lnSpc>
            </a:pPr>
            <a:r>
              <a:rPr sz="800" b="0" i="0">
                <a:solidFill>
                  <a:srgbClr val="ECE7DC"/>
                </a:solidFill>
                <a:latin typeface="Consolas"/>
              </a:rPr>
              <a:t>    │   │       │       │   │     » tf</a:t>
            </a:r>
          </a:p>
          <a:p>
            <a:pPr algn="l">
              <a:lnSpc>
                <a:spcPct val="100000"/>
              </a:lnSpc>
            </a:pPr>
            <a:r>
              <a:rPr sz="800" b="0" i="0">
                <a:solidFill>
                  <a:srgbClr val="ECE7DC"/>
                </a:solidFill>
                <a:latin typeface="Consolas"/>
              </a:rPr>
              <a:t>    │   │       │       │   ├── LICENSE_FOXIT</a:t>
            </a:r>
          </a:p>
          <a:p>
            <a:pPr algn="l">
              <a:lnSpc>
                <a:spcPct val="100000"/>
              </a:lnSpc>
            </a:pPr>
            <a:r>
              <a:rPr sz="800" b="0" i="0">
                <a:solidFill>
                  <a:srgbClr val="ECE7DC"/>
                </a:solidFill>
                <a:latin typeface="Consolas"/>
              </a:rPr>
              <a:t>    │   │       │       │   └── LICENSE_LIBERATION</a:t>
            </a:r>
          </a:p>
          <a:p>
            <a:pPr algn="l">
              <a:lnSpc>
                <a:spcPct val="100000"/>
              </a:lnSpc>
            </a:pPr>
            <a:r>
              <a:rPr sz="800" b="0" i="0">
                <a:solidFill>
                  <a:srgbClr val="3BBE93"/>
                </a:solidFill>
                <a:latin typeface="Consolas"/>
              </a:rPr>
              <a:t>    │   │       │       ├── wasm/</a:t>
            </a:r>
          </a:p>
          <a:p>
            <a:pPr algn="l">
              <a:lnSpc>
                <a:spcPct val="100000"/>
              </a:lnSpc>
            </a:pPr>
            <a:r>
              <a:rPr sz="800" b="0" i="0">
                <a:solidFill>
                  <a:srgbClr val="ECE7DC"/>
                </a:solidFill>
                <a:latin typeface="Consolas"/>
              </a:rPr>
              <a:t>    │   │       │       │   ├── jbig2.wasm</a:t>
            </a:r>
          </a:p>
          <a:p>
            <a:pPr algn="l">
              <a:lnSpc>
                <a:spcPct val="100000"/>
              </a:lnSpc>
            </a:pPr>
            <a:r>
              <a:rPr sz="800" b="0" i="0">
                <a:solidFill>
                  <a:srgbClr val="ECE7DC"/>
                </a:solidFill>
                <a:latin typeface="Consolas"/>
              </a:rPr>
              <a:t>    │   │       │       │   ├── jbig2_nowasm_fallback.js</a:t>
            </a:r>
          </a:p>
          <a:p>
            <a:pPr algn="l">
              <a:lnSpc>
                <a:spcPct val="100000"/>
              </a:lnSpc>
            </a:pPr>
            <a:r>
              <a:rPr sz="800" b="0" i="0">
                <a:solidFill>
                  <a:srgbClr val="ECE7DC"/>
                </a:solidFill>
                <a:latin typeface="Consolas"/>
              </a:rPr>
              <a:t>    │   │       │       │   ├── LICENSE_JBIG2</a:t>
            </a:r>
          </a:p>
          <a:p>
            <a:pPr algn="l">
              <a:lnSpc>
                <a:spcPct val="100000"/>
              </a:lnSpc>
            </a:pPr>
            <a:r>
              <a:rPr sz="800" b="0" i="0">
                <a:solidFill>
                  <a:srgbClr val="ECE7DC"/>
                </a:solidFill>
                <a:latin typeface="Consolas"/>
              </a:rPr>
              <a:t>    │   │       │       │   ├── LICENSE_OPENJPEG</a:t>
            </a:r>
          </a:p>
          <a:p>
            <a:pPr algn="l">
              <a:lnSpc>
                <a:spcPct val="100000"/>
              </a:lnSpc>
            </a:pPr>
            <a:r>
              <a:rPr sz="800" b="0" i="0">
                <a:solidFill>
                  <a:srgbClr val="ECE7DC"/>
                </a:solidFill>
                <a:latin typeface="Consolas"/>
              </a:rPr>
              <a:t>    │   │       │       │   ├── LICENSE_PDFJS_JBIG2</a:t>
            </a:r>
          </a:p>
          <a:p>
            <a:pPr algn="l">
              <a:lnSpc>
                <a:spcPct val="100000"/>
              </a:lnSpc>
            </a:pPr>
            <a:r>
              <a:rPr sz="800" b="0" i="0">
                <a:solidFill>
                  <a:srgbClr val="ECE7DC"/>
                </a:solidFill>
                <a:latin typeface="Consolas"/>
              </a:rPr>
              <a:t>    │   │       │       │   ├── LICENSE_PDFJS_OPENJPEG</a:t>
            </a:r>
          </a:p>
          <a:p>
            <a:pPr algn="l">
              <a:lnSpc>
                <a:spcPct val="100000"/>
              </a:lnSpc>
            </a:pPr>
            <a:r>
              <a:rPr sz="800" b="0" i="0">
                <a:solidFill>
                  <a:srgbClr val="ECE7DC"/>
                </a:solidFill>
                <a:latin typeface="Consolas"/>
              </a:rPr>
              <a:t>    │   │       │       │   ├── LICENSE_PDFJS_QCMS</a:t>
            </a:r>
          </a:p>
          <a:p>
            <a:pPr algn="l">
              <a:lnSpc>
                <a:spcPct val="100000"/>
              </a:lnSpc>
            </a:pPr>
            <a:r>
              <a:rPr sz="800" b="0" i="0">
                <a:solidFill>
                  <a:srgbClr val="ECE7DC"/>
                </a:solidFill>
                <a:latin typeface="Consolas"/>
              </a:rPr>
              <a:t>    │   │       │       │   ├── LICENSE_QCMS</a:t>
            </a:r>
          </a:p>
          <a:p>
            <a:pPr algn="l">
              <a:lnSpc>
                <a:spcPct val="100000"/>
              </a:lnSpc>
            </a:pPr>
            <a:r>
              <a:rPr sz="800" b="0" i="0">
                <a:solidFill>
                  <a:srgbClr val="ECE7DC"/>
                </a:solidFill>
                <a:latin typeface="Consolas"/>
              </a:rPr>
              <a:t>    │   │       │       │   ├── openjpeg.wasm</a:t>
            </a:r>
          </a:p>
          <a:p>
            <a:pPr algn="l">
              <a:lnSpc>
                <a:spcPct val="100000"/>
              </a:lnSpc>
            </a:pPr>
            <a:r>
              <a:rPr sz="800" b="0" i="0">
                <a:solidFill>
                  <a:srgbClr val="ECE7DC"/>
                </a:solidFill>
                <a:latin typeface="Consolas"/>
              </a:rPr>
              <a:t>    │   │       │       │   ├── openjpeg_nowasm_fallback</a:t>
            </a:r>
          </a:p>
          <a:p>
            <a:pPr algn="l">
              <a:lnSpc>
                <a:spcPct val="100000"/>
              </a:lnSpc>
            </a:pPr>
            <a:r>
              <a:rPr sz="800" b="0" i="0">
                <a:solidFill>
                  <a:srgbClr val="ECE7DC"/>
                </a:solidFill>
                <a:latin typeface="Consolas"/>
              </a:rPr>
              <a:t>    │   │       │       │   │     » .js</a:t>
            </a:r>
          </a:p>
          <a:p>
            <a:pPr algn="l">
              <a:lnSpc>
                <a:spcPct val="100000"/>
              </a:lnSpc>
            </a:pPr>
            <a:r>
              <a:rPr sz="800" b="0" i="0">
                <a:solidFill>
                  <a:srgbClr val="ECE7DC"/>
                </a:solidFill>
                <a:latin typeface="Consolas"/>
              </a:rPr>
              <a:t>    │   │       │       │   ├── qcms_bg.wasm</a:t>
            </a:r>
          </a:p>
          <a:p>
            <a:pPr algn="l">
              <a:lnSpc>
                <a:spcPct val="100000"/>
              </a:lnSpc>
            </a:pPr>
            <a:r>
              <a:rPr sz="800" b="0" i="0">
                <a:solidFill>
                  <a:srgbClr val="ECE7DC"/>
                </a:solidFill>
                <a:latin typeface="Consolas"/>
              </a:rPr>
              <a:t>    │   │       │       │   ├── quickjs-eval.js</a:t>
            </a:r>
          </a:p>
        </p:txBody>
      </p:sp>
      <p:cxnSp>
        <p:nvCxnSpPr>
          <p:cNvPr id="8" name="Connector 7"/>
          <p:cNvCxnSpPr/>
          <p:nvPr/>
        </p:nvCxnSpPr>
        <p:spPr>
          <a:xfrm>
            <a:off x="566928" y="6373368"/>
            <a:ext cx="11057839" cy="0"/>
          </a:xfrm>
          <a:prstGeom prst="line">
            <a:avLst/>
          </a:prstGeom>
          <a:ln w="7620">
            <a:solidFill>
              <a:srgbClr val="2A3A40"/>
            </a:solidFill>
          </a:ln>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566928" y="6419088"/>
            <a:ext cx="6858000" cy="274320"/>
          </a:xfrm>
          <a:prstGeom prst="rect">
            <a:avLst/>
          </a:prstGeom>
          <a:noFill/>
        </p:spPr>
        <p:txBody>
          <a:bodyPr wrap="square" lIns="45720" rIns="45720" tIns="27432" bIns="27432" anchor="t">
            <a:noAutofit/>
          </a:bodyPr>
          <a:lstStyle/>
          <a:p>
            <a:pPr algn="l">
              <a:lnSpc>
                <a:spcPct val="100000"/>
              </a:lnSpc>
            </a:pPr>
            <a:r>
              <a:rPr sz="850" b="0" i="0" spc="120">
                <a:solidFill>
                  <a:srgbClr val="A7B2B0"/>
                </a:solidFill>
                <a:latin typeface="Segoe UI Semibold"/>
              </a:rPr>
              <a:t>TLAMATINI  ·  APÉNDICE A · ÁRBOL DE ARCHIVOS</a:t>
            </a:r>
          </a:p>
        </p:txBody>
      </p:sp>
      <p:sp>
        <p:nvSpPr>
          <p:cNvPr id="10" name="TextBox 9"/>
          <p:cNvSpPr txBox="1"/>
          <p:nvPr/>
        </p:nvSpPr>
        <p:spPr>
          <a:xfrm>
            <a:off x="8698687" y="6419088"/>
            <a:ext cx="2926080" cy="274320"/>
          </a:xfrm>
          <a:prstGeom prst="rect">
            <a:avLst/>
          </a:prstGeom>
          <a:noFill/>
        </p:spPr>
        <p:txBody>
          <a:bodyPr wrap="square" lIns="45720" rIns="45720" tIns="27432" bIns="27432" anchor="t">
            <a:noAutofit/>
          </a:bodyPr>
          <a:lstStyle/>
          <a:p>
            <a:pPr algn="r">
              <a:lnSpc>
                <a:spcPct val="100000"/>
              </a:lnSpc>
            </a:pPr>
            <a:r>
              <a:rPr sz="850" b="0" i="0" spc="100">
                <a:solidFill>
                  <a:srgbClr val="A7B2B0"/>
                </a:solidFill>
                <a:latin typeface="Segoe UI Semibold"/>
              </a:rPr>
              <a:t>v1.91.1   ·   192</a:t>
            </a:r>
          </a:p>
        </p:txBody>
      </p:sp>
    </p:spTree>
  </p:cSld>
  <p:clrMapOvr>
    <a:masterClrMapping/>
  </p:clrMapOvr>
</p:sld>
</file>

<file path=ppt/slides/slide19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appendix.png"/>
          <p:cNvPicPr>
            <a:picLocks noChangeAspect="1"/>
          </p:cNvPicPr>
          <p:nvPr/>
        </p:nvPicPr>
        <p:blipFill>
          <a:blip r:embed="rId2"/>
          <a:stretch>
            <a:fillRect/>
          </a:stretch>
        </p:blipFill>
        <p:spPr>
          <a:xfrm>
            <a:off x="0" y="0"/>
            <a:ext cx="12191695" cy="6858000"/>
          </a:xfrm>
          <a:prstGeom prst="rect">
            <a:avLst/>
          </a:prstGeom>
        </p:spPr>
      </p:pic>
      <p:sp>
        <p:nvSpPr>
          <p:cNvPr id="3" name="TextBox 2"/>
          <p:cNvSpPr txBox="1"/>
          <p:nvPr/>
        </p:nvSpPr>
        <p:spPr>
          <a:xfrm>
            <a:off x="566928" y="384048"/>
            <a:ext cx="8686800" cy="329184"/>
          </a:xfrm>
          <a:prstGeom prst="rect">
            <a:avLst/>
          </a:prstGeom>
          <a:noFill/>
        </p:spPr>
        <p:txBody>
          <a:bodyPr wrap="square" lIns="45720" rIns="45720" tIns="27432" bIns="27432" anchor="t">
            <a:noAutofit/>
          </a:bodyPr>
          <a:lstStyle/>
          <a:p>
            <a:pPr algn="l">
              <a:lnSpc>
                <a:spcPct val="100000"/>
              </a:lnSpc>
            </a:pPr>
            <a:r>
              <a:rPr sz="1100" b="0" i="0" spc="200">
                <a:solidFill>
                  <a:srgbClr val="C98457"/>
                </a:solidFill>
                <a:latin typeface="Segoe UI Semibold"/>
              </a:rPr>
              <a:t>APÉNDICE A  ·  ÁRBOL DE ARCHIVOS DE LA APLICACIÓN  ·  19 / 20</a:t>
            </a:r>
          </a:p>
        </p:txBody>
      </p:sp>
      <p:sp>
        <p:nvSpPr>
          <p:cNvPr id="4" name="TextBox 3"/>
          <p:cNvSpPr txBox="1"/>
          <p:nvPr/>
        </p:nvSpPr>
        <p:spPr>
          <a:xfrm>
            <a:off x="566928" y="731520"/>
            <a:ext cx="11057839" cy="384048"/>
          </a:xfrm>
          <a:prstGeom prst="rect">
            <a:avLst/>
          </a:prstGeom>
          <a:noFill/>
        </p:spPr>
        <p:txBody>
          <a:bodyPr wrap="square" lIns="45720" rIns="45720" tIns="27432" bIns="27432" anchor="t">
            <a:noAutofit/>
          </a:bodyPr>
          <a:lstStyle/>
          <a:p>
            <a:pPr algn="l">
              <a:lnSpc>
                <a:spcPct val="100000"/>
              </a:lnSpc>
            </a:pPr>
            <a:r>
              <a:rPr sz="1300" b="0" i="0">
                <a:solidFill>
                  <a:srgbClr val="A7B2B0"/>
                </a:solidFill>
                <a:latin typeface="Segoe UI"/>
              </a:rPr>
              <a:t>1,898 archivos listados en el commit 21b0a5c; 221 archivos de la historia de la base de datos resumidos.</a:t>
            </a:r>
          </a:p>
        </p:txBody>
      </p:sp>
      <p:sp>
        <p:nvSpPr>
          <p:cNvPr id="5" name="TextBox 4"/>
          <p:cNvSpPr txBox="1"/>
          <p:nvPr/>
        </p:nvSpPr>
        <p:spPr>
          <a:xfrm>
            <a:off x="566928" y="1170432"/>
            <a:ext cx="3515258" cy="5084064"/>
          </a:xfrm>
          <a:prstGeom prst="rect">
            <a:avLst/>
          </a:prstGeom>
          <a:noFill/>
        </p:spPr>
        <p:txBody>
          <a:bodyPr wrap="none" lIns="45720" rIns="45720" tIns="27432" bIns="27432" anchor="t">
            <a:noAutofit/>
          </a:bodyPr>
          <a:lstStyle/>
          <a:p>
            <a:pPr algn="l">
              <a:lnSpc>
                <a:spcPct val="100000"/>
              </a:lnSpc>
            </a:pPr>
            <a:r>
              <a:rPr sz="800" b="0" i="0">
                <a:solidFill>
                  <a:srgbClr val="ECE7DC"/>
                </a:solidFill>
                <a:latin typeface="Consolas"/>
              </a:rPr>
              <a:t>    │   │       │       │   └── quickjs-eval.wasm</a:t>
            </a:r>
          </a:p>
          <a:p>
            <a:pPr algn="l">
              <a:lnSpc>
                <a:spcPct val="100000"/>
              </a:lnSpc>
            </a:pPr>
            <a:r>
              <a:rPr sz="800" b="0" i="0">
                <a:solidFill>
                  <a:srgbClr val="3BBE93"/>
                </a:solidFill>
                <a:latin typeface="Consolas"/>
              </a:rPr>
              <a:t>    │   │       │       └── web/</a:t>
            </a:r>
          </a:p>
          <a:p>
            <a:pPr algn="l">
              <a:lnSpc>
                <a:spcPct val="100000"/>
              </a:lnSpc>
            </a:pPr>
            <a:r>
              <a:rPr sz="800" b="0" i="0">
                <a:solidFill>
                  <a:srgbClr val="ECE7DC"/>
                </a:solidFill>
                <a:latin typeface="Consolas"/>
              </a:rPr>
              <a:t>    │   │       │           ├── pdf_viewer.css</a:t>
            </a:r>
          </a:p>
          <a:p>
            <a:pPr algn="l">
              <a:lnSpc>
                <a:spcPct val="100000"/>
              </a:lnSpc>
            </a:pPr>
            <a:r>
              <a:rPr sz="800" b="0" i="0">
                <a:solidFill>
                  <a:srgbClr val="ECE7DC"/>
                </a:solidFill>
                <a:latin typeface="Consolas"/>
              </a:rPr>
              <a:t>    │   │       │           ├── pdf_viewer.mjs</a:t>
            </a:r>
          </a:p>
          <a:p>
            <a:pPr algn="l">
              <a:lnSpc>
                <a:spcPct val="100000"/>
              </a:lnSpc>
            </a:pPr>
            <a:r>
              <a:rPr sz="800" b="0" i="0">
                <a:solidFill>
                  <a:srgbClr val="3BBE93"/>
                </a:solidFill>
                <a:latin typeface="Consolas"/>
              </a:rPr>
              <a:t>    │   │       │           └── images/</a:t>
            </a:r>
          </a:p>
          <a:p>
            <a:pPr algn="l">
              <a:lnSpc>
                <a:spcPct val="100000"/>
              </a:lnSpc>
            </a:pPr>
            <a:r>
              <a:rPr sz="800" b="0" i="0">
                <a:solidFill>
                  <a:srgbClr val="ECE7DC"/>
                </a:solidFill>
                <a:latin typeface="Consolas"/>
              </a:rPr>
              <a:t>    │   │       │               ├── altText_add.svg</a:t>
            </a:r>
          </a:p>
          <a:p>
            <a:pPr algn="l">
              <a:lnSpc>
                <a:spcPct val="100000"/>
              </a:lnSpc>
            </a:pPr>
            <a:r>
              <a:rPr sz="800" b="0" i="0">
                <a:solidFill>
                  <a:srgbClr val="ECE7DC"/>
                </a:solidFill>
                <a:latin typeface="Consolas"/>
              </a:rPr>
              <a:t>    │   │       │               ├── altText_disclaimer.s</a:t>
            </a:r>
          </a:p>
          <a:p>
            <a:pPr algn="l">
              <a:lnSpc>
                <a:spcPct val="100000"/>
              </a:lnSpc>
            </a:pPr>
            <a:r>
              <a:rPr sz="800" b="0" i="0">
                <a:solidFill>
                  <a:srgbClr val="ECE7DC"/>
                </a:solidFill>
                <a:latin typeface="Consolas"/>
              </a:rPr>
              <a:t>    │   │       │               │     » vg</a:t>
            </a:r>
          </a:p>
          <a:p>
            <a:pPr algn="l">
              <a:lnSpc>
                <a:spcPct val="100000"/>
              </a:lnSpc>
            </a:pPr>
            <a:r>
              <a:rPr sz="800" b="0" i="0">
                <a:solidFill>
                  <a:srgbClr val="ECE7DC"/>
                </a:solidFill>
                <a:latin typeface="Consolas"/>
              </a:rPr>
              <a:t>    │   │       │               ├── altText_done.svg</a:t>
            </a:r>
          </a:p>
          <a:p>
            <a:pPr algn="l">
              <a:lnSpc>
                <a:spcPct val="100000"/>
              </a:lnSpc>
            </a:pPr>
            <a:r>
              <a:rPr sz="800" b="0" i="0">
                <a:solidFill>
                  <a:srgbClr val="ECE7DC"/>
                </a:solidFill>
                <a:latin typeface="Consolas"/>
              </a:rPr>
              <a:t>    │   │       │               ├── altText_spinner.svg</a:t>
            </a:r>
          </a:p>
          <a:p>
            <a:pPr algn="l">
              <a:lnSpc>
                <a:spcPct val="100000"/>
              </a:lnSpc>
            </a:pPr>
            <a:r>
              <a:rPr sz="800" b="0" i="0">
                <a:solidFill>
                  <a:srgbClr val="ECE7DC"/>
                </a:solidFill>
                <a:latin typeface="Consolas"/>
              </a:rPr>
              <a:t>    │   │       │               ├── altText_warning.svg</a:t>
            </a:r>
          </a:p>
          <a:p>
            <a:pPr algn="l">
              <a:lnSpc>
                <a:spcPct val="100000"/>
              </a:lnSpc>
            </a:pPr>
            <a:r>
              <a:rPr sz="800" b="0" i="0">
                <a:solidFill>
                  <a:srgbClr val="ECE7DC"/>
                </a:solidFill>
                <a:latin typeface="Consolas"/>
              </a:rPr>
              <a:t>    │   │       │               ├── annotation-check.svg</a:t>
            </a:r>
          </a:p>
          <a:p>
            <a:pPr algn="l">
              <a:lnSpc>
                <a:spcPct val="100000"/>
              </a:lnSpc>
            </a:pPr>
            <a:r>
              <a:rPr sz="800" b="0" i="0">
                <a:solidFill>
                  <a:srgbClr val="ECE7DC"/>
                </a:solidFill>
                <a:latin typeface="Consolas"/>
              </a:rPr>
              <a:t>    │   │       │               ├── annotation-comment.s</a:t>
            </a:r>
          </a:p>
          <a:p>
            <a:pPr algn="l">
              <a:lnSpc>
                <a:spcPct val="100000"/>
              </a:lnSpc>
            </a:pPr>
            <a:r>
              <a:rPr sz="800" b="0" i="0">
                <a:solidFill>
                  <a:srgbClr val="ECE7DC"/>
                </a:solidFill>
                <a:latin typeface="Consolas"/>
              </a:rPr>
              <a:t>    │   │       │               │     » vg</a:t>
            </a:r>
          </a:p>
          <a:p>
            <a:pPr algn="l">
              <a:lnSpc>
                <a:spcPct val="100000"/>
              </a:lnSpc>
            </a:pPr>
            <a:r>
              <a:rPr sz="800" b="0" i="0">
                <a:solidFill>
                  <a:srgbClr val="ECE7DC"/>
                </a:solidFill>
                <a:latin typeface="Consolas"/>
              </a:rPr>
              <a:t>    │   │       │               ├── annotation-help.svg</a:t>
            </a:r>
          </a:p>
          <a:p>
            <a:pPr algn="l">
              <a:lnSpc>
                <a:spcPct val="100000"/>
              </a:lnSpc>
            </a:pPr>
            <a:r>
              <a:rPr sz="800" b="0" i="0">
                <a:solidFill>
                  <a:srgbClr val="ECE7DC"/>
                </a:solidFill>
                <a:latin typeface="Consolas"/>
              </a:rPr>
              <a:t>    │   │       │               ├── annotation-insert.sv</a:t>
            </a:r>
          </a:p>
          <a:p>
            <a:pPr algn="l">
              <a:lnSpc>
                <a:spcPct val="100000"/>
              </a:lnSpc>
            </a:pPr>
            <a:r>
              <a:rPr sz="800" b="0" i="0">
                <a:solidFill>
                  <a:srgbClr val="ECE7DC"/>
                </a:solidFill>
                <a:latin typeface="Consolas"/>
              </a:rPr>
              <a:t>    │   │       │               │     » g</a:t>
            </a:r>
          </a:p>
          <a:p>
            <a:pPr algn="l">
              <a:lnSpc>
                <a:spcPct val="100000"/>
              </a:lnSpc>
            </a:pPr>
            <a:r>
              <a:rPr sz="800" b="0" i="0">
                <a:solidFill>
                  <a:srgbClr val="ECE7DC"/>
                </a:solidFill>
                <a:latin typeface="Consolas"/>
              </a:rPr>
              <a:t>    │   │       │               ├── annotation-key.svg</a:t>
            </a:r>
          </a:p>
          <a:p>
            <a:pPr algn="l">
              <a:lnSpc>
                <a:spcPct val="100000"/>
              </a:lnSpc>
            </a:pPr>
            <a:r>
              <a:rPr sz="800" b="0" i="0">
                <a:solidFill>
                  <a:srgbClr val="ECE7DC"/>
                </a:solidFill>
                <a:latin typeface="Consolas"/>
              </a:rPr>
              <a:t>    │   │       │               ├── annotation-newparagr</a:t>
            </a:r>
          </a:p>
          <a:p>
            <a:pPr algn="l">
              <a:lnSpc>
                <a:spcPct val="100000"/>
              </a:lnSpc>
            </a:pPr>
            <a:r>
              <a:rPr sz="800" b="0" i="0">
                <a:solidFill>
                  <a:srgbClr val="ECE7DC"/>
                </a:solidFill>
                <a:latin typeface="Consolas"/>
              </a:rPr>
              <a:t>    │   │       │               │     » aph.svg</a:t>
            </a:r>
          </a:p>
          <a:p>
            <a:pPr algn="l">
              <a:lnSpc>
                <a:spcPct val="100000"/>
              </a:lnSpc>
            </a:pPr>
            <a:r>
              <a:rPr sz="800" b="0" i="0">
                <a:solidFill>
                  <a:srgbClr val="ECE7DC"/>
                </a:solidFill>
                <a:latin typeface="Consolas"/>
              </a:rPr>
              <a:t>    │   │       │               ├── annotation-noicon.sv</a:t>
            </a:r>
          </a:p>
          <a:p>
            <a:pPr algn="l">
              <a:lnSpc>
                <a:spcPct val="100000"/>
              </a:lnSpc>
            </a:pPr>
            <a:r>
              <a:rPr sz="800" b="0" i="0">
                <a:solidFill>
                  <a:srgbClr val="ECE7DC"/>
                </a:solidFill>
                <a:latin typeface="Consolas"/>
              </a:rPr>
              <a:t>    │   │       │               │     » g</a:t>
            </a:r>
          </a:p>
          <a:p>
            <a:pPr algn="l">
              <a:lnSpc>
                <a:spcPct val="100000"/>
              </a:lnSpc>
            </a:pPr>
            <a:r>
              <a:rPr sz="800" b="0" i="0">
                <a:solidFill>
                  <a:srgbClr val="ECE7DC"/>
                </a:solidFill>
                <a:latin typeface="Consolas"/>
              </a:rPr>
              <a:t>    │   │       │               ├── annotation-note.svg</a:t>
            </a:r>
          </a:p>
          <a:p>
            <a:pPr algn="l">
              <a:lnSpc>
                <a:spcPct val="100000"/>
              </a:lnSpc>
            </a:pPr>
            <a:r>
              <a:rPr sz="800" b="0" i="0">
                <a:solidFill>
                  <a:srgbClr val="ECE7DC"/>
                </a:solidFill>
                <a:latin typeface="Consolas"/>
              </a:rPr>
              <a:t>    │   │       │               ├── annotation-paperclip</a:t>
            </a:r>
          </a:p>
          <a:p>
            <a:pPr algn="l">
              <a:lnSpc>
                <a:spcPct val="100000"/>
              </a:lnSpc>
            </a:pPr>
            <a:r>
              <a:rPr sz="800" b="0" i="0">
                <a:solidFill>
                  <a:srgbClr val="ECE7DC"/>
                </a:solidFill>
                <a:latin typeface="Consolas"/>
              </a:rPr>
              <a:t>    │   │       │               │     » .svg</a:t>
            </a:r>
          </a:p>
          <a:p>
            <a:pPr algn="l">
              <a:lnSpc>
                <a:spcPct val="100000"/>
              </a:lnSpc>
            </a:pPr>
            <a:r>
              <a:rPr sz="800" b="0" i="0">
                <a:solidFill>
                  <a:srgbClr val="ECE7DC"/>
                </a:solidFill>
                <a:latin typeface="Consolas"/>
              </a:rPr>
              <a:t>    │   │       │               ├── annotation-paragraph</a:t>
            </a:r>
          </a:p>
          <a:p>
            <a:pPr algn="l">
              <a:lnSpc>
                <a:spcPct val="100000"/>
              </a:lnSpc>
            </a:pPr>
            <a:r>
              <a:rPr sz="800" b="0" i="0">
                <a:solidFill>
                  <a:srgbClr val="ECE7DC"/>
                </a:solidFill>
                <a:latin typeface="Consolas"/>
              </a:rPr>
              <a:t>    │   │       │               │     » .svg</a:t>
            </a:r>
          </a:p>
          <a:p>
            <a:pPr algn="l">
              <a:lnSpc>
                <a:spcPct val="100000"/>
              </a:lnSpc>
            </a:pPr>
            <a:r>
              <a:rPr sz="800" b="0" i="0">
                <a:solidFill>
                  <a:srgbClr val="ECE7DC"/>
                </a:solidFill>
                <a:latin typeface="Consolas"/>
              </a:rPr>
              <a:t>    │   │       │               ├── annotation-pushpin.s</a:t>
            </a:r>
          </a:p>
          <a:p>
            <a:pPr algn="l">
              <a:lnSpc>
                <a:spcPct val="100000"/>
              </a:lnSpc>
            </a:pPr>
            <a:r>
              <a:rPr sz="800" b="0" i="0">
                <a:solidFill>
                  <a:srgbClr val="ECE7DC"/>
                </a:solidFill>
                <a:latin typeface="Consolas"/>
              </a:rPr>
              <a:t>    │   │       │               │     » vg</a:t>
            </a:r>
          </a:p>
          <a:p>
            <a:pPr algn="l">
              <a:lnSpc>
                <a:spcPct val="100000"/>
              </a:lnSpc>
            </a:pPr>
            <a:r>
              <a:rPr sz="800" b="0" i="0">
                <a:solidFill>
                  <a:srgbClr val="ECE7DC"/>
                </a:solidFill>
                <a:latin typeface="Consolas"/>
              </a:rPr>
              <a:t>    │   │       │               ├── checkmark.svg</a:t>
            </a:r>
          </a:p>
          <a:p>
            <a:pPr algn="l">
              <a:lnSpc>
                <a:spcPct val="100000"/>
              </a:lnSpc>
            </a:pPr>
            <a:r>
              <a:rPr sz="800" b="0" i="0">
                <a:solidFill>
                  <a:srgbClr val="ECE7DC"/>
                </a:solidFill>
                <a:latin typeface="Consolas"/>
              </a:rPr>
              <a:t>    │   │       │               ├── comment-actionsButto</a:t>
            </a:r>
          </a:p>
          <a:p>
            <a:pPr algn="l">
              <a:lnSpc>
                <a:spcPct val="100000"/>
              </a:lnSpc>
            </a:pPr>
            <a:r>
              <a:rPr sz="800" b="0" i="0">
                <a:solidFill>
                  <a:srgbClr val="ECE7DC"/>
                </a:solidFill>
                <a:latin typeface="Consolas"/>
              </a:rPr>
              <a:t>    │   │       │               │     » n.svg</a:t>
            </a:r>
          </a:p>
          <a:p>
            <a:pPr algn="l">
              <a:lnSpc>
                <a:spcPct val="100000"/>
              </a:lnSpc>
            </a:pPr>
            <a:r>
              <a:rPr sz="800" b="0" i="0">
                <a:solidFill>
                  <a:srgbClr val="ECE7DC"/>
                </a:solidFill>
                <a:latin typeface="Consolas"/>
              </a:rPr>
              <a:t>    │   │       │               ├── comment-closeButton.</a:t>
            </a:r>
          </a:p>
          <a:p>
            <a:pPr algn="l">
              <a:lnSpc>
                <a:spcPct val="100000"/>
              </a:lnSpc>
            </a:pPr>
            <a:r>
              <a:rPr sz="800" b="0" i="0">
                <a:solidFill>
                  <a:srgbClr val="ECE7DC"/>
                </a:solidFill>
                <a:latin typeface="Consolas"/>
              </a:rPr>
              <a:t>    │   │       │               │     » svg</a:t>
            </a:r>
          </a:p>
          <a:p>
            <a:pPr algn="l">
              <a:lnSpc>
                <a:spcPct val="100000"/>
              </a:lnSpc>
            </a:pPr>
            <a:r>
              <a:rPr sz="800" b="0" i="0">
                <a:solidFill>
                  <a:srgbClr val="ECE7DC"/>
                </a:solidFill>
                <a:latin typeface="Consolas"/>
              </a:rPr>
              <a:t>    │   │       │               ├── comment-editButton.s</a:t>
            </a:r>
          </a:p>
          <a:p>
            <a:pPr algn="l">
              <a:lnSpc>
                <a:spcPct val="100000"/>
              </a:lnSpc>
            </a:pPr>
            <a:r>
              <a:rPr sz="800" b="0" i="0">
                <a:solidFill>
                  <a:srgbClr val="ECE7DC"/>
                </a:solidFill>
                <a:latin typeface="Consolas"/>
              </a:rPr>
              <a:t>    │   │       │               │     » vg</a:t>
            </a:r>
          </a:p>
          <a:p>
            <a:pPr algn="l">
              <a:lnSpc>
                <a:spcPct val="100000"/>
              </a:lnSpc>
            </a:pPr>
            <a:r>
              <a:rPr sz="800" b="0" i="0">
                <a:solidFill>
                  <a:srgbClr val="ECE7DC"/>
                </a:solidFill>
                <a:latin typeface="Consolas"/>
              </a:rPr>
              <a:t>    │   │       │               ├── comment-popup-editBu</a:t>
            </a:r>
          </a:p>
          <a:p>
            <a:pPr algn="l">
              <a:lnSpc>
                <a:spcPct val="100000"/>
              </a:lnSpc>
            </a:pPr>
            <a:r>
              <a:rPr sz="800" b="0" i="0">
                <a:solidFill>
                  <a:srgbClr val="ECE7DC"/>
                </a:solidFill>
                <a:latin typeface="Consolas"/>
              </a:rPr>
              <a:t>    │   │       │               │     » tton.svg</a:t>
            </a:r>
          </a:p>
          <a:p>
            <a:pPr algn="l">
              <a:lnSpc>
                <a:spcPct val="100000"/>
              </a:lnSpc>
            </a:pPr>
            <a:r>
              <a:rPr sz="800" b="0" i="0">
                <a:solidFill>
                  <a:srgbClr val="ECE7DC"/>
                </a:solidFill>
                <a:latin typeface="Consolas"/>
              </a:rPr>
              <a:t>    │   │       │               ├── cursor-editorFreeHig</a:t>
            </a:r>
          </a:p>
          <a:p>
            <a:pPr algn="l">
              <a:lnSpc>
                <a:spcPct val="100000"/>
              </a:lnSpc>
            </a:pPr>
            <a:r>
              <a:rPr sz="800" b="0" i="0">
                <a:solidFill>
                  <a:srgbClr val="ECE7DC"/>
                </a:solidFill>
                <a:latin typeface="Consolas"/>
              </a:rPr>
              <a:t>    │   │       │               │     » hlight.svg</a:t>
            </a:r>
          </a:p>
          <a:p>
            <a:pPr algn="l">
              <a:lnSpc>
                <a:spcPct val="100000"/>
              </a:lnSpc>
            </a:pPr>
            <a:r>
              <a:rPr sz="800" b="0" i="0">
                <a:solidFill>
                  <a:srgbClr val="ECE7DC"/>
                </a:solidFill>
                <a:latin typeface="Consolas"/>
              </a:rPr>
              <a:t>    │   │       │               ├── cursor-editorFreeTex</a:t>
            </a:r>
          </a:p>
        </p:txBody>
      </p:sp>
      <p:sp>
        <p:nvSpPr>
          <p:cNvPr id="6" name="TextBox 5"/>
          <p:cNvSpPr txBox="1"/>
          <p:nvPr/>
        </p:nvSpPr>
        <p:spPr>
          <a:xfrm>
            <a:off x="4338218" y="1170432"/>
            <a:ext cx="3515258" cy="5084064"/>
          </a:xfrm>
          <a:prstGeom prst="rect">
            <a:avLst/>
          </a:prstGeom>
          <a:noFill/>
        </p:spPr>
        <p:txBody>
          <a:bodyPr wrap="none" lIns="45720" rIns="45720" tIns="27432" bIns="27432" anchor="t">
            <a:noAutofit/>
          </a:bodyPr>
          <a:lstStyle/>
          <a:p>
            <a:pPr algn="l">
              <a:lnSpc>
                <a:spcPct val="100000"/>
              </a:lnSpc>
            </a:pPr>
            <a:r>
              <a:rPr sz="800" b="0" i="0">
                <a:solidFill>
                  <a:srgbClr val="ECE7DC"/>
                </a:solidFill>
                <a:latin typeface="Consolas"/>
              </a:rPr>
              <a:t>    │   │       │               │     » t.svg</a:t>
            </a:r>
          </a:p>
          <a:p>
            <a:pPr algn="l">
              <a:lnSpc>
                <a:spcPct val="100000"/>
              </a:lnSpc>
            </a:pPr>
            <a:r>
              <a:rPr sz="800" b="0" i="0">
                <a:solidFill>
                  <a:srgbClr val="ECE7DC"/>
                </a:solidFill>
                <a:latin typeface="Consolas"/>
              </a:rPr>
              <a:t>    │   │       │               ├── cursor-editorInk.svg</a:t>
            </a:r>
          </a:p>
          <a:p>
            <a:pPr algn="l">
              <a:lnSpc>
                <a:spcPct val="100000"/>
              </a:lnSpc>
            </a:pPr>
            <a:r>
              <a:rPr sz="800" b="0" i="0">
                <a:solidFill>
                  <a:srgbClr val="ECE7DC"/>
                </a:solidFill>
                <a:latin typeface="Consolas"/>
              </a:rPr>
              <a:t>    │   │       │               ├── cursor-editorTextHig</a:t>
            </a:r>
          </a:p>
          <a:p>
            <a:pPr algn="l">
              <a:lnSpc>
                <a:spcPct val="100000"/>
              </a:lnSpc>
            </a:pPr>
            <a:r>
              <a:rPr sz="800" b="0" i="0">
                <a:solidFill>
                  <a:srgbClr val="ECE7DC"/>
                </a:solidFill>
                <a:latin typeface="Consolas"/>
              </a:rPr>
              <a:t>    │   │       │               │     » hlight.svg</a:t>
            </a:r>
          </a:p>
          <a:p>
            <a:pPr algn="l">
              <a:lnSpc>
                <a:spcPct val="100000"/>
              </a:lnSpc>
            </a:pPr>
            <a:r>
              <a:rPr sz="800" b="0" i="0">
                <a:solidFill>
                  <a:srgbClr val="ECE7DC"/>
                </a:solidFill>
                <a:latin typeface="Consolas"/>
              </a:rPr>
              <a:t>    │   │       │               ├── editor-toolbar-delet</a:t>
            </a:r>
          </a:p>
          <a:p>
            <a:pPr algn="l">
              <a:lnSpc>
                <a:spcPct val="100000"/>
              </a:lnSpc>
            </a:pPr>
            <a:r>
              <a:rPr sz="800" b="0" i="0">
                <a:solidFill>
                  <a:srgbClr val="ECE7DC"/>
                </a:solidFill>
                <a:latin typeface="Consolas"/>
              </a:rPr>
              <a:t>    │   │       │               │     » e.svg</a:t>
            </a:r>
          </a:p>
          <a:p>
            <a:pPr algn="l">
              <a:lnSpc>
                <a:spcPct val="100000"/>
              </a:lnSpc>
            </a:pPr>
            <a:r>
              <a:rPr sz="800" b="0" i="0">
                <a:solidFill>
                  <a:srgbClr val="ECE7DC"/>
                </a:solidFill>
                <a:latin typeface="Consolas"/>
              </a:rPr>
              <a:t>    │   │       │               ├── editor-toolbar-edit.</a:t>
            </a:r>
          </a:p>
          <a:p>
            <a:pPr algn="l">
              <a:lnSpc>
                <a:spcPct val="100000"/>
              </a:lnSpc>
            </a:pPr>
            <a:r>
              <a:rPr sz="800" b="0" i="0">
                <a:solidFill>
                  <a:srgbClr val="ECE7DC"/>
                </a:solidFill>
                <a:latin typeface="Consolas"/>
              </a:rPr>
              <a:t>    │   │       │               │     » svg</a:t>
            </a:r>
          </a:p>
          <a:p>
            <a:pPr algn="l">
              <a:lnSpc>
                <a:spcPct val="100000"/>
              </a:lnSpc>
            </a:pPr>
            <a:r>
              <a:rPr sz="800" b="0" i="0">
                <a:solidFill>
                  <a:srgbClr val="ECE7DC"/>
                </a:solidFill>
                <a:latin typeface="Consolas"/>
              </a:rPr>
              <a:t>    │   │       │               ├── findbarButton-next.s</a:t>
            </a:r>
          </a:p>
          <a:p>
            <a:pPr algn="l">
              <a:lnSpc>
                <a:spcPct val="100000"/>
              </a:lnSpc>
            </a:pPr>
            <a:r>
              <a:rPr sz="800" b="0" i="0">
                <a:solidFill>
                  <a:srgbClr val="ECE7DC"/>
                </a:solidFill>
                <a:latin typeface="Consolas"/>
              </a:rPr>
              <a:t>    │   │       │               │     » vg</a:t>
            </a:r>
          </a:p>
          <a:p>
            <a:pPr algn="l">
              <a:lnSpc>
                <a:spcPct val="100000"/>
              </a:lnSpc>
            </a:pPr>
            <a:r>
              <a:rPr sz="800" b="0" i="0">
                <a:solidFill>
                  <a:srgbClr val="ECE7DC"/>
                </a:solidFill>
                <a:latin typeface="Consolas"/>
              </a:rPr>
              <a:t>    │   │       │               ├── findbarButton-previo</a:t>
            </a:r>
          </a:p>
          <a:p>
            <a:pPr algn="l">
              <a:lnSpc>
                <a:spcPct val="100000"/>
              </a:lnSpc>
            </a:pPr>
            <a:r>
              <a:rPr sz="800" b="0" i="0">
                <a:solidFill>
                  <a:srgbClr val="ECE7DC"/>
                </a:solidFill>
                <a:latin typeface="Consolas"/>
              </a:rPr>
              <a:t>    │   │       │               │     » us.svg</a:t>
            </a:r>
          </a:p>
          <a:p>
            <a:pPr algn="l">
              <a:lnSpc>
                <a:spcPct val="100000"/>
              </a:lnSpc>
            </a:pPr>
            <a:r>
              <a:rPr sz="800" b="0" i="0">
                <a:solidFill>
                  <a:srgbClr val="ECE7DC"/>
                </a:solidFill>
                <a:latin typeface="Consolas"/>
              </a:rPr>
              <a:t>    │   │       │               ├── gv-toolbarButton-dow</a:t>
            </a:r>
          </a:p>
          <a:p>
            <a:pPr algn="l">
              <a:lnSpc>
                <a:spcPct val="100000"/>
              </a:lnSpc>
            </a:pPr>
            <a:r>
              <a:rPr sz="800" b="0" i="0">
                <a:solidFill>
                  <a:srgbClr val="ECE7DC"/>
                </a:solidFill>
                <a:latin typeface="Consolas"/>
              </a:rPr>
              <a:t>    │   │       │               │     » nload.svg</a:t>
            </a:r>
          </a:p>
          <a:p>
            <a:pPr algn="l">
              <a:lnSpc>
                <a:spcPct val="100000"/>
              </a:lnSpc>
            </a:pPr>
            <a:r>
              <a:rPr sz="800" b="0" i="0">
                <a:solidFill>
                  <a:srgbClr val="ECE7DC"/>
                </a:solidFill>
                <a:latin typeface="Consolas"/>
              </a:rPr>
              <a:t>    │   │       │               ├── loading-icon.gif</a:t>
            </a:r>
          </a:p>
          <a:p>
            <a:pPr algn="l">
              <a:lnSpc>
                <a:spcPct val="100000"/>
              </a:lnSpc>
            </a:pPr>
            <a:r>
              <a:rPr sz="800" b="0" i="0">
                <a:solidFill>
                  <a:srgbClr val="ECE7DC"/>
                </a:solidFill>
                <a:latin typeface="Consolas"/>
              </a:rPr>
              <a:t>    │   │       │               ├── loading.svg</a:t>
            </a:r>
          </a:p>
          <a:p>
            <a:pPr algn="l">
              <a:lnSpc>
                <a:spcPct val="100000"/>
              </a:lnSpc>
            </a:pPr>
            <a:r>
              <a:rPr sz="800" b="0" i="0">
                <a:solidFill>
                  <a:srgbClr val="ECE7DC"/>
                </a:solidFill>
                <a:latin typeface="Consolas"/>
              </a:rPr>
              <a:t>    │   │       │               ├── messageBar_closingBu</a:t>
            </a:r>
          </a:p>
          <a:p>
            <a:pPr algn="l">
              <a:lnSpc>
                <a:spcPct val="100000"/>
              </a:lnSpc>
            </a:pPr>
            <a:r>
              <a:rPr sz="800" b="0" i="0">
                <a:solidFill>
                  <a:srgbClr val="ECE7DC"/>
                </a:solidFill>
                <a:latin typeface="Consolas"/>
              </a:rPr>
              <a:t>    │   │       │               │     » tton.svg</a:t>
            </a:r>
          </a:p>
          <a:p>
            <a:pPr algn="l">
              <a:lnSpc>
                <a:spcPct val="100000"/>
              </a:lnSpc>
            </a:pPr>
            <a:r>
              <a:rPr sz="800" b="0" i="0">
                <a:solidFill>
                  <a:srgbClr val="ECE7DC"/>
                </a:solidFill>
                <a:latin typeface="Consolas"/>
              </a:rPr>
              <a:t>    │   │       │               ├── messageBar_info.svg</a:t>
            </a:r>
          </a:p>
          <a:p>
            <a:pPr algn="l">
              <a:lnSpc>
                <a:spcPct val="100000"/>
              </a:lnSpc>
            </a:pPr>
            <a:r>
              <a:rPr sz="800" b="0" i="0">
                <a:solidFill>
                  <a:srgbClr val="ECE7DC"/>
                </a:solidFill>
                <a:latin typeface="Consolas"/>
              </a:rPr>
              <a:t>    │   │       │               ├── messageBar_warning.s</a:t>
            </a:r>
          </a:p>
          <a:p>
            <a:pPr algn="l">
              <a:lnSpc>
                <a:spcPct val="100000"/>
              </a:lnSpc>
            </a:pPr>
            <a:r>
              <a:rPr sz="800" b="0" i="0">
                <a:solidFill>
                  <a:srgbClr val="ECE7DC"/>
                </a:solidFill>
                <a:latin typeface="Consolas"/>
              </a:rPr>
              <a:t>    │   │       │               │     » vg</a:t>
            </a:r>
          </a:p>
          <a:p>
            <a:pPr algn="l">
              <a:lnSpc>
                <a:spcPct val="100000"/>
              </a:lnSpc>
            </a:pPr>
            <a:r>
              <a:rPr sz="800" b="0" i="0">
                <a:solidFill>
                  <a:srgbClr val="ECE7DC"/>
                </a:solidFill>
                <a:latin typeface="Consolas"/>
              </a:rPr>
              <a:t>    │   │       │               ├── pages_closeButton.sv</a:t>
            </a:r>
          </a:p>
          <a:p>
            <a:pPr algn="l">
              <a:lnSpc>
                <a:spcPct val="100000"/>
              </a:lnSpc>
            </a:pPr>
            <a:r>
              <a:rPr sz="800" b="0" i="0">
                <a:solidFill>
                  <a:srgbClr val="ECE7DC"/>
                </a:solidFill>
                <a:latin typeface="Consolas"/>
              </a:rPr>
              <a:t>    │   │       │               │     » g</a:t>
            </a:r>
          </a:p>
          <a:p>
            <a:pPr algn="l">
              <a:lnSpc>
                <a:spcPct val="100000"/>
              </a:lnSpc>
            </a:pPr>
            <a:r>
              <a:rPr sz="800" b="0" i="0">
                <a:solidFill>
                  <a:srgbClr val="ECE7DC"/>
                </a:solidFill>
                <a:latin typeface="Consolas"/>
              </a:rPr>
              <a:t>    │   │       │               ├── pages_selected.svg</a:t>
            </a:r>
          </a:p>
          <a:p>
            <a:pPr algn="l">
              <a:lnSpc>
                <a:spcPct val="100000"/>
              </a:lnSpc>
            </a:pPr>
            <a:r>
              <a:rPr sz="800" b="0" i="0">
                <a:solidFill>
                  <a:srgbClr val="ECE7DC"/>
                </a:solidFill>
                <a:latin typeface="Consolas"/>
              </a:rPr>
              <a:t>    │   │       │               ├── pages_viewArrow.svg</a:t>
            </a:r>
          </a:p>
          <a:p>
            <a:pPr algn="l">
              <a:lnSpc>
                <a:spcPct val="100000"/>
              </a:lnSpc>
            </a:pPr>
            <a:r>
              <a:rPr sz="800" b="0" i="0">
                <a:solidFill>
                  <a:srgbClr val="ECE7DC"/>
                </a:solidFill>
                <a:latin typeface="Consolas"/>
              </a:rPr>
              <a:t>    │   │       │               ├── pages_viewButton.svg</a:t>
            </a:r>
          </a:p>
          <a:p>
            <a:pPr algn="l">
              <a:lnSpc>
                <a:spcPct val="100000"/>
              </a:lnSpc>
            </a:pPr>
            <a:r>
              <a:rPr sz="800" b="0" i="0">
                <a:solidFill>
                  <a:srgbClr val="ECE7DC"/>
                </a:solidFill>
                <a:latin typeface="Consolas"/>
              </a:rPr>
              <a:t>    │   │       │               ├── secondaryToolbarButt</a:t>
            </a:r>
          </a:p>
          <a:p>
            <a:pPr algn="l">
              <a:lnSpc>
                <a:spcPct val="100000"/>
              </a:lnSpc>
            </a:pPr>
            <a:r>
              <a:rPr sz="800" b="0" i="0">
                <a:solidFill>
                  <a:srgbClr val="ECE7DC"/>
                </a:solidFill>
                <a:latin typeface="Consolas"/>
              </a:rPr>
              <a:t>    │   │       │               │     » on-documentPrope</a:t>
            </a:r>
          </a:p>
          <a:p>
            <a:pPr algn="l">
              <a:lnSpc>
                <a:spcPct val="100000"/>
              </a:lnSpc>
            </a:pPr>
            <a:r>
              <a:rPr sz="800" b="0" i="0">
                <a:solidFill>
                  <a:srgbClr val="ECE7DC"/>
                </a:solidFill>
                <a:latin typeface="Consolas"/>
              </a:rPr>
              <a:t>    │   │       │               │     » rties.svg</a:t>
            </a:r>
          </a:p>
          <a:p>
            <a:pPr algn="l">
              <a:lnSpc>
                <a:spcPct val="100000"/>
              </a:lnSpc>
            </a:pPr>
            <a:r>
              <a:rPr sz="800" b="0" i="0">
                <a:solidFill>
                  <a:srgbClr val="ECE7DC"/>
                </a:solidFill>
                <a:latin typeface="Consolas"/>
              </a:rPr>
              <a:t>    │   │       │               ├── secondaryToolbarButt</a:t>
            </a:r>
          </a:p>
          <a:p>
            <a:pPr algn="l">
              <a:lnSpc>
                <a:spcPct val="100000"/>
              </a:lnSpc>
            </a:pPr>
            <a:r>
              <a:rPr sz="800" b="0" i="0">
                <a:solidFill>
                  <a:srgbClr val="ECE7DC"/>
                </a:solidFill>
                <a:latin typeface="Consolas"/>
              </a:rPr>
              <a:t>    │   │       │               │     » on-firstPage.svg</a:t>
            </a:r>
          </a:p>
          <a:p>
            <a:pPr algn="l">
              <a:lnSpc>
                <a:spcPct val="100000"/>
              </a:lnSpc>
            </a:pPr>
            <a:r>
              <a:rPr sz="800" b="0" i="0">
                <a:solidFill>
                  <a:srgbClr val="ECE7DC"/>
                </a:solidFill>
                <a:latin typeface="Consolas"/>
              </a:rPr>
              <a:t>    │   │       │               ├── secondaryToolbarButt</a:t>
            </a:r>
          </a:p>
          <a:p>
            <a:pPr algn="l">
              <a:lnSpc>
                <a:spcPct val="100000"/>
              </a:lnSpc>
            </a:pPr>
            <a:r>
              <a:rPr sz="800" b="0" i="0">
                <a:solidFill>
                  <a:srgbClr val="ECE7DC"/>
                </a:solidFill>
                <a:latin typeface="Consolas"/>
              </a:rPr>
              <a:t>    │   │       │               │     » on-handTool.svg</a:t>
            </a:r>
          </a:p>
          <a:p>
            <a:pPr algn="l">
              <a:lnSpc>
                <a:spcPct val="100000"/>
              </a:lnSpc>
            </a:pPr>
            <a:r>
              <a:rPr sz="800" b="0" i="0">
                <a:solidFill>
                  <a:srgbClr val="ECE7DC"/>
                </a:solidFill>
                <a:latin typeface="Consolas"/>
              </a:rPr>
              <a:t>    │   │       │               ├── secondaryToolbarButt</a:t>
            </a:r>
          </a:p>
          <a:p>
            <a:pPr algn="l">
              <a:lnSpc>
                <a:spcPct val="100000"/>
              </a:lnSpc>
            </a:pPr>
            <a:r>
              <a:rPr sz="800" b="0" i="0">
                <a:solidFill>
                  <a:srgbClr val="ECE7DC"/>
                </a:solidFill>
                <a:latin typeface="Consolas"/>
              </a:rPr>
              <a:t>    │   │       │               │     » on-lastPage.svg</a:t>
            </a:r>
          </a:p>
          <a:p>
            <a:pPr algn="l">
              <a:lnSpc>
                <a:spcPct val="100000"/>
              </a:lnSpc>
            </a:pPr>
            <a:r>
              <a:rPr sz="800" b="0" i="0">
                <a:solidFill>
                  <a:srgbClr val="ECE7DC"/>
                </a:solidFill>
                <a:latin typeface="Consolas"/>
              </a:rPr>
              <a:t>    │   │       │               ├── secondaryToolbarButt</a:t>
            </a:r>
          </a:p>
          <a:p>
            <a:pPr algn="l">
              <a:lnSpc>
                <a:spcPct val="100000"/>
              </a:lnSpc>
            </a:pPr>
            <a:r>
              <a:rPr sz="800" b="0" i="0">
                <a:solidFill>
                  <a:srgbClr val="ECE7DC"/>
                </a:solidFill>
                <a:latin typeface="Consolas"/>
              </a:rPr>
              <a:t>    │   │       │               │     » on-rotateCcw.svg</a:t>
            </a:r>
          </a:p>
          <a:p>
            <a:pPr algn="l">
              <a:lnSpc>
                <a:spcPct val="100000"/>
              </a:lnSpc>
            </a:pPr>
            <a:r>
              <a:rPr sz="800" b="0" i="0">
                <a:solidFill>
                  <a:srgbClr val="ECE7DC"/>
                </a:solidFill>
                <a:latin typeface="Consolas"/>
              </a:rPr>
              <a:t>    │   │       │               ├── secondaryToolbarButt</a:t>
            </a:r>
          </a:p>
          <a:p>
            <a:pPr algn="l">
              <a:lnSpc>
                <a:spcPct val="100000"/>
              </a:lnSpc>
            </a:pPr>
            <a:r>
              <a:rPr sz="800" b="0" i="0">
                <a:solidFill>
                  <a:srgbClr val="ECE7DC"/>
                </a:solidFill>
                <a:latin typeface="Consolas"/>
              </a:rPr>
              <a:t>    │   │       │               │     » on-rotateCw.svg</a:t>
            </a:r>
          </a:p>
          <a:p>
            <a:pPr algn="l">
              <a:lnSpc>
                <a:spcPct val="100000"/>
              </a:lnSpc>
            </a:pPr>
            <a:r>
              <a:rPr sz="800" b="0" i="0">
                <a:solidFill>
                  <a:srgbClr val="ECE7DC"/>
                </a:solidFill>
                <a:latin typeface="Consolas"/>
              </a:rPr>
              <a:t>    │   │       │               ├── secondaryToolbarButt</a:t>
            </a:r>
          </a:p>
          <a:p>
            <a:pPr algn="l">
              <a:lnSpc>
                <a:spcPct val="100000"/>
              </a:lnSpc>
            </a:pPr>
            <a:r>
              <a:rPr sz="800" b="0" i="0">
                <a:solidFill>
                  <a:srgbClr val="ECE7DC"/>
                </a:solidFill>
                <a:latin typeface="Consolas"/>
              </a:rPr>
              <a:t>    │   │       │               │     » on-scrollHorizon</a:t>
            </a:r>
          </a:p>
        </p:txBody>
      </p:sp>
      <p:sp>
        <p:nvSpPr>
          <p:cNvPr id="7" name="TextBox 6"/>
          <p:cNvSpPr txBox="1"/>
          <p:nvPr/>
        </p:nvSpPr>
        <p:spPr>
          <a:xfrm>
            <a:off x="8109508" y="1170432"/>
            <a:ext cx="3515258" cy="5084064"/>
          </a:xfrm>
          <a:prstGeom prst="rect">
            <a:avLst/>
          </a:prstGeom>
          <a:noFill/>
        </p:spPr>
        <p:txBody>
          <a:bodyPr wrap="none" lIns="45720" rIns="45720" tIns="27432" bIns="27432" anchor="t">
            <a:noAutofit/>
          </a:bodyPr>
          <a:lstStyle/>
          <a:p>
            <a:pPr algn="l">
              <a:lnSpc>
                <a:spcPct val="100000"/>
              </a:lnSpc>
            </a:pPr>
            <a:r>
              <a:rPr sz="800" b="0" i="0">
                <a:solidFill>
                  <a:srgbClr val="ECE7DC"/>
                </a:solidFill>
                <a:latin typeface="Consolas"/>
              </a:rPr>
              <a:t>    │   │       │               │     » tal.svg</a:t>
            </a:r>
          </a:p>
          <a:p>
            <a:pPr algn="l">
              <a:lnSpc>
                <a:spcPct val="100000"/>
              </a:lnSpc>
            </a:pPr>
            <a:r>
              <a:rPr sz="800" b="0" i="0">
                <a:solidFill>
                  <a:srgbClr val="ECE7DC"/>
                </a:solidFill>
                <a:latin typeface="Consolas"/>
              </a:rPr>
              <a:t>    │   │       │               ├── secondaryToolbarButt</a:t>
            </a:r>
          </a:p>
          <a:p>
            <a:pPr algn="l">
              <a:lnSpc>
                <a:spcPct val="100000"/>
              </a:lnSpc>
            </a:pPr>
            <a:r>
              <a:rPr sz="800" b="0" i="0">
                <a:solidFill>
                  <a:srgbClr val="ECE7DC"/>
                </a:solidFill>
                <a:latin typeface="Consolas"/>
              </a:rPr>
              <a:t>    │   │       │               │     » on-scrollPage.sv</a:t>
            </a:r>
          </a:p>
          <a:p>
            <a:pPr algn="l">
              <a:lnSpc>
                <a:spcPct val="100000"/>
              </a:lnSpc>
            </a:pPr>
            <a:r>
              <a:rPr sz="800" b="0" i="0">
                <a:solidFill>
                  <a:srgbClr val="ECE7DC"/>
                </a:solidFill>
                <a:latin typeface="Consolas"/>
              </a:rPr>
              <a:t>    │   │       │               │     » g</a:t>
            </a:r>
          </a:p>
          <a:p>
            <a:pPr algn="l">
              <a:lnSpc>
                <a:spcPct val="100000"/>
              </a:lnSpc>
            </a:pPr>
            <a:r>
              <a:rPr sz="800" b="0" i="0">
                <a:solidFill>
                  <a:srgbClr val="ECE7DC"/>
                </a:solidFill>
                <a:latin typeface="Consolas"/>
              </a:rPr>
              <a:t>    │   │       │               ├── secondaryToolbarButt</a:t>
            </a:r>
          </a:p>
          <a:p>
            <a:pPr algn="l">
              <a:lnSpc>
                <a:spcPct val="100000"/>
              </a:lnSpc>
            </a:pPr>
            <a:r>
              <a:rPr sz="800" b="0" i="0">
                <a:solidFill>
                  <a:srgbClr val="ECE7DC"/>
                </a:solidFill>
                <a:latin typeface="Consolas"/>
              </a:rPr>
              <a:t>    │   │       │               │     » on-scrollVertica</a:t>
            </a:r>
          </a:p>
          <a:p>
            <a:pPr algn="l">
              <a:lnSpc>
                <a:spcPct val="100000"/>
              </a:lnSpc>
            </a:pPr>
            <a:r>
              <a:rPr sz="800" b="0" i="0">
                <a:solidFill>
                  <a:srgbClr val="ECE7DC"/>
                </a:solidFill>
                <a:latin typeface="Consolas"/>
              </a:rPr>
              <a:t>    │   │       │               │     » l.svg</a:t>
            </a:r>
          </a:p>
          <a:p>
            <a:pPr algn="l">
              <a:lnSpc>
                <a:spcPct val="100000"/>
              </a:lnSpc>
            </a:pPr>
            <a:r>
              <a:rPr sz="800" b="0" i="0">
                <a:solidFill>
                  <a:srgbClr val="ECE7DC"/>
                </a:solidFill>
                <a:latin typeface="Consolas"/>
              </a:rPr>
              <a:t>    │   │       │               ├── secondaryToolbarButt</a:t>
            </a:r>
          </a:p>
          <a:p>
            <a:pPr algn="l">
              <a:lnSpc>
                <a:spcPct val="100000"/>
              </a:lnSpc>
            </a:pPr>
            <a:r>
              <a:rPr sz="800" b="0" i="0">
                <a:solidFill>
                  <a:srgbClr val="ECE7DC"/>
                </a:solidFill>
                <a:latin typeface="Consolas"/>
              </a:rPr>
              <a:t>    │   │       │               │     » on-scrollWrapped</a:t>
            </a:r>
          </a:p>
          <a:p>
            <a:pPr algn="l">
              <a:lnSpc>
                <a:spcPct val="100000"/>
              </a:lnSpc>
            </a:pPr>
            <a:r>
              <a:rPr sz="800" b="0" i="0">
                <a:solidFill>
                  <a:srgbClr val="ECE7DC"/>
                </a:solidFill>
                <a:latin typeface="Consolas"/>
              </a:rPr>
              <a:t>    │   │       │               │     » .svg</a:t>
            </a:r>
          </a:p>
          <a:p>
            <a:pPr algn="l">
              <a:lnSpc>
                <a:spcPct val="100000"/>
              </a:lnSpc>
            </a:pPr>
            <a:r>
              <a:rPr sz="800" b="0" i="0">
                <a:solidFill>
                  <a:srgbClr val="ECE7DC"/>
                </a:solidFill>
                <a:latin typeface="Consolas"/>
              </a:rPr>
              <a:t>    │   │       │               ├── secondaryToolbarButt</a:t>
            </a:r>
          </a:p>
          <a:p>
            <a:pPr algn="l">
              <a:lnSpc>
                <a:spcPct val="100000"/>
              </a:lnSpc>
            </a:pPr>
            <a:r>
              <a:rPr sz="800" b="0" i="0">
                <a:solidFill>
                  <a:srgbClr val="ECE7DC"/>
                </a:solidFill>
                <a:latin typeface="Consolas"/>
              </a:rPr>
              <a:t>    │   │       │               │     » on-selectTool.sv</a:t>
            </a:r>
          </a:p>
          <a:p>
            <a:pPr algn="l">
              <a:lnSpc>
                <a:spcPct val="100000"/>
              </a:lnSpc>
            </a:pPr>
            <a:r>
              <a:rPr sz="800" b="0" i="0">
                <a:solidFill>
                  <a:srgbClr val="ECE7DC"/>
                </a:solidFill>
                <a:latin typeface="Consolas"/>
              </a:rPr>
              <a:t>    │   │       │               │     » g</a:t>
            </a:r>
          </a:p>
          <a:p>
            <a:pPr algn="l">
              <a:lnSpc>
                <a:spcPct val="100000"/>
              </a:lnSpc>
            </a:pPr>
            <a:r>
              <a:rPr sz="800" b="0" i="0">
                <a:solidFill>
                  <a:srgbClr val="ECE7DC"/>
                </a:solidFill>
                <a:latin typeface="Consolas"/>
              </a:rPr>
              <a:t>    │   │       │               ├── secondaryToolbarButt</a:t>
            </a:r>
          </a:p>
          <a:p>
            <a:pPr algn="l">
              <a:lnSpc>
                <a:spcPct val="100000"/>
              </a:lnSpc>
            </a:pPr>
            <a:r>
              <a:rPr sz="800" b="0" i="0">
                <a:solidFill>
                  <a:srgbClr val="ECE7DC"/>
                </a:solidFill>
                <a:latin typeface="Consolas"/>
              </a:rPr>
              <a:t>    │   │       │               │     » on-spreadEven.sv</a:t>
            </a:r>
          </a:p>
          <a:p>
            <a:pPr algn="l">
              <a:lnSpc>
                <a:spcPct val="100000"/>
              </a:lnSpc>
            </a:pPr>
            <a:r>
              <a:rPr sz="800" b="0" i="0">
                <a:solidFill>
                  <a:srgbClr val="ECE7DC"/>
                </a:solidFill>
                <a:latin typeface="Consolas"/>
              </a:rPr>
              <a:t>    │   │       │               │     » g</a:t>
            </a:r>
          </a:p>
          <a:p>
            <a:pPr algn="l">
              <a:lnSpc>
                <a:spcPct val="100000"/>
              </a:lnSpc>
            </a:pPr>
            <a:r>
              <a:rPr sz="800" b="0" i="0">
                <a:solidFill>
                  <a:srgbClr val="ECE7DC"/>
                </a:solidFill>
                <a:latin typeface="Consolas"/>
              </a:rPr>
              <a:t>    │   │       │               ├── secondaryToolbarButt</a:t>
            </a:r>
          </a:p>
          <a:p>
            <a:pPr algn="l">
              <a:lnSpc>
                <a:spcPct val="100000"/>
              </a:lnSpc>
            </a:pPr>
            <a:r>
              <a:rPr sz="800" b="0" i="0">
                <a:solidFill>
                  <a:srgbClr val="ECE7DC"/>
                </a:solidFill>
                <a:latin typeface="Consolas"/>
              </a:rPr>
              <a:t>    │   │       │               │     » on-spreadNone.sv</a:t>
            </a:r>
          </a:p>
          <a:p>
            <a:pPr algn="l">
              <a:lnSpc>
                <a:spcPct val="100000"/>
              </a:lnSpc>
            </a:pPr>
            <a:r>
              <a:rPr sz="800" b="0" i="0">
                <a:solidFill>
                  <a:srgbClr val="ECE7DC"/>
                </a:solidFill>
                <a:latin typeface="Consolas"/>
              </a:rPr>
              <a:t>    │   │       │               │     » g</a:t>
            </a:r>
          </a:p>
          <a:p>
            <a:pPr algn="l">
              <a:lnSpc>
                <a:spcPct val="100000"/>
              </a:lnSpc>
            </a:pPr>
            <a:r>
              <a:rPr sz="800" b="0" i="0">
                <a:solidFill>
                  <a:srgbClr val="ECE7DC"/>
                </a:solidFill>
                <a:latin typeface="Consolas"/>
              </a:rPr>
              <a:t>    │   │       │               ├── secondaryToolbarButt</a:t>
            </a:r>
          </a:p>
          <a:p>
            <a:pPr algn="l">
              <a:lnSpc>
                <a:spcPct val="100000"/>
              </a:lnSpc>
            </a:pPr>
            <a:r>
              <a:rPr sz="800" b="0" i="0">
                <a:solidFill>
                  <a:srgbClr val="ECE7DC"/>
                </a:solidFill>
                <a:latin typeface="Consolas"/>
              </a:rPr>
              <a:t>    │   │       │               │     » on-spreadOdd.svg</a:t>
            </a:r>
          </a:p>
          <a:p>
            <a:pPr algn="l">
              <a:lnSpc>
                <a:spcPct val="100000"/>
              </a:lnSpc>
            </a:pPr>
            <a:r>
              <a:rPr sz="800" b="0" i="0">
                <a:solidFill>
                  <a:srgbClr val="ECE7DC"/>
                </a:solidFill>
                <a:latin typeface="Consolas"/>
              </a:rPr>
              <a:t>    │   │       │               ├── signature-properties</a:t>
            </a:r>
          </a:p>
          <a:p>
            <a:pPr algn="l">
              <a:lnSpc>
                <a:spcPct val="100000"/>
              </a:lnSpc>
            </a:pPr>
            <a:r>
              <a:rPr sz="800" b="0" i="0">
                <a:solidFill>
                  <a:srgbClr val="ECE7DC"/>
                </a:solidFill>
                <a:latin typeface="Consolas"/>
              </a:rPr>
              <a:t>    │   │       │               │     » -row-check.svg</a:t>
            </a:r>
          </a:p>
          <a:p>
            <a:pPr algn="l">
              <a:lnSpc>
                <a:spcPct val="100000"/>
              </a:lnSpc>
            </a:pPr>
            <a:r>
              <a:rPr sz="800" b="0" i="0">
                <a:solidFill>
                  <a:srgbClr val="ECE7DC"/>
                </a:solidFill>
                <a:latin typeface="Consolas"/>
              </a:rPr>
              <a:t>    │   │       │               ├── toolbarButton-bookma</a:t>
            </a:r>
          </a:p>
          <a:p>
            <a:pPr algn="l">
              <a:lnSpc>
                <a:spcPct val="100000"/>
              </a:lnSpc>
            </a:pPr>
            <a:r>
              <a:rPr sz="800" b="0" i="0">
                <a:solidFill>
                  <a:srgbClr val="ECE7DC"/>
                </a:solidFill>
                <a:latin typeface="Consolas"/>
              </a:rPr>
              <a:t>    │   │       │               │     » rk.svg</a:t>
            </a:r>
          </a:p>
          <a:p>
            <a:pPr algn="l">
              <a:lnSpc>
                <a:spcPct val="100000"/>
              </a:lnSpc>
            </a:pPr>
            <a:r>
              <a:rPr sz="800" b="0" i="0">
                <a:solidFill>
                  <a:srgbClr val="ECE7DC"/>
                </a:solidFill>
                <a:latin typeface="Consolas"/>
              </a:rPr>
              <a:t>    │   │       │               ├── toolbarButton-curren</a:t>
            </a:r>
          </a:p>
          <a:p>
            <a:pPr algn="l">
              <a:lnSpc>
                <a:spcPct val="100000"/>
              </a:lnSpc>
            </a:pPr>
            <a:r>
              <a:rPr sz="800" b="0" i="0">
                <a:solidFill>
                  <a:srgbClr val="ECE7DC"/>
                </a:solidFill>
                <a:latin typeface="Consolas"/>
              </a:rPr>
              <a:t>    │   │       │               │     » tOutlineItem.svg</a:t>
            </a:r>
          </a:p>
          <a:p>
            <a:pPr algn="l">
              <a:lnSpc>
                <a:spcPct val="100000"/>
              </a:lnSpc>
            </a:pPr>
            <a:r>
              <a:rPr sz="800" b="0" i="0">
                <a:solidFill>
                  <a:srgbClr val="ECE7DC"/>
                </a:solidFill>
                <a:latin typeface="Consolas"/>
              </a:rPr>
              <a:t>    │   │       │               ├── toolbarButton-downlo</a:t>
            </a:r>
          </a:p>
          <a:p>
            <a:pPr algn="l">
              <a:lnSpc>
                <a:spcPct val="100000"/>
              </a:lnSpc>
            </a:pPr>
            <a:r>
              <a:rPr sz="800" b="0" i="0">
                <a:solidFill>
                  <a:srgbClr val="ECE7DC"/>
                </a:solidFill>
                <a:latin typeface="Consolas"/>
              </a:rPr>
              <a:t>    │   │       │               │     » ad.svg</a:t>
            </a:r>
          </a:p>
          <a:p>
            <a:pPr algn="l">
              <a:lnSpc>
                <a:spcPct val="100000"/>
              </a:lnSpc>
            </a:pPr>
            <a:r>
              <a:rPr sz="800" b="0" i="0">
                <a:solidFill>
                  <a:srgbClr val="ECE7DC"/>
                </a:solidFill>
                <a:latin typeface="Consolas"/>
              </a:rPr>
              <a:t>    │   │       │               ├── toolbarButton-editor</a:t>
            </a:r>
          </a:p>
          <a:p>
            <a:pPr algn="l">
              <a:lnSpc>
                <a:spcPct val="100000"/>
              </a:lnSpc>
            </a:pPr>
            <a:r>
              <a:rPr sz="800" b="0" i="0">
                <a:solidFill>
                  <a:srgbClr val="ECE7DC"/>
                </a:solidFill>
                <a:latin typeface="Consolas"/>
              </a:rPr>
              <a:t>    │   │       │               │     » FreeText.svg</a:t>
            </a:r>
          </a:p>
          <a:p>
            <a:pPr algn="l">
              <a:lnSpc>
                <a:spcPct val="100000"/>
              </a:lnSpc>
            </a:pPr>
            <a:r>
              <a:rPr sz="800" b="0" i="0">
                <a:solidFill>
                  <a:srgbClr val="ECE7DC"/>
                </a:solidFill>
                <a:latin typeface="Consolas"/>
              </a:rPr>
              <a:t>    │   │       │               ├── toolbarButton-editor</a:t>
            </a:r>
          </a:p>
          <a:p>
            <a:pPr algn="l">
              <a:lnSpc>
                <a:spcPct val="100000"/>
              </a:lnSpc>
            </a:pPr>
            <a:r>
              <a:rPr sz="800" b="0" i="0">
                <a:solidFill>
                  <a:srgbClr val="ECE7DC"/>
                </a:solidFill>
                <a:latin typeface="Consolas"/>
              </a:rPr>
              <a:t>    │   │       │               │     » Highlight.svg</a:t>
            </a:r>
          </a:p>
          <a:p>
            <a:pPr algn="l">
              <a:lnSpc>
                <a:spcPct val="100000"/>
              </a:lnSpc>
            </a:pPr>
            <a:r>
              <a:rPr sz="800" b="0" i="0">
                <a:solidFill>
                  <a:srgbClr val="ECE7DC"/>
                </a:solidFill>
                <a:latin typeface="Consolas"/>
              </a:rPr>
              <a:t>    │   │       │               ├── toolbarButton-editor</a:t>
            </a:r>
          </a:p>
          <a:p>
            <a:pPr algn="l">
              <a:lnSpc>
                <a:spcPct val="100000"/>
              </a:lnSpc>
            </a:pPr>
            <a:r>
              <a:rPr sz="800" b="0" i="0">
                <a:solidFill>
                  <a:srgbClr val="ECE7DC"/>
                </a:solidFill>
                <a:latin typeface="Consolas"/>
              </a:rPr>
              <a:t>    │   │       │               │     » Ink.svg</a:t>
            </a:r>
          </a:p>
          <a:p>
            <a:pPr algn="l">
              <a:lnSpc>
                <a:spcPct val="100000"/>
              </a:lnSpc>
            </a:pPr>
            <a:r>
              <a:rPr sz="800" b="0" i="0">
                <a:solidFill>
                  <a:srgbClr val="ECE7DC"/>
                </a:solidFill>
                <a:latin typeface="Consolas"/>
              </a:rPr>
              <a:t>    │   │       │               ├── toolbarButton-editor</a:t>
            </a:r>
          </a:p>
          <a:p>
            <a:pPr algn="l">
              <a:lnSpc>
                <a:spcPct val="100000"/>
              </a:lnSpc>
            </a:pPr>
            <a:r>
              <a:rPr sz="800" b="0" i="0">
                <a:solidFill>
                  <a:srgbClr val="ECE7DC"/>
                </a:solidFill>
                <a:latin typeface="Consolas"/>
              </a:rPr>
              <a:t>    │   │       │               │     » Signature.svg</a:t>
            </a:r>
          </a:p>
          <a:p>
            <a:pPr algn="l">
              <a:lnSpc>
                <a:spcPct val="100000"/>
              </a:lnSpc>
            </a:pPr>
            <a:r>
              <a:rPr sz="800" b="0" i="0">
                <a:solidFill>
                  <a:srgbClr val="ECE7DC"/>
                </a:solidFill>
                <a:latin typeface="Consolas"/>
              </a:rPr>
              <a:t>    │   │       │               ├── toolbarButton-editor</a:t>
            </a:r>
          </a:p>
          <a:p>
            <a:pPr algn="l">
              <a:lnSpc>
                <a:spcPct val="100000"/>
              </a:lnSpc>
            </a:pPr>
            <a:r>
              <a:rPr sz="800" b="0" i="0">
                <a:solidFill>
                  <a:srgbClr val="ECE7DC"/>
                </a:solidFill>
                <a:latin typeface="Consolas"/>
              </a:rPr>
              <a:t>    │   │       │               │     » Stamp.svg</a:t>
            </a:r>
          </a:p>
          <a:p>
            <a:pPr algn="l">
              <a:lnSpc>
                <a:spcPct val="100000"/>
              </a:lnSpc>
            </a:pPr>
            <a:r>
              <a:rPr sz="800" b="0" i="0">
                <a:solidFill>
                  <a:srgbClr val="ECE7DC"/>
                </a:solidFill>
                <a:latin typeface="Consolas"/>
              </a:rPr>
              <a:t>    │   │       │               ├── toolbarButton-menuAr</a:t>
            </a:r>
          </a:p>
          <a:p>
            <a:pPr algn="l">
              <a:lnSpc>
                <a:spcPct val="100000"/>
              </a:lnSpc>
            </a:pPr>
            <a:r>
              <a:rPr sz="800" b="0" i="0">
                <a:solidFill>
                  <a:srgbClr val="ECE7DC"/>
                </a:solidFill>
                <a:latin typeface="Consolas"/>
              </a:rPr>
              <a:t>    │   │       │               │     » row.svg</a:t>
            </a:r>
          </a:p>
        </p:txBody>
      </p:sp>
      <p:cxnSp>
        <p:nvCxnSpPr>
          <p:cNvPr id="8" name="Connector 7"/>
          <p:cNvCxnSpPr/>
          <p:nvPr/>
        </p:nvCxnSpPr>
        <p:spPr>
          <a:xfrm>
            <a:off x="566928" y="6373368"/>
            <a:ext cx="11057839" cy="0"/>
          </a:xfrm>
          <a:prstGeom prst="line">
            <a:avLst/>
          </a:prstGeom>
          <a:ln w="7620">
            <a:solidFill>
              <a:srgbClr val="2A3A40"/>
            </a:solidFill>
          </a:ln>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566928" y="6419088"/>
            <a:ext cx="6858000" cy="274320"/>
          </a:xfrm>
          <a:prstGeom prst="rect">
            <a:avLst/>
          </a:prstGeom>
          <a:noFill/>
        </p:spPr>
        <p:txBody>
          <a:bodyPr wrap="square" lIns="45720" rIns="45720" tIns="27432" bIns="27432" anchor="t">
            <a:noAutofit/>
          </a:bodyPr>
          <a:lstStyle/>
          <a:p>
            <a:pPr algn="l">
              <a:lnSpc>
                <a:spcPct val="100000"/>
              </a:lnSpc>
            </a:pPr>
            <a:r>
              <a:rPr sz="850" b="0" i="0" spc="120">
                <a:solidFill>
                  <a:srgbClr val="A7B2B0"/>
                </a:solidFill>
                <a:latin typeface="Segoe UI Semibold"/>
              </a:rPr>
              <a:t>TLAMATINI  ·  APÉNDICE A · ÁRBOL DE ARCHIVOS</a:t>
            </a:r>
          </a:p>
        </p:txBody>
      </p:sp>
      <p:sp>
        <p:nvSpPr>
          <p:cNvPr id="10" name="TextBox 9"/>
          <p:cNvSpPr txBox="1"/>
          <p:nvPr/>
        </p:nvSpPr>
        <p:spPr>
          <a:xfrm>
            <a:off x="8698687" y="6419088"/>
            <a:ext cx="2926080" cy="274320"/>
          </a:xfrm>
          <a:prstGeom prst="rect">
            <a:avLst/>
          </a:prstGeom>
          <a:noFill/>
        </p:spPr>
        <p:txBody>
          <a:bodyPr wrap="square" lIns="45720" rIns="45720" tIns="27432" bIns="27432" anchor="t">
            <a:noAutofit/>
          </a:bodyPr>
          <a:lstStyle/>
          <a:p>
            <a:pPr algn="r">
              <a:lnSpc>
                <a:spcPct val="100000"/>
              </a:lnSpc>
            </a:pPr>
            <a:r>
              <a:rPr sz="850" b="0" i="0" spc="100">
                <a:solidFill>
                  <a:srgbClr val="A7B2B0"/>
                </a:solidFill>
                <a:latin typeface="Segoe UI Semibold"/>
              </a:rPr>
              <a:t>v1.91.1   ·   193</a:t>
            </a:r>
          </a:p>
        </p:txBody>
      </p:sp>
    </p:spTree>
  </p:cSld>
  <p:clrMapOvr>
    <a:masterClrMapping/>
  </p:clrMapOvr>
</p:sld>
</file>

<file path=ppt/slides/slide19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appendix.png"/>
          <p:cNvPicPr>
            <a:picLocks noChangeAspect="1"/>
          </p:cNvPicPr>
          <p:nvPr/>
        </p:nvPicPr>
        <p:blipFill>
          <a:blip r:embed="rId2"/>
          <a:stretch>
            <a:fillRect/>
          </a:stretch>
        </p:blipFill>
        <p:spPr>
          <a:xfrm>
            <a:off x="0" y="0"/>
            <a:ext cx="12191695" cy="6858000"/>
          </a:xfrm>
          <a:prstGeom prst="rect">
            <a:avLst/>
          </a:prstGeom>
        </p:spPr>
      </p:pic>
      <p:sp>
        <p:nvSpPr>
          <p:cNvPr id="3" name="TextBox 2"/>
          <p:cNvSpPr txBox="1"/>
          <p:nvPr/>
        </p:nvSpPr>
        <p:spPr>
          <a:xfrm>
            <a:off x="566928" y="384048"/>
            <a:ext cx="8686800" cy="329184"/>
          </a:xfrm>
          <a:prstGeom prst="rect">
            <a:avLst/>
          </a:prstGeom>
          <a:noFill/>
        </p:spPr>
        <p:txBody>
          <a:bodyPr wrap="square" lIns="45720" rIns="45720" tIns="27432" bIns="27432" anchor="t">
            <a:noAutofit/>
          </a:bodyPr>
          <a:lstStyle/>
          <a:p>
            <a:pPr algn="l">
              <a:lnSpc>
                <a:spcPct val="100000"/>
              </a:lnSpc>
            </a:pPr>
            <a:r>
              <a:rPr sz="1100" b="0" i="0" spc="200">
                <a:solidFill>
                  <a:srgbClr val="C98457"/>
                </a:solidFill>
                <a:latin typeface="Segoe UI Semibold"/>
              </a:rPr>
              <a:t>APÉNDICE A  ·  ÁRBOL DE ARCHIVOS DE LA APLICACIÓN  ·  20 / 20</a:t>
            </a:r>
          </a:p>
        </p:txBody>
      </p:sp>
      <p:sp>
        <p:nvSpPr>
          <p:cNvPr id="4" name="TextBox 3"/>
          <p:cNvSpPr txBox="1"/>
          <p:nvPr/>
        </p:nvSpPr>
        <p:spPr>
          <a:xfrm>
            <a:off x="566928" y="731520"/>
            <a:ext cx="11057839" cy="384048"/>
          </a:xfrm>
          <a:prstGeom prst="rect">
            <a:avLst/>
          </a:prstGeom>
          <a:noFill/>
        </p:spPr>
        <p:txBody>
          <a:bodyPr wrap="square" lIns="45720" rIns="45720" tIns="27432" bIns="27432" anchor="t">
            <a:noAutofit/>
          </a:bodyPr>
          <a:lstStyle/>
          <a:p>
            <a:pPr algn="l">
              <a:lnSpc>
                <a:spcPct val="100000"/>
              </a:lnSpc>
            </a:pPr>
            <a:r>
              <a:rPr sz="1300" b="0" i="0">
                <a:solidFill>
                  <a:srgbClr val="A7B2B0"/>
                </a:solidFill>
                <a:latin typeface="Segoe UI"/>
              </a:rPr>
              <a:t>1,898 archivos listados en el commit 21b0a5c; 221 archivos de la historia de la base de datos resumidos.</a:t>
            </a:r>
          </a:p>
        </p:txBody>
      </p:sp>
      <p:sp>
        <p:nvSpPr>
          <p:cNvPr id="5" name="TextBox 4"/>
          <p:cNvSpPr txBox="1"/>
          <p:nvPr/>
        </p:nvSpPr>
        <p:spPr>
          <a:xfrm>
            <a:off x="566928" y="1170432"/>
            <a:ext cx="3515258" cy="5084064"/>
          </a:xfrm>
          <a:prstGeom prst="rect">
            <a:avLst/>
          </a:prstGeom>
          <a:noFill/>
        </p:spPr>
        <p:txBody>
          <a:bodyPr wrap="none" lIns="45720" rIns="45720" tIns="27432" bIns="27432" anchor="t">
            <a:noAutofit/>
          </a:bodyPr>
          <a:lstStyle/>
          <a:p>
            <a:pPr algn="l">
              <a:lnSpc>
                <a:spcPct val="100000"/>
              </a:lnSpc>
            </a:pPr>
            <a:r>
              <a:rPr sz="800" b="0" i="0">
                <a:solidFill>
                  <a:srgbClr val="ECE7DC"/>
                </a:solidFill>
                <a:latin typeface="Consolas"/>
              </a:rPr>
              <a:t>    │   │       │               ├── toolbarButton-menuAr</a:t>
            </a:r>
          </a:p>
          <a:p>
            <a:pPr algn="l">
              <a:lnSpc>
                <a:spcPct val="100000"/>
              </a:lnSpc>
            </a:pPr>
            <a:r>
              <a:rPr sz="800" b="0" i="0">
                <a:solidFill>
                  <a:srgbClr val="ECE7DC"/>
                </a:solidFill>
                <a:latin typeface="Consolas"/>
              </a:rPr>
              <a:t>    │   │       │               │     » rowNova.svg</a:t>
            </a:r>
          </a:p>
          <a:p>
            <a:pPr algn="l">
              <a:lnSpc>
                <a:spcPct val="100000"/>
              </a:lnSpc>
            </a:pPr>
            <a:r>
              <a:rPr sz="800" b="0" i="0">
                <a:solidFill>
                  <a:srgbClr val="ECE7DC"/>
                </a:solidFill>
                <a:latin typeface="Consolas"/>
              </a:rPr>
              <a:t>    │   │       │               ├── toolbarButton-openFi</a:t>
            </a:r>
          </a:p>
          <a:p>
            <a:pPr algn="l">
              <a:lnSpc>
                <a:spcPct val="100000"/>
              </a:lnSpc>
            </a:pPr>
            <a:r>
              <a:rPr sz="800" b="0" i="0">
                <a:solidFill>
                  <a:srgbClr val="ECE7DC"/>
                </a:solidFill>
                <a:latin typeface="Consolas"/>
              </a:rPr>
              <a:t>    │   │       │               │     » le.svg</a:t>
            </a:r>
          </a:p>
          <a:p>
            <a:pPr algn="l">
              <a:lnSpc>
                <a:spcPct val="100000"/>
              </a:lnSpc>
            </a:pPr>
            <a:r>
              <a:rPr sz="800" b="0" i="0">
                <a:solidFill>
                  <a:srgbClr val="ECE7DC"/>
                </a:solidFill>
                <a:latin typeface="Consolas"/>
              </a:rPr>
              <a:t>    │   │       │               ├── toolbarButton-pageDo</a:t>
            </a:r>
          </a:p>
          <a:p>
            <a:pPr algn="l">
              <a:lnSpc>
                <a:spcPct val="100000"/>
              </a:lnSpc>
            </a:pPr>
            <a:r>
              <a:rPr sz="800" b="0" i="0">
                <a:solidFill>
                  <a:srgbClr val="ECE7DC"/>
                </a:solidFill>
                <a:latin typeface="Consolas"/>
              </a:rPr>
              <a:t>    │   │       │               │     » wn.svg</a:t>
            </a:r>
          </a:p>
          <a:p>
            <a:pPr algn="l">
              <a:lnSpc>
                <a:spcPct val="100000"/>
              </a:lnSpc>
            </a:pPr>
            <a:r>
              <a:rPr sz="800" b="0" i="0">
                <a:solidFill>
                  <a:srgbClr val="ECE7DC"/>
                </a:solidFill>
                <a:latin typeface="Consolas"/>
              </a:rPr>
              <a:t>    │   │       │               ├── toolbarButton-pageUp</a:t>
            </a:r>
          </a:p>
          <a:p>
            <a:pPr algn="l">
              <a:lnSpc>
                <a:spcPct val="100000"/>
              </a:lnSpc>
            </a:pPr>
            <a:r>
              <a:rPr sz="800" b="0" i="0">
                <a:solidFill>
                  <a:srgbClr val="ECE7DC"/>
                </a:solidFill>
                <a:latin typeface="Consolas"/>
              </a:rPr>
              <a:t>    │   │       │               │     » .svg</a:t>
            </a:r>
          </a:p>
          <a:p>
            <a:pPr algn="l">
              <a:lnSpc>
                <a:spcPct val="100000"/>
              </a:lnSpc>
            </a:pPr>
            <a:r>
              <a:rPr sz="800" b="0" i="0">
                <a:solidFill>
                  <a:srgbClr val="ECE7DC"/>
                </a:solidFill>
                <a:latin typeface="Consolas"/>
              </a:rPr>
              <a:t>    │   │       │               ├── toolbarButton-presen</a:t>
            </a:r>
          </a:p>
          <a:p>
            <a:pPr algn="l">
              <a:lnSpc>
                <a:spcPct val="100000"/>
              </a:lnSpc>
            </a:pPr>
            <a:r>
              <a:rPr sz="800" b="0" i="0">
                <a:solidFill>
                  <a:srgbClr val="ECE7DC"/>
                </a:solidFill>
                <a:latin typeface="Consolas"/>
              </a:rPr>
              <a:t>    │   │       │               │     » tationMode.svg</a:t>
            </a:r>
          </a:p>
          <a:p>
            <a:pPr algn="l">
              <a:lnSpc>
                <a:spcPct val="100000"/>
              </a:lnSpc>
            </a:pPr>
            <a:r>
              <a:rPr sz="800" b="0" i="0">
                <a:solidFill>
                  <a:srgbClr val="ECE7DC"/>
                </a:solidFill>
                <a:latin typeface="Consolas"/>
              </a:rPr>
              <a:t>    │   │       │               ├── toolbarButton-print.</a:t>
            </a:r>
          </a:p>
          <a:p>
            <a:pPr algn="l">
              <a:lnSpc>
                <a:spcPct val="100000"/>
              </a:lnSpc>
            </a:pPr>
            <a:r>
              <a:rPr sz="800" b="0" i="0">
                <a:solidFill>
                  <a:srgbClr val="ECE7DC"/>
                </a:solidFill>
                <a:latin typeface="Consolas"/>
              </a:rPr>
              <a:t>    │   │       │               │     » svg</a:t>
            </a:r>
          </a:p>
          <a:p>
            <a:pPr algn="l">
              <a:lnSpc>
                <a:spcPct val="100000"/>
              </a:lnSpc>
            </a:pPr>
            <a:r>
              <a:rPr sz="800" b="0" i="0">
                <a:solidFill>
                  <a:srgbClr val="ECE7DC"/>
                </a:solidFill>
                <a:latin typeface="Consolas"/>
              </a:rPr>
              <a:t>    │   │       │               ├── toolbarButton-search</a:t>
            </a:r>
          </a:p>
          <a:p>
            <a:pPr algn="l">
              <a:lnSpc>
                <a:spcPct val="100000"/>
              </a:lnSpc>
            </a:pPr>
            <a:r>
              <a:rPr sz="800" b="0" i="0">
                <a:solidFill>
                  <a:srgbClr val="ECE7DC"/>
                </a:solidFill>
                <a:latin typeface="Consolas"/>
              </a:rPr>
              <a:t>    │   │       │               │     » .svg</a:t>
            </a:r>
          </a:p>
          <a:p>
            <a:pPr algn="l">
              <a:lnSpc>
                <a:spcPct val="100000"/>
              </a:lnSpc>
            </a:pPr>
            <a:r>
              <a:rPr sz="800" b="0" i="0">
                <a:solidFill>
                  <a:srgbClr val="ECE7DC"/>
                </a:solidFill>
                <a:latin typeface="Consolas"/>
              </a:rPr>
              <a:t>    │   │       │               ├── toolbarButton-second</a:t>
            </a:r>
          </a:p>
          <a:p>
            <a:pPr algn="l">
              <a:lnSpc>
                <a:spcPct val="100000"/>
              </a:lnSpc>
            </a:pPr>
            <a:r>
              <a:rPr sz="800" b="0" i="0">
                <a:solidFill>
                  <a:srgbClr val="ECE7DC"/>
                </a:solidFill>
                <a:latin typeface="Consolas"/>
              </a:rPr>
              <a:t>    │   │       │               │     » aryToolbarToggle</a:t>
            </a:r>
          </a:p>
          <a:p>
            <a:pPr algn="l">
              <a:lnSpc>
                <a:spcPct val="100000"/>
              </a:lnSpc>
            </a:pPr>
            <a:r>
              <a:rPr sz="800" b="0" i="0">
                <a:solidFill>
                  <a:srgbClr val="ECE7DC"/>
                </a:solidFill>
                <a:latin typeface="Consolas"/>
              </a:rPr>
              <a:t>    │   │       │               │     » .svg</a:t>
            </a:r>
          </a:p>
          <a:p>
            <a:pPr algn="l">
              <a:lnSpc>
                <a:spcPct val="100000"/>
              </a:lnSpc>
            </a:pPr>
            <a:r>
              <a:rPr sz="800" b="0" i="0">
                <a:solidFill>
                  <a:srgbClr val="ECE7DC"/>
                </a:solidFill>
                <a:latin typeface="Consolas"/>
              </a:rPr>
              <a:t>    │   │       │               ├── toolbarButton-signat</a:t>
            </a:r>
          </a:p>
          <a:p>
            <a:pPr algn="l">
              <a:lnSpc>
                <a:spcPct val="100000"/>
              </a:lnSpc>
            </a:pPr>
            <a:r>
              <a:rPr sz="800" b="0" i="0">
                <a:solidFill>
                  <a:srgbClr val="ECE7DC"/>
                </a:solidFill>
                <a:latin typeface="Consolas"/>
              </a:rPr>
              <a:t>    │   │       │               │     » urePropertiesErr</a:t>
            </a:r>
          </a:p>
          <a:p>
            <a:pPr algn="l">
              <a:lnSpc>
                <a:spcPct val="100000"/>
              </a:lnSpc>
            </a:pPr>
            <a:r>
              <a:rPr sz="800" b="0" i="0">
                <a:solidFill>
                  <a:srgbClr val="ECE7DC"/>
                </a:solidFill>
                <a:latin typeface="Consolas"/>
              </a:rPr>
              <a:t>    │   │       │               │     » or.svg</a:t>
            </a:r>
          </a:p>
          <a:p>
            <a:pPr algn="l">
              <a:lnSpc>
                <a:spcPct val="100000"/>
              </a:lnSpc>
            </a:pPr>
            <a:r>
              <a:rPr sz="800" b="0" i="0">
                <a:solidFill>
                  <a:srgbClr val="ECE7DC"/>
                </a:solidFill>
                <a:latin typeface="Consolas"/>
              </a:rPr>
              <a:t>    │   │       │               ├── toolbarButton-signat</a:t>
            </a:r>
          </a:p>
          <a:p>
            <a:pPr algn="l">
              <a:lnSpc>
                <a:spcPct val="100000"/>
              </a:lnSpc>
            </a:pPr>
            <a:r>
              <a:rPr sz="800" b="0" i="0">
                <a:solidFill>
                  <a:srgbClr val="ECE7DC"/>
                </a:solidFill>
                <a:latin typeface="Consolas"/>
              </a:rPr>
              <a:t>    │   │       │               │     » urePropertiesVer</a:t>
            </a:r>
          </a:p>
          <a:p>
            <a:pPr algn="l">
              <a:lnSpc>
                <a:spcPct val="100000"/>
              </a:lnSpc>
            </a:pPr>
            <a:r>
              <a:rPr sz="800" b="0" i="0">
                <a:solidFill>
                  <a:srgbClr val="ECE7DC"/>
                </a:solidFill>
                <a:latin typeface="Consolas"/>
              </a:rPr>
              <a:t>    │   │       │               │     » ified.svg</a:t>
            </a:r>
          </a:p>
          <a:p>
            <a:pPr algn="l">
              <a:lnSpc>
                <a:spcPct val="100000"/>
              </a:lnSpc>
            </a:pPr>
            <a:r>
              <a:rPr sz="800" b="0" i="0">
                <a:solidFill>
                  <a:srgbClr val="ECE7DC"/>
                </a:solidFill>
                <a:latin typeface="Consolas"/>
              </a:rPr>
              <a:t>    │   │       │               ├── toolbarButton-viewAt</a:t>
            </a:r>
          </a:p>
          <a:p>
            <a:pPr algn="l">
              <a:lnSpc>
                <a:spcPct val="100000"/>
              </a:lnSpc>
            </a:pPr>
            <a:r>
              <a:rPr sz="800" b="0" i="0">
                <a:solidFill>
                  <a:srgbClr val="ECE7DC"/>
                </a:solidFill>
                <a:latin typeface="Consolas"/>
              </a:rPr>
              <a:t>    │   │       │               │     » tachments.svg</a:t>
            </a:r>
          </a:p>
          <a:p>
            <a:pPr algn="l">
              <a:lnSpc>
                <a:spcPct val="100000"/>
              </a:lnSpc>
            </a:pPr>
            <a:r>
              <a:rPr sz="800" b="0" i="0">
                <a:solidFill>
                  <a:srgbClr val="ECE7DC"/>
                </a:solidFill>
                <a:latin typeface="Consolas"/>
              </a:rPr>
              <a:t>    │   │       │               ├── toolbarButton-viewLa</a:t>
            </a:r>
          </a:p>
          <a:p>
            <a:pPr algn="l">
              <a:lnSpc>
                <a:spcPct val="100000"/>
              </a:lnSpc>
            </a:pPr>
            <a:r>
              <a:rPr sz="800" b="0" i="0">
                <a:solidFill>
                  <a:srgbClr val="ECE7DC"/>
                </a:solidFill>
                <a:latin typeface="Consolas"/>
              </a:rPr>
              <a:t>    │   │       │               │     » yers.svg</a:t>
            </a:r>
          </a:p>
          <a:p>
            <a:pPr algn="l">
              <a:lnSpc>
                <a:spcPct val="100000"/>
              </a:lnSpc>
            </a:pPr>
            <a:r>
              <a:rPr sz="800" b="0" i="0">
                <a:solidFill>
                  <a:srgbClr val="ECE7DC"/>
                </a:solidFill>
                <a:latin typeface="Consolas"/>
              </a:rPr>
              <a:t>    │   │       │               ├── toolbarButton-viewOu</a:t>
            </a:r>
          </a:p>
          <a:p>
            <a:pPr algn="l">
              <a:lnSpc>
                <a:spcPct val="100000"/>
              </a:lnSpc>
            </a:pPr>
            <a:r>
              <a:rPr sz="800" b="0" i="0">
                <a:solidFill>
                  <a:srgbClr val="ECE7DC"/>
                </a:solidFill>
                <a:latin typeface="Consolas"/>
              </a:rPr>
              <a:t>    │   │       │               │     » tline.svg</a:t>
            </a:r>
          </a:p>
          <a:p>
            <a:pPr algn="l">
              <a:lnSpc>
                <a:spcPct val="100000"/>
              </a:lnSpc>
            </a:pPr>
            <a:r>
              <a:rPr sz="800" b="0" i="0">
                <a:solidFill>
                  <a:srgbClr val="ECE7DC"/>
                </a:solidFill>
                <a:latin typeface="Consolas"/>
              </a:rPr>
              <a:t>    │   │       │               ├── toolbarButton-viewsM</a:t>
            </a:r>
          </a:p>
          <a:p>
            <a:pPr algn="l">
              <a:lnSpc>
                <a:spcPct val="100000"/>
              </a:lnSpc>
            </a:pPr>
            <a:r>
              <a:rPr sz="800" b="0" i="0">
                <a:solidFill>
                  <a:srgbClr val="ECE7DC"/>
                </a:solidFill>
                <a:latin typeface="Consolas"/>
              </a:rPr>
              <a:t>    │   │       │               │     » anagerToggle.svg</a:t>
            </a:r>
          </a:p>
          <a:p>
            <a:pPr algn="l">
              <a:lnSpc>
                <a:spcPct val="100000"/>
              </a:lnSpc>
            </a:pPr>
            <a:r>
              <a:rPr sz="800" b="0" i="0">
                <a:solidFill>
                  <a:srgbClr val="ECE7DC"/>
                </a:solidFill>
                <a:latin typeface="Consolas"/>
              </a:rPr>
              <a:t>    │   │       │               ├── toolbarButton-viewTh</a:t>
            </a:r>
          </a:p>
          <a:p>
            <a:pPr algn="l">
              <a:lnSpc>
                <a:spcPct val="100000"/>
              </a:lnSpc>
            </a:pPr>
            <a:r>
              <a:rPr sz="800" b="0" i="0">
                <a:solidFill>
                  <a:srgbClr val="ECE7DC"/>
                </a:solidFill>
                <a:latin typeface="Consolas"/>
              </a:rPr>
              <a:t>    │   │       │               │     » umbnail.svg</a:t>
            </a:r>
          </a:p>
          <a:p>
            <a:pPr algn="l">
              <a:lnSpc>
                <a:spcPct val="100000"/>
              </a:lnSpc>
            </a:pPr>
            <a:r>
              <a:rPr sz="800" b="0" i="0">
                <a:solidFill>
                  <a:srgbClr val="ECE7DC"/>
                </a:solidFill>
                <a:latin typeface="Consolas"/>
              </a:rPr>
              <a:t>    │   │       │               ├── toolbarButton-zoomIn</a:t>
            </a:r>
          </a:p>
          <a:p>
            <a:pPr algn="l">
              <a:lnSpc>
                <a:spcPct val="100000"/>
              </a:lnSpc>
            </a:pPr>
            <a:r>
              <a:rPr sz="800" b="0" i="0">
                <a:solidFill>
                  <a:srgbClr val="ECE7DC"/>
                </a:solidFill>
                <a:latin typeface="Consolas"/>
              </a:rPr>
              <a:t>    │   │       │               │     » .svg</a:t>
            </a:r>
          </a:p>
          <a:p>
            <a:pPr algn="l">
              <a:lnSpc>
                <a:spcPct val="100000"/>
              </a:lnSpc>
            </a:pPr>
            <a:r>
              <a:rPr sz="800" b="0" i="0">
                <a:solidFill>
                  <a:srgbClr val="ECE7DC"/>
                </a:solidFill>
                <a:latin typeface="Consolas"/>
              </a:rPr>
              <a:t>    │   │       │               ├── toolbarButton-zoomOu</a:t>
            </a:r>
          </a:p>
          <a:p>
            <a:pPr algn="l">
              <a:lnSpc>
                <a:spcPct val="100000"/>
              </a:lnSpc>
            </a:pPr>
            <a:r>
              <a:rPr sz="800" b="0" i="0">
                <a:solidFill>
                  <a:srgbClr val="ECE7DC"/>
                </a:solidFill>
                <a:latin typeface="Consolas"/>
              </a:rPr>
              <a:t>    │   │       │               │     » t.svg</a:t>
            </a:r>
          </a:p>
          <a:p>
            <a:pPr algn="l">
              <a:lnSpc>
                <a:spcPct val="100000"/>
              </a:lnSpc>
            </a:pPr>
            <a:r>
              <a:rPr sz="800" b="0" i="0">
                <a:solidFill>
                  <a:srgbClr val="ECE7DC"/>
                </a:solidFill>
                <a:latin typeface="Consolas"/>
              </a:rPr>
              <a:t>    │   │       │               ├── treeitem-collapsed.s</a:t>
            </a:r>
          </a:p>
          <a:p>
            <a:pPr algn="l">
              <a:lnSpc>
                <a:spcPct val="100000"/>
              </a:lnSpc>
            </a:pPr>
            <a:r>
              <a:rPr sz="800" b="0" i="0">
                <a:solidFill>
                  <a:srgbClr val="ECE7DC"/>
                </a:solidFill>
                <a:latin typeface="Consolas"/>
              </a:rPr>
              <a:t>    │   │       │               │     » vg</a:t>
            </a:r>
          </a:p>
          <a:p>
            <a:pPr algn="l">
              <a:lnSpc>
                <a:spcPct val="100000"/>
              </a:lnSpc>
            </a:pPr>
            <a:r>
              <a:rPr sz="800" b="0" i="0">
                <a:solidFill>
                  <a:srgbClr val="ECE7DC"/>
                </a:solidFill>
                <a:latin typeface="Consolas"/>
              </a:rPr>
              <a:t>    │   │       │               └── treeitem-expanded.sv</a:t>
            </a:r>
          </a:p>
          <a:p>
            <a:pPr algn="l">
              <a:lnSpc>
                <a:spcPct val="100000"/>
              </a:lnSpc>
            </a:pPr>
            <a:r>
              <a:rPr sz="800" b="0" i="0">
                <a:solidFill>
                  <a:srgbClr val="ECE7DC"/>
                </a:solidFill>
                <a:latin typeface="Consolas"/>
              </a:rPr>
              <a:t>    │   │       │                     » g</a:t>
            </a:r>
          </a:p>
        </p:txBody>
      </p:sp>
      <p:sp>
        <p:nvSpPr>
          <p:cNvPr id="6" name="TextBox 5"/>
          <p:cNvSpPr txBox="1"/>
          <p:nvPr/>
        </p:nvSpPr>
        <p:spPr>
          <a:xfrm>
            <a:off x="4338218" y="1170432"/>
            <a:ext cx="3515258" cy="5084064"/>
          </a:xfrm>
          <a:prstGeom prst="rect">
            <a:avLst/>
          </a:prstGeom>
          <a:noFill/>
        </p:spPr>
        <p:txBody>
          <a:bodyPr wrap="none" lIns="45720" rIns="45720" tIns="27432" bIns="27432" anchor="t">
            <a:noAutofit/>
          </a:bodyPr>
          <a:lstStyle/>
          <a:p>
            <a:pPr algn="l">
              <a:lnSpc>
                <a:spcPct val="100000"/>
              </a:lnSpc>
            </a:pPr>
            <a:r>
              <a:rPr sz="800" b="0" i="0">
                <a:solidFill>
                  <a:srgbClr val="3BBE93"/>
                </a:solidFill>
                <a:latin typeface="Consolas"/>
              </a:rPr>
              <a:t>    │   │       └── video/</a:t>
            </a:r>
          </a:p>
          <a:p>
            <a:pPr algn="l">
              <a:lnSpc>
                <a:spcPct val="100000"/>
              </a:lnSpc>
            </a:pPr>
            <a:r>
              <a:rPr sz="800" b="0" i="0">
                <a:solidFill>
                  <a:srgbClr val="ECE7DC"/>
                </a:solidFill>
                <a:latin typeface="Consolas"/>
              </a:rPr>
              <a:t>    │   │           └── XAIHT-Tlamatini.mp4</a:t>
            </a:r>
          </a:p>
          <a:p>
            <a:pPr algn="l">
              <a:lnSpc>
                <a:spcPct val="100000"/>
              </a:lnSpc>
            </a:pPr>
            <a:r>
              <a:rPr sz="800" b="0" i="0">
                <a:solidFill>
                  <a:srgbClr val="3BBE93"/>
                </a:solidFill>
                <a:latin typeface="Consolas"/>
              </a:rPr>
              <a:t>    │   ├── templates/</a:t>
            </a:r>
          </a:p>
          <a:p>
            <a:pPr algn="l">
              <a:lnSpc>
                <a:spcPct val="100000"/>
              </a:lnSpc>
            </a:pPr>
            <a:r>
              <a:rPr sz="800" b="0" i="0">
                <a:solidFill>
                  <a:srgbClr val="3BBE93"/>
                </a:solidFill>
                <a:latin typeface="Consolas"/>
              </a:rPr>
              <a:t>    │   │   ├── admin/</a:t>
            </a:r>
          </a:p>
          <a:p>
            <a:pPr algn="l">
              <a:lnSpc>
                <a:spcPct val="100000"/>
              </a:lnSpc>
            </a:pPr>
            <a:r>
              <a:rPr sz="800" b="0" i="0">
                <a:solidFill>
                  <a:srgbClr val="ECE7DC"/>
                </a:solidFill>
                <a:latin typeface="Consolas"/>
              </a:rPr>
              <a:t>    │   │   │   └── base_site.html</a:t>
            </a:r>
          </a:p>
          <a:p>
            <a:pPr algn="l">
              <a:lnSpc>
                <a:spcPct val="100000"/>
              </a:lnSpc>
            </a:pPr>
            <a:r>
              <a:rPr sz="800" b="0" i="0">
                <a:solidFill>
                  <a:srgbClr val="3BBE93"/>
                </a:solidFill>
                <a:latin typeface="Consolas"/>
              </a:rPr>
              <a:t>    │   │   └── agent/</a:t>
            </a:r>
          </a:p>
          <a:p>
            <a:pPr algn="l">
              <a:lnSpc>
                <a:spcPct val="100000"/>
              </a:lnSpc>
            </a:pPr>
            <a:r>
              <a:rPr sz="800" b="0" i="0">
                <a:solidFill>
                  <a:srgbClr val="ECE7DC"/>
                </a:solidFill>
                <a:latin typeface="Consolas"/>
              </a:rPr>
              <a:t>    │   │       ├── agent_page.html</a:t>
            </a:r>
          </a:p>
          <a:p>
            <a:pPr algn="l">
              <a:lnSpc>
                <a:spcPct val="100000"/>
              </a:lnSpc>
            </a:pPr>
            <a:r>
              <a:rPr sz="800" b="0" i="0">
                <a:solidFill>
                  <a:srgbClr val="ECE7DC"/>
                </a:solidFill>
                <a:latin typeface="Consolas"/>
              </a:rPr>
              <a:t>    │   │       ├── agentic_control_panel.html</a:t>
            </a:r>
          </a:p>
          <a:p>
            <a:pPr algn="l">
              <a:lnSpc>
                <a:spcPct val="100000"/>
              </a:lnSpc>
            </a:pPr>
            <a:r>
              <a:rPr sz="800" b="0" i="0">
                <a:solidFill>
                  <a:srgbClr val="ECE7DC"/>
                </a:solidFill>
                <a:latin typeface="Consolas"/>
              </a:rPr>
              <a:t>    │   │       ├── interaction_settings.html</a:t>
            </a:r>
          </a:p>
          <a:p>
            <a:pPr algn="l">
              <a:lnSpc>
                <a:spcPct val="100000"/>
              </a:lnSpc>
            </a:pPr>
            <a:r>
              <a:rPr sz="800" b="0" i="0">
                <a:solidFill>
                  <a:srgbClr val="ECE7DC"/>
                </a:solidFill>
                <a:latin typeface="Consolas"/>
              </a:rPr>
              <a:t>    │   │       ├── interactor.html</a:t>
            </a:r>
          </a:p>
          <a:p>
            <a:pPr algn="l">
              <a:lnSpc>
                <a:spcPct val="100000"/>
              </a:lnSpc>
            </a:pPr>
            <a:r>
              <a:rPr sz="800" b="0" i="0">
                <a:solidFill>
                  <a:srgbClr val="ECE7DC"/>
                </a:solidFill>
                <a:latin typeface="Consolas"/>
              </a:rPr>
              <a:t>    │   │       ├── login.html</a:t>
            </a:r>
          </a:p>
          <a:p>
            <a:pPr algn="l">
              <a:lnSpc>
                <a:spcPct val="100000"/>
              </a:lnSpc>
            </a:pPr>
            <a:r>
              <a:rPr sz="800" b="0" i="0">
                <a:solidFill>
                  <a:srgbClr val="ECE7DC"/>
                </a:solidFill>
                <a:latin typeface="Consolas"/>
              </a:rPr>
              <a:t>    │   │       ├── prompt_flow_panel.html</a:t>
            </a:r>
          </a:p>
          <a:p>
            <a:pPr algn="l">
              <a:lnSpc>
                <a:spcPct val="100000"/>
              </a:lnSpc>
            </a:pPr>
            <a:r>
              <a:rPr sz="800" b="0" i="0">
                <a:solidFill>
                  <a:srgbClr val="ECE7DC"/>
                </a:solidFill>
                <a:latin typeface="Consolas"/>
              </a:rPr>
              <a:t>    │   │       ├── usage_dialog.html</a:t>
            </a:r>
          </a:p>
          <a:p>
            <a:pPr algn="l">
              <a:lnSpc>
                <a:spcPct val="100000"/>
              </a:lnSpc>
            </a:pPr>
            <a:r>
              <a:rPr sz="800" b="0" i="0">
                <a:solidFill>
                  <a:srgbClr val="ECE7DC"/>
                </a:solidFill>
                <a:latin typeface="Consolas"/>
              </a:rPr>
              <a:t>    │   │       └── welcome.html</a:t>
            </a:r>
          </a:p>
          <a:p>
            <a:pPr algn="l">
              <a:lnSpc>
                <a:spcPct val="100000"/>
              </a:lnSpc>
            </a:pPr>
            <a:r>
              <a:rPr sz="800" b="0" i="0">
                <a:solidFill>
                  <a:srgbClr val="3BBE93"/>
                </a:solidFill>
                <a:latin typeface="Consolas"/>
              </a:rPr>
              <a:t>    │   ├── test_fixtures/</a:t>
            </a:r>
          </a:p>
          <a:p>
            <a:pPr algn="l">
              <a:lnSpc>
                <a:spcPct val="100000"/>
              </a:lnSpc>
            </a:pPr>
            <a:r>
              <a:rPr sz="800" b="0" i="0">
                <a:solidFill>
                  <a:srgbClr val="ECE7DC"/>
                </a:solidFill>
                <a:latin typeface="Consolas"/>
              </a:rPr>
              <a:t>    │   │   └── talker_orpheus_tokens.txt</a:t>
            </a:r>
          </a:p>
          <a:p>
            <a:pPr algn="l">
              <a:lnSpc>
                <a:spcPct val="100000"/>
              </a:lnSpc>
            </a:pPr>
            <a:r>
              <a:rPr sz="800" b="0" i="0">
                <a:solidFill>
                  <a:srgbClr val="3BBE93"/>
                </a:solidFill>
                <a:latin typeface="Consolas"/>
              </a:rPr>
              <a:t>    │   └── TlamatiniSourceCode/</a:t>
            </a:r>
          </a:p>
          <a:p>
            <a:pPr algn="l">
              <a:lnSpc>
                <a:spcPct val="100000"/>
              </a:lnSpc>
            </a:pPr>
            <a:r>
              <a:rPr sz="800" b="0" i="0">
                <a:solidFill>
                  <a:srgbClr val="ECE7DC"/>
                </a:solidFill>
                <a:latin typeface="Consolas"/>
              </a:rPr>
              <a:t>    │       └── README.md</a:t>
            </a:r>
          </a:p>
          <a:p>
            <a:pPr algn="l">
              <a:lnSpc>
                <a:spcPct val="100000"/>
              </a:lnSpc>
            </a:pPr>
            <a:r>
              <a:rPr sz="800" b="0" i="0">
                <a:solidFill>
                  <a:srgbClr val="3BBE93"/>
                </a:solidFill>
                <a:latin typeface="Consolas"/>
              </a:rPr>
              <a:t>    ├── DB/</a:t>
            </a:r>
          </a:p>
          <a:p>
            <a:pPr algn="l">
              <a:lnSpc>
                <a:spcPct val="100000"/>
              </a:lnSpc>
            </a:pPr>
            <a:r>
              <a:rPr sz="800" b="0" i="0">
                <a:solidFill>
                  <a:srgbClr val="3BBE93"/>
                </a:solidFill>
                <a:latin typeface="Consolas"/>
              </a:rPr>
              <a:t>    │   ├── Older/</a:t>
            </a:r>
          </a:p>
          <a:p>
            <a:pPr algn="l">
              <a:lnSpc>
                <a:spcPct val="100000"/>
              </a:lnSpc>
            </a:pPr>
            <a:r>
              <a:rPr sz="800" b="0" i="0">
                <a:solidFill>
                  <a:srgbClr val="ECE7DC"/>
                </a:solidFill>
                <a:latin typeface="Consolas"/>
              </a:rPr>
              <a:t>    │   │   └── README.md</a:t>
            </a:r>
          </a:p>
          <a:p>
            <a:pPr algn="l">
              <a:lnSpc>
                <a:spcPct val="100000"/>
              </a:lnSpc>
            </a:pPr>
            <a:r>
              <a:rPr sz="800" b="0" i="0">
                <a:solidFill>
                  <a:srgbClr val="3BBE93"/>
                </a:solidFill>
                <a:latin typeface="Consolas"/>
              </a:rPr>
              <a:t>    │   └── ToLoad/</a:t>
            </a:r>
          </a:p>
          <a:p>
            <a:pPr algn="l">
              <a:lnSpc>
                <a:spcPct val="100000"/>
              </a:lnSpc>
            </a:pPr>
            <a:r>
              <a:rPr sz="800" b="0" i="0">
                <a:solidFill>
                  <a:srgbClr val="ECE7DC"/>
                </a:solidFill>
                <a:latin typeface="Consolas"/>
              </a:rPr>
              <a:t>    │       └── README.md</a:t>
            </a:r>
          </a:p>
          <a:p>
            <a:pPr algn="l">
              <a:lnSpc>
                <a:spcPct val="100000"/>
              </a:lnSpc>
            </a:pPr>
            <a:r>
              <a:rPr sz="800" b="0" i="0">
                <a:solidFill>
                  <a:srgbClr val="3BBE93"/>
                </a:solidFill>
                <a:latin typeface="Consolas"/>
              </a:rPr>
              <a:t>    ├── jd-cli/</a:t>
            </a:r>
          </a:p>
          <a:p>
            <a:pPr algn="l">
              <a:lnSpc>
                <a:spcPct val="100000"/>
              </a:lnSpc>
            </a:pPr>
            <a:r>
              <a:rPr sz="800" b="0" i="0">
                <a:solidFill>
                  <a:srgbClr val="ECE7DC"/>
                </a:solidFill>
                <a:latin typeface="Consolas"/>
              </a:rPr>
              <a:t>    │   ├── jd-cli.bat</a:t>
            </a:r>
          </a:p>
          <a:p>
            <a:pPr algn="l">
              <a:lnSpc>
                <a:spcPct val="100000"/>
              </a:lnSpc>
            </a:pPr>
            <a:r>
              <a:rPr sz="800" b="0" i="0">
                <a:solidFill>
                  <a:srgbClr val="ECE7DC"/>
                </a:solidFill>
                <a:latin typeface="Consolas"/>
              </a:rPr>
              <a:t>    │   └── jd-cli.jar</a:t>
            </a:r>
          </a:p>
          <a:p>
            <a:pPr algn="l">
              <a:lnSpc>
                <a:spcPct val="100000"/>
              </a:lnSpc>
            </a:pPr>
            <a:r>
              <a:rPr sz="800" b="0" i="0">
                <a:solidFill>
                  <a:srgbClr val="3BBE93"/>
                </a:solidFill>
                <a:latin typeface="Consolas"/>
              </a:rPr>
              <a:t>    ├── tests_e2e/</a:t>
            </a:r>
          </a:p>
          <a:p>
            <a:pPr algn="l">
              <a:lnSpc>
                <a:spcPct val="100000"/>
              </a:lnSpc>
            </a:pPr>
            <a:r>
              <a:rPr sz="800" b="0" i="0">
                <a:solidFill>
                  <a:srgbClr val="ECE7DC"/>
                </a:solidFill>
                <a:latin typeface="Consolas"/>
              </a:rPr>
              <a:t>    │   ├── oob_child_helper.py</a:t>
            </a:r>
          </a:p>
          <a:p>
            <a:pPr algn="l">
              <a:lnSpc>
                <a:spcPct val="100000"/>
              </a:lnSpc>
            </a:pPr>
            <a:r>
              <a:rPr sz="800" b="0" i="0">
                <a:solidFill>
                  <a:srgbClr val="ECE7DC"/>
                </a:solidFill>
                <a:latin typeface="Consolas"/>
              </a:rPr>
              <a:t>    │   ├── README.md</a:t>
            </a:r>
          </a:p>
          <a:p>
            <a:pPr algn="l">
              <a:lnSpc>
                <a:spcPct val="100000"/>
              </a:lnSpc>
            </a:pPr>
            <a:r>
              <a:rPr sz="800" b="0" i="0">
                <a:solidFill>
                  <a:srgbClr val="ECE7DC"/>
                </a:solidFill>
                <a:latin typeface="Consolas"/>
              </a:rPr>
              <a:t>    │   ├── test_create_flow_visual.py</a:t>
            </a:r>
          </a:p>
          <a:p>
            <a:pPr algn="l">
              <a:lnSpc>
                <a:spcPct val="100000"/>
              </a:lnSpc>
            </a:pPr>
            <a:r>
              <a:rPr sz="800" b="0" i="0">
                <a:solidFill>
                  <a:srgbClr val="ECE7DC"/>
                </a:solidFill>
                <a:latin typeface="Consolas"/>
              </a:rPr>
              <a:t>    │   ├── test_ctrl_c_quits_visible.py</a:t>
            </a:r>
          </a:p>
          <a:p>
            <a:pPr algn="l">
              <a:lnSpc>
                <a:spcPct val="100000"/>
              </a:lnSpc>
            </a:pPr>
            <a:r>
              <a:rPr sz="800" b="0" i="0">
                <a:solidFill>
                  <a:srgbClr val="ECE7DC"/>
                </a:solidFill>
                <a:latin typeface="Consolas"/>
              </a:rPr>
              <a:t>    │   ├── test_db_backup_set_visible.py</a:t>
            </a:r>
          </a:p>
          <a:p>
            <a:pPr algn="l">
              <a:lnSpc>
                <a:spcPct val="100000"/>
              </a:lnSpc>
            </a:pPr>
            <a:r>
              <a:rPr sz="800" b="0" i="0">
                <a:solidFill>
                  <a:srgbClr val="ECE7DC"/>
                </a:solidFill>
                <a:latin typeface="Consolas"/>
              </a:rPr>
              <a:t>    │   ├── test_oob_browser_visible.py</a:t>
            </a:r>
          </a:p>
          <a:p>
            <a:pPr algn="l">
              <a:lnSpc>
                <a:spcPct val="100000"/>
              </a:lnSpc>
            </a:pPr>
            <a:r>
              <a:rPr sz="800" b="0" i="0">
                <a:solidFill>
                  <a:srgbClr val="ECE7DC"/>
                </a:solidFill>
                <a:latin typeface="Consolas"/>
              </a:rPr>
              <a:t>    │   ├── test_oob_namu_unit.py</a:t>
            </a:r>
          </a:p>
          <a:p>
            <a:pPr algn="l">
              <a:lnSpc>
                <a:spcPct val="100000"/>
              </a:lnSpc>
            </a:pPr>
            <a:r>
              <a:rPr sz="800" b="0" i="0">
                <a:solidFill>
                  <a:srgbClr val="ECE7DC"/>
                </a:solidFill>
                <a:latin typeface="Consolas"/>
              </a:rPr>
              <a:t>    │   ├── test_prompts_catalog_visual.py</a:t>
            </a:r>
          </a:p>
          <a:p>
            <a:pPr algn="l">
              <a:lnSpc>
                <a:spcPct val="100000"/>
              </a:lnSpc>
            </a:pPr>
            <a:r>
              <a:rPr sz="800" b="0" i="0">
                <a:solidFill>
                  <a:srgbClr val="ECE7DC"/>
                </a:solidFill>
                <a:latin typeface="Consolas"/>
              </a:rPr>
              <a:t>    │   ├── test_self_healing_visual.py</a:t>
            </a:r>
          </a:p>
          <a:p>
            <a:pPr algn="l">
              <a:lnSpc>
                <a:spcPct val="100000"/>
              </a:lnSpc>
            </a:pPr>
            <a:r>
              <a:rPr sz="800" b="0" i="0">
                <a:solidFill>
                  <a:srgbClr val="ECE7DC"/>
                </a:solidFill>
                <a:latin typeface="Consolas"/>
              </a:rPr>
              <a:t>    │   ├── test_voice_visual.py</a:t>
            </a:r>
          </a:p>
          <a:p>
            <a:pPr algn="l">
              <a:lnSpc>
                <a:spcPct val="100000"/>
              </a:lnSpc>
            </a:pPr>
            <a:r>
              <a:rPr sz="800" b="0" i="0">
                <a:solidFill>
                  <a:srgbClr val="ECE7DC"/>
                </a:solidFill>
                <a:latin typeface="Consolas"/>
              </a:rPr>
              <a:t>    │   └── Tlamatini-Whatsapper-Daily-Tests.py</a:t>
            </a:r>
          </a:p>
          <a:p>
            <a:pPr algn="l">
              <a:lnSpc>
                <a:spcPct val="100000"/>
              </a:lnSpc>
            </a:pPr>
            <a:r>
              <a:rPr sz="800" b="0" i="0">
                <a:solidFill>
                  <a:srgbClr val="3BBE93"/>
                </a:solidFill>
                <a:latin typeface="Consolas"/>
              </a:rPr>
              <a:t>    └── tlamatini/</a:t>
            </a:r>
          </a:p>
          <a:p>
            <a:pPr algn="l">
              <a:lnSpc>
                <a:spcPct val="100000"/>
              </a:lnSpc>
            </a:pPr>
            <a:r>
              <a:rPr sz="800" b="0" i="0">
                <a:solidFill>
                  <a:srgbClr val="ECE7DC"/>
                </a:solidFill>
                <a:latin typeface="Consolas"/>
              </a:rPr>
              <a:t>        ├── __init__.py</a:t>
            </a:r>
          </a:p>
          <a:p>
            <a:pPr algn="l">
              <a:lnSpc>
                <a:spcPct val="100000"/>
              </a:lnSpc>
            </a:pPr>
            <a:r>
              <a:rPr sz="800" b="0" i="0">
                <a:solidFill>
                  <a:srgbClr val="ECE7DC"/>
                </a:solidFill>
                <a:latin typeface="Consolas"/>
              </a:rPr>
              <a:t>        ├── asgi.py</a:t>
            </a:r>
          </a:p>
        </p:txBody>
      </p:sp>
      <p:sp>
        <p:nvSpPr>
          <p:cNvPr id="7" name="TextBox 6"/>
          <p:cNvSpPr txBox="1"/>
          <p:nvPr/>
        </p:nvSpPr>
        <p:spPr>
          <a:xfrm>
            <a:off x="8109508" y="1170432"/>
            <a:ext cx="3515258" cy="5084064"/>
          </a:xfrm>
          <a:prstGeom prst="rect">
            <a:avLst/>
          </a:prstGeom>
          <a:noFill/>
        </p:spPr>
        <p:txBody>
          <a:bodyPr wrap="none" lIns="45720" rIns="45720" tIns="27432" bIns="27432" anchor="t">
            <a:noAutofit/>
          </a:bodyPr>
          <a:lstStyle/>
          <a:p>
            <a:pPr algn="l">
              <a:lnSpc>
                <a:spcPct val="100000"/>
              </a:lnSpc>
            </a:pPr>
            <a:r>
              <a:rPr sz="800" b="0" i="0">
                <a:solidFill>
                  <a:srgbClr val="ECE7DC"/>
                </a:solidFill>
                <a:latin typeface="Consolas"/>
              </a:rPr>
              <a:t>        ├── context_processors.py</a:t>
            </a:r>
          </a:p>
          <a:p>
            <a:pPr algn="l">
              <a:lnSpc>
                <a:spcPct val="100000"/>
              </a:lnSpc>
            </a:pPr>
            <a:r>
              <a:rPr sz="800" b="0" i="0">
                <a:solidFill>
                  <a:srgbClr val="ECE7DC"/>
                </a:solidFill>
                <a:latin typeface="Consolas"/>
              </a:rPr>
              <a:t>        ├── logging_filters.py</a:t>
            </a:r>
          </a:p>
          <a:p>
            <a:pPr algn="l">
              <a:lnSpc>
                <a:spcPct val="100000"/>
              </a:lnSpc>
            </a:pPr>
            <a:r>
              <a:rPr sz="800" b="0" i="0">
                <a:solidFill>
                  <a:srgbClr val="ECE7DC"/>
                </a:solidFill>
                <a:latin typeface="Consolas"/>
              </a:rPr>
              <a:t>        ├── middleware.py</a:t>
            </a:r>
          </a:p>
          <a:p>
            <a:pPr algn="l">
              <a:lnSpc>
                <a:spcPct val="100000"/>
              </a:lnSpc>
            </a:pPr>
            <a:r>
              <a:rPr sz="800" b="0" i="0">
                <a:solidFill>
                  <a:srgbClr val="ECE7DC"/>
                </a:solidFill>
                <a:latin typeface="Consolas"/>
              </a:rPr>
              <a:t>        ├── settings.py</a:t>
            </a:r>
          </a:p>
          <a:p>
            <a:pPr algn="l">
              <a:lnSpc>
                <a:spcPct val="100000"/>
              </a:lnSpc>
            </a:pPr>
            <a:r>
              <a:rPr sz="800" b="0" i="0">
                <a:solidFill>
                  <a:srgbClr val="ECE7DC"/>
                </a:solidFill>
                <a:latin typeface="Consolas"/>
              </a:rPr>
              <a:t>        ├── urls.py</a:t>
            </a:r>
          </a:p>
          <a:p>
            <a:pPr algn="l">
              <a:lnSpc>
                <a:spcPct val="100000"/>
              </a:lnSpc>
            </a:pPr>
            <a:r>
              <a:rPr sz="800" b="0" i="0">
                <a:solidFill>
                  <a:srgbClr val="ECE7DC"/>
                </a:solidFill>
                <a:latin typeface="Consolas"/>
              </a:rPr>
              <a:t>        └── wsgi.py</a:t>
            </a:r>
          </a:p>
        </p:txBody>
      </p:sp>
      <p:cxnSp>
        <p:nvCxnSpPr>
          <p:cNvPr id="8" name="Connector 7"/>
          <p:cNvCxnSpPr/>
          <p:nvPr/>
        </p:nvCxnSpPr>
        <p:spPr>
          <a:xfrm>
            <a:off x="566928" y="6373368"/>
            <a:ext cx="11057839" cy="0"/>
          </a:xfrm>
          <a:prstGeom prst="line">
            <a:avLst/>
          </a:prstGeom>
          <a:ln w="7620">
            <a:solidFill>
              <a:srgbClr val="2A3A40"/>
            </a:solidFill>
          </a:ln>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566928" y="6419088"/>
            <a:ext cx="6858000" cy="274320"/>
          </a:xfrm>
          <a:prstGeom prst="rect">
            <a:avLst/>
          </a:prstGeom>
          <a:noFill/>
        </p:spPr>
        <p:txBody>
          <a:bodyPr wrap="square" lIns="45720" rIns="45720" tIns="27432" bIns="27432" anchor="t">
            <a:noAutofit/>
          </a:bodyPr>
          <a:lstStyle/>
          <a:p>
            <a:pPr algn="l">
              <a:lnSpc>
                <a:spcPct val="100000"/>
              </a:lnSpc>
            </a:pPr>
            <a:r>
              <a:rPr sz="850" b="0" i="0" spc="120">
                <a:solidFill>
                  <a:srgbClr val="A7B2B0"/>
                </a:solidFill>
                <a:latin typeface="Segoe UI Semibold"/>
              </a:rPr>
              <a:t>TLAMATINI  ·  APÉNDICE A · ÁRBOL DE ARCHIVOS</a:t>
            </a:r>
          </a:p>
        </p:txBody>
      </p:sp>
      <p:sp>
        <p:nvSpPr>
          <p:cNvPr id="10" name="TextBox 9"/>
          <p:cNvSpPr txBox="1"/>
          <p:nvPr/>
        </p:nvSpPr>
        <p:spPr>
          <a:xfrm>
            <a:off x="8698687" y="6419088"/>
            <a:ext cx="2926080" cy="274320"/>
          </a:xfrm>
          <a:prstGeom prst="rect">
            <a:avLst/>
          </a:prstGeom>
          <a:noFill/>
        </p:spPr>
        <p:txBody>
          <a:bodyPr wrap="square" lIns="45720" rIns="45720" tIns="27432" bIns="27432" anchor="t">
            <a:noAutofit/>
          </a:bodyPr>
          <a:lstStyle/>
          <a:p>
            <a:pPr algn="r">
              <a:lnSpc>
                <a:spcPct val="100000"/>
              </a:lnSpc>
            </a:pPr>
            <a:r>
              <a:rPr sz="850" b="0" i="0" spc="100">
                <a:solidFill>
                  <a:srgbClr val="A7B2B0"/>
                </a:solidFill>
                <a:latin typeface="Segoe UI Semibold"/>
              </a:rPr>
              <a:t>v1.91.1   ·   194</a:t>
            </a:r>
          </a:p>
        </p:txBody>
      </p:sp>
    </p:spTree>
  </p:cSld>
  <p:clrMapOvr>
    <a:masterClrMapping/>
  </p:clrMapOvr>
</p:sld>
</file>

<file path=ppt/slides/slide19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divider.png"/>
          <p:cNvPicPr>
            <a:picLocks noChangeAspect="1"/>
          </p:cNvPicPr>
          <p:nvPr/>
        </p:nvPicPr>
        <p:blipFill>
          <a:blip r:embed="rId2"/>
          <a:stretch>
            <a:fillRect/>
          </a:stretch>
        </p:blipFill>
        <p:spPr>
          <a:xfrm>
            <a:off x="0" y="0"/>
            <a:ext cx="12191695" cy="6858000"/>
          </a:xfrm>
          <a:prstGeom prst="rect">
            <a:avLst/>
          </a:prstGeom>
        </p:spPr>
      </p:pic>
      <p:pic>
        <p:nvPicPr>
          <p:cNvPr id="3" name="Picture 2" descr="portrait_eo_mo_copper.png"/>
          <p:cNvPicPr>
            <a:picLocks noChangeAspect="1"/>
          </p:cNvPicPr>
          <p:nvPr/>
        </p:nvPicPr>
        <p:blipFill>
          <a:blip r:embed="rId4"/>
          <a:stretch>
            <a:fillRect/>
          </a:stretch>
        </p:blipFill>
        <p:spPr>
          <a:xfrm>
            <a:off x="1005840" y="1234440"/>
            <a:ext cx="4114800" cy="4114800"/>
          </a:xfrm>
          <a:prstGeom prst="rect">
            <a:avLst/>
          </a:prstGeom>
        </p:spPr>
      </p:pic>
      <p:sp>
        <p:nvSpPr>
          <p:cNvPr id="4" name="TextBox 3"/>
          <p:cNvSpPr txBox="1"/>
          <p:nvPr/>
        </p:nvSpPr>
        <p:spPr>
          <a:xfrm>
            <a:off x="5760720" y="1554480"/>
            <a:ext cx="5760720" cy="1097280"/>
          </a:xfrm>
          <a:prstGeom prst="rect">
            <a:avLst/>
          </a:prstGeom>
          <a:noFill/>
        </p:spPr>
        <p:txBody>
          <a:bodyPr wrap="square" lIns="45720" rIns="45720" tIns="27432" bIns="27432" anchor="t">
            <a:noAutofit/>
          </a:bodyPr>
          <a:lstStyle/>
          <a:p>
            <a:pPr algn="l">
              <a:lnSpc>
                <a:spcPct val="100000"/>
              </a:lnSpc>
            </a:pPr>
            <a:r>
              <a:rPr sz="6400" b="0" i="0">
                <a:solidFill>
                  <a:srgbClr val="F7F2E8"/>
                </a:solidFill>
                <a:latin typeface="Palatino Linotype"/>
              </a:rPr>
              <a:t>Tlamatini</a:t>
            </a:r>
          </a:p>
        </p:txBody>
      </p:sp>
      <p:sp>
        <p:nvSpPr>
          <p:cNvPr id="5" name="TextBox 4"/>
          <p:cNvSpPr txBox="1"/>
          <p:nvPr/>
        </p:nvSpPr>
        <p:spPr>
          <a:xfrm>
            <a:off x="5788152" y="2697480"/>
            <a:ext cx="5669280" cy="502920"/>
          </a:xfrm>
          <a:prstGeom prst="rect">
            <a:avLst/>
          </a:prstGeom>
          <a:noFill/>
        </p:spPr>
        <p:txBody>
          <a:bodyPr wrap="square" lIns="45720" rIns="45720" tIns="27432" bIns="27432" anchor="t">
            <a:noAutofit/>
          </a:bodyPr>
          <a:lstStyle/>
          <a:p>
            <a:pPr algn="l">
              <a:lnSpc>
                <a:spcPct val="100000"/>
              </a:lnSpc>
            </a:pPr>
            <a:r>
              <a:rPr sz="2400" b="0" i="1">
                <a:solidFill>
                  <a:srgbClr val="3BBE93"/>
                </a:solidFill>
                <a:latin typeface="Palatino Linotype"/>
              </a:rPr>
              <a:t>la que sabe</a:t>
            </a:r>
          </a:p>
        </p:txBody>
      </p:sp>
      <p:sp>
        <p:nvSpPr>
          <p:cNvPr id="6" name="TextBox 5"/>
          <p:cNvSpPr txBox="1"/>
          <p:nvPr/>
        </p:nvSpPr>
        <p:spPr>
          <a:xfrm>
            <a:off x="5788152" y="3310128"/>
            <a:ext cx="5760720" cy="1463040"/>
          </a:xfrm>
          <a:prstGeom prst="rect">
            <a:avLst/>
          </a:prstGeom>
          <a:noFill/>
        </p:spPr>
        <p:txBody>
          <a:bodyPr wrap="square" lIns="45720" rIns="45720" tIns="27432" bIns="27432" anchor="t">
            <a:noAutofit/>
          </a:bodyPr>
          <a:lstStyle/>
          <a:p>
            <a:pPr algn="l">
              <a:lnSpc>
                <a:spcPct val="100000"/>
              </a:lnSpc>
            </a:pPr>
            <a:r>
              <a:rPr sz="1700" b="0" i="0">
                <a:solidFill>
                  <a:srgbClr val="ECE7DC"/>
                </a:solidFill>
                <a:latin typeface="Segoe UI Light"/>
              </a:rPr>
              <a:t>Concebida, diseñada y construida por </a:t>
            </a:r>
            <a:r>
              <a:rPr sz="1700" b="0" i="0">
                <a:solidFill>
                  <a:srgbClr val="F7F2E8"/>
                </a:solidFill>
                <a:latin typeface="Segoe UI Semibold"/>
              </a:rPr>
              <a:t>Angela López Mendoza</a:t>
            </a:r>
            <a:r>
              <a:rPr sz="1700" b="0" i="0">
                <a:solidFill>
                  <a:srgbClr val="ECE7DC"/>
                </a:solidFill>
                <a:latin typeface="Segoe UI Light"/>
              </a:rPr>
              <a:t>. Cada número de esta presentación se contó a partir del árbol del source cuando se generó.</a:t>
            </a:r>
          </a:p>
        </p:txBody>
      </p:sp>
      <p:sp>
        <p:nvSpPr>
          <p:cNvPr id="7" name="TextBox 6"/>
          <p:cNvSpPr txBox="1"/>
          <p:nvPr/>
        </p:nvSpPr>
        <p:spPr>
          <a:xfrm>
            <a:off x="5788152" y="4892040"/>
            <a:ext cx="5486400" cy="365760"/>
          </a:xfrm>
          <a:prstGeom prst="rect">
            <a:avLst/>
          </a:prstGeom>
          <a:noFill/>
        </p:spPr>
        <p:txBody>
          <a:bodyPr wrap="square" lIns="45720" rIns="45720" tIns="27432" bIns="27432" anchor="t">
            <a:noAutofit/>
          </a:bodyPr>
          <a:lstStyle/>
          <a:p>
            <a:pPr algn="l">
              <a:lnSpc>
                <a:spcPct val="100000"/>
              </a:lnSpc>
            </a:pPr>
            <a:r>
              <a:rPr sz="1300" b="0" i="0">
                <a:solidFill>
                  <a:srgbClr val="E2B462"/>
                </a:solidFill>
                <a:latin typeface="Consolas"/>
              </a:rPr>
              <a:t>Regenérala con  refresh_project_docs.py</a:t>
            </a:r>
          </a:p>
        </p:txBody>
      </p:sp>
      <p:sp>
        <p:nvSpPr>
          <p:cNvPr id="8" name="TextBox 7"/>
          <p:cNvSpPr txBox="1"/>
          <p:nvPr/>
        </p:nvSpPr>
        <p:spPr>
          <a:xfrm>
            <a:off x="5788152" y="5303520"/>
            <a:ext cx="5486400" cy="329184"/>
          </a:xfrm>
          <a:prstGeom prst="rect">
            <a:avLst/>
          </a:prstGeom>
          <a:noFill/>
        </p:spPr>
        <p:txBody>
          <a:bodyPr wrap="square" lIns="45720" rIns="45720" tIns="27432" bIns="27432" anchor="t">
            <a:noAutofit/>
          </a:bodyPr>
          <a:lstStyle/>
          <a:p>
            <a:pPr algn="l">
              <a:lnSpc>
                <a:spcPct val="100000"/>
              </a:lnSpc>
            </a:pPr>
            <a:r>
              <a:rPr sz="1100" b="0" i="0">
                <a:solidFill>
                  <a:srgbClr val="A7B2B0"/>
                </a:solidFill>
                <a:latin typeface="Segoe UI"/>
              </a:rPr>
              <a:t>27 de octubre de 2026  ·  commit 21b0a5c  ·  github.com/XAIHT/Tlamatini</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Tlamatini — Dossier completo del proyecto</dc:title>
  <dc:subject>Tlamatini 1.91.1</dc:subject>
  <dc:creator>Angela López Mendoza</dc:creator>
  <cp:keywords>Tlamatini; agents; Multi-Turn; ACPX; MCP; diseñador de workflows</cp:keywords>
  <dc:description>Generado por refresh_project_docs.py a partir del árbol del source.</dc:description>
  <cp:lastModifiedBy>Steve Canny</cp:lastModifiedBy>
  <cp:revision>1</cp:revision>
  <dcterms:created xsi:type="dcterms:W3CDTF">2013-01-27T09:14:16Z</dcterms:created>
  <dcterms:modified xsi:type="dcterms:W3CDTF">2013-01-27T09:15:58Z</dcterms:modified>
  <cp:category/>
</cp:coreProperties>
</file>